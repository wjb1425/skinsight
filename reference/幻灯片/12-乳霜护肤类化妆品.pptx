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7"/>
  </p:notesMasterIdLst>
  <p:sldIdLst>
    <p:sldId id="1127" r:id="rId2"/>
    <p:sldId id="1133" r:id="rId3"/>
    <p:sldId id="1179" r:id="rId4"/>
    <p:sldId id="1180" r:id="rId5"/>
    <p:sldId id="1181" r:id="rId6"/>
    <p:sldId id="1182" r:id="rId7"/>
    <p:sldId id="1223" r:id="rId8"/>
    <p:sldId id="1183" r:id="rId9"/>
    <p:sldId id="1184" r:id="rId10"/>
    <p:sldId id="1185" r:id="rId11"/>
    <p:sldId id="1186" r:id="rId12"/>
    <p:sldId id="1187" r:id="rId13"/>
    <p:sldId id="1188" r:id="rId14"/>
    <p:sldId id="1189" r:id="rId15"/>
    <p:sldId id="1190" r:id="rId16"/>
    <p:sldId id="1191" r:id="rId17"/>
    <p:sldId id="1192" r:id="rId18"/>
    <p:sldId id="1193" r:id="rId19"/>
    <p:sldId id="1194" r:id="rId20"/>
    <p:sldId id="1195" r:id="rId21"/>
    <p:sldId id="1196" r:id="rId22"/>
    <p:sldId id="1224" r:id="rId23"/>
    <p:sldId id="1197" r:id="rId24"/>
    <p:sldId id="1198" r:id="rId25"/>
    <p:sldId id="1199" r:id="rId26"/>
    <p:sldId id="1200" r:id="rId27"/>
    <p:sldId id="1178" r:id="rId28"/>
    <p:sldId id="1201" r:id="rId29"/>
    <p:sldId id="1202" r:id="rId30"/>
    <p:sldId id="1203" r:id="rId31"/>
    <p:sldId id="1204" r:id="rId32"/>
    <p:sldId id="1205" r:id="rId33"/>
    <p:sldId id="1206" r:id="rId34"/>
    <p:sldId id="1207" r:id="rId35"/>
    <p:sldId id="1208" r:id="rId36"/>
    <p:sldId id="1209" r:id="rId37"/>
    <p:sldId id="1210" r:id="rId38"/>
    <p:sldId id="1211" r:id="rId39"/>
    <p:sldId id="1212" r:id="rId40"/>
    <p:sldId id="1213" r:id="rId41"/>
    <p:sldId id="1214" r:id="rId42"/>
    <p:sldId id="1215" r:id="rId43"/>
    <p:sldId id="1222" r:id="rId44"/>
    <p:sldId id="1226" r:id="rId45"/>
    <p:sldId id="1225" r:id="rId46"/>
  </p:sldIdLst>
  <p:sldSz cx="9144000" cy="6858000" type="screen4x3"/>
  <p:notesSz cx="9947275" cy="6858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008000"/>
    <a:srgbClr val="00FF00"/>
    <a:srgbClr val="FF6600"/>
    <a:srgbClr val="FFFF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473" autoAdjust="0"/>
  </p:normalViewPr>
  <p:slideViewPr>
    <p:cSldViewPr snapToGrid="0">
      <p:cViewPr varScale="1">
        <p:scale>
          <a:sx n="61" d="100"/>
          <a:sy n="61" d="100"/>
        </p:scale>
        <p:origin x="1656" y="66"/>
      </p:cViewPr>
      <p:guideLst>
        <p:guide orient="horz" pos="21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E4076EE-FE68-43AE-99C5-A81FDE8C2F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4308184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F48D32A-919E-48D2-B1E8-51EAC1B42BD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632184" y="0"/>
            <a:ext cx="4312789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D34AD48D-B12D-4736-AF44-05EE8E9247E8}"/>
              </a:ext>
            </a:extLst>
          </p:cNvPr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259138" y="514350"/>
            <a:ext cx="342900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C3AA012-CFE6-4520-8A8E-13DDAFFDCFAA}"/>
              </a:ext>
            </a:extLst>
          </p:cNvPr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994728" y="3257550"/>
            <a:ext cx="795782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en-US" altLang="zh-CN" noProof="0"/>
          </a:p>
          <a:p>
            <a:pPr lvl="1"/>
            <a:r>
              <a:rPr lang="zh-CN" altLang="en-US" noProof="0"/>
              <a:t>第二级</a:t>
            </a:r>
            <a:endParaRPr lang="en-US" altLang="zh-CN" noProof="0"/>
          </a:p>
          <a:p>
            <a:pPr lvl="2"/>
            <a:r>
              <a:rPr lang="zh-CN" altLang="en-US" noProof="0"/>
              <a:t>第三级</a:t>
            </a:r>
            <a:endParaRPr lang="en-US" altLang="zh-CN" noProof="0"/>
          </a:p>
          <a:p>
            <a:pPr lvl="3"/>
            <a:r>
              <a:rPr lang="zh-CN" altLang="en-US" noProof="0"/>
              <a:t>第四级</a:t>
            </a:r>
            <a:endParaRPr lang="en-US" altLang="zh-CN" noProof="0"/>
          </a:p>
          <a:p>
            <a:pPr lvl="4"/>
            <a:r>
              <a:rPr lang="zh-CN" altLang="en-US" noProof="0"/>
              <a:t>第五级</a:t>
            </a:r>
            <a:endParaRPr lang="en-US" altLang="zh-CN" noProof="0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00D91B0-938D-43D2-B4A5-04218A09BCE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513910"/>
            <a:ext cx="4308184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2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460084FF-D1F9-4991-8BEC-52A9C4629F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2184" y="6513910"/>
            <a:ext cx="4312789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778C1415-F545-4EAF-A725-72D2697222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SimSun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SimSun" panose="02010600030101010101" pitchFamily="2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58F932-2890-466A-B7FD-D54B5E428C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6CDF12-C462-4CCB-A356-28A7F58EA6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6ABFEF-8D30-40EE-85CE-F956A80A4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CF02D-BD2B-41A3-A43A-08279D4851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1212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53F3F7-AC56-4FF9-B43F-CF4FBD8658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3031F05-997D-49D6-A3A7-B3CFD73876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8907D21-A66F-4D72-8CDD-4E3976303B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E9027-F3D1-4C9B-9224-74565BAB0F9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190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D94C75-0E5B-4C8C-8A85-61C6E7B65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55DBC5-C64C-4A22-B684-D5ED958D0E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1FB95A-9604-4FE1-9D3A-7F2FF52535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EA35FE-6C29-4C46-8B53-D31BCACACD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140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559C9-402E-49B6-972F-BA454CAB79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5592F-244A-426B-AE54-C75B816AAF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71A969-1188-4E27-94E7-7C97008B70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BEFB40-825F-4796-972A-72776875975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485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7852098-092B-4191-91AC-47E76367E5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835333-50B1-47AA-8BD8-9180F0B6EF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06042E5-AB1C-4E74-A4F2-A3A8A16B76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6A27F-7434-4140-BAD3-3CE749CFA59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004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C065B87-4760-410D-9B8A-0031A9CAF7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54285A1-172E-4738-9540-9201D81FBB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AEB86D3-7468-4211-8791-ECFAAFE185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4F624-5205-4AAE-AE23-807F393407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72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C77E13B-72D9-470A-A1FF-022BA31FDD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551F784-F8A4-4306-B383-E8C5305331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B2EE31-B659-4A2E-A5F7-4B33CE0557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15612-C62D-4AEB-B509-25ACC8E173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1404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30B0F8-9AD5-4FFB-BAA3-1A9121D774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9C597-8A04-4988-B2BC-BC7245954C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FA4472-FF9F-4640-A6AA-A22E92CDF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8E671-225C-4CFC-9C8F-6FC8794CFFD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42910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8497F1-318E-4118-8ADB-DC9B25B062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3987DB-7905-42B3-92B5-1E55EC5447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771812-8A9A-4030-9354-C31CAB44A2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C1CC3E-3A36-4EA1-8FDF-FCBC759A99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0931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0C0EC6-7BCF-4048-853F-1E8529DAA4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A18239-816F-4A76-A6F8-54BB7DC23A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D12BE1-4C58-4ED6-B698-E499CC12A8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9DB30-7045-4D36-B14A-8084653593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635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6751CC-D93A-4811-9EB6-52F2917DE1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52C067-7BB3-43EC-89D8-A7FA4AB2AD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83FF4B-04D2-4813-BCA2-8E3C22F531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5BCAFB-D2B0-4266-B070-58FF8190BD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012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8ED485-6AA5-423E-A45F-DF87DF13A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87A2F6-7A58-428B-8C9D-135F10D74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1"/>
            <a:r>
              <a:rPr lang="zh-CN" altLang="en-US"/>
              <a:t>第二级</a:t>
            </a:r>
            <a:endParaRPr lang="en-US" altLang="zh-CN"/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4FEE0AA-F66C-44D7-A2CF-E2A7D71EF9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charset="0"/>
              <a:buNone/>
              <a:defRPr sz="14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02B35E2B-65B8-403C-BFDA-3A5BA16A2D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charset="0"/>
              <a:buNone/>
              <a:defRPr sz="1400"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44184CE-A564-44F9-A27E-2DDE5988ED9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400"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F5F2B2FA-3BF5-48AF-AA11-EF51B337F4E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MS PGothic" panose="020B0600070205080204" pitchFamily="34" charset="-128"/>
          <a:cs typeface="SimSun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MS PGothic" panose="020B0600070205080204" pitchFamily="34" charset="-128"/>
          <a:cs typeface="SimSun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SimSun" panose="02010600030101010101" pitchFamily="2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SimSun" panose="02010600030101010101" pitchFamily="2" charset="-122"/>
          <a:cs typeface="SimSun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C8A27B77-DB4B-42EA-A92A-73A776DB8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21004"/>
            <a:ext cx="7315200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6600" dirty="0">
                <a:latin typeface="SimHei" panose="02010609060101010101" pitchFamily="49" charset="-122"/>
                <a:ea typeface="SimHei" panose="02010609060101010101" pitchFamily="49" charset="-122"/>
              </a:rPr>
              <a:t>乳霜护肤类化妆品</a:t>
            </a:r>
            <a:endParaRPr lang="en-US" altLang="zh-CN" sz="4000" dirty="0">
              <a:latin typeface="SimHei" panose="02010609060101010101" pitchFamily="49" charset="-122"/>
              <a:ea typeface="SimHei" panose="02010609060101010101" pitchFamily="49" charset="-122"/>
              <a:cs typeface="Adobe 黑体 Std R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7165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目录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606610" y="1597191"/>
            <a:ext cx="7461065" cy="3347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1.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护肤凝胶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2.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护肤乳液、霜膏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3.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粉底液、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BB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霜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200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护肤凝胶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606610" y="1597191"/>
            <a:ext cx="7461065" cy="2236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护肤凝胶是介于化妆水与乳霜之间的一类产品，其配方结构类似于化妆水，但使用性能上又类似于乳霜，比乳霜肤感清爽。从透明度上分，护肤凝胶分透明型及半透明型。</a:t>
            </a:r>
          </a:p>
        </p:txBody>
      </p:sp>
    </p:spTree>
    <p:extLst>
      <p:ext uri="{BB962C8B-B14F-4D97-AF65-F5344CB8AC3E}">
        <p14:creationId xmlns:p14="http://schemas.microsoft.com/office/powerpoint/2010/main" val="53065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护肤凝胶配方结构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45D8AE0-983E-0A25-4992-F31AE226E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3842412"/>
              </p:ext>
            </p:extLst>
          </p:nvPr>
        </p:nvGraphicFramePr>
        <p:xfrm>
          <a:off x="182880" y="1346495"/>
          <a:ext cx="8778240" cy="508255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70432">
                  <a:extLst>
                    <a:ext uri="{9D8B030D-6E8A-4147-A177-3AD203B41FA5}">
                      <a16:colId xmlns:a16="http://schemas.microsoft.com/office/drawing/2014/main" val="261008643"/>
                    </a:ext>
                  </a:extLst>
                </a:gridCol>
                <a:gridCol w="3238373">
                  <a:extLst>
                    <a:ext uri="{9D8B030D-6E8A-4147-A177-3AD203B41FA5}">
                      <a16:colId xmlns:a16="http://schemas.microsoft.com/office/drawing/2014/main" val="389275000"/>
                    </a:ext>
                  </a:extLst>
                </a:gridCol>
                <a:gridCol w="4169435">
                  <a:extLst>
                    <a:ext uri="{9D8B030D-6E8A-4147-A177-3AD203B41FA5}">
                      <a16:colId xmlns:a16="http://schemas.microsoft.com/office/drawing/2014/main" val="233347590"/>
                    </a:ext>
                  </a:extLst>
                </a:gridCol>
              </a:tblGrid>
              <a:tr h="42031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成分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主要功能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代表性原料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12783819"/>
                  </a:ext>
                </a:extLst>
              </a:tr>
              <a:tr h="67417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水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补充角质层的水分、溶解其他水溶 性成分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去离子水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6404778"/>
                  </a:ext>
                </a:extLst>
              </a:tr>
              <a:tr h="67417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保湿剂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角质层的保湿、改善使用感、溶解某些成分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甘油、丙二醇、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1,3-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丁二醇、甘油聚醚</a:t>
                      </a:r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-26</a:t>
                      </a:r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、透明质酸等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65824536"/>
                  </a:ext>
                </a:extLst>
              </a:tr>
              <a:tr h="394308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润肤剂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滋润、保湿软化、改善使用感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水溶性的植物油脂、水溶性的硅油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6898376"/>
                  </a:ext>
                </a:extLst>
              </a:tr>
              <a:tr h="38390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增溶剂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油溶性原料增溶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短碳链醇或非离子表面活性剂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9097975"/>
                  </a:ext>
                </a:extLst>
              </a:tr>
              <a:tr h="674173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流变调节剂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改善流变性、改善肤感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各种水溶性聚合物，如汉生胶、羟乙基纤维素、 羟丙基纤维素、丙烯酸系聚合物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(Carbopol 941</a:t>
                      </a:r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等</a:t>
                      </a:r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3519876"/>
                  </a:ext>
                </a:extLst>
              </a:tr>
              <a:tr h="38390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香精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赋香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35265312"/>
                  </a:ext>
                </a:extLst>
              </a:tr>
              <a:tr h="383904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防腐剂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微生物稳定性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尽可能选择水溶性的防腐剂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10119246"/>
                  </a:ext>
                </a:extLst>
              </a:tr>
              <a:tr h="389106"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其他活性组分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紧缩、杀菌、营养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如收敛剂、杀菌剂、营养剂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201781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595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5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设计原理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156997"/>
            <a:ext cx="877824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流变调节剂的选择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粘度调节</a:t>
            </a:r>
            <a:endParaRPr lang="en-US" altLang="zh-CN" sz="20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透明型与不透明型流变调节剂</a:t>
            </a:r>
            <a:endParaRPr lang="en-US" altLang="zh-CN" sz="20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油脂的添加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添加水溶性油脂：在原来的油性化合物结构基础上连接聚氧乙烯链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(EO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链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)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lang="zh-CN" altLang="en-US" sz="2400" b="1" dirty="0">
                <a:solidFill>
                  <a:srgbClr val="0000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随</a:t>
            </a:r>
            <a:r>
              <a:rPr lang="en-US" altLang="zh-CN" sz="2400" b="1" dirty="0">
                <a:solidFill>
                  <a:srgbClr val="0000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EO</a:t>
            </a:r>
            <a:r>
              <a:rPr lang="zh-CN" altLang="en-US" sz="2400" b="1" dirty="0">
                <a:solidFill>
                  <a:srgbClr val="0000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数的增加，水溶性油脂的水溶性增强。水溶性较强的油脂，会形成透明体系；而</a:t>
            </a:r>
            <a:r>
              <a:rPr lang="en-US" altLang="zh-CN" sz="2400" b="1" dirty="0">
                <a:solidFill>
                  <a:srgbClr val="0000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EO</a:t>
            </a:r>
            <a:r>
              <a:rPr lang="zh-CN" altLang="en-US" sz="2400" b="1" dirty="0">
                <a:solidFill>
                  <a:srgbClr val="0000FF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数较少，水溶性不强的，添加到体系中会形成泛蓝的半透明体系。</a:t>
            </a:r>
            <a:endParaRPr lang="en-US" altLang="zh-CN" sz="2400" b="1" dirty="0">
              <a:solidFill>
                <a:srgbClr val="0000FF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添加油溶性油脂：需要借助于增溶、微乳或纳米乳液技术，增强油溶性的成分在水介质中的分散性。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109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6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原理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182414" y="1912496"/>
            <a:ext cx="6779172" cy="2790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增溶理论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护肤凝胶中不包含乳化剂时，所添加的油性成分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如香精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，也需要借助于增溶技术。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目前常用的增溶剂是非离子型表面活性剂，如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PEG-40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氢化蓖麻油、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PEG-60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氢化蓖麻油。</a:t>
            </a:r>
            <a:endParaRPr lang="en-US" altLang="zh-CN" sz="2400" dirty="0">
              <a:solidFill>
                <a:srgbClr val="0000FF"/>
              </a:solidFill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4181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3B81E-CC7F-2E87-0D42-5A2F722F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8ED88800-B787-E0AB-5E63-1FE83F5C01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7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2964D2B-6077-935E-1367-ABF62C21A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2A8B549A-EF63-4BD2-E98F-62E1DFA0E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原理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BA78704-D27F-1698-3F26-5C77ADBF0A02}"/>
              </a:ext>
            </a:extLst>
          </p:cNvPr>
          <p:cNvSpPr txBox="1"/>
          <p:nvPr/>
        </p:nvSpPr>
        <p:spPr>
          <a:xfrm>
            <a:off x="182880" y="1029627"/>
            <a:ext cx="877823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增稠理论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体系的黏度主要依赖于水溶性聚合物，常用的水溶性聚合物是卡波树脂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(Carbomer) 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类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采用无机碱类或低分子量的有机胺类中和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Carbomer,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使其分子离子化并沿着聚合物的主链产生负电荷，同性电荷之间的相斥便促使分子伸直变成张开结构。此反应进行迅速，增稠作用瞬间完成。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5" name="IM 232">
            <a:extLst>
              <a:ext uri="{FF2B5EF4-FFF2-40B4-BE49-F238E27FC236}">
                <a16:creationId xmlns:a16="http://schemas.microsoft.com/office/drawing/2014/main" id="{02AFAA22-90E5-DB5E-B9EE-978AC58FA96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47476" y="2664377"/>
            <a:ext cx="2649046" cy="152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07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8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配方示例与工艺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A7519AB-855E-86E6-7264-033C7479CD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663991"/>
              </p:ext>
            </p:extLst>
          </p:nvPr>
        </p:nvGraphicFramePr>
        <p:xfrm>
          <a:off x="182880" y="1609079"/>
          <a:ext cx="8778240" cy="2804808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1013722">
                  <a:extLst>
                    <a:ext uri="{9D8B030D-6E8A-4147-A177-3AD203B41FA5}">
                      <a16:colId xmlns:a16="http://schemas.microsoft.com/office/drawing/2014/main" val="2299324030"/>
                    </a:ext>
                  </a:extLst>
                </a:gridCol>
                <a:gridCol w="1718919">
                  <a:extLst>
                    <a:ext uri="{9D8B030D-6E8A-4147-A177-3AD203B41FA5}">
                      <a16:colId xmlns:a16="http://schemas.microsoft.com/office/drawing/2014/main" val="1366586742"/>
                    </a:ext>
                  </a:extLst>
                </a:gridCol>
                <a:gridCol w="1109217">
                  <a:extLst>
                    <a:ext uri="{9D8B030D-6E8A-4147-A177-3AD203B41FA5}">
                      <a16:colId xmlns:a16="http://schemas.microsoft.com/office/drawing/2014/main" val="1175787750"/>
                    </a:ext>
                  </a:extLst>
                </a:gridCol>
                <a:gridCol w="1946639">
                  <a:extLst>
                    <a:ext uri="{9D8B030D-6E8A-4147-A177-3AD203B41FA5}">
                      <a16:colId xmlns:a16="http://schemas.microsoft.com/office/drawing/2014/main" val="2179045649"/>
                    </a:ext>
                  </a:extLst>
                </a:gridCol>
                <a:gridCol w="1946639">
                  <a:extLst>
                    <a:ext uri="{9D8B030D-6E8A-4147-A177-3AD203B41FA5}">
                      <a16:colId xmlns:a16="http://schemas.microsoft.com/office/drawing/2014/main" val="412368415"/>
                    </a:ext>
                  </a:extLst>
                </a:gridCol>
                <a:gridCol w="1043104">
                  <a:extLst>
                    <a:ext uri="{9D8B030D-6E8A-4147-A177-3AD203B41FA5}">
                      <a16:colId xmlns:a16="http://schemas.microsoft.com/office/drawing/2014/main" val="1170071163"/>
                    </a:ext>
                  </a:extLst>
                </a:gridCol>
              </a:tblGrid>
              <a:tr h="424779">
                <a:tc>
                  <a:txBody>
                    <a:bodyPr/>
                    <a:lstStyle/>
                    <a:p>
                      <a:pPr marL="247650" marR="0" eaLnBrk="0">
                        <a:lnSpc>
                          <a:spcPct val="92000"/>
                        </a:lnSpc>
                        <a:spcBef>
                          <a:spcPts val="585"/>
                        </a:spcBef>
                        <a:spcAft>
                          <a:spcPts val="0"/>
                        </a:spcAft>
                      </a:pPr>
                      <a:r>
                        <a:rPr lang="zh-CN" sz="1800" spc="45" dirty="0">
                          <a:effectLst/>
                        </a:rPr>
                        <a:t>组相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4025" marR="0" eaLnBrk="0">
                        <a:lnSpc>
                          <a:spcPct val="91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原料名称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25" marR="0" eaLnBrk="0">
                        <a:lnSpc>
                          <a:spcPct val="91000"/>
                        </a:lnSpc>
                        <a:spcBef>
                          <a:spcPts val="57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质量分数</a:t>
                      </a:r>
                      <a:r>
                        <a:rPr lang="en-US" sz="1800" spc="-10">
                          <a:effectLst/>
                        </a:rPr>
                        <a:t>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8925" marR="0" eaLnBrk="0">
                        <a:lnSpc>
                          <a:spcPct val="92000"/>
                        </a:lnSpc>
                        <a:spcBef>
                          <a:spcPts val="585"/>
                        </a:spcBef>
                        <a:spcAft>
                          <a:spcPts val="0"/>
                        </a:spcAft>
                      </a:pPr>
                      <a:r>
                        <a:rPr lang="zh-CN" sz="1800" spc="45">
                          <a:effectLst/>
                        </a:rPr>
                        <a:t>组相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8325" marR="0" eaLnBrk="0">
                        <a:lnSpc>
                          <a:spcPct val="91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原料名称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 marR="0" eaLnBrk="0">
                        <a:lnSpc>
                          <a:spcPct val="91000"/>
                        </a:lnSpc>
                        <a:spcBef>
                          <a:spcPts val="57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质量分数</a:t>
                      </a:r>
                      <a:r>
                        <a:rPr lang="en-US" sz="1800" spc="-10">
                          <a:effectLst/>
                        </a:rPr>
                        <a:t>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18605607"/>
                  </a:ext>
                </a:extLst>
              </a:tr>
              <a:tr h="758414">
                <a:tc rowSpan="3">
                  <a:txBody>
                    <a:bodyPr/>
                    <a:lstStyle/>
                    <a:p>
                      <a:pPr marL="0" marR="0" eaLnBrk="0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285750" marR="0" eaLnBrk="0">
                        <a:lnSpc>
                          <a:spcPct val="92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</a:rPr>
                        <a:t>A</a:t>
                      </a:r>
                      <a:r>
                        <a:rPr lang="zh-CN" sz="1800" spc="-5">
                          <a:effectLst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85725" marR="0" eaLnBrk="0">
                        <a:lnSpc>
                          <a:spcPct val="91000"/>
                        </a:lnSpc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zh-CN" sz="1800" dirty="0">
                          <a:effectLst/>
                        </a:rPr>
                        <a:t>水</a:t>
                      </a:r>
                      <a:endParaRPr lang="en-US" sz="1800" dirty="0">
                        <a:effectLst/>
                      </a:endParaRPr>
                    </a:p>
                    <a:p>
                      <a:pPr marL="85725" marR="0" eaLnBrk="0">
                        <a:lnSpc>
                          <a:spcPct val="91000"/>
                        </a:lnSpc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zh-CN" sz="1800" spc="60" dirty="0">
                          <a:solidFill>
                            <a:srgbClr val="FF0000"/>
                          </a:solidFill>
                          <a:effectLst/>
                        </a:rPr>
                        <a:t>甘油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85725" marR="0" eaLnBrk="0">
                        <a:lnSpc>
                          <a:spcPct val="91000"/>
                        </a:lnSpc>
                        <a:spcBef>
                          <a:spcPts val="975"/>
                        </a:spcBef>
                        <a:spcAft>
                          <a:spcPts val="0"/>
                        </a:spcAft>
                      </a:pPr>
                      <a:r>
                        <a:rPr lang="zh-CN" sz="1800" spc="15" dirty="0">
                          <a:solidFill>
                            <a:srgbClr val="FF0000"/>
                          </a:solidFill>
                          <a:effectLst/>
                        </a:rPr>
                        <a:t>丁二醇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85725" marR="0" eaLnBrk="0">
                        <a:lnSpc>
                          <a:spcPts val="2295"/>
                        </a:lnSpc>
                        <a:spcBef>
                          <a:spcPts val="880"/>
                        </a:spcBef>
                        <a:spcAft>
                          <a:spcPts val="0"/>
                        </a:spcAft>
                      </a:pPr>
                      <a:r>
                        <a:rPr lang="zh-CN" sz="1800" spc="-15" dirty="0">
                          <a:effectLst/>
                        </a:rPr>
                        <a:t>卡波</a:t>
                      </a:r>
                      <a:r>
                        <a:rPr lang="en-US" sz="1800" spc="-15" dirty="0">
                          <a:effectLst/>
                        </a:rPr>
                        <a:t>940</a:t>
                      </a:r>
                      <a:endParaRPr lang="en-US" sz="1800" dirty="0">
                        <a:effectLst/>
                      </a:endParaRPr>
                    </a:p>
                    <a:p>
                      <a:pPr marL="85725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</a:rPr>
                        <a:t>透明质酸</a:t>
                      </a:r>
                      <a:endParaRPr lang="en-US" sz="1800" dirty="0">
                        <a:effectLst/>
                      </a:endParaRPr>
                    </a:p>
                    <a:p>
                      <a:pPr marL="85725" marR="0" eaLnBrk="0">
                        <a:lnSpc>
                          <a:spcPct val="91000"/>
                        </a:lnSpc>
                        <a:spcBef>
                          <a:spcPts val="88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</a:rPr>
                        <a:t>尿囊素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219075" marR="0" eaLnBrk="0">
                        <a:lnSpc>
                          <a:spcPts val="2475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</a:rPr>
                        <a:t>加至</a:t>
                      </a:r>
                      <a:r>
                        <a:rPr lang="en-US" sz="1800" spc="-10" dirty="0">
                          <a:effectLst/>
                        </a:rPr>
                        <a:t>100</a:t>
                      </a:r>
                      <a:endParaRPr lang="en-US" sz="1800" dirty="0">
                        <a:effectLst/>
                      </a:endParaRPr>
                    </a:p>
                    <a:p>
                      <a:pPr marL="3270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solidFill>
                            <a:srgbClr val="FF0000"/>
                          </a:solidFill>
                          <a:effectLst/>
                        </a:rPr>
                        <a:t>5.00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27025" marR="0" eaLnBrk="0">
                        <a:lnSpc>
                          <a:spcPts val="2300"/>
                        </a:lnSpc>
                        <a:spcBef>
                          <a:spcPts val="1155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solidFill>
                            <a:srgbClr val="FF0000"/>
                          </a:solidFill>
                          <a:effectLst/>
                        </a:rPr>
                        <a:t>5.00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270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spc="-15" dirty="0">
                        <a:effectLst/>
                      </a:endParaRPr>
                    </a:p>
                    <a:p>
                      <a:pPr marL="3270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effectLst/>
                        </a:rPr>
                        <a:t>0.30</a:t>
                      </a:r>
                      <a:endParaRPr lang="en-US" sz="1800" dirty="0">
                        <a:effectLst/>
                      </a:endParaRPr>
                    </a:p>
                    <a:p>
                      <a:pPr marL="327025" marR="0" eaLnBrk="0">
                        <a:lnSpc>
                          <a:spcPct val="76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effectLst/>
                        </a:rPr>
                        <a:t>0.10</a:t>
                      </a:r>
                      <a:endParaRPr lang="en-US" sz="1800" dirty="0">
                        <a:effectLst/>
                      </a:endParaRPr>
                    </a:p>
                    <a:p>
                      <a:pPr marL="327025" marR="0" eaLnBrk="0">
                        <a:lnSpc>
                          <a:spcPct val="76000"/>
                        </a:lnSpc>
                        <a:spcBef>
                          <a:spcPts val="106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effectLst/>
                        </a:rPr>
                        <a:t>0.50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320675" marR="0" eaLnBrk="0">
                        <a:lnSpc>
                          <a:spcPct val="92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1800" spc="55">
                          <a:effectLst/>
                        </a:rPr>
                        <a:t>A</a:t>
                      </a:r>
                      <a:r>
                        <a:rPr lang="zh-CN" sz="1800" spc="55">
                          <a:effectLst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0" eaLnBrk="0">
                        <a:lnSpc>
                          <a:spcPct val="76000"/>
                        </a:lnSpc>
                        <a:spcBef>
                          <a:spcPts val="945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</a:rPr>
                        <a:t>EDTA-2Na</a:t>
                      </a:r>
                      <a:endParaRPr lang="en-US" sz="1800">
                        <a:effectLst/>
                      </a:endParaRPr>
                    </a:p>
                    <a:p>
                      <a:pPr marL="85725" marR="0" eaLnBrk="0">
                        <a:lnSpc>
                          <a:spcPct val="91000"/>
                        </a:lnSpc>
                        <a:spcBef>
                          <a:spcPts val="705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芦荟提取物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 marR="0" eaLnBrk="0">
                        <a:lnSpc>
                          <a:spcPts val="2245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</a:rPr>
                        <a:t>0.05</a:t>
                      </a:r>
                      <a:endParaRPr lang="en-US" sz="1800">
                        <a:effectLst/>
                      </a:endParaRPr>
                    </a:p>
                    <a:p>
                      <a:pPr marL="3016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25">
                          <a:effectLst/>
                        </a:rPr>
                        <a:t>1.00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83918278"/>
                  </a:ext>
                </a:extLst>
              </a:tr>
              <a:tr h="7668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320675" marR="0" eaLnBrk="0">
                        <a:lnSpc>
                          <a:spcPct val="92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1800" spc="55" dirty="0">
                          <a:effectLst/>
                        </a:rPr>
                        <a:t>B</a:t>
                      </a:r>
                      <a:r>
                        <a:rPr lang="zh-CN" sz="1800" spc="55" dirty="0">
                          <a:effectLst/>
                        </a:rPr>
                        <a:t>相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0" eaLnBrk="0">
                        <a:lnSpc>
                          <a:spcPts val="234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三乙醇胺</a:t>
                      </a:r>
                      <a:endParaRPr lang="en-US" sz="1800">
                        <a:effectLst/>
                      </a:endParaRPr>
                    </a:p>
                    <a:p>
                      <a:pPr marL="85725" marR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20">
                          <a:effectLst/>
                        </a:rPr>
                        <a:t>防腐剂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 marR="0" eaLnBrk="0">
                        <a:lnSpc>
                          <a:spcPts val="2090"/>
                        </a:lnSpc>
                        <a:spcBef>
                          <a:spcPts val="915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</a:rPr>
                        <a:t>0.30</a:t>
                      </a:r>
                      <a:endParaRPr lang="en-US" sz="1800">
                        <a:effectLst/>
                      </a:endParaRPr>
                    </a:p>
                    <a:p>
                      <a:pPr marL="301625" marR="0" eaLnBrk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5">
                          <a:effectLst/>
                        </a:rPr>
                        <a:t>适量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88999982"/>
                  </a:ext>
                </a:extLst>
              </a:tr>
              <a:tr h="76264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1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320675" marR="0" eaLnBrk="0">
                        <a:lnSpc>
                          <a:spcPct val="92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en-US" sz="1800" spc="55" dirty="0">
                          <a:effectLst/>
                        </a:rPr>
                        <a:t>C</a:t>
                      </a:r>
                      <a:r>
                        <a:rPr lang="zh-CN" sz="1800" spc="55" dirty="0">
                          <a:effectLst/>
                        </a:rPr>
                        <a:t>相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0" eaLnBrk="0">
                        <a:lnSpc>
                          <a:spcPts val="2085"/>
                        </a:lnSpc>
                        <a:spcBef>
                          <a:spcPts val="645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PEG</a:t>
                      </a:r>
                      <a:r>
                        <a:rPr lang="en-US" sz="1800" spc="15" dirty="0">
                          <a:effectLst/>
                        </a:rPr>
                        <a:t>-40</a:t>
                      </a:r>
                      <a:r>
                        <a:rPr lang="zh-CN" sz="1800" spc="15" dirty="0">
                          <a:effectLst/>
                        </a:rPr>
                        <a:t>氢化蓖麻油</a:t>
                      </a:r>
                      <a:endParaRPr lang="en-US" sz="1800" dirty="0">
                        <a:effectLst/>
                      </a:endParaRPr>
                    </a:p>
                    <a:p>
                      <a:pPr marL="85725" marR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25" dirty="0">
                          <a:effectLst/>
                        </a:rPr>
                        <a:t>香精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 marR="0" eaLnBrk="0">
                        <a:lnSpc>
                          <a:spcPts val="1940"/>
                        </a:lnSpc>
                        <a:spcBef>
                          <a:spcPts val="93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effectLst/>
                        </a:rPr>
                        <a:t>0.50</a:t>
                      </a:r>
                      <a:endParaRPr lang="en-US" sz="1800" dirty="0">
                        <a:effectLst/>
                      </a:endParaRPr>
                    </a:p>
                    <a:p>
                      <a:pPr marL="301625" marR="0" eaLnBrk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zh-CN" sz="1800" spc="-15" dirty="0">
                        <a:effectLst/>
                      </a:endParaRPr>
                    </a:p>
                    <a:p>
                      <a:pPr marL="301625" marR="0" eaLnBrk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5" dirty="0">
                          <a:effectLst/>
                        </a:rPr>
                        <a:t>适量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52768295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D8B11CA-38DC-D9B2-E1EB-8EF0DAB3873D}"/>
              </a:ext>
            </a:extLst>
          </p:cNvPr>
          <p:cNvSpPr txBox="1"/>
          <p:nvPr/>
        </p:nvSpPr>
        <p:spPr>
          <a:xfrm>
            <a:off x="2286000" y="106777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2400" b="1" spc="20" dirty="0">
                <a:solidFill>
                  <a:srgbClr val="000000"/>
                </a:solidFill>
                <a:effectLst/>
                <a:ea typeface="SimHei" panose="02010609060101010101" pitchFamily="49" charset="-122"/>
                <a:cs typeface="SimHei" panose="02010609060101010101" pitchFamily="49" charset="-122"/>
              </a:rPr>
              <a:t>保湿型护肤凝胶</a:t>
            </a:r>
            <a:endParaRPr 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F206E12-BB15-888F-2ED3-F3A6B0AA07CE}"/>
              </a:ext>
            </a:extLst>
          </p:cNvPr>
          <p:cNvSpPr txBox="1"/>
          <p:nvPr/>
        </p:nvSpPr>
        <p:spPr>
          <a:xfrm>
            <a:off x="182880" y="4567679"/>
            <a:ext cx="8778240" cy="1949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52450" marR="0" eaLnBrk="0">
              <a:lnSpc>
                <a:spcPct val="91000"/>
              </a:lnSpc>
              <a:spcBef>
                <a:spcPts val="1590"/>
              </a:spcBef>
              <a:spcAft>
                <a:spcPts val="0"/>
              </a:spcAft>
            </a:pPr>
            <a:r>
              <a:rPr lang="zh-CN" spc="-2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制备工艺：</a:t>
            </a:r>
            <a:endParaRPr lang="en-US" dirty="0">
              <a:solidFill>
                <a:srgbClr val="000000"/>
              </a:solidFill>
              <a:effectLst/>
              <a:latin typeface="+mj-lt"/>
              <a:ea typeface="SimHei" panose="02010609060101010101" pitchFamily="49" charset="-122"/>
            </a:endParaRPr>
          </a:p>
          <a:p>
            <a:pPr marL="552450" marR="0" eaLnBrk="0">
              <a:lnSpc>
                <a:spcPct val="90000"/>
              </a:lnSpc>
              <a:spcBef>
                <a:spcPts val="410"/>
              </a:spcBef>
              <a:spcAft>
                <a:spcPts val="0"/>
              </a:spcAft>
            </a:pPr>
            <a:r>
              <a:rPr lang="en-US" spc="4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①</a:t>
            </a:r>
            <a:r>
              <a:rPr lang="en-US" spc="5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pc="4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准确称量</a:t>
            </a:r>
            <a:r>
              <a:rPr lang="en-US" altLang="zh-CN" spc="4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4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</a:rPr>
              <a:t>A</a:t>
            </a:r>
            <a:r>
              <a:rPr lang="en-US" spc="5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</a:rPr>
              <a:t> </a:t>
            </a:r>
            <a:r>
              <a:rPr lang="zh-CN" spc="4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相中的水于容器中；</a:t>
            </a:r>
            <a:endParaRPr lang="en-US" dirty="0">
              <a:solidFill>
                <a:srgbClr val="000000"/>
              </a:solidFill>
              <a:effectLst/>
              <a:latin typeface="+mj-lt"/>
              <a:ea typeface="SimHei" panose="02010609060101010101" pitchFamily="49" charset="-122"/>
            </a:endParaRPr>
          </a:p>
          <a:p>
            <a:pPr marL="552450" marR="0" eaLnBrk="0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</a:pPr>
            <a:r>
              <a:rPr lang="en-US" spc="5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②</a:t>
            </a:r>
            <a:r>
              <a:rPr lang="en-US" spc="9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pc="5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在搅拌水的同时，将卡波</a:t>
            </a:r>
            <a:r>
              <a:rPr lang="en-US" spc="5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940</a:t>
            </a:r>
            <a:r>
              <a:rPr lang="zh-CN" spc="5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分散在水中，充分搅拌分散均匀；</a:t>
            </a:r>
            <a:endParaRPr lang="en-US" dirty="0">
              <a:solidFill>
                <a:srgbClr val="000000"/>
              </a:solidFill>
              <a:effectLst/>
              <a:latin typeface="+mj-lt"/>
              <a:ea typeface="SimHei" panose="02010609060101010101" pitchFamily="49" charset="-122"/>
            </a:endParaRPr>
          </a:p>
          <a:p>
            <a:pPr marL="552450" marR="0" eaLnBrk="0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</a:pPr>
            <a:r>
              <a:rPr lang="en-US" spc="4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③</a:t>
            </a:r>
            <a:r>
              <a:rPr lang="en-US" spc="22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pc="4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依次加入</a:t>
            </a:r>
            <a:r>
              <a:rPr lang="en-US" altLang="zh-CN" spc="4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4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</a:rPr>
              <a:t>A</a:t>
            </a:r>
            <a:r>
              <a:rPr lang="en-US" spc="5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</a:rPr>
              <a:t> </a:t>
            </a:r>
            <a:r>
              <a:rPr lang="zh-CN" spc="4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相剩余组分，搅拌分散均匀；</a:t>
            </a:r>
            <a:endParaRPr lang="en-US" dirty="0">
              <a:solidFill>
                <a:srgbClr val="000000"/>
              </a:solidFill>
              <a:effectLst/>
              <a:latin typeface="+mj-lt"/>
              <a:ea typeface="SimHei" panose="02010609060101010101" pitchFamily="49" charset="-122"/>
            </a:endParaRPr>
          </a:p>
          <a:p>
            <a:pPr marL="552450" marR="0" eaLnBrk="0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</a:pPr>
            <a:r>
              <a:rPr lang="en-US" spc="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④</a:t>
            </a:r>
            <a:r>
              <a:rPr lang="en-US" spc="9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pc="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将</a:t>
            </a:r>
            <a:r>
              <a:rPr lang="zh-CN" spc="-31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altLang="zh-CN" spc="-31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</a:rPr>
              <a:t>B</a:t>
            </a:r>
            <a:r>
              <a:rPr lang="en-US" spc="14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</a:rPr>
              <a:t> </a:t>
            </a:r>
            <a:r>
              <a:rPr lang="zh-CN" spc="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相依次加入，搅拌分散均匀；</a:t>
            </a:r>
            <a:endParaRPr lang="en-US" dirty="0">
              <a:solidFill>
                <a:srgbClr val="000000"/>
              </a:solidFill>
              <a:effectLst/>
              <a:latin typeface="+mj-lt"/>
              <a:ea typeface="SimHei" panose="02010609060101010101" pitchFamily="49" charset="-122"/>
            </a:endParaRPr>
          </a:p>
          <a:p>
            <a:pPr marL="552450" marR="0" eaLnBrk="0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</a:pPr>
            <a:r>
              <a:rPr lang="en-US" spc="3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⑤</a:t>
            </a:r>
            <a:r>
              <a:rPr lang="en-US" spc="100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pc="3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将</a:t>
            </a:r>
            <a:r>
              <a:rPr lang="zh-CN" spc="-20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3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</a:rPr>
              <a:t>C</a:t>
            </a:r>
            <a:r>
              <a:rPr lang="en-US" spc="6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</a:rPr>
              <a:t> </a:t>
            </a:r>
            <a:r>
              <a:rPr lang="zh-CN" spc="35" dirty="0">
                <a:solidFill>
                  <a:srgbClr val="000000"/>
                </a:solidFill>
                <a:effectLst/>
                <a:latin typeface="+mj-lt"/>
                <a:ea typeface="SimHei" panose="02010609060101010101" pitchFamily="49" charset="-122"/>
                <a:cs typeface="SimSun" panose="02010600030101010101" pitchFamily="2" charset="-122"/>
              </a:rPr>
              <a:t>相中原料预混均匀，再加入到体系中，搅拌分散至体系均一。</a:t>
            </a:r>
            <a:endParaRPr lang="en-US" dirty="0">
              <a:solidFill>
                <a:srgbClr val="000000"/>
              </a:solidFill>
              <a:effectLst/>
              <a:latin typeface="+mj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402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9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配方示例与工艺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841467" y="1022701"/>
            <a:ext cx="7461065" cy="574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sz="2400" b="1" spc="10" dirty="0">
                <a:solidFill>
                  <a:srgbClr val="000000"/>
                </a:solidFill>
                <a:effectLst/>
                <a:ea typeface="SimHei" panose="02010609060101010101" pitchFamily="49" charset="-122"/>
                <a:cs typeface="SimHei" panose="02010609060101010101" pitchFamily="49" charset="-122"/>
              </a:rPr>
              <a:t>美白护肤凝胶</a:t>
            </a:r>
            <a:endParaRPr lang="en-US" altLang="zh-CN" sz="3200" dirty="0">
              <a:latin typeface="+mn-lt"/>
              <a:ea typeface="SimHei" panose="02010609060101010101" pitchFamily="49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F5B15C0-0D77-CD9A-516D-41BD50A8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070818"/>
              </p:ext>
            </p:extLst>
          </p:nvPr>
        </p:nvGraphicFramePr>
        <p:xfrm>
          <a:off x="182880" y="1644580"/>
          <a:ext cx="8778241" cy="243059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976981">
                  <a:extLst>
                    <a:ext uri="{9D8B030D-6E8A-4147-A177-3AD203B41FA5}">
                      <a16:colId xmlns:a16="http://schemas.microsoft.com/office/drawing/2014/main" val="3390099101"/>
                    </a:ext>
                  </a:extLst>
                </a:gridCol>
                <a:gridCol w="1713361">
                  <a:extLst>
                    <a:ext uri="{9D8B030D-6E8A-4147-A177-3AD203B41FA5}">
                      <a16:colId xmlns:a16="http://schemas.microsoft.com/office/drawing/2014/main" val="3259047552"/>
                    </a:ext>
                  </a:extLst>
                </a:gridCol>
                <a:gridCol w="1108217">
                  <a:extLst>
                    <a:ext uri="{9D8B030D-6E8A-4147-A177-3AD203B41FA5}">
                      <a16:colId xmlns:a16="http://schemas.microsoft.com/office/drawing/2014/main" val="1360025825"/>
                    </a:ext>
                  </a:extLst>
                </a:gridCol>
                <a:gridCol w="1953960">
                  <a:extLst>
                    <a:ext uri="{9D8B030D-6E8A-4147-A177-3AD203B41FA5}">
                      <a16:colId xmlns:a16="http://schemas.microsoft.com/office/drawing/2014/main" val="3464944027"/>
                    </a:ext>
                  </a:extLst>
                </a:gridCol>
                <a:gridCol w="1953960">
                  <a:extLst>
                    <a:ext uri="{9D8B030D-6E8A-4147-A177-3AD203B41FA5}">
                      <a16:colId xmlns:a16="http://schemas.microsoft.com/office/drawing/2014/main" val="2282401701"/>
                    </a:ext>
                  </a:extLst>
                </a:gridCol>
                <a:gridCol w="1071762">
                  <a:extLst>
                    <a:ext uri="{9D8B030D-6E8A-4147-A177-3AD203B41FA5}">
                      <a16:colId xmlns:a16="http://schemas.microsoft.com/office/drawing/2014/main" val="1075010951"/>
                    </a:ext>
                  </a:extLst>
                </a:gridCol>
              </a:tblGrid>
              <a:tr h="249555">
                <a:tc>
                  <a:txBody>
                    <a:bodyPr/>
                    <a:lstStyle/>
                    <a:p>
                      <a:pPr marL="254000" marR="0" algn="ctr" eaLnBrk="0">
                        <a:lnSpc>
                          <a:spcPct val="92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zh-CN" sz="1800" spc="45">
                          <a:effectLst/>
                        </a:rPr>
                        <a:t>组相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6090" marR="0" algn="ctr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原料名称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9540" marR="0" algn="ctr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质量分数</a:t>
                      </a:r>
                      <a:r>
                        <a:rPr lang="en-US" sz="1800" spc="-10">
                          <a:effectLst/>
                        </a:rPr>
                        <a:t>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2575" marR="0" algn="ctr" eaLnBrk="0">
                        <a:lnSpc>
                          <a:spcPct val="92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zh-CN" sz="1800" spc="40" dirty="0">
                          <a:effectLst/>
                        </a:rPr>
                        <a:t>组相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74040" marR="0" algn="ctr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原料名称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25" marR="0" algn="ctr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质量分数</a:t>
                      </a:r>
                      <a:r>
                        <a:rPr lang="en-US" sz="1800" spc="-10">
                          <a:effectLst/>
                        </a:rPr>
                        <a:t>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5371297"/>
                  </a:ext>
                </a:extLst>
              </a:tr>
              <a:tr h="740410">
                <a:tc rowSpan="3">
                  <a:txBody>
                    <a:bodyPr/>
                    <a:lstStyle/>
                    <a:p>
                      <a:pPr marL="0" marR="0" algn="ctr" ea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0" marR="0" algn="ctr" ea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0" marR="0" algn="ctr" ea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0" marR="0" algn="ctr" ea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291465" marR="0" algn="ctr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</a:rPr>
                        <a:t>A</a:t>
                      </a:r>
                      <a:r>
                        <a:rPr lang="zh-CN" sz="1800" spc="-5">
                          <a:effectLst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98425" marR="0" algn="ctr" eaLnBrk="0">
                        <a:lnSpc>
                          <a:spcPct val="91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zh-CN" sz="1800" dirty="0">
                          <a:effectLst/>
                        </a:rPr>
                        <a:t>水</a:t>
                      </a:r>
                      <a:endParaRPr lang="en-US" sz="1800" dirty="0">
                        <a:effectLst/>
                      </a:endParaRPr>
                    </a:p>
                    <a:p>
                      <a:pPr marL="98425" marR="0" algn="ctr" eaLnBrk="0">
                        <a:lnSpc>
                          <a:spcPct val="91000"/>
                        </a:lnSpc>
                        <a:spcBef>
                          <a:spcPts val="545"/>
                        </a:spcBef>
                        <a:spcAft>
                          <a:spcPts val="0"/>
                        </a:spcAft>
                      </a:pPr>
                      <a:r>
                        <a:rPr lang="zh-CN" sz="1800" spc="55" dirty="0">
                          <a:solidFill>
                            <a:srgbClr val="FF0000"/>
                          </a:solidFill>
                          <a:effectLst/>
                        </a:rPr>
                        <a:t>甘油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98425" marR="0" algn="ctr" eaLnBrk="0">
                        <a:lnSpc>
                          <a:spcPct val="91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</a:pPr>
                      <a:r>
                        <a:rPr lang="zh-CN" sz="1800" spc="15" dirty="0">
                          <a:solidFill>
                            <a:srgbClr val="FF0000"/>
                          </a:solidFill>
                          <a:effectLst/>
                        </a:rPr>
                        <a:t>丁二醇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98425" marR="0" algn="ctr" eaLnBrk="0">
                        <a:lnSpc>
                          <a:spcPct val="77000"/>
                        </a:lnSpc>
                        <a:spcBef>
                          <a:spcPts val="1055"/>
                        </a:spcBef>
                        <a:spcAft>
                          <a:spcPts val="0"/>
                        </a:spcAft>
                      </a:pPr>
                      <a:r>
                        <a:rPr lang="en-US" sz="1800" spc="-5" dirty="0">
                          <a:effectLst/>
                        </a:rPr>
                        <a:t>AVC</a:t>
                      </a:r>
                      <a:endParaRPr lang="en-US" sz="1800" dirty="0">
                        <a:effectLst/>
                      </a:endParaRPr>
                    </a:p>
                    <a:p>
                      <a:pPr marL="98425" marR="0" algn="ctr" eaLnBrk="0">
                        <a:lnSpc>
                          <a:spcPts val="205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</a:rPr>
                        <a:t>透明质酸钠</a:t>
                      </a:r>
                      <a:endParaRPr lang="en-US" sz="1800" dirty="0">
                        <a:effectLst/>
                      </a:endParaRPr>
                    </a:p>
                    <a:p>
                      <a:pPr marL="98425" marR="0" algn="ctr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</a:rPr>
                        <a:t>尿囊素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231775" marR="0" algn="ctr" eaLnBrk="0">
                        <a:lnSpc>
                          <a:spcPts val="216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</a:rPr>
                        <a:t>加至</a:t>
                      </a:r>
                      <a:r>
                        <a:rPr lang="en-US" sz="1800" spc="-10" dirty="0">
                          <a:effectLst/>
                        </a:rPr>
                        <a:t>100</a:t>
                      </a:r>
                      <a:endParaRPr lang="en-US" sz="1800" dirty="0">
                        <a:effectLst/>
                      </a:endParaRPr>
                    </a:p>
                    <a:p>
                      <a:pPr marL="339725" marR="0" algn="ctr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solidFill>
                            <a:srgbClr val="FF0000"/>
                          </a:solidFill>
                          <a:effectLst/>
                        </a:rPr>
                        <a:t>5.00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39725" marR="0" algn="ctr" eaLnBrk="0">
                        <a:lnSpc>
                          <a:spcPts val="2050"/>
                        </a:lnSpc>
                        <a:spcBef>
                          <a:spcPts val="905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solidFill>
                            <a:srgbClr val="FF0000"/>
                          </a:solidFill>
                          <a:effectLst/>
                        </a:rPr>
                        <a:t>5.00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39725" marR="0" algn="ctr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spc="-10" dirty="0">
                        <a:effectLst/>
                      </a:endParaRPr>
                    </a:p>
                    <a:p>
                      <a:pPr marL="339725" marR="0" algn="ctr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</a:rPr>
                        <a:t>0.60</a:t>
                      </a:r>
                      <a:endParaRPr lang="en-US" sz="1800" dirty="0">
                        <a:effectLst/>
                      </a:endParaRPr>
                    </a:p>
                    <a:p>
                      <a:pPr marL="339725" marR="0" algn="ctr" eaLnBrk="0">
                        <a:lnSpc>
                          <a:spcPct val="76000"/>
                        </a:lnSpc>
                        <a:spcBef>
                          <a:spcPts val="95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</a:rPr>
                        <a:t>0.10</a:t>
                      </a:r>
                      <a:endParaRPr lang="en-US" sz="1800" dirty="0">
                        <a:effectLst/>
                      </a:endParaRPr>
                    </a:p>
                    <a:p>
                      <a:pPr marL="339725" marR="0" algn="ctr" eaLnBrk="0">
                        <a:lnSpc>
                          <a:spcPct val="76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</a:rPr>
                        <a:t>0.50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algn="ctr" eaLnBrk="0">
                        <a:lnSpc>
                          <a:spcPct val="17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313690" marR="0" algn="ctr" eaLnBrk="0">
                        <a:lnSpc>
                          <a:spcPct val="92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</a:rPr>
                        <a:t>A</a:t>
                      </a:r>
                      <a:r>
                        <a:rPr lang="zh-CN" sz="1800" spc="-5">
                          <a:effectLst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marR="0" algn="ctr" eaLnBrk="0">
                        <a:lnSpc>
                          <a:spcPts val="1675"/>
                        </a:lnSpc>
                        <a:spcBef>
                          <a:spcPts val="780"/>
                        </a:spcBef>
                        <a:spcAft>
                          <a:spcPts val="0"/>
                        </a:spcAft>
                      </a:pPr>
                      <a:r>
                        <a:rPr lang="en-US" sz="1800" spc="-5" dirty="0">
                          <a:effectLst/>
                        </a:rPr>
                        <a:t>EDTA-2Na</a:t>
                      </a:r>
                      <a:endParaRPr lang="en-US" sz="1800" dirty="0">
                        <a:effectLst/>
                      </a:endParaRPr>
                    </a:p>
                    <a:p>
                      <a:pPr marL="91440" marR="0" algn="ctr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5" dirty="0">
                          <a:effectLst/>
                        </a:rPr>
                        <a:t>烟酰胺</a:t>
                      </a:r>
                      <a:endParaRPr lang="en-US" sz="1800" dirty="0">
                        <a:effectLst/>
                      </a:endParaRPr>
                    </a:p>
                    <a:p>
                      <a:pPr marL="91440" marR="0" algn="ctr" eaLnBrk="0">
                        <a:lnSpc>
                          <a:spcPct val="91000"/>
                        </a:lnSpc>
                        <a:spcBef>
                          <a:spcPts val="58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solidFill>
                            <a:srgbClr val="FF0000"/>
                          </a:solidFill>
                          <a:effectLst/>
                        </a:rPr>
                        <a:t>抗坏血酸葡糖苷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675" marR="0" algn="ctr" eaLnBrk="0">
                        <a:lnSpc>
                          <a:spcPts val="1950"/>
                        </a:lnSpc>
                        <a:spcBef>
                          <a:spcPts val="78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</a:rPr>
                        <a:t>0.05</a:t>
                      </a:r>
                      <a:endParaRPr lang="en-US" sz="1800" dirty="0">
                        <a:effectLst/>
                      </a:endParaRPr>
                    </a:p>
                    <a:p>
                      <a:pPr marL="320675" marR="0" algn="ctr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25" dirty="0">
                          <a:effectLst/>
                        </a:rPr>
                        <a:t>1.00</a:t>
                      </a:r>
                      <a:endParaRPr lang="en-US" sz="1800" dirty="0">
                        <a:effectLst/>
                      </a:endParaRPr>
                    </a:p>
                    <a:p>
                      <a:pPr marL="320675" marR="0" algn="ctr" eaLnBrk="0">
                        <a:lnSpc>
                          <a:spcPct val="76000"/>
                        </a:lnSpc>
                        <a:spcBef>
                          <a:spcPts val="855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solidFill>
                            <a:srgbClr val="FF0000"/>
                          </a:solidFill>
                          <a:effectLst/>
                        </a:rPr>
                        <a:t>2.00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97506035"/>
                  </a:ext>
                </a:extLst>
              </a:tr>
              <a:tr h="2533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3690" marR="0" algn="ctr" eaLnBrk="0">
                        <a:lnSpc>
                          <a:spcPct val="92000"/>
                        </a:lnSpc>
                        <a:spcBef>
                          <a:spcPts val="490"/>
                        </a:spcBef>
                        <a:spcAft>
                          <a:spcPts val="0"/>
                        </a:spcAft>
                      </a:pPr>
                      <a:r>
                        <a:rPr lang="en-US" sz="1800" spc="45">
                          <a:effectLst/>
                        </a:rPr>
                        <a:t>B</a:t>
                      </a:r>
                      <a:r>
                        <a:rPr lang="zh-CN" sz="1800" spc="45">
                          <a:effectLst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marR="0" algn="ctr" eaLnBrk="0">
                        <a:lnSpc>
                          <a:spcPct val="91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zh-CN" sz="1800" spc="20">
                          <a:effectLst/>
                        </a:rPr>
                        <a:t>防腐剂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675" marR="0" algn="ctr" eaLnBrk="0">
                        <a:lnSpc>
                          <a:spcPct val="93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zh-CN" sz="1800" spc="-15">
                          <a:effectLst/>
                        </a:rPr>
                        <a:t>适量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52897930"/>
                  </a:ext>
                </a:extLst>
              </a:tr>
              <a:tr h="51562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3690" marR="0" algn="ctr" eaLnBrk="0">
                        <a:lnSpc>
                          <a:spcPct val="92000"/>
                        </a:lnSpc>
                        <a:spcBef>
                          <a:spcPts val="1545"/>
                        </a:spcBef>
                        <a:spcAft>
                          <a:spcPts val="0"/>
                        </a:spcAft>
                      </a:pPr>
                      <a:r>
                        <a:rPr lang="en-US" sz="1800" spc="45">
                          <a:effectLst/>
                        </a:rPr>
                        <a:t>C</a:t>
                      </a:r>
                      <a:r>
                        <a:rPr lang="zh-CN" sz="1800" spc="45">
                          <a:effectLst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 marR="0" algn="ctr" eaLnBrk="0">
                        <a:lnSpc>
                          <a:spcPts val="1940"/>
                        </a:lnSpc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PEG</a:t>
                      </a:r>
                      <a:r>
                        <a:rPr lang="en-US" sz="1800" spc="10">
                          <a:effectLst/>
                        </a:rPr>
                        <a:t>-40</a:t>
                      </a:r>
                      <a:r>
                        <a:rPr lang="zh-CN" sz="1800" spc="10">
                          <a:effectLst/>
                        </a:rPr>
                        <a:t>氢化蓖麻油</a:t>
                      </a:r>
                      <a:endParaRPr lang="en-US" sz="1800">
                        <a:effectLst/>
                      </a:endParaRPr>
                    </a:p>
                    <a:p>
                      <a:pPr marL="91440" marR="0" algn="ctr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25">
                          <a:effectLst/>
                        </a:rPr>
                        <a:t>香精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675" marR="0" algn="ctr" eaLnBrk="0">
                        <a:lnSpc>
                          <a:spcPts val="1700"/>
                        </a:lnSpc>
                        <a:spcBef>
                          <a:spcPts val="86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</a:rPr>
                        <a:t>0.50</a:t>
                      </a:r>
                      <a:endParaRPr lang="en-US" sz="1800" dirty="0">
                        <a:effectLst/>
                      </a:endParaRPr>
                    </a:p>
                    <a:p>
                      <a:pPr marL="320675" marR="0" algn="ctr" eaLnBrk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5" dirty="0">
                          <a:effectLst/>
                        </a:rPr>
                        <a:t>适量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78684724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133EA38A-D0F4-37D6-FF40-F76287991460}"/>
              </a:ext>
            </a:extLst>
          </p:cNvPr>
          <p:cNvSpPr txBox="1"/>
          <p:nvPr/>
        </p:nvSpPr>
        <p:spPr>
          <a:xfrm>
            <a:off x="182880" y="4232986"/>
            <a:ext cx="8778240" cy="1788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eaLnBrk="0">
              <a:lnSpc>
                <a:spcPct val="91000"/>
              </a:lnSpc>
              <a:spcBef>
                <a:spcPts val="1635"/>
              </a:spcBef>
              <a:spcAft>
                <a:spcPts val="0"/>
              </a:spcAft>
            </a:pPr>
            <a:r>
              <a:rPr lang="zh-CN" sz="2000" spc="-2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制备工艺：</a:t>
            </a:r>
            <a:endParaRPr lang="en-US" sz="2000" dirty="0">
              <a:solidFill>
                <a:srgbClr val="000000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R="0" eaLnBrk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</a:pPr>
            <a:r>
              <a:rPr lang="en-US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①</a:t>
            </a:r>
            <a:r>
              <a:rPr lang="en-US" sz="2000" spc="19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将</a:t>
            </a:r>
            <a:r>
              <a:rPr lang="zh-CN" sz="2000" spc="-30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lang="en-US" sz="2000" spc="5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相中的</a:t>
            </a:r>
            <a:r>
              <a:rPr lang="en-US" sz="200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AVC</a:t>
            </a:r>
            <a:r>
              <a:rPr lang="en-US" sz="2000" spc="-4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分散在水中，充分搅拌分散均匀；</a:t>
            </a:r>
            <a:endParaRPr lang="en-US" sz="2000" dirty="0">
              <a:solidFill>
                <a:srgbClr val="000000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R="0" eaLnBrk="0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</a:pPr>
            <a:r>
              <a:rPr lang="en-US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②</a:t>
            </a:r>
            <a:r>
              <a:rPr lang="en-US" sz="2000" spc="21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依次加入</a:t>
            </a:r>
            <a:r>
              <a:rPr lang="en-US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lang="en-US" sz="2000" spc="15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相剩余组分，搅拌分散均匀；</a:t>
            </a:r>
            <a:endParaRPr lang="en-US" sz="2000" dirty="0">
              <a:solidFill>
                <a:srgbClr val="000000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R="0" eaLnBrk="0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</a:pPr>
            <a:r>
              <a:rPr lang="en-US" sz="2000" spc="1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③</a:t>
            </a:r>
            <a:r>
              <a:rPr lang="en-US" sz="2000" spc="10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z="2000" spc="1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将</a:t>
            </a:r>
            <a:r>
              <a:rPr lang="zh-CN" sz="2000" spc="-30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z="2000" spc="1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B</a:t>
            </a:r>
            <a:r>
              <a:rPr lang="en-US" sz="2000" spc="140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sz="2000" spc="1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相中的原料加入，搅拌分散均匀；</a:t>
            </a:r>
            <a:endParaRPr lang="en-US" altLang="zh-CN" sz="2000" spc="15" dirty="0">
              <a:solidFill>
                <a:srgbClr val="000000"/>
              </a:solidFill>
              <a:effectLst/>
              <a:latin typeface="SimHei" panose="02010609060101010101" pitchFamily="49" charset="-122"/>
              <a:ea typeface="SimHei" panose="02010609060101010101" pitchFamily="49" charset="-122"/>
              <a:cs typeface="SimSun" panose="02010600030101010101" pitchFamily="2" charset="-122"/>
            </a:endParaRPr>
          </a:p>
          <a:p>
            <a:pPr marR="0" eaLnBrk="0">
              <a:lnSpc>
                <a:spcPct val="90000"/>
              </a:lnSpc>
              <a:spcBef>
                <a:spcPts val="605"/>
              </a:spcBef>
              <a:spcAft>
                <a:spcPts val="0"/>
              </a:spcAft>
            </a:pPr>
            <a:r>
              <a:rPr lang="en-US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④</a:t>
            </a:r>
            <a:r>
              <a:rPr lang="en-US" sz="2000" spc="11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将</a:t>
            </a:r>
            <a:r>
              <a:rPr lang="zh-CN" sz="2000" spc="-20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C</a:t>
            </a:r>
            <a:r>
              <a:rPr lang="en-US" sz="2000" spc="11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sz="2000" spc="35" dirty="0">
                <a:solidFill>
                  <a:srgbClr val="000000"/>
                </a:solidFill>
                <a:effectLst/>
                <a:latin typeface="SimHei" panose="02010609060101010101" pitchFamily="49" charset="-122"/>
                <a:ea typeface="SimHei" panose="02010609060101010101" pitchFamily="49" charset="-122"/>
                <a:cs typeface="SimSun" panose="02010600030101010101" pitchFamily="2" charset="-122"/>
              </a:rPr>
              <a:t>相中的原料预混均匀，再加入到体系中，搅拌分散至体系均一。</a:t>
            </a:r>
            <a:endParaRPr lang="en-US" sz="20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21380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10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配方示例与工艺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245139-F109-42CE-D0DB-C17E56FA2D59}"/>
              </a:ext>
            </a:extLst>
          </p:cNvPr>
          <p:cNvSpPr txBox="1"/>
          <p:nvPr/>
        </p:nvSpPr>
        <p:spPr>
          <a:xfrm>
            <a:off x="2286000" y="1244202"/>
            <a:ext cx="4572000" cy="376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eaLnBrk="0">
              <a:lnSpc>
                <a:spcPct val="77000"/>
              </a:lnSpc>
              <a:spcBef>
                <a:spcPts val="455"/>
              </a:spcBef>
              <a:spcAft>
                <a:spcPts val="0"/>
              </a:spcAft>
            </a:pPr>
            <a:r>
              <a:rPr lang="zh-CN" sz="2400" b="1" spc="-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SimHei" panose="02010609060101010101" pitchFamily="49" charset="-122"/>
                <a:cs typeface="SimHei" panose="02010609060101010101" pitchFamily="49" charset="-122"/>
              </a:rPr>
              <a:t>抗衰老护肤凝胶</a:t>
            </a:r>
            <a:endParaRPr lang="en-US" sz="16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3818EF8-E453-FC57-15AE-D65C5DE01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977608"/>
              </p:ext>
            </p:extLst>
          </p:nvPr>
        </p:nvGraphicFramePr>
        <p:xfrm>
          <a:off x="214410" y="1620908"/>
          <a:ext cx="8746711" cy="305104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039870">
                  <a:extLst>
                    <a:ext uri="{9D8B030D-6E8A-4147-A177-3AD203B41FA5}">
                      <a16:colId xmlns:a16="http://schemas.microsoft.com/office/drawing/2014/main" val="3977610652"/>
                    </a:ext>
                  </a:extLst>
                </a:gridCol>
                <a:gridCol w="1762618">
                  <a:extLst>
                    <a:ext uri="{9D8B030D-6E8A-4147-A177-3AD203B41FA5}">
                      <a16:colId xmlns:a16="http://schemas.microsoft.com/office/drawing/2014/main" val="1674830706"/>
                    </a:ext>
                  </a:extLst>
                </a:gridCol>
                <a:gridCol w="1275869">
                  <a:extLst>
                    <a:ext uri="{9D8B030D-6E8A-4147-A177-3AD203B41FA5}">
                      <a16:colId xmlns:a16="http://schemas.microsoft.com/office/drawing/2014/main" val="1553494126"/>
                    </a:ext>
                  </a:extLst>
                </a:gridCol>
                <a:gridCol w="1806867">
                  <a:extLst>
                    <a:ext uri="{9D8B030D-6E8A-4147-A177-3AD203B41FA5}">
                      <a16:colId xmlns:a16="http://schemas.microsoft.com/office/drawing/2014/main" val="1202969753"/>
                    </a:ext>
                  </a:extLst>
                </a:gridCol>
                <a:gridCol w="1806867">
                  <a:extLst>
                    <a:ext uri="{9D8B030D-6E8A-4147-A177-3AD203B41FA5}">
                      <a16:colId xmlns:a16="http://schemas.microsoft.com/office/drawing/2014/main" val="698046119"/>
                    </a:ext>
                  </a:extLst>
                </a:gridCol>
                <a:gridCol w="1054620">
                  <a:extLst>
                    <a:ext uri="{9D8B030D-6E8A-4147-A177-3AD203B41FA5}">
                      <a16:colId xmlns:a16="http://schemas.microsoft.com/office/drawing/2014/main" val="543957635"/>
                    </a:ext>
                  </a:extLst>
                </a:gridCol>
              </a:tblGrid>
              <a:tr h="307340">
                <a:tc>
                  <a:txBody>
                    <a:bodyPr/>
                    <a:lstStyle/>
                    <a:p>
                      <a:pPr marL="228600" marR="0" eaLnBrk="0">
                        <a:lnSpc>
                          <a:spcPct val="92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zh-CN" sz="1800" spc="4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组相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66725" marR="0" eaLnBrk="0">
                        <a:lnSpc>
                          <a:spcPct val="91000"/>
                        </a:lnSpc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原料名称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675" marR="0" eaLnBrk="0">
                        <a:lnSpc>
                          <a:spcPct val="91000"/>
                        </a:lnSpc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质量分数</a:t>
                      </a:r>
                      <a:r>
                        <a:rPr lang="en-US" sz="1800" spc="-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1625" marR="0" eaLnBrk="0">
                        <a:lnSpc>
                          <a:spcPct val="92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zh-CN" sz="1800" spc="4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组相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5775" marR="0" eaLnBrk="0">
                        <a:lnSpc>
                          <a:spcPct val="91000"/>
                        </a:lnSpc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原料名称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 marR="0" eaLnBrk="0">
                        <a:lnSpc>
                          <a:spcPct val="91000"/>
                        </a:lnSpc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质量分数</a:t>
                      </a:r>
                      <a:r>
                        <a:rPr lang="en-US" sz="1800" spc="-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3856179"/>
                  </a:ext>
                </a:extLst>
              </a:tr>
              <a:tr h="930910">
                <a:tc rowSpan="3">
                  <a:txBody>
                    <a:bodyPr/>
                    <a:lstStyle/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266700" marR="0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A</a:t>
                      </a:r>
                      <a:r>
                        <a:rPr lang="zh-CN" sz="1800" spc="-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92075" marR="0" eaLnBrk="0">
                        <a:lnSpc>
                          <a:spcPct val="91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zh-CN" sz="18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水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92075" marR="0" eaLnBrk="0">
                        <a:lnSpc>
                          <a:spcPct val="91000"/>
                        </a:lnSpc>
                        <a:spcBef>
                          <a:spcPts val="995"/>
                        </a:spcBef>
                        <a:spcAft>
                          <a:spcPts val="0"/>
                        </a:spcAft>
                      </a:pPr>
                      <a:r>
                        <a:rPr lang="zh-CN" sz="1800" spc="5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甘油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92075" marR="0" eaLnBrk="0">
                        <a:lnSpc>
                          <a:spcPct val="91000"/>
                        </a:lnSpc>
                        <a:spcBef>
                          <a:spcPts val="1285"/>
                        </a:spcBef>
                        <a:spcAft>
                          <a:spcPts val="0"/>
                        </a:spcAft>
                      </a:pPr>
                      <a:r>
                        <a:rPr lang="zh-CN" sz="1800" spc="1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丁二醇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92075" marR="0" eaLnBrk="0">
                        <a:lnSpc>
                          <a:spcPct val="91000"/>
                        </a:lnSpc>
                        <a:spcBef>
                          <a:spcPts val="1185"/>
                        </a:spcBef>
                        <a:spcAft>
                          <a:spcPts val="0"/>
                        </a:spcAft>
                      </a:pPr>
                      <a:r>
                        <a:rPr lang="zh-CN" sz="1800" spc="2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汉生胶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92075" marR="0" eaLnBrk="0">
                        <a:lnSpc>
                          <a:spcPts val="2445"/>
                        </a:lnSpc>
                        <a:spcBef>
                          <a:spcPts val="1295"/>
                        </a:spcBef>
                        <a:spcAft>
                          <a:spcPts val="0"/>
                        </a:spcAft>
                      </a:pPr>
                      <a:r>
                        <a:rPr lang="zh-CN" sz="1800" spc="3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卡波</a:t>
                      </a:r>
                      <a:r>
                        <a:rPr lang="en-US" sz="1800" spc="3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(U20)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92075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透明质酸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92075" marR="0" eaLnBrk="0">
                        <a:lnSpc>
                          <a:spcPct val="91000"/>
                        </a:lnSpc>
                        <a:spcBef>
                          <a:spcPts val="110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尿囊素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301625" marR="0" eaLnBrk="0">
                        <a:lnSpc>
                          <a:spcPts val="2660"/>
                        </a:lnSpc>
                        <a:spcBef>
                          <a:spcPts val="72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加至</a:t>
                      </a:r>
                      <a:r>
                        <a:rPr lang="en-US" sz="18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100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4032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5.00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403225" marR="0" eaLnBrk="0">
                        <a:lnSpc>
                          <a:spcPts val="2500"/>
                        </a:lnSpc>
                        <a:spcBef>
                          <a:spcPts val="1405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5.00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4032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spc="-1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4032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0.20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403225" marR="0" eaLnBrk="0">
                        <a:lnSpc>
                          <a:spcPct val="76000"/>
                        </a:lnSpc>
                        <a:spcBef>
                          <a:spcPts val="150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0.20</a:t>
                      </a:r>
                    </a:p>
                    <a:p>
                      <a:pPr marL="403225" marR="0" eaLnBrk="0">
                        <a:lnSpc>
                          <a:spcPct val="76000"/>
                        </a:lnSpc>
                        <a:spcBef>
                          <a:spcPts val="150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0.10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4032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0.50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339725" marR="0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A</a:t>
                      </a:r>
                      <a:r>
                        <a:rPr lang="zh-CN" sz="1800" spc="-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0" eaLnBrk="0">
                        <a:lnSpc>
                          <a:spcPct val="76000"/>
                        </a:lnSpc>
                        <a:spcBef>
                          <a:spcPts val="975"/>
                        </a:spcBef>
                        <a:spcAft>
                          <a:spcPts val="0"/>
                        </a:spcAft>
                      </a:pPr>
                      <a:r>
                        <a:rPr lang="en-US" sz="1800" spc="-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EDTA-2Na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85725" marR="0" eaLnBrk="0">
                        <a:lnSpc>
                          <a:spcPct val="91000"/>
                        </a:lnSpc>
                        <a:spcBef>
                          <a:spcPts val="1075"/>
                        </a:spcBef>
                        <a:spcAft>
                          <a:spcPts val="0"/>
                        </a:spcAft>
                      </a:pPr>
                      <a:r>
                        <a:rPr lang="zh-CN" sz="1800" spc="10" dirty="0">
                          <a:solidFill>
                            <a:srgbClr val="FF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酵母提取物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85725" marR="0" eaLnBrk="0">
                        <a:lnSpc>
                          <a:spcPct val="91000"/>
                        </a:lnSpc>
                        <a:spcBef>
                          <a:spcPts val="1085"/>
                        </a:spcBef>
                        <a:spcAft>
                          <a:spcPts val="0"/>
                        </a:spcAft>
                      </a:pPr>
                      <a:r>
                        <a:rPr lang="zh-CN" sz="1800" spc="5" dirty="0">
                          <a:solidFill>
                            <a:srgbClr val="FF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棕榈酰三肽</a:t>
                      </a:r>
                      <a:r>
                        <a:rPr lang="en-US" sz="1800" spc="5" dirty="0">
                          <a:solidFill>
                            <a:srgbClr val="FF0000"/>
                          </a:solidFill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-8</a:t>
                      </a:r>
                      <a:endParaRPr lang="en-US" sz="1800" dirty="0">
                        <a:solidFill>
                          <a:srgbClr val="FF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975" marR="0" eaLnBrk="0">
                        <a:lnSpc>
                          <a:spcPct val="76000"/>
                        </a:lnSpc>
                        <a:spcBef>
                          <a:spcPts val="93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0.05</a:t>
                      </a:r>
                      <a:endParaRPr lang="en-US" sz="1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307975" marR="0" eaLnBrk="0">
                        <a:lnSpc>
                          <a:spcPts val="2400"/>
                        </a:lnSpc>
                        <a:spcBef>
                          <a:spcPts val="1455"/>
                        </a:spcBef>
                        <a:spcAft>
                          <a:spcPts val="0"/>
                        </a:spcAft>
                      </a:pPr>
                      <a:r>
                        <a:rPr lang="en-US" sz="1800" spc="-2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1.00</a:t>
                      </a:r>
                      <a:endParaRPr lang="en-US" sz="1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30797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2.00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30507816"/>
                  </a:ext>
                </a:extLst>
              </a:tr>
              <a:tr h="309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39725" marR="0" eaLnBrk="0">
                        <a:lnSpc>
                          <a:spcPct val="92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</a:pPr>
                      <a:r>
                        <a:rPr lang="en-US" sz="1800" spc="4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B</a:t>
                      </a:r>
                      <a:r>
                        <a:rPr lang="zh-CN" sz="1800" spc="4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0" eaLnBrk="0">
                        <a:lnSpc>
                          <a:spcPct val="91000"/>
                        </a:lnSpc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zh-CN" sz="1800" spc="2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防腐剂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975" marR="0" eaLnBrk="0">
                        <a:lnSpc>
                          <a:spcPct val="93000"/>
                        </a:lnSpc>
                        <a:spcBef>
                          <a:spcPts val="755"/>
                        </a:spcBef>
                        <a:spcAft>
                          <a:spcPts val="0"/>
                        </a:spcAft>
                      </a:pPr>
                      <a:r>
                        <a:rPr lang="zh-CN" sz="1800" spc="-1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适量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55366268"/>
                  </a:ext>
                </a:extLst>
              </a:tr>
              <a:tr h="9404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1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1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339725" marR="0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spc="4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C</a:t>
                      </a:r>
                      <a:r>
                        <a:rPr lang="zh-CN" sz="1800" spc="4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3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85725" marR="0" eaLnBrk="0">
                        <a:lnSpc>
                          <a:spcPts val="219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PEG</a:t>
                      </a:r>
                      <a:r>
                        <a:rPr lang="en-US" sz="1800" spc="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-40</a:t>
                      </a:r>
                      <a:r>
                        <a:rPr lang="zh-CN" sz="1800" spc="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氢化蓖麻油</a:t>
                      </a:r>
                      <a:endParaRPr lang="en-US" sz="180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85725" marR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2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香精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6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307975" marR="0" eaLnBrk="0">
                        <a:lnSpc>
                          <a:spcPts val="19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0.50</a:t>
                      </a:r>
                      <a:endParaRPr lang="en-US" sz="1800" dirty="0"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  <a:p>
                      <a:pPr marL="307975" marR="0" eaLnBrk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适量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08850580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8FF5827F-02D8-9D90-8116-52098486E1E3}"/>
              </a:ext>
            </a:extLst>
          </p:cNvPr>
          <p:cNvSpPr txBox="1"/>
          <p:nvPr/>
        </p:nvSpPr>
        <p:spPr>
          <a:xfrm>
            <a:off x="182879" y="4736635"/>
            <a:ext cx="877823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制备工艺：</a:t>
            </a:r>
          </a:p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① 将 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A 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相中 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U20 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与汉生胶分散在水中，充分搅拌分散均匀；</a:t>
            </a:r>
          </a:p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② 依次加入 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A 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相剩余组分，搅拌分散均匀；</a:t>
            </a:r>
          </a:p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③ 加入 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B 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相中原料，搅拌分散均匀；</a:t>
            </a:r>
          </a:p>
          <a:p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④ 将 </a:t>
            </a:r>
            <a:r>
              <a:rPr lang="en-US" altLang="zh-CN" sz="2000" dirty="0">
                <a:latin typeface="SimHei" panose="02010609060101010101" pitchFamily="49" charset="-122"/>
                <a:ea typeface="SimHei" panose="02010609060101010101" pitchFamily="49" charset="-122"/>
              </a:rPr>
              <a:t>C </a:t>
            </a:r>
            <a:r>
              <a:rPr lang="zh-CN" altLang="en-US" sz="2000" dirty="0">
                <a:latin typeface="SimHei" panose="02010609060101010101" pitchFamily="49" charset="-122"/>
                <a:ea typeface="SimHei" panose="02010609060101010101" pitchFamily="49" charset="-122"/>
              </a:rPr>
              <a:t>相中原料预混均匀，再加入到体系中，搅拌分散至体系均一</a:t>
            </a:r>
          </a:p>
          <a:p>
            <a:endParaRPr lang="en-US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7364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11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护肤乳液、膏霜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031179"/>
            <a:ext cx="8778240" cy="5419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护肤乳霜类化妆品是化妆品中的主体产品。随着市场的细分化，也是种类最多的单品。乳霜类产品的使用性能包括：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61950" marR="0" eaLnBrk="0">
              <a:spcBef>
                <a:spcPts val="520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①</a:t>
            </a:r>
            <a:r>
              <a:rPr lang="zh-CN" sz="2400" b="1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给皮肤补充适当的油脂；</a:t>
            </a:r>
            <a:endParaRPr lang="en-US" sz="2400" b="1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61950" marR="0" eaLnBrk="0">
              <a:spcBef>
                <a:spcPts val="605"/>
              </a:spcBef>
              <a:spcAft>
                <a:spcPts val="0"/>
              </a:spcAft>
            </a:pPr>
            <a:r>
              <a:rPr lang="en-US" sz="2400" b="1" spc="10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②</a:t>
            </a:r>
            <a:r>
              <a:rPr lang="zh-CN" sz="2400" b="1" spc="10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有较好的保湿性能，防止皮肤开裂；</a:t>
            </a:r>
            <a:endParaRPr lang="en-US" sz="2400" b="1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61950" marR="0" eaLnBrk="0">
              <a:spcBef>
                <a:spcPts val="605"/>
              </a:spcBef>
              <a:spcAft>
                <a:spcPts val="0"/>
              </a:spcAft>
            </a:pPr>
            <a:r>
              <a:rPr lang="en-US" sz="2400" b="1" spc="10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③</a:t>
            </a:r>
            <a:r>
              <a:rPr lang="zh-CN" sz="2400" b="1" spc="10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对皮肤无刺激性，可安全使用；</a:t>
            </a:r>
            <a:endParaRPr lang="en-US" sz="2400" b="1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61950" marR="0" eaLnBrk="0">
              <a:spcBef>
                <a:spcPts val="605"/>
              </a:spcBef>
              <a:spcAft>
                <a:spcPts val="0"/>
              </a:spcAft>
            </a:pPr>
            <a:r>
              <a:rPr lang="en-US" sz="2400" b="1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④</a:t>
            </a:r>
            <a:r>
              <a:rPr lang="zh-CN" sz="2400" b="1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有较好的铺展性及渗透性；</a:t>
            </a:r>
            <a:endParaRPr lang="en-US" sz="2400" b="1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61950" marR="0" eaLnBrk="0">
              <a:spcBef>
                <a:spcPts val="605"/>
              </a:spcBef>
              <a:spcAft>
                <a:spcPts val="0"/>
              </a:spcAft>
            </a:pPr>
            <a:r>
              <a:rPr lang="en-US" sz="2400" b="1" spc="25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⑤</a:t>
            </a:r>
            <a:r>
              <a:rPr lang="zh-CN" sz="2400" b="1" spc="25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各种营养添加剂能有效渗透角质层，长期使用不过敏；</a:t>
            </a:r>
            <a:endParaRPr lang="en-US" sz="2400" b="1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61950" marR="0" eaLnBrk="0">
              <a:spcBef>
                <a:spcPts val="605"/>
              </a:spcBef>
              <a:spcAft>
                <a:spcPts val="0"/>
              </a:spcAft>
            </a:pPr>
            <a:r>
              <a:rPr lang="en-US" sz="2400" b="1" spc="30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⑥</a:t>
            </a:r>
            <a:r>
              <a:rPr lang="zh-CN" sz="2400" b="1" spc="30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产品在使用中和使用后具有悦人的肤感及香气</a:t>
            </a:r>
            <a:r>
              <a:rPr lang="zh-CN" sz="2400" b="1" spc="25" dirty="0">
                <a:solidFill>
                  <a:srgbClr val="000000"/>
                </a:solidFill>
                <a:effectLst/>
                <a:latin typeface="KaiTi" panose="02010609060101010101" pitchFamily="49" charset="-122"/>
                <a:ea typeface="KaiTi" panose="02010609060101010101" pitchFamily="49" charset="-122"/>
                <a:cs typeface="SimSun" panose="02010600030101010101" pitchFamily="2" charset="-122"/>
              </a:rPr>
              <a:t>。</a:t>
            </a:r>
            <a:endParaRPr lang="en-US" altLang="zh-CN" sz="2400" b="1" spc="25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  <a:cs typeface="SimSun" panose="02010600030101010101" pitchFamily="2" charset="-122"/>
            </a:endParaRPr>
          </a:p>
          <a:p>
            <a:pPr marL="361950" marR="0" eaLnBrk="0">
              <a:spcBef>
                <a:spcPts val="605"/>
              </a:spcBef>
              <a:spcAft>
                <a:spcPts val="0"/>
              </a:spcAft>
            </a:pPr>
            <a:endParaRPr lang="en-US" sz="2400" b="1" dirty="0">
              <a:solidFill>
                <a:srgbClr val="000000"/>
              </a:solidFill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乳霜类产品按照产品的流动性分为露、乳、霜；按使用部位可以分为面乳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霜、手乳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霜、体乳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霜、眼乳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/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霜等；按照产品的功效性可以分为保湿霜、滋润霜、祛斑霜、抗皱霜、防晒霜等；按乳化体系的类型可以分为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O/W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型或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W/O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型。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5462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护肤乳液、膏霜配方结构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2EE5027-C2FE-AF51-E7F0-2ADE434A2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43365"/>
              </p:ext>
            </p:extLst>
          </p:nvPr>
        </p:nvGraphicFramePr>
        <p:xfrm>
          <a:off x="182880" y="1165614"/>
          <a:ext cx="8778240" cy="4905121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356164">
                  <a:extLst>
                    <a:ext uri="{9D8B030D-6E8A-4147-A177-3AD203B41FA5}">
                      <a16:colId xmlns:a16="http://schemas.microsoft.com/office/drawing/2014/main" val="3173281190"/>
                    </a:ext>
                  </a:extLst>
                </a:gridCol>
                <a:gridCol w="3417299">
                  <a:extLst>
                    <a:ext uri="{9D8B030D-6E8A-4147-A177-3AD203B41FA5}">
                      <a16:colId xmlns:a16="http://schemas.microsoft.com/office/drawing/2014/main" val="2988613402"/>
                    </a:ext>
                  </a:extLst>
                </a:gridCol>
                <a:gridCol w="4004777">
                  <a:extLst>
                    <a:ext uri="{9D8B030D-6E8A-4147-A177-3AD203B41FA5}">
                      <a16:colId xmlns:a16="http://schemas.microsoft.com/office/drawing/2014/main" val="1201010302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L="247015" marR="0" algn="ctr" eaLnBrk="0">
                        <a:lnSpc>
                          <a:spcPct val="91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</a:pPr>
                      <a:r>
                        <a:rPr lang="zh-CN" sz="2000" spc="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结构成分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4575" marR="0" algn="ctr" eaLnBrk="0">
                        <a:lnSpc>
                          <a:spcPct val="92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</a:pPr>
                      <a:r>
                        <a:rPr lang="zh-CN" sz="2000" spc="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主要功能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9675" marR="0" algn="ctr" eaLnBrk="0">
                        <a:lnSpc>
                          <a:spcPct val="91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</a:pPr>
                      <a:r>
                        <a:rPr lang="zh-CN" sz="2000" spc="-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代表性原料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170260008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pPr marL="100965" marR="0" algn="ctr" eaLnBrk="0">
                        <a:lnSpc>
                          <a:spcPct val="92000"/>
                        </a:lnSpc>
                        <a:spcBef>
                          <a:spcPts val="1350"/>
                        </a:spcBef>
                        <a:spcAft>
                          <a:spcPts val="0"/>
                        </a:spcAft>
                      </a:pPr>
                      <a:r>
                        <a:rPr lang="zh-CN" sz="2000" spc="2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油脂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158115" indent="171450" algn="ctr" eaLnBrk="0">
                        <a:lnSpc>
                          <a:spcPct val="86000"/>
                        </a:lnSpc>
                        <a:spcBef>
                          <a:spcPts val="545"/>
                        </a:spcBef>
                        <a:spcAft>
                          <a:spcPts val="0"/>
                        </a:spcAft>
                      </a:pPr>
                      <a:r>
                        <a:rPr lang="zh-CN" sz="2000" spc="3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赋予皮肤柔软性、润滑性、铺展性、</a:t>
                      </a:r>
                      <a:r>
                        <a:rPr lang="zh-CN" sz="2000" spc="3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 </a:t>
                      </a:r>
                      <a:r>
                        <a:rPr lang="zh-CN" sz="2000" spc="-1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渗透性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 marR="132715" indent="158115" algn="ctr" eaLnBrk="0">
                        <a:lnSpc>
                          <a:spcPct val="9700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各种植物油、三甘油酯、支链脂肪醇类、支链</a:t>
                      </a:r>
                      <a:r>
                        <a:rPr lang="zh-CN" sz="2000" spc="4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 </a:t>
                      </a:r>
                      <a:r>
                        <a:rPr lang="zh-CN" sz="2000" spc="-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脂肪酸酯、硅油等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3776699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 marL="100965" marR="0" algn="ctr" eaLnBrk="0">
                        <a:lnSpc>
                          <a:spcPct val="91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</a:pPr>
                      <a:r>
                        <a:rPr lang="zh-CN" sz="2000" spc="2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乳化剂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7175" marR="0" algn="ctr" eaLnBrk="0">
                        <a:lnSpc>
                          <a:spcPct val="92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</a:pPr>
                      <a:r>
                        <a:rPr lang="zh-CN" sz="2000" spc="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形成</a:t>
                      </a:r>
                      <a:r>
                        <a:rPr lang="en-US" sz="2000" spc="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W/O</a:t>
                      </a:r>
                      <a:r>
                        <a:rPr lang="zh-CN" sz="2000" spc="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或</a:t>
                      </a:r>
                      <a:r>
                        <a:rPr lang="en-US" sz="2000" spc="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O/W</a:t>
                      </a:r>
                      <a:r>
                        <a:rPr lang="zh-CN" sz="2000" spc="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体系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825" marR="0" algn="ctr" eaLnBrk="0">
                        <a:lnSpc>
                          <a:spcPct val="91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非离子表面活性剂、阴离子表面活性剂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27401896"/>
                  </a:ext>
                </a:extLst>
              </a:tr>
              <a:tr h="469265">
                <a:tc>
                  <a:txBody>
                    <a:bodyPr/>
                    <a:lstStyle/>
                    <a:p>
                      <a:pPr marL="100965" marR="0" algn="ctr" eaLnBrk="0">
                        <a:lnSpc>
                          <a:spcPct val="91000"/>
                        </a:lnSpc>
                        <a:spcBef>
                          <a:spcPts val="1355"/>
                        </a:spcBef>
                        <a:spcAft>
                          <a:spcPts val="0"/>
                        </a:spcAft>
                      </a:pPr>
                      <a:r>
                        <a:rPr lang="zh-CN" sz="2000" spc="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流变调节剂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25" marR="217805" indent="145415" algn="ctr" eaLnBrk="0">
                        <a:lnSpc>
                          <a:spcPct val="100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分散和悬浮作用，增加稳定性，调节</a:t>
                      </a:r>
                      <a:r>
                        <a:rPr lang="zh-CN" sz="2000" spc="4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 </a:t>
                      </a:r>
                      <a:r>
                        <a:rPr lang="zh-CN" sz="2000" spc="-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流变性，改善使用感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825" marR="0" algn="ctr" eaLnBrk="0">
                        <a:lnSpc>
                          <a:spcPct val="91000"/>
                        </a:lnSpc>
                        <a:spcBef>
                          <a:spcPts val="1360"/>
                        </a:spcBef>
                        <a:spcAft>
                          <a:spcPts val="0"/>
                        </a:spcAft>
                      </a:pPr>
                      <a:r>
                        <a:rPr lang="zh-CN" sz="2000" spc="-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羟乙基纤维素、汉生胶、卡波姆等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4275822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100965" marR="0" algn="ctr" eaLnBrk="0">
                        <a:lnSpc>
                          <a:spcPct val="91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</a:pPr>
                      <a:r>
                        <a:rPr lang="zh-CN" sz="2000" spc="2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保湿剂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7175" marR="0" algn="ctr" eaLnBrk="0">
                        <a:lnSpc>
                          <a:spcPct val="91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</a:pPr>
                      <a:r>
                        <a:rPr lang="zh-CN" sz="2000" spc="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角质层保湿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825" marR="0" algn="ctr" eaLnBrk="0">
                        <a:lnSpc>
                          <a:spcPct val="91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多元醇及透明质酸钠等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16402846"/>
                  </a:ext>
                </a:extLst>
              </a:tr>
              <a:tr h="456565">
                <a:tc>
                  <a:txBody>
                    <a:bodyPr/>
                    <a:lstStyle/>
                    <a:p>
                      <a:pPr marL="100965" marR="0" algn="ctr" eaLnBrk="0">
                        <a:lnSpc>
                          <a:spcPct val="91000"/>
                        </a:lnSpc>
                        <a:spcBef>
                          <a:spcPts val="1315"/>
                        </a:spcBef>
                        <a:spcAft>
                          <a:spcPts val="0"/>
                        </a:spcAft>
                      </a:pPr>
                      <a:r>
                        <a:rPr lang="zh-CN" sz="2000" spc="2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防腐剂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7175" marR="0" algn="ctr" eaLnBrk="0">
                        <a:lnSpc>
                          <a:spcPct val="91000"/>
                        </a:lnSpc>
                        <a:spcBef>
                          <a:spcPts val="1320"/>
                        </a:spcBef>
                        <a:spcAft>
                          <a:spcPts val="0"/>
                        </a:spcAft>
                      </a:pPr>
                      <a:r>
                        <a:rPr lang="zh-CN" sz="2000" spc="-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抑制微生物生长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 marR="157480" indent="158115" algn="ctr" eaLnBrk="0">
                        <a:lnSpc>
                          <a:spcPct val="96000"/>
                        </a:lnSpc>
                        <a:spcBef>
                          <a:spcPts val="570"/>
                        </a:spcBef>
                        <a:spcAft>
                          <a:spcPts val="0"/>
                        </a:spcAft>
                      </a:pPr>
                      <a:r>
                        <a:rPr lang="zh-CN" sz="2000" spc="-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尼泊金酯类、甲基异塞唑啉酮类、甲醛释放体</a:t>
                      </a:r>
                      <a:r>
                        <a:rPr lang="zh-CN" sz="2000" spc="4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 </a:t>
                      </a:r>
                      <a:r>
                        <a:rPr lang="zh-CN" sz="20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类、苯氧乙醇等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3458266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100965" marR="0" algn="ctr" eaLnBrk="0">
                        <a:lnSpc>
                          <a:spcPct val="91000"/>
                        </a:lnSpc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2000" spc="1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抗氧化剂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7175" marR="0" algn="ctr" eaLnBrk="0">
                        <a:lnSpc>
                          <a:spcPct val="91000"/>
                        </a:lnSpc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2000" spc="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抑制或防止产品氧化变质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825" marR="0" algn="ctr" eaLnBrk="0">
                        <a:lnSpc>
                          <a:spcPct val="91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</a:pPr>
                      <a:r>
                        <a:rPr lang="en-US" sz="2000" spc="-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BHT</a:t>
                      </a:r>
                      <a:r>
                        <a:rPr lang="zh-CN" sz="2000" spc="-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、</a:t>
                      </a:r>
                      <a:r>
                        <a:rPr lang="en-US" sz="2000" spc="-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BHA</a:t>
                      </a:r>
                      <a:r>
                        <a:rPr lang="zh-CN" sz="2000" spc="-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、生育酚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56324680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100965" marR="0" algn="ctr" eaLnBrk="0">
                        <a:lnSpc>
                          <a:spcPct val="91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zh-CN" sz="2000" spc="2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着色剂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7175" marR="0" algn="ctr" eaLnBrk="0">
                        <a:lnSpc>
                          <a:spcPct val="91000"/>
                        </a:lnSpc>
                        <a:spcBef>
                          <a:spcPts val="630"/>
                        </a:spcBef>
                        <a:spcAft>
                          <a:spcPts val="0"/>
                        </a:spcAft>
                      </a:pPr>
                      <a:r>
                        <a:rPr lang="zh-CN" sz="2000" spc="-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赋予产品颜色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825" marR="0" algn="ctr" eaLnBrk="0">
                        <a:lnSpc>
                          <a:spcPct val="91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zh-CN" sz="2000" spc="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酸性稳定的水溶性着色剂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9314741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100965" marR="0" algn="ctr" eaLnBrk="0">
                        <a:lnSpc>
                          <a:spcPct val="91000"/>
                        </a:lnSpc>
                        <a:spcBef>
                          <a:spcPts val="690"/>
                        </a:spcBef>
                        <a:spcAft>
                          <a:spcPts val="0"/>
                        </a:spcAft>
                      </a:pPr>
                      <a:r>
                        <a:rPr lang="zh-CN" sz="2000" spc="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功效活性组分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7175" marR="0" algn="ctr" eaLnBrk="0">
                        <a:lnSpc>
                          <a:spcPct val="91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zh-CN" sz="2000" spc="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赋予特定功能</a:t>
                      </a:r>
                      <a:r>
                        <a:rPr lang="en-US" sz="2000" spc="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(</a:t>
                      </a:r>
                      <a:r>
                        <a:rPr lang="zh-CN" sz="2000" spc="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抗皱、营养、美白</a:t>
                      </a:r>
                      <a:r>
                        <a:rPr lang="en-US" sz="2000" spc="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)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825" marR="0" algn="ctr" eaLnBrk="0">
                        <a:lnSpc>
                          <a:spcPct val="91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zh-CN" sz="2000" spc="-5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美白、营养、抗皱等活性组分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391654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100965" marR="0" algn="ctr" eaLnBrk="0">
                        <a:lnSpc>
                          <a:spcPct val="91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zh-CN" sz="2000" spc="-1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香精和香料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7175" marR="0" algn="ctr" eaLnBrk="0">
                        <a:lnSpc>
                          <a:spcPct val="92000"/>
                        </a:lnSpc>
                        <a:spcBef>
                          <a:spcPts val="695"/>
                        </a:spcBef>
                        <a:spcAft>
                          <a:spcPts val="0"/>
                        </a:spcAft>
                      </a:pPr>
                      <a:r>
                        <a:rPr lang="zh-CN" sz="2000" spc="-15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赋香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825" marR="0" algn="ctr" eaLnBrk="0">
                        <a:lnSpc>
                          <a:spcPct val="91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zh-CN" sz="2000" spc="-10" dirty="0">
                          <a:effectLst/>
                          <a:latin typeface="SimHei" panose="02010609060101010101" pitchFamily="49" charset="-122"/>
                          <a:ea typeface="SimHei" panose="02010609060101010101" pitchFamily="49" charset="-122"/>
                        </a:rPr>
                        <a:t>酸性稳定的香精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SimHei" panose="02010609060101010101" pitchFamily="49" charset="-122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4697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807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护肤乳液、膏霜设计原理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346495"/>
            <a:ext cx="877824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一般来说，所设计的护肤膏霜和乳液产品的膏体有如下特性：</a:t>
            </a:r>
          </a:p>
          <a:p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①外观洁白美观，或带浅的天然色调，富有光泽，质地油腻；</a:t>
            </a:r>
          </a:p>
          <a:p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②手感良好，体质均匀，黏度合适，膏霜易于倒出，乳液易于倾出或挤出；</a:t>
            </a:r>
          </a:p>
          <a:p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③易于在皮肤上铺展和分散，肤感润滑；</a:t>
            </a:r>
          </a:p>
          <a:p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④涂抹在皮肤上具有亲和性，易于均匀分散；</a:t>
            </a:r>
          </a:p>
          <a:p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⑤使用后能保持一段时间持续湿润，而无黏腻感。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endParaRPr lang="zh-CN" altLang="en-US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乳状液类化妆品的特性与所选用的原料和配方结构有关，其中最重要的是乳状液的类型、两相的比例、油相的组分、水相的组分和乳化剂的选择。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44201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14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两相比例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357290"/>
            <a:ext cx="8778240" cy="389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W/O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型乳状液的最大不足是膏体不如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O/W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型乳状液柔软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。根据相体积理论，乳状液中分散相的最大体积可占总体积的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74.02%,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即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O/W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型乳化体中水相的体积必须大于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25.98%;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而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W/O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型乳状液中油相的体积必须大于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25.98%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。虽然许多新型乳化剂的乳化性能优良，可以制得内相体积大于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95%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的产品，但从乳化体的稳定性考虑，外相体积还是大于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25.98%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为好。总之，内相体积最好小于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74.02%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，而外相体积最好大于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25.98%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2294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15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化妆品乳化液的类型、油相的熔点和质量分数</a:t>
            </a:r>
            <a:endParaRPr lang="en-US" alt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D2789DAC-A740-A5B3-E76B-66D0E28FD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851594"/>
              </p:ext>
            </p:extLst>
          </p:nvPr>
        </p:nvGraphicFramePr>
        <p:xfrm>
          <a:off x="182880" y="1632897"/>
          <a:ext cx="8778239" cy="4149477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314844">
                  <a:extLst>
                    <a:ext uri="{9D8B030D-6E8A-4147-A177-3AD203B41FA5}">
                      <a16:colId xmlns:a16="http://schemas.microsoft.com/office/drawing/2014/main" val="464581706"/>
                    </a:ext>
                  </a:extLst>
                </a:gridCol>
                <a:gridCol w="1702676">
                  <a:extLst>
                    <a:ext uri="{9D8B030D-6E8A-4147-A177-3AD203B41FA5}">
                      <a16:colId xmlns:a16="http://schemas.microsoft.com/office/drawing/2014/main" val="708219646"/>
                    </a:ext>
                  </a:extLst>
                </a:gridCol>
                <a:gridCol w="2869324">
                  <a:extLst>
                    <a:ext uri="{9D8B030D-6E8A-4147-A177-3AD203B41FA5}">
                      <a16:colId xmlns:a16="http://schemas.microsoft.com/office/drawing/2014/main" val="527916395"/>
                    </a:ext>
                  </a:extLst>
                </a:gridCol>
                <a:gridCol w="2891395">
                  <a:extLst>
                    <a:ext uri="{9D8B030D-6E8A-4147-A177-3AD203B41FA5}">
                      <a16:colId xmlns:a16="http://schemas.microsoft.com/office/drawing/2014/main" val="2251587278"/>
                    </a:ext>
                  </a:extLst>
                </a:gridCol>
              </a:tblGrid>
              <a:tr h="378314">
                <a:tc>
                  <a:txBody>
                    <a:bodyPr/>
                    <a:lstStyle/>
                    <a:p>
                      <a:pPr marL="457200" marR="0" algn="ctr" eaLnBrk="0">
                        <a:lnSpc>
                          <a:spcPct val="91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zh-CN" sz="1800" spc="60">
                          <a:effectLst/>
                          <a:latin typeface="+mj-lt"/>
                          <a:ea typeface="SimHei" panose="02010609060101010101" pitchFamily="49" charset="-122"/>
                        </a:rPr>
                        <a:t>产品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4475" marR="0" algn="ctr" eaLnBrk="0">
                        <a:lnSpc>
                          <a:spcPct val="91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zh-CN" sz="1800" spc="15">
                          <a:effectLst/>
                          <a:latin typeface="+mj-lt"/>
                          <a:ea typeface="SimHei" panose="02010609060101010101" pitchFamily="49" charset="-122"/>
                        </a:rPr>
                        <a:t>乳化体类型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9875" marR="0" algn="ctr" eaLnBrk="0">
                        <a:lnSpc>
                          <a:spcPct val="91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  <a:latin typeface="+mj-lt"/>
                          <a:ea typeface="SimHei" panose="02010609060101010101" pitchFamily="49" charset="-122"/>
                        </a:rPr>
                        <a:t>油相的熔点</a:t>
                      </a:r>
                      <a:r>
                        <a:rPr lang="en-US" sz="1800" spc="10">
                          <a:effectLst/>
                          <a:latin typeface="+mj-lt"/>
                          <a:ea typeface="SimHei" panose="02010609060101010101" pitchFamily="49" charset="-122"/>
                        </a:rPr>
                        <a:t>(</a:t>
                      </a:r>
                      <a:r>
                        <a:rPr lang="zh-CN" sz="1800" spc="10">
                          <a:effectLst/>
                          <a:latin typeface="+mj-lt"/>
                          <a:ea typeface="SimHei" panose="02010609060101010101" pitchFamily="49" charset="-122"/>
                        </a:rPr>
                        <a:t>大约数</a:t>
                      </a:r>
                      <a:r>
                        <a:rPr lang="en-US" sz="1800" spc="10">
                          <a:effectLst/>
                          <a:latin typeface="+mj-lt"/>
                          <a:ea typeface="SimHei" panose="02010609060101010101" pitchFamily="49" charset="-122"/>
                        </a:rPr>
                        <a:t>)/℃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25" marR="0" algn="ctr" eaLnBrk="0">
                        <a:lnSpc>
                          <a:spcPct val="91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zh-CN" sz="1800" spc="-5">
                          <a:effectLst/>
                          <a:latin typeface="+mj-lt"/>
                          <a:ea typeface="SimHei" panose="02010609060101010101" pitchFamily="49" charset="-122"/>
                        </a:rPr>
                        <a:t>油相的质量分数</a:t>
                      </a:r>
                      <a:r>
                        <a:rPr lang="en-US" sz="1800" spc="-5">
                          <a:effectLst/>
                          <a:latin typeface="+mj-lt"/>
                          <a:ea typeface="SimHei" panose="02010609060101010101" pitchFamily="49" charset="-122"/>
                        </a:rPr>
                        <a:t>(</a:t>
                      </a:r>
                      <a:r>
                        <a:rPr lang="zh-CN" sz="1800" spc="-5">
                          <a:effectLst/>
                          <a:latin typeface="+mj-lt"/>
                          <a:ea typeface="SimHei" panose="02010609060101010101" pitchFamily="49" charset="-122"/>
                        </a:rPr>
                        <a:t>大约数</a:t>
                      </a:r>
                      <a:r>
                        <a:rPr lang="en-US" sz="1800" spc="-5">
                          <a:effectLst/>
                          <a:latin typeface="+mj-lt"/>
                          <a:ea typeface="SimHei" panose="02010609060101010101" pitchFamily="49" charset="-122"/>
                        </a:rPr>
                        <a:t>)/%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30129346"/>
                  </a:ext>
                </a:extLst>
              </a:tr>
              <a:tr h="351408">
                <a:tc>
                  <a:txBody>
                    <a:bodyPr/>
                    <a:lstStyle/>
                    <a:p>
                      <a:pPr marL="95250" marR="0" algn="ctr" eaLnBrk="0">
                        <a:lnSpc>
                          <a:spcPct val="91000"/>
                        </a:lnSpc>
                        <a:spcBef>
                          <a:spcPts val="455"/>
                        </a:spcBef>
                        <a:spcAft>
                          <a:spcPts val="0"/>
                        </a:spcAft>
                      </a:pPr>
                      <a:r>
                        <a:rPr lang="zh-CN" sz="1800" spc="30">
                          <a:effectLst/>
                          <a:latin typeface="+mj-lt"/>
                          <a:ea typeface="SimHei" panose="02010609060101010101" pitchFamily="49" charset="-122"/>
                        </a:rPr>
                        <a:t>润肤霜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2575" marR="0" algn="ctr" eaLnBrk="0">
                        <a:lnSpc>
                          <a:spcPct val="90000"/>
                        </a:lnSpc>
                        <a:spcBef>
                          <a:spcPts val="48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O/W,W/O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1375" marR="0" algn="ctr" eaLnBrk="0">
                        <a:lnSpc>
                          <a:spcPct val="76000"/>
                        </a:lnSpc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35</a:t>
                      </a:r>
                      <a:r>
                        <a:rPr lang="zh-CN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45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 marR="0" algn="ctr" eaLnBrk="0">
                        <a:lnSpc>
                          <a:spcPct val="90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油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/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水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15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30,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水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/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油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45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80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50645691"/>
                  </a:ext>
                </a:extLst>
              </a:tr>
              <a:tr h="366084">
                <a:tc>
                  <a:txBody>
                    <a:bodyPr/>
                    <a:lstStyle/>
                    <a:p>
                      <a:pPr marL="95250" marR="0" algn="ctr" eaLnBrk="0">
                        <a:lnSpc>
                          <a:spcPct val="91000"/>
                        </a:lnSpc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  <a:latin typeface="+mj-lt"/>
                          <a:ea typeface="SimHei" panose="02010609060101010101" pitchFamily="49" charset="-122"/>
                        </a:rPr>
                        <a:t>润肤乳液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2575" marR="0" algn="ctr" eaLnBrk="0">
                        <a:lnSpc>
                          <a:spcPct val="90000"/>
                        </a:lnSpc>
                        <a:spcBef>
                          <a:spcPts val="53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O/W,W/O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340" marR="0" algn="ctr" eaLnBrk="0">
                        <a:lnSpc>
                          <a:spcPct val="9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油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/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水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30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55,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水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/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油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&lt;15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 marR="0" algn="ctr" eaLnBrk="0">
                        <a:lnSpc>
                          <a:spcPct val="90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油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/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水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10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20,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水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/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油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45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80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42494531"/>
                  </a:ext>
                </a:extLst>
              </a:tr>
              <a:tr h="371791">
                <a:tc>
                  <a:txBody>
                    <a:bodyPr/>
                    <a:lstStyle/>
                    <a:p>
                      <a:pPr marL="95250" marR="0" algn="ctr" eaLnBrk="0">
                        <a:lnSpc>
                          <a:spcPct val="91000"/>
                        </a:lnSpc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zh-CN" sz="1800" spc="30">
                          <a:effectLst/>
                          <a:latin typeface="+mj-lt"/>
                          <a:ea typeface="SimHei" panose="02010609060101010101" pitchFamily="49" charset="-122"/>
                        </a:rPr>
                        <a:t>护手霜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1175" marR="0" algn="ctr" eaLnBrk="0">
                        <a:lnSpc>
                          <a:spcPct val="93000"/>
                        </a:lnSpc>
                        <a:spcBef>
                          <a:spcPts val="48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O/W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1375" marR="0" algn="ctr" eaLnBrk="0">
                        <a:lnSpc>
                          <a:spcPct val="76000"/>
                        </a:lnSpc>
                        <a:spcBef>
                          <a:spcPts val="86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40</a:t>
                      </a:r>
                      <a:r>
                        <a:rPr lang="zh-CN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55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6925" marR="0" algn="ctr" eaLnBrk="0">
                        <a:lnSpc>
                          <a:spcPct val="76000"/>
                        </a:lnSpc>
                        <a:spcBef>
                          <a:spcPts val="86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20</a:t>
                      </a:r>
                      <a:r>
                        <a:rPr lang="zh-CN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30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38725200"/>
                  </a:ext>
                </a:extLst>
              </a:tr>
              <a:tr h="370161">
                <a:tc>
                  <a:txBody>
                    <a:bodyPr/>
                    <a:lstStyle/>
                    <a:p>
                      <a:pPr marL="95250" marR="0" algn="ctr" eaLnBrk="0">
                        <a:lnSpc>
                          <a:spcPct val="9100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zh-CN" sz="1800" spc="30">
                          <a:effectLst/>
                          <a:latin typeface="+mj-lt"/>
                          <a:ea typeface="SimHei" panose="02010609060101010101" pitchFamily="49" charset="-122"/>
                        </a:rPr>
                        <a:t>清洁霜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2575" marR="0" algn="ctr" eaLnBrk="0">
                        <a:lnSpc>
                          <a:spcPct val="9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O/W,W/O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5675" marR="0" algn="ctr" eaLnBrk="0"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  <a:latin typeface="+mj-lt"/>
                          <a:ea typeface="SimHei" panose="02010609060101010101" pitchFamily="49" charset="-122"/>
                        </a:rPr>
                        <a:t>&lt;35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6925" marR="0" algn="ctr" eaLnBrk="0">
                        <a:lnSpc>
                          <a:spcPct val="76000"/>
                        </a:lnSpc>
                        <a:spcBef>
                          <a:spcPts val="88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30</a:t>
                      </a:r>
                      <a:r>
                        <a:rPr lang="zh-CN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50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44791020"/>
                  </a:ext>
                </a:extLst>
              </a:tr>
              <a:tr h="364453">
                <a:tc>
                  <a:txBody>
                    <a:bodyPr/>
                    <a:lstStyle/>
                    <a:p>
                      <a:pPr marL="95250" marR="0" algn="ctr" eaLnBrk="0">
                        <a:lnSpc>
                          <a:spcPct val="91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清洁乳液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1175" marR="0" algn="ctr" eaLnBrk="0">
                        <a:lnSpc>
                          <a:spcPct val="93000"/>
                        </a:lnSpc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O/W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5675" marR="0" algn="ctr" eaLnBrk="0">
                        <a:spcBef>
                          <a:spcPts val="62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  <a:latin typeface="+mj-lt"/>
                          <a:ea typeface="SimHei" panose="02010609060101010101" pitchFamily="49" charset="-122"/>
                        </a:rPr>
                        <a:t>&lt;35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6925" marR="0" algn="ctr" eaLnBrk="0">
                        <a:lnSpc>
                          <a:spcPct val="76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</a:pPr>
                      <a:r>
                        <a:rPr lang="en-US" sz="1800" spc="-25">
                          <a:effectLst/>
                          <a:latin typeface="+mj-lt"/>
                          <a:ea typeface="SimHei" panose="02010609060101010101" pitchFamily="49" charset="-122"/>
                        </a:rPr>
                        <a:t>10</a:t>
                      </a:r>
                      <a:r>
                        <a:rPr lang="zh-CN" sz="1800" spc="-25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25">
                          <a:effectLst/>
                          <a:latin typeface="+mj-lt"/>
                          <a:ea typeface="SimHei" panose="02010609060101010101" pitchFamily="49" charset="-122"/>
                        </a:rPr>
                        <a:t>30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49780429"/>
                  </a:ext>
                </a:extLst>
              </a:tr>
              <a:tr h="362823">
                <a:tc>
                  <a:txBody>
                    <a:bodyPr/>
                    <a:lstStyle/>
                    <a:p>
                      <a:pPr marL="95250" marR="0" algn="ctr" eaLnBrk="0">
                        <a:lnSpc>
                          <a:spcPct val="9100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</a:pPr>
                      <a:r>
                        <a:rPr lang="zh-CN" sz="1800" spc="25">
                          <a:effectLst/>
                          <a:latin typeface="+mj-lt"/>
                          <a:ea typeface="SimHei" panose="02010609060101010101" pitchFamily="49" charset="-122"/>
                        </a:rPr>
                        <a:t>雪花膏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1175" marR="0" algn="ctr" eaLnBrk="0">
                        <a:lnSpc>
                          <a:spcPct val="93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O/W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5675" marR="0" algn="ctr" eaLnBrk="0">
                        <a:spcBef>
                          <a:spcPts val="535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  <a:latin typeface="+mj-lt"/>
                          <a:ea typeface="SimHei" panose="02010609060101010101" pitchFamily="49" charset="-122"/>
                        </a:rPr>
                        <a:t>&gt;50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6925" marR="0" algn="ctr" eaLnBrk="0">
                        <a:lnSpc>
                          <a:spcPct val="76000"/>
                        </a:lnSpc>
                        <a:spcBef>
                          <a:spcPts val="870"/>
                        </a:spcBef>
                        <a:spcAft>
                          <a:spcPts val="0"/>
                        </a:spcAft>
                      </a:pPr>
                      <a:r>
                        <a:rPr lang="en-US" sz="1800" spc="-25">
                          <a:effectLst/>
                          <a:latin typeface="+mj-lt"/>
                          <a:ea typeface="SimHei" panose="02010609060101010101" pitchFamily="49" charset="-122"/>
                        </a:rPr>
                        <a:t>15</a:t>
                      </a:r>
                      <a:r>
                        <a:rPr lang="zh-CN" sz="1800" spc="-25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25">
                          <a:effectLst/>
                          <a:latin typeface="+mj-lt"/>
                          <a:ea typeface="SimHei" panose="02010609060101010101" pitchFamily="49" charset="-122"/>
                        </a:rPr>
                        <a:t>30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406615"/>
                  </a:ext>
                </a:extLst>
              </a:tr>
              <a:tr h="362007">
                <a:tc>
                  <a:txBody>
                    <a:bodyPr/>
                    <a:lstStyle/>
                    <a:p>
                      <a:pPr marL="95250" marR="0" algn="ctr" eaLnBrk="0">
                        <a:lnSpc>
                          <a:spcPct val="91000"/>
                        </a:lnSpc>
                        <a:spcBef>
                          <a:spcPts val="545"/>
                        </a:spcBef>
                        <a:spcAft>
                          <a:spcPts val="0"/>
                        </a:spcAft>
                      </a:pPr>
                      <a:r>
                        <a:rPr lang="zh-CN" sz="1800" spc="30">
                          <a:effectLst/>
                          <a:latin typeface="+mj-lt"/>
                          <a:ea typeface="SimHei" panose="02010609060101010101" pitchFamily="49" charset="-122"/>
                        </a:rPr>
                        <a:t>粉底霜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1175" marR="0" algn="ctr" eaLnBrk="0">
                        <a:lnSpc>
                          <a:spcPct val="9300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O/W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1375" marR="0" algn="ctr" eaLnBrk="0">
                        <a:lnSpc>
                          <a:spcPct val="76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40</a:t>
                      </a:r>
                      <a:r>
                        <a:rPr lang="zh-CN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55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6925" marR="0" algn="ctr" eaLnBrk="0">
                        <a:lnSpc>
                          <a:spcPct val="76000"/>
                        </a:lnSpc>
                        <a:spcBef>
                          <a:spcPts val="85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20</a:t>
                      </a:r>
                      <a:r>
                        <a:rPr lang="zh-CN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35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55176469"/>
                  </a:ext>
                </a:extLst>
              </a:tr>
              <a:tr h="357115">
                <a:tc>
                  <a:txBody>
                    <a:bodyPr/>
                    <a:lstStyle/>
                    <a:p>
                      <a:pPr marL="95250" marR="0" algn="ctr" eaLnBrk="0">
                        <a:lnSpc>
                          <a:spcPct val="91000"/>
                        </a:lnSpc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zh-CN" sz="1800" spc="30">
                          <a:effectLst/>
                          <a:latin typeface="+mj-lt"/>
                          <a:ea typeface="SimHei" panose="02010609060101010101" pitchFamily="49" charset="-122"/>
                        </a:rPr>
                        <a:t>营养霜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2575" marR="0" algn="ctr" eaLnBrk="0">
                        <a:lnSpc>
                          <a:spcPct val="90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O/W,W/O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5675" marR="0" algn="ctr" eaLnBrk="0">
                        <a:lnSpc>
                          <a:spcPct val="99000"/>
                        </a:lnSpc>
                        <a:spcBef>
                          <a:spcPts val="640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  <a:latin typeface="+mj-lt"/>
                          <a:ea typeface="SimHei" panose="02010609060101010101" pitchFamily="49" charset="-122"/>
                        </a:rPr>
                        <a:t>&lt;37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6925" marR="0" algn="ctr" eaLnBrk="0">
                        <a:lnSpc>
                          <a:spcPct val="76000"/>
                        </a:lnSpc>
                        <a:spcBef>
                          <a:spcPts val="825"/>
                        </a:spcBef>
                        <a:spcAft>
                          <a:spcPts val="0"/>
                        </a:spcAft>
                      </a:pPr>
                      <a:r>
                        <a:rPr lang="en-US" sz="1800" spc="-25">
                          <a:effectLst/>
                          <a:latin typeface="+mj-lt"/>
                          <a:ea typeface="SimHei" panose="02010609060101010101" pitchFamily="49" charset="-122"/>
                        </a:rPr>
                        <a:t>15</a:t>
                      </a:r>
                      <a:r>
                        <a:rPr lang="zh-CN" sz="1800" spc="-25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25">
                          <a:effectLst/>
                          <a:latin typeface="+mj-lt"/>
                          <a:ea typeface="SimHei" panose="02010609060101010101" pitchFamily="49" charset="-122"/>
                        </a:rPr>
                        <a:t>35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71364309"/>
                  </a:ext>
                </a:extLst>
              </a:tr>
              <a:tr h="366084">
                <a:tc>
                  <a:txBody>
                    <a:bodyPr/>
                    <a:lstStyle/>
                    <a:p>
                      <a:pPr marL="95250" marR="0" algn="ctr" eaLnBrk="0">
                        <a:lnSpc>
                          <a:spcPct val="91000"/>
                        </a:lnSpc>
                        <a:spcBef>
                          <a:spcPts val="585"/>
                        </a:spcBef>
                        <a:spcAft>
                          <a:spcPts val="0"/>
                        </a:spcAft>
                      </a:pPr>
                      <a:r>
                        <a:rPr lang="zh-CN" sz="1800" spc="30">
                          <a:effectLst/>
                          <a:latin typeface="+mj-lt"/>
                          <a:ea typeface="SimHei" panose="02010609060101010101" pitchFamily="49" charset="-122"/>
                        </a:rPr>
                        <a:t>防晒霜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82575" marR="0" algn="ctr" eaLnBrk="0">
                        <a:lnSpc>
                          <a:spcPct val="90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O/W,W/O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03275" marR="0" algn="ctr" eaLnBrk="0">
                        <a:lnSpc>
                          <a:spcPct val="98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&lt;15</a:t>
                      </a:r>
                      <a:r>
                        <a:rPr lang="zh-CN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55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 marR="0" algn="ctr" eaLnBrk="0">
                        <a:lnSpc>
                          <a:spcPct val="90000"/>
                        </a:lnSpc>
                        <a:spcBef>
                          <a:spcPts val="515"/>
                        </a:spcBef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油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/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水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15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30,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水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/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油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40</a:t>
                      </a: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60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80504153"/>
                  </a:ext>
                </a:extLst>
              </a:tr>
              <a:tr h="376683">
                <a:tc>
                  <a:txBody>
                    <a:bodyPr/>
                    <a:lstStyle/>
                    <a:p>
                      <a:pPr marL="95250" marR="0" algn="ctr" eaLnBrk="0">
                        <a:lnSpc>
                          <a:spcPct val="91000"/>
                        </a:lnSpc>
                        <a:spcBef>
                          <a:spcPts val="63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抑汗霜和乳液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11175" marR="0" algn="ctr" eaLnBrk="0">
                        <a:lnSpc>
                          <a:spcPct val="93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O/W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55675" marR="0" algn="ctr" eaLnBrk="0"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US" sz="1800" spc="-20">
                          <a:effectLst/>
                          <a:latin typeface="+mj-lt"/>
                          <a:ea typeface="SimHei" panose="02010609060101010101" pitchFamily="49" charset="-122"/>
                        </a:rPr>
                        <a:t>&gt;37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5025" marR="0" algn="ctr" eaLnBrk="0">
                        <a:lnSpc>
                          <a:spcPct val="76000"/>
                        </a:lnSpc>
                        <a:spcBef>
                          <a:spcPts val="895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5</a:t>
                      </a:r>
                      <a:r>
                        <a:rPr lang="zh-CN" sz="1800" spc="-1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spc="-1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25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29300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361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16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HLB 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值理论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055252"/>
            <a:ext cx="8778240" cy="5560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HLB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值理论曾经是选择乳化剂的主要依据，即：乳化剂提供的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HLB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值与油相所需要的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HLB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值相一致，是制得稳定乳状液的关键，并通过实验获取最佳的乳化效果。对复配乳化剂来说，所形成乳状液体系的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HLB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值低时形成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W/O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型乳状液，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HLB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值高时形成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O/W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型乳状液，也就是说乳化剂相溶性较好的一相作为连续相。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对许多新型乳化剂来说，由于乳化性能的提升，对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HLB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值的依赖大大降低。如脂肪醇聚氧乙烯醚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(2)(Brij 72)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和脂肪醇聚氧乙烯醚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(21)(Brij 721)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，不论是以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1:4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还是以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2:3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复配均可制得稳定的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O/W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型乳状液。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6465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17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乳化剂临界堆积参数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606609" y="1165614"/>
            <a:ext cx="7461065" cy="389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表面活性剂临界堆积参数的表达式为：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V</a:t>
            </a:r>
            <a:r>
              <a:rPr lang="en-US" altLang="zh-CN" sz="2400" baseline="-25000" dirty="0" err="1">
                <a:latin typeface="+mn-lt"/>
                <a:ea typeface="SimHei" panose="02010609060101010101" pitchFamily="49" charset="-122"/>
              </a:rPr>
              <a:t>c</a:t>
            </a:r>
            <a:r>
              <a:rPr lang="en-US" altLang="zh-CN" sz="2400" baseline="-25000" dirty="0">
                <a:latin typeface="+mn-lt"/>
                <a:ea typeface="SimHei" panose="02010609060101010101" pitchFamily="49" charset="-122"/>
              </a:rPr>
              <a:t>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为疏水基的体积； 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l</a:t>
            </a:r>
            <a:r>
              <a:rPr lang="en-US" altLang="zh-CN" sz="2400" baseline="-25000" dirty="0">
                <a:latin typeface="+mn-lt"/>
                <a:ea typeface="SimHei" panose="02010609060101010101" pitchFamily="49" charset="-122"/>
              </a:rPr>
              <a:t>c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为疏水基的碳链长度，约等于完全伸展碳链长度的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80%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；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A</a:t>
            </a:r>
            <a:r>
              <a:rPr lang="en-US" altLang="zh-CN" sz="2400" baseline="-25000" dirty="0">
                <a:latin typeface="+mn-lt"/>
                <a:ea typeface="SimHei" panose="02010609060101010101" pitchFamily="49" charset="-122"/>
              </a:rPr>
              <a:t>o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为亲水基头的横截面积。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2EE46F-DE63-73BE-917B-BB7AE1117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869403"/>
            <a:ext cx="1371600" cy="93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87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18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乳化剂临界堆积参数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165614"/>
            <a:ext cx="8778240" cy="4741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上述这些参数随体系的不同会有变化，如烃类化合物的增溶，可以使得 </a:t>
            </a: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V</a:t>
            </a:r>
            <a:r>
              <a:rPr lang="en-US" altLang="zh-CN" sz="2400" baseline="-25000" dirty="0" err="1">
                <a:latin typeface="+mn-lt"/>
                <a:ea typeface="SimHei" panose="02010609060101010101" pitchFamily="49" charset="-122"/>
              </a:rPr>
              <a:t>c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的值 增大；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A</a:t>
            </a:r>
            <a:r>
              <a:rPr lang="en-US" altLang="zh-CN" sz="2400" baseline="-25000" dirty="0">
                <a:latin typeface="+mn-lt"/>
                <a:ea typeface="SimHei" panose="02010609060101010101" pitchFamily="49" charset="-122"/>
              </a:rPr>
              <a:t>o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大小不仅取决于亲水基头的大小，而且会随溶液中电解质含量、温度、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pH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、添加剂而变化。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当表面活性剂作为乳化剂时，影响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Ve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、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l.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及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A</a:t>
            </a:r>
            <a:r>
              <a:rPr lang="en-US" altLang="zh-CN" sz="2400" baseline="-25000" dirty="0">
                <a:latin typeface="+mn-lt"/>
                <a:ea typeface="SimHei" panose="02010609060101010101" pitchFamily="49" charset="-122"/>
              </a:rPr>
              <a:t>o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的因素为：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	</a:t>
            </a:r>
            <a:r>
              <a:rPr lang="en-US" altLang="zh-CN" sz="2000" dirty="0" err="1">
                <a:latin typeface="+mn-lt"/>
                <a:ea typeface="SimHei" panose="02010609060101010101" pitchFamily="49" charset="-122"/>
              </a:rPr>
              <a:t>V</a:t>
            </a:r>
            <a:r>
              <a:rPr lang="en-US" altLang="zh-CN" sz="2000" baseline="-25000" dirty="0" err="1">
                <a:latin typeface="+mn-lt"/>
                <a:ea typeface="SimHei" panose="02010609060101010101" pitchFamily="49" charset="-122"/>
              </a:rPr>
              <a:t>c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 油脂的结构，油脂与乳化剂之间的相溶性影响疏水基的体积；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	l</a:t>
            </a:r>
            <a:r>
              <a:rPr lang="en-US" altLang="zh-CN" sz="2000" baseline="-25000" dirty="0">
                <a:latin typeface="+mn-lt"/>
                <a:ea typeface="SimHei" panose="02010609060101010101" pitchFamily="49" charset="-122"/>
              </a:rPr>
              <a:t>c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 油脂与乳化剂之间的相溶性影响碳链的伸展状态；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	A</a:t>
            </a:r>
            <a:r>
              <a:rPr lang="en-US" altLang="zh-CN" sz="2000" baseline="-25000" dirty="0">
                <a:latin typeface="+mn-lt"/>
                <a:ea typeface="SimHei" panose="02010609060101010101" pitchFamily="49" charset="-122"/>
              </a:rPr>
              <a:t>o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乳状液水相电解质含量、 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pH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、添加剂以及体系的温度影响亲水基的横截面积。</a:t>
            </a:r>
          </a:p>
        </p:txBody>
      </p:sp>
    </p:spTree>
    <p:extLst>
      <p:ext uri="{BB962C8B-B14F-4D97-AF65-F5344CB8AC3E}">
        <p14:creationId xmlns:p14="http://schemas.microsoft.com/office/powerpoint/2010/main" val="3023264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19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不同临界堆积参数表面活性剂形成的微观结构</a:t>
            </a:r>
            <a:endParaRPr lang="en-US" altLang="en-US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6B5FA74-FD79-3410-C298-2043F4D8E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489" y="1036133"/>
            <a:ext cx="7253827" cy="578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2329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20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影响乳状液黏度的因素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836704" y="1610113"/>
            <a:ext cx="7461065" cy="334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油脂的类型及加入量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η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为乳状液的黏度， </a:t>
            </a: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η</a:t>
            </a:r>
            <a:r>
              <a:rPr lang="en-US" altLang="zh-CN" sz="2400" baseline="-25000" dirty="0" err="1">
                <a:latin typeface="+mn-lt"/>
                <a:ea typeface="SimHei" panose="02010609060101010101" pitchFamily="49" charset="-122"/>
              </a:rPr>
              <a:t>o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为外相黏度，</a:t>
            </a:r>
            <a:r>
              <a:rPr lang="el-GR" altLang="zh-CN" sz="2400" dirty="0">
                <a:latin typeface="+mn-lt"/>
                <a:ea typeface="SimHei" panose="02010609060101010101" pitchFamily="49" charset="-122"/>
              </a:rPr>
              <a:t>ϕ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为内相体积分数。即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油相的加入量越高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，内相体积分数</a:t>
            </a:r>
            <a:r>
              <a:rPr lang="el-GR" altLang="zh-CN" sz="2400" dirty="0">
                <a:latin typeface="+mn-lt"/>
                <a:ea typeface="SimHei" panose="02010609060101010101" pitchFamily="49" charset="-122"/>
              </a:rPr>
              <a:t>ϕ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越大，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体系的黏度越高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。因此，常见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O/W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型膏霜的油相比乳液油相的含量高，其黏度也高。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CDCE089-08D7-607C-9B11-E22A0E173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257" y="2229721"/>
            <a:ext cx="1763486" cy="42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23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21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影响乳状液黏度的因素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606610" y="1597191"/>
            <a:ext cx="7461065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乳化剂的类型及加入量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高分子乳化剂系水溶性聚合物，与水分子之间有很好的亲和力，会将体系中的自由水变为结合水，明显提升体系的黏度；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4350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7E871-2A6D-9DAA-2537-D8055686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D8DCFC8D-C802-6018-29BD-D5DA02345E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4FDB1C6-7A9C-B85D-20E7-BCFA87FA5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B518C9E-8B89-2799-0A14-01D70949D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影响乳状液黏度的因素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DD8A15-B27C-C5C9-665E-1E6C8CA47952}"/>
              </a:ext>
            </a:extLst>
          </p:cNvPr>
          <p:cNvSpPr txBox="1"/>
          <p:nvPr/>
        </p:nvSpPr>
        <p:spPr>
          <a:xfrm>
            <a:off x="835572" y="1620908"/>
            <a:ext cx="7462197" cy="334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流变调节剂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应用于乳化体系的流变调节剂的类型是最多的，流变调节剂分为：天然水溶性聚合物、半合成水溶性聚合物、合成水溶性聚合物、无机水溶性聚合 物。这四种水溶性聚合物在乳化体系中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尤其是非离子乳化剂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，都会起到很大的改流变性的作用。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76043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影响乳状液黏度的因素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896080" y="1357290"/>
            <a:ext cx="7351839" cy="500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流变调节剂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不同类型流变调节剂改善流变性的作用机理不同，其中天然水溶性聚合物、半合成水溶性聚合物都是与水分子之间有一定的水合作用， 一般不受电解质的影响；而合成水溶性聚合物大多需要借助于体系调整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pH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体现其作用，而这类流变调节剂很容易受到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pH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、电解质的影响；无机水溶性聚合物是指硅酸铝镁、硅酸镁钠这一类无机颗粒，使用频率不如水溶性聚合物。</a:t>
            </a:r>
            <a:endParaRPr lang="zh-CN" altLang="en-US" sz="28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2745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24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影响乳状液黏度的因素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202717"/>
            <a:ext cx="8778240" cy="3898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其他高分子聚合物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除了用于流变调节剂的水溶性聚合物会直接影响体系的黏度，应用于配方中的其他高分子化合物也会影响到体系的黏度，如透明质酸钠。透明质酸钠应用于化妆品中起到保湿的作用，其分子结构上的羟基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(OH) 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会与水分子形成氢键，通过氢键将体系中的部分自由水变成半结合水，也会一定程度影响到乳液体系的粘度。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0616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25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影响乳状液黏度的因素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009721"/>
            <a:ext cx="8778240" cy="5375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制备工艺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如果配方一定，在不同的制备工艺下可能制备出来不同大小的乳化粒子，而乳化粒子的大小直接影响乳状液的黏度。 乳化粒子由大到小，对乳液体系 黏度的影响由低到高，然后再降低。主要的原因是：同样的配方体系，组成不变，因工艺导致的乳化粒子的不同，从理论上而言内相体积分数不随乳化粒子大小的变化而变化，但当乳化粒子减小时，体系中油水之间总的界面面积是增加的；而在油水界面乳化剂的定向吸附是亲水基朝向水相，且亲水基会和水分子之间有氢键，将水分子由自由水变为结合水；而在计算内相体积分数的时候，是包含结合水在内的，因为结合水会随着乳化粒子的热运动一起运动。但当体系的乳化粒子进一步减小，减小到纳米级时，体系的黏度反而会降低，因为分散相粒子越小，其因热运动引起的扩散作用越强，流动性也越好，体现出来的是黏度降低。</a:t>
            </a:r>
            <a:endParaRPr lang="zh-CN" altLang="en-US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+mn-lt"/>
                <a:ea typeface="SimHei" panose="02010609060101010101" pitchFamily="49" charset="-122"/>
              </a:rPr>
              <a:t>对于乳化体系而言，黏度一旦提高，很难降低。因此，在开发配方过程中，要注意黏度的控制。</a:t>
            </a:r>
          </a:p>
        </p:txBody>
      </p:sp>
    </p:spTree>
    <p:extLst>
      <p:ext uri="{BB962C8B-B14F-4D97-AF65-F5344CB8AC3E}">
        <p14:creationId xmlns:p14="http://schemas.microsoft.com/office/powerpoint/2010/main" val="1282995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26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原料选择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938048" y="1357290"/>
            <a:ext cx="7267904" cy="2790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乳剂类化妆品的原料一般为油、水、乳化剂，但为了保证制品的外观、稳定性、 安全性和有效性，赋予制品某些特殊性能，常需加入各种添加剂如保湿剂、流变调节剂、滋润剂、营养剂、功效成分、防腐剂、抗氧化剂、香精、色素等。</a:t>
            </a:r>
          </a:p>
        </p:txBody>
      </p:sp>
    </p:spTree>
    <p:extLst>
      <p:ext uri="{BB962C8B-B14F-4D97-AF65-F5344CB8AC3E}">
        <p14:creationId xmlns:p14="http://schemas.microsoft.com/office/powerpoint/2010/main" val="558880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27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原料选择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165614"/>
            <a:ext cx="8778240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油性原料 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① 天然动物性的油、脂、蜡 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② 矿物油性原料：矿物油是石油工业提供的各种饱和碳氢化合物，如白油、凡士林、地蜡是最常见的、使用频率最高的矿物油脂。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③ 合成油性原料：由天然动植物油脂经水解精制而得的脂肪酸、脂肪醇等单体原料，如硬脂酸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十八酸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、鲸蜡醇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十六醇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、胆甾醇、硬脂醇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十八醇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是护理类化妆品常用的固态油脂原料。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2564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28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原料选择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346495"/>
            <a:ext cx="8778240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乳化剂：化妆品中乳化剂通常为表面活性剂与高分子聚合物。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① 脂肪醇聚氧乙烯醚系列 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② 烷基糖苷系列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③ 司盘和吐温系列：山梨醇酐脂肪酸酯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简称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Span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或司盘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及聚氧乙烯山梨醇酐脂肪酸酯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简称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Tween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或吐温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系列产品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④ 多元醇酯型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⑤ 阳离子表面活性剂 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⑥ 高分子乳化剂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9438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29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原料选择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357290"/>
            <a:ext cx="8778240" cy="3901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保湿剂：甘油、丙二醇、山梨醇、乳酸钠、吡咯烷酮羧酸盐、透明质酸钠、海藻糖、甜菜碱、神经酰胺等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流变调节剂：主要品种有卡波树脂、羟乙基纤维素、汉生胶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也叫黄原胶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、羟丙基纤维素、水解胶原、聚多糖类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其他如营养剂：葡聚糖、海藻提取液、氨基酸、水解动物蛋白液、天然丝素肽、人参提取液、银耳提取液等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0632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30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保湿乳液配方示例与工艺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A73F639-D3A3-C00F-3912-A03C4EEF02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529100"/>
              </p:ext>
            </p:extLst>
          </p:nvPr>
        </p:nvGraphicFramePr>
        <p:xfrm>
          <a:off x="182880" y="1033412"/>
          <a:ext cx="8778240" cy="3717989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768069">
                  <a:extLst>
                    <a:ext uri="{9D8B030D-6E8A-4147-A177-3AD203B41FA5}">
                      <a16:colId xmlns:a16="http://schemas.microsoft.com/office/drawing/2014/main" val="3274683968"/>
                    </a:ext>
                  </a:extLst>
                </a:gridCol>
                <a:gridCol w="1787375">
                  <a:extLst>
                    <a:ext uri="{9D8B030D-6E8A-4147-A177-3AD203B41FA5}">
                      <a16:colId xmlns:a16="http://schemas.microsoft.com/office/drawing/2014/main" val="1472274804"/>
                    </a:ext>
                  </a:extLst>
                </a:gridCol>
                <a:gridCol w="1226757">
                  <a:extLst>
                    <a:ext uri="{9D8B030D-6E8A-4147-A177-3AD203B41FA5}">
                      <a16:colId xmlns:a16="http://schemas.microsoft.com/office/drawing/2014/main" val="3154954104"/>
                    </a:ext>
                  </a:extLst>
                </a:gridCol>
                <a:gridCol w="1923762">
                  <a:extLst>
                    <a:ext uri="{9D8B030D-6E8A-4147-A177-3AD203B41FA5}">
                      <a16:colId xmlns:a16="http://schemas.microsoft.com/office/drawing/2014/main" val="1089227978"/>
                    </a:ext>
                  </a:extLst>
                </a:gridCol>
                <a:gridCol w="1923762">
                  <a:extLst>
                    <a:ext uri="{9D8B030D-6E8A-4147-A177-3AD203B41FA5}">
                      <a16:colId xmlns:a16="http://schemas.microsoft.com/office/drawing/2014/main" val="1155378109"/>
                    </a:ext>
                  </a:extLst>
                </a:gridCol>
                <a:gridCol w="1148515">
                  <a:extLst>
                    <a:ext uri="{9D8B030D-6E8A-4147-A177-3AD203B41FA5}">
                      <a16:colId xmlns:a16="http://schemas.microsoft.com/office/drawing/2014/main" val="1136103144"/>
                    </a:ext>
                  </a:extLst>
                </a:gridCol>
              </a:tblGrid>
              <a:tr h="237490">
                <a:tc>
                  <a:txBody>
                    <a:bodyPr/>
                    <a:lstStyle/>
                    <a:p>
                      <a:pPr marL="171450" marR="0" eaLnBrk="0">
                        <a:lnSpc>
                          <a:spcPct val="92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800" spc="40">
                          <a:effectLst/>
                          <a:latin typeface="+mj-lt"/>
                          <a:ea typeface="SimHei" panose="02010609060101010101" pitchFamily="49" charset="-122"/>
                        </a:rPr>
                        <a:t>组相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3875" marR="0" eaLnBrk="0">
                        <a:lnSpc>
                          <a:spcPct val="91000"/>
                        </a:lnSpc>
                        <a:spcBef>
                          <a:spcPts val="42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  <a:latin typeface="+mj-lt"/>
                          <a:ea typeface="SimHei" panose="02010609060101010101" pitchFamily="49" charset="-122"/>
                        </a:rPr>
                        <a:t>原料名称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5740" marR="0" eaLnBrk="0">
                        <a:lnSpc>
                          <a:spcPct val="91000"/>
                        </a:lnSpc>
                        <a:spcBef>
                          <a:spcPts val="41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质量分数</a:t>
                      </a: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 marR="0" eaLnBrk="0">
                        <a:lnSpc>
                          <a:spcPct val="92000"/>
                        </a:lnSpc>
                        <a:spcBef>
                          <a:spcPts val="430"/>
                        </a:spcBef>
                        <a:spcAft>
                          <a:spcPts val="0"/>
                        </a:spcAft>
                      </a:pPr>
                      <a:r>
                        <a:rPr lang="zh-CN" sz="1800" spc="40">
                          <a:effectLst/>
                          <a:latin typeface="+mj-lt"/>
                          <a:ea typeface="SimHei" panose="02010609060101010101" pitchFamily="49" charset="-122"/>
                        </a:rPr>
                        <a:t>组相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1025" marR="0" eaLnBrk="0">
                        <a:lnSpc>
                          <a:spcPct val="91000"/>
                        </a:lnSpc>
                        <a:spcBef>
                          <a:spcPts val="42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  <a:latin typeface="+mj-lt"/>
                          <a:ea typeface="SimHei" panose="02010609060101010101" pitchFamily="49" charset="-122"/>
                        </a:rPr>
                        <a:t>原料名称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8275" marR="0" eaLnBrk="0">
                        <a:lnSpc>
                          <a:spcPct val="91000"/>
                        </a:lnSpc>
                        <a:spcBef>
                          <a:spcPts val="41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质量分数</a:t>
                      </a: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46662479"/>
                  </a:ext>
                </a:extLst>
              </a:tr>
              <a:tr h="1196340">
                <a:tc rowSpan="2">
                  <a:txBody>
                    <a:bodyPr/>
                    <a:lstStyle/>
                    <a:p>
                      <a:pPr marL="0" marR="0" eaLnBrk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202565" marR="0" eaLnBrk="0">
                        <a:lnSpc>
                          <a:spcPct val="92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800" spc="55">
                          <a:effectLst/>
                          <a:latin typeface="+mj-lt"/>
                          <a:ea typeface="SimHei" panose="02010609060101010101" pitchFamily="49" charset="-122"/>
                        </a:rPr>
                        <a:t>A</a:t>
                      </a:r>
                      <a:r>
                        <a:rPr lang="zh-CN" sz="1800" spc="55">
                          <a:effectLst/>
                          <a:latin typeface="+mj-lt"/>
                          <a:ea typeface="SimHei" panose="02010609060101010101" pitchFamily="49" charset="-122"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16840" marR="0" eaLnBrk="0">
                        <a:lnSpc>
                          <a:spcPts val="1855"/>
                        </a:lnSpc>
                        <a:spcBef>
                          <a:spcPts val="44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C</a:t>
                      </a:r>
                      <a:r>
                        <a:rPr lang="en-US" sz="1800" baseline="-250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16</a:t>
                      </a:r>
                      <a:r>
                        <a:rPr lang="zh-CN" sz="1800" spc="7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8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C</a:t>
                      </a:r>
                      <a:r>
                        <a:rPr lang="en-US" sz="1800" baseline="-250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1</a:t>
                      </a:r>
                      <a:r>
                        <a:rPr lang="en-US" sz="1800" spc="7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₈</a:t>
                      </a:r>
                      <a:r>
                        <a:rPr lang="zh-CN" sz="1800" spc="7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烷基糖苷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16840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鲸蜡硬脂醇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16840" marR="0" eaLnBrk="0">
                        <a:lnSpc>
                          <a:spcPct val="91000"/>
                        </a:lnSpc>
                        <a:spcBef>
                          <a:spcPts val="69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合成角鲨烷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16840" marR="0" eaLnBrk="0">
                        <a:lnSpc>
                          <a:spcPts val="1915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</a:pPr>
                      <a:r>
                        <a:rPr lang="zh-CN" sz="1800" spc="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辛酸癸酸三甘油酯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16840" marR="0" eaLnBrk="0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2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二甲基硅油</a:t>
                      </a:r>
                      <a:r>
                        <a:rPr lang="en-US" sz="1800" spc="2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(100</a:t>
                      </a:r>
                      <a:r>
                        <a:rPr lang="en-US" sz="18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cs</a:t>
                      </a:r>
                      <a:r>
                        <a:rPr lang="en-US" sz="1800" spc="2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)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16840" marR="0" eaLnBrk="0">
                        <a:lnSpc>
                          <a:spcPts val="1950"/>
                        </a:lnSpc>
                        <a:spcBef>
                          <a:spcPts val="515"/>
                        </a:spcBef>
                        <a:spcAft>
                          <a:spcPts val="0"/>
                        </a:spcAft>
                      </a:pPr>
                      <a:r>
                        <a:rPr lang="zh-CN" sz="1800" spc="1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古朴阿苏籽油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16840" marR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维生素</a:t>
                      </a:r>
                      <a:r>
                        <a:rPr lang="en-US" sz="18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E</a:t>
                      </a:r>
                      <a:r>
                        <a:rPr lang="zh-CN" sz="18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醋酸酯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02590" marR="0" eaLnBrk="0">
                        <a:lnSpc>
                          <a:spcPts val="1895"/>
                        </a:lnSpc>
                        <a:spcBef>
                          <a:spcPts val="865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2.00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402590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2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1.00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402590" marR="0" eaLnBrk="0">
                        <a:lnSpc>
                          <a:spcPct val="76000"/>
                        </a:lnSpc>
                        <a:spcBef>
                          <a:spcPts val="70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4.00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402590" marR="0" eaLnBrk="0">
                        <a:lnSpc>
                          <a:spcPct val="76000"/>
                        </a:lnSpc>
                        <a:spcBef>
                          <a:spcPts val="91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5.00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402590" marR="0" eaLnBrk="0">
                        <a:lnSpc>
                          <a:spcPct val="76000"/>
                        </a:lnSpc>
                        <a:spcBef>
                          <a:spcPts val="91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3.00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402590" marR="0" eaLnBrk="0">
                        <a:lnSpc>
                          <a:spcPct val="76000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en-US" sz="1800" spc="-2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1.00</a:t>
                      </a:r>
                      <a:endParaRPr lang="en-US" sz="18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402590" marR="0" eaLnBrk="0">
                        <a:lnSpc>
                          <a:spcPct val="76000"/>
                        </a:lnSpc>
                        <a:spcBef>
                          <a:spcPts val="86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0.30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231775" marR="0" eaLnBrk="0">
                        <a:lnSpc>
                          <a:spcPct val="92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800" spc="5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B</a:t>
                      </a:r>
                      <a:r>
                        <a:rPr lang="zh-CN" sz="1800" spc="5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相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 marR="0" eaLnBrk="0">
                        <a:lnSpc>
                          <a:spcPct val="9100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zh-CN" sz="1800" spc="55">
                          <a:effectLst/>
                          <a:latin typeface="+mj-lt"/>
                          <a:ea typeface="SimHei" panose="02010609060101010101" pitchFamily="49" charset="-122"/>
                        </a:rPr>
                        <a:t>甘油</a:t>
                      </a:r>
                      <a:endParaRPr lang="en-US" sz="18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98425" marR="0" eaLnBrk="0">
                        <a:lnSpc>
                          <a:spcPts val="2005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zh-CN" sz="1800" spc="15">
                          <a:effectLst/>
                          <a:latin typeface="+mj-lt"/>
                          <a:ea typeface="SimHei" panose="02010609060101010101" pitchFamily="49" charset="-122"/>
                        </a:rPr>
                        <a:t>汉生胶</a:t>
                      </a:r>
                      <a:endParaRPr lang="en-US" sz="18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98425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  <a:latin typeface="+mj-lt"/>
                          <a:ea typeface="SimHei" panose="02010609060101010101" pitchFamily="49" charset="-122"/>
                        </a:rPr>
                        <a:t>D-</a:t>
                      </a:r>
                      <a:r>
                        <a:rPr lang="zh-CN" sz="1800" spc="-5">
                          <a:effectLst/>
                          <a:latin typeface="+mj-lt"/>
                          <a:ea typeface="SimHei" panose="02010609060101010101" pitchFamily="49" charset="-122"/>
                        </a:rPr>
                        <a:t>泛醇</a:t>
                      </a:r>
                      <a:endParaRPr lang="en-US" sz="18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98425" marR="0" eaLnBrk="0">
                        <a:lnSpc>
                          <a:spcPct val="91000"/>
                        </a:lnSpc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尿囊素</a:t>
                      </a:r>
                      <a:endParaRPr lang="en-US" sz="18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98425" marR="0" eaLnBrk="0">
                        <a:lnSpc>
                          <a:spcPct val="91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  <a:latin typeface="+mj-lt"/>
                          <a:ea typeface="SimHei" panose="02010609060101010101" pitchFamily="49" charset="-122"/>
                        </a:rPr>
                        <a:t>水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71475" marR="0" eaLnBrk="0">
                        <a:lnSpc>
                          <a:spcPct val="76000"/>
                        </a:lnSpc>
                        <a:spcBef>
                          <a:spcPts val="71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4.00</a:t>
                      </a:r>
                      <a:endParaRPr lang="en-US" sz="18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71475" marR="0" eaLnBrk="0">
                        <a:lnSpc>
                          <a:spcPct val="76000"/>
                        </a:lnSpc>
                        <a:spcBef>
                          <a:spcPts val="95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0.20</a:t>
                      </a:r>
                      <a:endParaRPr lang="en-US" sz="18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71475" marR="0" eaLnBrk="0">
                        <a:lnSpc>
                          <a:spcPct val="76000"/>
                        </a:lnSpc>
                        <a:spcBef>
                          <a:spcPts val="75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0.30</a:t>
                      </a:r>
                      <a:endParaRPr lang="en-US" sz="18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71475" marR="0" eaLnBrk="0">
                        <a:lnSpc>
                          <a:spcPct val="76000"/>
                        </a:lnSpc>
                        <a:spcBef>
                          <a:spcPts val="96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0.30</a:t>
                      </a:r>
                      <a:endParaRPr lang="en-US" sz="18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270510" marR="0" eaLnBrk="0">
                        <a:lnSpc>
                          <a:spcPct val="92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加至</a:t>
                      </a:r>
                      <a:r>
                        <a:rPr lang="en-US" sz="18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100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004889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eaLnBrk="0">
                        <a:lnSpc>
                          <a:spcPct val="16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231775" marR="0" eaLnBrk="0">
                        <a:lnSpc>
                          <a:spcPct val="92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800" spc="5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C</a:t>
                      </a:r>
                      <a:r>
                        <a:rPr lang="zh-CN" sz="1800" spc="5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相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98425" marR="0" eaLnBrk="0">
                        <a:lnSpc>
                          <a:spcPct val="91000"/>
                        </a:lnSpc>
                        <a:spcBef>
                          <a:spcPts val="1170"/>
                        </a:spcBef>
                        <a:spcAft>
                          <a:spcPts val="0"/>
                        </a:spcAft>
                      </a:pPr>
                      <a:r>
                        <a:rPr lang="zh-CN" sz="1800" spc="25">
                          <a:effectLst/>
                          <a:latin typeface="+mj-lt"/>
                          <a:ea typeface="SimHei" panose="02010609060101010101" pitchFamily="49" charset="-122"/>
                        </a:rPr>
                        <a:t>香精</a:t>
                      </a:r>
                      <a:endParaRPr lang="en-US" sz="18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98425" marR="0" eaLnBrk="0">
                        <a:lnSpc>
                          <a:spcPct val="91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zh-CN" sz="1800" spc="20">
                          <a:effectLst/>
                          <a:latin typeface="+mj-lt"/>
                          <a:ea typeface="SimHei" panose="02010609060101010101" pitchFamily="49" charset="-122"/>
                        </a:rPr>
                        <a:t>防腐剂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371475" marR="0" eaLnBrk="0">
                        <a:lnSpc>
                          <a:spcPts val="2000"/>
                        </a:lnSpc>
                        <a:spcBef>
                          <a:spcPts val="1255"/>
                        </a:spcBef>
                        <a:spcAft>
                          <a:spcPts val="0"/>
                        </a:spcAft>
                      </a:pPr>
                      <a:r>
                        <a:rPr lang="zh-CN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适量</a:t>
                      </a:r>
                      <a:endParaRPr lang="en-US" sz="18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71475" marR="0" eaLnBrk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适量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09736308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202565" marR="0" eaLnBrk="0">
                        <a:lnSpc>
                          <a:spcPct val="92000"/>
                        </a:lnSpc>
                        <a:spcBef>
                          <a:spcPts val="505"/>
                        </a:spcBef>
                        <a:spcAft>
                          <a:spcPts val="0"/>
                        </a:spcAft>
                      </a:pPr>
                      <a:r>
                        <a:rPr lang="en-US" sz="1800" spc="55">
                          <a:effectLst/>
                          <a:latin typeface="+mj-lt"/>
                          <a:ea typeface="SimHei" panose="02010609060101010101" pitchFamily="49" charset="-122"/>
                        </a:rPr>
                        <a:t>B</a:t>
                      </a:r>
                      <a:r>
                        <a:rPr lang="zh-CN" sz="1800" spc="55">
                          <a:effectLst/>
                          <a:latin typeface="+mj-lt"/>
                          <a:ea typeface="SimHei" panose="02010609060101010101" pitchFamily="49" charset="-122"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40" marR="0" eaLnBrk="0">
                        <a:lnSpc>
                          <a:spcPct val="92000"/>
                        </a:lnSpc>
                        <a:spcBef>
                          <a:spcPts val="495"/>
                        </a:spcBef>
                        <a:spcAft>
                          <a:spcPts val="0"/>
                        </a:spcAft>
                      </a:pPr>
                      <a:r>
                        <a:rPr lang="zh-CN" sz="1800" spc="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乙二胺四乙酸二钠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2590" marR="0" eaLnBrk="0">
                        <a:lnSpc>
                          <a:spcPct val="76000"/>
                        </a:lnSpc>
                        <a:spcBef>
                          <a:spcPts val="75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0.10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5695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AEF72A0-EFFE-F983-AE14-FE3361C03E84}"/>
              </a:ext>
            </a:extLst>
          </p:cNvPr>
          <p:cNvSpPr txBox="1"/>
          <p:nvPr/>
        </p:nvSpPr>
        <p:spPr>
          <a:xfrm>
            <a:off x="-62117" y="4740825"/>
            <a:ext cx="8778239" cy="1720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7665" marR="0" eaLnBrk="0">
              <a:lnSpc>
                <a:spcPct val="90000"/>
              </a:lnSpc>
              <a:spcBef>
                <a:spcPts val="525"/>
              </a:spcBef>
              <a:spcAft>
                <a:spcPts val="0"/>
              </a:spcAft>
            </a:pPr>
            <a:r>
              <a:rPr lang="en-US" spc="12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①</a:t>
            </a:r>
            <a:r>
              <a:rPr lang="en-US" spc="17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pc="12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分别将</a:t>
            </a:r>
            <a:r>
              <a:rPr lang="en-US" altLang="zh-CN" spc="12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12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A</a:t>
            </a:r>
            <a:r>
              <a:rPr lang="en-US" spc="15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 </a:t>
            </a:r>
            <a:r>
              <a:rPr lang="zh-CN" spc="12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相中各组分加入容器</a:t>
            </a:r>
            <a:r>
              <a:rPr lang="en-US" altLang="zh-CN" spc="12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12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A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 </a:t>
            </a:r>
            <a:r>
              <a:rPr lang="zh-CN" spc="12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中，加热到</a:t>
            </a:r>
            <a:r>
              <a:rPr lang="en-US" spc="12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80℃;</a:t>
            </a:r>
            <a:endParaRPr lang="en-US" dirty="0">
              <a:solidFill>
                <a:srgbClr val="000000"/>
              </a:solidFill>
              <a:effectLst/>
              <a:latin typeface="+mn-lt"/>
              <a:ea typeface="SimHei" panose="02010609060101010101" pitchFamily="49" charset="-122"/>
            </a:endParaRPr>
          </a:p>
          <a:p>
            <a:pPr marL="367665" marR="0" eaLnBrk="0">
              <a:lnSpc>
                <a:spcPct val="90000"/>
              </a:lnSpc>
              <a:spcBef>
                <a:spcPts val="660"/>
              </a:spcBef>
              <a:spcAft>
                <a:spcPts val="0"/>
              </a:spcAft>
            </a:pPr>
            <a:r>
              <a:rPr lang="en-US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②</a:t>
            </a:r>
            <a:r>
              <a:rPr lang="en-US" spc="26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同时将</a:t>
            </a:r>
            <a:r>
              <a:rPr lang="en-US" altLang="zh-CN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B</a:t>
            </a:r>
            <a:r>
              <a:rPr lang="en-US" spc="18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 </a:t>
            </a:r>
            <a:r>
              <a:rPr lang="zh-CN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相中各组分加入容器</a:t>
            </a:r>
            <a:r>
              <a:rPr lang="en-US" altLang="zh-CN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B</a:t>
            </a:r>
            <a:r>
              <a:rPr lang="en-US" spc="23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 </a:t>
            </a:r>
            <a:r>
              <a:rPr lang="zh-CN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中，加热到</a:t>
            </a:r>
            <a:r>
              <a:rPr lang="en-US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90℃(</a:t>
            </a:r>
            <a:r>
              <a:rPr lang="zh-CN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汉生胶用甘油预分散</a:t>
            </a:r>
            <a:r>
              <a:rPr lang="en-US" spc="11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);</a:t>
            </a:r>
            <a:endParaRPr lang="en-US" dirty="0">
              <a:solidFill>
                <a:srgbClr val="000000"/>
              </a:solidFill>
              <a:effectLst/>
              <a:latin typeface="+mn-lt"/>
              <a:ea typeface="SimHei" panose="02010609060101010101" pitchFamily="49" charset="-122"/>
            </a:endParaRPr>
          </a:p>
          <a:p>
            <a:pPr marL="367665" marR="0" eaLnBrk="0">
              <a:lnSpc>
                <a:spcPct val="88000"/>
              </a:lnSpc>
              <a:spcBef>
                <a:spcPts val="590"/>
              </a:spcBef>
              <a:spcAft>
                <a:spcPts val="0"/>
              </a:spcAft>
            </a:pPr>
            <a:r>
              <a:rPr lang="en-US" spc="9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③</a:t>
            </a:r>
            <a:r>
              <a:rPr lang="en-US" spc="1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pc="9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将</a:t>
            </a:r>
            <a:r>
              <a:rPr lang="zh-CN" spc="-23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altLang="zh-CN" spc="-23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9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A</a:t>
            </a:r>
            <a:r>
              <a:rPr lang="en-US" spc="14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 </a:t>
            </a:r>
            <a:r>
              <a:rPr lang="zh-CN" spc="9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相加入</a:t>
            </a:r>
            <a:r>
              <a:rPr lang="en-US" altLang="zh-CN" spc="9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9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B</a:t>
            </a:r>
            <a:r>
              <a:rPr lang="en-US" spc="13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 </a:t>
            </a:r>
            <a:r>
              <a:rPr lang="zh-CN" spc="9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相均质</a:t>
            </a:r>
            <a:r>
              <a:rPr lang="en-US" spc="9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min</a:t>
            </a:r>
            <a:r>
              <a:rPr lang="en-US" spc="9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;</a:t>
            </a:r>
            <a:endParaRPr lang="en-US" dirty="0">
              <a:solidFill>
                <a:srgbClr val="000000"/>
              </a:solidFill>
              <a:effectLst/>
              <a:latin typeface="+mn-lt"/>
              <a:ea typeface="SimHei" panose="02010609060101010101" pitchFamily="49" charset="-122"/>
            </a:endParaRPr>
          </a:p>
          <a:p>
            <a:pPr marL="367665" marR="0" eaLnBrk="0">
              <a:lnSpc>
                <a:spcPct val="90000"/>
              </a:lnSpc>
              <a:spcBef>
                <a:spcPts val="775"/>
              </a:spcBef>
              <a:spcAft>
                <a:spcPts val="0"/>
              </a:spcAft>
            </a:pPr>
            <a:r>
              <a:rPr lang="en-US" spc="9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④</a:t>
            </a:r>
            <a:r>
              <a:rPr lang="en-US" spc="21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pc="9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均质后，搅拌降温冷却，待产品冷却到</a:t>
            </a:r>
            <a:r>
              <a:rPr lang="en-US" spc="9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45℃</a:t>
            </a:r>
            <a:r>
              <a:rPr lang="zh-CN" spc="9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后，加入</a:t>
            </a:r>
            <a:r>
              <a:rPr lang="en-US" altLang="zh-CN" spc="9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en-US" spc="9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C</a:t>
            </a:r>
            <a:r>
              <a:rPr lang="en-US" spc="21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</a:rPr>
              <a:t> </a:t>
            </a:r>
            <a:r>
              <a:rPr lang="zh-CN" spc="9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相各组</a:t>
            </a:r>
            <a:r>
              <a:rPr lang="zh-CN" spc="8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分；</a:t>
            </a:r>
            <a:endParaRPr lang="en-US" dirty="0">
              <a:solidFill>
                <a:srgbClr val="000000"/>
              </a:solidFill>
              <a:effectLst/>
              <a:latin typeface="+mn-lt"/>
              <a:ea typeface="SimHei" panose="02010609060101010101" pitchFamily="49" charset="-122"/>
            </a:endParaRPr>
          </a:p>
          <a:p>
            <a:pPr marL="367665" marR="0" eaLnBrk="0">
              <a:lnSpc>
                <a:spcPct val="90000"/>
              </a:lnSpc>
              <a:spcBef>
                <a:spcPts val="665"/>
              </a:spcBef>
              <a:spcAft>
                <a:spcPts val="0"/>
              </a:spcAft>
            </a:pPr>
            <a:r>
              <a:rPr lang="en-US" spc="5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⑤</a:t>
            </a:r>
            <a:r>
              <a:rPr lang="en-US" spc="245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 </a:t>
            </a:r>
            <a:r>
              <a:rPr lang="zh-CN" spc="50" dirty="0">
                <a:solidFill>
                  <a:srgbClr val="000000"/>
                </a:solidFill>
                <a:effectLst/>
                <a:latin typeface="+mn-lt"/>
                <a:ea typeface="SimHei" panose="02010609060101010101" pitchFamily="49" charset="-122"/>
                <a:cs typeface="SimSun" panose="02010600030101010101" pitchFamily="2" charset="-122"/>
              </a:rPr>
              <a:t>继续搅拌冷却，降到室温即可。</a:t>
            </a:r>
            <a:endParaRPr lang="en-US" dirty="0">
              <a:solidFill>
                <a:srgbClr val="000000"/>
              </a:solidFill>
              <a:effectLst/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8014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31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滋润乳液：配方示例与工艺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9FE754E-6992-1106-E470-DA6EDDD0A7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702198"/>
              </p:ext>
            </p:extLst>
          </p:nvPr>
        </p:nvGraphicFramePr>
        <p:xfrm>
          <a:off x="182879" y="1190811"/>
          <a:ext cx="8778239" cy="3493897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750215">
                  <a:extLst>
                    <a:ext uri="{9D8B030D-6E8A-4147-A177-3AD203B41FA5}">
                      <a16:colId xmlns:a16="http://schemas.microsoft.com/office/drawing/2014/main" val="793236520"/>
                    </a:ext>
                  </a:extLst>
                </a:gridCol>
                <a:gridCol w="1846683">
                  <a:extLst>
                    <a:ext uri="{9D8B030D-6E8A-4147-A177-3AD203B41FA5}">
                      <a16:colId xmlns:a16="http://schemas.microsoft.com/office/drawing/2014/main" val="164513520"/>
                    </a:ext>
                  </a:extLst>
                </a:gridCol>
                <a:gridCol w="1254447">
                  <a:extLst>
                    <a:ext uri="{9D8B030D-6E8A-4147-A177-3AD203B41FA5}">
                      <a16:colId xmlns:a16="http://schemas.microsoft.com/office/drawing/2014/main" val="2383156783"/>
                    </a:ext>
                  </a:extLst>
                </a:gridCol>
                <a:gridCol w="1882752">
                  <a:extLst>
                    <a:ext uri="{9D8B030D-6E8A-4147-A177-3AD203B41FA5}">
                      <a16:colId xmlns:a16="http://schemas.microsoft.com/office/drawing/2014/main" val="4153477221"/>
                    </a:ext>
                  </a:extLst>
                </a:gridCol>
                <a:gridCol w="1882752">
                  <a:extLst>
                    <a:ext uri="{9D8B030D-6E8A-4147-A177-3AD203B41FA5}">
                      <a16:colId xmlns:a16="http://schemas.microsoft.com/office/drawing/2014/main" val="129738804"/>
                    </a:ext>
                  </a:extLst>
                </a:gridCol>
                <a:gridCol w="1161390">
                  <a:extLst>
                    <a:ext uri="{9D8B030D-6E8A-4147-A177-3AD203B41FA5}">
                      <a16:colId xmlns:a16="http://schemas.microsoft.com/office/drawing/2014/main" val="353236372"/>
                    </a:ext>
                  </a:extLst>
                </a:gridCol>
              </a:tblGrid>
              <a:tr h="231140">
                <a:tc>
                  <a:txBody>
                    <a:bodyPr/>
                    <a:lstStyle/>
                    <a:p>
                      <a:pPr marL="171450" marR="0" eaLnBrk="0">
                        <a:lnSpc>
                          <a:spcPct val="92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zh-CN" sz="1800" spc="45">
                          <a:effectLst/>
                        </a:rPr>
                        <a:t>组相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29590" marR="0" eaLnBrk="0">
                        <a:lnSpc>
                          <a:spcPct val="91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原料名称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025" marR="0" eaLnBrk="0">
                        <a:lnSpc>
                          <a:spcPct val="91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质量分数</a:t>
                      </a:r>
                      <a:r>
                        <a:rPr lang="en-US" sz="1800" spc="-10">
                          <a:effectLst/>
                        </a:rPr>
                        <a:t>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7325" marR="0" eaLnBrk="0">
                        <a:lnSpc>
                          <a:spcPct val="92000"/>
                        </a:lnSpc>
                        <a:spcBef>
                          <a:spcPts val="385"/>
                        </a:spcBef>
                        <a:spcAft>
                          <a:spcPts val="0"/>
                        </a:spcAft>
                      </a:pPr>
                      <a:r>
                        <a:rPr lang="zh-CN" sz="1800" spc="45" dirty="0">
                          <a:effectLst/>
                        </a:rPr>
                        <a:t>组相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49910" marR="0" eaLnBrk="0">
                        <a:lnSpc>
                          <a:spcPct val="91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原料名称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5575" marR="0" eaLnBrk="0">
                        <a:lnSpc>
                          <a:spcPct val="91000"/>
                        </a:lnSpc>
                        <a:spcBef>
                          <a:spcPts val="37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质量分数</a:t>
                      </a:r>
                      <a:r>
                        <a:rPr lang="en-US" sz="1800" spc="-10">
                          <a:effectLst/>
                        </a:rPr>
                        <a:t>/%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926459360"/>
                  </a:ext>
                </a:extLst>
              </a:tr>
              <a:tr h="1209675">
                <a:tc rowSpan="2">
                  <a:txBody>
                    <a:bodyPr/>
                    <a:lstStyle/>
                    <a:p>
                      <a:pPr marL="0" marR="0" eaLnBrk="0">
                        <a:lnSpc>
                          <a:spcPct val="13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3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3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202565" marR="0" eaLnBrk="0">
                        <a:lnSpc>
                          <a:spcPct val="92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</a:rPr>
                        <a:t>A</a:t>
                      </a:r>
                      <a:r>
                        <a:rPr lang="zh-CN" sz="1800" spc="-5">
                          <a:effectLst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04140" marR="0" eaLnBrk="0">
                        <a:lnSpc>
                          <a:spcPct val="91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氢化聚癸烯</a:t>
                      </a:r>
                      <a:endParaRPr lang="en-US" sz="1800">
                        <a:effectLst/>
                      </a:endParaRPr>
                    </a:p>
                    <a:p>
                      <a:pPr marL="104140" marR="0" eaLnBrk="0">
                        <a:lnSpc>
                          <a:spcPts val="1865"/>
                        </a:lnSpc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zh-CN" sz="1800" spc="5">
                          <a:effectLst/>
                        </a:rPr>
                        <a:t>辛酸癸酸三甘油酯</a:t>
                      </a:r>
                      <a:endParaRPr lang="en-US" sz="1800">
                        <a:effectLst/>
                      </a:endParaRPr>
                    </a:p>
                    <a:p>
                      <a:pPr marL="104140" marR="0" eaLnBrk="0">
                        <a:lnSpc>
                          <a:spcPct val="9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20">
                          <a:effectLst/>
                        </a:rPr>
                        <a:t>二甲基硅油</a:t>
                      </a:r>
                      <a:endParaRPr lang="en-US" sz="1800">
                        <a:effectLst/>
                      </a:endParaRPr>
                    </a:p>
                    <a:p>
                      <a:pPr marL="104140" marR="0" eaLnBrk="0">
                        <a:lnSpc>
                          <a:spcPts val="1755"/>
                        </a:lnSpc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zh-CN" sz="1800" spc="-15">
                          <a:effectLst/>
                        </a:rPr>
                        <a:t>鲸蜡醇</a:t>
                      </a:r>
                      <a:endParaRPr lang="en-US" sz="1800">
                        <a:effectLst/>
                      </a:endParaRPr>
                    </a:p>
                    <a:p>
                      <a:pPr marL="104140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15">
                          <a:effectLst/>
                        </a:rPr>
                        <a:t>山嵛醇</a:t>
                      </a:r>
                      <a:endParaRPr lang="en-US" sz="1800">
                        <a:effectLst/>
                      </a:endParaRPr>
                    </a:p>
                    <a:p>
                      <a:pPr marL="104140" marR="0" eaLnBrk="0">
                        <a:lnSpc>
                          <a:spcPct val="91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zh-CN" sz="1800" spc="5">
                          <a:effectLst/>
                        </a:rPr>
                        <a:t>异十三醇异壬酸酯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408940" marR="0" eaLnBrk="0">
                        <a:lnSpc>
                          <a:spcPts val="1950"/>
                        </a:lnSpc>
                        <a:spcBef>
                          <a:spcPts val="73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</a:rPr>
                        <a:t>3.00</a:t>
                      </a:r>
                      <a:endParaRPr lang="en-US" sz="1800">
                        <a:effectLst/>
                      </a:endParaRPr>
                    </a:p>
                    <a:p>
                      <a:pPr marL="408940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4.00</a:t>
                      </a:r>
                      <a:endParaRPr lang="en-US" sz="1800">
                        <a:effectLst/>
                      </a:endParaRPr>
                    </a:p>
                    <a:p>
                      <a:pPr marL="408940" marR="0" eaLnBrk="0">
                        <a:lnSpc>
                          <a:spcPct val="76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</a:rPr>
                        <a:t>3.00</a:t>
                      </a:r>
                      <a:endParaRPr lang="en-US" sz="1800">
                        <a:effectLst/>
                      </a:endParaRPr>
                    </a:p>
                    <a:p>
                      <a:pPr marL="408940" marR="0" eaLnBrk="0">
                        <a:lnSpc>
                          <a:spcPct val="76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n-US" sz="1800" spc="-25">
                          <a:effectLst/>
                        </a:rPr>
                        <a:t>1.20</a:t>
                      </a:r>
                      <a:endParaRPr lang="en-US" sz="1800">
                        <a:effectLst/>
                      </a:endParaRPr>
                    </a:p>
                    <a:p>
                      <a:pPr marL="408940" marR="0" eaLnBrk="0">
                        <a:lnSpc>
                          <a:spcPct val="76000"/>
                        </a:lnSpc>
                        <a:spcBef>
                          <a:spcPts val="75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0.50</a:t>
                      </a:r>
                      <a:endParaRPr lang="en-US" sz="1800">
                        <a:effectLst/>
                      </a:endParaRPr>
                    </a:p>
                    <a:p>
                      <a:pPr marL="408940" marR="0" eaLnBrk="0">
                        <a:lnSpc>
                          <a:spcPct val="75000"/>
                        </a:lnSpc>
                        <a:spcBef>
                          <a:spcPts val="91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4.00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219710" marR="0" eaLnBrk="0">
                        <a:lnSpc>
                          <a:spcPct val="92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800" spc="45" dirty="0">
                          <a:effectLst/>
                        </a:rPr>
                        <a:t>B</a:t>
                      </a:r>
                      <a:r>
                        <a:rPr lang="zh-CN" sz="1800" spc="45" dirty="0">
                          <a:effectLst/>
                        </a:rPr>
                        <a:t>相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 marR="0" eaLnBrk="0">
                        <a:lnSpc>
                          <a:spcPct val="91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zh-CN" sz="1800" spc="55">
                          <a:effectLst/>
                        </a:rPr>
                        <a:t>甘油</a:t>
                      </a:r>
                      <a:endParaRPr lang="en-US" sz="1800">
                        <a:effectLst/>
                      </a:endParaRPr>
                    </a:p>
                    <a:p>
                      <a:pPr marL="105410" marR="0" eaLnBrk="0">
                        <a:lnSpc>
                          <a:spcPct val="91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zh-CN" sz="1800" spc="15">
                          <a:effectLst/>
                        </a:rPr>
                        <a:t>丁二醇</a:t>
                      </a:r>
                      <a:endParaRPr lang="en-US" sz="1800">
                        <a:effectLst/>
                      </a:endParaRPr>
                    </a:p>
                    <a:p>
                      <a:pPr marL="105410" marR="0" eaLnBrk="0">
                        <a:lnSpc>
                          <a:spcPts val="1950"/>
                        </a:lnSpc>
                        <a:spcBef>
                          <a:spcPts val="585"/>
                        </a:spcBef>
                        <a:spcAft>
                          <a:spcPts val="0"/>
                        </a:spcAft>
                      </a:pPr>
                      <a:r>
                        <a:rPr lang="zh-CN" sz="1800" spc="30">
                          <a:effectLst/>
                        </a:rPr>
                        <a:t>甘油硬脂酸</a:t>
                      </a:r>
                      <a:r>
                        <a:rPr lang="en-US" sz="1800" spc="30">
                          <a:effectLst/>
                        </a:rPr>
                        <a:t>(</a:t>
                      </a:r>
                      <a:r>
                        <a:rPr lang="en-US" sz="1800">
                          <a:effectLst/>
                        </a:rPr>
                        <a:t>SE</a:t>
                      </a:r>
                      <a:r>
                        <a:rPr lang="en-US" sz="1800" spc="30">
                          <a:effectLst/>
                        </a:rPr>
                        <a:t>)</a:t>
                      </a:r>
                      <a:endParaRPr lang="en-US" sz="1800">
                        <a:effectLst/>
                      </a:endParaRPr>
                    </a:p>
                    <a:p>
                      <a:pPr marL="105410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5">
                          <a:effectLst/>
                        </a:rPr>
                        <a:t>山嵛醇聚醚</a:t>
                      </a:r>
                      <a:r>
                        <a:rPr lang="en-US" sz="1800" spc="5">
                          <a:effectLst/>
                        </a:rPr>
                        <a:t>-20</a:t>
                      </a:r>
                      <a:endParaRPr lang="en-US" sz="1800">
                        <a:effectLst/>
                      </a:endParaRPr>
                    </a:p>
                    <a:p>
                      <a:pPr marL="105410" marR="0" eaLnBrk="0">
                        <a:lnSpc>
                          <a:spcPct val="9200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zh-CN" sz="1800" spc="5">
                          <a:effectLst/>
                        </a:rPr>
                        <a:t>乙二胺四乙酸二钠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5125" marR="0" eaLnBrk="0">
                        <a:lnSpc>
                          <a:spcPts val="1850"/>
                        </a:lnSpc>
                        <a:spcBef>
                          <a:spcPts val="73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</a:rPr>
                        <a:t>3.00</a:t>
                      </a:r>
                      <a:endParaRPr lang="en-US" sz="1800">
                        <a:effectLst/>
                      </a:endParaRPr>
                    </a:p>
                    <a:p>
                      <a:pPr marL="3651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5">
                          <a:effectLst/>
                        </a:rPr>
                        <a:t>3.00</a:t>
                      </a:r>
                      <a:endParaRPr lang="en-US" sz="1800">
                        <a:effectLst/>
                      </a:endParaRPr>
                    </a:p>
                    <a:p>
                      <a:pPr marL="365125" marR="0" eaLnBrk="0">
                        <a:lnSpc>
                          <a:spcPct val="76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sz="1800" spc="-25">
                          <a:effectLst/>
                        </a:rPr>
                        <a:t>1.00</a:t>
                      </a:r>
                      <a:endParaRPr lang="en-US" sz="1800">
                        <a:effectLst/>
                      </a:endParaRPr>
                    </a:p>
                    <a:p>
                      <a:pPr marL="365125" marR="0" eaLnBrk="0">
                        <a:lnSpc>
                          <a:spcPct val="76000"/>
                        </a:lnSpc>
                        <a:spcBef>
                          <a:spcPts val="850"/>
                        </a:spcBef>
                        <a:spcAft>
                          <a:spcPts val="0"/>
                        </a:spcAft>
                      </a:pPr>
                      <a:r>
                        <a:rPr lang="en-US" sz="1800" spc="-25">
                          <a:effectLst/>
                        </a:rPr>
                        <a:t>1.50</a:t>
                      </a:r>
                      <a:endParaRPr lang="en-US" sz="1800">
                        <a:effectLst/>
                      </a:endParaRPr>
                    </a:p>
                    <a:p>
                      <a:pPr marL="365125" marR="0" eaLnBrk="0">
                        <a:lnSpc>
                          <a:spcPct val="76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0.03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7764219"/>
                  </a:ext>
                </a:extLst>
              </a:tr>
              <a:tr h="2279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19710" marR="0" eaLnBrk="0">
                        <a:lnSpc>
                          <a:spcPct val="92000"/>
                        </a:lnSpc>
                        <a:spcBef>
                          <a:spcPts val="390"/>
                        </a:spcBef>
                        <a:spcAft>
                          <a:spcPts val="0"/>
                        </a:spcAft>
                      </a:pPr>
                      <a:r>
                        <a:rPr lang="en-US" sz="1800" spc="45">
                          <a:effectLst/>
                        </a:rPr>
                        <a:t>C</a:t>
                      </a:r>
                      <a:r>
                        <a:rPr lang="zh-CN" sz="1800" spc="45">
                          <a:effectLst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 marR="0" eaLnBrk="0">
                        <a:lnSpc>
                          <a:spcPct val="91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</a:pPr>
                      <a:r>
                        <a:rPr lang="en-US" sz="1800" spc="5">
                          <a:effectLst/>
                        </a:rPr>
                        <a:t>1%</a:t>
                      </a:r>
                      <a:r>
                        <a:rPr lang="en-US" sz="1800">
                          <a:effectLst/>
                        </a:rPr>
                        <a:t>NaOH</a:t>
                      </a:r>
                      <a:r>
                        <a:rPr lang="zh-CN" sz="1800" spc="5">
                          <a:effectLst/>
                        </a:rPr>
                        <a:t>水溶液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5125" marR="0" eaLnBrk="0">
                        <a:lnSpc>
                          <a:spcPct val="76000"/>
                        </a:lnSpc>
                        <a:spcBef>
                          <a:spcPts val="655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6.00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56718705"/>
                  </a:ext>
                </a:extLst>
              </a:tr>
              <a:tr h="699770"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5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</a:p>
                    <a:p>
                      <a:pPr marL="202565" marR="0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spc="45">
                          <a:effectLst/>
                        </a:rPr>
                        <a:t>B</a:t>
                      </a:r>
                      <a:r>
                        <a:rPr lang="zh-CN" sz="1800" spc="45">
                          <a:effectLst/>
                        </a:rPr>
                        <a:t>相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140" marR="0" eaLnBrk="0">
                        <a:lnSpc>
                          <a:spcPct val="91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</a:rPr>
                        <a:t>水</a:t>
                      </a:r>
                      <a:endParaRPr lang="en-US" sz="1800">
                        <a:effectLst/>
                      </a:endParaRPr>
                    </a:p>
                    <a:p>
                      <a:pPr marL="104140" marR="0" eaLnBrk="0">
                        <a:lnSpc>
                          <a:spcPts val="1745"/>
                        </a:lnSpc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zh-CN" sz="1800" spc="15">
                          <a:effectLst/>
                        </a:rPr>
                        <a:t>卡波姆</a:t>
                      </a:r>
                      <a:endParaRPr lang="en-US" sz="1800">
                        <a:effectLst/>
                      </a:endParaRPr>
                    </a:p>
                    <a:p>
                      <a:pPr marL="104140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黄原胶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990" marR="0" eaLnBrk="0">
                        <a:lnSpc>
                          <a:spcPts val="2055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加至</a:t>
                      </a:r>
                      <a:r>
                        <a:rPr lang="en-US" sz="1800" spc="-10">
                          <a:effectLst/>
                        </a:rPr>
                        <a:t>100</a:t>
                      </a:r>
                      <a:endParaRPr lang="en-US" sz="1800">
                        <a:effectLst/>
                      </a:endParaRPr>
                    </a:p>
                    <a:p>
                      <a:pPr marL="408940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0.12</a:t>
                      </a:r>
                      <a:endParaRPr lang="en-US" sz="1800">
                        <a:effectLst/>
                      </a:endParaRPr>
                    </a:p>
                    <a:p>
                      <a:pPr marL="408940" marR="0" eaLnBrk="0">
                        <a:lnSpc>
                          <a:spcPct val="76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</a:pPr>
                      <a:r>
                        <a:rPr lang="en-US" sz="1800" spc="-10">
                          <a:effectLst/>
                        </a:rPr>
                        <a:t>0.05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5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  <a:p>
                      <a:pPr marL="219710" marR="0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800" spc="45" dirty="0">
                          <a:effectLst/>
                        </a:rPr>
                        <a:t>D</a:t>
                      </a:r>
                      <a:r>
                        <a:rPr lang="zh-CN" sz="1800" spc="45" dirty="0">
                          <a:effectLst/>
                        </a:rPr>
                        <a:t>相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 marR="0" eaLnBrk="0">
                        <a:lnSpc>
                          <a:spcPts val="2000"/>
                        </a:lnSpc>
                        <a:spcBef>
                          <a:spcPts val="1125"/>
                        </a:spcBef>
                        <a:spcAft>
                          <a:spcPts val="0"/>
                        </a:spcAft>
                      </a:pPr>
                      <a:r>
                        <a:rPr lang="zh-CN" sz="1800" spc="20">
                          <a:effectLst/>
                        </a:rPr>
                        <a:t>防腐剂</a:t>
                      </a:r>
                      <a:endParaRPr lang="en-US" sz="1800">
                        <a:effectLst/>
                      </a:endParaRPr>
                    </a:p>
                    <a:p>
                      <a:pPr marL="105410" marR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25">
                          <a:effectLst/>
                        </a:rPr>
                        <a:t>香精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5125" marR="0" eaLnBrk="0">
                        <a:lnSpc>
                          <a:spcPts val="2000"/>
                        </a:lnSpc>
                        <a:spcBef>
                          <a:spcPts val="1210"/>
                        </a:spcBef>
                        <a:spcAft>
                          <a:spcPts val="0"/>
                        </a:spcAft>
                      </a:pPr>
                      <a:r>
                        <a:rPr lang="zh-CN" sz="1800" spc="-15" dirty="0">
                          <a:effectLst/>
                        </a:rPr>
                        <a:t>适量</a:t>
                      </a:r>
                      <a:endParaRPr lang="en-US" sz="1800" dirty="0">
                        <a:effectLst/>
                      </a:endParaRPr>
                    </a:p>
                    <a:p>
                      <a:pPr marL="365125" marR="0" eaLnBrk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800" spc="-15" dirty="0">
                          <a:effectLst/>
                        </a:rPr>
                        <a:t>适量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48915156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BA3726A-7FB6-6BD4-F27A-9EFAD35D9AE5}"/>
              </a:ext>
            </a:extLst>
          </p:cNvPr>
          <p:cNvSpPr txBox="1"/>
          <p:nvPr/>
        </p:nvSpPr>
        <p:spPr>
          <a:xfrm>
            <a:off x="167113" y="4957971"/>
            <a:ext cx="88097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① 将 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B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相中卡波姆与黄原胶分散在水中，充分搅拌分散均匀，加热至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80 ℃;</a:t>
            </a:r>
          </a:p>
          <a:p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②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依次加入 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B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相剩余组分，搅拌分散至体系均一；</a:t>
            </a:r>
          </a:p>
          <a:p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③ 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A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相各组分混合均匀并加热至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80 ℃;</a:t>
            </a:r>
          </a:p>
          <a:p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④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均质 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B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相，缓慢加入 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A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相，均质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5 min,  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至体系均一；</a:t>
            </a:r>
          </a:p>
          <a:p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⑤ 降温至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40℃,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加入 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C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相及 </a:t>
            </a:r>
            <a:r>
              <a:rPr lang="en-US" altLang="zh-CN" sz="2000" dirty="0">
                <a:latin typeface="+mn-lt"/>
                <a:ea typeface="SimHei" panose="02010609060101010101" pitchFamily="49" charset="-122"/>
              </a:rPr>
              <a:t>D </a:t>
            </a:r>
            <a:r>
              <a:rPr lang="zh-CN" altLang="en-US" sz="2000" dirty="0">
                <a:latin typeface="+mn-lt"/>
                <a:ea typeface="SimHei" panose="02010609060101010101" pitchFamily="49" charset="-122"/>
              </a:rPr>
              <a:t>相，搅拌均匀。</a:t>
            </a:r>
          </a:p>
        </p:txBody>
      </p:sp>
    </p:spTree>
    <p:extLst>
      <p:ext uri="{BB962C8B-B14F-4D97-AF65-F5344CB8AC3E}">
        <p14:creationId xmlns:p14="http://schemas.microsoft.com/office/powerpoint/2010/main" val="1684676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保湿霜：配方示例与工艺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71EC325-A4C7-926A-5BB3-E5299F469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995496"/>
              </p:ext>
            </p:extLst>
          </p:nvPr>
        </p:nvGraphicFramePr>
        <p:xfrm>
          <a:off x="182880" y="1043686"/>
          <a:ext cx="8778241" cy="345694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691745">
                  <a:extLst>
                    <a:ext uri="{9D8B030D-6E8A-4147-A177-3AD203B41FA5}">
                      <a16:colId xmlns:a16="http://schemas.microsoft.com/office/drawing/2014/main" val="1072921081"/>
                    </a:ext>
                  </a:extLst>
                </a:gridCol>
                <a:gridCol w="2137491">
                  <a:extLst>
                    <a:ext uri="{9D8B030D-6E8A-4147-A177-3AD203B41FA5}">
                      <a16:colId xmlns:a16="http://schemas.microsoft.com/office/drawing/2014/main" val="4067279601"/>
                    </a:ext>
                  </a:extLst>
                </a:gridCol>
                <a:gridCol w="1058370">
                  <a:extLst>
                    <a:ext uri="{9D8B030D-6E8A-4147-A177-3AD203B41FA5}">
                      <a16:colId xmlns:a16="http://schemas.microsoft.com/office/drawing/2014/main" val="2099240363"/>
                    </a:ext>
                  </a:extLst>
                </a:gridCol>
                <a:gridCol w="1964555">
                  <a:extLst>
                    <a:ext uri="{9D8B030D-6E8A-4147-A177-3AD203B41FA5}">
                      <a16:colId xmlns:a16="http://schemas.microsoft.com/office/drawing/2014/main" val="3026743155"/>
                    </a:ext>
                  </a:extLst>
                </a:gridCol>
                <a:gridCol w="1964555">
                  <a:extLst>
                    <a:ext uri="{9D8B030D-6E8A-4147-A177-3AD203B41FA5}">
                      <a16:colId xmlns:a16="http://schemas.microsoft.com/office/drawing/2014/main" val="1932770660"/>
                    </a:ext>
                  </a:extLst>
                </a:gridCol>
                <a:gridCol w="961525">
                  <a:extLst>
                    <a:ext uri="{9D8B030D-6E8A-4147-A177-3AD203B41FA5}">
                      <a16:colId xmlns:a16="http://schemas.microsoft.com/office/drawing/2014/main" val="2641915686"/>
                    </a:ext>
                  </a:extLst>
                </a:gridCol>
              </a:tblGrid>
              <a:tr h="256540">
                <a:tc>
                  <a:txBody>
                    <a:bodyPr/>
                    <a:lstStyle/>
                    <a:p>
                      <a:pPr marL="107950" marR="0" eaLnBrk="0">
                        <a:lnSpc>
                          <a:spcPct val="92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zh-CN" sz="1600" spc="45">
                          <a:effectLst/>
                          <a:latin typeface="+mn-lt"/>
                          <a:ea typeface="SimHei" panose="02010609060101010101" pitchFamily="49" charset="-122"/>
                        </a:rPr>
                        <a:t>组相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2310" marR="0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600" spc="1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原料名称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175" marR="0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质量分数</a:t>
                      </a:r>
                      <a:r>
                        <a:rPr lang="en-US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/%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5260" marR="0" eaLnBrk="0">
                        <a:lnSpc>
                          <a:spcPct val="92000"/>
                        </a:lnSpc>
                        <a:spcBef>
                          <a:spcPts val="480"/>
                        </a:spcBef>
                        <a:spcAft>
                          <a:spcPts val="0"/>
                        </a:spcAft>
                      </a:pPr>
                      <a:r>
                        <a:rPr lang="zh-CN" sz="1600" spc="45">
                          <a:effectLst/>
                          <a:latin typeface="+mn-lt"/>
                          <a:ea typeface="SimHei" panose="02010609060101010101" pitchFamily="49" charset="-122"/>
                        </a:rPr>
                        <a:t>组相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6110" marR="0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600" spc="10">
                          <a:effectLst/>
                          <a:latin typeface="+mn-lt"/>
                          <a:ea typeface="SimHei" panose="02010609060101010101" pitchFamily="49" charset="-122"/>
                        </a:rPr>
                        <a:t>原料名称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360" marR="0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质量分数</a:t>
                      </a:r>
                      <a:r>
                        <a:rPr lang="en-US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/%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6197592"/>
                  </a:ext>
                </a:extLst>
              </a:tr>
              <a:tr h="1527175">
                <a:tc rowSpan="3">
                  <a:txBody>
                    <a:bodyPr/>
                    <a:lstStyle/>
                    <a:p>
                      <a:pPr marL="0" marR="0" eaLnBrk="0">
                        <a:lnSpc>
                          <a:spcPct val="11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1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145415" marR="0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600" spc="-5">
                          <a:effectLst/>
                          <a:latin typeface="+mn-lt"/>
                          <a:ea typeface="SimHei" panose="02010609060101010101" pitchFamily="49" charset="-122"/>
                        </a:rPr>
                        <a:t>A</a:t>
                      </a:r>
                      <a:r>
                        <a:rPr lang="zh-CN" sz="1600" spc="-5">
                          <a:effectLst/>
                          <a:latin typeface="+mn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245110" marR="0" eaLnBrk="0">
                        <a:lnSpc>
                          <a:spcPts val="1995"/>
                        </a:lnSpc>
                        <a:spcBef>
                          <a:spcPts val="550"/>
                        </a:spcBef>
                        <a:spcAft>
                          <a:spcPts val="0"/>
                        </a:spcAft>
                      </a:pPr>
                      <a:r>
                        <a:rPr lang="zh-CN" sz="1600" spc="5">
                          <a:effectLst/>
                          <a:latin typeface="+mn-lt"/>
                          <a:ea typeface="SimHei" panose="02010609060101010101" pitchFamily="49" charset="-122"/>
                        </a:rPr>
                        <a:t>辛酸癸酸三甘油酯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45110" marR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合成角鲨烷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99060" marR="248285" indent="145415" eaLnBrk="0">
                        <a:lnSpc>
                          <a:spcPct val="93000"/>
                        </a:lnSpc>
                        <a:spcBef>
                          <a:spcPts val="1205"/>
                        </a:spcBef>
                        <a:spcAft>
                          <a:spcPts val="0"/>
                        </a:spcAft>
                      </a:pPr>
                      <a:r>
                        <a:rPr lang="zh-CN" sz="1600" spc="-5">
                          <a:effectLst/>
                          <a:latin typeface="+mn-lt"/>
                          <a:ea typeface="SimHei" panose="02010609060101010101" pitchFamily="49" charset="-122"/>
                        </a:rPr>
                        <a:t>甘油硬脂酸酯和</a:t>
                      </a:r>
                      <a:r>
                        <a:rPr lang="en-US" sz="1600" spc="-5">
                          <a:effectLst/>
                          <a:latin typeface="+mn-lt"/>
                          <a:ea typeface="SimHei" panose="02010609060101010101" pitchFamily="49" charset="-122"/>
                        </a:rPr>
                        <a:t>PEG-100</a:t>
                      </a:r>
                      <a:r>
                        <a:rPr lang="en-US" sz="1600" spc="25">
                          <a:effectLst/>
                          <a:latin typeface="+mn-lt"/>
                          <a:ea typeface="SimHei" panose="02010609060101010101" pitchFamily="49" charset="-122"/>
                        </a:rPr>
                        <a:t> </a:t>
                      </a:r>
                      <a:r>
                        <a:rPr lang="zh-CN" sz="1600" spc="15">
                          <a:effectLst/>
                          <a:latin typeface="+mn-lt"/>
                          <a:ea typeface="SimHei" panose="02010609060101010101" pitchFamily="49" charset="-122"/>
                        </a:rPr>
                        <a:t>硬脂酸酯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45110" marR="0" eaLnBrk="0">
                        <a:lnSpc>
                          <a:spcPct val="91000"/>
                        </a:lnSpc>
                        <a:spcBef>
                          <a:spcPts val="780"/>
                        </a:spcBef>
                        <a:spcAft>
                          <a:spcPts val="0"/>
                        </a:spcAft>
                      </a:pPr>
                      <a:r>
                        <a:rPr lang="zh-CN" sz="1600" spc="20">
                          <a:effectLst/>
                          <a:latin typeface="+mn-lt"/>
                          <a:ea typeface="SimHei" panose="02010609060101010101" pitchFamily="49" charset="-122"/>
                        </a:rPr>
                        <a:t>单甘酯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45110" marR="0" eaLnBrk="0">
                        <a:lnSpc>
                          <a:spcPct val="91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</a:pPr>
                      <a:r>
                        <a:rPr lang="zh-CN" sz="1600" spc="10">
                          <a:effectLst/>
                          <a:latin typeface="+mn-lt"/>
                          <a:ea typeface="SimHei" panose="02010609060101010101" pitchFamily="49" charset="-122"/>
                        </a:rPr>
                        <a:t>棕榈酸异丙酯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45110" marR="0" eaLnBrk="0">
                        <a:lnSpc>
                          <a:spcPct val="92000"/>
                        </a:lnSpc>
                        <a:spcBef>
                          <a:spcPts val="710"/>
                        </a:spcBef>
                        <a:spcAft>
                          <a:spcPts val="0"/>
                        </a:spcAft>
                      </a:pPr>
                      <a:r>
                        <a:rPr lang="zh-CN" sz="1600" spc="20">
                          <a:effectLst/>
                          <a:latin typeface="+mn-lt"/>
                          <a:ea typeface="SimHei" panose="02010609060101010101" pitchFamily="49" charset="-122"/>
                        </a:rPr>
                        <a:t>二甲基硅油</a:t>
                      </a:r>
                      <a:r>
                        <a:rPr lang="en-US" sz="1600" spc="20">
                          <a:effectLst/>
                          <a:latin typeface="+mn-lt"/>
                          <a:ea typeface="SimHei" panose="02010609060101010101" pitchFamily="49" charset="-122"/>
                        </a:rPr>
                        <a:t>(100</a:t>
                      </a: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cs</a:t>
                      </a:r>
                      <a:r>
                        <a:rPr lang="en-US" sz="1600" spc="20">
                          <a:effectLst/>
                          <a:latin typeface="+mn-lt"/>
                          <a:ea typeface="SimHei" panose="02010609060101010101" pitchFamily="49" charset="-122"/>
                        </a:rPr>
                        <a:t>)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45110" marR="0" eaLnBrk="0">
                        <a:lnSpc>
                          <a:spcPct val="91000"/>
                        </a:lnSpc>
                        <a:spcBef>
                          <a:spcPts val="660"/>
                        </a:spcBef>
                        <a:spcAft>
                          <a:spcPts val="0"/>
                        </a:spcAft>
                      </a:pPr>
                      <a:r>
                        <a:rPr lang="zh-CN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鲸蜡硬脂醇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45110" marR="0" eaLnBrk="0">
                        <a:lnSpc>
                          <a:spcPct val="91000"/>
                        </a:lnSpc>
                        <a:spcBef>
                          <a:spcPts val="745"/>
                        </a:spcBef>
                        <a:spcAft>
                          <a:spcPts val="0"/>
                        </a:spcAft>
                      </a:pPr>
                      <a:r>
                        <a:rPr lang="zh-CN" sz="1600" spc="25">
                          <a:effectLst/>
                          <a:latin typeface="+mn-lt"/>
                          <a:ea typeface="SimHei" panose="02010609060101010101" pitchFamily="49" charset="-122"/>
                        </a:rPr>
                        <a:t>乳木果油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339725" marR="0" eaLnBrk="0">
                        <a:lnSpc>
                          <a:spcPts val="2100"/>
                        </a:lnSpc>
                        <a:spcBef>
                          <a:spcPts val="880"/>
                        </a:spcBef>
                        <a:spcAft>
                          <a:spcPts val="0"/>
                        </a:spcAft>
                      </a:pPr>
                      <a:r>
                        <a:rPr lang="en-US" sz="1600" spc="-15">
                          <a:effectLst/>
                          <a:latin typeface="+mn-lt"/>
                          <a:ea typeface="SimHei" panose="02010609060101010101" pitchFamily="49" charset="-122"/>
                        </a:rPr>
                        <a:t>5.00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4.00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0" marR="0" eaLnBrk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600" spc="-15">
                          <a:effectLst/>
                          <a:latin typeface="+mn-lt"/>
                          <a:ea typeface="SimHei" panose="02010609060101010101" pitchFamily="49" charset="-122"/>
                        </a:rPr>
                        <a:t>2.50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0" marR="0" eaLnBrk="0">
                        <a:lnSpc>
                          <a:spcPct val="12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339725" marR="0" eaLnBrk="0">
                        <a:lnSpc>
                          <a:spcPts val="205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0.50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5">
                          <a:effectLst/>
                          <a:latin typeface="+mn-lt"/>
                          <a:ea typeface="SimHei" panose="02010609060101010101" pitchFamily="49" charset="-122"/>
                        </a:rPr>
                        <a:t>2.00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95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  <a:latin typeface="+mn-lt"/>
                          <a:ea typeface="SimHei" panose="02010609060101010101" pitchFamily="49" charset="-122"/>
                        </a:rPr>
                        <a:t>1.00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  <a:latin typeface="+mn-lt"/>
                          <a:ea typeface="SimHei" panose="02010609060101010101" pitchFamily="49" charset="-122"/>
                        </a:rPr>
                        <a:t>1.50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955"/>
                        </a:spcBef>
                        <a:spcAft>
                          <a:spcPts val="0"/>
                        </a:spcAft>
                      </a:pPr>
                      <a:r>
                        <a:rPr lang="en-US" sz="1600" spc="-25">
                          <a:effectLst/>
                          <a:latin typeface="+mn-lt"/>
                          <a:ea typeface="SimHei" panose="02010609060101010101" pitchFamily="49" charset="-122"/>
                        </a:rPr>
                        <a:t>1.00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207010" marR="0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600" spc="45">
                          <a:effectLst/>
                          <a:latin typeface="+mn-lt"/>
                          <a:ea typeface="SimHei" panose="02010609060101010101" pitchFamily="49" charset="-122"/>
                        </a:rPr>
                        <a:t>B</a:t>
                      </a:r>
                      <a:r>
                        <a:rPr lang="zh-CN" sz="1600" spc="45">
                          <a:effectLst/>
                          <a:latin typeface="+mn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 marR="0" eaLnBrk="0">
                        <a:lnSpc>
                          <a:spcPct val="91000"/>
                        </a:lnSpc>
                        <a:spcBef>
                          <a:spcPts val="350"/>
                        </a:spcBef>
                        <a:spcAft>
                          <a:spcPts val="0"/>
                        </a:spcAft>
                      </a:pPr>
                      <a:r>
                        <a:rPr lang="zh-CN" sz="1600" spc="55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甘油</a:t>
                      </a:r>
                      <a:endParaRPr lang="en-US" sz="1600" dirty="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19710" marR="0" eaLnBrk="0">
                        <a:lnSpc>
                          <a:spcPct val="91000"/>
                        </a:lnSpc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zh-CN" sz="1600" spc="1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卡波</a:t>
                      </a:r>
                      <a:r>
                        <a:rPr lang="en-US" sz="1600" spc="1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940</a:t>
                      </a:r>
                      <a:endParaRPr lang="en-US" sz="1600" dirty="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19710" marR="0" eaLnBrk="0">
                        <a:lnSpc>
                          <a:spcPct val="91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</a:pPr>
                      <a:r>
                        <a:rPr lang="zh-CN" sz="1600" spc="-1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透明质酸钠</a:t>
                      </a:r>
                      <a:endParaRPr lang="en-US" sz="1600" dirty="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111760" marR="27305" indent="114300" eaLnBrk="0">
                        <a:lnSpc>
                          <a:spcPct val="108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</a:pPr>
                      <a:r>
                        <a:rPr lang="zh-CN" sz="1600" spc="8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聚丙烯酰胺、</a:t>
                      </a:r>
                      <a:r>
                        <a:rPr lang="en-US" sz="160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C</a:t>
                      </a:r>
                      <a:r>
                        <a:rPr lang="en-US" sz="1600" baseline="-2500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13</a:t>
                      </a:r>
                      <a:r>
                        <a:rPr lang="en-US" sz="1600" spc="-155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 </a:t>
                      </a:r>
                      <a:r>
                        <a:rPr lang="en-US" sz="1600" spc="8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~C₁</a:t>
                      </a:r>
                      <a:r>
                        <a:rPr lang="en-US" sz="1600" spc="80" baseline="-2500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4</a:t>
                      </a:r>
                      <a:r>
                        <a:rPr lang="zh-CN" sz="1600" spc="8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异</a:t>
                      </a:r>
                      <a:r>
                        <a:rPr lang="zh-CN" sz="160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 </a:t>
                      </a:r>
                      <a:r>
                        <a:rPr lang="zh-CN" sz="1600" spc="1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链烷烃和月桂醇聚醚</a:t>
                      </a:r>
                      <a:r>
                        <a:rPr lang="en-US" sz="1600" spc="1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-7</a:t>
                      </a:r>
                      <a:endParaRPr lang="en-US" sz="1600" dirty="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19710" marR="0" eaLnBrk="0">
                        <a:lnSpc>
                          <a:spcPct val="91000"/>
                        </a:lnSpc>
                        <a:spcBef>
                          <a:spcPts val="745"/>
                        </a:spcBef>
                        <a:spcAft>
                          <a:spcPts val="0"/>
                        </a:spcAft>
                      </a:pPr>
                      <a:r>
                        <a:rPr lang="zh-CN" sz="160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水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5910" marR="0" eaLnBrk="0">
                        <a:lnSpc>
                          <a:spcPts val="2100"/>
                        </a:lnSpc>
                        <a:spcBef>
                          <a:spcPts val="780"/>
                        </a:spcBef>
                        <a:spcAft>
                          <a:spcPts val="0"/>
                        </a:spcAft>
                      </a:pPr>
                      <a:r>
                        <a:rPr lang="en-US" sz="1600" spc="-15">
                          <a:effectLst/>
                          <a:latin typeface="+mn-lt"/>
                          <a:ea typeface="SimHei" panose="02010609060101010101" pitchFamily="49" charset="-122"/>
                        </a:rPr>
                        <a:t>3.00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95910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0.30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95910" marR="0" eaLnBrk="0">
                        <a:lnSpc>
                          <a:spcPct val="76000"/>
                        </a:lnSpc>
                        <a:spcBef>
                          <a:spcPts val="9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0.03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0" marR="0" ea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295910" marR="0" eaLnBrk="0">
                        <a:lnSpc>
                          <a:spcPct val="76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0.50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0" marR="0" eaLnBrk="0">
                        <a:lnSpc>
                          <a:spcPct val="10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194310" marR="0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zh-CN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加至</a:t>
                      </a:r>
                      <a:r>
                        <a:rPr lang="en-US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100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761417741"/>
                  </a:ext>
                </a:extLst>
              </a:tr>
              <a:tr h="2533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07010" marR="0" eaLnBrk="0">
                        <a:lnSpc>
                          <a:spcPct val="92000"/>
                        </a:lnSpc>
                        <a:spcBef>
                          <a:spcPts val="485"/>
                        </a:spcBef>
                        <a:spcAft>
                          <a:spcPts val="0"/>
                        </a:spcAft>
                      </a:pPr>
                      <a:r>
                        <a:rPr lang="en-US" sz="1600" spc="45">
                          <a:effectLst/>
                          <a:latin typeface="+mn-lt"/>
                          <a:ea typeface="SimHei" panose="02010609060101010101" pitchFamily="49" charset="-122"/>
                        </a:rPr>
                        <a:t>C</a:t>
                      </a:r>
                      <a:r>
                        <a:rPr lang="zh-CN" sz="1600" spc="45">
                          <a:effectLst/>
                          <a:latin typeface="+mn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9710" marR="0" eaLnBrk="0">
                        <a:lnSpc>
                          <a:spcPct val="91000"/>
                        </a:lnSpc>
                        <a:spcBef>
                          <a:spcPts val="475"/>
                        </a:spcBef>
                        <a:spcAft>
                          <a:spcPts val="0"/>
                        </a:spcAft>
                      </a:pPr>
                      <a:r>
                        <a:rPr lang="zh-CN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氨甲基丙醇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5910" marR="0" eaLnBrk="0">
                        <a:lnSpc>
                          <a:spcPct val="76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+mn-lt"/>
                          <a:ea typeface="SimHei" panose="02010609060101010101" pitchFamily="49" charset="-122"/>
                        </a:rPr>
                        <a:t>0.15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67067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eaLnBrk="0">
                        <a:lnSpc>
                          <a:spcPct val="1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207010" marR="0" eaLnBrk="0">
                        <a:lnSpc>
                          <a:spcPct val="92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600" spc="45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D</a:t>
                      </a:r>
                      <a:r>
                        <a:rPr lang="zh-CN" sz="1600" spc="45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219710" marR="0" eaLnBrk="0">
                        <a:lnSpc>
                          <a:spcPct val="91000"/>
                        </a:lnSpc>
                        <a:spcBef>
                          <a:spcPts val="1270"/>
                        </a:spcBef>
                        <a:spcAft>
                          <a:spcPts val="0"/>
                        </a:spcAft>
                      </a:pPr>
                      <a:r>
                        <a:rPr lang="zh-CN" sz="1600" spc="25">
                          <a:effectLst/>
                          <a:latin typeface="+mn-lt"/>
                          <a:ea typeface="SimHei" panose="02010609060101010101" pitchFamily="49" charset="-122"/>
                        </a:rPr>
                        <a:t>香精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19710" marR="0" eaLnBrk="0">
                        <a:lnSpc>
                          <a:spcPct val="91000"/>
                        </a:lnSpc>
                        <a:spcBef>
                          <a:spcPts val="945"/>
                        </a:spcBef>
                        <a:spcAft>
                          <a:spcPts val="0"/>
                        </a:spcAft>
                      </a:pPr>
                      <a:r>
                        <a:rPr lang="zh-CN" sz="1600" spc="20">
                          <a:effectLst/>
                          <a:latin typeface="+mn-lt"/>
                          <a:ea typeface="SimHei" panose="02010609060101010101" pitchFamily="49" charset="-122"/>
                        </a:rPr>
                        <a:t>防腐剂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295910" marR="0" eaLnBrk="0">
                        <a:lnSpc>
                          <a:spcPts val="2250"/>
                        </a:lnSpc>
                        <a:spcBef>
                          <a:spcPts val="1310"/>
                        </a:spcBef>
                        <a:spcAft>
                          <a:spcPts val="0"/>
                        </a:spcAft>
                      </a:pPr>
                      <a:r>
                        <a:rPr lang="zh-CN" sz="1600" spc="-15">
                          <a:effectLst/>
                          <a:latin typeface="+mn-lt"/>
                          <a:ea typeface="SimHei" panose="02010609060101010101" pitchFamily="49" charset="-122"/>
                        </a:rPr>
                        <a:t>适量</a:t>
                      </a:r>
                      <a:endParaRPr lang="en-US" sz="1600"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  <a:p>
                      <a:pPr marL="295910" marR="0" eaLnBrk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spc="-15">
                          <a:effectLst/>
                          <a:latin typeface="+mn-lt"/>
                          <a:ea typeface="SimHei" panose="02010609060101010101" pitchFamily="49" charset="-122"/>
                        </a:rPr>
                        <a:t>适量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43083626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marL="145415" marR="0" eaLnBrk="0">
                        <a:lnSpc>
                          <a:spcPct val="92000"/>
                        </a:lnSpc>
                        <a:spcBef>
                          <a:spcPts val="555"/>
                        </a:spcBef>
                        <a:spcAft>
                          <a:spcPts val="0"/>
                        </a:spcAft>
                      </a:pPr>
                      <a:r>
                        <a:rPr lang="en-US" sz="1600" spc="45">
                          <a:effectLst/>
                          <a:latin typeface="+mn-lt"/>
                          <a:ea typeface="SimHei" panose="02010609060101010101" pitchFamily="49" charset="-122"/>
                        </a:rPr>
                        <a:t>B</a:t>
                      </a:r>
                      <a:r>
                        <a:rPr lang="zh-CN" sz="1600" spc="45">
                          <a:effectLst/>
                          <a:latin typeface="+mn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5110" marR="0" eaLnBrk="0">
                        <a:lnSpc>
                          <a:spcPct val="91000"/>
                        </a:lnSpc>
                        <a:spcBef>
                          <a:spcPts val="540"/>
                        </a:spcBef>
                        <a:spcAft>
                          <a:spcPts val="0"/>
                        </a:spcAft>
                      </a:pPr>
                      <a:r>
                        <a:rPr lang="zh-CN" sz="1600" spc="15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丙二醇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82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+mn-lt"/>
                          <a:ea typeface="SimHei" panose="02010609060101010101" pitchFamily="49" charset="-122"/>
                        </a:rPr>
                        <a:t>4.00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n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06452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45FC95FB-458B-37C7-6F9D-E4D4976815CA}"/>
              </a:ext>
            </a:extLst>
          </p:cNvPr>
          <p:cNvSpPr txBox="1"/>
          <p:nvPr/>
        </p:nvSpPr>
        <p:spPr>
          <a:xfrm>
            <a:off x="182880" y="4576919"/>
            <a:ext cx="8778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 分别将 </a:t>
            </a:r>
            <a:r>
              <a:rPr lang="en-US" altLang="zh-CN" dirty="0"/>
              <a:t>A </a:t>
            </a:r>
            <a:r>
              <a:rPr lang="zh-CN" altLang="en-US" dirty="0"/>
              <a:t>相中各组分加入容器 </a:t>
            </a:r>
            <a:r>
              <a:rPr lang="en-US" altLang="zh-CN" dirty="0"/>
              <a:t>A </a:t>
            </a:r>
            <a:r>
              <a:rPr lang="zh-CN" altLang="en-US" dirty="0"/>
              <a:t>中，加热到</a:t>
            </a:r>
            <a:r>
              <a:rPr lang="en-US" altLang="zh-CN" dirty="0"/>
              <a:t>80℃;</a:t>
            </a:r>
          </a:p>
          <a:p>
            <a:r>
              <a:rPr lang="en-US" altLang="zh-CN" dirty="0"/>
              <a:t>② </a:t>
            </a:r>
            <a:r>
              <a:rPr lang="zh-CN" altLang="en-US" dirty="0"/>
              <a:t>同时将 </a:t>
            </a:r>
            <a:r>
              <a:rPr lang="en-US" altLang="zh-CN" dirty="0"/>
              <a:t>B </a:t>
            </a:r>
            <a:r>
              <a:rPr lang="zh-CN" altLang="en-US" dirty="0"/>
              <a:t>相中各组分加入容器 </a:t>
            </a:r>
            <a:r>
              <a:rPr lang="en-US" altLang="zh-CN" dirty="0"/>
              <a:t>B  </a:t>
            </a:r>
            <a:r>
              <a:rPr lang="zh-CN" altLang="en-US" dirty="0"/>
              <a:t>中，加热到</a:t>
            </a:r>
            <a:r>
              <a:rPr lang="en-US" altLang="zh-CN" dirty="0"/>
              <a:t>90℃(</a:t>
            </a:r>
            <a:r>
              <a:rPr lang="zh-CN" altLang="en-US" dirty="0"/>
              <a:t>透明质酸和卡波</a:t>
            </a:r>
            <a:r>
              <a:rPr lang="en-US" altLang="zh-CN" dirty="0"/>
              <a:t>940</a:t>
            </a:r>
            <a:r>
              <a:rPr lang="zh-CN" altLang="en-US" dirty="0"/>
              <a:t>用甘油和丙二醇预分散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③ </a:t>
            </a:r>
            <a:r>
              <a:rPr lang="zh-CN" altLang="en-US" dirty="0"/>
              <a:t>将 </a:t>
            </a:r>
            <a:r>
              <a:rPr lang="en-US" altLang="zh-CN" dirty="0"/>
              <a:t>A </a:t>
            </a:r>
            <a:r>
              <a:rPr lang="zh-CN" altLang="en-US" dirty="0"/>
              <a:t>相加入 </a:t>
            </a:r>
            <a:r>
              <a:rPr lang="en-US" altLang="zh-CN" dirty="0"/>
              <a:t>B </a:t>
            </a:r>
            <a:r>
              <a:rPr lang="zh-CN" altLang="en-US" dirty="0"/>
              <a:t>相均质</a:t>
            </a:r>
            <a:r>
              <a:rPr lang="en-US" altLang="zh-CN" dirty="0"/>
              <a:t>3 min;</a:t>
            </a:r>
          </a:p>
          <a:p>
            <a:r>
              <a:rPr lang="en-US" altLang="zh-CN" dirty="0"/>
              <a:t>④ </a:t>
            </a:r>
            <a:r>
              <a:rPr lang="zh-CN" altLang="en-US" dirty="0"/>
              <a:t>然后，将 </a:t>
            </a:r>
            <a:r>
              <a:rPr lang="en-US" altLang="zh-CN" dirty="0"/>
              <a:t>C </a:t>
            </a:r>
            <a:r>
              <a:rPr lang="zh-CN" altLang="en-US" dirty="0"/>
              <a:t>相组分加入，均质</a:t>
            </a:r>
            <a:r>
              <a:rPr lang="en-US" altLang="zh-CN" dirty="0"/>
              <a:t>2 min;</a:t>
            </a:r>
          </a:p>
          <a:p>
            <a:r>
              <a:rPr lang="en-US" altLang="zh-CN" dirty="0"/>
              <a:t>⑤ </a:t>
            </a:r>
            <a:r>
              <a:rPr lang="zh-CN" altLang="en-US" dirty="0"/>
              <a:t>搅拌降温冷却，待产品冷却到</a:t>
            </a:r>
            <a:r>
              <a:rPr lang="en-US" altLang="zh-CN" dirty="0"/>
              <a:t>45℃</a:t>
            </a:r>
            <a:r>
              <a:rPr lang="zh-CN" altLang="en-US" dirty="0"/>
              <a:t>后，加入 </a:t>
            </a:r>
            <a:r>
              <a:rPr lang="en-US" altLang="zh-CN" dirty="0"/>
              <a:t>D </a:t>
            </a:r>
            <a:r>
              <a:rPr lang="zh-CN" altLang="en-US" dirty="0"/>
              <a:t>相各组分，均质 </a:t>
            </a:r>
            <a:r>
              <a:rPr lang="en-US" altLang="zh-CN" dirty="0"/>
              <a:t>2 min;</a:t>
            </a:r>
          </a:p>
          <a:p>
            <a:r>
              <a:rPr lang="en-US" altLang="zh-CN" dirty="0"/>
              <a:t>⑥ </a:t>
            </a:r>
            <a:r>
              <a:rPr lang="zh-CN" altLang="en-US" dirty="0"/>
              <a:t>继续搅拌冷却，降到室温即可。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51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粉底液、 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BB 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霜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79" y="1165614"/>
            <a:ext cx="8778240" cy="574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从配方结构上讲，粉底液、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BB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霜没有太大的差别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4F57E2E-F10F-E1D4-4CCD-C395263DC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1447699"/>
              </p:ext>
            </p:extLst>
          </p:nvPr>
        </p:nvGraphicFramePr>
        <p:xfrm>
          <a:off x="182880" y="2035904"/>
          <a:ext cx="8778239" cy="379895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58724">
                  <a:extLst>
                    <a:ext uri="{9D8B030D-6E8A-4147-A177-3AD203B41FA5}">
                      <a16:colId xmlns:a16="http://schemas.microsoft.com/office/drawing/2014/main" val="2122106768"/>
                    </a:ext>
                  </a:extLst>
                </a:gridCol>
                <a:gridCol w="3887992">
                  <a:extLst>
                    <a:ext uri="{9D8B030D-6E8A-4147-A177-3AD203B41FA5}">
                      <a16:colId xmlns:a16="http://schemas.microsoft.com/office/drawing/2014/main" val="2361861107"/>
                    </a:ext>
                  </a:extLst>
                </a:gridCol>
                <a:gridCol w="3531523">
                  <a:extLst>
                    <a:ext uri="{9D8B030D-6E8A-4147-A177-3AD203B41FA5}">
                      <a16:colId xmlns:a16="http://schemas.microsoft.com/office/drawing/2014/main" val="39836257"/>
                    </a:ext>
                  </a:extLst>
                </a:gridCol>
              </a:tblGrid>
              <a:tr h="300990">
                <a:tc>
                  <a:txBody>
                    <a:bodyPr/>
                    <a:lstStyle/>
                    <a:p>
                      <a:pPr marL="240665" marR="0" algn="ctr" eaLnBrk="0">
                        <a:lnSpc>
                          <a:spcPct val="91000"/>
                        </a:lnSpc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结构成分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9675" marR="0" algn="ctr" eaLnBrk="0">
                        <a:lnSpc>
                          <a:spcPct val="92000"/>
                        </a:lnSpc>
                        <a:spcBef>
                          <a:spcPts val="675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主要功能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12825" marR="0" algn="ctr" eaLnBrk="0">
                        <a:lnSpc>
                          <a:spcPct val="91000"/>
                        </a:lnSpc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代表性原料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89679106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marL="88265" marR="0" algn="ctr" eaLnBrk="0">
                        <a:lnSpc>
                          <a:spcPct val="92000"/>
                        </a:lnSpc>
                        <a:spcBef>
                          <a:spcPts val="1155"/>
                        </a:spcBef>
                        <a:spcAft>
                          <a:spcPts val="0"/>
                        </a:spcAft>
                      </a:pPr>
                      <a:r>
                        <a:rPr lang="zh-CN" sz="1800" spc="25">
                          <a:effectLst/>
                        </a:rPr>
                        <a:t>油脂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8125" marR="0" algn="ctr" eaLnBrk="0">
                        <a:lnSpc>
                          <a:spcPct val="91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zh-CN" sz="1800" spc="-5">
                          <a:effectLst/>
                        </a:rPr>
                        <a:t>赋予皮肤柔软性、润滑性、铺展性、渗透性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125" marR="0" indent="135890" algn="ctr" eaLnBrk="0">
                        <a:lnSpc>
                          <a:spcPct val="98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</a:pPr>
                      <a:r>
                        <a:rPr lang="zh-CN" sz="1800" spc="20">
                          <a:effectLst/>
                        </a:rPr>
                        <a:t>各种植物油、三甘油酯、支链脂肪醇类、</a:t>
                      </a:r>
                      <a:r>
                        <a:rPr lang="zh-CN" sz="1800" spc="45">
                          <a:effectLst/>
                        </a:rPr>
                        <a:t> </a:t>
                      </a:r>
                      <a:r>
                        <a:rPr lang="zh-CN" sz="1800" spc="15">
                          <a:effectLst/>
                        </a:rPr>
                        <a:t>支链脂肪酸酯、硅油等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869689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88265" marR="0" algn="ctr" eaLnBrk="0">
                        <a:lnSpc>
                          <a:spcPct val="91000"/>
                        </a:lnSpc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zh-CN" sz="1800" spc="20">
                          <a:effectLst/>
                        </a:rPr>
                        <a:t>乳化剂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8125" marR="0" algn="ctr" eaLnBrk="0">
                        <a:lnSpc>
                          <a:spcPct val="92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zh-CN" sz="1800" spc="5">
                          <a:effectLst/>
                        </a:rPr>
                        <a:t>形成</a:t>
                      </a:r>
                      <a:r>
                        <a:rPr lang="en-US" sz="1800" spc="5">
                          <a:effectLst/>
                        </a:rPr>
                        <a:t>W/O</a:t>
                      </a:r>
                      <a:r>
                        <a:rPr lang="zh-CN" sz="1800" spc="5">
                          <a:effectLst/>
                        </a:rPr>
                        <a:t>或</a:t>
                      </a:r>
                      <a:r>
                        <a:rPr lang="en-US" sz="1800" spc="5">
                          <a:effectLst/>
                        </a:rPr>
                        <a:t>O/W</a:t>
                      </a:r>
                      <a:r>
                        <a:rPr lang="zh-CN" sz="1800" spc="5">
                          <a:effectLst/>
                        </a:rPr>
                        <a:t>体系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775" marR="0" algn="ctr" eaLnBrk="0">
                        <a:lnSpc>
                          <a:spcPct val="91000"/>
                        </a:lnSpc>
                        <a:spcBef>
                          <a:spcPts val="595"/>
                        </a:spcBef>
                        <a:spcAft>
                          <a:spcPts val="0"/>
                        </a:spcAft>
                      </a:pPr>
                      <a:r>
                        <a:rPr lang="zh-CN" sz="1800">
                          <a:effectLst/>
                        </a:rPr>
                        <a:t>非离子表面活性剂、阴离子表面活性剂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10612591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marL="88265" marR="0" algn="ctr" eaLnBrk="0">
                        <a:lnSpc>
                          <a:spcPct val="91000"/>
                        </a:lnSpc>
                        <a:spcBef>
                          <a:spcPts val="1150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流变调节剂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 marR="0" indent="142240" algn="ctr" eaLnBrk="0">
                        <a:lnSpc>
                          <a:spcPct val="95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</a:pPr>
                      <a:r>
                        <a:rPr lang="zh-CN" sz="1800" spc="25">
                          <a:effectLst/>
                        </a:rPr>
                        <a:t>分散和悬浮作用、增加稳定性、调节流变性、 </a:t>
                      </a:r>
                      <a:r>
                        <a:rPr lang="zh-CN" sz="1800" spc="30">
                          <a:effectLst/>
                        </a:rPr>
                        <a:t>改善使用感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775" marR="0" algn="ctr" eaLnBrk="0">
                        <a:lnSpc>
                          <a:spcPct val="91000"/>
                        </a:lnSpc>
                        <a:spcBef>
                          <a:spcPts val="1160"/>
                        </a:spcBef>
                        <a:spcAft>
                          <a:spcPts val="0"/>
                        </a:spcAft>
                      </a:pPr>
                      <a:r>
                        <a:rPr lang="zh-CN" sz="1800" spc="-5">
                          <a:effectLst/>
                        </a:rPr>
                        <a:t>羟乙基纤维素、汉生胶、卡波姆等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815953969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88265" marR="0" algn="ctr" eaLnBrk="0">
                        <a:lnSpc>
                          <a:spcPct val="91000"/>
                        </a:lnSpc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zh-CN" sz="1800" spc="20">
                          <a:effectLst/>
                        </a:rPr>
                        <a:t>保湿剂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8125" marR="0" algn="ctr" eaLnBrk="0">
                        <a:lnSpc>
                          <a:spcPct val="91000"/>
                        </a:lnSpc>
                        <a:spcBef>
                          <a:spcPts val="605"/>
                        </a:spcBef>
                        <a:spcAft>
                          <a:spcPts val="0"/>
                        </a:spcAft>
                      </a:pPr>
                      <a:r>
                        <a:rPr lang="zh-CN" sz="1800" spc="5">
                          <a:effectLst/>
                        </a:rPr>
                        <a:t>角质层保湿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775" marR="0" algn="ctr" eaLnBrk="0">
                        <a:lnSpc>
                          <a:spcPct val="91000"/>
                        </a:lnSpc>
                        <a:spcBef>
                          <a:spcPts val="615"/>
                        </a:spcBef>
                        <a:spcAft>
                          <a:spcPts val="0"/>
                        </a:spcAft>
                      </a:pPr>
                      <a:r>
                        <a:rPr lang="zh-CN" sz="1800" spc="5">
                          <a:effectLst/>
                        </a:rPr>
                        <a:t>多元醇及透明质酸等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72819147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88265" marR="0" algn="ctr" eaLnBrk="0">
                        <a:lnSpc>
                          <a:spcPct val="91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粉质原料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8125" marR="0" algn="ctr" eaLnBrk="0">
                        <a:lnSpc>
                          <a:spcPct val="91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</a:pPr>
                      <a:r>
                        <a:rPr lang="zh-CN" sz="1800" spc="35">
                          <a:effectLst/>
                        </a:rPr>
                        <a:t>遮盖美白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775" marR="0" algn="ctr" eaLnBrk="0">
                        <a:lnSpc>
                          <a:spcPct val="91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TiO</a:t>
                      </a:r>
                      <a:r>
                        <a:rPr lang="en-US" sz="1800" spc="135">
                          <a:effectLst/>
                        </a:rPr>
                        <a:t>₂</a:t>
                      </a:r>
                      <a:r>
                        <a:rPr lang="en-US" sz="1800" spc="-130">
                          <a:effectLst/>
                        </a:rPr>
                        <a:t> </a:t>
                      </a:r>
                      <a:r>
                        <a:rPr lang="zh-CN" sz="1800" spc="135">
                          <a:effectLst/>
                        </a:rPr>
                        <a:t>、</a:t>
                      </a:r>
                      <a:r>
                        <a:rPr lang="en-US" sz="1800">
                          <a:effectLst/>
                        </a:rPr>
                        <a:t>ZnO</a:t>
                      </a:r>
                      <a:r>
                        <a:rPr lang="zh-CN" sz="1800" spc="135">
                          <a:effectLst/>
                        </a:rPr>
                        <a:t>等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68137707"/>
                  </a:ext>
                </a:extLst>
              </a:tr>
              <a:tr h="430530">
                <a:tc>
                  <a:txBody>
                    <a:bodyPr/>
                    <a:lstStyle/>
                    <a:p>
                      <a:pPr marL="88265" marR="0" algn="ctr" eaLnBrk="0">
                        <a:lnSpc>
                          <a:spcPct val="91000"/>
                        </a:lnSpc>
                        <a:spcBef>
                          <a:spcPts val="1165"/>
                        </a:spcBef>
                        <a:spcAft>
                          <a:spcPts val="0"/>
                        </a:spcAft>
                      </a:pPr>
                      <a:r>
                        <a:rPr lang="zh-CN" sz="1800" spc="20">
                          <a:effectLst/>
                        </a:rPr>
                        <a:t>防腐剂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8125" marR="0" algn="ctr" eaLnBrk="0">
                        <a:lnSpc>
                          <a:spcPct val="91000"/>
                        </a:lnSpc>
                        <a:spcBef>
                          <a:spcPts val="117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抑制微生物生长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 marR="100330" indent="145415" algn="ctr" eaLnBrk="0">
                        <a:lnSpc>
                          <a:spcPct val="92000"/>
                        </a:lnSpc>
                        <a:spcBef>
                          <a:spcPts val="525"/>
                        </a:spcBef>
                        <a:spcAft>
                          <a:spcPts val="0"/>
                        </a:spcAft>
                      </a:pPr>
                      <a:r>
                        <a:rPr lang="zh-CN" sz="1800" spc="-5">
                          <a:effectLst/>
                        </a:rPr>
                        <a:t>尼泊金酯类、甲基异噻唑啉酮类、甲醛</a:t>
                      </a:r>
                      <a:r>
                        <a:rPr lang="zh-CN" sz="1800" spc="30">
                          <a:effectLst/>
                        </a:rPr>
                        <a:t> </a:t>
                      </a:r>
                      <a:r>
                        <a:rPr lang="zh-CN" sz="1800" spc="-5">
                          <a:effectLst/>
                        </a:rPr>
                        <a:t>释放体类、苯氧乙醇等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04297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marL="88265" marR="0" algn="ctr" eaLnBrk="0">
                        <a:lnSpc>
                          <a:spcPct val="91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zh-CN" sz="1800" spc="15">
                          <a:effectLst/>
                        </a:rPr>
                        <a:t>抗氧化剂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8125" marR="0" algn="ctr" eaLnBrk="0">
                        <a:lnSpc>
                          <a:spcPct val="9100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zh-CN" sz="1800" spc="10">
                          <a:effectLst/>
                        </a:rPr>
                        <a:t>抑制或防止产品氧化变质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775" marR="0" algn="ctr" eaLnBrk="0">
                        <a:lnSpc>
                          <a:spcPct val="91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</a:pPr>
                      <a:r>
                        <a:rPr lang="en-US" sz="1800" spc="-5">
                          <a:effectLst/>
                        </a:rPr>
                        <a:t>BHT</a:t>
                      </a:r>
                      <a:r>
                        <a:rPr lang="zh-CN" sz="1800" spc="-5">
                          <a:effectLst/>
                        </a:rPr>
                        <a:t>、</a:t>
                      </a:r>
                      <a:r>
                        <a:rPr lang="en-US" sz="1800" spc="-5">
                          <a:effectLst/>
                        </a:rPr>
                        <a:t>BHA</a:t>
                      </a:r>
                      <a:r>
                        <a:rPr lang="zh-CN" sz="1800" spc="-5">
                          <a:effectLst/>
                        </a:rPr>
                        <a:t>、生育酚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359235099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88265" marR="0" algn="ctr" eaLnBrk="0">
                        <a:lnSpc>
                          <a:spcPct val="91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</a:pPr>
                      <a:r>
                        <a:rPr lang="zh-CN" sz="1800" spc="20">
                          <a:effectLst/>
                        </a:rPr>
                        <a:t>着色剂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8125" marR="0" algn="ctr" eaLnBrk="0">
                        <a:lnSpc>
                          <a:spcPct val="91000"/>
                        </a:lnSpc>
                        <a:spcBef>
                          <a:spcPts val="590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赋予产品颜色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775" marR="0" algn="ctr" eaLnBrk="0">
                        <a:lnSpc>
                          <a:spcPct val="91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</a:pPr>
                      <a:r>
                        <a:rPr lang="zh-CN" sz="1800" spc="5">
                          <a:effectLst/>
                        </a:rPr>
                        <a:t>酸性稳定的水溶性着色剂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48366487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88265" marR="0" algn="ctr" eaLnBrk="0">
                        <a:lnSpc>
                          <a:spcPct val="91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</a:pPr>
                      <a:r>
                        <a:rPr lang="zh-CN" sz="1800" spc="-10">
                          <a:effectLst/>
                        </a:rPr>
                        <a:t>香精和香料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8125" marR="0" algn="ctr" eaLnBrk="0">
                        <a:lnSpc>
                          <a:spcPct val="92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</a:pPr>
                      <a:r>
                        <a:rPr lang="zh-CN" sz="1800" spc="25">
                          <a:effectLst/>
                        </a:rPr>
                        <a:t>赋香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1775" marR="0" algn="ctr" eaLnBrk="0">
                        <a:lnSpc>
                          <a:spcPct val="91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</a:pPr>
                      <a:r>
                        <a:rPr lang="zh-CN" sz="1800" spc="5" dirty="0">
                          <a:effectLst/>
                        </a:rPr>
                        <a:t>酸性稳定的香精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2225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11776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34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相关理论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346495"/>
            <a:ext cx="8778240" cy="3344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可见光的波长与反射：人体的皮肤基本属于非平整状态，当一束光照射到皮肤上时，由于皮肤的不平整将发生漫反射，漫反射即导致皮肤灰暗、没有光泽。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化妆品中粉质原料起到遮盖的作用，同时也提升面部皮肤对光线的定向反射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，即当一束光照射到皮肤上时，反射到观察者眼睛里的光线增多，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SimHei" panose="02010609060101010101" pitchFamily="49" charset="-122"/>
              </a:rPr>
              <a:t>看到的皮肤会有光泽、变白。</a:t>
            </a:r>
            <a:endParaRPr lang="en-US" altLang="zh-CN" sz="2400" dirty="0">
              <a:solidFill>
                <a:srgbClr val="0000FF"/>
              </a:solidFill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09976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35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相关理论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606610" y="1597191"/>
            <a:ext cx="7461065" cy="2790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粉质原料的表面润湿性：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接触角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浸润过程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浸润过程指固相浸入液体中的过程，即固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-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气界面为固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-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液界面所代替的过程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2530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36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原料选择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995986"/>
            <a:ext cx="8778240" cy="5560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无机粉体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lt"/>
                <a:ea typeface="SimHei" panose="02010609060101010101" pitchFamily="49" charset="-122"/>
              </a:rPr>
              <a:t>滑石粉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是天然矿产的含水硅酸镁，性柔软，易粉碎成白色或灰白色细粉，主要成分是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3MgO ·4SiO₂ ·H₂O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。 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lt"/>
                <a:ea typeface="SimHei" panose="02010609060101010101" pitchFamily="49" charset="-122"/>
              </a:rPr>
              <a:t>高岭土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又称白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陶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土或磁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瓷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土，也是天然矿产的硅酸铝，为 白色或淡黄色细粉，略带黏土气息，有油腻感，主要成分是含水硅酸铝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(2SiO₂ ·</a:t>
            </a: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Al₂O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₃ · 2H₂O)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lt"/>
                <a:ea typeface="SimHei" panose="02010609060101010101" pitchFamily="49" charset="-122"/>
              </a:rPr>
              <a:t>氧化锌</a:t>
            </a:r>
            <a:endParaRPr lang="en-US" altLang="zh-CN" sz="2400" b="1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lt"/>
                <a:ea typeface="SimHei" panose="02010609060101010101" pitchFamily="49" charset="-122"/>
              </a:rPr>
              <a:t>钛白粉</a:t>
            </a:r>
            <a:endParaRPr lang="en-US" altLang="zh-CN" sz="2400" b="1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+mn-lt"/>
                <a:ea typeface="SimHei" panose="02010609060101010101" pitchFamily="49" charset="-122"/>
              </a:rPr>
              <a:t>膨润土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又名皂土，是黏土的一种，取自天然矿产，主要成分为 </a:t>
            </a: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Al₂O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₃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与 </a:t>
            </a:r>
            <a:r>
              <a:rPr lang="en-US" altLang="zh-CN" sz="2400" dirty="0" err="1">
                <a:latin typeface="+mn-lt"/>
                <a:ea typeface="SimHei" panose="02010609060101010101" pitchFamily="49" charset="-122"/>
              </a:rPr>
              <a:t>SiO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₂, 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为胶体性硅酸铝。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2241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37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原料选择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165614"/>
            <a:ext cx="8778240" cy="2236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有机粉体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有机粉体原料，如聚苯乙烯、尼龙粉体、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PMMA 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粉体以及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PMMA 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粉体与其他物质形成的共聚合粉体在化妆品中广泛应用。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17205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38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轻盈保湿 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BB 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霜 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(O/W 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型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：配方示例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B2A5CA3-3886-03F0-6567-78C50D814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999725"/>
              </p:ext>
            </p:extLst>
          </p:nvPr>
        </p:nvGraphicFramePr>
        <p:xfrm>
          <a:off x="182880" y="1536731"/>
          <a:ext cx="8778238" cy="3784537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672497">
                  <a:extLst>
                    <a:ext uri="{9D8B030D-6E8A-4147-A177-3AD203B41FA5}">
                      <a16:colId xmlns:a16="http://schemas.microsoft.com/office/drawing/2014/main" val="837019162"/>
                    </a:ext>
                  </a:extLst>
                </a:gridCol>
                <a:gridCol w="2389513">
                  <a:extLst>
                    <a:ext uri="{9D8B030D-6E8A-4147-A177-3AD203B41FA5}">
                      <a16:colId xmlns:a16="http://schemas.microsoft.com/office/drawing/2014/main" val="1900745187"/>
                    </a:ext>
                  </a:extLst>
                </a:gridCol>
                <a:gridCol w="1094597">
                  <a:extLst>
                    <a:ext uri="{9D8B030D-6E8A-4147-A177-3AD203B41FA5}">
                      <a16:colId xmlns:a16="http://schemas.microsoft.com/office/drawing/2014/main" val="817895334"/>
                    </a:ext>
                  </a:extLst>
                </a:gridCol>
                <a:gridCol w="1802865">
                  <a:extLst>
                    <a:ext uri="{9D8B030D-6E8A-4147-A177-3AD203B41FA5}">
                      <a16:colId xmlns:a16="http://schemas.microsoft.com/office/drawing/2014/main" val="2494975465"/>
                    </a:ext>
                  </a:extLst>
                </a:gridCol>
                <a:gridCol w="1802865">
                  <a:extLst>
                    <a:ext uri="{9D8B030D-6E8A-4147-A177-3AD203B41FA5}">
                      <a16:colId xmlns:a16="http://schemas.microsoft.com/office/drawing/2014/main" val="513673044"/>
                    </a:ext>
                  </a:extLst>
                </a:gridCol>
                <a:gridCol w="1015901">
                  <a:extLst>
                    <a:ext uri="{9D8B030D-6E8A-4147-A177-3AD203B41FA5}">
                      <a16:colId xmlns:a16="http://schemas.microsoft.com/office/drawing/2014/main" val="418390651"/>
                    </a:ext>
                  </a:extLst>
                </a:gridCol>
              </a:tblGrid>
              <a:tr h="250825">
                <a:tc>
                  <a:txBody>
                    <a:bodyPr/>
                    <a:lstStyle/>
                    <a:p>
                      <a:pPr marL="120650" marR="0" eaLnBrk="0">
                        <a:lnSpc>
                          <a:spcPct val="92000"/>
                        </a:lnSpc>
                        <a:spcBef>
                          <a:spcPts val="485"/>
                        </a:spcBef>
                        <a:spcAft>
                          <a:spcPts val="0"/>
                        </a:spcAft>
                      </a:pPr>
                      <a:r>
                        <a:rPr lang="zh-CN" sz="1600" spc="40">
                          <a:effectLst/>
                          <a:latin typeface="+mj-lt"/>
                          <a:ea typeface="SimHei" panose="02010609060101010101" pitchFamily="49" charset="-122"/>
                        </a:rPr>
                        <a:t>组相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3590" marR="0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600" spc="10">
                          <a:effectLst/>
                          <a:latin typeface="+mj-lt"/>
                          <a:ea typeface="SimHei" panose="02010609060101010101" pitchFamily="49" charset="-122"/>
                        </a:rPr>
                        <a:t>原料名称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0175" marR="0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6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质量分数</a:t>
                      </a:r>
                      <a:r>
                        <a:rPr lang="en-US" sz="16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/%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5575" marR="0" eaLnBrk="0">
                        <a:lnSpc>
                          <a:spcPct val="92000"/>
                        </a:lnSpc>
                        <a:spcBef>
                          <a:spcPts val="485"/>
                        </a:spcBef>
                        <a:spcAft>
                          <a:spcPts val="0"/>
                        </a:spcAft>
                      </a:pPr>
                      <a:r>
                        <a:rPr lang="zh-CN" sz="1600" spc="45">
                          <a:effectLst/>
                          <a:latin typeface="+mj-lt"/>
                          <a:ea typeface="SimHei" panose="02010609060101010101" pitchFamily="49" charset="-122"/>
                        </a:rPr>
                        <a:t>组相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0225" marR="0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600" spc="10">
                          <a:effectLst/>
                          <a:latin typeface="+mj-lt"/>
                          <a:ea typeface="SimHei" panose="02010609060101010101" pitchFamily="49" charset="-122"/>
                        </a:rPr>
                        <a:t>原料名称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 marR="0" eaLnBrk="0">
                        <a:lnSpc>
                          <a:spcPct val="91000"/>
                        </a:lnSpc>
                        <a:spcBef>
                          <a:spcPts val="470"/>
                        </a:spcBef>
                        <a:spcAft>
                          <a:spcPts val="0"/>
                        </a:spcAft>
                      </a:pPr>
                      <a:r>
                        <a:rPr lang="zh-CN" sz="16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质量分数</a:t>
                      </a:r>
                      <a:r>
                        <a:rPr lang="en-US" sz="16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/%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0744900"/>
                  </a:ext>
                </a:extLst>
              </a:tr>
              <a:tr h="253365">
                <a:tc rowSpan="2">
                  <a:txBody>
                    <a:bodyPr/>
                    <a:lstStyle/>
                    <a:p>
                      <a:pPr marL="0" marR="0" eaLnBrk="0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2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2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2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152400" marR="0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600" spc="-5">
                          <a:effectLst/>
                          <a:latin typeface="+mj-lt"/>
                          <a:ea typeface="SimHei" panose="02010609060101010101" pitchFamily="49" charset="-122"/>
                        </a:rPr>
                        <a:t>A</a:t>
                      </a:r>
                      <a:r>
                        <a:rPr lang="zh-CN" sz="1600" spc="-5">
                          <a:effectLst/>
                          <a:latin typeface="+mj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55575" marR="0" eaLnBrk="0">
                        <a:lnSpc>
                          <a:spcPct val="91000"/>
                        </a:lnSpc>
                        <a:spcBef>
                          <a:spcPts val="545"/>
                        </a:spcBef>
                        <a:spcAft>
                          <a:spcPts val="0"/>
                        </a:spcAft>
                      </a:pPr>
                      <a:r>
                        <a:rPr lang="en-US" sz="1600" spc="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C</a:t>
                      </a:r>
                      <a:r>
                        <a:rPr lang="en-US" sz="1600" spc="10" baseline="-250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20</a:t>
                      </a:r>
                      <a:r>
                        <a:rPr lang="zh-CN" sz="1600" spc="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600" spc="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C₂</a:t>
                      </a:r>
                      <a:r>
                        <a:rPr lang="en-US" sz="1600" spc="10" baseline="-250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2</a:t>
                      </a:r>
                      <a:r>
                        <a:rPr lang="zh-CN" sz="1600" spc="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醇磷酸酯，</a:t>
                      </a:r>
                      <a:r>
                        <a:rPr lang="en-US" sz="1600" spc="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C</a:t>
                      </a:r>
                      <a:r>
                        <a:rPr lang="en-US" sz="1600" spc="10" baseline="-250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20</a:t>
                      </a:r>
                      <a:r>
                        <a:rPr lang="zh-CN" sz="1600" spc="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～</a:t>
                      </a:r>
                      <a:r>
                        <a:rPr lang="en-US" sz="1600" spc="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C</a:t>
                      </a:r>
                      <a:r>
                        <a:rPr lang="en-US" sz="1600" spc="10" baseline="-250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22</a:t>
                      </a:r>
                      <a:r>
                        <a:rPr lang="zh-CN" sz="1600" spc="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醇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41275" marR="204470" indent="127000" eaLnBrk="0">
                        <a:lnSpc>
                          <a:spcPct val="98000"/>
                        </a:lnSpc>
                        <a:spcBef>
                          <a:spcPts val="790"/>
                        </a:spcBef>
                        <a:spcAft>
                          <a:spcPts val="0"/>
                        </a:spcAft>
                      </a:pPr>
                      <a:r>
                        <a:rPr lang="zh-CN" sz="1600" spc="-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甘油硬脂酸酯，</a:t>
                      </a:r>
                      <a:r>
                        <a:rPr lang="en-US" sz="1600" spc="-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PEG-100</a:t>
                      </a:r>
                      <a:r>
                        <a:rPr lang="zh-CN" sz="1600" spc="-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硬脂</a:t>
                      </a:r>
                      <a:r>
                        <a:rPr lang="zh-CN" sz="1600" spc="3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 </a:t>
                      </a:r>
                      <a:r>
                        <a:rPr lang="zh-CN" sz="1600" spc="3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酸酯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68275" marR="0" eaLnBrk="0">
                        <a:lnSpc>
                          <a:spcPct val="91000"/>
                        </a:lnSpc>
                        <a:spcBef>
                          <a:spcPts val="775"/>
                        </a:spcBef>
                        <a:spcAft>
                          <a:spcPts val="0"/>
                        </a:spcAft>
                      </a:pPr>
                      <a:r>
                        <a:rPr lang="zh-CN" sz="1600" spc="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棕榈酸乙基己酯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68275" marR="0" eaLnBrk="0">
                        <a:lnSpc>
                          <a:spcPct val="91000"/>
                        </a:lnSpc>
                        <a:spcBef>
                          <a:spcPts val="645"/>
                        </a:spcBef>
                        <a:spcAft>
                          <a:spcPts val="0"/>
                        </a:spcAft>
                      </a:pPr>
                      <a:r>
                        <a:rPr lang="zh-CN" sz="1600" spc="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碳酸二辛酯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68275" marR="0" eaLnBrk="0">
                        <a:lnSpc>
                          <a:spcPct val="91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</a:pPr>
                      <a:r>
                        <a:rPr lang="zh-CN" sz="1600" spc="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辛酸</a:t>
                      </a:r>
                      <a:r>
                        <a:rPr lang="en-US" sz="1600" spc="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/</a:t>
                      </a:r>
                      <a:r>
                        <a:rPr lang="zh-CN" sz="1600" spc="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癸酸甘油三酯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68275" marR="0" eaLnBrk="0">
                        <a:lnSpc>
                          <a:spcPct val="91000"/>
                        </a:lnSpc>
                        <a:spcBef>
                          <a:spcPts val="630"/>
                        </a:spcBef>
                        <a:spcAft>
                          <a:spcPts val="0"/>
                        </a:spcAft>
                      </a:pPr>
                      <a:r>
                        <a:rPr lang="zh-CN" sz="1600" spc="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聚二甲基硅氧烷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775"/>
                        </a:spcBef>
                        <a:spcAft>
                          <a:spcPts val="0"/>
                        </a:spcAft>
                      </a:pPr>
                      <a:r>
                        <a:rPr lang="en-US" sz="16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2.50</a:t>
                      </a:r>
                      <a:endParaRPr lang="en-US" sz="16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0" marR="0" eaLnBrk="0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6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2.00</a:t>
                      </a:r>
                      <a:endParaRPr lang="en-US" sz="16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0" marR="0" eaLnBrk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339725" marR="0" eaLnBrk="0">
                        <a:lnSpc>
                          <a:spcPts val="195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6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7.00</a:t>
                      </a:r>
                      <a:endParaRPr lang="en-US" sz="16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5.00</a:t>
                      </a:r>
                      <a:endParaRPr lang="en-US" sz="16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855"/>
                        </a:spcBef>
                        <a:spcAft>
                          <a:spcPts val="0"/>
                        </a:spcAft>
                      </a:pPr>
                      <a:r>
                        <a:rPr lang="en-US" sz="1600" spc="-15">
                          <a:effectLst/>
                          <a:latin typeface="+mj-lt"/>
                          <a:ea typeface="SimHei" panose="02010609060101010101" pitchFamily="49" charset="-122"/>
                        </a:rPr>
                        <a:t>5.00</a:t>
                      </a:r>
                      <a:endParaRPr lang="en-US" sz="16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4.00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7325" marR="0" eaLnBrk="0">
                        <a:lnSpc>
                          <a:spcPct val="92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</a:pPr>
                      <a:r>
                        <a:rPr lang="en-US" sz="1600" spc="45">
                          <a:effectLst/>
                          <a:latin typeface="+mj-lt"/>
                          <a:ea typeface="SimHei" panose="02010609060101010101" pitchFamily="49" charset="-122"/>
                        </a:rPr>
                        <a:t>B</a:t>
                      </a:r>
                      <a:r>
                        <a:rPr lang="zh-CN" sz="1600" spc="45">
                          <a:effectLst/>
                          <a:latin typeface="+mj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 marR="0" eaLnBrk="0">
                        <a:lnSpc>
                          <a:spcPct val="92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</a:pPr>
                      <a:r>
                        <a:rPr lang="zh-CN" sz="16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滑石或云母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975" marR="0" eaLnBrk="0">
                        <a:lnSpc>
                          <a:spcPct val="760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0.38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460425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eaLnBrk="0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2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187325" marR="0" eaLnBrk="0">
                        <a:lnSpc>
                          <a:spcPct val="92000"/>
                        </a:lnSpc>
                        <a:spcBef>
                          <a:spcPts val="355"/>
                        </a:spcBef>
                        <a:spcAft>
                          <a:spcPts val="0"/>
                        </a:spcAft>
                      </a:pPr>
                      <a:r>
                        <a:rPr lang="en-US" sz="1600" spc="4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C</a:t>
                      </a:r>
                      <a:r>
                        <a:rPr lang="zh-CN" sz="1600" spc="4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53975" marR="46355" indent="88900" eaLnBrk="0">
                        <a:lnSpc>
                          <a:spcPct val="92000"/>
                        </a:lnSpc>
                        <a:spcBef>
                          <a:spcPts val="650"/>
                        </a:spcBef>
                        <a:spcAft>
                          <a:spcPts val="0"/>
                        </a:spcAft>
                      </a:pPr>
                      <a:r>
                        <a:rPr lang="zh-CN" sz="1600" spc="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聚丙烯酸交联聚合物</a:t>
                      </a:r>
                      <a:r>
                        <a:rPr lang="en-US" sz="1600" spc="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-6</a:t>
                      </a:r>
                      <a:r>
                        <a:rPr lang="en-US" sz="16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 </a:t>
                      </a:r>
                      <a:r>
                        <a:rPr lang="en-US" sz="1600" spc="-2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(</a:t>
                      </a:r>
                      <a:r>
                        <a:rPr lang="en-US" sz="1600" spc="-25" dirty="0" err="1">
                          <a:effectLst/>
                          <a:latin typeface="+mj-lt"/>
                          <a:ea typeface="SimHei" panose="02010609060101010101" pitchFamily="49" charset="-122"/>
                        </a:rPr>
                        <a:t>Sepimax</a:t>
                      </a:r>
                      <a:r>
                        <a:rPr lang="en-US" sz="1600" spc="54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 </a:t>
                      </a:r>
                      <a:r>
                        <a:rPr lang="en-US" sz="1600" spc="-2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ZEN)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42875" marR="0" eaLnBrk="0">
                        <a:lnSpc>
                          <a:spcPct val="91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</a:pPr>
                      <a:r>
                        <a:rPr lang="zh-CN" sz="1600" b="1" spc="55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SimHei" panose="02010609060101010101" pitchFamily="49" charset="-122"/>
                        </a:rPr>
                        <a:t>甘油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42875" marR="0" eaLnBrk="0">
                        <a:lnSpc>
                          <a:spcPct val="91000"/>
                        </a:lnSpc>
                        <a:spcBef>
                          <a:spcPts val="735"/>
                        </a:spcBef>
                        <a:spcAft>
                          <a:spcPts val="0"/>
                        </a:spcAft>
                      </a:pPr>
                      <a:r>
                        <a:rPr lang="zh-CN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黄原胶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42875" marR="0" eaLnBrk="0">
                        <a:lnSpc>
                          <a:spcPts val="1680"/>
                        </a:lnSpc>
                        <a:spcBef>
                          <a:spcPts val="915"/>
                        </a:spcBef>
                        <a:spcAft>
                          <a:spcPts val="0"/>
                        </a:spcAft>
                      </a:pPr>
                      <a:r>
                        <a:rPr lang="en-US" sz="1600" spc="-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EDTA-2Na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42875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spc="-1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木糖醇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42875" marR="0" eaLnBrk="0">
                        <a:lnSpc>
                          <a:spcPct val="91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zh-CN" sz="16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水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0" marR="0" eaLnBrk="0">
                        <a:lnSpc>
                          <a:spcPct val="10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307975" marR="0" eaLnBrk="0">
                        <a:lnSpc>
                          <a:spcPct val="76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0.80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0" marR="0" eaLnBrk="0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307975" marR="0" eaLnBrk="0">
                        <a:lnSpc>
                          <a:spcPct val="76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5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SimHei" panose="02010609060101010101" pitchFamily="49" charset="-122"/>
                        </a:rPr>
                        <a:t>5.00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07975" marR="0" eaLnBrk="0">
                        <a:lnSpc>
                          <a:spcPct val="76000"/>
                        </a:lnSpc>
                        <a:spcBef>
                          <a:spcPts val="90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0.20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07975" marR="0" eaLnBrk="0">
                        <a:lnSpc>
                          <a:spcPct val="76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0.05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07975" marR="0" eaLnBrk="0">
                        <a:lnSpc>
                          <a:spcPct val="76000"/>
                        </a:lnSpc>
                        <a:spcBef>
                          <a:spcPts val="850"/>
                        </a:spcBef>
                        <a:spcAft>
                          <a:spcPts val="0"/>
                        </a:spcAft>
                      </a:pPr>
                      <a:r>
                        <a:rPr lang="en-US" sz="1600" spc="-2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1.00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200025" marR="0" eaLnBrk="0">
                        <a:lnSpc>
                          <a:spcPct val="92000"/>
                        </a:lnSpc>
                        <a:spcBef>
                          <a:spcPts val="695"/>
                        </a:spcBef>
                        <a:spcAft>
                          <a:spcPts val="0"/>
                        </a:spcAft>
                      </a:pPr>
                      <a:r>
                        <a:rPr lang="zh-CN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加至</a:t>
                      </a:r>
                      <a:r>
                        <a:rPr lang="en-US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100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4486664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marL="0" marR="0" eaLnBrk="0">
                        <a:lnSpc>
                          <a:spcPct val="13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3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+mj-lt"/>
                          <a:ea typeface="SimHei" panose="02010609060101010101" pitchFamily="49" charset="-122"/>
                        </a:rPr>
                        <a:t> </a:t>
                      </a:r>
                    </a:p>
                    <a:p>
                      <a:pPr marL="152400" marR="0" eaLnBrk="0">
                        <a:lnSpc>
                          <a:spcPct val="92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</a:pPr>
                      <a:r>
                        <a:rPr lang="en-US" sz="1600" spc="45">
                          <a:effectLst/>
                          <a:latin typeface="+mj-lt"/>
                          <a:ea typeface="SimHei" panose="02010609060101010101" pitchFamily="49" charset="-122"/>
                        </a:rPr>
                        <a:t>B</a:t>
                      </a:r>
                      <a:r>
                        <a:rPr lang="zh-CN" sz="1600" spc="45">
                          <a:effectLst/>
                          <a:latin typeface="+mj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168275" marR="0" eaLnBrk="0">
                        <a:lnSpc>
                          <a:spcPct val="91000"/>
                        </a:lnSpc>
                        <a:spcBef>
                          <a:spcPts val="465"/>
                        </a:spcBef>
                        <a:spcAft>
                          <a:spcPts val="0"/>
                        </a:spcAft>
                      </a:pPr>
                      <a:r>
                        <a:rPr lang="zh-CN" sz="1600" b="1" spc="10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SimHei" panose="02010609060101010101" pitchFamily="49" charset="-122"/>
                        </a:rPr>
                        <a:t>二氧化钛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68275" marR="0" eaLnBrk="0">
                        <a:lnSpc>
                          <a:spcPts val="2105"/>
                        </a:lnSpc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zh-CN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铁黄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68275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铁红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68275" marR="0" eaLnBrk="0">
                        <a:lnSpc>
                          <a:spcPct val="92000"/>
                        </a:lnSpc>
                        <a:spcBef>
                          <a:spcPts val="635"/>
                        </a:spcBef>
                        <a:spcAft>
                          <a:spcPts val="0"/>
                        </a:spcAft>
                      </a:pPr>
                      <a:r>
                        <a:rPr lang="zh-CN" sz="1600" spc="3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铁黑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 marL="339725" marR="0" eaLnBrk="0">
                        <a:lnSpc>
                          <a:spcPts val="2050"/>
                        </a:lnSpc>
                        <a:spcBef>
                          <a:spcPts val="755"/>
                        </a:spcBef>
                        <a:spcAft>
                          <a:spcPts val="0"/>
                        </a:spcAft>
                      </a:pPr>
                      <a:r>
                        <a:rPr lang="en-US" sz="1600" b="1" spc="-15" dirty="0">
                          <a:solidFill>
                            <a:srgbClr val="FF0000"/>
                          </a:solidFill>
                          <a:effectLst/>
                          <a:latin typeface="+mj-lt"/>
                          <a:ea typeface="SimHei" panose="02010609060101010101" pitchFamily="49" charset="-122"/>
                        </a:rPr>
                        <a:t>5.00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0.40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95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0.14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39725" marR="0" eaLnBrk="0">
                        <a:lnSpc>
                          <a:spcPct val="76000"/>
                        </a:lnSpc>
                        <a:spcBef>
                          <a:spcPts val="955"/>
                        </a:spcBef>
                        <a:spcAft>
                          <a:spcPts val="0"/>
                        </a:spcAft>
                      </a:pPr>
                      <a:r>
                        <a:rPr lang="en-US" sz="1600" spc="-10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0.08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624446"/>
                  </a:ext>
                </a:extLst>
              </a:tr>
              <a:tr h="2597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7325" marR="0" eaLnBrk="0">
                        <a:lnSpc>
                          <a:spcPct val="92000"/>
                        </a:lnSpc>
                        <a:spcBef>
                          <a:spcPts val="545"/>
                        </a:spcBef>
                        <a:spcAft>
                          <a:spcPts val="0"/>
                        </a:spcAft>
                      </a:pPr>
                      <a:r>
                        <a:rPr lang="en-US" sz="1600" spc="45">
                          <a:effectLst/>
                          <a:latin typeface="+mj-lt"/>
                          <a:ea typeface="SimHei" panose="02010609060101010101" pitchFamily="49" charset="-122"/>
                        </a:rPr>
                        <a:t>D</a:t>
                      </a:r>
                      <a:r>
                        <a:rPr lang="zh-CN" sz="1600" spc="45">
                          <a:effectLst/>
                          <a:latin typeface="+mj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 marR="0" eaLnBrk="0">
                        <a:lnSpc>
                          <a:spcPct val="91000"/>
                        </a:lnSpc>
                        <a:spcBef>
                          <a:spcPts val="530"/>
                        </a:spcBef>
                        <a:spcAft>
                          <a:spcPts val="0"/>
                        </a:spcAft>
                      </a:pPr>
                      <a:r>
                        <a:rPr lang="zh-CN" sz="16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三乙醇胺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975" marR="0" eaLnBrk="0">
                        <a:lnSpc>
                          <a:spcPct val="76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</a:pPr>
                      <a:r>
                        <a:rPr lang="en-US" sz="1600" spc="-10">
                          <a:effectLst/>
                          <a:latin typeface="+mj-lt"/>
                          <a:ea typeface="SimHei" panose="02010609060101010101" pitchFamily="49" charset="-122"/>
                        </a:rPr>
                        <a:t>0.33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1596338"/>
                  </a:ext>
                </a:extLst>
              </a:tr>
              <a:tr h="5035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7325" marR="0" eaLnBrk="0">
                        <a:lnSpc>
                          <a:spcPct val="92000"/>
                        </a:lnSpc>
                        <a:spcBef>
                          <a:spcPts val="1500"/>
                        </a:spcBef>
                        <a:spcAft>
                          <a:spcPts val="0"/>
                        </a:spcAft>
                      </a:pPr>
                      <a:r>
                        <a:rPr lang="en-US" sz="1600" spc="45">
                          <a:effectLst/>
                          <a:latin typeface="+mj-lt"/>
                          <a:ea typeface="SimHei" panose="02010609060101010101" pitchFamily="49" charset="-122"/>
                        </a:rPr>
                        <a:t>E</a:t>
                      </a:r>
                      <a:r>
                        <a:rPr lang="zh-CN" sz="1600" spc="45">
                          <a:effectLst/>
                          <a:latin typeface="+mj-lt"/>
                          <a:ea typeface="SimHei" panose="02010609060101010101" pitchFamily="49" charset="-122"/>
                        </a:rPr>
                        <a:t>相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875" marR="0" eaLnBrk="0">
                        <a:lnSpc>
                          <a:spcPts val="2000"/>
                        </a:lnSpc>
                        <a:spcBef>
                          <a:spcPts val="380"/>
                        </a:spcBef>
                        <a:spcAft>
                          <a:spcPts val="0"/>
                        </a:spcAft>
                      </a:pPr>
                      <a:r>
                        <a:rPr lang="zh-CN" sz="1600" spc="20">
                          <a:effectLst/>
                          <a:latin typeface="+mj-lt"/>
                          <a:ea typeface="SimHei" panose="02010609060101010101" pitchFamily="49" charset="-122"/>
                        </a:rPr>
                        <a:t>防腐剂</a:t>
                      </a:r>
                      <a:endParaRPr lang="en-US" sz="160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142875" marR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spc="25">
                          <a:effectLst/>
                          <a:latin typeface="+mj-lt"/>
                          <a:ea typeface="SimHei" panose="02010609060101010101" pitchFamily="49" charset="-122"/>
                        </a:rPr>
                        <a:t>香精</a:t>
                      </a:r>
                      <a:endParaRPr lang="en-US" sz="160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7975" marR="0" eaLnBrk="0">
                        <a:lnSpc>
                          <a:spcPts val="2000"/>
                        </a:lnSpc>
                        <a:spcBef>
                          <a:spcPts val="415"/>
                        </a:spcBef>
                        <a:spcAft>
                          <a:spcPts val="0"/>
                        </a:spcAft>
                      </a:pPr>
                      <a:r>
                        <a:rPr lang="zh-CN" sz="1600" spc="-1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适量</a:t>
                      </a:r>
                      <a:endParaRPr lang="en-US" sz="1600" dirty="0"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  <a:p>
                      <a:pPr marL="307975" marR="0" eaLnBrk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600" spc="-15" dirty="0">
                          <a:effectLst/>
                          <a:latin typeface="+mj-lt"/>
                          <a:ea typeface="SimHei" panose="02010609060101010101" pitchFamily="49" charset="-122"/>
                        </a:rPr>
                        <a:t>适量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+mj-lt"/>
                        <a:ea typeface="SimHei" panose="02010609060101010101" pitchFamily="49" charset="-122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275444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8047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39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轻盈保湿 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BB 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霜 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(O/W 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型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：工艺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E766B19-825B-F3FA-1165-72F4E71FC116}"/>
              </a:ext>
            </a:extLst>
          </p:cNvPr>
          <p:cNvSpPr txBox="1"/>
          <p:nvPr/>
        </p:nvSpPr>
        <p:spPr>
          <a:xfrm>
            <a:off x="182880" y="1227619"/>
            <a:ext cx="8778240" cy="5113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① 将 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B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相原料依次加入混粉机中，高速粉碎确认色粉均匀分散；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② 将 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A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相原料依次加入油相容器中，搅拌加热至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80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～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85℃,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确认溶解分散均匀，将预先处理好的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B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相加入油相容器中，搅拌分散均匀，温度恒温在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80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～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85℃;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③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预先在水相容器中将原料 </a:t>
            </a:r>
            <a:r>
              <a:rPr lang="en-US" altLang="zh-CN" sz="2000" dirty="0" err="1">
                <a:latin typeface="+mj-lt"/>
                <a:ea typeface="SimHei" panose="02010609060101010101" pitchFamily="49" charset="-122"/>
              </a:rPr>
              <a:t>Sepimax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  ZEN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均匀分散在甘油中，再依次加入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C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相其他原料，搅拌加热至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80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～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85℃,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确认溶解分散均匀；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④ 在均质条件下，将油相加入水相中，加好后高速均质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10min;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⑤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搅拌降温至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45℃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左右，加入 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D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相的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TEA(100%),  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低速均质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3min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左右，调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节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pH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至中性；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⑥ 搅拌降温至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45℃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左右，加入</a:t>
            </a:r>
            <a:r>
              <a:rPr lang="en-US" altLang="zh-CN" sz="2000" dirty="0">
                <a:latin typeface="+mj-lt"/>
                <a:ea typeface="SimHei" panose="02010609060101010101" pitchFamily="49" charset="-122"/>
              </a:rPr>
              <a:t>E </a:t>
            </a:r>
            <a:r>
              <a:rPr lang="zh-CN" altLang="en-US" sz="2000" dirty="0">
                <a:latin typeface="+mj-lt"/>
                <a:ea typeface="SimHei" panose="02010609060101010101" pitchFamily="49" charset="-122"/>
              </a:rPr>
              <a:t>相，搅拌分散均匀。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+mj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45702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40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无瑕粉底液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(W/O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型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：配方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E938021-DECD-38A5-367F-5C7752A492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240558"/>
              </p:ext>
            </p:extLst>
          </p:nvPr>
        </p:nvGraphicFramePr>
        <p:xfrm>
          <a:off x="182880" y="1039486"/>
          <a:ext cx="8778239" cy="5797741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602093">
                  <a:extLst>
                    <a:ext uri="{9D8B030D-6E8A-4147-A177-3AD203B41FA5}">
                      <a16:colId xmlns:a16="http://schemas.microsoft.com/office/drawing/2014/main" val="125189639"/>
                    </a:ext>
                  </a:extLst>
                </a:gridCol>
                <a:gridCol w="2114168">
                  <a:extLst>
                    <a:ext uri="{9D8B030D-6E8A-4147-A177-3AD203B41FA5}">
                      <a16:colId xmlns:a16="http://schemas.microsoft.com/office/drawing/2014/main" val="458414723"/>
                    </a:ext>
                  </a:extLst>
                </a:gridCol>
                <a:gridCol w="992084">
                  <a:extLst>
                    <a:ext uri="{9D8B030D-6E8A-4147-A177-3AD203B41FA5}">
                      <a16:colId xmlns:a16="http://schemas.microsoft.com/office/drawing/2014/main" val="2404780132"/>
                    </a:ext>
                  </a:extLst>
                </a:gridCol>
                <a:gridCol w="2025221">
                  <a:extLst>
                    <a:ext uri="{9D8B030D-6E8A-4147-A177-3AD203B41FA5}">
                      <a16:colId xmlns:a16="http://schemas.microsoft.com/office/drawing/2014/main" val="1299104730"/>
                    </a:ext>
                  </a:extLst>
                </a:gridCol>
                <a:gridCol w="2025221">
                  <a:extLst>
                    <a:ext uri="{9D8B030D-6E8A-4147-A177-3AD203B41FA5}">
                      <a16:colId xmlns:a16="http://schemas.microsoft.com/office/drawing/2014/main" val="3483461188"/>
                    </a:ext>
                  </a:extLst>
                </a:gridCol>
                <a:gridCol w="1019452">
                  <a:extLst>
                    <a:ext uri="{9D8B030D-6E8A-4147-A177-3AD203B41FA5}">
                      <a16:colId xmlns:a16="http://schemas.microsoft.com/office/drawing/2014/main" val="2600316515"/>
                    </a:ext>
                  </a:extLst>
                </a:gridCol>
              </a:tblGrid>
              <a:tr h="278515">
                <a:tc>
                  <a:txBody>
                    <a:bodyPr/>
                    <a:lstStyle/>
                    <a:p>
                      <a:pPr marL="101600" marR="0" eaLnBrk="0">
                        <a:lnSpc>
                          <a:spcPct val="92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</a:pPr>
                      <a:r>
                        <a:rPr lang="zh-CN" sz="1400" spc="40">
                          <a:effectLst/>
                        </a:rPr>
                        <a:t>组相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01675" marR="0" eaLnBrk="0">
                        <a:lnSpc>
                          <a:spcPct val="91000"/>
                        </a:lnSpc>
                        <a:spcBef>
                          <a:spcPts val="570"/>
                        </a:spcBef>
                        <a:spcAft>
                          <a:spcPts val="0"/>
                        </a:spcAft>
                      </a:pPr>
                      <a:r>
                        <a:rPr lang="zh-CN" sz="1400" spc="10">
                          <a:effectLst/>
                        </a:rPr>
                        <a:t>原料名称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825" marR="0" eaLnBrk="0">
                        <a:lnSpc>
                          <a:spcPct val="91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zh-CN" sz="1400" spc="-10">
                          <a:effectLst/>
                        </a:rPr>
                        <a:t>质量分数</a:t>
                      </a:r>
                      <a:r>
                        <a:rPr lang="en-US" sz="1400" spc="-10">
                          <a:effectLst/>
                        </a:rPr>
                        <a:t>/%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2240" marR="0" eaLnBrk="0">
                        <a:lnSpc>
                          <a:spcPct val="92000"/>
                        </a:lnSpc>
                        <a:spcBef>
                          <a:spcPts val="580"/>
                        </a:spcBef>
                        <a:spcAft>
                          <a:spcPts val="0"/>
                        </a:spcAft>
                      </a:pPr>
                      <a:r>
                        <a:rPr lang="zh-CN" sz="1400" spc="40">
                          <a:effectLst/>
                        </a:rPr>
                        <a:t>组相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44525" marR="0" eaLnBrk="0">
                        <a:lnSpc>
                          <a:spcPct val="91000"/>
                        </a:lnSpc>
                        <a:spcBef>
                          <a:spcPts val="570"/>
                        </a:spcBef>
                        <a:spcAft>
                          <a:spcPts val="0"/>
                        </a:spcAft>
                      </a:pPr>
                      <a:r>
                        <a:rPr lang="zh-CN" sz="1400" spc="10">
                          <a:effectLst/>
                        </a:rPr>
                        <a:t>原料名称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6525" marR="0" eaLnBrk="0">
                        <a:lnSpc>
                          <a:spcPct val="91000"/>
                        </a:lnSpc>
                        <a:spcBef>
                          <a:spcPts val="565"/>
                        </a:spcBef>
                        <a:spcAft>
                          <a:spcPts val="0"/>
                        </a:spcAft>
                      </a:pPr>
                      <a:r>
                        <a:rPr lang="zh-CN" sz="1400" spc="-10">
                          <a:effectLst/>
                        </a:rPr>
                        <a:t>质量分数</a:t>
                      </a:r>
                      <a:r>
                        <a:rPr lang="en-US" sz="1400" spc="-10">
                          <a:effectLst/>
                        </a:rPr>
                        <a:t>/%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40611599"/>
                  </a:ext>
                </a:extLst>
              </a:tr>
              <a:tr h="830808">
                <a:tc rowSpan="4">
                  <a:txBody>
                    <a:bodyPr/>
                    <a:lstStyle/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133350" marR="0" eaLnBrk="0">
                        <a:lnSpc>
                          <a:spcPct val="92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1400" spc="55">
                          <a:effectLst/>
                        </a:rPr>
                        <a:t>A</a:t>
                      </a:r>
                      <a:r>
                        <a:rPr lang="zh-CN" sz="1400" spc="55">
                          <a:effectLst/>
                        </a:rPr>
                        <a:t>相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 marL="66675" marR="255905" indent="107315" eaLnBrk="0">
                        <a:lnSpc>
                          <a:spcPct val="96000"/>
                        </a:lnSpc>
                        <a:spcBef>
                          <a:spcPts val="495"/>
                        </a:spcBef>
                        <a:spcAft>
                          <a:spcPts val="0"/>
                        </a:spcAft>
                      </a:pPr>
                      <a:r>
                        <a:rPr lang="zh-CN" sz="1400" spc="-5">
                          <a:effectLst/>
                        </a:rPr>
                        <a:t>月桂基</a:t>
                      </a:r>
                      <a:r>
                        <a:rPr lang="en-US" sz="1400" spc="-5">
                          <a:effectLst/>
                        </a:rPr>
                        <a:t>PEG-10</a:t>
                      </a:r>
                      <a:r>
                        <a:rPr lang="zh-CN" sz="1400" spc="-5">
                          <a:effectLst/>
                        </a:rPr>
                        <a:t>三</a:t>
                      </a:r>
                      <a:r>
                        <a:rPr lang="en-US" sz="1400" spc="-5">
                          <a:effectLst/>
                        </a:rPr>
                        <a:t>(</a:t>
                      </a:r>
                      <a:r>
                        <a:rPr lang="zh-CN" sz="1400" spc="-5">
                          <a:effectLst/>
                        </a:rPr>
                        <a:t>三甲基硅</a:t>
                      </a:r>
                      <a:r>
                        <a:rPr lang="zh-CN" sz="1400">
                          <a:effectLst/>
                        </a:rPr>
                        <a:t> </a:t>
                      </a:r>
                      <a:r>
                        <a:rPr lang="zh-CN" sz="1400" spc="-5">
                          <a:effectLst/>
                        </a:rPr>
                        <a:t>氧基</a:t>
                      </a:r>
                      <a:r>
                        <a:rPr lang="en-US" sz="1400" spc="-5">
                          <a:effectLst/>
                        </a:rPr>
                        <a:t>)</a:t>
                      </a:r>
                      <a:r>
                        <a:rPr lang="zh-CN" sz="1400" spc="-5">
                          <a:effectLst/>
                        </a:rPr>
                        <a:t>硅乙基聚甲基硅氧烷</a:t>
                      </a:r>
                      <a:endParaRPr lang="en-US" sz="1400">
                        <a:effectLst/>
                      </a:endParaRPr>
                    </a:p>
                    <a:p>
                      <a:pPr marL="53975" marR="59055" indent="114300" eaLnBrk="0">
                        <a:lnSpc>
                          <a:spcPct val="98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zh-CN" sz="1400" spc="-5">
                          <a:effectLst/>
                        </a:rPr>
                        <a:t>环五聚二甲基硅氧烷，辛基聚</a:t>
                      </a:r>
                      <a:r>
                        <a:rPr lang="zh-CN" sz="1400" spc="15">
                          <a:effectLst/>
                        </a:rPr>
                        <a:t> </a:t>
                      </a:r>
                      <a:r>
                        <a:rPr lang="zh-CN" sz="1400">
                          <a:effectLst/>
                        </a:rPr>
                        <a:t>二甲基硅氧烷乙氧基葡糖苷</a:t>
                      </a:r>
                      <a:endParaRPr lang="en-US" sz="1400">
                        <a:effectLst/>
                      </a:endParaRPr>
                    </a:p>
                    <a:p>
                      <a:pPr marL="60325" marR="262890" indent="100965" eaLnBrk="0">
                        <a:lnSpc>
                          <a:spcPct val="96000"/>
                        </a:lnSpc>
                        <a:spcBef>
                          <a:spcPts val="1060"/>
                        </a:spcBef>
                        <a:spcAft>
                          <a:spcPts val="0"/>
                        </a:spcAft>
                      </a:pPr>
                      <a:r>
                        <a:rPr lang="en-US" sz="1400" spc="-5">
                          <a:effectLst/>
                        </a:rPr>
                        <a:t>PEG-9</a:t>
                      </a:r>
                      <a:r>
                        <a:rPr lang="zh-CN" sz="1400" spc="-5">
                          <a:effectLst/>
                        </a:rPr>
                        <a:t>聚二甲基硅氧乙基聚</a:t>
                      </a:r>
                      <a:r>
                        <a:rPr lang="zh-CN" sz="1400" spc="40">
                          <a:effectLst/>
                        </a:rPr>
                        <a:t> </a:t>
                      </a:r>
                      <a:r>
                        <a:rPr lang="zh-CN" sz="1400" spc="5">
                          <a:effectLst/>
                        </a:rPr>
                        <a:t>二甲基硅氧烷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ct val="91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zh-CN" sz="1400" spc="-5">
                          <a:effectLst/>
                        </a:rPr>
                        <a:t>硬脂氧基聚二甲基硅氧烷</a:t>
                      </a:r>
                      <a:endParaRPr lang="en-US" sz="1400">
                        <a:effectLst/>
                      </a:endParaRPr>
                    </a:p>
                    <a:p>
                      <a:pPr marL="47625" marR="198755" indent="113665" eaLnBrk="0">
                        <a:lnSpc>
                          <a:spcPct val="96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</a:pPr>
                      <a:r>
                        <a:rPr lang="zh-CN" sz="1400" spc="-5">
                          <a:effectLst/>
                        </a:rPr>
                        <a:t>三甲基硅烷氧苯基聚二甲基</a:t>
                      </a:r>
                      <a:r>
                        <a:rPr lang="zh-CN" sz="1400" spc="10">
                          <a:effectLst/>
                        </a:rPr>
                        <a:t> </a:t>
                      </a:r>
                      <a:r>
                        <a:rPr lang="zh-CN" sz="1400" spc="-10">
                          <a:effectLst/>
                        </a:rPr>
                        <a:t>硅氧烷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ct val="91000"/>
                        </a:lnSpc>
                        <a:spcBef>
                          <a:spcPts val="1065"/>
                        </a:spcBef>
                        <a:spcAft>
                          <a:spcPts val="0"/>
                        </a:spcAft>
                      </a:pPr>
                      <a:r>
                        <a:rPr lang="zh-CN" sz="1400" spc="5">
                          <a:effectLst/>
                        </a:rPr>
                        <a:t>鲸蜡醇乙基己酸酯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ts val="195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zh-CN" sz="1400" spc="5">
                          <a:effectLst/>
                        </a:rPr>
                        <a:t>甲氧基肉桂酸乙基己酯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spc="5">
                          <a:effectLst/>
                        </a:rPr>
                        <a:t>聚甲基硅倍半氧烷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ts val="215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zh-CN" sz="1400" spc="5">
                          <a:effectLst/>
                        </a:rPr>
                        <a:t>三甲基硅烷氧基硅酸酯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spc="-5">
                          <a:effectLst/>
                        </a:rPr>
                        <a:t>环五聚二甲基硅氧烷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ct val="91000"/>
                        </a:lnSpc>
                        <a:spcBef>
                          <a:spcPts val="815"/>
                        </a:spcBef>
                        <a:spcAft>
                          <a:spcPts val="0"/>
                        </a:spcAft>
                      </a:pPr>
                      <a:r>
                        <a:rPr lang="zh-CN" sz="1400" spc="5">
                          <a:effectLst/>
                        </a:rPr>
                        <a:t>丁基辛醇水杨酸酯</a:t>
                      </a:r>
                      <a:endParaRPr lang="en-US" sz="1400">
                        <a:effectLst/>
                      </a:endParaRPr>
                    </a:p>
                    <a:p>
                      <a:pPr marL="60325" marR="31115" indent="113665" algn="just" eaLnBrk="0">
                        <a:lnSpc>
                          <a:spcPct val="99000"/>
                        </a:lnSpc>
                        <a:spcBef>
                          <a:spcPts val="745"/>
                        </a:spcBef>
                        <a:spcAft>
                          <a:spcPts val="0"/>
                        </a:spcAft>
                      </a:pPr>
                      <a:r>
                        <a:rPr lang="zh-CN" sz="1400" spc="-5">
                          <a:effectLst/>
                        </a:rPr>
                        <a:t>环五聚二甲基硅氧烷，棕榈酸</a:t>
                      </a:r>
                      <a:r>
                        <a:rPr lang="zh-CN" sz="1400" spc="15">
                          <a:effectLst/>
                        </a:rPr>
                        <a:t> </a:t>
                      </a:r>
                      <a:r>
                        <a:rPr lang="zh-CN" sz="1400" spc="30">
                          <a:effectLst/>
                        </a:rPr>
                        <a:t>乙基己酯，季铵盐</a:t>
                      </a:r>
                      <a:r>
                        <a:rPr lang="en-US" sz="1400" spc="30">
                          <a:effectLst/>
                        </a:rPr>
                        <a:t>-90</a:t>
                      </a:r>
                      <a:r>
                        <a:rPr lang="zh-CN" sz="1400" spc="30">
                          <a:effectLst/>
                        </a:rPr>
                        <a:t>膨润土，</a:t>
                      </a:r>
                      <a:r>
                        <a:rPr lang="zh-CN" sz="1400" spc="40">
                          <a:effectLst/>
                        </a:rPr>
                        <a:t> </a:t>
                      </a:r>
                      <a:r>
                        <a:rPr lang="zh-CN" sz="1400" spc="10">
                          <a:effectLst/>
                        </a:rPr>
                        <a:t>碳酸丙二醇酯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 marL="320675" marR="0" eaLnBrk="0">
                        <a:lnSpc>
                          <a:spcPct val="76000"/>
                        </a:lnSpc>
                        <a:spcBef>
                          <a:spcPts val="1360"/>
                        </a:spcBef>
                        <a:spcAft>
                          <a:spcPts val="0"/>
                        </a:spcAft>
                      </a:pPr>
                      <a:r>
                        <a:rPr lang="en-US" sz="1400" spc="-25">
                          <a:effectLst/>
                        </a:rPr>
                        <a:t>1.20</a:t>
                      </a:r>
                      <a:endParaRPr lang="en-US" sz="1400">
                        <a:effectLst/>
                      </a:endParaRPr>
                    </a:p>
                    <a:p>
                      <a:pPr marL="0" marR="0" eaLnBrk="0">
                        <a:lnSpc>
                          <a:spcPct val="17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320675" marR="0" eaLnBrk="0">
                        <a:lnSpc>
                          <a:spcPct val="76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1400" spc="-15">
                          <a:effectLst/>
                        </a:rPr>
                        <a:t>5.00</a:t>
                      </a:r>
                      <a:endParaRPr lang="en-US" sz="1400">
                        <a:effectLst/>
                      </a:endParaRPr>
                    </a:p>
                    <a:p>
                      <a:pPr marL="0" marR="0" eaLnBrk="0">
                        <a:lnSpc>
                          <a:spcPct val="1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320675" marR="0" eaLnBrk="0">
                        <a:lnSpc>
                          <a:spcPct val="76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400" spc="-25">
                          <a:effectLst/>
                        </a:rPr>
                        <a:t>1.00</a:t>
                      </a:r>
                      <a:endParaRPr lang="en-US" sz="1400">
                        <a:effectLst/>
                      </a:endParaRPr>
                    </a:p>
                    <a:p>
                      <a:pPr marL="0" marR="0" eaLnBrk="0">
                        <a:lnSpc>
                          <a:spcPct val="12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320675" marR="0" eaLnBrk="0">
                        <a:lnSpc>
                          <a:spcPct val="7600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>
                          <a:effectLst/>
                        </a:rPr>
                        <a:t>0.50</a:t>
                      </a:r>
                      <a:endParaRPr lang="en-US" sz="1400">
                        <a:effectLst/>
                      </a:endParaRPr>
                    </a:p>
                    <a:p>
                      <a:pPr marL="0" marR="0" eaLnBrk="0">
                        <a:lnSpc>
                          <a:spcPct val="13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320675" marR="0" eaLnBrk="0">
                        <a:lnSpc>
                          <a:spcPct val="76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400" spc="-15">
                          <a:effectLst/>
                        </a:rPr>
                        <a:t>3.00</a:t>
                      </a:r>
                      <a:endParaRPr lang="en-US" sz="1400">
                        <a:effectLst/>
                      </a:endParaRPr>
                    </a:p>
                    <a:p>
                      <a:pPr marL="0" marR="0" eaLnBrk="0">
                        <a:lnSpc>
                          <a:spcPct val="13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320675" marR="0" eaLnBrk="0">
                        <a:lnSpc>
                          <a:spcPts val="185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en-US" sz="1400" spc="-15">
                          <a:effectLst/>
                        </a:rPr>
                        <a:t>3.00</a:t>
                      </a:r>
                      <a:endParaRPr lang="en-US" sz="1400">
                        <a:effectLst/>
                      </a:endParaRPr>
                    </a:p>
                    <a:p>
                      <a:pPr marL="32067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spc="-15">
                          <a:effectLst/>
                        </a:rPr>
                        <a:t>5.00</a:t>
                      </a:r>
                      <a:endParaRPr lang="en-US" sz="1400">
                        <a:effectLst/>
                      </a:endParaRPr>
                    </a:p>
                    <a:p>
                      <a:pPr marL="320675" marR="0" eaLnBrk="0">
                        <a:lnSpc>
                          <a:spcPct val="76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>
                          <a:effectLst/>
                        </a:rPr>
                        <a:t>0.50</a:t>
                      </a:r>
                      <a:endParaRPr lang="en-US" sz="1400">
                        <a:effectLst/>
                      </a:endParaRPr>
                    </a:p>
                    <a:p>
                      <a:pPr marL="320675" marR="0" eaLnBrk="0">
                        <a:lnSpc>
                          <a:spcPct val="76000"/>
                        </a:lnSpc>
                        <a:spcBef>
                          <a:spcPts val="955"/>
                        </a:spcBef>
                        <a:spcAft>
                          <a:spcPts val="0"/>
                        </a:spcAft>
                      </a:pPr>
                      <a:r>
                        <a:rPr lang="en-US" sz="1400" spc="-25">
                          <a:effectLst/>
                        </a:rPr>
                        <a:t>1.50</a:t>
                      </a:r>
                      <a:endParaRPr lang="en-US" sz="1400">
                        <a:effectLst/>
                      </a:endParaRPr>
                    </a:p>
                    <a:p>
                      <a:pPr marL="288925" marR="0" eaLnBrk="0">
                        <a:lnSpc>
                          <a:spcPct val="76000"/>
                        </a:lnSpc>
                        <a:spcBef>
                          <a:spcPts val="950"/>
                        </a:spcBef>
                        <a:spcAft>
                          <a:spcPts val="0"/>
                        </a:spcAft>
                      </a:pPr>
                      <a:r>
                        <a:rPr lang="en-US" sz="1400" spc="-20">
                          <a:effectLst/>
                        </a:rPr>
                        <a:t>10.00</a:t>
                      </a:r>
                      <a:endParaRPr lang="en-US" sz="1400">
                        <a:effectLst/>
                      </a:endParaRPr>
                    </a:p>
                    <a:p>
                      <a:pPr marL="320675" marR="0" eaLnBrk="0">
                        <a:lnSpc>
                          <a:spcPct val="76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</a:pPr>
                      <a:r>
                        <a:rPr lang="en-US" sz="1400" spc="-15">
                          <a:effectLst/>
                        </a:rPr>
                        <a:t>3.00</a:t>
                      </a:r>
                      <a:endParaRPr lang="en-US" sz="1400">
                        <a:effectLst/>
                      </a:endParaRPr>
                    </a:p>
                    <a:p>
                      <a:pPr marL="0" marR="0" eaLnBrk="0">
                        <a:lnSpc>
                          <a:spcPct val="16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320675" marR="0" eaLnBrk="0">
                        <a:lnSpc>
                          <a:spcPct val="76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>
                          <a:effectLst/>
                        </a:rPr>
                        <a:t>0.80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174625" marR="0" eaLnBrk="0">
                        <a:lnSpc>
                          <a:spcPct val="92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400" spc="-5">
                          <a:effectLst/>
                        </a:rPr>
                        <a:t>A</a:t>
                      </a:r>
                      <a:r>
                        <a:rPr lang="zh-CN" sz="1400" spc="-5">
                          <a:effectLst/>
                        </a:rPr>
                        <a:t>相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 marR="0" eaLnBrk="0">
                        <a:lnSpc>
                          <a:spcPct val="91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</a:pPr>
                      <a:r>
                        <a:rPr lang="zh-CN" sz="1400" spc="5">
                          <a:effectLst/>
                        </a:rPr>
                        <a:t>二甲基甲硅烷基化硅石</a:t>
                      </a:r>
                      <a:endParaRPr lang="en-US" sz="1400">
                        <a:effectLst/>
                      </a:endParaRPr>
                    </a:p>
                    <a:p>
                      <a:pPr marL="53975" marR="109855" indent="114300" algn="just" eaLnBrk="0">
                        <a:lnSpc>
                          <a:spcPct val="97000"/>
                        </a:lnSpc>
                        <a:spcBef>
                          <a:spcPts val="790"/>
                        </a:spcBef>
                        <a:spcAft>
                          <a:spcPts val="0"/>
                        </a:spcAft>
                      </a:pPr>
                      <a:r>
                        <a:rPr lang="zh-CN" sz="1400" spc="-5">
                          <a:effectLst/>
                        </a:rPr>
                        <a:t>环五聚二甲基硅氧烷，聚二</a:t>
                      </a:r>
                      <a:r>
                        <a:rPr lang="zh-CN" sz="1400" spc="10">
                          <a:effectLst/>
                        </a:rPr>
                        <a:t> </a:t>
                      </a:r>
                      <a:r>
                        <a:rPr lang="zh-CN" sz="1400">
                          <a:effectLst/>
                        </a:rPr>
                        <a:t>甲基硅氧烷</a:t>
                      </a:r>
                      <a:r>
                        <a:rPr lang="en-US" sz="1400">
                          <a:effectLst/>
                        </a:rPr>
                        <a:t>/</a:t>
                      </a:r>
                      <a:r>
                        <a:rPr lang="zh-CN" sz="1400">
                          <a:effectLst/>
                        </a:rPr>
                        <a:t>乙基聚二甲基硅</a:t>
                      </a:r>
                      <a:r>
                        <a:rPr lang="zh-CN" sz="1400" spc="10">
                          <a:effectLst/>
                        </a:rPr>
                        <a:t> </a:t>
                      </a:r>
                      <a:r>
                        <a:rPr lang="zh-CN" sz="1400">
                          <a:effectLst/>
                        </a:rPr>
                        <a:t>氧烷交联聚合物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3375" marR="0" eaLnBrk="0">
                        <a:lnSpc>
                          <a:spcPct val="76000"/>
                        </a:lnSpc>
                        <a:spcBef>
                          <a:spcPts val="66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>
                          <a:effectLst/>
                        </a:rPr>
                        <a:t>0.30</a:t>
                      </a:r>
                      <a:endParaRPr lang="en-US" sz="1400">
                        <a:effectLst/>
                      </a:endParaRPr>
                    </a:p>
                    <a:p>
                      <a:pPr marL="0" marR="0" eaLnBrk="0">
                        <a:lnSpc>
                          <a:spcPct val="17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333375" marR="0" eaLnBrk="0">
                        <a:lnSpc>
                          <a:spcPct val="76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400" spc="-15">
                          <a:effectLst/>
                        </a:rPr>
                        <a:t>3.00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42609954"/>
                  </a:ext>
                </a:extLst>
              </a:tr>
              <a:tr h="14314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174625" marR="0" eaLnBrk="0">
                        <a:lnSpc>
                          <a:spcPct val="92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400" spc="-5">
                          <a:effectLst/>
                        </a:rPr>
                        <a:t>B</a:t>
                      </a:r>
                      <a:r>
                        <a:rPr lang="zh-CN" sz="1400" spc="-5">
                          <a:effectLst/>
                        </a:rPr>
                        <a:t>相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 marR="0" eaLnBrk="0">
                        <a:lnSpc>
                          <a:spcPts val="19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</a:pPr>
                      <a:r>
                        <a:rPr lang="zh-CN" sz="1400" b="1" spc="-15" dirty="0">
                          <a:solidFill>
                            <a:srgbClr val="FF0000"/>
                          </a:solidFill>
                          <a:effectLst/>
                        </a:rPr>
                        <a:t>二氧化钛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161925" marR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spc="15" dirty="0">
                          <a:effectLst/>
                        </a:rPr>
                        <a:t>氧化锌</a:t>
                      </a:r>
                      <a:endParaRPr lang="en-US" sz="1400" dirty="0">
                        <a:effectLst/>
                      </a:endParaRPr>
                    </a:p>
                    <a:p>
                      <a:pPr marL="161925" marR="0" eaLnBrk="0">
                        <a:lnSpc>
                          <a:spcPct val="91000"/>
                        </a:lnSpc>
                        <a:spcBef>
                          <a:spcPts val="750"/>
                        </a:spcBef>
                        <a:spcAft>
                          <a:spcPts val="0"/>
                        </a:spcAft>
                      </a:pPr>
                      <a:r>
                        <a:rPr lang="zh-CN" sz="1400" spc="-10" dirty="0">
                          <a:effectLst/>
                        </a:rPr>
                        <a:t>纳米级二氧化钛</a:t>
                      </a:r>
                      <a:endParaRPr lang="en-US" sz="1400" dirty="0">
                        <a:effectLst/>
                      </a:endParaRPr>
                    </a:p>
                    <a:p>
                      <a:pPr marL="161925" marR="0" eaLnBrk="0">
                        <a:lnSpc>
                          <a:spcPts val="2110"/>
                        </a:lnSpc>
                        <a:spcBef>
                          <a:spcPts val="560"/>
                        </a:spcBef>
                        <a:spcAft>
                          <a:spcPts val="0"/>
                        </a:spcAft>
                      </a:pPr>
                      <a:r>
                        <a:rPr lang="zh-CN" sz="1400" spc="-10" dirty="0">
                          <a:effectLst/>
                        </a:rPr>
                        <a:t>铁黄</a:t>
                      </a:r>
                      <a:endParaRPr lang="en-US" sz="1400" dirty="0">
                        <a:effectLst/>
                      </a:endParaRPr>
                    </a:p>
                    <a:p>
                      <a:pPr marL="161925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spc="-10" dirty="0">
                          <a:effectLst/>
                        </a:rPr>
                        <a:t>铁红</a:t>
                      </a:r>
                      <a:endParaRPr lang="en-US" sz="1400" dirty="0">
                        <a:effectLst/>
                      </a:endParaRPr>
                    </a:p>
                    <a:p>
                      <a:pPr marL="161925" marR="0" eaLnBrk="0">
                        <a:lnSpc>
                          <a:spcPct val="92000"/>
                        </a:lnSpc>
                        <a:spcBef>
                          <a:spcPts val="645"/>
                        </a:spcBef>
                        <a:spcAft>
                          <a:spcPts val="0"/>
                        </a:spcAft>
                      </a:pPr>
                      <a:r>
                        <a:rPr lang="zh-CN" sz="1400" spc="30" dirty="0">
                          <a:effectLst/>
                        </a:rPr>
                        <a:t>铁黑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3375" marR="0" eaLnBrk="0">
                        <a:lnSpc>
                          <a:spcPts val="1900"/>
                        </a:lnSpc>
                        <a:spcBef>
                          <a:spcPts val="725"/>
                        </a:spcBef>
                        <a:spcAft>
                          <a:spcPts val="0"/>
                        </a:spcAft>
                      </a:pPr>
                      <a:r>
                        <a:rPr lang="en-US" sz="1400" b="1" spc="-10" dirty="0">
                          <a:solidFill>
                            <a:srgbClr val="FF0000"/>
                          </a:solidFill>
                          <a:effectLst/>
                        </a:rPr>
                        <a:t>6.50</a:t>
                      </a:r>
                      <a:endParaRPr lang="en-US" sz="1400" b="1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33375" marR="0" eaLnBrk="0">
                        <a:lnSpc>
                          <a:spcPct val="7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spc="-15" dirty="0">
                          <a:effectLst/>
                        </a:rPr>
                        <a:t>2.00</a:t>
                      </a:r>
                      <a:endParaRPr lang="en-US" sz="1400" dirty="0">
                        <a:effectLst/>
                      </a:endParaRPr>
                    </a:p>
                    <a:p>
                      <a:pPr marL="333375" marR="0" eaLnBrk="0">
                        <a:lnSpc>
                          <a:spcPct val="76000"/>
                        </a:lnSpc>
                        <a:spcBef>
                          <a:spcPts val="95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effectLst/>
                        </a:rPr>
                        <a:t>4.00</a:t>
                      </a:r>
                      <a:endParaRPr lang="en-US" sz="1400" dirty="0">
                        <a:effectLst/>
                      </a:endParaRPr>
                    </a:p>
                    <a:p>
                      <a:pPr marL="333375" marR="0" eaLnBrk="0">
                        <a:lnSpc>
                          <a:spcPct val="76000"/>
                        </a:lnSpc>
                        <a:spcBef>
                          <a:spcPts val="105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effectLst/>
                        </a:rPr>
                        <a:t>0.65</a:t>
                      </a:r>
                      <a:endParaRPr lang="en-US" sz="1400" dirty="0">
                        <a:effectLst/>
                      </a:endParaRPr>
                    </a:p>
                    <a:p>
                      <a:pPr marL="333375" marR="0" eaLnBrk="0">
                        <a:lnSpc>
                          <a:spcPct val="76000"/>
                        </a:lnSpc>
                        <a:spcBef>
                          <a:spcPts val="76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effectLst/>
                        </a:rPr>
                        <a:t>0.35</a:t>
                      </a:r>
                      <a:endParaRPr lang="en-US" sz="1400" dirty="0">
                        <a:effectLst/>
                      </a:endParaRPr>
                    </a:p>
                    <a:p>
                      <a:pPr marL="333375" marR="0" eaLnBrk="0">
                        <a:lnSpc>
                          <a:spcPct val="76000"/>
                        </a:lnSpc>
                        <a:spcBef>
                          <a:spcPts val="95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 dirty="0">
                          <a:effectLst/>
                        </a:rPr>
                        <a:t>0.10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29610116"/>
                  </a:ext>
                </a:extLst>
              </a:tr>
              <a:tr h="96441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174625" marR="0" eaLnBrk="0">
                        <a:lnSpc>
                          <a:spcPct val="92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>
                          <a:effectLst/>
                        </a:rPr>
                        <a:t>C</a:t>
                      </a:r>
                      <a:r>
                        <a:rPr lang="zh-CN" sz="1400" spc="-10">
                          <a:effectLst/>
                        </a:rPr>
                        <a:t>相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 marR="0" eaLnBrk="0">
                        <a:lnSpc>
                          <a:spcPct val="91000"/>
                        </a:lnSpc>
                        <a:spcBef>
                          <a:spcPts val="425"/>
                        </a:spcBef>
                        <a:spcAft>
                          <a:spcPts val="0"/>
                        </a:spcAft>
                      </a:pPr>
                      <a:r>
                        <a:rPr lang="zh-CN" sz="1400" spc="55">
                          <a:effectLst/>
                        </a:rPr>
                        <a:t>甘油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ts val="2005"/>
                        </a:lnSpc>
                        <a:spcBef>
                          <a:spcPts val="695"/>
                        </a:spcBef>
                        <a:spcAft>
                          <a:spcPts val="0"/>
                        </a:spcAft>
                      </a:pPr>
                      <a:r>
                        <a:rPr lang="zh-CN" sz="1400" spc="15">
                          <a:effectLst/>
                        </a:rPr>
                        <a:t>丙二醇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spc="15">
                          <a:effectLst/>
                        </a:rPr>
                        <a:t>氯化钠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ct val="91000"/>
                        </a:lnSpc>
                        <a:spcBef>
                          <a:spcPts val="685"/>
                        </a:spcBef>
                        <a:spcAft>
                          <a:spcPts val="0"/>
                        </a:spcAft>
                      </a:pPr>
                      <a:r>
                        <a:rPr lang="zh-CN" sz="1400">
                          <a:effectLst/>
                        </a:rPr>
                        <a:t>水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3375" marR="0" eaLnBrk="0">
                        <a:lnSpc>
                          <a:spcPct val="76000"/>
                        </a:lnSpc>
                        <a:spcBef>
                          <a:spcPts val="790"/>
                        </a:spcBef>
                        <a:spcAft>
                          <a:spcPts val="0"/>
                        </a:spcAft>
                      </a:pPr>
                      <a:r>
                        <a:rPr lang="en-US" sz="1400" spc="-10">
                          <a:effectLst/>
                        </a:rPr>
                        <a:t>6.00</a:t>
                      </a:r>
                      <a:endParaRPr lang="en-US" sz="1400">
                        <a:effectLst/>
                      </a:endParaRPr>
                    </a:p>
                    <a:p>
                      <a:pPr marL="333375" marR="0" eaLnBrk="0">
                        <a:lnSpc>
                          <a:spcPct val="76000"/>
                        </a:lnSpc>
                        <a:spcBef>
                          <a:spcPts val="955"/>
                        </a:spcBef>
                        <a:spcAft>
                          <a:spcPts val="0"/>
                        </a:spcAft>
                      </a:pPr>
                      <a:r>
                        <a:rPr lang="en-US" sz="1400" spc="-10">
                          <a:effectLst/>
                        </a:rPr>
                        <a:t>4.00</a:t>
                      </a:r>
                      <a:endParaRPr lang="en-US" sz="1400">
                        <a:effectLst/>
                      </a:endParaRPr>
                    </a:p>
                    <a:p>
                      <a:pPr marL="333375" marR="0" eaLnBrk="0">
                        <a:lnSpc>
                          <a:spcPct val="76000"/>
                        </a:lnSpc>
                        <a:spcBef>
                          <a:spcPts val="950"/>
                        </a:spcBef>
                        <a:spcAft>
                          <a:spcPts val="0"/>
                        </a:spcAft>
                      </a:pPr>
                      <a:r>
                        <a:rPr lang="en-US" sz="1400" spc="-25">
                          <a:effectLst/>
                        </a:rPr>
                        <a:t>1.00</a:t>
                      </a:r>
                      <a:endParaRPr lang="en-US" sz="1400">
                        <a:effectLst/>
                      </a:endParaRPr>
                    </a:p>
                    <a:p>
                      <a:pPr marL="231775" marR="0" eaLnBrk="0">
                        <a:lnSpc>
                          <a:spcPct val="92000"/>
                        </a:lnSpc>
                        <a:spcBef>
                          <a:spcPts val="610"/>
                        </a:spcBef>
                        <a:spcAft>
                          <a:spcPts val="0"/>
                        </a:spcAft>
                      </a:pPr>
                      <a:r>
                        <a:rPr lang="zh-CN" sz="1400" spc="15">
                          <a:effectLst/>
                        </a:rPr>
                        <a:t>加至</a:t>
                      </a:r>
                      <a:r>
                        <a:rPr lang="en-US" sz="1400" spc="15">
                          <a:effectLst/>
                        </a:rPr>
                        <a:t>100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0826366"/>
                  </a:ext>
                </a:extLst>
              </a:tr>
              <a:tr h="102077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eaLnBrk="0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174625" marR="0" eaLnBrk="0">
                        <a:lnSpc>
                          <a:spcPct val="9200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en-US" sz="1400" spc="-5">
                          <a:effectLst/>
                        </a:rPr>
                        <a:t>D</a:t>
                      </a:r>
                      <a:r>
                        <a:rPr lang="zh-CN" sz="1400" spc="-5">
                          <a:effectLst/>
                        </a:rPr>
                        <a:t>相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161925" marR="0" eaLnBrk="0">
                        <a:lnSpc>
                          <a:spcPts val="2050"/>
                        </a:lnSpc>
                        <a:spcBef>
                          <a:spcPts val="345"/>
                        </a:spcBef>
                        <a:spcAft>
                          <a:spcPts val="0"/>
                        </a:spcAft>
                      </a:pPr>
                      <a:r>
                        <a:rPr lang="zh-CN" sz="1400" spc="20">
                          <a:effectLst/>
                        </a:rPr>
                        <a:t>防腐剂</a:t>
                      </a:r>
                      <a:endParaRPr lang="en-US" sz="1400">
                        <a:effectLst/>
                      </a:endParaRPr>
                    </a:p>
                    <a:p>
                      <a:pPr marL="161925" marR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spc="25">
                          <a:effectLst/>
                        </a:rPr>
                        <a:t>香精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eaLnBrk="0">
                        <a:lnSpc>
                          <a:spcPct val="11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</a:p>
                    <a:p>
                      <a:pPr marL="333375" marR="0" eaLnBrk="0">
                        <a:lnSpc>
                          <a:spcPts val="2050"/>
                        </a:lnSpc>
                        <a:spcBef>
                          <a:spcPts val="340"/>
                        </a:spcBef>
                        <a:spcAft>
                          <a:spcPts val="0"/>
                        </a:spcAft>
                      </a:pPr>
                      <a:r>
                        <a:rPr lang="zh-CN" sz="1400" spc="-15" dirty="0">
                          <a:effectLst/>
                        </a:rPr>
                        <a:t>适量</a:t>
                      </a:r>
                      <a:endParaRPr lang="en-US" sz="1400" dirty="0">
                        <a:effectLst/>
                      </a:endParaRPr>
                    </a:p>
                    <a:p>
                      <a:pPr marL="333375" marR="0" eaLnBrk="0">
                        <a:lnSpc>
                          <a:spcPct val="9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spc="-15" dirty="0">
                          <a:effectLst/>
                        </a:rPr>
                        <a:t>适量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59333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5213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41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无瑕粉底液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(W/O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型</a:t>
            </a:r>
            <a:r>
              <a:rPr lang="en-US" altLang="zh-CN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：工艺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165614"/>
            <a:ext cx="8778240" cy="5560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① 将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相中原料依次加入混粉机中，高速粉碎确认色粉均匀分散；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② 将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A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相中原料依次加入油相容器中，搅拌加热至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80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～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85℃,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确认溶解分散均匀，将预先处理好的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相加入油相容器中，搅拌分散均匀，温度恒温在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80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～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85℃;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③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将 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C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相中原料依次加入水相容器中，搅拌加热至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80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～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85℃,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确认溶解分散均匀；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④ 在均质条件下，将水相缓慢加入油相中，加好后高速均质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10 min;</a:t>
            </a:r>
            <a:endParaRPr lang="zh-CN" altLang="en-US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⑤ 搅拌降温至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45 ℃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左右，加入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D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相，搅拌分散均匀。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8667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42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气垫霜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709C203-AF2B-410D-916E-F68A8A647CD2}"/>
              </a:ext>
            </a:extLst>
          </p:cNvPr>
          <p:cNvSpPr txBox="1"/>
          <p:nvPr/>
        </p:nvSpPr>
        <p:spPr>
          <a:xfrm>
            <a:off x="182880" y="1165614"/>
            <a:ext cx="8778240" cy="5560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受消费者欢迎的是气垫</a:t>
            </a:r>
            <a:r>
              <a:rPr lang="en-US" altLang="zh-CN" sz="2400" dirty="0">
                <a:latin typeface="+mn-lt"/>
                <a:ea typeface="SimHei" panose="02010609060101010101" pitchFamily="49" charset="-122"/>
              </a:rPr>
              <a:t>BB </a:t>
            </a:r>
            <a:r>
              <a:rPr lang="zh-CN" altLang="en-US" sz="2400" dirty="0">
                <a:latin typeface="+mn-lt"/>
                <a:ea typeface="SimHei" panose="02010609060101010101" pitchFamily="49" charset="-122"/>
              </a:rPr>
              <a:t>霜，其主要特点是使用方便、涂抹均匀。这一类膏体开发过程中，配方设计主要考虑：</a:t>
            </a:r>
            <a:endParaRPr lang="en-US" altLang="zh-CN" sz="2400" dirty="0">
              <a:latin typeface="+mn-lt"/>
              <a:ea typeface="SimHe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①料体黏度偏低，质地轻薄；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②遮盖型二氧化钛含量高，可以很好地修饰妆容；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③膨润土具有很好的悬浮性能，可以很好地悬浮色粉颗粒，提高体系稳定性；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④乳化剂的选择上，用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KF-6038 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和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Span 83/120 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进行复配，可很好地进行乳化；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⑤添加高折射率的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DC556 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可提高料体的光泽性，添加 </a:t>
            </a:r>
            <a:r>
              <a:rPr lang="en-US" altLang="zh-CN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PMMA  </a:t>
            </a: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</a:rPr>
              <a:t>可提供肤感上的滑感。</a:t>
            </a:r>
          </a:p>
        </p:txBody>
      </p:sp>
    </p:spTree>
    <p:extLst>
      <p:ext uri="{BB962C8B-B14F-4D97-AF65-F5344CB8AC3E}">
        <p14:creationId xmlns:p14="http://schemas.microsoft.com/office/powerpoint/2010/main" val="2070750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F02D5545-9FF7-4A1B-91C2-3C7825ECC6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43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43AD916-BA2E-4705-95C5-6EB560B96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71FA5C29-4814-47CC-A005-273156653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保湿乳液成分表实例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628FDD0-7487-0A99-558B-165C7BB464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5" t="13724" r="27923" b="70986"/>
          <a:stretch>
            <a:fillRect/>
          </a:stretch>
        </p:blipFill>
        <p:spPr>
          <a:xfrm>
            <a:off x="906516" y="1119893"/>
            <a:ext cx="7602508" cy="247874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A84E09D-A76E-54B1-156E-B5358A101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5" t="64209" r="27923" b="19390"/>
          <a:stretch>
            <a:fillRect/>
          </a:stretch>
        </p:blipFill>
        <p:spPr>
          <a:xfrm>
            <a:off x="906516" y="3846330"/>
            <a:ext cx="7602508" cy="265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755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7624B-DFE5-D526-89D9-E5E346845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E5799CBB-FD3A-8D2E-7133-46E1AB34A0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44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D66832E-3D4C-0D12-F1E6-A81DDB194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6AE17D2E-7A31-F023-32B5-2FA7959C8F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护手霜成分表实例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9F01AB7-4C6D-D549-3701-6C9A65CA9F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11" t="30144" r="39268" b="41977"/>
          <a:stretch>
            <a:fillRect/>
          </a:stretch>
        </p:blipFill>
        <p:spPr>
          <a:xfrm>
            <a:off x="1206062" y="1108203"/>
            <a:ext cx="6731876" cy="443686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DC3718B-CAC4-B44F-1FE6-FAAA4DDAFE36}"/>
              </a:ext>
            </a:extLst>
          </p:cNvPr>
          <p:cNvSpPr txBox="1"/>
          <p:nvPr/>
        </p:nvSpPr>
        <p:spPr>
          <a:xfrm>
            <a:off x="182880" y="5893999"/>
            <a:ext cx="8778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</a:rPr>
              <a:t>Palmitate</a:t>
            </a:r>
            <a:r>
              <a:rPr lang="zh-CN" altLang="en-US" sz="2000" dirty="0">
                <a:latin typeface="+mn-lt"/>
              </a:rPr>
              <a:t>，棕榈酸酯；</a:t>
            </a:r>
            <a:r>
              <a:rPr lang="en-US" altLang="zh-CN" sz="2000" dirty="0">
                <a:latin typeface="+mn-lt"/>
              </a:rPr>
              <a:t>stearic acid</a:t>
            </a:r>
            <a:r>
              <a:rPr lang="zh-CN" altLang="en-US" sz="2000" dirty="0">
                <a:latin typeface="+mn-lt"/>
              </a:rPr>
              <a:t>，硬脂酸；</a:t>
            </a:r>
            <a:r>
              <a:rPr lang="en-US" altLang="zh-CN" sz="2000" dirty="0" err="1">
                <a:latin typeface="+mn-lt"/>
              </a:rPr>
              <a:t>cetearyl</a:t>
            </a:r>
            <a:r>
              <a:rPr lang="en-US" altLang="zh-CN" sz="2000" dirty="0">
                <a:latin typeface="+mn-lt"/>
              </a:rPr>
              <a:t> alcohol</a:t>
            </a:r>
            <a:r>
              <a:rPr lang="zh-CN" altLang="en-US" sz="2000" dirty="0">
                <a:latin typeface="+mn-lt"/>
              </a:rPr>
              <a:t>，鲸蜡硬脂醇；</a:t>
            </a:r>
            <a:endParaRPr lang="en-US" altLang="zh-CN" sz="2000" dirty="0">
              <a:latin typeface="+mn-lt"/>
            </a:endParaRPr>
          </a:p>
          <a:p>
            <a:r>
              <a:rPr lang="en-US" sz="2000" dirty="0"/>
              <a:t>Garcinia indica</a:t>
            </a:r>
            <a:r>
              <a:rPr lang="zh-CN" altLang="en-US" sz="2000" dirty="0"/>
              <a:t>，印度藤黄；</a:t>
            </a:r>
            <a:r>
              <a:rPr lang="en-US" altLang="zh-CN" sz="2000" dirty="0"/>
              <a:t>parfum</a:t>
            </a:r>
            <a:r>
              <a:rPr lang="zh-CN" altLang="en-US" sz="2000" dirty="0"/>
              <a:t>，香精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35305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C4472-8E6A-3328-82F5-CBAD014FD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>
            <a:extLst>
              <a:ext uri="{FF2B5EF4-FFF2-40B4-BE49-F238E27FC236}">
                <a16:creationId xmlns:a16="http://schemas.microsoft.com/office/drawing/2014/main" id="{5D282A76-6499-5DC1-2C79-D60D8C655C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97769" y="186126"/>
            <a:ext cx="836706" cy="430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3E0B8F8B-EF8B-4B07-BCF8-F23DBA39CE10}" type="slidenum">
              <a:rPr lang="zh-CN" altLang="en-US" sz="1800" b="1" smtClean="0">
                <a:latin typeface="Adobe 黑体 Std R" charset="-122"/>
                <a:ea typeface="Adobe 黑体 Std R" charset="-122"/>
              </a:rPr>
              <a:pPr algn="ctr">
                <a:spcBef>
                  <a:spcPct val="0"/>
                </a:spcBef>
                <a:buFontTx/>
                <a:buNone/>
              </a:pPr>
              <a:t>45</a:t>
            </a:fld>
            <a:endParaRPr lang="zh-CN" altLang="en-US" sz="1800" b="1" dirty="0">
              <a:latin typeface="Adobe 黑体 Std R" charset="-122"/>
              <a:ea typeface="Adobe 黑体 Std R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2F39B41-488B-D02C-65D9-209488BD36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" y="964001"/>
            <a:ext cx="8778240" cy="4572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89000"/>
                </a:schemeClr>
              </a:gs>
              <a:gs pos="23000">
                <a:schemeClr val="accent2">
                  <a:lumMod val="89000"/>
                </a:schemeClr>
              </a:gs>
              <a:gs pos="69000">
                <a:schemeClr val="accent2">
                  <a:lumMod val="75000"/>
                </a:schemeClr>
              </a:gs>
              <a:gs pos="97000">
                <a:schemeClr val="accent2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4F2D5A32-D5C1-291E-06D4-178D9937D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2814"/>
            <a:ext cx="9144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  <a:cs typeface="SimSun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3600" dirty="0">
                <a:latin typeface="Microsoft JhengHei" panose="020B0604030504040204" pitchFamily="34" charset="-120"/>
                <a:ea typeface="Microsoft JhengHei" panose="020B0604030504040204" pitchFamily="34" charset="-120"/>
                <a:cs typeface="Arial" panose="020B0604020202020204" pitchFamily="34" charset="0"/>
              </a:rPr>
              <a:t>婴儿润肤露成分表实例</a:t>
            </a:r>
            <a:endParaRPr lang="en-US" altLang="en-US" sz="3600" dirty="0">
              <a:latin typeface="Microsoft JhengHei" panose="020B0604030504040204" pitchFamily="34" charset="-120"/>
              <a:ea typeface="Microsoft JhengHei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22C861-151A-3A13-AAAC-23E971E30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0" t="25747" r="26189" b="43658"/>
          <a:stretch>
            <a:fillRect/>
          </a:stretch>
        </p:blipFill>
        <p:spPr>
          <a:xfrm>
            <a:off x="1053736" y="1346495"/>
            <a:ext cx="7036527" cy="472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7133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_2">
  <a:themeElements>
    <a:clrScheme name="默认设计模板_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_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54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stealth" w="lg" len="lg"/>
        </a:ln>
        <a:effectLst/>
      </a:spPr>
      <a:bodyPr/>
      <a:lstStyle/>
    </a:lnDef>
  </a:objectDefaults>
  <a:extraClrSchemeLst>
    <a:extraClrScheme>
      <a:clrScheme name="默认设计模板_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_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_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59673</TotalTime>
  <Pages>0</Pages>
  <Words>5013</Words>
  <Characters>0</Characters>
  <Application>Microsoft Office PowerPoint</Application>
  <DocSecurity>0</DocSecurity>
  <PresentationFormat>全屏显示(4:3)</PresentationFormat>
  <Lines>0</Lines>
  <Paragraphs>830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1" baseType="lpstr">
      <vt:lpstr>Adobe 黑体 Std R</vt:lpstr>
      <vt:lpstr>KaiTi</vt:lpstr>
      <vt:lpstr>Microsoft JhengHei</vt:lpstr>
      <vt:lpstr>SimHei</vt:lpstr>
      <vt:lpstr>Arial</vt:lpstr>
      <vt:lpstr>默认设计模板_2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/>
  <cp:lastModifiedBy>yanqifan@pku.edu.cn</cp:lastModifiedBy>
  <cp:revision>1389</cp:revision>
  <cp:lastPrinted>2025-12-08T05:39:34Z</cp:lastPrinted>
  <dcterms:created xsi:type="dcterms:W3CDTF">2012-03-24T04:10:06Z</dcterms:created>
  <dcterms:modified xsi:type="dcterms:W3CDTF">2026-03-04T09:33:45Z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2052-9.1.0.4517</vt:lpwstr>
  </property>
</Properties>
</file>