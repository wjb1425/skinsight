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9" r:id="rId1"/>
  </p:sldMasterIdLst>
  <p:notesMasterIdLst>
    <p:notesMasterId r:id="rId79"/>
  </p:notesMasterIdLst>
  <p:sldIdLst>
    <p:sldId id="1127" r:id="rId2"/>
    <p:sldId id="1133" r:id="rId3"/>
    <p:sldId id="1179" r:id="rId4"/>
    <p:sldId id="1250" r:id="rId5"/>
    <p:sldId id="1251" r:id="rId6"/>
    <p:sldId id="1252" r:id="rId7"/>
    <p:sldId id="1253" r:id="rId8"/>
    <p:sldId id="1254" r:id="rId9"/>
    <p:sldId id="1255" r:id="rId10"/>
    <p:sldId id="1256" r:id="rId11"/>
    <p:sldId id="1180" r:id="rId12"/>
    <p:sldId id="1181" r:id="rId13"/>
    <p:sldId id="1257" r:id="rId14"/>
    <p:sldId id="1258" r:id="rId15"/>
    <p:sldId id="1182" r:id="rId16"/>
    <p:sldId id="1183" r:id="rId17"/>
    <p:sldId id="1184" r:id="rId18"/>
    <p:sldId id="1185" r:id="rId19"/>
    <p:sldId id="1186" r:id="rId20"/>
    <p:sldId id="1187" r:id="rId21"/>
    <p:sldId id="1188" r:id="rId22"/>
    <p:sldId id="1189" r:id="rId23"/>
    <p:sldId id="1190" r:id="rId24"/>
    <p:sldId id="1191" r:id="rId25"/>
    <p:sldId id="1192" r:id="rId26"/>
    <p:sldId id="1193" r:id="rId27"/>
    <p:sldId id="1194" r:id="rId28"/>
    <p:sldId id="1195" r:id="rId29"/>
    <p:sldId id="1196" r:id="rId30"/>
    <p:sldId id="1197" r:id="rId31"/>
    <p:sldId id="1198" r:id="rId32"/>
    <p:sldId id="1199" r:id="rId33"/>
    <p:sldId id="1200" r:id="rId34"/>
    <p:sldId id="1201" r:id="rId35"/>
    <p:sldId id="1202" r:id="rId36"/>
    <p:sldId id="1203" r:id="rId37"/>
    <p:sldId id="1204" r:id="rId38"/>
    <p:sldId id="1205" r:id="rId39"/>
    <p:sldId id="1206" r:id="rId40"/>
    <p:sldId id="1207" r:id="rId41"/>
    <p:sldId id="1208" r:id="rId42"/>
    <p:sldId id="1209" r:id="rId43"/>
    <p:sldId id="1210" r:id="rId44"/>
    <p:sldId id="1211" r:id="rId45"/>
    <p:sldId id="1212" r:id="rId46"/>
    <p:sldId id="1213" r:id="rId47"/>
    <p:sldId id="1214" r:id="rId48"/>
    <p:sldId id="1215" r:id="rId49"/>
    <p:sldId id="1216" r:id="rId50"/>
    <p:sldId id="1217" r:id="rId51"/>
    <p:sldId id="1218" r:id="rId52"/>
    <p:sldId id="1219" r:id="rId53"/>
    <p:sldId id="1220" r:id="rId54"/>
    <p:sldId id="1221" r:id="rId55"/>
    <p:sldId id="1222" r:id="rId56"/>
    <p:sldId id="1223" r:id="rId57"/>
    <p:sldId id="1224" r:id="rId58"/>
    <p:sldId id="1225" r:id="rId59"/>
    <p:sldId id="1226" r:id="rId60"/>
    <p:sldId id="1227" r:id="rId61"/>
    <p:sldId id="1249" r:id="rId62"/>
    <p:sldId id="1228" r:id="rId63"/>
    <p:sldId id="1229" r:id="rId64"/>
    <p:sldId id="1230" r:id="rId65"/>
    <p:sldId id="1231" r:id="rId66"/>
    <p:sldId id="1232" r:id="rId67"/>
    <p:sldId id="1233" r:id="rId68"/>
    <p:sldId id="1234" r:id="rId69"/>
    <p:sldId id="1235" r:id="rId70"/>
    <p:sldId id="1236" r:id="rId71"/>
    <p:sldId id="1237" r:id="rId72"/>
    <p:sldId id="1238" r:id="rId73"/>
    <p:sldId id="1248" r:id="rId74"/>
    <p:sldId id="1259" r:id="rId75"/>
    <p:sldId id="1260" r:id="rId76"/>
    <p:sldId id="1261" r:id="rId77"/>
    <p:sldId id="1178" r:id="rId78"/>
  </p:sldIdLst>
  <p:sldSz cx="9144000" cy="6858000" type="screen4x3"/>
  <p:notesSz cx="9947275" cy="6858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521415D9-36F7-43E2-AB2F-B90AF26B5E84}">
      <p14:sectionLst xmlns:p14="http://schemas.microsoft.com/office/powerpoint/2010/main">
        <p14:section name="默认节" id="{33A860A1-EB48-4D3B-BAD5-879A125F35C4}">
          <p14:sldIdLst>
            <p14:sldId id="1127"/>
            <p14:sldId id="1133"/>
            <p14:sldId id="1179"/>
            <p14:sldId id="1250"/>
            <p14:sldId id="1251"/>
            <p14:sldId id="1252"/>
            <p14:sldId id="1253"/>
            <p14:sldId id="1254"/>
            <p14:sldId id="1255"/>
            <p14:sldId id="1256"/>
            <p14:sldId id="1180"/>
            <p14:sldId id="1181"/>
            <p14:sldId id="1257"/>
            <p14:sldId id="1258"/>
            <p14:sldId id="1182"/>
            <p14:sldId id="1183"/>
            <p14:sldId id="1184"/>
            <p14:sldId id="1185"/>
            <p14:sldId id="1186"/>
            <p14:sldId id="1187"/>
            <p14:sldId id="1188"/>
            <p14:sldId id="1189"/>
            <p14:sldId id="1190"/>
            <p14:sldId id="1191"/>
            <p14:sldId id="1192"/>
            <p14:sldId id="1193"/>
            <p14:sldId id="1194"/>
            <p14:sldId id="1195"/>
            <p14:sldId id="1196"/>
            <p14:sldId id="1197"/>
            <p14:sldId id="1198"/>
            <p14:sldId id="1199"/>
            <p14:sldId id="1200"/>
            <p14:sldId id="1201"/>
            <p14:sldId id="1202"/>
            <p14:sldId id="1203"/>
            <p14:sldId id="1204"/>
            <p14:sldId id="1205"/>
            <p14:sldId id="1206"/>
            <p14:sldId id="1207"/>
            <p14:sldId id="1208"/>
            <p14:sldId id="1209"/>
            <p14:sldId id="1210"/>
            <p14:sldId id="1211"/>
            <p14:sldId id="1212"/>
            <p14:sldId id="1213"/>
            <p14:sldId id="1214"/>
            <p14:sldId id="1215"/>
            <p14:sldId id="1216"/>
            <p14:sldId id="1217"/>
            <p14:sldId id="1218"/>
            <p14:sldId id="1219"/>
            <p14:sldId id="1220"/>
            <p14:sldId id="1221"/>
            <p14:sldId id="1222"/>
            <p14:sldId id="1223"/>
            <p14:sldId id="1224"/>
            <p14:sldId id="1225"/>
            <p14:sldId id="1226"/>
            <p14:sldId id="1227"/>
            <p14:sldId id="1249"/>
            <p14:sldId id="1228"/>
            <p14:sldId id="1229"/>
            <p14:sldId id="1230"/>
            <p14:sldId id="1231"/>
            <p14:sldId id="1232"/>
            <p14:sldId id="1233"/>
            <p14:sldId id="1234"/>
            <p14:sldId id="1235"/>
            <p14:sldId id="1236"/>
            <p14:sldId id="1237"/>
            <p14:sldId id="1238"/>
            <p14:sldId id="1248"/>
            <p14:sldId id="1259"/>
            <p14:sldId id="1260"/>
            <p14:sldId id="1261"/>
            <p14:sldId id="1178"/>
          </p14:sldIdLst>
        </p14:section>
      </p14:sectionLst>
    </p:ext>
    <p:ext uri="{EFAFB233-063F-42B5-8137-9DF3F51BA10A}">
      <p15:sldGuideLst xmlns:p15="http://schemas.microsoft.com/office/powerpoint/2012/main">
        <p15:guide id="1" orient="horz" pos="213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a:srgbClr val="008000"/>
    <a:srgbClr val="00FF00"/>
    <a:srgbClr val="FF6600"/>
    <a:srgbClr val="FFFF00"/>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473" autoAdjust="0"/>
  </p:normalViewPr>
  <p:slideViewPr>
    <p:cSldViewPr snapToGrid="0">
      <p:cViewPr varScale="1">
        <p:scale>
          <a:sx n="61" d="100"/>
          <a:sy n="61" d="100"/>
        </p:scale>
        <p:origin x="1656" y="66"/>
      </p:cViewPr>
      <p:guideLst>
        <p:guide orient="horz" pos="2138"/>
        <p:guide pos="2880"/>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BE4076EE-FE68-43AE-99C5-A81FDE8C2F83}"/>
              </a:ext>
            </a:extLst>
          </p:cNvPr>
          <p:cNvSpPr>
            <a:spLocks noGrp="1" noChangeArrowheads="1"/>
          </p:cNvSpPr>
          <p:nvPr>
            <p:ph type="hdr" sz="quarter"/>
          </p:nvPr>
        </p:nvSpPr>
        <p:spPr bwMode="auto">
          <a:xfrm>
            <a:off x="2" y="0"/>
            <a:ext cx="4308184" cy="342900"/>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lvl1pPr eaLnBrk="1" hangingPunct="1">
              <a:buFont typeface="Arial" charset="0"/>
              <a:buNone/>
              <a:defRPr sz="1200">
                <a:latin typeface="Arial" charset="0"/>
                <a:ea typeface="宋体" charset="0"/>
                <a:cs typeface="宋体" charset="0"/>
              </a:defRPr>
            </a:lvl1pPr>
          </a:lstStyle>
          <a:p>
            <a:pPr>
              <a:defRPr/>
            </a:pPr>
            <a:endParaRPr lang="zh-CN" altLang="en-US"/>
          </a:p>
        </p:txBody>
      </p:sp>
      <p:sp>
        <p:nvSpPr>
          <p:cNvPr id="3075" name="Rectangle 3">
            <a:extLst>
              <a:ext uri="{FF2B5EF4-FFF2-40B4-BE49-F238E27FC236}">
                <a16:creationId xmlns:a16="http://schemas.microsoft.com/office/drawing/2014/main" id="{9F48D32A-919E-48D2-B1E8-51EAC1B42BD8}"/>
              </a:ext>
            </a:extLst>
          </p:cNvPr>
          <p:cNvSpPr>
            <a:spLocks noGrp="1" noChangeArrowheads="1"/>
          </p:cNvSpPr>
          <p:nvPr>
            <p:ph type="dt" idx="1"/>
          </p:nvPr>
        </p:nvSpPr>
        <p:spPr bwMode="auto">
          <a:xfrm>
            <a:off x="5632184" y="0"/>
            <a:ext cx="4312789" cy="342900"/>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lvl1pPr algn="r" eaLnBrk="1" hangingPunct="1">
              <a:buFont typeface="Arial" charset="0"/>
              <a:buNone/>
              <a:defRPr sz="1200">
                <a:latin typeface="Arial" charset="0"/>
                <a:ea typeface="宋体" charset="0"/>
                <a:cs typeface="宋体" charset="0"/>
              </a:defRPr>
            </a:lvl1pPr>
          </a:lstStyle>
          <a:p>
            <a:pPr>
              <a:defRPr/>
            </a:pPr>
            <a:endParaRPr lang="zh-CN" altLang="en-US"/>
          </a:p>
        </p:txBody>
      </p:sp>
      <p:sp>
        <p:nvSpPr>
          <p:cNvPr id="2052" name="Rectangle 4">
            <a:extLst>
              <a:ext uri="{FF2B5EF4-FFF2-40B4-BE49-F238E27FC236}">
                <a16:creationId xmlns:a16="http://schemas.microsoft.com/office/drawing/2014/main" id="{D34AD48D-B12D-4736-AF44-05EE8E9247E8}"/>
              </a:ext>
            </a:extLst>
          </p:cNvPr>
          <p:cNvSpPr>
            <a:spLocks noGrp="1" noRot="1" noChangeAspect="1" noChangeArrowheads="1"/>
          </p:cNvSpPr>
          <p:nvPr>
            <p:ph type="sldImg" idx="2"/>
          </p:nvPr>
        </p:nvSpPr>
        <p:spPr bwMode="auto">
          <a:xfrm>
            <a:off x="3259138" y="514350"/>
            <a:ext cx="3429000"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Rectangle 5">
            <a:extLst>
              <a:ext uri="{FF2B5EF4-FFF2-40B4-BE49-F238E27FC236}">
                <a16:creationId xmlns:a16="http://schemas.microsoft.com/office/drawing/2014/main" id="{EC3AA012-CFE6-4520-8A8E-13DDAFFDCFAA}"/>
              </a:ext>
            </a:extLst>
          </p:cNvPr>
          <p:cNvSpPr>
            <a:spLocks noGrp="1" noRot="1" noChangeArrowheads="1"/>
          </p:cNvSpPr>
          <p:nvPr>
            <p:ph type="body" sz="quarter" idx="3"/>
          </p:nvPr>
        </p:nvSpPr>
        <p:spPr bwMode="auto">
          <a:xfrm>
            <a:off x="994728" y="3257550"/>
            <a:ext cx="7957820" cy="3086100"/>
          </a:xfrm>
          <a:prstGeom prst="rect">
            <a:avLst/>
          </a:prstGeom>
          <a:noFill/>
          <a:ln>
            <a:noFill/>
          </a:ln>
          <a:extLst>
            <a:ext uri="{909E8E84-426E-40dd-AFC4-6F175D3DCCD1}"/>
            <a:ext uri="{91240B29-F687-4f45-9708-019B960494DF}"/>
          </a:extLst>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endParaRPr lang="en-US" altLang="zh-CN" noProof="0"/>
          </a:p>
          <a:p>
            <a:pPr lvl="1"/>
            <a:r>
              <a:rPr lang="zh-CN" altLang="en-US" noProof="0"/>
              <a:t>第二级</a:t>
            </a:r>
            <a:endParaRPr lang="en-US" altLang="zh-CN" noProof="0"/>
          </a:p>
          <a:p>
            <a:pPr lvl="2"/>
            <a:r>
              <a:rPr lang="zh-CN" altLang="en-US" noProof="0"/>
              <a:t>第三级</a:t>
            </a:r>
            <a:endParaRPr lang="en-US" altLang="zh-CN" noProof="0"/>
          </a:p>
          <a:p>
            <a:pPr lvl="3"/>
            <a:r>
              <a:rPr lang="zh-CN" altLang="en-US" noProof="0"/>
              <a:t>第四级</a:t>
            </a:r>
            <a:endParaRPr lang="en-US" altLang="zh-CN" noProof="0"/>
          </a:p>
          <a:p>
            <a:pPr lvl="4"/>
            <a:r>
              <a:rPr lang="zh-CN" altLang="en-US" noProof="0"/>
              <a:t>第五级</a:t>
            </a:r>
            <a:endParaRPr lang="en-US" altLang="zh-CN" noProof="0"/>
          </a:p>
        </p:txBody>
      </p:sp>
      <p:sp>
        <p:nvSpPr>
          <p:cNvPr id="3078" name="Rectangle 6">
            <a:extLst>
              <a:ext uri="{FF2B5EF4-FFF2-40B4-BE49-F238E27FC236}">
                <a16:creationId xmlns:a16="http://schemas.microsoft.com/office/drawing/2014/main" id="{900D91B0-938D-43D2-B4A5-04218A09BCE8}"/>
              </a:ext>
            </a:extLst>
          </p:cNvPr>
          <p:cNvSpPr>
            <a:spLocks noGrp="1" noChangeArrowheads="1"/>
          </p:cNvSpPr>
          <p:nvPr>
            <p:ph type="ftr" sz="quarter" idx="4"/>
          </p:nvPr>
        </p:nvSpPr>
        <p:spPr bwMode="auto">
          <a:xfrm>
            <a:off x="2" y="6513910"/>
            <a:ext cx="4308184" cy="342900"/>
          </a:xfrm>
          <a:prstGeom prst="rect">
            <a:avLst/>
          </a:prstGeom>
          <a:noFill/>
          <a:ln>
            <a:noFill/>
          </a:ln>
          <a:extLst>
            <a:ext uri="{909E8E84-426E-40dd-AFC4-6F175D3DCCD1}"/>
            <a:ext uri="{91240B29-F687-4f45-9708-019B960494DF}"/>
          </a:extLst>
        </p:spPr>
        <p:txBody>
          <a:bodyPr vert="horz" wrap="square" lIns="91440" tIns="45720" rIns="91440" bIns="45720" numCol="1" anchor="b" anchorCtr="0" compatLnSpc="1">
            <a:prstTxWarp prst="textNoShape">
              <a:avLst/>
            </a:prstTxWarp>
          </a:bodyPr>
          <a:lstStyle>
            <a:lvl1pPr eaLnBrk="1" hangingPunct="1">
              <a:buFont typeface="Arial" charset="0"/>
              <a:buNone/>
              <a:defRPr sz="1200">
                <a:latin typeface="Arial" charset="0"/>
                <a:ea typeface="宋体" charset="0"/>
                <a:cs typeface="宋体" charset="0"/>
              </a:defRPr>
            </a:lvl1pPr>
          </a:lstStyle>
          <a:p>
            <a:pPr>
              <a:defRPr/>
            </a:pPr>
            <a:endParaRPr lang="zh-CN" altLang="en-US"/>
          </a:p>
        </p:txBody>
      </p:sp>
      <p:sp>
        <p:nvSpPr>
          <p:cNvPr id="3079" name="Rectangle 7">
            <a:extLst>
              <a:ext uri="{FF2B5EF4-FFF2-40B4-BE49-F238E27FC236}">
                <a16:creationId xmlns:a16="http://schemas.microsoft.com/office/drawing/2014/main" id="{460084FF-D1F9-4991-8BEC-52A9C4629F32}"/>
              </a:ext>
            </a:extLst>
          </p:cNvPr>
          <p:cNvSpPr>
            <a:spLocks noGrp="1" noChangeArrowheads="1"/>
          </p:cNvSpPr>
          <p:nvPr>
            <p:ph type="sldNum" sz="quarter" idx="5"/>
          </p:nvPr>
        </p:nvSpPr>
        <p:spPr bwMode="auto">
          <a:xfrm>
            <a:off x="5632184" y="6513910"/>
            <a:ext cx="4312789" cy="342900"/>
          </a:xfrm>
          <a:prstGeom prst="rect">
            <a:avLst/>
          </a:prstGeom>
          <a:noFill/>
          <a:ln>
            <a:noFill/>
          </a:ln>
          <a:extLst>
            <a:ext uri="{909E8E84-426E-40dd-AFC4-6F175D3DCCD1}"/>
            <a:ext uri="{91240B29-F687-4f45-9708-019B960494DF}"/>
          </a:extLst>
        </p:spPr>
        <p:txBody>
          <a:bodyPr vert="horz" wrap="square" lIns="91440" tIns="45720" rIns="91440" bIns="45720" numCol="1" anchor="b" anchorCtr="0" compatLnSpc="1">
            <a:prstTxWarp prst="textNoShape">
              <a:avLst/>
            </a:prstTxWarp>
          </a:bodyPr>
          <a:lstStyle>
            <a:lvl1pPr algn="r" eaLnBrk="1" hangingPunct="1">
              <a:buFont typeface="Arial" panose="020B0604020202020204" pitchFamily="34" charset="0"/>
              <a:buNone/>
              <a:defRPr sz="1200">
                <a:ea typeface="SimSun" panose="02010600030101010101" pitchFamily="2" charset="-122"/>
              </a:defRPr>
            </a:lvl1pPr>
          </a:lstStyle>
          <a:p>
            <a:pPr>
              <a:defRPr/>
            </a:pPr>
            <a:fld id="{778C1415-F545-4EAF-A725-72D26972220F}"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3258F932-2890-466A-B7FD-D54B5E428C5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C6CDF12-C462-4CCB-A356-28A7F58EA67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56ABFEF-8D30-40EE-85CE-F956A80A477B}"/>
              </a:ext>
            </a:extLst>
          </p:cNvPr>
          <p:cNvSpPr>
            <a:spLocks noGrp="1" noChangeArrowheads="1"/>
          </p:cNvSpPr>
          <p:nvPr>
            <p:ph type="sldNum" sz="quarter" idx="12"/>
          </p:nvPr>
        </p:nvSpPr>
        <p:spPr>
          <a:ln/>
        </p:spPr>
        <p:txBody>
          <a:bodyPr/>
          <a:lstStyle>
            <a:lvl1pPr>
              <a:defRPr/>
            </a:lvl1pPr>
          </a:lstStyle>
          <a:p>
            <a:pPr>
              <a:defRPr/>
            </a:pPr>
            <a:fld id="{83ACF02D-BD2B-41A3-A43A-08279D48516E}" type="slidenum">
              <a:rPr lang="en-US" altLang="zh-CN"/>
              <a:pPr>
                <a:defRPr/>
              </a:pPr>
              <a:t>‹#›</a:t>
            </a:fld>
            <a:endParaRPr lang="en-US" altLang="zh-CN"/>
          </a:p>
        </p:txBody>
      </p:sp>
    </p:spTree>
    <p:extLst>
      <p:ext uri="{BB962C8B-B14F-4D97-AF65-F5344CB8AC3E}">
        <p14:creationId xmlns:p14="http://schemas.microsoft.com/office/powerpoint/2010/main" val="821212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153F3F7-AC56-4FF9-B43F-CF4FBD8658D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3031F05-997D-49D6-A3A7-B3CFD738767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8907D21-A66F-4D72-8CDD-4E3976303BA1}"/>
              </a:ext>
            </a:extLst>
          </p:cNvPr>
          <p:cNvSpPr>
            <a:spLocks noGrp="1" noChangeArrowheads="1"/>
          </p:cNvSpPr>
          <p:nvPr>
            <p:ph type="sldNum" sz="quarter" idx="12"/>
          </p:nvPr>
        </p:nvSpPr>
        <p:spPr>
          <a:ln/>
        </p:spPr>
        <p:txBody>
          <a:bodyPr/>
          <a:lstStyle>
            <a:lvl1pPr>
              <a:defRPr/>
            </a:lvl1pPr>
          </a:lstStyle>
          <a:p>
            <a:pPr>
              <a:defRPr/>
            </a:pPr>
            <a:fld id="{D1AE9027-F3D1-4C9B-9224-74565BAB0F91}" type="slidenum">
              <a:rPr lang="en-US" altLang="zh-CN"/>
              <a:pPr>
                <a:defRPr/>
              </a:pPr>
              <a:t>‹#›</a:t>
            </a:fld>
            <a:endParaRPr lang="en-US" altLang="zh-CN"/>
          </a:p>
        </p:txBody>
      </p:sp>
    </p:spTree>
    <p:extLst>
      <p:ext uri="{BB962C8B-B14F-4D97-AF65-F5344CB8AC3E}">
        <p14:creationId xmlns:p14="http://schemas.microsoft.com/office/powerpoint/2010/main" val="3471907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07D94C75-0E5B-4C8C-8A85-61C6E7B6502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655DBC5-C64C-4A22-B684-D5ED958D0EC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A1FB95A-9604-4FE1-9D3A-7F2FF52535B1}"/>
              </a:ext>
            </a:extLst>
          </p:cNvPr>
          <p:cNvSpPr>
            <a:spLocks noGrp="1" noChangeArrowheads="1"/>
          </p:cNvSpPr>
          <p:nvPr>
            <p:ph type="sldNum" sz="quarter" idx="12"/>
          </p:nvPr>
        </p:nvSpPr>
        <p:spPr>
          <a:ln/>
        </p:spPr>
        <p:txBody>
          <a:bodyPr/>
          <a:lstStyle>
            <a:lvl1pPr>
              <a:defRPr/>
            </a:lvl1pPr>
          </a:lstStyle>
          <a:p>
            <a:pPr>
              <a:defRPr/>
            </a:pPr>
            <a:fld id="{01EA35FE-6C29-4C46-8B53-D31BCACACDA4}" type="slidenum">
              <a:rPr lang="en-US" altLang="zh-CN"/>
              <a:pPr>
                <a:defRPr/>
              </a:pPr>
              <a:t>‹#›</a:t>
            </a:fld>
            <a:endParaRPr lang="en-US" altLang="zh-CN"/>
          </a:p>
        </p:txBody>
      </p:sp>
    </p:spTree>
    <p:extLst>
      <p:ext uri="{BB962C8B-B14F-4D97-AF65-F5344CB8AC3E}">
        <p14:creationId xmlns:p14="http://schemas.microsoft.com/office/powerpoint/2010/main" val="3571400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67C559C9-402E-49B6-972F-BA454CAB79D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1CD5592F-244A-426B-AE54-C75B816AAF9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B71A969-1188-4E27-94E7-7C97008B70AD}"/>
              </a:ext>
            </a:extLst>
          </p:cNvPr>
          <p:cNvSpPr>
            <a:spLocks noGrp="1" noChangeArrowheads="1"/>
          </p:cNvSpPr>
          <p:nvPr>
            <p:ph type="sldNum" sz="quarter" idx="12"/>
          </p:nvPr>
        </p:nvSpPr>
        <p:spPr>
          <a:ln/>
        </p:spPr>
        <p:txBody>
          <a:bodyPr/>
          <a:lstStyle>
            <a:lvl1pPr>
              <a:defRPr/>
            </a:lvl1pPr>
          </a:lstStyle>
          <a:p>
            <a:pPr>
              <a:defRPr/>
            </a:pPr>
            <a:fld id="{A2BEFB40-825F-4796-972A-72776875975C}" type="slidenum">
              <a:rPr lang="en-US" altLang="zh-CN"/>
              <a:pPr>
                <a:defRPr/>
              </a:pPr>
              <a:t>‹#›</a:t>
            </a:fld>
            <a:endParaRPr lang="en-US" altLang="zh-CN"/>
          </a:p>
        </p:txBody>
      </p:sp>
    </p:spTree>
    <p:extLst>
      <p:ext uri="{BB962C8B-B14F-4D97-AF65-F5344CB8AC3E}">
        <p14:creationId xmlns:p14="http://schemas.microsoft.com/office/powerpoint/2010/main" val="1774853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87852098-092B-4191-91AC-47E76367E5B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62835333-50B1-47AA-8BD8-9180F0B6EF0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306042E5-AB1C-4E74-A4F2-A3A8A16B765E}"/>
              </a:ext>
            </a:extLst>
          </p:cNvPr>
          <p:cNvSpPr>
            <a:spLocks noGrp="1" noChangeArrowheads="1"/>
          </p:cNvSpPr>
          <p:nvPr>
            <p:ph type="sldNum" sz="quarter" idx="12"/>
          </p:nvPr>
        </p:nvSpPr>
        <p:spPr>
          <a:ln/>
        </p:spPr>
        <p:txBody>
          <a:bodyPr/>
          <a:lstStyle>
            <a:lvl1pPr>
              <a:defRPr/>
            </a:lvl1pPr>
          </a:lstStyle>
          <a:p>
            <a:pPr>
              <a:defRPr/>
            </a:pPr>
            <a:fld id="{FA06A27F-7434-4140-BAD3-3CE749CFA594}" type="slidenum">
              <a:rPr lang="en-US" altLang="zh-CN"/>
              <a:pPr>
                <a:defRPr/>
              </a:pPr>
              <a:t>‹#›</a:t>
            </a:fld>
            <a:endParaRPr lang="en-US" altLang="zh-CN"/>
          </a:p>
        </p:txBody>
      </p:sp>
    </p:spTree>
    <p:extLst>
      <p:ext uri="{BB962C8B-B14F-4D97-AF65-F5344CB8AC3E}">
        <p14:creationId xmlns:p14="http://schemas.microsoft.com/office/powerpoint/2010/main" val="3430043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CC065B87-4760-410D-9B8A-0031A9CAF7C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C54285A1-172E-4738-9540-9201D81FBB3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9AEB86D3-7468-4211-8791-ECFAAFE185BE}"/>
              </a:ext>
            </a:extLst>
          </p:cNvPr>
          <p:cNvSpPr>
            <a:spLocks noGrp="1" noChangeArrowheads="1"/>
          </p:cNvSpPr>
          <p:nvPr>
            <p:ph type="sldNum" sz="quarter" idx="12"/>
          </p:nvPr>
        </p:nvSpPr>
        <p:spPr>
          <a:ln/>
        </p:spPr>
        <p:txBody>
          <a:bodyPr/>
          <a:lstStyle>
            <a:lvl1pPr>
              <a:defRPr/>
            </a:lvl1pPr>
          </a:lstStyle>
          <a:p>
            <a:pPr>
              <a:defRPr/>
            </a:pPr>
            <a:fld id="{5D94F624-5205-4AAE-AE23-807F393407FA}" type="slidenum">
              <a:rPr lang="en-US" altLang="zh-CN"/>
              <a:pPr>
                <a:defRPr/>
              </a:pPr>
              <a:t>‹#›</a:t>
            </a:fld>
            <a:endParaRPr lang="en-US" altLang="zh-CN"/>
          </a:p>
        </p:txBody>
      </p:sp>
    </p:spTree>
    <p:extLst>
      <p:ext uri="{BB962C8B-B14F-4D97-AF65-F5344CB8AC3E}">
        <p14:creationId xmlns:p14="http://schemas.microsoft.com/office/powerpoint/2010/main" val="10472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C77E13B-72D9-470A-A1FF-022BA31FDD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7551F784-F8A4-4306-B383-E8C5305331E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D5B2EE31-B659-4A2E-A5F7-4B33CE055727}"/>
              </a:ext>
            </a:extLst>
          </p:cNvPr>
          <p:cNvSpPr>
            <a:spLocks noGrp="1" noChangeArrowheads="1"/>
          </p:cNvSpPr>
          <p:nvPr>
            <p:ph type="sldNum" sz="quarter" idx="12"/>
          </p:nvPr>
        </p:nvSpPr>
        <p:spPr>
          <a:ln/>
        </p:spPr>
        <p:txBody>
          <a:bodyPr/>
          <a:lstStyle>
            <a:lvl1pPr>
              <a:defRPr/>
            </a:lvl1pPr>
          </a:lstStyle>
          <a:p>
            <a:pPr>
              <a:defRPr/>
            </a:pPr>
            <a:fld id="{28315612-C62D-4AEB-B509-25ACC8E173B5}" type="slidenum">
              <a:rPr lang="en-US" altLang="zh-CN"/>
              <a:pPr>
                <a:defRPr/>
              </a:pPr>
              <a:t>‹#›</a:t>
            </a:fld>
            <a:endParaRPr lang="en-US" altLang="zh-CN"/>
          </a:p>
        </p:txBody>
      </p:sp>
    </p:spTree>
    <p:extLst>
      <p:ext uri="{BB962C8B-B14F-4D97-AF65-F5344CB8AC3E}">
        <p14:creationId xmlns:p14="http://schemas.microsoft.com/office/powerpoint/2010/main" val="1321404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7330B0F8-9AD5-4FFB-BAA3-1A9121D7747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5C99C597-8A04-4988-B2BC-BC7245954CD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4FA4472-FF9F-4640-A6AA-A22E92CDF4EA}"/>
              </a:ext>
            </a:extLst>
          </p:cNvPr>
          <p:cNvSpPr>
            <a:spLocks noGrp="1" noChangeArrowheads="1"/>
          </p:cNvSpPr>
          <p:nvPr>
            <p:ph type="sldNum" sz="quarter" idx="12"/>
          </p:nvPr>
        </p:nvSpPr>
        <p:spPr>
          <a:ln/>
        </p:spPr>
        <p:txBody>
          <a:bodyPr/>
          <a:lstStyle>
            <a:lvl1pPr>
              <a:defRPr/>
            </a:lvl1pPr>
          </a:lstStyle>
          <a:p>
            <a:pPr>
              <a:defRPr/>
            </a:pPr>
            <a:fld id="{EB68E671-225C-4CFC-9C8F-6FC8794CFFD6}" type="slidenum">
              <a:rPr lang="en-US" altLang="zh-CN"/>
              <a:pPr>
                <a:defRPr/>
              </a:pPr>
              <a:t>‹#›</a:t>
            </a:fld>
            <a:endParaRPr lang="en-US" altLang="zh-CN"/>
          </a:p>
        </p:txBody>
      </p:sp>
    </p:spTree>
    <p:extLst>
      <p:ext uri="{BB962C8B-B14F-4D97-AF65-F5344CB8AC3E}">
        <p14:creationId xmlns:p14="http://schemas.microsoft.com/office/powerpoint/2010/main" val="2242910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EC8497F1-318E-4118-8ADB-DC9B25B0626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C63987DB-7905-42B3-92B5-1E55EC54476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F771812-8A9A-4030-9354-C31CAB44A21B}"/>
              </a:ext>
            </a:extLst>
          </p:cNvPr>
          <p:cNvSpPr>
            <a:spLocks noGrp="1" noChangeArrowheads="1"/>
          </p:cNvSpPr>
          <p:nvPr>
            <p:ph type="sldNum" sz="quarter" idx="12"/>
          </p:nvPr>
        </p:nvSpPr>
        <p:spPr>
          <a:ln/>
        </p:spPr>
        <p:txBody>
          <a:bodyPr/>
          <a:lstStyle>
            <a:lvl1pPr>
              <a:defRPr/>
            </a:lvl1pPr>
          </a:lstStyle>
          <a:p>
            <a:pPr>
              <a:defRPr/>
            </a:pPr>
            <a:fld id="{D0C1CC3E-3A36-4EA1-8FDF-FCBC759A9980}" type="slidenum">
              <a:rPr lang="en-US" altLang="zh-CN"/>
              <a:pPr>
                <a:defRPr/>
              </a:pPr>
              <a:t>‹#›</a:t>
            </a:fld>
            <a:endParaRPr lang="en-US" altLang="zh-CN"/>
          </a:p>
        </p:txBody>
      </p:sp>
    </p:spTree>
    <p:extLst>
      <p:ext uri="{BB962C8B-B14F-4D97-AF65-F5344CB8AC3E}">
        <p14:creationId xmlns:p14="http://schemas.microsoft.com/office/powerpoint/2010/main" val="1270931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A0C0EC6-7BCF-4048-853F-1E8529DAA4B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DA18239-816F-4A76-A6F8-54BB7DC23A4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0D12BE1-4C58-4ED6-B698-E499CC12A84B}"/>
              </a:ext>
            </a:extLst>
          </p:cNvPr>
          <p:cNvSpPr>
            <a:spLocks noGrp="1" noChangeArrowheads="1"/>
          </p:cNvSpPr>
          <p:nvPr>
            <p:ph type="sldNum" sz="quarter" idx="12"/>
          </p:nvPr>
        </p:nvSpPr>
        <p:spPr>
          <a:ln/>
        </p:spPr>
        <p:txBody>
          <a:bodyPr/>
          <a:lstStyle>
            <a:lvl1pPr>
              <a:defRPr/>
            </a:lvl1pPr>
          </a:lstStyle>
          <a:p>
            <a:pPr>
              <a:defRPr/>
            </a:pPr>
            <a:fld id="{6179DB30-7045-4D36-B14A-80846535937F}" type="slidenum">
              <a:rPr lang="en-US" altLang="zh-CN"/>
              <a:pPr>
                <a:defRPr/>
              </a:pPr>
              <a:t>‹#›</a:t>
            </a:fld>
            <a:endParaRPr lang="en-US" altLang="zh-CN"/>
          </a:p>
        </p:txBody>
      </p:sp>
    </p:spTree>
    <p:extLst>
      <p:ext uri="{BB962C8B-B14F-4D97-AF65-F5344CB8AC3E}">
        <p14:creationId xmlns:p14="http://schemas.microsoft.com/office/powerpoint/2010/main" val="1856350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96751CC-D93A-4811-9EB6-52F2917DE16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252C067-7BB3-43EC-89D8-A7FA4AB2AD9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383FF4B-04D2-4813-BCA2-8E3C22F53182}"/>
              </a:ext>
            </a:extLst>
          </p:cNvPr>
          <p:cNvSpPr>
            <a:spLocks noGrp="1" noChangeArrowheads="1"/>
          </p:cNvSpPr>
          <p:nvPr>
            <p:ph type="sldNum" sz="quarter" idx="12"/>
          </p:nvPr>
        </p:nvSpPr>
        <p:spPr>
          <a:ln/>
        </p:spPr>
        <p:txBody>
          <a:bodyPr/>
          <a:lstStyle>
            <a:lvl1pPr>
              <a:defRPr/>
            </a:lvl1pPr>
          </a:lstStyle>
          <a:p>
            <a:pPr>
              <a:defRPr/>
            </a:pPr>
            <a:fld id="{5F5BCAFB-D2B0-4266-B070-58FF8190BD85}" type="slidenum">
              <a:rPr lang="en-US" altLang="zh-CN"/>
              <a:pPr>
                <a:defRPr/>
              </a:pPr>
              <a:t>‹#›</a:t>
            </a:fld>
            <a:endParaRPr lang="en-US" altLang="zh-CN"/>
          </a:p>
        </p:txBody>
      </p:sp>
    </p:spTree>
    <p:extLst>
      <p:ext uri="{BB962C8B-B14F-4D97-AF65-F5344CB8AC3E}">
        <p14:creationId xmlns:p14="http://schemas.microsoft.com/office/powerpoint/2010/main" val="500121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98ED485-6AA5-423E-A45F-DF87DF13AA7B}"/>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Rectangle 3">
            <a:extLst>
              <a:ext uri="{FF2B5EF4-FFF2-40B4-BE49-F238E27FC236}">
                <a16:creationId xmlns:a16="http://schemas.microsoft.com/office/drawing/2014/main" id="{EF87A2F6-7A58-428B-8C9D-135F10D749E2}"/>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endParaRPr lang="en-US" altLang="zh-CN"/>
          </a:p>
        </p:txBody>
      </p:sp>
      <p:sp>
        <p:nvSpPr>
          <p:cNvPr id="2052" name="Rectangle 4">
            <a:extLst>
              <a:ext uri="{FF2B5EF4-FFF2-40B4-BE49-F238E27FC236}">
                <a16:creationId xmlns:a16="http://schemas.microsoft.com/office/drawing/2014/main" id="{54FEE0AA-F66C-44D7-A2CF-E2A7D71EF929}"/>
              </a:ext>
            </a:extLst>
          </p:cNvPr>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lvl1pPr eaLnBrk="1" hangingPunct="1">
              <a:buFont typeface="Arial" charset="0"/>
              <a:buNone/>
              <a:defRPr sz="1400">
                <a:latin typeface="Arial" charset="0"/>
                <a:ea typeface="宋体" charset="0"/>
                <a:cs typeface="宋体" charset="0"/>
              </a:defRPr>
            </a:lvl1pPr>
          </a:lstStyle>
          <a:p>
            <a:pPr>
              <a:defRPr/>
            </a:pPr>
            <a:endParaRPr lang="en-US" altLang="zh-CN"/>
          </a:p>
        </p:txBody>
      </p:sp>
      <p:sp>
        <p:nvSpPr>
          <p:cNvPr id="2053" name="Rectangle 5">
            <a:extLst>
              <a:ext uri="{FF2B5EF4-FFF2-40B4-BE49-F238E27FC236}">
                <a16:creationId xmlns:a16="http://schemas.microsoft.com/office/drawing/2014/main" id="{02B35E2B-65B8-403C-BFDA-3A5BA16A2D38}"/>
              </a:ext>
            </a:extLst>
          </p:cNvPr>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lvl1pPr algn="ctr" eaLnBrk="1" hangingPunct="1">
              <a:buFont typeface="Arial" charset="0"/>
              <a:buNone/>
              <a:defRPr sz="1400">
                <a:latin typeface="Arial" charset="0"/>
                <a:ea typeface="宋体" charset="0"/>
                <a:cs typeface="宋体" charset="0"/>
              </a:defRPr>
            </a:lvl1pPr>
          </a:lstStyle>
          <a:p>
            <a:pPr>
              <a:defRPr/>
            </a:pPr>
            <a:endParaRPr lang="en-US" altLang="zh-CN"/>
          </a:p>
        </p:txBody>
      </p:sp>
      <p:sp>
        <p:nvSpPr>
          <p:cNvPr id="2054" name="Rectangle 6">
            <a:extLst>
              <a:ext uri="{FF2B5EF4-FFF2-40B4-BE49-F238E27FC236}">
                <a16:creationId xmlns:a16="http://schemas.microsoft.com/office/drawing/2014/main" id="{844184CE-A564-44F9-A27E-2DDE5988ED99}"/>
              </a:ext>
            </a:extLst>
          </p:cNvPr>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400">
                <a:ea typeface="SimSun" panose="02010600030101010101" pitchFamily="2" charset="-122"/>
              </a:defRPr>
            </a:lvl1pPr>
          </a:lstStyle>
          <a:p>
            <a:pPr>
              <a:defRPr/>
            </a:pPr>
            <a:fld id="{F5F2B2FA-3BF5-48AF-AA11-EF51B337F4E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hangingPunct="0">
        <a:spcBef>
          <a:spcPct val="0"/>
        </a:spcBef>
        <a:spcAft>
          <a:spcPct val="0"/>
        </a:spcAft>
        <a:defRPr sz="4400" kern="1200">
          <a:solidFill>
            <a:schemeClr val="tx2"/>
          </a:solidFill>
          <a:latin typeface="+mj-lt"/>
          <a:ea typeface="MS PGothic" panose="020B0600070205080204" pitchFamily="34" charset="-128"/>
          <a:cs typeface="SimSun" panose="02010600030101010101" pitchFamily="2" charset="-122"/>
        </a:defRPr>
      </a:lvl1pPr>
      <a:lvl2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pitchFamily="34" charset="-128"/>
          <a:cs typeface="SimSun"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pitchFamily="34" charset="-128"/>
          <a:cs typeface="SimSun"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pitchFamily="34" charset="-128"/>
          <a:cs typeface="SimSun"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pitchFamily="34" charset="-128"/>
          <a:cs typeface="SimSun" panose="02010600030101010101" pitchFamily="2" charset="-122"/>
        </a:defRPr>
      </a:lvl5pPr>
      <a:lvl6pPr marL="4572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S PGothic" panose="020B0600070205080204" pitchFamily="34" charset="-128"/>
          <a:cs typeface="SimSun" panose="02010600030101010101" pitchFamily="2" charset="-122"/>
        </a:defRPr>
      </a:lvl1pPr>
      <a:lvl2pPr marL="742950" indent="-285750" algn="l" rtl="0" eaLnBrk="0" fontAlgn="base" hangingPunct="0">
        <a:spcBef>
          <a:spcPct val="20000"/>
        </a:spcBef>
        <a:spcAft>
          <a:spcPct val="0"/>
        </a:spcAft>
        <a:buChar char="–"/>
        <a:defRPr sz="2800" kern="1200">
          <a:solidFill>
            <a:schemeClr val="tx1"/>
          </a:solidFill>
          <a:latin typeface="+mn-lt"/>
          <a:ea typeface="SimSun" panose="02010600030101010101" pitchFamily="2" charset="-122"/>
          <a:cs typeface="SimSun" panose="02010600030101010101" pitchFamily="2" charset="-122"/>
        </a:defRPr>
      </a:lvl2pPr>
      <a:lvl3pPr marL="1143000" indent="-228600" algn="l" rtl="0" eaLnBrk="0" fontAlgn="base" hangingPunct="0">
        <a:spcBef>
          <a:spcPct val="20000"/>
        </a:spcBef>
        <a:spcAft>
          <a:spcPct val="0"/>
        </a:spcAft>
        <a:buChar char="•"/>
        <a:defRPr sz="2400" kern="1200">
          <a:solidFill>
            <a:schemeClr val="tx1"/>
          </a:solidFill>
          <a:latin typeface="+mn-lt"/>
          <a:ea typeface="SimSun" panose="02010600030101010101" pitchFamily="2" charset="-122"/>
          <a:cs typeface="SimSun" panose="02010600030101010101" pitchFamily="2" charset="-122"/>
        </a:defRPr>
      </a:lvl3pPr>
      <a:lvl4pPr marL="1600200" indent="-228600" algn="l" rtl="0" eaLnBrk="0" fontAlgn="base" hangingPunct="0">
        <a:spcBef>
          <a:spcPct val="20000"/>
        </a:spcBef>
        <a:spcAft>
          <a:spcPct val="0"/>
        </a:spcAft>
        <a:buChar char="–"/>
        <a:defRPr sz="2000" kern="1200">
          <a:solidFill>
            <a:schemeClr val="tx1"/>
          </a:solidFill>
          <a:latin typeface="+mn-lt"/>
          <a:ea typeface="SimSun" panose="02010600030101010101" pitchFamily="2" charset="-122"/>
          <a:cs typeface="SimSun" panose="02010600030101010101" pitchFamily="2" charset="-122"/>
        </a:defRPr>
      </a:lvl4pPr>
      <a:lvl5pPr marL="2057400" indent="-228600" algn="l" rtl="0" eaLnBrk="0" fontAlgn="base" hangingPunct="0">
        <a:spcBef>
          <a:spcPct val="20000"/>
        </a:spcBef>
        <a:spcAft>
          <a:spcPct val="0"/>
        </a:spcAft>
        <a:buChar char="»"/>
        <a:defRPr sz="2000" kern="1200">
          <a:solidFill>
            <a:schemeClr val="tx1"/>
          </a:solidFill>
          <a:latin typeface="+mn-lt"/>
          <a:ea typeface="SimSun" panose="02010600030101010101" pitchFamily="2" charset="-122"/>
          <a:cs typeface="SimSun"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a:extLst>
              <a:ext uri="{FF2B5EF4-FFF2-40B4-BE49-F238E27FC236}">
                <a16:creationId xmlns:a16="http://schemas.microsoft.com/office/drawing/2014/main" id="{C8A27B77-DB4B-42EA-A92A-73A776DB8004}"/>
              </a:ext>
            </a:extLst>
          </p:cNvPr>
          <p:cNvSpPr txBox="1">
            <a:spLocks noChangeArrowheads="1"/>
          </p:cNvSpPr>
          <p:nvPr/>
        </p:nvSpPr>
        <p:spPr bwMode="auto">
          <a:xfrm>
            <a:off x="914400" y="2828005"/>
            <a:ext cx="73152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6000" dirty="0">
                <a:latin typeface="SimHei" panose="02010609060101010101" pitchFamily="49" charset="-122"/>
                <a:ea typeface="SimHei" panose="02010609060101010101" pitchFamily="49" charset="-122"/>
                <a:cs typeface="Adobe 黑体 Std R" charset="-122"/>
              </a:rPr>
              <a:t>头发洗护类化妆品</a:t>
            </a:r>
            <a:endParaRPr lang="en-US" altLang="zh-CN" sz="6000" dirty="0">
              <a:latin typeface="SimHei" panose="02010609060101010101" pitchFamily="49" charset="-122"/>
              <a:ea typeface="SimHei" panose="02010609060101010101" pitchFamily="49" charset="-122"/>
              <a:cs typeface="Adobe 黑体 Std R" charset="-122"/>
            </a:endParaRPr>
          </a:p>
        </p:txBody>
      </p:sp>
    </p:spTree>
    <p:extLst>
      <p:ext uri="{BB962C8B-B14F-4D97-AF65-F5344CB8AC3E}">
        <p14:creationId xmlns:p14="http://schemas.microsoft.com/office/powerpoint/2010/main" val="2277165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概要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06610" y="1597191"/>
            <a:ext cx="7461065" cy="324031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800" dirty="0">
                <a:latin typeface="+mn-lt"/>
                <a:ea typeface="SimHei" panose="02010609060101010101" pitchFamily="49" charset="-122"/>
              </a:rPr>
              <a:t>毛发基础理论</a:t>
            </a:r>
            <a:endParaRPr lang="en-US" altLang="zh-CN" sz="28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8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800" dirty="0">
                <a:latin typeface="+mn-lt"/>
                <a:ea typeface="SimHei" panose="02010609060101010101" pitchFamily="49" charset="-122"/>
              </a:rPr>
              <a:t>洗发产品</a:t>
            </a:r>
            <a:endParaRPr lang="en-US" altLang="zh-CN" sz="28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8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800" dirty="0">
                <a:latin typeface="+mn-lt"/>
                <a:ea typeface="SimHei" panose="02010609060101010101" pitchFamily="49" charset="-122"/>
              </a:rPr>
              <a:t>护发产品</a:t>
            </a:r>
            <a:endParaRPr lang="en-US" altLang="zh-CN" sz="2800" dirty="0">
              <a:latin typeface="+mn-lt"/>
              <a:ea typeface="SimHei" panose="02010609060101010101" pitchFamily="49" charset="-122"/>
            </a:endParaRPr>
          </a:p>
        </p:txBody>
      </p:sp>
    </p:spTree>
    <p:extLst>
      <p:ext uri="{BB962C8B-B14F-4D97-AF65-F5344CB8AC3E}">
        <p14:creationId xmlns:p14="http://schemas.microsoft.com/office/powerpoint/2010/main" val="142200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毛发概述</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77917" y="1165614"/>
            <a:ext cx="7756636" cy="334457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头发是颅脑的最外保护层，可以保护头皮避免冻伤和日晒，对外界的冲击力可以起到一定的缓冲作用。头发也是仪表的重要组成部分，好的发型可以弥补头部和面形的不足，对于衬托人的容貌美起着十分重要的作用，在某种程度上也反映了一个人的文化素养、审美情趣，在历史上甚至也成为身份象征之一。</a:t>
            </a:r>
          </a:p>
        </p:txBody>
      </p:sp>
    </p:spTree>
    <p:extLst>
      <p:ext uri="{BB962C8B-B14F-4D97-AF65-F5344CB8AC3E}">
        <p14:creationId xmlns:p14="http://schemas.microsoft.com/office/powerpoint/2010/main" val="1851136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萌翻了！深圳野生动物园火烈鸟宝宝们齐亮相">
            <a:extLst>
              <a:ext uri="{FF2B5EF4-FFF2-40B4-BE49-F238E27FC236}">
                <a16:creationId xmlns:a16="http://schemas.microsoft.com/office/drawing/2014/main" id="{483B19CB-FF3C-FC94-48DE-0A4901B321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 y="1230532"/>
            <a:ext cx="7886700" cy="5248275"/>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3">
            <a:extLst>
              <a:ext uri="{FF2B5EF4-FFF2-40B4-BE49-F238E27FC236}">
                <a16:creationId xmlns:a16="http://schemas.microsoft.com/office/drawing/2014/main" id="{4EE9A288-E925-DC1C-2DF4-7D4F0DAC42A4}"/>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9544467D-D706-AE57-90F7-232012952DBC}"/>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3BCD81B6-18B2-056C-FEE9-B5D8001C633D}"/>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来自食物的颜色</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Tree>
    <p:extLst>
      <p:ext uri="{BB962C8B-B14F-4D97-AF65-F5344CB8AC3E}">
        <p14:creationId xmlns:p14="http://schemas.microsoft.com/office/powerpoint/2010/main" val="3370956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70474D04-7E7D-D252-636C-03AFD34E0916}"/>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B70DFF3E-8491-079F-CFF3-263A72601FBD}"/>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A2EC2EB5-8CBD-ECBC-CE03-3C096DE4417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火烈鸟羽毛的红色</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6" name="文本框 5">
            <a:extLst>
              <a:ext uri="{FF2B5EF4-FFF2-40B4-BE49-F238E27FC236}">
                <a16:creationId xmlns:a16="http://schemas.microsoft.com/office/drawing/2014/main" id="{C3D1C70C-4706-DCE6-394D-D83F35F32FDB}"/>
              </a:ext>
            </a:extLst>
          </p:cNvPr>
          <p:cNvSpPr txBox="1"/>
          <p:nvPr/>
        </p:nvSpPr>
        <p:spPr>
          <a:xfrm>
            <a:off x="182880" y="1357290"/>
            <a:ext cx="8778240" cy="3182923"/>
          </a:xfrm>
          <a:prstGeom prst="rect">
            <a:avLst/>
          </a:prstGeom>
          <a:noFill/>
        </p:spPr>
        <p:txBody>
          <a:bodyPr wrap="square">
            <a:spAutoFit/>
          </a:bodyPr>
          <a:lstStyle/>
          <a:p>
            <a:pPr marL="342900" indent="-342900" algn="l">
              <a:lnSpc>
                <a:spcPts val="2250"/>
              </a:lnSpc>
              <a:spcAft>
                <a:spcPts val="1500"/>
              </a:spcAft>
              <a:buFont typeface="Arial" panose="020B0604020202020204" pitchFamily="34" charset="0"/>
              <a:buChar char="•"/>
            </a:pPr>
            <a:r>
              <a:rPr lang="zh-CN" altLang="en-US" sz="2400" dirty="0">
                <a:latin typeface="+mn-lt"/>
                <a:ea typeface="SimHei" panose="02010609060101010101" pitchFamily="49" charset="-122"/>
              </a:rPr>
              <a:t>脊椎动物中，并不存在可以自我生产类胡萝卜素的生物，所以食物成了获取它们的唯一来源。</a:t>
            </a:r>
            <a:br>
              <a:rPr lang="zh-CN" altLang="en-US" sz="2400" dirty="0">
                <a:latin typeface="+mn-lt"/>
                <a:ea typeface="SimHei" panose="02010609060101010101" pitchFamily="49" charset="-122"/>
              </a:rPr>
            </a:br>
            <a:endParaRPr lang="zh-CN" altLang="en-US" sz="2400" dirty="0">
              <a:latin typeface="+mn-lt"/>
              <a:ea typeface="SimHei" panose="02010609060101010101" pitchFamily="49" charset="-122"/>
            </a:endParaRPr>
          </a:p>
          <a:p>
            <a:pPr marL="342900" indent="-342900" algn="l">
              <a:lnSpc>
                <a:spcPts val="2250"/>
              </a:lnSpc>
              <a:spcAft>
                <a:spcPts val="1875"/>
              </a:spcAft>
              <a:buFont typeface="Arial" panose="020B0604020202020204" pitchFamily="34" charset="0"/>
              <a:buChar char="•"/>
            </a:pPr>
            <a:r>
              <a:rPr lang="zh-CN" altLang="en-US" sz="2400" dirty="0">
                <a:latin typeface="+mn-lt"/>
                <a:ea typeface="SimHei" panose="02010609060101010101" pitchFamily="49" charset="-122"/>
              </a:rPr>
              <a:t>以滤食为主的火烈鸟，天生长着一张奇特的、可以从水中筛滤诸如藻类、小型水生甲壳动物等浮游生物的喙，而这些食物中恰恰富含包括角黄素、虾青素在内的多种红色类胡萝卜素。</a:t>
            </a:r>
            <a:endParaRPr lang="en-US" altLang="zh-CN" sz="2400" dirty="0">
              <a:latin typeface="+mn-lt"/>
              <a:ea typeface="SimHei" panose="02010609060101010101" pitchFamily="49" charset="-122"/>
            </a:endParaRPr>
          </a:p>
          <a:p>
            <a:pPr marL="342900" indent="-342900" algn="l">
              <a:lnSpc>
                <a:spcPts val="2250"/>
              </a:lnSpc>
              <a:spcAft>
                <a:spcPts val="1875"/>
              </a:spcAft>
              <a:buFont typeface="Arial" panose="020B0604020202020204" pitchFamily="34" charset="0"/>
              <a:buChar char="•"/>
            </a:pPr>
            <a:r>
              <a:rPr lang="zh-CN" altLang="en-US" sz="2400" dirty="0">
                <a:latin typeface="+mn-lt"/>
                <a:ea typeface="SimHei" panose="02010609060101010101" pitchFamily="49" charset="-122"/>
              </a:rPr>
              <a:t>科学家也在对于美洲红鹳的研究中证实，当停止投喂带有类胡萝卜素的食物</a:t>
            </a:r>
            <a:r>
              <a:rPr lang="en-US" altLang="zh-CN" sz="2400" dirty="0">
                <a:latin typeface="+mn-lt"/>
                <a:ea typeface="SimHei" panose="02010609060101010101" pitchFamily="49" charset="-122"/>
              </a:rPr>
              <a:t>6</a:t>
            </a:r>
            <a:r>
              <a:rPr lang="zh-CN" altLang="en-US" sz="2400" dirty="0">
                <a:latin typeface="+mn-lt"/>
                <a:ea typeface="SimHei" panose="02010609060101010101" pitchFamily="49" charset="-122"/>
              </a:rPr>
              <a:t>个月后，火烈鸟血液中的类胡萝卜素水平下降了接近九成！</a:t>
            </a:r>
          </a:p>
        </p:txBody>
      </p:sp>
    </p:spTree>
    <p:extLst>
      <p:ext uri="{BB962C8B-B14F-4D97-AF65-F5344CB8AC3E}">
        <p14:creationId xmlns:p14="http://schemas.microsoft.com/office/powerpoint/2010/main" val="2853620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67EF6C62-8261-3A2E-7698-A41047E07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46495"/>
            <a:ext cx="9144000" cy="1744663"/>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3">
            <a:extLst>
              <a:ext uri="{FF2B5EF4-FFF2-40B4-BE49-F238E27FC236}">
                <a16:creationId xmlns:a16="http://schemas.microsoft.com/office/drawing/2014/main" id="{777A7BBF-E183-08D5-D43C-D7CA559C392A}"/>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B6D3B2F4-5667-CD00-F03E-A0A327D80A6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A552CD49-A41B-39AE-F8F2-C0FABE6F190D}"/>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火烈鸟羽毛的红色</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6" name="文本框 5">
            <a:extLst>
              <a:ext uri="{FF2B5EF4-FFF2-40B4-BE49-F238E27FC236}">
                <a16:creationId xmlns:a16="http://schemas.microsoft.com/office/drawing/2014/main" id="{1BDCC25E-C32C-BA6F-E929-DF8740088A31}"/>
              </a:ext>
            </a:extLst>
          </p:cNvPr>
          <p:cNvSpPr txBox="1"/>
          <p:nvPr/>
        </p:nvSpPr>
        <p:spPr>
          <a:xfrm>
            <a:off x="182880" y="3351344"/>
            <a:ext cx="8778240" cy="3046988"/>
          </a:xfrm>
          <a:prstGeom prst="rect">
            <a:avLst/>
          </a:prstGeom>
          <a:noFill/>
        </p:spPr>
        <p:txBody>
          <a:bodyPr wrap="square">
            <a:spAutoFit/>
          </a:bodyPr>
          <a:lstStyle/>
          <a:p>
            <a:pPr marL="342900" indent="-342900">
              <a:buFont typeface="Arial" panose="020B0604020202020204" pitchFamily="34" charset="0"/>
              <a:buChar char="•"/>
            </a:pPr>
            <a:r>
              <a:rPr lang="zh-CN" altLang="en-US" sz="2400" dirty="0">
                <a:latin typeface="+mn-lt"/>
                <a:ea typeface="SimHei" panose="02010609060101010101" pitchFamily="49" charset="-122"/>
              </a:rPr>
              <a:t>相较于</a:t>
            </a:r>
            <a:r>
              <a:rPr lang="en-US" altLang="zh-CN" sz="2400" dirty="0">
                <a:latin typeface="+mn-lt"/>
                <a:ea typeface="SimHei" panose="02010609060101010101" pitchFamily="49" charset="-122"/>
              </a:rPr>
              <a:t>β-</a:t>
            </a:r>
            <a:r>
              <a:rPr lang="zh-CN" altLang="en-US" sz="2400" dirty="0">
                <a:latin typeface="+mn-lt"/>
                <a:ea typeface="SimHei" panose="02010609060101010101" pitchFamily="49" charset="-122"/>
              </a:rPr>
              <a:t>隐黄素（左），虾青素（右）的共轭双键链更长，它的颜色也更红。</a:t>
            </a:r>
            <a:endParaRPr lang="en-US" altLang="zh-CN" sz="2400" dirty="0">
              <a:latin typeface="+mn-lt"/>
              <a:ea typeface="SimHei" panose="02010609060101010101" pitchFamily="49" charset="-122"/>
            </a:endParaRPr>
          </a:p>
          <a:p>
            <a:pPr marL="342900" indent="-342900">
              <a:buFont typeface="Arial" panose="020B0604020202020204" pitchFamily="34" charset="0"/>
              <a:buChar char="•"/>
            </a:pPr>
            <a:endParaRPr lang="en-US" altLang="zh-CN" sz="2400" dirty="0">
              <a:latin typeface="+mn-lt"/>
              <a:ea typeface="SimHei" panose="02010609060101010101" pitchFamily="49" charset="-122"/>
            </a:endParaRPr>
          </a:p>
          <a:p>
            <a:pPr marL="342900" indent="-342900">
              <a:buFont typeface="Arial" panose="020B0604020202020204" pitchFamily="34" charset="0"/>
              <a:buChar char="•"/>
            </a:pPr>
            <a:r>
              <a:rPr lang="zh-CN" altLang="en-US" sz="2400" dirty="0">
                <a:latin typeface="+mn-lt"/>
                <a:ea typeface="SimHei" panose="02010609060101010101" pitchFamily="49" charset="-122"/>
              </a:rPr>
              <a:t>火烈鸟，科学家确实在它们的羽毛和皮肤组织中发现了虾青素（</a:t>
            </a:r>
            <a:r>
              <a:rPr lang="en-US" altLang="zh-CN" sz="2400" dirty="0">
                <a:latin typeface="+mn-lt"/>
                <a:ea typeface="SimHei" panose="02010609060101010101" pitchFamily="49" charset="-122"/>
              </a:rPr>
              <a:t>astaxanthin</a:t>
            </a:r>
            <a:r>
              <a:rPr lang="zh-CN" altLang="en-US" sz="2400" dirty="0">
                <a:latin typeface="+mn-lt"/>
                <a:ea typeface="SimHei" panose="02010609060101010101" pitchFamily="49" charset="-122"/>
              </a:rPr>
              <a:t>），但是！同时被发现的红色类胡萝卜素（后面简称红色素）还有金盏花红素（</a:t>
            </a:r>
            <a:r>
              <a:rPr lang="en-US" altLang="zh-CN" sz="2400" dirty="0">
                <a:latin typeface="+mn-lt"/>
                <a:ea typeface="SimHei" panose="02010609060101010101" pitchFamily="49" charset="-122"/>
              </a:rPr>
              <a:t>adonirubin</a:t>
            </a:r>
            <a:r>
              <a:rPr lang="zh-CN" altLang="en-US" sz="2400" dirty="0">
                <a:latin typeface="+mn-lt"/>
                <a:ea typeface="SimHei" panose="02010609060101010101" pitchFamily="49" charset="-122"/>
              </a:rPr>
              <a:t>）、角黄素（</a:t>
            </a:r>
            <a:r>
              <a:rPr lang="en-US" altLang="zh-CN" sz="2400" dirty="0">
                <a:latin typeface="+mn-lt"/>
                <a:ea typeface="SimHei" panose="02010609060101010101" pitchFamily="49" charset="-122"/>
              </a:rPr>
              <a:t>canthaxanthin</a:t>
            </a:r>
            <a:r>
              <a:rPr lang="zh-CN" altLang="en-US" sz="2400" dirty="0">
                <a:latin typeface="+mn-lt"/>
                <a:ea typeface="SimHei" panose="02010609060101010101" pitchFamily="49" charset="-122"/>
              </a:rPr>
              <a:t>）和芬妮黄酮（</a:t>
            </a:r>
            <a:r>
              <a:rPr lang="en-US" altLang="zh-CN" sz="2400" dirty="0">
                <a:latin typeface="+mn-lt"/>
                <a:ea typeface="SimHei" panose="02010609060101010101" pitchFamily="49" charset="-122"/>
              </a:rPr>
              <a:t>Phoenicopterone</a:t>
            </a:r>
            <a:r>
              <a:rPr lang="zh-CN" altLang="en-US" sz="2400" dirty="0">
                <a:latin typeface="+mn-lt"/>
                <a:ea typeface="SimHei" panose="02010609060101010101" pitchFamily="49" charset="-122"/>
              </a:rPr>
              <a:t>，只在红鹳属的</a:t>
            </a:r>
            <a:r>
              <a:rPr lang="en-US" altLang="zh-CN" sz="2400" dirty="0">
                <a:latin typeface="+mn-lt"/>
                <a:ea typeface="SimHei" panose="02010609060101010101" pitchFamily="49" charset="-122"/>
              </a:rPr>
              <a:t>3</a:t>
            </a:r>
            <a:r>
              <a:rPr lang="zh-CN" altLang="en-US" sz="2400" dirty="0">
                <a:latin typeface="+mn-lt"/>
                <a:ea typeface="SimHei" panose="02010609060101010101" pitchFamily="49" charset="-122"/>
              </a:rPr>
              <a:t>种火烈鸟中有被发现）。</a:t>
            </a:r>
            <a:endParaRPr lang="en-US" sz="2400" dirty="0">
              <a:latin typeface="+mn-lt"/>
              <a:ea typeface="SimHei" panose="02010609060101010101" pitchFamily="49" charset="-122"/>
            </a:endParaRPr>
          </a:p>
        </p:txBody>
      </p:sp>
    </p:spTree>
    <p:extLst>
      <p:ext uri="{BB962C8B-B14F-4D97-AF65-F5344CB8AC3E}">
        <p14:creationId xmlns:p14="http://schemas.microsoft.com/office/powerpoint/2010/main" val="294316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1C802D7-E542-FA4A-460D-7A4A9EA92086}"/>
              </a:ext>
            </a:extLst>
          </p:cNvPr>
          <p:cNvSpPr txBox="1"/>
          <p:nvPr/>
        </p:nvSpPr>
        <p:spPr>
          <a:xfrm>
            <a:off x="182880" y="1610113"/>
            <a:ext cx="8778240" cy="4154984"/>
          </a:xfrm>
          <a:prstGeom prst="rect">
            <a:avLst/>
          </a:prstGeom>
          <a:noFill/>
        </p:spPr>
        <p:txBody>
          <a:bodyPr wrap="square">
            <a:spAutoFit/>
          </a:bodyPr>
          <a:lstStyle/>
          <a:p>
            <a:pPr marL="342900" indent="-342900">
              <a:buFont typeface="Arial" panose="020B0604020202020204" pitchFamily="34" charset="0"/>
              <a:buChar char="•"/>
            </a:pPr>
            <a:r>
              <a:rPr lang="zh-CN" altLang="en-US" sz="2400" dirty="0">
                <a:latin typeface="+mn-lt"/>
                <a:ea typeface="SimHei" panose="02010609060101010101" pitchFamily="49" charset="-122"/>
              </a:rPr>
              <a:t>火烈鸟，科学家确实在它们的羽毛和皮肤组织中发现了虾青素（</a:t>
            </a:r>
            <a:r>
              <a:rPr lang="en-US" altLang="zh-CN" sz="2400" dirty="0">
                <a:latin typeface="+mn-lt"/>
                <a:ea typeface="SimHei" panose="02010609060101010101" pitchFamily="49" charset="-122"/>
              </a:rPr>
              <a:t>astaxanthin</a:t>
            </a:r>
            <a:r>
              <a:rPr lang="zh-CN" altLang="en-US" sz="2400" dirty="0">
                <a:latin typeface="+mn-lt"/>
                <a:ea typeface="SimHei" panose="02010609060101010101" pitchFamily="49" charset="-122"/>
              </a:rPr>
              <a:t>），但是！同时被发现的红色类胡萝卜素（后面简称红色素）还有金盏花红素（</a:t>
            </a:r>
            <a:r>
              <a:rPr lang="en-US" altLang="zh-CN" sz="2400" dirty="0">
                <a:latin typeface="+mn-lt"/>
                <a:ea typeface="SimHei" panose="02010609060101010101" pitchFamily="49" charset="-122"/>
              </a:rPr>
              <a:t>adonirubin</a:t>
            </a:r>
            <a:r>
              <a:rPr lang="zh-CN" altLang="en-US" sz="2400" dirty="0">
                <a:latin typeface="+mn-lt"/>
                <a:ea typeface="SimHei" panose="02010609060101010101" pitchFamily="49" charset="-122"/>
              </a:rPr>
              <a:t>）、角黄素（</a:t>
            </a:r>
            <a:r>
              <a:rPr lang="en-US" altLang="zh-CN" sz="2400" dirty="0">
                <a:latin typeface="+mn-lt"/>
                <a:ea typeface="SimHei" panose="02010609060101010101" pitchFamily="49" charset="-122"/>
              </a:rPr>
              <a:t>canthaxanthin</a:t>
            </a:r>
            <a:r>
              <a:rPr lang="zh-CN" altLang="en-US" sz="2400" dirty="0">
                <a:latin typeface="+mn-lt"/>
                <a:ea typeface="SimHei" panose="02010609060101010101" pitchFamily="49" charset="-122"/>
              </a:rPr>
              <a:t>）和芬妮黄酮（</a:t>
            </a:r>
            <a:r>
              <a:rPr lang="en-US" altLang="zh-CN" sz="2400" dirty="0">
                <a:latin typeface="+mn-lt"/>
                <a:ea typeface="SimHei" panose="02010609060101010101" pitchFamily="49" charset="-122"/>
              </a:rPr>
              <a:t>Phoenicopterone</a:t>
            </a:r>
            <a:r>
              <a:rPr lang="zh-CN" altLang="en-US" sz="2400" dirty="0">
                <a:latin typeface="+mn-lt"/>
                <a:ea typeface="SimHei" panose="02010609060101010101" pitchFamily="49" charset="-122"/>
              </a:rPr>
              <a:t>，只在红鹳属的</a:t>
            </a:r>
            <a:r>
              <a:rPr lang="en-US" altLang="zh-CN" sz="2400" dirty="0">
                <a:latin typeface="+mn-lt"/>
                <a:ea typeface="SimHei" panose="02010609060101010101" pitchFamily="49" charset="-122"/>
              </a:rPr>
              <a:t>3</a:t>
            </a:r>
            <a:r>
              <a:rPr lang="zh-CN" altLang="en-US" sz="2400" dirty="0">
                <a:latin typeface="+mn-lt"/>
                <a:ea typeface="SimHei" panose="02010609060101010101" pitchFamily="49" charset="-122"/>
              </a:rPr>
              <a:t>种火烈鸟中有被发现）。</a:t>
            </a:r>
            <a:endParaRPr lang="en-US" sz="2400" dirty="0">
              <a:latin typeface="+mn-lt"/>
              <a:ea typeface="SimHei" panose="02010609060101010101" pitchFamily="49" charset="-122"/>
            </a:endParaRPr>
          </a:p>
          <a:p>
            <a:pPr marL="342900" indent="-342900">
              <a:buFont typeface="Arial" panose="020B0604020202020204" pitchFamily="34" charset="0"/>
              <a:buChar char="•"/>
            </a:pPr>
            <a:endParaRPr lang="en-US" altLang="zh-CN" sz="2400" dirty="0">
              <a:latin typeface="+mn-lt"/>
              <a:ea typeface="SimHei" panose="02010609060101010101" pitchFamily="49" charset="-122"/>
            </a:endParaRPr>
          </a:p>
          <a:p>
            <a:pPr marL="342900" indent="-342900">
              <a:buFont typeface="Arial" panose="020B0604020202020204" pitchFamily="34" charset="0"/>
              <a:buChar char="•"/>
            </a:pPr>
            <a:r>
              <a:rPr lang="zh-CN" altLang="en-US" sz="2400" dirty="0">
                <a:latin typeface="+mn-lt"/>
                <a:ea typeface="SimHei" panose="02010609060101010101" pitchFamily="49" charset="-122"/>
              </a:rPr>
              <a:t>不同火烈鸟体内含有的红色素成分以及含量比例都存在一定差异，但只有在美洲红鹳的腿部皮肤中，虾青素的含量是占主导地位的。而在其他羽毛和组织样本中，占比最高的无一例外都是角黄素，虾青素的含量只能排在第二或者第三的位置，且绝对含量与第一名的角黄素相去甚远。</a:t>
            </a:r>
            <a:endParaRPr lang="en-US" sz="2400" dirty="0">
              <a:latin typeface="+mn-lt"/>
              <a:ea typeface="SimHei" panose="02010609060101010101" pitchFamily="49" charset="-122"/>
            </a:endParaRPr>
          </a:p>
        </p:txBody>
      </p:sp>
      <p:sp>
        <p:nvSpPr>
          <p:cNvPr id="4" name="灯片编号占位符 3">
            <a:extLst>
              <a:ext uri="{FF2B5EF4-FFF2-40B4-BE49-F238E27FC236}">
                <a16:creationId xmlns:a16="http://schemas.microsoft.com/office/drawing/2014/main" id="{1D0E0914-0075-8127-BF8F-D98E994573D8}"/>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a:t>
            </a:fld>
            <a:endParaRPr lang="zh-CN" altLang="en-US" sz="1800" b="1" dirty="0">
              <a:latin typeface="Adobe 黑体 Std R" charset="-122"/>
              <a:ea typeface="Adobe 黑体 Std R" charset="-122"/>
            </a:endParaRPr>
          </a:p>
        </p:txBody>
      </p:sp>
      <p:sp>
        <p:nvSpPr>
          <p:cNvPr id="5" name="Rectangle 3">
            <a:extLst>
              <a:ext uri="{FF2B5EF4-FFF2-40B4-BE49-F238E27FC236}">
                <a16:creationId xmlns:a16="http://schemas.microsoft.com/office/drawing/2014/main" id="{E6C0D74C-E08C-08A2-FBF8-A384820B2C9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6" name="TextBox 5">
            <a:extLst>
              <a:ext uri="{FF2B5EF4-FFF2-40B4-BE49-F238E27FC236}">
                <a16:creationId xmlns:a16="http://schemas.microsoft.com/office/drawing/2014/main" id="{EE350310-571D-8915-DA25-91F2DF0E13DF}"/>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火烈鸟羽毛的红色</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Tree>
    <p:extLst>
      <p:ext uri="{BB962C8B-B14F-4D97-AF65-F5344CB8AC3E}">
        <p14:creationId xmlns:p14="http://schemas.microsoft.com/office/powerpoint/2010/main" val="820770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7941BF85-1A6F-EDD8-32CD-5C5884E4CE94}"/>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C85BAC63-FD30-B704-67B5-57FCF781C20A}"/>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FACF99BB-BFF7-C878-1546-2BE7CFE36387}"/>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蓝脚鲣鸟的蓝色</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pic>
        <p:nvPicPr>
          <p:cNvPr id="4098" name="Picture 2" descr="蓝脚鲣鸟_360百科">
            <a:extLst>
              <a:ext uri="{FF2B5EF4-FFF2-40B4-BE49-F238E27FC236}">
                <a16:creationId xmlns:a16="http://schemas.microsoft.com/office/drawing/2014/main" id="{CB5EAC6B-3F38-5F40-BE11-55C940A45B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875" y="1346495"/>
            <a:ext cx="6572250" cy="5038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52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BADE7FE-1451-5F49-5C8E-D9D027B8FE33}"/>
              </a:ext>
            </a:extLst>
          </p:cNvPr>
          <p:cNvSpPr txBox="1"/>
          <p:nvPr/>
        </p:nvSpPr>
        <p:spPr>
          <a:xfrm>
            <a:off x="182881" y="1112755"/>
            <a:ext cx="8724636" cy="4708981"/>
          </a:xfrm>
          <a:prstGeom prst="rect">
            <a:avLst/>
          </a:prstGeom>
          <a:noFill/>
        </p:spPr>
        <p:txBody>
          <a:bodyPr wrap="square">
            <a:spAutoFit/>
          </a:bodyPr>
          <a:lstStyle/>
          <a:p>
            <a:pPr marL="342900" indent="-342900" algn="l">
              <a:buFont typeface="Arial" panose="020B0604020202020204" pitchFamily="34" charset="0"/>
              <a:buChar char="•"/>
            </a:pPr>
            <a:r>
              <a:rPr lang="zh-CN" altLang="en-US" sz="2000" dirty="0">
                <a:latin typeface="+mn-lt"/>
                <a:ea typeface="SimHei" panose="02010609060101010101" pitchFamily="49" charset="-122"/>
              </a:rPr>
              <a:t>蓝脚鲣鸟（</a:t>
            </a:r>
            <a:r>
              <a:rPr lang="en-US" altLang="zh-CN" sz="2000" dirty="0">
                <a:latin typeface="+mn-lt"/>
                <a:ea typeface="SimHei" panose="02010609060101010101" pitchFamily="49" charset="-122"/>
              </a:rPr>
              <a:t>Sula </a:t>
            </a:r>
            <a:r>
              <a:rPr lang="en-US" altLang="zh-CN" sz="2000" dirty="0" err="1">
                <a:latin typeface="+mn-lt"/>
                <a:ea typeface="SimHei" panose="02010609060101010101" pitchFamily="49" charset="-122"/>
              </a:rPr>
              <a:t>nebouxii</a:t>
            </a:r>
            <a:r>
              <a:rPr lang="zh-CN" altLang="en-US" sz="2000" dirty="0">
                <a:latin typeface="+mn-lt"/>
                <a:ea typeface="SimHei" panose="02010609060101010101" pitchFamily="49" charset="-122"/>
              </a:rPr>
              <a:t>）标志性的蓝色大脚是其长期进化过程中形成的生物学特征，其颜色形成与食物摄入存在直接关联。蓝脚鲣鸟主要以沙丁鱼、凤尾鱼等富含类胡萝卜素的小型海洋鱼类为食，类胡萝卜素是一类天然色素，包括虾青素、角黄素等多种化合物。</a:t>
            </a:r>
            <a:endParaRPr lang="en-US" altLang="zh-CN" sz="2000" dirty="0">
              <a:latin typeface="+mn-lt"/>
              <a:ea typeface="SimHei" panose="02010609060101010101" pitchFamily="49" charset="-122"/>
            </a:endParaRPr>
          </a:p>
          <a:p>
            <a:pPr marL="342900" indent="-342900" algn="l">
              <a:buFont typeface="Arial" panose="020B0604020202020204" pitchFamily="34" charset="0"/>
              <a:buChar char="•"/>
            </a:pPr>
            <a:endParaRPr lang="en-US" altLang="zh-CN" sz="2000" dirty="0">
              <a:latin typeface="+mn-lt"/>
              <a:ea typeface="SimHei" panose="02010609060101010101" pitchFamily="49" charset="-122"/>
            </a:endParaRPr>
          </a:p>
          <a:p>
            <a:pPr marL="342900" indent="-342900" algn="l">
              <a:buFont typeface="Arial" panose="020B0604020202020204" pitchFamily="34" charset="0"/>
              <a:buChar char="•"/>
            </a:pPr>
            <a:r>
              <a:rPr lang="zh-CN" altLang="en-US" sz="2000" dirty="0">
                <a:latin typeface="+mn-lt"/>
                <a:ea typeface="SimHei" panose="02010609060101010101" pitchFamily="49" charset="-122"/>
              </a:rPr>
              <a:t>在消化系统中，蓝脚鲣鸟无法自行合成类胡萝卜素，需从食物中摄取。当摄入富含类胡萝卜素的鱼类后，这些色素经肠道吸收进入血液循环系统。研究显示，类胡萝卜素在蓝脚鲣鸟体内的运输依赖特定的载体蛋白，它们随血液被输送至脚部皮肤组织。脚部血管分布密集，血液中的类胡萝卜素会在真皮层的脂肪细胞和胶原纤维中逐渐沉积。</a:t>
            </a:r>
            <a:endParaRPr lang="en-US" altLang="zh-CN" sz="2000" dirty="0">
              <a:latin typeface="+mn-lt"/>
              <a:ea typeface="SimHei" panose="02010609060101010101" pitchFamily="49" charset="-122"/>
            </a:endParaRPr>
          </a:p>
          <a:p>
            <a:pPr marL="342900" indent="-342900" algn="l">
              <a:buFont typeface="Arial" panose="020B0604020202020204" pitchFamily="34" charset="0"/>
              <a:buChar char="•"/>
            </a:pPr>
            <a:endParaRPr lang="en-US" altLang="zh-CN" sz="2000" dirty="0">
              <a:latin typeface="+mn-lt"/>
              <a:ea typeface="SimHei" panose="02010609060101010101" pitchFamily="49" charset="-122"/>
            </a:endParaRPr>
          </a:p>
          <a:p>
            <a:pPr marL="342900" indent="-342900" algn="l">
              <a:buFont typeface="Arial" panose="020B0604020202020204" pitchFamily="34" charset="0"/>
              <a:buChar char="•"/>
            </a:pPr>
            <a:r>
              <a:rPr lang="zh-CN" altLang="en-US" sz="2000" dirty="0">
                <a:latin typeface="+mn-lt"/>
                <a:ea typeface="SimHei" panose="02010609060101010101" pitchFamily="49" charset="-122"/>
              </a:rPr>
              <a:t>这些色素分子与皮肤细胞内的蛋白质结合，形成特殊的色素 </a:t>
            </a:r>
            <a:r>
              <a:rPr lang="en-US" altLang="zh-CN" sz="2000" dirty="0">
                <a:latin typeface="+mn-lt"/>
                <a:ea typeface="SimHei" panose="02010609060101010101" pitchFamily="49" charset="-122"/>
              </a:rPr>
              <a:t>- </a:t>
            </a:r>
            <a:r>
              <a:rPr lang="zh-CN" altLang="en-US" sz="2000" dirty="0">
                <a:latin typeface="+mn-lt"/>
                <a:ea typeface="SimHei" panose="02010609060101010101" pitchFamily="49" charset="-122"/>
              </a:rPr>
              <a:t>蛋白质复合物。复合物对光线的吸收和反射特性决定了脚部的蓝色外观。具体而言，类胡萝卜素吸收特定波长的可见光，反射出蓝色光谱，且色素沉积量与脚部蓝色饱和度呈正相关。</a:t>
            </a:r>
          </a:p>
        </p:txBody>
      </p:sp>
      <p:sp>
        <p:nvSpPr>
          <p:cNvPr id="4" name="灯片编号占位符 3">
            <a:extLst>
              <a:ext uri="{FF2B5EF4-FFF2-40B4-BE49-F238E27FC236}">
                <a16:creationId xmlns:a16="http://schemas.microsoft.com/office/drawing/2014/main" id="{76CDAB71-8EF3-A462-C7A3-486286BBD958}"/>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9</a:t>
            </a:fld>
            <a:endParaRPr lang="zh-CN" altLang="en-US" sz="1800" b="1" dirty="0">
              <a:latin typeface="Adobe 黑体 Std R" charset="-122"/>
              <a:ea typeface="Adobe 黑体 Std R" charset="-122"/>
            </a:endParaRPr>
          </a:p>
        </p:txBody>
      </p:sp>
      <p:sp>
        <p:nvSpPr>
          <p:cNvPr id="5" name="Rectangle 3">
            <a:extLst>
              <a:ext uri="{FF2B5EF4-FFF2-40B4-BE49-F238E27FC236}">
                <a16:creationId xmlns:a16="http://schemas.microsoft.com/office/drawing/2014/main" id="{0A464B2F-1771-B141-7046-BC8D641F5E85}"/>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6" name="TextBox 5">
            <a:extLst>
              <a:ext uri="{FF2B5EF4-FFF2-40B4-BE49-F238E27FC236}">
                <a16:creationId xmlns:a16="http://schemas.microsoft.com/office/drawing/2014/main" id="{1131B72E-478F-7C0E-30D4-14639C8A6528}"/>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蓝脚鲣鸟的蓝色</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Tree>
    <p:extLst>
      <p:ext uri="{BB962C8B-B14F-4D97-AF65-F5344CB8AC3E}">
        <p14:creationId xmlns:p14="http://schemas.microsoft.com/office/powerpoint/2010/main" val="982098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Foto This Woman's Skin Turned Orange After Eating Lots of Carrot ...">
            <a:extLst>
              <a:ext uri="{FF2B5EF4-FFF2-40B4-BE49-F238E27FC236}">
                <a16:creationId xmlns:a16="http://schemas.microsoft.com/office/drawing/2014/main" id="{6A01E0D5-0CDD-C824-4A94-3F5847C8FE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 y="1505225"/>
            <a:ext cx="8778240" cy="4933188"/>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3">
            <a:extLst>
              <a:ext uri="{FF2B5EF4-FFF2-40B4-BE49-F238E27FC236}">
                <a16:creationId xmlns:a16="http://schemas.microsoft.com/office/drawing/2014/main" id="{33026971-094B-D35F-36FE-B071AC394229}"/>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9A27C337-5B91-BB95-115A-9A11524F359B}"/>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0CA37049-B72A-5121-AFEB-5BDBC0F9D222}"/>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大量摄入胡萝卜使肤色变橙</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Tree>
    <p:extLst>
      <p:ext uri="{BB962C8B-B14F-4D97-AF65-F5344CB8AC3E}">
        <p14:creationId xmlns:p14="http://schemas.microsoft.com/office/powerpoint/2010/main" val="3323526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毛发的颜色</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46941"/>
            <a:ext cx="8778240" cy="334457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毛发的颜色是发干细胞中色素质粒产生的，质粒主要存在于皮质中，髓质中也有质粒存在。毛发本身的自然颜色因人种和基因不同而有黑、褐、金、红等多种色调。</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但这些色调主要是由两种色素构成，即真黑色素和类黑色素。真黑色素和类黑色素都是在酪氨酸酶的作用下，经一系列反应由酪氨酸</a:t>
            </a:r>
            <a:r>
              <a:rPr lang="en-US" altLang="zh-CN" sz="2400" dirty="0">
                <a:latin typeface="+mn-lt"/>
                <a:ea typeface="SimHei" panose="02010609060101010101" pitchFamily="49" charset="-122"/>
              </a:rPr>
              <a:t>(</a:t>
            </a:r>
            <a:r>
              <a:rPr lang="en-US" sz="2400" dirty="0" err="1"/>
              <a:t>tyrosine；Tyr</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生成的。</a:t>
            </a:r>
          </a:p>
        </p:txBody>
      </p:sp>
      <p:graphicFrame>
        <p:nvGraphicFramePr>
          <p:cNvPr id="5" name="对象 4">
            <a:extLst>
              <a:ext uri="{FF2B5EF4-FFF2-40B4-BE49-F238E27FC236}">
                <a16:creationId xmlns:a16="http://schemas.microsoft.com/office/drawing/2014/main" id="{1A346641-4E07-831B-336E-980798DDF897}"/>
              </a:ext>
            </a:extLst>
          </p:cNvPr>
          <p:cNvGraphicFramePr>
            <a:graphicFrameLocks noChangeAspect="1"/>
          </p:cNvGraphicFramePr>
          <p:nvPr>
            <p:extLst>
              <p:ext uri="{D42A27DB-BD31-4B8C-83A1-F6EECF244321}">
                <p14:modId xmlns:p14="http://schemas.microsoft.com/office/powerpoint/2010/main" val="2274878356"/>
              </p:ext>
            </p:extLst>
          </p:nvPr>
        </p:nvGraphicFramePr>
        <p:xfrm>
          <a:off x="2940343" y="4391511"/>
          <a:ext cx="3263314" cy="2145510"/>
        </p:xfrm>
        <a:graphic>
          <a:graphicData uri="http://schemas.openxmlformats.org/presentationml/2006/ole">
            <mc:AlternateContent xmlns:mc="http://schemas.openxmlformats.org/markup-compatibility/2006">
              <mc:Choice xmlns:v="urn:schemas-microsoft-com:vml" Requires="v">
                <p:oleObj name="CS ChemDraw Drawing" r:id="rId2" imgW="1631657" imgH="1072755" progId="ChemDraw.Document.6.0">
                  <p:embed/>
                </p:oleObj>
              </mc:Choice>
              <mc:Fallback>
                <p:oleObj name="CS ChemDraw Drawing" r:id="rId2" imgW="1631657" imgH="1072755" progId="ChemDraw.Document.6.0">
                  <p:embed/>
                  <p:pic>
                    <p:nvPicPr>
                      <p:cNvPr id="0" name=""/>
                      <p:cNvPicPr/>
                      <p:nvPr/>
                    </p:nvPicPr>
                    <p:blipFill>
                      <a:blip r:embed="rId3"/>
                      <a:stretch>
                        <a:fillRect/>
                      </a:stretch>
                    </p:blipFill>
                    <p:spPr>
                      <a:xfrm>
                        <a:off x="2940343" y="4391511"/>
                        <a:ext cx="3263314" cy="2145510"/>
                      </a:xfrm>
                      <a:prstGeom prst="rect">
                        <a:avLst/>
                      </a:prstGeom>
                    </p:spPr>
                  </p:pic>
                </p:oleObj>
              </mc:Fallback>
            </mc:AlternateContent>
          </a:graphicData>
        </a:graphic>
      </p:graphicFrame>
    </p:spTree>
    <p:extLst>
      <p:ext uri="{BB962C8B-B14F-4D97-AF65-F5344CB8AC3E}">
        <p14:creationId xmlns:p14="http://schemas.microsoft.com/office/powerpoint/2010/main" val="2841901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毛发的颜色</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06610" y="1597191"/>
            <a:ext cx="7461065" cy="334457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真黑色素是黑色或棕色，类黑色素是黄色或红色。这两种或其中一种黑色素的数量和分配方式影响头发最后的颜色。如果类黑色素的数量很集中并靠近表皮层，那么 头发的颜色就更趋向红色。发色很深很黑的人甚至可能在表皮层都有黑色素，而发色较浅的人只在皮质中才有黑色素。</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1604850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F6683740-4336-D03B-EFBA-8BBE32B0EE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6623" y="3610295"/>
            <a:ext cx="5150752" cy="2340584"/>
          </a:xfrm>
          <a:prstGeom prst="rect">
            <a:avLst/>
          </a:prstGeom>
        </p:spPr>
      </p:pic>
      <p:sp>
        <p:nvSpPr>
          <p:cNvPr id="7" name="灯片编号占位符 3">
            <a:extLst>
              <a:ext uri="{FF2B5EF4-FFF2-40B4-BE49-F238E27FC236}">
                <a16:creationId xmlns:a16="http://schemas.microsoft.com/office/drawing/2014/main" id="{0F4D84D6-0CA6-8ADC-D417-D2EB04ACA299}"/>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13</a:t>
            </a:fld>
            <a:endParaRPr lang="zh-CN" altLang="en-US" sz="1800" b="1" dirty="0">
              <a:latin typeface="Adobe 黑体 Std R" charset="-122"/>
              <a:ea typeface="Adobe 黑体 Std R" charset="-122"/>
            </a:endParaRPr>
          </a:p>
        </p:txBody>
      </p:sp>
      <p:sp>
        <p:nvSpPr>
          <p:cNvPr id="8" name="Rectangle 3">
            <a:extLst>
              <a:ext uri="{FF2B5EF4-FFF2-40B4-BE49-F238E27FC236}">
                <a16:creationId xmlns:a16="http://schemas.microsoft.com/office/drawing/2014/main" id="{C19AEC79-6607-92BD-FF27-548C3B6D526B}"/>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9" name="TextBox 5">
            <a:extLst>
              <a:ext uri="{FF2B5EF4-FFF2-40B4-BE49-F238E27FC236}">
                <a16:creationId xmlns:a16="http://schemas.microsoft.com/office/drawing/2014/main" id="{DD86A0E4-7477-F434-DE8C-4DC2C40255CF}"/>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真黑色素</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pic>
        <p:nvPicPr>
          <p:cNvPr id="11" name="图片 10">
            <a:extLst>
              <a:ext uri="{FF2B5EF4-FFF2-40B4-BE49-F238E27FC236}">
                <a16:creationId xmlns:a16="http://schemas.microsoft.com/office/drawing/2014/main" id="{D397B81C-4417-A37E-84E2-44CC2BBBDD39}"/>
              </a:ext>
            </a:extLst>
          </p:cNvPr>
          <p:cNvPicPr>
            <a:picLocks noChangeAspect="1"/>
          </p:cNvPicPr>
          <p:nvPr/>
        </p:nvPicPr>
        <p:blipFill>
          <a:blip r:embed="rId3"/>
          <a:stretch>
            <a:fillRect/>
          </a:stretch>
        </p:blipFill>
        <p:spPr>
          <a:xfrm>
            <a:off x="947688" y="1078530"/>
            <a:ext cx="7248623" cy="2531765"/>
          </a:xfrm>
          <a:prstGeom prst="rect">
            <a:avLst/>
          </a:prstGeom>
        </p:spPr>
      </p:pic>
      <p:sp>
        <p:nvSpPr>
          <p:cNvPr id="13" name="文本框 12">
            <a:extLst>
              <a:ext uri="{FF2B5EF4-FFF2-40B4-BE49-F238E27FC236}">
                <a16:creationId xmlns:a16="http://schemas.microsoft.com/office/drawing/2014/main" id="{11AD153A-EBE9-FD3D-F8BC-48CD76E7043C}"/>
              </a:ext>
            </a:extLst>
          </p:cNvPr>
          <p:cNvSpPr txBox="1"/>
          <p:nvPr/>
        </p:nvSpPr>
        <p:spPr>
          <a:xfrm>
            <a:off x="182880" y="6289742"/>
            <a:ext cx="4572000" cy="246221"/>
          </a:xfrm>
          <a:prstGeom prst="rect">
            <a:avLst/>
          </a:prstGeom>
          <a:noFill/>
        </p:spPr>
        <p:txBody>
          <a:bodyPr wrap="square">
            <a:spAutoFit/>
          </a:bodyPr>
          <a:lstStyle/>
          <a:p>
            <a:r>
              <a:rPr lang="de-DE" sz="1000" b="1" i="0" u="none" strike="noStrike" baseline="0" dirty="0">
                <a:latin typeface="Helvetica-Bold"/>
              </a:rPr>
              <a:t>J. AM. CHEM. SOC. 2009</a:t>
            </a:r>
            <a:r>
              <a:rPr lang="de-DE" sz="1000" b="0" i="0" u="none" strike="noStrike" baseline="0" dirty="0">
                <a:latin typeface="Helvetica" panose="020B0604020202020204" pitchFamily="34" charset="0"/>
              </a:rPr>
              <a:t>, </a:t>
            </a:r>
            <a:r>
              <a:rPr lang="de-DE" sz="1000" b="0" i="1" u="none" strike="noStrike" baseline="0" dirty="0">
                <a:latin typeface="Helvetica-Oblique"/>
              </a:rPr>
              <a:t>131</a:t>
            </a:r>
            <a:r>
              <a:rPr lang="de-DE" sz="1000" b="0" i="0" u="none" strike="noStrike" baseline="0" dirty="0">
                <a:latin typeface="Helvetica" panose="020B0604020202020204" pitchFamily="34" charset="0"/>
              </a:rPr>
              <a:t>, 15270</a:t>
            </a:r>
            <a:endParaRPr lang="en-US" sz="2400" dirty="0"/>
          </a:p>
        </p:txBody>
      </p:sp>
    </p:spTree>
    <p:extLst>
      <p:ext uri="{BB962C8B-B14F-4D97-AF65-F5344CB8AC3E}">
        <p14:creationId xmlns:p14="http://schemas.microsoft.com/office/powerpoint/2010/main" val="2730595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7CB3CBC-2161-C748-138B-9C4206FAC807}"/>
              </a:ext>
            </a:extLst>
          </p:cNvPr>
          <p:cNvPicPr>
            <a:picLocks noChangeAspect="1"/>
          </p:cNvPicPr>
          <p:nvPr/>
        </p:nvPicPr>
        <p:blipFill>
          <a:blip r:embed="rId2"/>
          <a:stretch>
            <a:fillRect/>
          </a:stretch>
        </p:blipFill>
        <p:spPr>
          <a:xfrm>
            <a:off x="577306" y="1054523"/>
            <a:ext cx="6799217" cy="5059141"/>
          </a:xfrm>
          <a:prstGeom prst="rect">
            <a:avLst/>
          </a:prstGeom>
        </p:spPr>
      </p:pic>
      <p:sp>
        <p:nvSpPr>
          <p:cNvPr id="4" name="灯片编号占位符 3">
            <a:extLst>
              <a:ext uri="{FF2B5EF4-FFF2-40B4-BE49-F238E27FC236}">
                <a16:creationId xmlns:a16="http://schemas.microsoft.com/office/drawing/2014/main" id="{EEF5039F-A44D-56B8-E7EA-EB4403252D48}"/>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14</a:t>
            </a:fld>
            <a:endParaRPr lang="zh-CN" altLang="en-US" sz="1800" b="1" dirty="0">
              <a:latin typeface="Adobe 黑体 Std R" charset="-122"/>
              <a:ea typeface="Adobe 黑体 Std R" charset="-122"/>
            </a:endParaRPr>
          </a:p>
        </p:txBody>
      </p:sp>
      <p:sp>
        <p:nvSpPr>
          <p:cNvPr id="5" name="Rectangle 3">
            <a:extLst>
              <a:ext uri="{FF2B5EF4-FFF2-40B4-BE49-F238E27FC236}">
                <a16:creationId xmlns:a16="http://schemas.microsoft.com/office/drawing/2014/main" id="{E7EDEF5F-8B17-E7D2-F33D-57CF9BB86B41}"/>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6" name="TextBox 5">
            <a:extLst>
              <a:ext uri="{FF2B5EF4-FFF2-40B4-BE49-F238E27FC236}">
                <a16:creationId xmlns:a16="http://schemas.microsoft.com/office/drawing/2014/main" id="{28CFC725-2877-CECC-2CC3-42B0C0B07FE5}"/>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类黑色素</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8" name="文本框 7">
            <a:extLst>
              <a:ext uri="{FF2B5EF4-FFF2-40B4-BE49-F238E27FC236}">
                <a16:creationId xmlns:a16="http://schemas.microsoft.com/office/drawing/2014/main" id="{41300883-A374-E36A-CC7E-69B7A8FF02FE}"/>
              </a:ext>
            </a:extLst>
          </p:cNvPr>
          <p:cNvSpPr txBox="1"/>
          <p:nvPr/>
        </p:nvSpPr>
        <p:spPr>
          <a:xfrm>
            <a:off x="-9526" y="6210209"/>
            <a:ext cx="9144001" cy="553998"/>
          </a:xfrm>
          <a:prstGeom prst="rect">
            <a:avLst/>
          </a:prstGeom>
          <a:noFill/>
        </p:spPr>
        <p:txBody>
          <a:bodyPr wrap="square">
            <a:spAutoFit/>
          </a:bodyPr>
          <a:lstStyle/>
          <a:p>
            <a:pPr algn="l"/>
            <a:r>
              <a:rPr lang="en-US" sz="1000" b="0" i="0" u="none" strike="noStrike" baseline="0" dirty="0">
                <a:solidFill>
                  <a:srgbClr val="231F20"/>
                </a:solidFill>
                <a:latin typeface="AdvTTf99636c8.B"/>
              </a:rPr>
              <a:t>Sequence-dependent polymeric peptide pigments. </a:t>
            </a:r>
            <a:r>
              <a:rPr lang="en-US" sz="1000" b="0" i="0" u="none" strike="noStrike" baseline="0" dirty="0">
                <a:solidFill>
                  <a:srgbClr val="231F20"/>
                </a:solidFill>
                <a:latin typeface="AdvTT9a5695f7"/>
              </a:rPr>
              <a:t>(</a:t>
            </a:r>
            <a:r>
              <a:rPr lang="en-US" sz="1000" b="0" i="0" u="none" strike="noStrike" baseline="0" dirty="0">
                <a:solidFill>
                  <a:srgbClr val="231F20"/>
                </a:solidFill>
                <a:latin typeface="AdvTTf99636c8.B"/>
              </a:rPr>
              <a:t>A</a:t>
            </a:r>
            <a:r>
              <a:rPr lang="en-US" sz="1000" b="0" i="0" u="none" strike="noStrike" baseline="0" dirty="0">
                <a:solidFill>
                  <a:srgbClr val="231F20"/>
                </a:solidFill>
                <a:latin typeface="AdvTT9a5695f7"/>
              </a:rPr>
              <a:t>) Schematic representation of the selected tripeptide sequences and the controlled formation of polymeric peptide pigments by enzymatic oxidation and further polymerization of preorganized tripeptides. (</a:t>
            </a:r>
            <a:r>
              <a:rPr lang="en-US" sz="1000" b="0" i="0" u="none" strike="noStrike" baseline="0" dirty="0">
                <a:solidFill>
                  <a:srgbClr val="231F20"/>
                </a:solidFill>
                <a:latin typeface="AdvTTf99636c8.B"/>
              </a:rPr>
              <a:t>B</a:t>
            </a:r>
            <a:r>
              <a:rPr lang="en-US" sz="1000" b="0" i="0" u="none" strike="noStrike" baseline="0" dirty="0">
                <a:solidFill>
                  <a:srgbClr val="231F20"/>
                </a:solidFill>
                <a:latin typeface="AdvTT9a5695f7"/>
              </a:rPr>
              <a:t>) Macroscopic images of the materials formed by the self-assembly of the tripeptides (20 mM in phosphate buffer at pH 8), before (top) and after (bottom) 24 hours of enzymatic oxidation (0.2 </a:t>
            </a:r>
            <a:r>
              <a:rPr lang="en-US" sz="1000" b="0" i="0" u="none" strike="noStrike" baseline="0" dirty="0">
                <a:solidFill>
                  <a:srgbClr val="231F20"/>
                </a:solidFill>
                <a:latin typeface="AdvTTcd7bcd39"/>
              </a:rPr>
              <a:t>m</a:t>
            </a:r>
            <a:r>
              <a:rPr lang="en-US" sz="1000" b="0" i="0" u="none" strike="noStrike" baseline="0" dirty="0">
                <a:solidFill>
                  <a:srgbClr val="231F20"/>
                </a:solidFill>
                <a:latin typeface="AdvTT9a5695f7"/>
              </a:rPr>
              <a:t>g/</a:t>
            </a:r>
            <a:r>
              <a:rPr lang="en-US" sz="1000" b="0" i="0" u="none" strike="noStrike" baseline="0" dirty="0">
                <a:solidFill>
                  <a:srgbClr val="231F20"/>
                </a:solidFill>
                <a:latin typeface="AdvTTcd7bcd39"/>
              </a:rPr>
              <a:t>m</a:t>
            </a:r>
            <a:r>
              <a:rPr lang="en-US" sz="1000" b="0" i="0" u="none" strike="noStrike" baseline="0" dirty="0">
                <a:solidFill>
                  <a:srgbClr val="231F20"/>
                </a:solidFill>
                <a:latin typeface="AdvTT9a5695f7"/>
              </a:rPr>
              <a:t>l), including oxidation of tyrosine as a control.</a:t>
            </a:r>
            <a:endParaRPr lang="en-US" sz="2400" dirty="0"/>
          </a:p>
        </p:txBody>
      </p:sp>
      <p:sp>
        <p:nvSpPr>
          <p:cNvPr id="10" name="文本框 9">
            <a:extLst>
              <a:ext uri="{FF2B5EF4-FFF2-40B4-BE49-F238E27FC236}">
                <a16:creationId xmlns:a16="http://schemas.microsoft.com/office/drawing/2014/main" id="{E1B67680-C9D1-1B26-4244-2669FE8894AE}"/>
              </a:ext>
            </a:extLst>
          </p:cNvPr>
          <p:cNvSpPr txBox="1"/>
          <p:nvPr/>
        </p:nvSpPr>
        <p:spPr>
          <a:xfrm>
            <a:off x="5279572" y="3352516"/>
            <a:ext cx="4579256" cy="307777"/>
          </a:xfrm>
          <a:prstGeom prst="rect">
            <a:avLst/>
          </a:prstGeom>
          <a:noFill/>
        </p:spPr>
        <p:txBody>
          <a:bodyPr wrap="square">
            <a:spAutoFit/>
          </a:bodyPr>
          <a:lstStyle/>
          <a:p>
            <a:r>
              <a:rPr lang="fr-FR" sz="1400" b="0" i="0" u="none" strike="noStrike" baseline="0" dirty="0">
                <a:solidFill>
                  <a:srgbClr val="231F20"/>
                </a:solidFill>
                <a:latin typeface="+mn-lt"/>
              </a:rPr>
              <a:t>Lampel et al., Science 356, 1064–1068 (2017)</a:t>
            </a:r>
            <a:endParaRPr lang="en-US" sz="1400" dirty="0">
              <a:latin typeface="+mn-lt"/>
            </a:endParaRPr>
          </a:p>
        </p:txBody>
      </p:sp>
    </p:spTree>
    <p:extLst>
      <p:ext uri="{BB962C8B-B14F-4D97-AF65-F5344CB8AC3E}">
        <p14:creationId xmlns:p14="http://schemas.microsoft.com/office/powerpoint/2010/main" val="1216017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毛发的颜色</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841467" y="1438164"/>
            <a:ext cx="7461065" cy="390183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染发：现代人通过染发改变头发的颜色。染发剂给头发上色主要是先打开头发最外层的毛鳞片，</a:t>
            </a:r>
            <a:r>
              <a:rPr lang="zh-CN" altLang="en-US" sz="2400" dirty="0">
                <a:solidFill>
                  <a:srgbClr val="FF0000"/>
                </a:solidFill>
                <a:latin typeface="+mn-lt"/>
                <a:ea typeface="SimHei" panose="02010609060101010101" pitchFamily="49" charset="-122"/>
              </a:rPr>
              <a:t>氧化剂和着色剂</a:t>
            </a:r>
            <a:r>
              <a:rPr lang="zh-CN" altLang="en-US" sz="2400" dirty="0">
                <a:latin typeface="+mn-lt"/>
                <a:ea typeface="SimHei" panose="02010609060101010101" pitchFamily="49" charset="-122"/>
              </a:rPr>
              <a:t>通过毛鳞片打开的小孔进入头发内部；氧化剂先将头发内部的色素漂白，之后和同时进入的着色剂发生氧化反应，给头发重新上色；最后再关闭毛鳞片。</a:t>
            </a: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10624258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毛发的化学组成</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23720"/>
            <a:ext cx="8778240" cy="5262979"/>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latin typeface="+mn-lt"/>
                <a:ea typeface="SimHei" panose="02010609060101010101" pitchFamily="49" charset="-122"/>
              </a:rPr>
              <a:t>毛发的主要成分是角质蛋白，约占总成分的</a:t>
            </a:r>
            <a:r>
              <a:rPr lang="en-US" altLang="zh-CN" sz="2400" dirty="0">
                <a:latin typeface="+mn-lt"/>
                <a:ea typeface="SimHei" panose="02010609060101010101" pitchFamily="49" charset="-122"/>
              </a:rPr>
              <a:t>97%</a:t>
            </a:r>
            <a:r>
              <a:rPr lang="zh-CN" altLang="en-US" sz="2400" dirty="0">
                <a:latin typeface="+mn-lt"/>
                <a:ea typeface="SimHei" panose="02010609060101010101" pitchFamily="49" charset="-122"/>
              </a:rPr>
              <a:t>。因角质蛋白是硬蛋白，不溶于水、 稀中性盐、稀酸、稀碱和一般有机溶剂，所以毛发具有角质蛋白的特性。</a:t>
            </a:r>
            <a:endParaRPr lang="en-US" altLang="zh-CN" sz="2400" dirty="0">
              <a:latin typeface="+mn-lt"/>
              <a:ea typeface="SimHei" panose="02010609060101010101" pitchFamily="49" charset="-122"/>
            </a:endParaRPr>
          </a:p>
          <a:p>
            <a:pPr marL="342900" indent="-342900">
              <a:buFont typeface="Arial" panose="020B0604020202020204" pitchFamily="34" charset="0"/>
              <a:buChar char="•"/>
            </a:pPr>
            <a:r>
              <a:rPr lang="zh-CN" altLang="en-US" sz="2400" dirty="0">
                <a:latin typeface="+mn-lt"/>
                <a:ea typeface="SimHei" panose="02010609060101010101" pitchFamily="49" charset="-122"/>
              </a:rPr>
              <a:t>角质蛋白由多种氨基酸组成，其中以</a:t>
            </a:r>
            <a:r>
              <a:rPr lang="zh-CN" altLang="en-US" sz="2400" dirty="0">
                <a:solidFill>
                  <a:srgbClr val="0000FF"/>
                </a:solidFill>
                <a:latin typeface="+mn-lt"/>
                <a:ea typeface="SimHei" panose="02010609060101010101" pitchFamily="49" charset="-122"/>
              </a:rPr>
              <a:t>胱氨酸</a:t>
            </a:r>
            <a:r>
              <a:rPr lang="zh-CN" altLang="en-US" sz="2400" dirty="0">
                <a:latin typeface="+mn-lt"/>
                <a:ea typeface="SimHei" panose="02010609060101010101" pitchFamily="49" charset="-122"/>
              </a:rPr>
              <a:t>的含量最高，它们提供头发生长所需的营养与成分。头发中各种氨基酸原纤维通过螺旋式、弹簧式的结构相互缠绕交联，形成角质蛋白的强度和柔韧，从而赋予了头发所独有的刚韧性能。</a:t>
            </a:r>
            <a:endParaRPr lang="en-US" altLang="zh-CN" sz="2400" dirty="0">
              <a:latin typeface="+mn-lt"/>
              <a:ea typeface="SimHei" panose="02010609060101010101" pitchFamily="49" charset="-122"/>
            </a:endParaRPr>
          </a:p>
          <a:p>
            <a:pPr marL="342900" indent="-342900">
              <a:buFont typeface="Arial" panose="020B0604020202020204" pitchFamily="34" charset="0"/>
              <a:buChar char="•"/>
            </a:pPr>
            <a:endParaRPr lang="en-US" altLang="zh-CN" sz="2400" dirty="0">
              <a:latin typeface="+mn-lt"/>
              <a:ea typeface="SimHei" panose="02010609060101010101" pitchFamily="49" charset="-122"/>
            </a:endParaRPr>
          </a:p>
          <a:p>
            <a:pPr marL="342900" indent="-342900">
              <a:buFont typeface="Arial" panose="020B0604020202020204" pitchFamily="34" charset="0"/>
              <a:buChar char="•"/>
            </a:pPr>
            <a:endParaRPr lang="en-US" altLang="zh-CN" sz="2400" dirty="0">
              <a:latin typeface="+mn-lt"/>
              <a:ea typeface="SimHei" panose="02010609060101010101" pitchFamily="49" charset="-122"/>
            </a:endParaRPr>
          </a:p>
          <a:p>
            <a:pPr marL="342900" indent="-342900">
              <a:buFont typeface="Arial" panose="020B0604020202020204" pitchFamily="34" charset="0"/>
              <a:buChar char="•"/>
            </a:pPr>
            <a:endParaRPr lang="en-US" altLang="zh-CN" sz="2400" dirty="0">
              <a:latin typeface="+mn-lt"/>
              <a:ea typeface="SimHei" panose="02010609060101010101" pitchFamily="49" charset="-122"/>
            </a:endParaRPr>
          </a:p>
          <a:p>
            <a:pPr marL="342900" indent="-342900">
              <a:buFont typeface="Arial" panose="020B0604020202020204" pitchFamily="34" charset="0"/>
              <a:buChar char="•"/>
            </a:pPr>
            <a:r>
              <a:rPr lang="zh-CN" altLang="en-US" sz="2400" dirty="0">
                <a:latin typeface="+mn-lt"/>
                <a:ea typeface="SimHei" panose="02010609060101010101" pitchFamily="49" charset="-122"/>
              </a:rPr>
              <a:t>其中</a:t>
            </a:r>
            <a:r>
              <a:rPr lang="en-US" altLang="zh-CN" sz="2400" dirty="0">
                <a:latin typeface="+mn-lt"/>
                <a:ea typeface="SimHei" panose="02010609060101010101" pitchFamily="49" charset="-122"/>
              </a:rPr>
              <a:t>50%</a:t>
            </a:r>
            <a:r>
              <a:rPr lang="zh-CN" altLang="en-US" sz="2400" dirty="0">
                <a:latin typeface="+mn-lt"/>
                <a:ea typeface="SimHei" panose="02010609060101010101" pitchFamily="49" charset="-122"/>
              </a:rPr>
              <a:t>的蛋白质呈螺旋状结构，在</a:t>
            </a:r>
            <a:r>
              <a:rPr lang="el-GR" altLang="zh-CN" sz="2400" dirty="0">
                <a:solidFill>
                  <a:srgbClr val="0000FF"/>
                </a:solidFill>
                <a:latin typeface="+mn-lt"/>
                <a:ea typeface="SimHei" panose="02010609060101010101" pitchFamily="49" charset="-122"/>
              </a:rPr>
              <a:t>α</a:t>
            </a:r>
            <a:r>
              <a:rPr lang="en-US" altLang="zh-CN" sz="2400" dirty="0">
                <a:solidFill>
                  <a:srgbClr val="0000FF"/>
                </a:solidFill>
                <a:latin typeface="+mn-lt"/>
                <a:ea typeface="SimHei" panose="02010609060101010101" pitchFamily="49" charset="-122"/>
              </a:rPr>
              <a:t>-</a:t>
            </a:r>
            <a:r>
              <a:rPr lang="zh-CN" altLang="en-US" sz="2400" dirty="0">
                <a:solidFill>
                  <a:srgbClr val="0000FF"/>
                </a:solidFill>
                <a:latin typeface="+mn-lt"/>
                <a:ea typeface="SimHei" panose="02010609060101010101" pitchFamily="49" charset="-122"/>
              </a:rPr>
              <a:t>螺旋结构内</a:t>
            </a:r>
            <a:r>
              <a:rPr lang="zh-CN" altLang="en-US" sz="2400" dirty="0">
                <a:latin typeface="+mn-lt"/>
                <a:ea typeface="SimHei" panose="02010609060101010101" pitchFamily="49" charset="-122"/>
              </a:rPr>
              <a:t>，分子中的亲水基团大部分分布在螺旋周围，可以形成</a:t>
            </a:r>
            <a:r>
              <a:rPr lang="zh-CN" altLang="en-US" sz="2400" dirty="0">
                <a:solidFill>
                  <a:srgbClr val="0000FF"/>
                </a:solidFill>
                <a:latin typeface="+mn-lt"/>
                <a:ea typeface="SimHei" panose="02010609060101010101" pitchFamily="49" charset="-122"/>
              </a:rPr>
              <a:t>氢键、二硫键、盐键</a:t>
            </a:r>
            <a:r>
              <a:rPr lang="zh-CN" altLang="en-US" sz="2400" dirty="0">
                <a:latin typeface="+mn-lt"/>
                <a:ea typeface="SimHei" panose="02010609060101010101" pitchFamily="49" charset="-122"/>
              </a:rPr>
              <a:t>等。头发具有氨基酸和角蛋白的双重特性，利用这些化学性质，可</a:t>
            </a:r>
            <a:r>
              <a:rPr lang="zh-CN" altLang="en-US" sz="2400" dirty="0">
                <a:solidFill>
                  <a:srgbClr val="0000FF"/>
                </a:solidFill>
                <a:latin typeface="+mn-lt"/>
                <a:ea typeface="SimHei" panose="02010609060101010101" pitchFamily="49" charset="-122"/>
              </a:rPr>
              <a:t>达到染发、卷发的目的</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p:txBody>
      </p:sp>
      <p:graphicFrame>
        <p:nvGraphicFramePr>
          <p:cNvPr id="5" name="对象 4">
            <a:extLst>
              <a:ext uri="{FF2B5EF4-FFF2-40B4-BE49-F238E27FC236}">
                <a16:creationId xmlns:a16="http://schemas.microsoft.com/office/drawing/2014/main" id="{C9E8A51D-3F74-8747-A31B-073774F2690F}"/>
              </a:ext>
            </a:extLst>
          </p:cNvPr>
          <p:cNvGraphicFramePr>
            <a:graphicFrameLocks noChangeAspect="1"/>
          </p:cNvGraphicFramePr>
          <p:nvPr>
            <p:extLst>
              <p:ext uri="{D42A27DB-BD31-4B8C-83A1-F6EECF244321}">
                <p14:modId xmlns:p14="http://schemas.microsoft.com/office/powerpoint/2010/main" val="1270177908"/>
              </p:ext>
            </p:extLst>
          </p:nvPr>
        </p:nvGraphicFramePr>
        <p:xfrm>
          <a:off x="6124225" y="3277952"/>
          <a:ext cx="3010250" cy="1485450"/>
        </p:xfrm>
        <a:graphic>
          <a:graphicData uri="http://schemas.openxmlformats.org/presentationml/2006/ole">
            <mc:AlternateContent xmlns:mc="http://schemas.openxmlformats.org/markup-compatibility/2006">
              <mc:Choice xmlns:v="urn:schemas-microsoft-com:vml" Requires="v">
                <p:oleObj name="CS ChemDraw Drawing" r:id="rId2" imgW="2006833" imgH="990300" progId="ChemDraw.Document.6.0">
                  <p:embed/>
                </p:oleObj>
              </mc:Choice>
              <mc:Fallback>
                <p:oleObj name="CS ChemDraw Drawing" r:id="rId2" imgW="2006833" imgH="990300" progId="ChemDraw.Document.6.0">
                  <p:embed/>
                  <p:pic>
                    <p:nvPicPr>
                      <p:cNvPr id="0" name=""/>
                      <p:cNvPicPr/>
                      <p:nvPr/>
                    </p:nvPicPr>
                    <p:blipFill>
                      <a:blip r:embed="rId3"/>
                      <a:stretch>
                        <a:fillRect/>
                      </a:stretch>
                    </p:blipFill>
                    <p:spPr>
                      <a:xfrm>
                        <a:off x="6124225" y="3277952"/>
                        <a:ext cx="3010250" cy="1485450"/>
                      </a:xfrm>
                      <a:prstGeom prst="rect">
                        <a:avLst/>
                      </a:prstGeom>
                    </p:spPr>
                  </p:pic>
                </p:oleObj>
              </mc:Fallback>
            </mc:AlternateContent>
          </a:graphicData>
        </a:graphic>
      </p:graphicFrame>
    </p:spTree>
    <p:extLst>
      <p:ext uri="{BB962C8B-B14F-4D97-AF65-F5344CB8AC3E}">
        <p14:creationId xmlns:p14="http://schemas.microsoft.com/office/powerpoint/2010/main" val="3657676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毛发中的化学键：氢键</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65614"/>
            <a:ext cx="8778240" cy="4154984"/>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latin typeface="+mn-lt"/>
                <a:ea typeface="SimHei" panose="02010609060101010101" pitchFamily="49" charset="-122"/>
              </a:rPr>
              <a:t>一个肽链上的羧基中与另一个肽键上的酰胺基的</a:t>
            </a:r>
            <a:r>
              <a:rPr lang="en-US" altLang="zh-CN" sz="2400" dirty="0">
                <a:latin typeface="+mn-lt"/>
                <a:ea typeface="SimHei" panose="02010609060101010101" pitchFamily="49" charset="-122"/>
              </a:rPr>
              <a:t>H—N</a:t>
            </a:r>
            <a:r>
              <a:rPr lang="zh-CN" altLang="en-US" sz="2400" dirty="0">
                <a:latin typeface="+mn-lt"/>
                <a:ea typeface="SimHei" panose="02010609060101010101" pitchFamily="49" charset="-122"/>
              </a:rPr>
              <a:t>之间可能发生作用，形成氢键。在洗发时能感受到头发变软，这就是氢键的作用。</a:t>
            </a:r>
            <a:endParaRPr lang="en-US" altLang="zh-CN" sz="2400" dirty="0">
              <a:latin typeface="+mn-lt"/>
              <a:ea typeface="SimHei" panose="02010609060101010101" pitchFamily="49" charset="-122"/>
            </a:endParaRPr>
          </a:p>
          <a:p>
            <a:pPr lvl="1"/>
            <a:r>
              <a:rPr lang="zh-CN" altLang="en-US" sz="2400" b="1" dirty="0">
                <a:latin typeface="KaiTi" panose="02010609060101010101" pitchFamily="49" charset="-122"/>
                <a:ea typeface="KaiTi" panose="02010609060101010101" pitchFamily="49" charset="-122"/>
              </a:rPr>
              <a:t>当头发遇水后</a:t>
            </a:r>
            <a:r>
              <a:rPr lang="el-GR" altLang="zh-CN" sz="2400" b="1" dirty="0">
                <a:latin typeface="KaiTi" panose="02010609060101010101" pitchFamily="49" charset="-122"/>
                <a:ea typeface="KaiTi" panose="02010609060101010101" pitchFamily="49" charset="-122"/>
              </a:rPr>
              <a:t>α</a:t>
            </a:r>
            <a:r>
              <a:rPr lang="en-US" altLang="zh-CN" sz="2400" b="1" dirty="0">
                <a:latin typeface="KaiTi" panose="02010609060101010101" pitchFamily="49" charset="-122"/>
                <a:ea typeface="KaiTi" panose="02010609060101010101" pitchFamily="49" charset="-122"/>
              </a:rPr>
              <a:t>-</a:t>
            </a:r>
            <a:r>
              <a:rPr lang="zh-CN" altLang="en-US" sz="2400" b="1" dirty="0">
                <a:latin typeface="KaiTi" panose="02010609060101010101" pitchFamily="49" charset="-122"/>
                <a:ea typeface="KaiTi" panose="02010609060101010101" pitchFamily="49" charset="-122"/>
              </a:rPr>
              <a:t>角蛋白中的氢键与水分子中的氢键相互作用，使得</a:t>
            </a:r>
            <a:r>
              <a:rPr lang="el-GR" altLang="zh-CN" sz="2400" b="1" dirty="0">
                <a:solidFill>
                  <a:srgbClr val="0000FF"/>
                </a:solidFill>
                <a:latin typeface="KaiTi" panose="02010609060101010101" pitchFamily="49" charset="-122"/>
                <a:ea typeface="KaiTi" panose="02010609060101010101" pitchFamily="49" charset="-122"/>
              </a:rPr>
              <a:t>α</a:t>
            </a:r>
            <a:r>
              <a:rPr lang="en-US" altLang="zh-CN" sz="2400" b="1" dirty="0">
                <a:solidFill>
                  <a:srgbClr val="0000FF"/>
                </a:solidFill>
                <a:latin typeface="KaiTi" panose="02010609060101010101" pitchFamily="49" charset="-122"/>
                <a:ea typeface="KaiTi" panose="02010609060101010101" pitchFamily="49" charset="-122"/>
              </a:rPr>
              <a:t>-</a:t>
            </a:r>
            <a:r>
              <a:rPr lang="zh-CN" altLang="en-US" sz="2400" b="1" dirty="0">
                <a:solidFill>
                  <a:srgbClr val="0000FF"/>
                </a:solidFill>
                <a:latin typeface="KaiTi" panose="02010609060101010101" pitchFamily="49" charset="-122"/>
                <a:ea typeface="KaiTi" panose="02010609060101010101" pitchFamily="49" charset="-122"/>
              </a:rPr>
              <a:t>角蛋白中一些氢键断裂</a:t>
            </a:r>
            <a:r>
              <a:rPr lang="zh-CN" altLang="en-US" sz="2400" b="1" dirty="0">
                <a:latin typeface="KaiTi" panose="02010609060101010101" pitchFamily="49" charset="-122"/>
                <a:ea typeface="KaiTi" panose="02010609060101010101" pitchFamily="49" charset="-122"/>
              </a:rPr>
              <a:t>；溶液温度越高</a:t>
            </a:r>
            <a:r>
              <a:rPr lang="en-US" altLang="zh-CN" sz="2400" b="1" dirty="0">
                <a:latin typeface="KaiTi" panose="02010609060101010101" pitchFamily="49" charset="-122"/>
                <a:ea typeface="KaiTi" panose="02010609060101010101" pitchFamily="49" charset="-122"/>
              </a:rPr>
              <a:t>(</a:t>
            </a:r>
            <a:r>
              <a:rPr lang="zh-CN" altLang="en-US" sz="2400" b="1" dirty="0">
                <a:latin typeface="KaiTi" panose="02010609060101010101" pitchFamily="49" charset="-122"/>
                <a:ea typeface="KaiTi" panose="02010609060101010101" pitchFamily="49" charset="-122"/>
              </a:rPr>
              <a:t>洗头水的温度越高</a:t>
            </a:r>
            <a:r>
              <a:rPr lang="en-US" altLang="zh-CN" sz="2400" b="1" dirty="0">
                <a:latin typeface="KaiTi" panose="02010609060101010101" pitchFamily="49" charset="-122"/>
                <a:ea typeface="KaiTi" panose="02010609060101010101" pitchFamily="49" charset="-122"/>
              </a:rPr>
              <a:t>),</a:t>
            </a:r>
            <a:r>
              <a:rPr lang="zh-CN" altLang="en-US" sz="2400" b="1" dirty="0">
                <a:latin typeface="KaiTi" panose="02010609060101010101" pitchFamily="49" charset="-122"/>
                <a:ea typeface="KaiTi" panose="02010609060101010101" pitchFamily="49" charset="-122"/>
              </a:rPr>
              <a:t>断裂的氢键就越多；当</a:t>
            </a:r>
            <a:r>
              <a:rPr lang="zh-CN" altLang="en-US" sz="2400" b="1" dirty="0">
                <a:solidFill>
                  <a:srgbClr val="0000FF"/>
                </a:solidFill>
                <a:latin typeface="KaiTi" panose="02010609060101010101" pitchFamily="49" charset="-122"/>
                <a:ea typeface="KaiTi" panose="02010609060101010101" pitchFamily="49" charset="-122"/>
              </a:rPr>
              <a:t>角蛋白的氢键打断</a:t>
            </a:r>
            <a:r>
              <a:rPr lang="zh-CN" altLang="en-US" sz="2400" b="1" dirty="0">
                <a:latin typeface="KaiTi" panose="02010609060101010101" pitchFamily="49" charset="-122"/>
                <a:ea typeface="KaiTi" panose="02010609060101010101" pitchFamily="49" charset="-122"/>
              </a:rPr>
              <a:t>而插入水分子的氢键时，角蛋白的螺旋结构发生了变化，分子结构变大，宏观上表现出</a:t>
            </a:r>
            <a:r>
              <a:rPr lang="zh-CN" altLang="en-US" sz="2400" b="1" dirty="0">
                <a:solidFill>
                  <a:srgbClr val="0000FF"/>
                </a:solidFill>
                <a:latin typeface="KaiTi" panose="02010609060101010101" pitchFamily="49" charset="-122"/>
                <a:ea typeface="KaiTi" panose="02010609060101010101" pitchFamily="49" charset="-122"/>
              </a:rPr>
              <a:t>头发在水中膨胀软化，更加弯曲</a:t>
            </a:r>
            <a:r>
              <a:rPr lang="zh-CN" altLang="en-US" sz="2400" b="1" dirty="0">
                <a:latin typeface="KaiTi" panose="02010609060101010101" pitchFamily="49" charset="-122"/>
                <a:ea typeface="KaiTi" panose="02010609060101010101" pitchFamily="49" charset="-122"/>
              </a:rPr>
              <a:t>；当</a:t>
            </a:r>
            <a:r>
              <a:rPr lang="zh-CN" altLang="en-US" sz="2400" b="1" dirty="0">
                <a:solidFill>
                  <a:srgbClr val="0000FF"/>
                </a:solidFill>
                <a:latin typeface="KaiTi" panose="02010609060101010101" pitchFamily="49" charset="-122"/>
                <a:ea typeface="KaiTi" panose="02010609060101010101" pitchFamily="49" charset="-122"/>
              </a:rPr>
              <a:t>头发变干冷却后，角蛋白内氢键重新形成</a:t>
            </a:r>
            <a:r>
              <a:rPr lang="zh-CN" altLang="en-US" sz="2400" b="1" dirty="0">
                <a:latin typeface="KaiTi" panose="02010609060101010101" pitchFamily="49" charset="-122"/>
                <a:ea typeface="KaiTi" panose="02010609060101010101" pitchFamily="49" charset="-122"/>
              </a:rPr>
              <a:t>，头发恢复到原来的状态。这种转变的本质是氢键键能强弱不同和氢键具有一定的方向性。</a:t>
            </a:r>
            <a:endParaRPr lang="en-US" altLang="zh-CN" sz="2400" b="1" dirty="0">
              <a:latin typeface="+mn-lt"/>
              <a:ea typeface="SimHei" panose="02010609060101010101" pitchFamily="49" charset="-122"/>
            </a:endParaRPr>
          </a:p>
        </p:txBody>
      </p:sp>
    </p:spTree>
    <p:extLst>
      <p:ext uri="{BB962C8B-B14F-4D97-AF65-F5344CB8AC3E}">
        <p14:creationId xmlns:p14="http://schemas.microsoft.com/office/powerpoint/2010/main" val="3147230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毛发中的化学键：二硫键</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54407"/>
            <a:ext cx="8778240" cy="5009833"/>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latin typeface="+mn-lt"/>
                <a:ea typeface="SimHei" panose="02010609060101010101" pitchFamily="49" charset="-122"/>
              </a:rPr>
              <a:t>二硫键是由两个半胱氨酸氧化成胱氨酸时形成的一种化学键。能够使两个肽链之间紧密地靠近，再与这两个多肽链存在的其他键作用，使多肽链在结构上形成大小不等的肽环结构。</a:t>
            </a:r>
            <a:endParaRPr lang="en-US" altLang="zh-CN" sz="2400" dirty="0">
              <a:latin typeface="+mn-lt"/>
              <a:ea typeface="SimHei" panose="02010609060101010101" pitchFamily="49" charset="-122"/>
            </a:endParaRPr>
          </a:p>
          <a:p>
            <a:pPr lvl="1"/>
            <a:r>
              <a:rPr lang="zh-CN" altLang="en-US" sz="2400" b="1" dirty="0">
                <a:latin typeface="KaiTi" panose="02010609060101010101" pitchFamily="49" charset="-122"/>
                <a:ea typeface="KaiTi" panose="02010609060101010101" pitchFamily="49" charset="-122"/>
              </a:rPr>
              <a:t>在毛发的卷曲过程中，二硫键的还原断裂及其后的氧化复原起着重要的作用。烫发时，先用含有</a:t>
            </a:r>
            <a:r>
              <a:rPr lang="zh-CN" altLang="en-US" sz="2400" b="1" dirty="0">
                <a:solidFill>
                  <a:srgbClr val="0000FF"/>
                </a:solidFill>
                <a:latin typeface="KaiTi" panose="02010609060101010101" pitchFamily="49" charset="-122"/>
                <a:ea typeface="KaiTi" panose="02010609060101010101" pitchFamily="49" charset="-122"/>
              </a:rPr>
              <a:t>巯基乙酸根离子的溶液把头发中的过硫基还原打断成两个巯基</a:t>
            </a:r>
            <a:r>
              <a:rPr lang="zh-CN" altLang="en-US" sz="2400" b="1" dirty="0">
                <a:latin typeface="KaiTi" panose="02010609060101010101" pitchFamily="49" charset="-122"/>
                <a:ea typeface="KaiTi" panose="02010609060101010101" pitchFamily="49" charset="-122"/>
              </a:rPr>
              <a:t>，失去交联作用的</a:t>
            </a:r>
            <a:r>
              <a:rPr lang="zh-CN" altLang="en-US" sz="2400" b="1" dirty="0">
                <a:solidFill>
                  <a:srgbClr val="0000FF"/>
                </a:solidFill>
                <a:latin typeface="KaiTi" panose="02010609060101010101" pitchFamily="49" charset="-122"/>
                <a:ea typeface="KaiTi" panose="02010609060101010101" pitchFamily="49" charset="-122"/>
              </a:rPr>
              <a:t>头发变得非常柔软</a:t>
            </a:r>
            <a:r>
              <a:rPr lang="zh-CN" altLang="en-US" sz="2400" b="1" dirty="0">
                <a:latin typeface="KaiTi" panose="02010609060101010101" pitchFamily="49" charset="-122"/>
                <a:ea typeface="KaiTi" panose="02010609060101010101" pitchFamily="49" charset="-122"/>
              </a:rPr>
              <a:t>；再利用卷发工具把头发卷曲起来，在机械外力作用下，诱发的多肽链与多肽链之间发生了移位；再用</a:t>
            </a:r>
            <a:r>
              <a:rPr lang="zh-CN" altLang="en-US" sz="2400" b="1" dirty="0">
                <a:solidFill>
                  <a:srgbClr val="0000FF"/>
                </a:solidFill>
                <a:latin typeface="KaiTi" panose="02010609060101010101" pitchFamily="49" charset="-122"/>
                <a:ea typeface="KaiTi" panose="02010609060101010101" pitchFamily="49" charset="-122"/>
              </a:rPr>
              <a:t>具有氧化作用的溶液，如过氧化氢、溴酸钾、过硫酸钾的溶液，使分裂的硫基在新的形状下被固定下来，形成新的双硫键</a:t>
            </a:r>
            <a:r>
              <a:rPr lang="zh-CN" altLang="en-US" sz="2400" b="1" dirty="0">
                <a:latin typeface="KaiTi" panose="02010609060101010101" pitchFamily="49" charset="-122"/>
                <a:ea typeface="KaiTi" panose="02010609060101010101" pitchFamily="49" charset="-122"/>
              </a:rPr>
              <a:t>；至此毛发又恢复了原来的刚韧性，并形成持久的卷曲发型。</a:t>
            </a:r>
          </a:p>
          <a:p>
            <a:pPr marL="800100" lvl="1"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2239965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毛发中的化学键：盐键</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1" y="1165614"/>
            <a:ext cx="8778240" cy="445583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盐键也称离子键，是多肽链的侧链间存在着带正电的氨基和带负电的羧基，相互之间的静电吸引作用而形成化学键。</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酰胺键是多肽链的主要成键形式，也称肽键。此外，肽链也可横向连接成酰胺键。</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除上述几种键之外，多肽链间还有非极性基团间的疏水键、范德华力的作用，它们都是分子间作用力。</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zh-CN" altLang="en-US"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3386782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毛发的物理性质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836704" y="1620908"/>
            <a:ext cx="7461065" cy="334457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毛发的物理性质与其化学组成有关。将毛发浸泡在水中，很快就会膨胀，膨胀后的重量比未浸泡前干重多</a:t>
            </a:r>
            <a:r>
              <a:rPr lang="en-US" altLang="zh-CN" sz="2400" dirty="0">
                <a:latin typeface="+mn-lt"/>
                <a:ea typeface="SimHei" panose="02010609060101010101" pitchFamily="49" charset="-122"/>
              </a:rPr>
              <a:t>40%</a:t>
            </a:r>
            <a:r>
              <a:rPr lang="zh-CN" altLang="en-US" sz="2400" dirty="0">
                <a:latin typeface="+mn-lt"/>
                <a:ea typeface="SimHei" panose="02010609060101010101" pitchFamily="49" charset="-122"/>
              </a:rPr>
              <a:t>左右。这种遇水膨胀现象说明毛发中几乎纯粹是蛋白质成分，而脂质含量很少。毛发具有强的双向性，这是由于细胞中细丝的排列与毛发长轴平行的缘故。</a:t>
            </a:r>
          </a:p>
        </p:txBody>
      </p:sp>
    </p:spTree>
    <p:extLst>
      <p:ext uri="{BB962C8B-B14F-4D97-AF65-F5344CB8AC3E}">
        <p14:creationId xmlns:p14="http://schemas.microsoft.com/office/powerpoint/2010/main" val="3322336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毛发的物理性质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09721"/>
            <a:ext cx="8778240" cy="470898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头发的吸水性  一般正常头发中含水量约</a:t>
            </a:r>
            <a:r>
              <a:rPr lang="en-US" altLang="zh-CN" sz="2400" dirty="0">
                <a:latin typeface="+mn-lt"/>
                <a:ea typeface="SimHei" panose="02010609060101010101" pitchFamily="49" charset="-122"/>
              </a:rPr>
              <a:t>10%</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a:p>
            <a:r>
              <a:rPr lang="en-US" altLang="zh-CN" sz="2400" dirty="0">
                <a:latin typeface="KaiTi" panose="02010609060101010101" pitchFamily="49" charset="-122"/>
                <a:ea typeface="KaiTi" panose="02010609060101010101" pitchFamily="49" charset="-122"/>
              </a:rPr>
              <a:t>	</a:t>
            </a:r>
            <a:r>
              <a:rPr lang="zh-CN" altLang="en-US" sz="2400" b="1" dirty="0">
                <a:latin typeface="KaiTi" panose="02010609060101010101" pitchFamily="49" charset="-122"/>
                <a:ea typeface="KaiTi" panose="02010609060101010101" pitchFamily="49" charset="-122"/>
              </a:rPr>
              <a:t>将毛发放置在空气中，</a:t>
            </a:r>
            <a:r>
              <a:rPr lang="zh-CN" altLang="en-US" sz="2400" b="1" dirty="0">
                <a:solidFill>
                  <a:srgbClr val="0000FF"/>
                </a:solidFill>
                <a:latin typeface="KaiTi" panose="02010609060101010101" pitchFamily="49" charset="-122"/>
                <a:ea typeface="KaiTi" panose="02010609060101010101" pitchFamily="49" charset="-122"/>
              </a:rPr>
              <a:t>毛发会吸收或放出水分以达到与水蒸气保持平衡</a:t>
            </a:r>
            <a:r>
              <a:rPr lang="zh-CN" altLang="en-US" sz="2400" b="1" dirty="0">
                <a:latin typeface="KaiTi" panose="02010609060101010101" pitchFamily="49" charset="-122"/>
                <a:ea typeface="KaiTi" panose="02010609060101010101" pitchFamily="49" charset="-122"/>
              </a:rPr>
              <a:t>的状态。这种平衡受环境湿度影响很大，相对湿度高时毛发的水分含量也增加。下雨时常常有发型散乱的情况，这是由于头发吸收一定的水分后，头发中的氢键被切断，发型返回原初状态。</a:t>
            </a:r>
            <a:endParaRPr lang="en-US" altLang="zh-CN" sz="2400" b="1" dirty="0">
              <a:latin typeface="KaiTi" panose="02010609060101010101" pitchFamily="49" charset="-122"/>
              <a:ea typeface="KaiTi" panose="02010609060101010101" pitchFamily="49" charset="-122"/>
            </a:endParaRPr>
          </a:p>
          <a:p>
            <a:r>
              <a:rPr lang="en-US" altLang="zh-CN" sz="2400" b="1" dirty="0">
                <a:latin typeface="KaiTi" panose="02010609060101010101" pitchFamily="49" charset="-122"/>
                <a:ea typeface="KaiTi" panose="02010609060101010101" pitchFamily="49" charset="-122"/>
              </a:rPr>
              <a:t>	</a:t>
            </a:r>
            <a:r>
              <a:rPr lang="zh-CN" altLang="en-US" sz="2400" b="1" dirty="0">
                <a:latin typeface="KaiTi" panose="02010609060101010101" pitchFamily="49" charset="-122"/>
                <a:ea typeface="KaiTi" panose="02010609060101010101" pitchFamily="49" charset="-122"/>
              </a:rPr>
              <a:t>而且在冬季梳头时，会产生</a:t>
            </a:r>
            <a:r>
              <a:rPr lang="zh-CN" altLang="en-US" sz="2400" b="1" dirty="0">
                <a:solidFill>
                  <a:srgbClr val="0000FF"/>
                </a:solidFill>
                <a:latin typeface="KaiTi" panose="02010609060101010101" pitchFamily="49" charset="-122"/>
                <a:ea typeface="KaiTi" panose="02010609060101010101" pitchFamily="49" charset="-122"/>
              </a:rPr>
              <a:t>静电</a:t>
            </a:r>
            <a:r>
              <a:rPr lang="zh-CN" altLang="en-US" sz="2400" b="1" dirty="0">
                <a:latin typeface="KaiTi" panose="02010609060101010101" pitchFamily="49" charset="-122"/>
                <a:ea typeface="KaiTi" panose="02010609060101010101" pitchFamily="49" charset="-122"/>
              </a:rPr>
              <a:t>而有闪光等头发粘连的情况，这是由干燥引起头发中</a:t>
            </a:r>
            <a:r>
              <a:rPr lang="zh-CN" altLang="en-US" sz="2400" b="1" dirty="0">
                <a:solidFill>
                  <a:srgbClr val="0000FF"/>
                </a:solidFill>
                <a:latin typeface="KaiTi" panose="02010609060101010101" pitchFamily="49" charset="-122"/>
                <a:ea typeface="KaiTi" panose="02010609060101010101" pitchFamily="49" charset="-122"/>
              </a:rPr>
              <a:t>水分丢失</a:t>
            </a:r>
            <a:r>
              <a:rPr lang="zh-CN" altLang="en-US" sz="2400" b="1" dirty="0">
                <a:latin typeface="KaiTi" panose="02010609060101010101" pitchFamily="49" charset="-122"/>
                <a:ea typeface="KaiTi" panose="02010609060101010101" pitchFamily="49" charset="-122"/>
              </a:rPr>
              <a:t>造成的。由此可见毛发对湿度变化特别敏感，</a:t>
            </a:r>
            <a:r>
              <a:rPr lang="zh-CN" altLang="en-US" sz="2400" b="1" dirty="0">
                <a:solidFill>
                  <a:srgbClr val="0000FF"/>
                </a:solidFill>
                <a:latin typeface="KaiTi" panose="02010609060101010101" pitchFamily="49" charset="-122"/>
                <a:ea typeface="KaiTi" panose="02010609060101010101" pitchFamily="49" charset="-122"/>
              </a:rPr>
              <a:t>水分过量头发会失去支撑力，水分过少会使头发变得散乱</a:t>
            </a:r>
            <a:r>
              <a:rPr lang="zh-CN" altLang="en-US" sz="2400" b="1" dirty="0">
                <a:latin typeface="KaiTi" panose="02010609060101010101" pitchFamily="49" charset="-122"/>
                <a:ea typeface="KaiTi" panose="02010609060101010101" pitchFamily="49" charset="-122"/>
              </a:rPr>
              <a:t>。毛发的长度和直径变化也与相对湿度有关。</a:t>
            </a:r>
            <a:endParaRPr lang="en-US" altLang="zh-CN" sz="2400" b="1" dirty="0">
              <a:latin typeface="KaiTi" panose="02010609060101010101" pitchFamily="49" charset="-122"/>
              <a:ea typeface="KaiTi" panose="02010609060101010101" pitchFamily="49" charset="-122"/>
            </a:endParaRPr>
          </a:p>
          <a:p>
            <a:r>
              <a:rPr lang="en-US" altLang="zh-CN" sz="2400" b="1" dirty="0">
                <a:latin typeface="KaiTi" panose="02010609060101010101" pitchFamily="49" charset="-122"/>
                <a:ea typeface="KaiTi" panose="02010609060101010101" pitchFamily="49" charset="-122"/>
              </a:rPr>
              <a:t>	</a:t>
            </a:r>
            <a:r>
              <a:rPr lang="zh-CN" altLang="en-US" sz="2400" b="1" dirty="0">
                <a:latin typeface="KaiTi" panose="02010609060101010101" pitchFamily="49" charset="-122"/>
                <a:ea typeface="KaiTi" panose="02010609060101010101" pitchFamily="49" charset="-122"/>
              </a:rPr>
              <a:t>在</a:t>
            </a:r>
            <a:r>
              <a:rPr lang="zh-CN" altLang="en-US" sz="2400" b="1" dirty="0">
                <a:solidFill>
                  <a:srgbClr val="0000FF"/>
                </a:solidFill>
                <a:latin typeface="KaiTi" panose="02010609060101010101" pitchFamily="49" charset="-122"/>
                <a:ea typeface="KaiTi" panose="02010609060101010101" pitchFamily="49" charset="-122"/>
              </a:rPr>
              <a:t>相对湿度增大</a:t>
            </a:r>
            <a:r>
              <a:rPr lang="zh-CN" altLang="en-US" sz="2400" b="1" dirty="0">
                <a:latin typeface="KaiTi" panose="02010609060101010101" pitchFamily="49" charset="-122"/>
                <a:ea typeface="KaiTi" panose="02010609060101010101" pitchFamily="49" charset="-122"/>
              </a:rPr>
              <a:t>时，毛发长度所增加的幅度小，而</a:t>
            </a:r>
            <a:r>
              <a:rPr lang="zh-CN" altLang="en-US" sz="2400" b="1" dirty="0">
                <a:solidFill>
                  <a:srgbClr val="0000FF"/>
                </a:solidFill>
                <a:latin typeface="KaiTi" panose="02010609060101010101" pitchFamily="49" charset="-122"/>
                <a:ea typeface="KaiTi" panose="02010609060101010101" pitchFamily="49" charset="-122"/>
              </a:rPr>
              <a:t>直径增加</a:t>
            </a:r>
            <a:r>
              <a:rPr lang="zh-CN" altLang="en-US" sz="2400" b="1" dirty="0">
                <a:latin typeface="KaiTi" panose="02010609060101010101" pitchFamily="49" charset="-122"/>
                <a:ea typeface="KaiTi" panose="02010609060101010101" pitchFamily="49" charset="-122"/>
              </a:rPr>
              <a:t>的幅度大些。</a:t>
            </a:r>
          </a:p>
        </p:txBody>
      </p:sp>
    </p:spTree>
    <p:extLst>
      <p:ext uri="{BB962C8B-B14F-4D97-AF65-F5344CB8AC3E}">
        <p14:creationId xmlns:p14="http://schemas.microsoft.com/office/powerpoint/2010/main" val="10463569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毛发的物理性质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841467" y="1104644"/>
            <a:ext cx="7461065" cy="577850"/>
          </a:xfrm>
          <a:prstGeom prst="rect">
            <a:avLst/>
          </a:prstGeom>
          <a:noFill/>
        </p:spPr>
        <p:txBody>
          <a:bodyPr wrap="square" rtlCol="0">
            <a:spAutoFit/>
          </a:bodyPr>
          <a:lstStyle/>
          <a:p>
            <a:pPr algn="ctr">
              <a:lnSpc>
                <a:spcPct val="150000"/>
              </a:lnSpc>
            </a:pPr>
            <a:r>
              <a:rPr lang="zh-CN" altLang="en-US" sz="2400" dirty="0">
                <a:latin typeface="+mn-lt"/>
                <a:ea typeface="SimHei" panose="02010609060101010101" pitchFamily="49" charset="-122"/>
              </a:rPr>
              <a:t>湿度大 </a:t>
            </a:r>
            <a:r>
              <a:rPr lang="en-US" altLang="zh-CN" sz="2400" dirty="0">
                <a:latin typeface="+mn-lt"/>
                <a:ea typeface="SimHei" panose="02010609060101010101" pitchFamily="49" charset="-122"/>
              </a:rPr>
              <a:t>vs </a:t>
            </a:r>
            <a:r>
              <a:rPr lang="zh-CN" altLang="en-US" sz="2400" dirty="0">
                <a:latin typeface="+mn-lt"/>
                <a:ea typeface="SimHei" panose="02010609060101010101" pitchFamily="49" charset="-122"/>
              </a:rPr>
              <a:t>湿度小</a:t>
            </a:r>
            <a:endParaRPr lang="en-US" altLang="zh-CN" sz="2400" dirty="0">
              <a:latin typeface="+mn-lt"/>
              <a:ea typeface="SimHei" panose="02010609060101010101" pitchFamily="49" charset="-122"/>
            </a:endParaRPr>
          </a:p>
        </p:txBody>
      </p:sp>
      <p:pic>
        <p:nvPicPr>
          <p:cNvPr id="4098" name="Picture 2" descr="Top 143 + Monica's barbados hair episode - polarrunningexpeditions">
            <a:extLst>
              <a:ext uri="{FF2B5EF4-FFF2-40B4-BE49-F238E27FC236}">
                <a16:creationId xmlns:a16="http://schemas.microsoft.com/office/drawing/2014/main" id="{35269B9B-958F-0239-899E-D112E91BFC1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81" t="9736" r="44494"/>
          <a:stretch/>
        </p:blipFill>
        <p:spPr bwMode="auto">
          <a:xfrm>
            <a:off x="182880" y="1799007"/>
            <a:ext cx="4297680" cy="4608134"/>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Top 143 + Monica's barbados hair episode - polarrunningexpeditions">
            <a:extLst>
              <a:ext uri="{FF2B5EF4-FFF2-40B4-BE49-F238E27FC236}">
                <a16:creationId xmlns:a16="http://schemas.microsoft.com/office/drawing/2014/main" id="{556A5D85-E8B0-2C07-00D7-E7BA7F769C2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012" r="7032" b="16107"/>
          <a:stretch/>
        </p:blipFill>
        <p:spPr bwMode="auto">
          <a:xfrm>
            <a:off x="4663440" y="1777417"/>
            <a:ext cx="4297680" cy="4616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47833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毛发的物理性质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998926"/>
            <a:ext cx="8778240" cy="499175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弹性与张力：</a:t>
            </a:r>
            <a:endParaRPr lang="en-US" altLang="zh-CN" sz="2400" dirty="0">
              <a:latin typeface="+mn-lt"/>
              <a:ea typeface="SimHei" panose="02010609060101010101" pitchFamily="49" charset="-122"/>
            </a:endParaRPr>
          </a:p>
          <a:p>
            <a:pPr>
              <a:lnSpc>
                <a:spcPct val="150000"/>
              </a:lnSpc>
            </a:pPr>
            <a:r>
              <a:rPr lang="en-US" altLang="zh-CN" sz="2400" b="1" dirty="0">
                <a:solidFill>
                  <a:srgbClr val="0000FF"/>
                </a:solidFill>
                <a:latin typeface="+mn-lt"/>
                <a:ea typeface="SimHei" panose="02010609060101010101" pitchFamily="49" charset="-122"/>
              </a:rPr>
              <a:t>	</a:t>
            </a:r>
            <a:r>
              <a:rPr lang="zh-CN" altLang="en-US" sz="2400" b="1" dirty="0">
                <a:latin typeface="KaiTi" panose="02010609060101010101" pitchFamily="49" charset="-122"/>
                <a:ea typeface="KaiTi" panose="02010609060101010101" pitchFamily="49" charset="-122"/>
              </a:rPr>
              <a:t>头发的弹性是指头发能拉到最长程度仍然能恢复其原状 的能力。</a:t>
            </a:r>
            <a:r>
              <a:rPr lang="zh-CN" altLang="en-US" sz="2400" b="1" dirty="0">
                <a:solidFill>
                  <a:srgbClr val="0000FF"/>
                </a:solidFill>
                <a:latin typeface="KaiTi" panose="02010609060101010101" pitchFamily="49" charset="-122"/>
                <a:ea typeface="KaiTi" panose="02010609060101010101" pitchFamily="49" charset="-122"/>
              </a:rPr>
              <a:t>一根头发约可拉长</a:t>
            </a:r>
            <a:r>
              <a:rPr lang="en-US" altLang="zh-CN" sz="2400" b="1" dirty="0">
                <a:solidFill>
                  <a:srgbClr val="0000FF"/>
                </a:solidFill>
                <a:latin typeface="KaiTi" panose="02010609060101010101" pitchFamily="49" charset="-122"/>
                <a:ea typeface="KaiTi" panose="02010609060101010101" pitchFamily="49" charset="-122"/>
              </a:rPr>
              <a:t>40%</a:t>
            </a:r>
            <a:r>
              <a:rPr lang="zh-CN" altLang="en-US" sz="2400" b="1" dirty="0">
                <a:solidFill>
                  <a:srgbClr val="0000FF"/>
                </a:solidFill>
                <a:latin typeface="KaiTi" panose="02010609060101010101" pitchFamily="49" charset="-122"/>
                <a:ea typeface="KaiTi" panose="02010609060101010101" pitchFamily="49" charset="-122"/>
              </a:rPr>
              <a:t>～</a:t>
            </a:r>
            <a:r>
              <a:rPr lang="en-US" altLang="zh-CN" sz="2400" b="1" dirty="0">
                <a:solidFill>
                  <a:srgbClr val="0000FF"/>
                </a:solidFill>
                <a:latin typeface="KaiTi" panose="02010609060101010101" pitchFamily="49" charset="-122"/>
                <a:ea typeface="KaiTi" panose="02010609060101010101" pitchFamily="49" charset="-122"/>
              </a:rPr>
              <a:t>60%</a:t>
            </a:r>
            <a:r>
              <a:rPr lang="zh-CN" altLang="en-US" sz="2400" b="1" dirty="0">
                <a:latin typeface="KaiTi" panose="02010609060101010101" pitchFamily="49" charset="-122"/>
                <a:ea typeface="KaiTi" panose="02010609060101010101" pitchFamily="49" charset="-122"/>
              </a:rPr>
              <a:t>，此伸缩率取决于皮质层。构成毛发纤维的角质蛋白多肽主链的空间构型在通常状态下为</a:t>
            </a:r>
            <a:r>
              <a:rPr lang="el-GR" altLang="zh-CN" sz="2400" b="1" dirty="0">
                <a:latin typeface="KaiTi" panose="02010609060101010101" pitchFamily="49" charset="-122"/>
                <a:ea typeface="KaiTi" panose="02010609060101010101" pitchFamily="49" charset="-122"/>
              </a:rPr>
              <a:t>α</a:t>
            </a:r>
            <a:r>
              <a:rPr lang="en-US" altLang="zh-CN" sz="2400" b="1" dirty="0">
                <a:latin typeface="KaiTi" panose="02010609060101010101" pitchFamily="49" charset="-122"/>
                <a:ea typeface="KaiTi" panose="02010609060101010101" pitchFamily="49" charset="-122"/>
              </a:rPr>
              <a:t>-</a:t>
            </a:r>
            <a:r>
              <a:rPr lang="zh-CN" altLang="en-US" sz="2400" b="1" dirty="0">
                <a:latin typeface="KaiTi" panose="02010609060101010101" pitchFamily="49" charset="-122"/>
                <a:ea typeface="KaiTi" panose="02010609060101010101" pitchFamily="49" charset="-122"/>
              </a:rPr>
              <a:t>螺旋结构，在被拉长时变为锯齿状的</a:t>
            </a:r>
            <a:r>
              <a:rPr lang="en-US" altLang="zh-CN" sz="2400" b="1" dirty="0">
                <a:latin typeface="KaiTi" panose="02010609060101010101" pitchFamily="49" charset="-122"/>
                <a:ea typeface="KaiTi" panose="02010609060101010101" pitchFamily="49" charset="-122"/>
              </a:rPr>
              <a:t>β-</a:t>
            </a:r>
            <a:r>
              <a:rPr lang="zh-CN" altLang="en-US" sz="2400" b="1" dirty="0">
                <a:latin typeface="KaiTi" panose="02010609060101010101" pitchFamily="49" charset="-122"/>
                <a:ea typeface="KaiTi" panose="02010609060101010101" pitchFamily="49" charset="-122"/>
              </a:rPr>
              <a:t>折叠结构，长度约增长</a:t>
            </a:r>
            <a:r>
              <a:rPr lang="en-US" altLang="zh-CN" sz="2400" b="1" dirty="0">
                <a:latin typeface="KaiTi" panose="02010609060101010101" pitchFamily="49" charset="-122"/>
                <a:ea typeface="KaiTi" panose="02010609060101010101" pitchFamily="49" charset="-122"/>
              </a:rPr>
              <a:t>2</a:t>
            </a:r>
            <a:r>
              <a:rPr lang="zh-CN" altLang="en-US" sz="2400" b="1" dirty="0">
                <a:latin typeface="KaiTi" panose="02010609060101010101" pitchFamily="49" charset="-122"/>
                <a:ea typeface="KaiTi" panose="02010609060101010101" pitchFamily="49" charset="-122"/>
              </a:rPr>
              <a:t>倍。在撤销拉力时又返回原来长度的</a:t>
            </a:r>
            <a:r>
              <a:rPr lang="el-GR" altLang="zh-CN" sz="2400" b="1" dirty="0">
                <a:latin typeface="KaiTi" panose="02010609060101010101" pitchFamily="49" charset="-122"/>
                <a:ea typeface="KaiTi" panose="02010609060101010101" pitchFamily="49" charset="-122"/>
              </a:rPr>
              <a:t>α</a:t>
            </a:r>
            <a:r>
              <a:rPr lang="en-US" altLang="zh-CN" sz="2400" b="1" dirty="0">
                <a:latin typeface="KaiTi" panose="02010609060101010101" pitchFamily="49" charset="-122"/>
                <a:ea typeface="KaiTi" panose="02010609060101010101" pitchFamily="49" charset="-122"/>
              </a:rPr>
              <a:t>-</a:t>
            </a:r>
            <a:r>
              <a:rPr lang="zh-CN" altLang="en-US" sz="2400" b="1" dirty="0">
                <a:latin typeface="KaiTi" panose="02010609060101010101" pitchFamily="49" charset="-122"/>
                <a:ea typeface="KaiTi" panose="02010609060101010101" pitchFamily="49" charset="-122"/>
              </a:rPr>
              <a:t>构型，这种变化仅在拉长时发生。</a:t>
            </a:r>
            <a:endParaRPr lang="en-US" altLang="zh-CN" sz="2400" b="1" dirty="0">
              <a:latin typeface="KaiTi" panose="02010609060101010101" pitchFamily="49" charset="-122"/>
              <a:ea typeface="KaiTi" panose="02010609060101010101" pitchFamily="49" charset="-122"/>
            </a:endParaRPr>
          </a:p>
          <a:p>
            <a:pPr>
              <a:lnSpc>
                <a:spcPct val="150000"/>
              </a:lnSpc>
            </a:pPr>
            <a:r>
              <a:rPr lang="en-US" altLang="zh-CN" sz="2400" b="1" dirty="0">
                <a:latin typeface="KaiTi" panose="02010609060101010101" pitchFamily="49" charset="-122"/>
                <a:ea typeface="KaiTi" panose="02010609060101010101" pitchFamily="49" charset="-122"/>
              </a:rPr>
              <a:t>	</a:t>
            </a:r>
            <a:r>
              <a:rPr lang="zh-CN" altLang="en-US" sz="2400" b="1" dirty="0">
                <a:latin typeface="KaiTi" panose="02010609060101010101" pitchFamily="49" charset="-122"/>
                <a:ea typeface="KaiTi" panose="02010609060101010101" pitchFamily="49" charset="-122"/>
              </a:rPr>
              <a:t>头发的张力是指头发拉到极限而不致断裂的力量。</a:t>
            </a:r>
            <a:r>
              <a:rPr lang="zh-CN" altLang="en-US" sz="2400" b="1" dirty="0">
                <a:solidFill>
                  <a:srgbClr val="0000FF"/>
                </a:solidFill>
                <a:latin typeface="KaiTi" panose="02010609060101010101" pitchFamily="49" charset="-122"/>
                <a:ea typeface="KaiTi" panose="02010609060101010101" pitchFamily="49" charset="-122"/>
              </a:rPr>
              <a:t>一根健康的头发大约可支撑</a:t>
            </a:r>
            <a:r>
              <a:rPr lang="en-US" altLang="zh-CN" sz="2400" b="1" dirty="0">
                <a:solidFill>
                  <a:srgbClr val="0000FF"/>
                </a:solidFill>
                <a:latin typeface="KaiTi" panose="02010609060101010101" pitchFamily="49" charset="-122"/>
                <a:ea typeface="KaiTi" panose="02010609060101010101" pitchFamily="49" charset="-122"/>
              </a:rPr>
              <a:t>100</a:t>
            </a:r>
            <a:r>
              <a:rPr lang="zh-CN" altLang="en-US" sz="2400" b="1" dirty="0">
                <a:solidFill>
                  <a:srgbClr val="0000FF"/>
                </a:solidFill>
                <a:latin typeface="KaiTi" panose="02010609060101010101" pitchFamily="49" charset="-122"/>
                <a:ea typeface="KaiTi" panose="02010609060101010101" pitchFamily="49" charset="-122"/>
              </a:rPr>
              <a:t>～</a:t>
            </a:r>
            <a:r>
              <a:rPr lang="en-US" altLang="zh-CN" sz="2400" b="1" dirty="0">
                <a:solidFill>
                  <a:srgbClr val="0000FF"/>
                </a:solidFill>
                <a:latin typeface="KaiTi" panose="02010609060101010101" pitchFamily="49" charset="-122"/>
                <a:ea typeface="KaiTi" panose="02010609060101010101" pitchFamily="49" charset="-122"/>
              </a:rPr>
              <a:t>150 g</a:t>
            </a:r>
            <a:r>
              <a:rPr lang="zh-CN" altLang="en-US" sz="2400" b="1" dirty="0">
                <a:solidFill>
                  <a:srgbClr val="0000FF"/>
                </a:solidFill>
                <a:latin typeface="KaiTi" panose="02010609060101010101" pitchFamily="49" charset="-122"/>
                <a:ea typeface="KaiTi" panose="02010609060101010101" pitchFamily="49" charset="-122"/>
              </a:rPr>
              <a:t>的质量</a:t>
            </a:r>
            <a:r>
              <a:rPr lang="zh-CN" altLang="en-US" sz="2400" b="1" dirty="0">
                <a:latin typeface="KaiTi" panose="02010609060101010101" pitchFamily="49" charset="-122"/>
                <a:ea typeface="KaiTi" panose="02010609060101010101" pitchFamily="49" charset="-122"/>
              </a:rPr>
              <a:t>。</a:t>
            </a:r>
          </a:p>
        </p:txBody>
      </p:sp>
    </p:spTree>
    <p:extLst>
      <p:ext uri="{BB962C8B-B14F-4D97-AF65-F5344CB8AC3E}">
        <p14:creationId xmlns:p14="http://schemas.microsoft.com/office/powerpoint/2010/main" val="37570861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毛发的弹性与张力</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pic>
        <p:nvPicPr>
          <p:cNvPr id="5122" name="Picture 2" descr="I hang from my hair as a circus act &amp; people always ask how I'm not bald -  this is the haircare routine I swear by | The Sun">
            <a:extLst>
              <a:ext uri="{FF2B5EF4-FFF2-40B4-BE49-F238E27FC236}">
                <a16:creationId xmlns:a16="http://schemas.microsoft.com/office/drawing/2014/main" id="{00D0A546-A25D-026C-8A6D-1A8F06DD57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165614"/>
            <a:ext cx="4572000" cy="5001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64869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头发的</a:t>
            </a: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pH</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06610" y="1597191"/>
            <a:ext cx="7461065" cy="38985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头发与</a:t>
            </a:r>
            <a:r>
              <a:rPr lang="en-US" altLang="zh-CN" sz="2400" dirty="0">
                <a:latin typeface="+mn-lt"/>
                <a:ea typeface="SimHei" panose="02010609060101010101" pitchFamily="49" charset="-122"/>
              </a:rPr>
              <a:t>pH </a:t>
            </a:r>
            <a:r>
              <a:rPr lang="zh-CN" altLang="en-US" sz="2400" dirty="0">
                <a:latin typeface="+mn-lt"/>
                <a:ea typeface="SimHei" panose="02010609060101010101" pitchFamily="49" charset="-122"/>
              </a:rPr>
              <a:t>值的关系：头发本身是没有酸碱度</a:t>
            </a:r>
            <a:r>
              <a:rPr lang="en-US" altLang="zh-CN" sz="2400" dirty="0">
                <a:latin typeface="+mn-lt"/>
                <a:ea typeface="SimHei" panose="02010609060101010101" pitchFamily="49" charset="-122"/>
              </a:rPr>
              <a:t>pH </a:t>
            </a:r>
            <a:r>
              <a:rPr lang="zh-CN" altLang="en-US" sz="2400" dirty="0">
                <a:latin typeface="+mn-lt"/>
                <a:ea typeface="SimHei" panose="02010609060101010101" pitchFamily="49" charset="-122"/>
              </a:rPr>
              <a:t>值的，常说的</a:t>
            </a:r>
            <a:r>
              <a:rPr lang="en-US" altLang="zh-CN" sz="2400" dirty="0">
                <a:latin typeface="+mn-lt"/>
                <a:ea typeface="SimHei" panose="02010609060101010101" pitchFamily="49" charset="-122"/>
              </a:rPr>
              <a:t>pH </a:t>
            </a:r>
            <a:r>
              <a:rPr lang="zh-CN" altLang="en-US" sz="2400" dirty="0">
                <a:latin typeface="+mn-lt"/>
                <a:ea typeface="SimHei" panose="02010609060101010101" pitchFamily="49" charset="-122"/>
              </a:rPr>
              <a:t>值是指头发周围的分泌物酸碱度。</a:t>
            </a: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一般情况下，头发的 </a:t>
            </a:r>
            <a:r>
              <a:rPr lang="en-US" altLang="zh-CN" sz="2400" dirty="0">
                <a:latin typeface="+mn-lt"/>
                <a:ea typeface="SimHei" panose="02010609060101010101" pitchFamily="49" charset="-122"/>
              </a:rPr>
              <a:t>pH </a:t>
            </a:r>
            <a:r>
              <a:rPr lang="zh-CN" altLang="en-US" sz="2400" dirty="0">
                <a:latin typeface="+mn-lt"/>
                <a:ea typeface="SimHei" panose="02010609060101010101" pitchFamily="49" charset="-122"/>
              </a:rPr>
              <a:t>值在</a:t>
            </a:r>
            <a:r>
              <a:rPr lang="en-US" altLang="zh-CN" sz="2400" dirty="0">
                <a:latin typeface="+mn-lt"/>
                <a:ea typeface="SimHei" panose="02010609060101010101" pitchFamily="49" charset="-122"/>
              </a:rPr>
              <a:t>4.5</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5.5 </a:t>
            </a:r>
            <a:r>
              <a:rPr lang="zh-CN" altLang="en-US" sz="2400" dirty="0">
                <a:latin typeface="+mn-lt"/>
                <a:ea typeface="SimHei" panose="02010609060101010101" pitchFamily="49" charset="-122"/>
              </a:rPr>
              <a:t>之间是最佳健康状态。因头发遇碱性表皮层会张开、分裂，头发变粗糙且呈多孔性，不能达到烫整染的效果。遇酸表皮层合拢，头发保持自然的</a:t>
            </a:r>
            <a:r>
              <a:rPr lang="en-US" altLang="zh-CN" sz="2400" dirty="0">
                <a:latin typeface="+mn-lt"/>
                <a:ea typeface="SimHei" panose="02010609060101010101" pitchFamily="49" charset="-122"/>
              </a:rPr>
              <a:t>pH </a:t>
            </a:r>
            <a:r>
              <a:rPr lang="zh-CN" altLang="en-US" sz="2400" dirty="0">
                <a:latin typeface="+mn-lt"/>
                <a:ea typeface="SimHei" panose="02010609060101010101" pitchFamily="49" charset="-122"/>
              </a:rPr>
              <a:t>值，头发质感佳、有光泽，容易达到烫整染的效果。</a:t>
            </a:r>
          </a:p>
        </p:txBody>
      </p:sp>
    </p:spTree>
    <p:extLst>
      <p:ext uri="{BB962C8B-B14F-4D97-AF65-F5344CB8AC3E}">
        <p14:creationId xmlns:p14="http://schemas.microsoft.com/office/powerpoint/2010/main" val="566877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毛发的物理性质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65614"/>
            <a:ext cx="8778240" cy="44525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形状：人的头发随人种的不同可分为直发、波浪卷曲发、天然卷 曲发三种。直发的横切面是圆形，波浪卷曲发横切面是椭圆形，天然卷曲发横切面是扁形，头发的粗细与头发属于直发或卷发无关。</a:t>
            </a: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多孔性：头发的多孔性是相对于头发能吸收水分的多寡而言的，染发、烫发均与 头发的多孔性有关。</a:t>
            </a: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耐热性：头发的耐热性与头发的性质有密切的关系， 一般加热到</a:t>
            </a:r>
            <a:r>
              <a:rPr lang="en-US" altLang="zh-CN" sz="2400" dirty="0">
                <a:latin typeface="+mn-lt"/>
                <a:ea typeface="SimHei" panose="02010609060101010101" pitchFamily="49" charset="-122"/>
              </a:rPr>
              <a:t>100 ℃, </a:t>
            </a:r>
            <a:r>
              <a:rPr lang="zh-CN" altLang="en-US" sz="2400" dirty="0">
                <a:latin typeface="+mn-lt"/>
                <a:ea typeface="SimHei" panose="02010609060101010101" pitchFamily="49" charset="-122"/>
              </a:rPr>
              <a:t>头发开始有极端变化，最后炭化溶解。</a:t>
            </a:r>
          </a:p>
        </p:txBody>
      </p:sp>
    </p:spTree>
    <p:extLst>
      <p:ext uri="{BB962C8B-B14F-4D97-AF65-F5344CB8AC3E}">
        <p14:creationId xmlns:p14="http://schemas.microsoft.com/office/powerpoint/2010/main" val="18158934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头发着火</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pic>
        <p:nvPicPr>
          <p:cNvPr id="6146" name="Picture 2" descr="Man's Hair Set On Fire On Plane As Prank, Flight Diverted | HuffPost Life">
            <a:extLst>
              <a:ext uri="{FF2B5EF4-FFF2-40B4-BE49-F238E27FC236}">
                <a16:creationId xmlns:a16="http://schemas.microsoft.com/office/drawing/2014/main" id="{FDAC74DB-7201-8F9C-B2E6-32A4FA005E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673050"/>
            <a:ext cx="5486400" cy="35118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90970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头皮屑</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89156"/>
            <a:ext cx="8778240" cy="500983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头皮屑亦称皮脂漏溢或称头部脂漏症，俗名雪皮，由头部皮脂腺分泌和表皮角质层的新陈代谢作用所产生。头皮屑多以春秋季较为明显。头皮屑的产生有以下几种原因：</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en-US" altLang="zh-CN" sz="2400" b="1" dirty="0">
                <a:solidFill>
                  <a:srgbClr val="0000FF"/>
                </a:solidFill>
                <a:latin typeface="KaiTi" panose="02010609060101010101" pitchFamily="49" charset="-122"/>
                <a:ea typeface="KaiTi" panose="02010609060101010101" pitchFamily="49" charset="-122"/>
              </a:rPr>
              <a:t>1</a:t>
            </a:r>
            <a:r>
              <a:rPr lang="zh-CN" altLang="en-US" sz="2400" b="1" dirty="0">
                <a:solidFill>
                  <a:srgbClr val="0000FF"/>
                </a:solidFill>
                <a:latin typeface="KaiTi" panose="02010609060101010101" pitchFamily="49" charset="-122"/>
                <a:ea typeface="KaiTi" panose="02010609060101010101" pitchFamily="49" charset="-122"/>
              </a:rPr>
              <a:t>）头皮上正常衰老死去的皮肤角质小碎片，它和着头皮分泌的皮脂及空气中坠落下来的尘埃一起，形成头皮屑；</a:t>
            </a:r>
            <a:endParaRPr lang="en-US" altLang="zh-CN" sz="2400" b="1" dirty="0">
              <a:solidFill>
                <a:srgbClr val="0000FF"/>
              </a:solidFill>
              <a:latin typeface="KaiTi" panose="02010609060101010101" pitchFamily="49" charset="-122"/>
              <a:ea typeface="KaiTi" panose="02010609060101010101" pitchFamily="49" charset="-122"/>
            </a:endParaRPr>
          </a:p>
          <a:p>
            <a:pPr marL="342900" indent="-342900">
              <a:lnSpc>
                <a:spcPct val="150000"/>
              </a:lnSpc>
              <a:buFont typeface="Arial" panose="020B0604020202020204" pitchFamily="34" charset="0"/>
              <a:buChar char="•"/>
            </a:pPr>
            <a:endParaRPr lang="en-US" altLang="zh-CN" sz="2400" b="1" dirty="0">
              <a:solidFill>
                <a:srgbClr val="0000FF"/>
              </a:solidFill>
              <a:latin typeface="KaiTi" panose="02010609060101010101" pitchFamily="49" charset="-122"/>
              <a:ea typeface="KaiTi" panose="02010609060101010101" pitchFamily="49" charset="-122"/>
            </a:endParaRPr>
          </a:p>
          <a:p>
            <a:pPr marL="342900" indent="-342900">
              <a:lnSpc>
                <a:spcPct val="150000"/>
              </a:lnSpc>
              <a:buFont typeface="Arial" panose="020B0604020202020204" pitchFamily="34" charset="0"/>
              <a:buChar char="•"/>
            </a:pPr>
            <a:r>
              <a:rPr lang="en-US" altLang="zh-CN" sz="2400" b="1" dirty="0">
                <a:solidFill>
                  <a:srgbClr val="0000FF"/>
                </a:solidFill>
                <a:latin typeface="KaiTi" panose="02010609060101010101" pitchFamily="49" charset="-122"/>
                <a:ea typeface="KaiTi" panose="02010609060101010101" pitchFamily="49" charset="-122"/>
              </a:rPr>
              <a:t>2</a:t>
            </a:r>
            <a:r>
              <a:rPr lang="zh-CN" altLang="en-US" sz="2400" b="1" dirty="0">
                <a:solidFill>
                  <a:srgbClr val="0000FF"/>
                </a:solidFill>
                <a:latin typeface="KaiTi" panose="02010609060101010101" pitchFamily="49" charset="-122"/>
                <a:ea typeface="KaiTi" panose="02010609060101010101" pitchFamily="49" charset="-122"/>
              </a:rPr>
              <a:t>）第二种情况是生理性新陈代谢较快，导致头皮屑产生增多</a:t>
            </a:r>
            <a:endParaRPr lang="en-US" altLang="zh-CN" sz="2400" b="1" dirty="0">
              <a:solidFill>
                <a:srgbClr val="0000FF"/>
              </a:solidFill>
              <a:latin typeface="KaiTi" panose="02010609060101010101" pitchFamily="49" charset="-122"/>
              <a:ea typeface="KaiT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433137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头皮屑</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49849"/>
            <a:ext cx="8778240" cy="554574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头皮屑的产生有以下几种原因：</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en-US" altLang="zh-CN" sz="2400" b="1" dirty="0">
                <a:solidFill>
                  <a:srgbClr val="0000FF"/>
                </a:solidFill>
                <a:latin typeface="KaiTi" panose="02010609060101010101" pitchFamily="49" charset="-122"/>
                <a:ea typeface="KaiTi" panose="02010609060101010101" pitchFamily="49" charset="-122"/>
              </a:rPr>
              <a:t>3)</a:t>
            </a:r>
            <a:r>
              <a:rPr lang="zh-CN" altLang="en-US" sz="2400" b="1" dirty="0">
                <a:solidFill>
                  <a:srgbClr val="0000FF"/>
                </a:solidFill>
                <a:latin typeface="KaiTi" panose="02010609060101010101" pitchFamily="49" charset="-122"/>
                <a:ea typeface="KaiTi" panose="02010609060101010101" pitchFamily="49" charset="-122"/>
              </a:rPr>
              <a:t>当因某种原因如食用大量的辛辣刺激性食物或大油多脂性食物等使皮脂的分泌溢出过多时，马拉色菌 </a:t>
            </a:r>
            <a:r>
              <a:rPr lang="en-US" altLang="zh-CN" sz="2400" b="1" dirty="0">
                <a:solidFill>
                  <a:srgbClr val="0000FF"/>
                </a:solidFill>
                <a:latin typeface="KaiTi" panose="02010609060101010101" pitchFamily="49" charset="-122"/>
                <a:ea typeface="KaiTi" panose="02010609060101010101" pitchFamily="49" charset="-122"/>
              </a:rPr>
              <a:t>(</a:t>
            </a:r>
            <a:r>
              <a:rPr lang="en-US" altLang="zh-CN" sz="2400" b="1" dirty="0" err="1">
                <a:solidFill>
                  <a:srgbClr val="0000FF"/>
                </a:solidFill>
                <a:latin typeface="KaiTi" panose="02010609060101010101" pitchFamily="49" charset="-122"/>
                <a:ea typeface="KaiTi" panose="02010609060101010101" pitchFamily="49" charset="-122"/>
              </a:rPr>
              <a:t>malassezia</a:t>
            </a:r>
            <a:r>
              <a:rPr lang="en-US" altLang="zh-CN" sz="2400" b="1" dirty="0">
                <a:solidFill>
                  <a:srgbClr val="0000FF"/>
                </a:solidFill>
                <a:latin typeface="KaiTi" panose="02010609060101010101" pitchFamily="49" charset="-122"/>
                <a:ea typeface="KaiTi" panose="02010609060101010101" pitchFamily="49" charset="-122"/>
              </a:rPr>
              <a:t>)</a:t>
            </a:r>
            <a:r>
              <a:rPr lang="zh-CN" altLang="en-US" sz="2400" b="1" dirty="0">
                <a:solidFill>
                  <a:srgbClr val="0000FF"/>
                </a:solidFill>
                <a:latin typeface="KaiTi" panose="02010609060101010101" pitchFamily="49" charset="-122"/>
                <a:ea typeface="KaiTi" panose="02010609060101010101" pitchFamily="49" charset="-122"/>
              </a:rPr>
              <a:t>嗜食皮脂后会大量繁殖，同时又产生分泌物进一步刺激皮脂的分泌，并加快表皮细胞的成熟和更替速度，周而复始的恶性循环使 得头皮屑也相应地增加许多；</a:t>
            </a:r>
            <a:endParaRPr lang="en-US" altLang="zh-CN" sz="2400" b="1" dirty="0">
              <a:solidFill>
                <a:srgbClr val="0000FF"/>
              </a:solidFill>
              <a:latin typeface="KaiTi" panose="02010609060101010101" pitchFamily="49" charset="-122"/>
              <a:ea typeface="KaiTi" panose="02010609060101010101" pitchFamily="49" charset="-122"/>
            </a:endParaRPr>
          </a:p>
          <a:p>
            <a:pPr marL="342900" indent="-342900">
              <a:lnSpc>
                <a:spcPct val="150000"/>
              </a:lnSpc>
              <a:buFont typeface="Arial" panose="020B0604020202020204" pitchFamily="34" charset="0"/>
              <a:buChar char="•"/>
            </a:pPr>
            <a:endParaRPr lang="en-US" altLang="zh-CN" sz="2400" b="1" dirty="0">
              <a:solidFill>
                <a:srgbClr val="0000FF"/>
              </a:solidFill>
              <a:latin typeface="KaiTi" panose="02010609060101010101" pitchFamily="49" charset="-122"/>
              <a:ea typeface="KaiTi" panose="02010609060101010101" pitchFamily="49" charset="-122"/>
            </a:endParaRPr>
          </a:p>
          <a:p>
            <a:pPr marL="342900" indent="-342900">
              <a:lnSpc>
                <a:spcPct val="150000"/>
              </a:lnSpc>
              <a:buFont typeface="Arial" panose="020B0604020202020204" pitchFamily="34" charset="0"/>
              <a:buChar char="•"/>
            </a:pPr>
            <a:r>
              <a:rPr lang="en-US" altLang="zh-CN" sz="2400" b="1" dirty="0">
                <a:solidFill>
                  <a:srgbClr val="0000FF"/>
                </a:solidFill>
                <a:latin typeface="KaiTi" panose="02010609060101010101" pitchFamily="49" charset="-122"/>
                <a:ea typeface="KaiTi" panose="02010609060101010101" pitchFamily="49" charset="-122"/>
              </a:rPr>
              <a:t>4)</a:t>
            </a:r>
            <a:r>
              <a:rPr lang="zh-CN" altLang="en-US" sz="2400" b="1" dirty="0">
                <a:solidFill>
                  <a:srgbClr val="0000FF"/>
                </a:solidFill>
                <a:latin typeface="KaiTi" panose="02010609060101010101" pitchFamily="49" charset="-122"/>
                <a:ea typeface="KaiTi" panose="02010609060101010101" pitchFamily="49" charset="-122"/>
              </a:rPr>
              <a:t>头皮细胞功能失调，尤其患有银屑病或内分泌异常的疾病时，也会使表皮细胞生长速度过快或皮脂病理性分泌增多，此时头皮屑也会大量产生。</a:t>
            </a:r>
            <a:endParaRPr lang="en-US" altLang="zh-CN" sz="2400" b="1" dirty="0">
              <a:solidFill>
                <a:srgbClr val="0000FF"/>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2690108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头皮屑的产生</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65614"/>
            <a:ext cx="8778240" cy="500983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有时候染发、烫发、营养不均衡</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体内缺乏 </a:t>
            </a:r>
            <a:r>
              <a:rPr lang="en-US" altLang="zh-CN" sz="2400" dirty="0">
                <a:latin typeface="+mn-lt"/>
                <a:ea typeface="SimHei" panose="02010609060101010101" pitchFamily="49" charset="-122"/>
              </a:rPr>
              <a:t>B </a:t>
            </a:r>
            <a:r>
              <a:rPr lang="zh-CN" altLang="en-US" sz="2400" dirty="0">
                <a:latin typeface="+mn-lt"/>
                <a:ea typeface="SimHei" panose="02010609060101010101" pitchFamily="49" charset="-122"/>
              </a:rPr>
              <a:t>族维生素</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、精神压力过大也可能会引起头皮屑的增多。前段中提及的前两种情况是生理性的，后两种情况是病理性的，常见到的是后两种。</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b="1" dirty="0">
                <a:solidFill>
                  <a:srgbClr val="0000FF"/>
                </a:solidFill>
                <a:latin typeface="KaiTi" panose="02010609060101010101" pitchFamily="49" charset="-122"/>
                <a:ea typeface="KaiTi" panose="02010609060101010101" pitchFamily="49" charset="-122"/>
              </a:rPr>
              <a:t>① 马拉色菌的影响：马拉色菌是一种属于酵母菌类的单细胞真菌。马拉色菌通过消耗皮脂中分解出来的饱和脂肪酸而生存，而剩余的不饱和脂肪酸则渗入头皮，导致人体的炎症反应，从而引发头皮角质细胞的过度增生。</a:t>
            </a:r>
          </a:p>
          <a:p>
            <a:pPr marL="342900" indent="-342900">
              <a:lnSpc>
                <a:spcPct val="150000"/>
              </a:lnSpc>
              <a:buFont typeface="Arial" panose="020B0604020202020204" pitchFamily="34" charset="0"/>
              <a:buChar char="•"/>
            </a:pPr>
            <a:endParaRPr lang="zh-CN" altLang="en-US" sz="2400" dirty="0">
              <a:latin typeface="+mn-lt"/>
              <a:ea typeface="SimHei" panose="02010609060101010101" pitchFamily="49" charset="-122"/>
            </a:endParaRPr>
          </a:p>
        </p:txBody>
      </p:sp>
    </p:spTree>
    <p:extLst>
      <p:ext uri="{BB962C8B-B14F-4D97-AF65-F5344CB8AC3E}">
        <p14:creationId xmlns:p14="http://schemas.microsoft.com/office/powerpoint/2010/main" val="16534486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头皮屑的产生</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610113"/>
            <a:ext cx="8778240" cy="334457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a:solidFill>
                  <a:srgbClr val="0000FF"/>
                </a:solidFill>
                <a:latin typeface="KaiTi" panose="02010609060101010101" pitchFamily="49" charset="-122"/>
                <a:ea typeface="KaiTi" panose="02010609060101010101" pitchFamily="49" charset="-122"/>
              </a:rPr>
              <a:t>② 头皮细胞功能失调：头皮功能失调有多种原因，由马拉色菌所引起的头皮屑现象也是其中一种；此外还有老年人、营养不良、接受化学治疗或干癣的病人，也会出现头皮的细胞新陈代谢异常。即基底层细胞快速增殖，在还未完全成熟的情况下往外推出，使头皮细胞成熟过程不完全，以大量片状形式剥落。</a:t>
            </a:r>
          </a:p>
        </p:txBody>
      </p:sp>
    </p:spTree>
    <p:extLst>
      <p:ext uri="{BB962C8B-B14F-4D97-AF65-F5344CB8AC3E}">
        <p14:creationId xmlns:p14="http://schemas.microsoft.com/office/powerpoint/2010/main" val="31047932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祛屑</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380056"/>
            <a:ext cx="8778240" cy="4154984"/>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latin typeface="+mn-lt"/>
                <a:ea typeface="SimHei" panose="02010609060101010101" pitchFamily="49" charset="-122"/>
              </a:rPr>
              <a:t>目前最有效的祛屑方法是通过使用抗真菌有效成分以抑制马拉色菌。</a:t>
            </a:r>
            <a:r>
              <a:rPr lang="en-US" altLang="zh-CN" sz="2400" dirty="0">
                <a:solidFill>
                  <a:srgbClr val="0000FF"/>
                </a:solidFill>
                <a:latin typeface="+mn-lt"/>
                <a:ea typeface="SimHei" panose="02010609060101010101" pitchFamily="49" charset="-122"/>
              </a:rPr>
              <a:t>1-</a:t>
            </a:r>
            <a:r>
              <a:rPr lang="zh-CN" altLang="en-US" sz="2400" dirty="0">
                <a:solidFill>
                  <a:srgbClr val="0000FF"/>
                </a:solidFill>
                <a:latin typeface="+mn-lt"/>
                <a:ea typeface="SimHei" panose="02010609060101010101" pitchFamily="49" charset="-122"/>
              </a:rPr>
              <a:t>羟基</a:t>
            </a:r>
            <a:r>
              <a:rPr lang="en-US" altLang="zh-CN" sz="2400" dirty="0">
                <a:solidFill>
                  <a:srgbClr val="0000FF"/>
                </a:solidFill>
                <a:latin typeface="+mn-lt"/>
                <a:ea typeface="SimHei" panose="02010609060101010101" pitchFamily="49" charset="-122"/>
              </a:rPr>
              <a:t>-4-</a:t>
            </a:r>
            <a:r>
              <a:rPr lang="zh-CN" altLang="en-US" sz="2400" dirty="0">
                <a:solidFill>
                  <a:srgbClr val="0000FF"/>
                </a:solidFill>
                <a:latin typeface="+mn-lt"/>
                <a:ea typeface="SimHei" panose="02010609060101010101" pitchFamily="49" charset="-122"/>
              </a:rPr>
              <a:t>甲基</a:t>
            </a:r>
            <a:r>
              <a:rPr lang="en-US" altLang="zh-CN" sz="2400" dirty="0">
                <a:solidFill>
                  <a:srgbClr val="0000FF"/>
                </a:solidFill>
                <a:latin typeface="+mn-lt"/>
                <a:ea typeface="SimHei" panose="02010609060101010101" pitchFamily="49" charset="-122"/>
              </a:rPr>
              <a:t>-6- (2,4,4-</a:t>
            </a:r>
            <a:r>
              <a:rPr lang="zh-CN" altLang="en-US" sz="2400" dirty="0">
                <a:solidFill>
                  <a:srgbClr val="0000FF"/>
                </a:solidFill>
                <a:latin typeface="+mn-lt"/>
                <a:ea typeface="SimHei" panose="02010609060101010101" pitchFamily="49" charset="-122"/>
              </a:rPr>
              <a:t>三甲基戊基</a:t>
            </a:r>
            <a:r>
              <a:rPr lang="en-US" altLang="zh-CN" sz="2400" dirty="0">
                <a:solidFill>
                  <a:srgbClr val="0000FF"/>
                </a:solidFill>
                <a:latin typeface="+mn-lt"/>
                <a:ea typeface="SimHei" panose="02010609060101010101" pitchFamily="49" charset="-122"/>
              </a:rPr>
              <a:t>)-2(1H)- </a:t>
            </a:r>
            <a:r>
              <a:rPr lang="zh-CN" altLang="en-US" sz="2400" dirty="0">
                <a:solidFill>
                  <a:srgbClr val="0000FF"/>
                </a:solidFill>
                <a:latin typeface="+mn-lt"/>
                <a:ea typeface="SimHei" panose="02010609060101010101" pitchFamily="49" charset="-122"/>
              </a:rPr>
              <a:t>吡啶酮</a:t>
            </a:r>
            <a:r>
              <a:rPr lang="en-US" altLang="zh-CN" sz="2400" dirty="0">
                <a:solidFill>
                  <a:srgbClr val="0000FF"/>
                </a:solidFill>
                <a:latin typeface="+mn-lt"/>
                <a:ea typeface="SimHei" panose="02010609060101010101" pitchFamily="49" charset="-122"/>
              </a:rPr>
              <a:t>-2-</a:t>
            </a:r>
            <a:r>
              <a:rPr lang="zh-CN" altLang="en-US" sz="2400" dirty="0">
                <a:solidFill>
                  <a:srgbClr val="0000FF"/>
                </a:solidFill>
                <a:latin typeface="+mn-lt"/>
                <a:ea typeface="SimHei" panose="02010609060101010101" pitchFamily="49" charset="-122"/>
              </a:rPr>
              <a:t>氨基乙醇盐</a:t>
            </a:r>
            <a:r>
              <a:rPr lang="en-US" altLang="zh-CN" sz="2400" dirty="0">
                <a:solidFill>
                  <a:srgbClr val="0000FF"/>
                </a:solidFill>
                <a:latin typeface="+mn-lt"/>
                <a:ea typeface="SimHei" panose="02010609060101010101" pitchFamily="49" charset="-122"/>
              </a:rPr>
              <a:t>(1:1) (OCT)</a:t>
            </a:r>
            <a:r>
              <a:rPr lang="zh-CN" altLang="en-US" sz="2400" dirty="0">
                <a:solidFill>
                  <a:srgbClr val="0000FF"/>
                </a:solidFill>
                <a:latin typeface="+mn-lt"/>
                <a:ea typeface="SimHei" panose="02010609060101010101" pitchFamily="49" charset="-122"/>
              </a:rPr>
              <a:t>和吡啶硫酮锌 </a:t>
            </a:r>
            <a:r>
              <a:rPr lang="en-US" altLang="zh-CN" sz="2400" dirty="0">
                <a:solidFill>
                  <a:srgbClr val="0000FF"/>
                </a:solidFill>
                <a:latin typeface="+mn-lt"/>
                <a:ea typeface="SimHei" panose="02010609060101010101" pitchFamily="49" charset="-122"/>
              </a:rPr>
              <a:t>(ZPT) </a:t>
            </a:r>
            <a:r>
              <a:rPr lang="zh-CN" altLang="en-US" sz="2400" dirty="0">
                <a:latin typeface="+mn-lt"/>
                <a:ea typeface="SimHei" panose="02010609060101010101" pitchFamily="49" charset="-122"/>
              </a:rPr>
              <a:t>是目前国际上使用最普遍的两种祛屑剂。</a:t>
            </a:r>
            <a:endParaRPr lang="en-US" altLang="zh-CN" sz="2400" dirty="0">
              <a:latin typeface="+mn-lt"/>
              <a:ea typeface="SimHei" panose="02010609060101010101" pitchFamily="49" charset="-122"/>
            </a:endParaRPr>
          </a:p>
          <a:p>
            <a:pPr marL="342900" indent="-342900">
              <a:buFont typeface="Arial" panose="020B0604020202020204" pitchFamily="34" charset="0"/>
              <a:buChar char="•"/>
            </a:pPr>
            <a:endParaRPr lang="en-US" altLang="zh-CN" sz="2400" dirty="0">
              <a:latin typeface="+mn-lt"/>
              <a:ea typeface="SimHei" panose="02010609060101010101" pitchFamily="49" charset="-122"/>
            </a:endParaRPr>
          </a:p>
          <a:p>
            <a:pPr marL="342900" indent="-342900">
              <a:buFont typeface="Arial" panose="020B0604020202020204" pitchFamily="34" charset="0"/>
              <a:buChar char="•"/>
            </a:pPr>
            <a:r>
              <a:rPr lang="zh-CN" altLang="en-US" sz="2400" dirty="0">
                <a:latin typeface="+mn-lt"/>
                <a:ea typeface="SimHei" panose="02010609060101010101" pitchFamily="49" charset="-122"/>
              </a:rPr>
              <a:t>洗发水中另一类具有极大潜在应用价值的祛屑剂是天然植物提取物。天然提取物 一般富含有多种活性成分，具有抗菌消炎、提供营养、改善毛细血管血液循环等功效， 而且作用温和持久，刺激性小，对于祛屑、防脱和改善发质有良好的效果，具有较好 的发展前景。这类天然提取物主要有：胡桃油、防风、山茶、木瓜、积雪草、花皂素、甘草、头花千金藤等。</a:t>
            </a:r>
          </a:p>
        </p:txBody>
      </p:sp>
    </p:spTree>
    <p:extLst>
      <p:ext uri="{BB962C8B-B14F-4D97-AF65-F5344CB8AC3E}">
        <p14:creationId xmlns:p14="http://schemas.microsoft.com/office/powerpoint/2010/main" val="40254484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en-US" altLang="zh-CN" sz="3600" dirty="0" err="1">
                <a:latin typeface="Microsoft JhengHei" panose="020B0604030504040204" pitchFamily="34" charset="-120"/>
                <a:ea typeface="Microsoft JhengHei" panose="020B0604030504040204" pitchFamily="34" charset="-120"/>
                <a:cs typeface="Arial" panose="020B0604020202020204" pitchFamily="34" charset="0"/>
              </a:rPr>
              <a:t>octopirox</a:t>
            </a: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 </a:t>
            </a: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a:t>
            </a: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 OCT </a:t>
            </a: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pic>
        <p:nvPicPr>
          <p:cNvPr id="8196" name="Picture 4" descr="Piroctone Olamine – Advancing Anti-dandruff Care &amp; More">
            <a:extLst>
              <a:ext uri="{FF2B5EF4-FFF2-40B4-BE49-F238E27FC236}">
                <a16:creationId xmlns:a16="http://schemas.microsoft.com/office/drawing/2014/main" id="{139D2F31-1995-474D-7EC8-4B7AE45E97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3383" y="1886935"/>
            <a:ext cx="5704162" cy="3317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20220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Zinc </a:t>
            </a:r>
            <a:r>
              <a:rPr lang="en-US" altLang="zh-CN" sz="3600" dirty="0" err="1">
                <a:latin typeface="Microsoft JhengHei" panose="020B0604030504040204" pitchFamily="34" charset="-120"/>
                <a:ea typeface="Microsoft JhengHei" panose="020B0604030504040204" pitchFamily="34" charset="-120"/>
                <a:cs typeface="Arial" panose="020B0604020202020204" pitchFamily="34" charset="0"/>
              </a:rPr>
              <a:t>pyrithione</a:t>
            </a: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(ZPT) </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pic>
        <p:nvPicPr>
          <p:cNvPr id="9218" name="Picture 2" descr="Zinc Pyrithione | Antimicrobial Agent | MedChemExpress">
            <a:extLst>
              <a:ext uri="{FF2B5EF4-FFF2-40B4-BE49-F238E27FC236}">
                <a16:creationId xmlns:a16="http://schemas.microsoft.com/office/drawing/2014/main" id="{F37A46F6-58DE-EFC6-C9A9-D1C83C01D7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964001"/>
            <a:ext cx="571500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2104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洗发产品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836704" y="1620908"/>
            <a:ext cx="7461065" cy="279057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洗发用品是人们日常生活中不可缺少的必需品，其用于洗净附着在头皮和头发上 的人体分泌的油脂、汗垢、头皮上脱落的细胞以及灰尘、微生物和不良气味等，保持头皮和头发的清洁及头发美观。香波</a:t>
            </a:r>
            <a:r>
              <a:rPr lang="zh-CN" altLang="en-US" sz="2400">
                <a:latin typeface="+mn-lt"/>
                <a:ea typeface="SimHei" panose="02010609060101010101" pitchFamily="49" charset="-122"/>
              </a:rPr>
              <a:t>是英语“</a:t>
            </a:r>
            <a:r>
              <a:rPr lang="en-US" altLang="zh-CN" sz="2400" dirty="0">
                <a:latin typeface="+mn-lt"/>
                <a:ea typeface="SimHei" panose="02010609060101010101" pitchFamily="49" charset="-122"/>
              </a:rPr>
              <a:t>shampoo”</a:t>
            </a:r>
            <a:r>
              <a:rPr lang="zh-CN" altLang="en-US" sz="2400" dirty="0">
                <a:latin typeface="+mn-lt"/>
                <a:ea typeface="SimHei" panose="02010609060101010101" pitchFamily="49" charset="-122"/>
              </a:rPr>
              <a:t>一词的音译，意为洗发。</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731415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香波</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65614"/>
            <a:ext cx="8778240" cy="44525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sz="2400" dirty="0">
                <a:latin typeface="+mn-lt"/>
                <a:ea typeface="SimHei" panose="02010609060101010101" pitchFamily="49" charset="-122"/>
              </a:rPr>
              <a:t>20</a:t>
            </a:r>
            <a:r>
              <a:rPr lang="zh-CN" altLang="en-US" sz="2400" dirty="0">
                <a:latin typeface="+mn-lt"/>
                <a:ea typeface="SimHei" panose="02010609060101010101" pitchFamily="49" charset="-122"/>
              </a:rPr>
              <a:t>世纪</a:t>
            </a:r>
            <a:r>
              <a:rPr lang="en-US" altLang="zh-CN" sz="2400" dirty="0">
                <a:latin typeface="+mn-lt"/>
                <a:ea typeface="SimHei" panose="02010609060101010101" pitchFamily="49" charset="-122"/>
              </a:rPr>
              <a:t>30</a:t>
            </a:r>
            <a:r>
              <a:rPr lang="zh-CN" altLang="en-US" sz="2400" dirty="0">
                <a:latin typeface="+mn-lt"/>
                <a:ea typeface="SimHei" panose="02010609060101010101" pitchFamily="49" charset="-122"/>
              </a:rPr>
              <a:t>年代前，人们主要使用肥皂清洁头发，其后用椰子油皂制成液体香波，但这些以皂类为基料的洗发用品不耐硬水，碱性较高，洗后头发发黏、发脆、不易梳理。</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进入</a:t>
            </a:r>
            <a:r>
              <a:rPr lang="en-US" altLang="zh-CN" sz="2400" dirty="0">
                <a:latin typeface="+mn-lt"/>
                <a:ea typeface="SimHei" panose="02010609060101010101" pitchFamily="49" charset="-122"/>
              </a:rPr>
              <a:t>20</a:t>
            </a:r>
            <a:r>
              <a:rPr lang="zh-CN" altLang="en-US" sz="2400" dirty="0">
                <a:latin typeface="+mn-lt"/>
                <a:ea typeface="SimHei" panose="02010609060101010101" pitchFamily="49" charset="-122"/>
              </a:rPr>
              <a:t>世纪</a:t>
            </a:r>
            <a:r>
              <a:rPr lang="en-US" altLang="zh-CN" sz="2400" dirty="0">
                <a:latin typeface="+mn-lt"/>
                <a:ea typeface="SimHei" panose="02010609060101010101" pitchFamily="49" charset="-122"/>
              </a:rPr>
              <a:t>30</a:t>
            </a:r>
            <a:r>
              <a:rPr lang="zh-CN" altLang="en-US" sz="2400" dirty="0">
                <a:latin typeface="+mn-lt"/>
                <a:ea typeface="SimHei" panose="02010609060101010101" pitchFamily="49" charset="-122"/>
              </a:rPr>
              <a:t>年 代后，以表面活性剂为基料的液体香波开始问世，这类香波同以皂类为基料的洗发用品相比，抗硬水性和温和性得到了大大地提高，但其主要功能仍是以洗涤为主，基本没有护理等其他功能，人们必须在洗发后使用护发素，这给人们的使用带来不便。</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8704341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香波</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841467" y="1620908"/>
            <a:ext cx="7461065" cy="38985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随着表面活性剂科学的发展，尤其是阴、阳离子表面活性剂复配技术的发展，使得洗发和护发可同时进行的二合一香波开始问世，其后香波又逐渐向洗发、护发、养发等多功能方向发展。现在各种天然活性添加剂、中草药和植物提取液及由天然油脂加工而成地表面活性剂越来越多地在产品中得到应用，</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回归自然、返璞归真</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已成为当今潮流。</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309257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香波的功能</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55252"/>
            <a:ext cx="8778240" cy="556056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性能理想的香波，应具有如下性能：</a:t>
            </a:r>
          </a:p>
          <a:p>
            <a:pPr>
              <a:lnSpc>
                <a:spcPct val="150000"/>
              </a:lnSpc>
            </a:pPr>
            <a:r>
              <a:rPr lang="zh-CN" altLang="en-US" sz="2400" b="1" dirty="0">
                <a:solidFill>
                  <a:srgbClr val="0000FF"/>
                </a:solidFill>
                <a:latin typeface="KaiTi" panose="02010609060101010101" pitchFamily="49" charset="-122"/>
                <a:ea typeface="KaiTi" panose="02010609060101010101" pitchFamily="49" charset="-122"/>
              </a:rPr>
              <a:t>① 适度的清洁能力，可除去头发和头皮上的沉积物，但又不会过度脱脂而造成头发干涩；</a:t>
            </a:r>
          </a:p>
          <a:p>
            <a:pPr>
              <a:lnSpc>
                <a:spcPct val="150000"/>
              </a:lnSpc>
            </a:pPr>
            <a:r>
              <a:rPr lang="zh-CN" altLang="en-US" sz="2400" b="1" dirty="0">
                <a:solidFill>
                  <a:srgbClr val="0000FF"/>
                </a:solidFill>
                <a:latin typeface="KaiTi" panose="02010609060101010101" pitchFamily="49" charset="-122"/>
                <a:ea typeface="KaiTi" panose="02010609060101010101" pitchFamily="49" charset="-122"/>
              </a:rPr>
              <a:t>② 洗发过程中可产生丰富细腻且有一定稳定性的泡沫；</a:t>
            </a:r>
          </a:p>
          <a:p>
            <a:pPr>
              <a:lnSpc>
                <a:spcPct val="150000"/>
              </a:lnSpc>
            </a:pPr>
            <a:r>
              <a:rPr lang="zh-CN" altLang="en-US" sz="2400" b="1" dirty="0">
                <a:solidFill>
                  <a:srgbClr val="0000FF"/>
                </a:solidFill>
                <a:latin typeface="KaiTi" panose="02010609060101010101" pitchFamily="49" charset="-122"/>
                <a:ea typeface="KaiTi" panose="02010609060101010101" pitchFamily="49" charset="-122"/>
              </a:rPr>
              <a:t>③ 使用方便，易于清洗；</a:t>
            </a:r>
          </a:p>
          <a:p>
            <a:pPr>
              <a:lnSpc>
                <a:spcPct val="150000"/>
              </a:lnSpc>
            </a:pPr>
            <a:r>
              <a:rPr lang="zh-CN" altLang="en-US" sz="2400" b="1" dirty="0">
                <a:solidFill>
                  <a:srgbClr val="0000FF"/>
                </a:solidFill>
                <a:latin typeface="KaiTi" panose="02010609060101010101" pitchFamily="49" charset="-122"/>
                <a:ea typeface="KaiTi" panose="02010609060101010101" pitchFamily="49" charset="-122"/>
              </a:rPr>
              <a:t>④ 性能温和，对眼睛和头皮刺激性低、无毒，可安全使用；</a:t>
            </a:r>
          </a:p>
          <a:p>
            <a:pPr>
              <a:lnSpc>
                <a:spcPct val="150000"/>
              </a:lnSpc>
            </a:pPr>
            <a:r>
              <a:rPr lang="zh-CN" altLang="en-US" sz="2400" b="1" dirty="0">
                <a:solidFill>
                  <a:srgbClr val="0000FF"/>
                </a:solidFill>
                <a:latin typeface="KaiTi" panose="02010609060101010101" pitchFamily="49" charset="-122"/>
                <a:ea typeface="KaiTi" panose="02010609060101010101" pitchFamily="49" charset="-122"/>
              </a:rPr>
              <a:t>⑤ 干湿梳理性好，有光泽；</a:t>
            </a:r>
          </a:p>
          <a:p>
            <a:pPr>
              <a:lnSpc>
                <a:spcPct val="150000"/>
              </a:lnSpc>
            </a:pPr>
            <a:r>
              <a:rPr lang="zh-CN" altLang="en-US" sz="2400" b="1" dirty="0">
                <a:solidFill>
                  <a:srgbClr val="0000FF"/>
                </a:solidFill>
                <a:latin typeface="KaiTi" panose="02010609060101010101" pitchFamily="49" charset="-122"/>
                <a:ea typeface="KaiTi" panose="02010609060101010101" pitchFamily="49" charset="-122"/>
              </a:rPr>
              <a:t>⑥ 各种调理剂和添加剂的沉积适度，长期重复使用不造成过度沉积；</a:t>
            </a:r>
          </a:p>
          <a:p>
            <a:pPr>
              <a:lnSpc>
                <a:spcPct val="150000"/>
              </a:lnSpc>
            </a:pPr>
            <a:r>
              <a:rPr lang="zh-CN" altLang="en-US" sz="2400" b="1" dirty="0">
                <a:solidFill>
                  <a:srgbClr val="0000FF"/>
                </a:solidFill>
                <a:latin typeface="KaiTi" panose="02010609060101010101" pitchFamily="49" charset="-122"/>
                <a:ea typeface="KaiTi" panose="02010609060101010101" pitchFamily="49" charset="-122"/>
              </a:rPr>
              <a:t>⑦ 产品本身及在使用中和使用后均具有悦人的香气。</a:t>
            </a:r>
          </a:p>
        </p:txBody>
      </p:sp>
    </p:spTree>
    <p:extLst>
      <p:ext uri="{BB962C8B-B14F-4D97-AF65-F5344CB8AC3E}">
        <p14:creationId xmlns:p14="http://schemas.microsoft.com/office/powerpoint/2010/main" val="9757166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香波配方结构</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69999"/>
            <a:ext cx="8951595" cy="57458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a:solidFill>
                  <a:srgbClr val="0000FF"/>
                </a:solidFill>
                <a:latin typeface="KaiTi" panose="02010609060101010101" pitchFamily="49" charset="-122"/>
                <a:ea typeface="KaiTi" panose="02010609060101010101" pitchFamily="49" charset="-122"/>
              </a:rPr>
              <a:t>表面活性剂、稳泡剂、调理剂、防腐剂和香精</a:t>
            </a:r>
            <a:r>
              <a:rPr lang="zh-CN" altLang="en-US" sz="2400" dirty="0">
                <a:latin typeface="+mn-lt"/>
                <a:ea typeface="SimHei" panose="02010609060101010101" pitchFamily="49" charset="-122"/>
              </a:rPr>
              <a:t>是基本成分</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91F15C77-1D52-FF3D-DC00-1A814358D5DC}"/>
              </a:ext>
            </a:extLst>
          </p:cNvPr>
          <p:cNvGraphicFramePr>
            <a:graphicFrameLocks noGrp="1"/>
          </p:cNvGraphicFramePr>
          <p:nvPr>
            <p:extLst>
              <p:ext uri="{D42A27DB-BD31-4B8C-83A1-F6EECF244321}">
                <p14:modId xmlns:p14="http://schemas.microsoft.com/office/powerpoint/2010/main" val="684771658"/>
              </p:ext>
            </p:extLst>
          </p:nvPr>
        </p:nvGraphicFramePr>
        <p:xfrm>
          <a:off x="182880" y="1715653"/>
          <a:ext cx="8778240" cy="5066127"/>
        </p:xfrm>
        <a:graphic>
          <a:graphicData uri="http://schemas.openxmlformats.org/drawingml/2006/table">
            <a:tbl>
              <a:tblPr firstRow="1" firstCol="1" bandRow="1">
                <a:tableStyleId>{21E4AEA4-8DFA-4A89-87EB-49C32662AFE0}</a:tableStyleId>
              </a:tblPr>
              <a:tblGrid>
                <a:gridCol w="1880046">
                  <a:extLst>
                    <a:ext uri="{9D8B030D-6E8A-4147-A177-3AD203B41FA5}">
                      <a16:colId xmlns:a16="http://schemas.microsoft.com/office/drawing/2014/main" val="1189991263"/>
                    </a:ext>
                  </a:extLst>
                </a:gridCol>
                <a:gridCol w="2550071">
                  <a:extLst>
                    <a:ext uri="{9D8B030D-6E8A-4147-A177-3AD203B41FA5}">
                      <a16:colId xmlns:a16="http://schemas.microsoft.com/office/drawing/2014/main" val="3962572107"/>
                    </a:ext>
                  </a:extLst>
                </a:gridCol>
                <a:gridCol w="4348123">
                  <a:extLst>
                    <a:ext uri="{9D8B030D-6E8A-4147-A177-3AD203B41FA5}">
                      <a16:colId xmlns:a16="http://schemas.microsoft.com/office/drawing/2014/main" val="2298292193"/>
                    </a:ext>
                  </a:extLst>
                </a:gridCol>
              </a:tblGrid>
              <a:tr h="288484">
                <a:tc>
                  <a:txBody>
                    <a:bodyPr/>
                    <a:lstStyle/>
                    <a:p>
                      <a:pPr marL="462915" marR="0" eaLnBrk="0">
                        <a:lnSpc>
                          <a:spcPct val="91000"/>
                        </a:lnSpc>
                        <a:spcBef>
                          <a:spcPts val="470"/>
                        </a:spcBef>
                        <a:spcAft>
                          <a:spcPts val="0"/>
                        </a:spcAft>
                      </a:pPr>
                      <a:r>
                        <a:rPr lang="zh-CN" sz="1400" b="1" spc="-30">
                          <a:effectLst/>
                        </a:rPr>
                        <a:t>组</a:t>
                      </a:r>
                      <a:r>
                        <a:rPr lang="en-US" sz="1400" b="1" spc="25">
                          <a:effectLst/>
                        </a:rPr>
                        <a:t>  </a:t>
                      </a:r>
                      <a:r>
                        <a:rPr lang="zh-CN" sz="1400" b="1" spc="-30">
                          <a:effectLst/>
                        </a:rPr>
                        <a:t>分</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714375" marR="0" eaLnBrk="0">
                        <a:lnSpc>
                          <a:spcPct val="92000"/>
                        </a:lnSpc>
                        <a:spcBef>
                          <a:spcPts val="470"/>
                        </a:spcBef>
                        <a:spcAft>
                          <a:spcPts val="0"/>
                        </a:spcAft>
                      </a:pPr>
                      <a:r>
                        <a:rPr lang="zh-CN" sz="1400" b="1" spc="10">
                          <a:effectLst/>
                        </a:rPr>
                        <a:t>主要功能</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330325" marR="0" eaLnBrk="0">
                        <a:lnSpc>
                          <a:spcPct val="91000"/>
                        </a:lnSpc>
                        <a:spcBef>
                          <a:spcPts val="465"/>
                        </a:spcBef>
                        <a:spcAft>
                          <a:spcPts val="0"/>
                        </a:spcAft>
                      </a:pPr>
                      <a:r>
                        <a:rPr lang="zh-CN" sz="1400" b="1" spc="75">
                          <a:effectLst/>
                        </a:rPr>
                        <a:t>代表性原料</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483810248"/>
                  </a:ext>
                </a:extLst>
              </a:tr>
              <a:tr h="526447">
                <a:tc>
                  <a:txBody>
                    <a:bodyPr/>
                    <a:lstStyle/>
                    <a:p>
                      <a:pPr marL="227965" marR="0" eaLnBrk="0">
                        <a:lnSpc>
                          <a:spcPct val="91000"/>
                        </a:lnSpc>
                        <a:spcBef>
                          <a:spcPts val="1290"/>
                        </a:spcBef>
                        <a:spcAft>
                          <a:spcPts val="0"/>
                        </a:spcAft>
                      </a:pPr>
                      <a:r>
                        <a:rPr lang="zh-CN" sz="1400" b="1" spc="10">
                          <a:effectLst/>
                        </a:rPr>
                        <a:t>主表面活性剂</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1775" marR="0" eaLnBrk="0">
                        <a:lnSpc>
                          <a:spcPct val="91000"/>
                        </a:lnSpc>
                        <a:spcBef>
                          <a:spcPts val="1300"/>
                        </a:spcBef>
                        <a:spcAft>
                          <a:spcPts val="0"/>
                        </a:spcAft>
                      </a:pPr>
                      <a:r>
                        <a:rPr lang="zh-CN" sz="1400" b="1" spc="15">
                          <a:effectLst/>
                        </a:rPr>
                        <a:t>清洁和起泡作用</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1760" marR="69850" indent="120015" eaLnBrk="0">
                        <a:lnSpc>
                          <a:spcPct val="96000"/>
                        </a:lnSpc>
                        <a:spcBef>
                          <a:spcPts val="545"/>
                        </a:spcBef>
                        <a:spcAft>
                          <a:spcPts val="0"/>
                        </a:spcAft>
                      </a:pPr>
                      <a:r>
                        <a:rPr lang="zh-CN" sz="1400" b="1" spc="30">
                          <a:effectLst/>
                        </a:rPr>
                        <a:t>脂肪醇硫酸钠、脂肪醇聚氧乙烯醚硫酸钠、脂肪醇</a:t>
                      </a:r>
                      <a:r>
                        <a:rPr lang="zh-CN" sz="1400" b="1" spc="75">
                          <a:effectLst/>
                        </a:rPr>
                        <a:t> </a:t>
                      </a:r>
                      <a:r>
                        <a:rPr lang="zh-CN" sz="1400" b="1" spc="30">
                          <a:effectLst/>
                        </a:rPr>
                        <a:t>硫酸铵、脂肪醇聚氧乙烯醚硫酸铵、仲烷基磺酸钠</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976828767"/>
                  </a:ext>
                </a:extLst>
              </a:tr>
              <a:tr h="511804">
                <a:tc>
                  <a:txBody>
                    <a:bodyPr/>
                    <a:lstStyle/>
                    <a:p>
                      <a:pPr marL="221615" marR="0" eaLnBrk="0">
                        <a:lnSpc>
                          <a:spcPct val="91000"/>
                        </a:lnSpc>
                        <a:spcBef>
                          <a:spcPts val="1245"/>
                        </a:spcBef>
                        <a:spcAft>
                          <a:spcPts val="0"/>
                        </a:spcAft>
                      </a:pPr>
                      <a:r>
                        <a:rPr lang="zh-CN" sz="1400" b="1" spc="5">
                          <a:effectLst/>
                        </a:rPr>
                        <a:t>辅助表面活性剂</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85090" marR="238760" indent="146050" eaLnBrk="0">
                        <a:lnSpc>
                          <a:spcPct val="95000"/>
                        </a:lnSpc>
                        <a:spcBef>
                          <a:spcPts val="550"/>
                        </a:spcBef>
                        <a:spcAft>
                          <a:spcPts val="0"/>
                        </a:spcAft>
                      </a:pPr>
                      <a:r>
                        <a:rPr lang="zh-CN" sz="1400" b="1" spc="5">
                          <a:effectLst/>
                        </a:rPr>
                        <a:t>稳泡、提高黏度、降低刺</a:t>
                      </a:r>
                      <a:r>
                        <a:rPr lang="zh-CN" sz="1400" b="1" spc="25">
                          <a:effectLst/>
                        </a:rPr>
                        <a:t> </a:t>
                      </a:r>
                      <a:r>
                        <a:rPr lang="zh-CN" sz="1400" b="1" spc="-10">
                          <a:effectLst/>
                        </a:rPr>
                        <a:t>激性</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1760" marR="0" indent="125095" eaLnBrk="0">
                        <a:lnSpc>
                          <a:spcPct val="102000"/>
                        </a:lnSpc>
                        <a:spcBef>
                          <a:spcPts val="490"/>
                        </a:spcBef>
                        <a:spcAft>
                          <a:spcPts val="0"/>
                        </a:spcAft>
                      </a:pPr>
                      <a:r>
                        <a:rPr lang="zh-CN" sz="1400" b="1" spc="55">
                          <a:effectLst/>
                        </a:rPr>
                        <a:t>椰油酰胺丙基甜菜碱、氧化胺、烷醇酰胺、咪唑啉、</a:t>
                      </a:r>
                      <a:r>
                        <a:rPr lang="zh-CN" sz="1400" b="1" spc="65">
                          <a:effectLst/>
                        </a:rPr>
                        <a:t> 烷基糖苷、脂肪酸甲酯磺酸盐</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562961815"/>
                  </a:ext>
                </a:extLst>
              </a:tr>
              <a:tr h="511804">
                <a:tc>
                  <a:txBody>
                    <a:bodyPr/>
                    <a:lstStyle/>
                    <a:p>
                      <a:pPr marL="227965" marR="0" eaLnBrk="0">
                        <a:lnSpc>
                          <a:spcPct val="91000"/>
                        </a:lnSpc>
                        <a:spcBef>
                          <a:spcPts val="1250"/>
                        </a:spcBef>
                        <a:spcAft>
                          <a:spcPts val="0"/>
                        </a:spcAft>
                      </a:pPr>
                      <a:r>
                        <a:rPr lang="zh-CN" sz="1400" b="1" spc="20">
                          <a:effectLst/>
                        </a:rPr>
                        <a:t>调理剂</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1440" marR="119380" indent="139700" eaLnBrk="0">
                        <a:lnSpc>
                          <a:spcPct val="97000"/>
                        </a:lnSpc>
                        <a:spcBef>
                          <a:spcPts val="500"/>
                        </a:spcBef>
                        <a:spcAft>
                          <a:spcPts val="0"/>
                        </a:spcAft>
                      </a:pPr>
                      <a:r>
                        <a:rPr lang="zh-CN" sz="1400" b="1" spc="40">
                          <a:effectLst/>
                        </a:rPr>
                        <a:t>调理作用</a:t>
                      </a:r>
                      <a:r>
                        <a:rPr lang="en-US" sz="1400" b="1" spc="40">
                          <a:effectLst/>
                        </a:rPr>
                        <a:t>(</a:t>
                      </a:r>
                      <a:r>
                        <a:rPr lang="zh-CN" sz="1400" b="1" spc="40">
                          <a:effectLst/>
                        </a:rPr>
                        <a:t>柔软、抗静电、</a:t>
                      </a:r>
                      <a:r>
                        <a:rPr lang="zh-CN" sz="1400" b="1" spc="15">
                          <a:effectLst/>
                        </a:rPr>
                        <a:t> </a:t>
                      </a:r>
                      <a:r>
                        <a:rPr lang="zh-CN" sz="1400" b="1" spc="30">
                          <a:effectLst/>
                        </a:rPr>
                        <a:t>润滑、光泽</a:t>
                      </a:r>
                      <a:r>
                        <a:rPr lang="en-US" sz="1400" b="1" spc="30">
                          <a:effectLst/>
                        </a:rPr>
                        <a:t>)</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1760" marR="0" indent="124460" eaLnBrk="0">
                        <a:lnSpc>
                          <a:spcPct val="101000"/>
                        </a:lnSpc>
                        <a:spcBef>
                          <a:spcPts val="505"/>
                        </a:spcBef>
                        <a:spcAft>
                          <a:spcPts val="0"/>
                        </a:spcAft>
                      </a:pPr>
                      <a:r>
                        <a:rPr lang="zh-CN" sz="1400" b="1" spc="30">
                          <a:effectLst/>
                        </a:rPr>
                        <a:t>季铵化羟乙基纤维素、聚季铵盐</a:t>
                      </a:r>
                      <a:r>
                        <a:rPr lang="en-US" sz="1400" b="1" spc="30">
                          <a:effectLst/>
                        </a:rPr>
                        <a:t>-10</a:t>
                      </a:r>
                      <a:r>
                        <a:rPr lang="zh-CN" sz="1400" b="1" spc="30">
                          <a:effectLst/>
                        </a:rPr>
                        <a:t>、阳离子瓜尔胶、</a:t>
                      </a:r>
                      <a:r>
                        <a:rPr lang="zh-CN" sz="1400" b="1" spc="90">
                          <a:effectLst/>
                        </a:rPr>
                        <a:t> </a:t>
                      </a:r>
                      <a:r>
                        <a:rPr lang="zh-CN" sz="1400" b="1" spc="55">
                          <a:effectLst/>
                        </a:rPr>
                        <a:t>三</a:t>
                      </a:r>
                      <a:r>
                        <a:rPr lang="en-US" sz="1400" b="1" spc="55">
                          <a:effectLst/>
                        </a:rPr>
                        <a:t>-</a:t>
                      </a:r>
                      <a:r>
                        <a:rPr lang="zh-CN" sz="1400" b="1" spc="55">
                          <a:effectLst/>
                        </a:rPr>
                        <a:t>十六烷基甲基氯化铵、乳化硅油</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876162027"/>
                  </a:ext>
                </a:extLst>
              </a:tr>
              <a:tr h="709496">
                <a:tc>
                  <a:txBody>
                    <a:bodyPr/>
                    <a:lstStyle/>
                    <a:p>
                      <a:pPr marL="0" marR="0" eaLnBrk="0">
                        <a:lnSpc>
                          <a:spcPct val="129000"/>
                        </a:lnSpc>
                        <a:spcBef>
                          <a:spcPts val="0"/>
                        </a:spcBef>
                        <a:spcAft>
                          <a:spcPts val="0"/>
                        </a:spcAft>
                      </a:pPr>
                      <a:r>
                        <a:rPr lang="en-US" sz="1400" b="1">
                          <a:effectLst/>
                        </a:rPr>
                        <a:t> </a:t>
                      </a:r>
                    </a:p>
                    <a:p>
                      <a:pPr marL="227965" marR="0" eaLnBrk="0">
                        <a:lnSpc>
                          <a:spcPct val="91000"/>
                        </a:lnSpc>
                        <a:spcBef>
                          <a:spcPts val="340"/>
                        </a:spcBef>
                        <a:spcAft>
                          <a:spcPts val="0"/>
                        </a:spcAft>
                      </a:pPr>
                      <a:r>
                        <a:rPr lang="zh-CN" sz="1400" b="1" spc="10">
                          <a:effectLst/>
                        </a:rPr>
                        <a:t>流变调节剂</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0" marR="0" eaLnBrk="0">
                        <a:lnSpc>
                          <a:spcPct val="130000"/>
                        </a:lnSpc>
                        <a:spcBef>
                          <a:spcPts val="0"/>
                        </a:spcBef>
                        <a:spcAft>
                          <a:spcPts val="0"/>
                        </a:spcAft>
                      </a:pPr>
                      <a:r>
                        <a:rPr lang="en-US" sz="1400" b="1">
                          <a:effectLst/>
                        </a:rPr>
                        <a:t> </a:t>
                      </a:r>
                    </a:p>
                    <a:p>
                      <a:pPr marL="231775" marR="0" eaLnBrk="0">
                        <a:lnSpc>
                          <a:spcPct val="91000"/>
                        </a:lnSpc>
                        <a:spcBef>
                          <a:spcPts val="340"/>
                        </a:spcBef>
                        <a:spcAft>
                          <a:spcPts val="0"/>
                        </a:spcAft>
                      </a:pPr>
                      <a:r>
                        <a:rPr lang="zh-CN" sz="1400" b="1" spc="-5">
                          <a:effectLst/>
                        </a:rPr>
                        <a:t>调节黏度、增加稳定性</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8425" marR="52070" indent="133350" eaLnBrk="0">
                        <a:lnSpc>
                          <a:spcPct val="96000"/>
                        </a:lnSpc>
                        <a:spcBef>
                          <a:spcPts val="565"/>
                        </a:spcBef>
                        <a:spcAft>
                          <a:spcPts val="0"/>
                        </a:spcAft>
                      </a:pPr>
                      <a:r>
                        <a:rPr lang="zh-CN" sz="1400" b="1" spc="95">
                          <a:effectLst/>
                        </a:rPr>
                        <a:t>电解质</a:t>
                      </a:r>
                      <a:r>
                        <a:rPr lang="en-US" sz="1400" b="1" spc="95">
                          <a:effectLst/>
                        </a:rPr>
                        <a:t>(</a:t>
                      </a:r>
                      <a:r>
                        <a:rPr lang="zh-CN" sz="1400" b="1" spc="95">
                          <a:effectLst/>
                        </a:rPr>
                        <a:t>如</a:t>
                      </a:r>
                      <a:r>
                        <a:rPr lang="en-US" sz="1400" b="1">
                          <a:effectLst/>
                        </a:rPr>
                        <a:t>NaCl</a:t>
                      </a:r>
                      <a:r>
                        <a:rPr lang="zh-CN" sz="1400" b="1" spc="95">
                          <a:effectLst/>
                        </a:rPr>
                        <a:t>、</a:t>
                      </a:r>
                      <a:r>
                        <a:rPr lang="en-US" sz="1400" b="1">
                          <a:effectLst/>
                        </a:rPr>
                        <a:t>NH</a:t>
                      </a:r>
                      <a:r>
                        <a:rPr lang="en-US" sz="1400" b="1" spc="95">
                          <a:effectLst/>
                        </a:rPr>
                        <a:t>₄C1)</a:t>
                      </a:r>
                      <a:r>
                        <a:rPr lang="zh-CN" sz="1400" b="1" spc="95">
                          <a:effectLst/>
                        </a:rPr>
                        <a:t>、聚乙二醇双硬脂酸酯</a:t>
                      </a:r>
                      <a:r>
                        <a:rPr lang="en-US" sz="1400" b="1">
                          <a:effectLst/>
                        </a:rPr>
                        <a:t>  </a:t>
                      </a:r>
                      <a:r>
                        <a:rPr lang="en-US" sz="1400" b="1" spc="55">
                          <a:effectLst/>
                        </a:rPr>
                        <a:t>(</a:t>
                      </a:r>
                      <a:r>
                        <a:rPr lang="en-US" sz="1400" b="1">
                          <a:effectLst/>
                        </a:rPr>
                        <a:t>DS</a:t>
                      </a:r>
                      <a:r>
                        <a:rPr lang="en-US" sz="1400" b="1" spc="55">
                          <a:effectLst/>
                        </a:rPr>
                        <a:t>6000)</a:t>
                      </a:r>
                      <a:r>
                        <a:rPr lang="zh-CN" sz="1400" b="1" spc="55">
                          <a:effectLst/>
                        </a:rPr>
                        <a:t>、聚乙二醇</a:t>
                      </a:r>
                      <a:r>
                        <a:rPr lang="en-US" sz="1400" b="1" spc="55">
                          <a:effectLst/>
                        </a:rPr>
                        <a:t>(120)</a:t>
                      </a:r>
                      <a:r>
                        <a:rPr lang="zh-CN" sz="1400" b="1" spc="55">
                          <a:effectLst/>
                        </a:rPr>
                        <a:t>甲基葡萄糖</a:t>
                      </a:r>
                      <a:r>
                        <a:rPr lang="zh-CN" sz="1400" b="1" spc="50">
                          <a:effectLst/>
                        </a:rPr>
                        <a:t>二油酸酯</a:t>
                      </a:r>
                      <a:r>
                        <a:rPr lang="en-US" sz="1400" b="1" spc="50">
                          <a:effectLst/>
                        </a:rPr>
                        <a:t>(</a:t>
                      </a:r>
                      <a:r>
                        <a:rPr lang="en-US" sz="1400" b="1">
                          <a:effectLst/>
                        </a:rPr>
                        <a:t>DOE </a:t>
                      </a:r>
                      <a:r>
                        <a:rPr lang="en-US" sz="1400" b="1" spc="55">
                          <a:effectLst/>
                        </a:rPr>
                        <a:t>120)</a:t>
                      </a:r>
                      <a:r>
                        <a:rPr lang="zh-CN" sz="1400" b="1" spc="55">
                          <a:effectLst/>
                        </a:rPr>
                        <a:t>、</a:t>
                      </a:r>
                      <a:r>
                        <a:rPr lang="en-US" sz="1400" b="1">
                          <a:effectLst/>
                        </a:rPr>
                        <a:t>PEG</a:t>
                      </a:r>
                      <a:r>
                        <a:rPr lang="en-US" sz="1400" b="1" spc="55">
                          <a:effectLst/>
                        </a:rPr>
                        <a:t>-150</a:t>
                      </a:r>
                      <a:r>
                        <a:rPr lang="zh-CN" sz="1400" b="1" spc="55">
                          <a:effectLst/>
                        </a:rPr>
                        <a:t>季戊四醇硬脂酸酯、水溶性聚合物</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177566109"/>
                  </a:ext>
                </a:extLst>
              </a:tr>
              <a:tr h="322165">
                <a:tc>
                  <a:txBody>
                    <a:bodyPr/>
                    <a:lstStyle/>
                    <a:p>
                      <a:pPr marL="227965" marR="0" eaLnBrk="0">
                        <a:lnSpc>
                          <a:spcPct val="91000"/>
                        </a:lnSpc>
                        <a:spcBef>
                          <a:spcPts val="610"/>
                        </a:spcBef>
                        <a:spcAft>
                          <a:spcPts val="0"/>
                        </a:spcAft>
                      </a:pPr>
                      <a:r>
                        <a:rPr lang="zh-CN" sz="1400" b="1" spc="20">
                          <a:effectLst/>
                        </a:rPr>
                        <a:t>珠光剂</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1775" marR="0" eaLnBrk="0">
                        <a:lnSpc>
                          <a:spcPct val="91000"/>
                        </a:lnSpc>
                        <a:spcBef>
                          <a:spcPts val="615"/>
                        </a:spcBef>
                        <a:spcAft>
                          <a:spcPts val="0"/>
                        </a:spcAft>
                      </a:pPr>
                      <a:r>
                        <a:rPr lang="zh-CN" sz="1400" b="1" spc="-10">
                          <a:effectLst/>
                        </a:rPr>
                        <a:t>赋予产品珠光</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1775" marR="0" eaLnBrk="0">
                        <a:lnSpc>
                          <a:spcPct val="91000"/>
                        </a:lnSpc>
                        <a:spcBef>
                          <a:spcPts val="620"/>
                        </a:spcBef>
                        <a:spcAft>
                          <a:spcPts val="0"/>
                        </a:spcAft>
                      </a:pPr>
                      <a:r>
                        <a:rPr lang="zh-CN" sz="1400" b="1" spc="40">
                          <a:effectLst/>
                        </a:rPr>
                        <a:t>乙二醇双硬脂酸酯、乙二醇单硬脂酸酯</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501627389"/>
                  </a:ext>
                </a:extLst>
              </a:tr>
              <a:tr h="306789">
                <a:tc>
                  <a:txBody>
                    <a:bodyPr/>
                    <a:lstStyle/>
                    <a:p>
                      <a:pPr marL="227965" marR="0" eaLnBrk="0">
                        <a:lnSpc>
                          <a:spcPct val="91000"/>
                        </a:lnSpc>
                        <a:spcBef>
                          <a:spcPts val="560"/>
                        </a:spcBef>
                        <a:spcAft>
                          <a:spcPts val="0"/>
                        </a:spcAft>
                      </a:pPr>
                      <a:r>
                        <a:rPr lang="zh-CN" sz="1400" b="1" spc="20">
                          <a:effectLst/>
                        </a:rPr>
                        <a:t>螯合剂</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7490" marR="0" eaLnBrk="0">
                        <a:lnSpc>
                          <a:spcPct val="91000"/>
                        </a:lnSpc>
                        <a:spcBef>
                          <a:spcPts val="570"/>
                        </a:spcBef>
                        <a:spcAft>
                          <a:spcPts val="0"/>
                        </a:spcAft>
                      </a:pPr>
                      <a:r>
                        <a:rPr lang="zh-CN" sz="1400" b="1" spc="-5">
                          <a:effectLst/>
                        </a:rPr>
                        <a:t>络合钙、镁和其他金属离子</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1775" marR="0" eaLnBrk="0">
                        <a:lnSpc>
                          <a:spcPct val="76000"/>
                        </a:lnSpc>
                        <a:spcBef>
                          <a:spcPts val="815"/>
                        </a:spcBef>
                        <a:spcAft>
                          <a:spcPts val="0"/>
                        </a:spcAft>
                      </a:pPr>
                      <a:r>
                        <a:rPr lang="en-US" sz="1400" b="1" spc="-5">
                          <a:effectLst/>
                        </a:rPr>
                        <a:t>EDTA-2Na</a:t>
                      </a:r>
                      <a:r>
                        <a:rPr lang="zh-CN" sz="1400" b="1" spc="-5">
                          <a:effectLst/>
                        </a:rPr>
                        <a:t>、</a:t>
                      </a:r>
                      <a:r>
                        <a:rPr lang="en-US" sz="1400" b="1" spc="-5">
                          <a:effectLst/>
                        </a:rPr>
                        <a:t>EDTA-4Na</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1287615114"/>
                  </a:ext>
                </a:extLst>
              </a:tr>
              <a:tr h="321433">
                <a:tc>
                  <a:txBody>
                    <a:bodyPr/>
                    <a:lstStyle/>
                    <a:p>
                      <a:pPr marL="227965" marR="0" eaLnBrk="0">
                        <a:lnSpc>
                          <a:spcPct val="91000"/>
                        </a:lnSpc>
                        <a:spcBef>
                          <a:spcPts val="615"/>
                        </a:spcBef>
                        <a:spcAft>
                          <a:spcPts val="0"/>
                        </a:spcAft>
                      </a:pPr>
                      <a:r>
                        <a:rPr lang="zh-CN" sz="1400" b="1" spc="10">
                          <a:effectLst/>
                        </a:rPr>
                        <a:t>酸度调节剂</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1775" marR="0" eaLnBrk="0">
                        <a:lnSpc>
                          <a:spcPct val="89000"/>
                        </a:lnSpc>
                        <a:spcBef>
                          <a:spcPts val="595"/>
                        </a:spcBef>
                        <a:spcAft>
                          <a:spcPts val="0"/>
                        </a:spcAft>
                      </a:pPr>
                      <a:r>
                        <a:rPr lang="zh-CN" sz="1400" b="1" spc="-10">
                          <a:effectLst/>
                        </a:rPr>
                        <a:t>调节</a:t>
                      </a:r>
                      <a:r>
                        <a:rPr lang="en-US" sz="1400" b="1" spc="-10">
                          <a:effectLst/>
                        </a:rPr>
                        <a:t>pH</a:t>
                      </a:r>
                      <a:r>
                        <a:rPr lang="zh-CN" sz="1400" b="1" spc="-10">
                          <a:effectLst/>
                        </a:rPr>
                        <a:t>值</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1775" marR="0" eaLnBrk="0">
                        <a:lnSpc>
                          <a:spcPct val="91000"/>
                        </a:lnSpc>
                        <a:spcBef>
                          <a:spcPts val="620"/>
                        </a:spcBef>
                        <a:spcAft>
                          <a:spcPts val="0"/>
                        </a:spcAft>
                      </a:pPr>
                      <a:r>
                        <a:rPr lang="zh-CN" sz="1400" b="1" spc="55">
                          <a:effectLst/>
                        </a:rPr>
                        <a:t>柠檬酸、乳酸</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1557080631"/>
                  </a:ext>
                </a:extLst>
              </a:tr>
              <a:tr h="306789">
                <a:tc>
                  <a:txBody>
                    <a:bodyPr/>
                    <a:lstStyle/>
                    <a:p>
                      <a:pPr marL="227965" marR="0" eaLnBrk="0">
                        <a:lnSpc>
                          <a:spcPct val="91000"/>
                        </a:lnSpc>
                        <a:spcBef>
                          <a:spcPts val="575"/>
                        </a:spcBef>
                        <a:spcAft>
                          <a:spcPts val="0"/>
                        </a:spcAft>
                      </a:pPr>
                      <a:r>
                        <a:rPr lang="zh-CN" sz="1400" b="1" spc="20">
                          <a:effectLst/>
                        </a:rPr>
                        <a:t>色素</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1775" marR="0" eaLnBrk="0">
                        <a:lnSpc>
                          <a:spcPct val="91000"/>
                        </a:lnSpc>
                        <a:spcBef>
                          <a:spcPts val="575"/>
                        </a:spcBef>
                        <a:spcAft>
                          <a:spcPts val="0"/>
                        </a:spcAft>
                      </a:pPr>
                      <a:r>
                        <a:rPr lang="zh-CN" sz="1400" b="1" spc="-10">
                          <a:effectLst/>
                        </a:rPr>
                        <a:t>赋予产品颜色</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1775" marR="0" eaLnBrk="0">
                        <a:lnSpc>
                          <a:spcPct val="91000"/>
                        </a:lnSpc>
                        <a:spcBef>
                          <a:spcPts val="575"/>
                        </a:spcBef>
                        <a:spcAft>
                          <a:spcPts val="0"/>
                        </a:spcAft>
                      </a:pPr>
                      <a:r>
                        <a:rPr lang="zh-CN" sz="1400" b="1" spc="55">
                          <a:effectLst/>
                        </a:rPr>
                        <a:t>化妆品用色素</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1001918814"/>
                  </a:ext>
                </a:extLst>
              </a:tr>
              <a:tr h="314111">
                <a:tc>
                  <a:txBody>
                    <a:bodyPr/>
                    <a:lstStyle/>
                    <a:p>
                      <a:pPr marL="227965" marR="0" eaLnBrk="0">
                        <a:lnSpc>
                          <a:spcPct val="91000"/>
                        </a:lnSpc>
                        <a:spcBef>
                          <a:spcPts val="575"/>
                        </a:spcBef>
                        <a:spcAft>
                          <a:spcPts val="0"/>
                        </a:spcAft>
                      </a:pPr>
                      <a:r>
                        <a:rPr lang="zh-CN" sz="1400" b="1" spc="25">
                          <a:effectLst/>
                        </a:rPr>
                        <a:t>香精</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1775" marR="0" eaLnBrk="0">
                        <a:lnSpc>
                          <a:spcPct val="92000"/>
                        </a:lnSpc>
                        <a:spcBef>
                          <a:spcPts val="585"/>
                        </a:spcBef>
                        <a:spcAft>
                          <a:spcPts val="0"/>
                        </a:spcAft>
                      </a:pPr>
                      <a:r>
                        <a:rPr lang="zh-CN" sz="1400" b="1" spc="-15">
                          <a:effectLst/>
                        </a:rPr>
                        <a:t>赋香</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0" marR="0" eaLnBrk="0">
                        <a:spcBef>
                          <a:spcPts val="0"/>
                        </a:spcBef>
                        <a:spcAft>
                          <a:spcPts val="0"/>
                        </a:spcAft>
                      </a:pPr>
                      <a:r>
                        <a:rPr lang="en-US" sz="1400" b="1">
                          <a:effectLst/>
                        </a:rPr>
                        <a:t> </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926448223"/>
                  </a:ext>
                </a:extLst>
              </a:tr>
              <a:tr h="306789">
                <a:tc>
                  <a:txBody>
                    <a:bodyPr/>
                    <a:lstStyle/>
                    <a:p>
                      <a:pPr marL="227965" marR="0" eaLnBrk="0">
                        <a:lnSpc>
                          <a:spcPct val="91000"/>
                        </a:lnSpc>
                        <a:spcBef>
                          <a:spcPts val="580"/>
                        </a:spcBef>
                        <a:spcAft>
                          <a:spcPts val="0"/>
                        </a:spcAft>
                      </a:pPr>
                      <a:r>
                        <a:rPr lang="zh-CN" sz="1400" b="1" spc="20">
                          <a:effectLst/>
                        </a:rPr>
                        <a:t>防腐剂</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1775" marR="0" eaLnBrk="0">
                        <a:lnSpc>
                          <a:spcPct val="91000"/>
                        </a:lnSpc>
                        <a:spcBef>
                          <a:spcPts val="585"/>
                        </a:spcBef>
                        <a:spcAft>
                          <a:spcPts val="0"/>
                        </a:spcAft>
                      </a:pPr>
                      <a:r>
                        <a:rPr lang="zh-CN" sz="1400" b="1" spc="-10">
                          <a:effectLst/>
                        </a:rPr>
                        <a:t>抑制微生物生长</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1775" marR="0" eaLnBrk="0">
                        <a:lnSpc>
                          <a:spcPct val="91000"/>
                        </a:lnSpc>
                        <a:spcBef>
                          <a:spcPts val="585"/>
                        </a:spcBef>
                        <a:spcAft>
                          <a:spcPts val="0"/>
                        </a:spcAft>
                      </a:pPr>
                      <a:r>
                        <a:rPr lang="zh-CN" sz="1400" b="1" spc="215">
                          <a:effectLst/>
                        </a:rPr>
                        <a:t>尼泊金酯类、凯松、</a:t>
                      </a:r>
                      <a:r>
                        <a:rPr lang="en-US" sz="1400" b="1">
                          <a:effectLst/>
                        </a:rPr>
                        <a:t>DMDMH</a:t>
                      </a:r>
                      <a:r>
                        <a:rPr lang="zh-CN" sz="1400" b="1" spc="215">
                          <a:effectLst/>
                        </a:rPr>
                        <a:t>、</a:t>
                      </a:r>
                      <a:r>
                        <a:rPr lang="en-US" sz="1400" b="1">
                          <a:effectLst/>
                        </a:rPr>
                        <a:t>Kathon</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1750252995"/>
                  </a:ext>
                </a:extLst>
              </a:tr>
              <a:tr h="530108">
                <a:tc>
                  <a:txBody>
                    <a:bodyPr/>
                    <a:lstStyle/>
                    <a:p>
                      <a:pPr marL="94615" marR="183515" indent="139700" eaLnBrk="0">
                        <a:lnSpc>
                          <a:spcPct val="96000"/>
                        </a:lnSpc>
                        <a:spcBef>
                          <a:spcPts val="640"/>
                        </a:spcBef>
                        <a:spcAft>
                          <a:spcPts val="0"/>
                        </a:spcAft>
                      </a:pPr>
                      <a:r>
                        <a:rPr lang="zh-CN" sz="1400" b="1" spc="10">
                          <a:effectLst/>
                        </a:rPr>
                        <a:t>功能添加剂</a:t>
                      </a:r>
                      <a:r>
                        <a:rPr lang="en-US" sz="1400" b="1" spc="10">
                          <a:effectLst/>
                        </a:rPr>
                        <a:t>(</a:t>
                      </a:r>
                      <a:r>
                        <a:rPr lang="zh-CN" sz="1400" b="1" spc="10">
                          <a:effectLst/>
                        </a:rPr>
                        <a:t>祛屑</a:t>
                      </a:r>
                      <a:r>
                        <a:rPr lang="zh-CN" sz="1400" b="1" spc="25">
                          <a:effectLst/>
                        </a:rPr>
                        <a:t> </a:t>
                      </a:r>
                      <a:r>
                        <a:rPr lang="zh-CN" sz="1400" b="1" spc="20">
                          <a:effectLst/>
                        </a:rPr>
                        <a:t>剂、植物提取液等</a:t>
                      </a:r>
                      <a:r>
                        <a:rPr lang="en-US" sz="1400" b="1" spc="20">
                          <a:effectLst/>
                        </a:rPr>
                        <a:t>)</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6840" marR="195580" indent="107950" eaLnBrk="0">
                        <a:lnSpc>
                          <a:spcPct val="97000"/>
                        </a:lnSpc>
                        <a:spcBef>
                          <a:spcPts val="585"/>
                        </a:spcBef>
                        <a:spcAft>
                          <a:spcPts val="0"/>
                        </a:spcAft>
                      </a:pPr>
                      <a:r>
                        <a:rPr lang="zh-CN" sz="1400" b="1" spc="-5">
                          <a:effectLst/>
                        </a:rPr>
                        <a:t>赋予各种特定功能</a:t>
                      </a:r>
                      <a:r>
                        <a:rPr lang="en-US" sz="1400" b="1" spc="-5">
                          <a:effectLst/>
                        </a:rPr>
                        <a:t>(</a:t>
                      </a:r>
                      <a:r>
                        <a:rPr lang="zh-CN" sz="1400" b="1" spc="-5">
                          <a:effectLst/>
                        </a:rPr>
                        <a:t>如去头</a:t>
                      </a:r>
                      <a:r>
                        <a:rPr lang="zh-CN" sz="1400" b="1" spc="5">
                          <a:effectLst/>
                        </a:rPr>
                        <a:t> </a:t>
                      </a:r>
                      <a:r>
                        <a:rPr lang="zh-CN" sz="1400" b="1" spc="20">
                          <a:effectLst/>
                        </a:rPr>
                        <a:t>屑、特效、修复等</a:t>
                      </a:r>
                      <a:r>
                        <a:rPr lang="en-US" sz="1400" b="1" spc="20">
                          <a:effectLst/>
                        </a:rPr>
                        <a:t>)</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1775" marR="0" eaLnBrk="0">
                        <a:lnSpc>
                          <a:spcPct val="91000"/>
                        </a:lnSpc>
                        <a:spcBef>
                          <a:spcPts val="1335"/>
                        </a:spcBef>
                        <a:spcAft>
                          <a:spcPts val="0"/>
                        </a:spcAft>
                      </a:pPr>
                      <a:r>
                        <a:rPr lang="zh-CN" sz="1400" b="1" spc="65" dirty="0">
                          <a:effectLst/>
                        </a:rPr>
                        <a:t>吡啶硫铜锌、</a:t>
                      </a:r>
                      <a:r>
                        <a:rPr lang="en-US" sz="1400" b="1" dirty="0">
                          <a:effectLst/>
                        </a:rPr>
                        <a:t>OCT</a:t>
                      </a:r>
                      <a:r>
                        <a:rPr lang="zh-CN" sz="1400" b="1" spc="65" dirty="0">
                          <a:effectLst/>
                        </a:rPr>
                        <a:t>、芦荟提取液、金缕梅提取液</a:t>
                      </a:r>
                      <a:endParaRPr lang="en-US" sz="1400" b="1" dirty="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580069376"/>
                  </a:ext>
                </a:extLst>
              </a:tr>
            </a:tbl>
          </a:graphicData>
        </a:graphic>
      </p:graphicFrame>
    </p:spTree>
    <p:extLst>
      <p:ext uri="{BB962C8B-B14F-4D97-AF65-F5344CB8AC3E}">
        <p14:creationId xmlns:p14="http://schemas.microsoft.com/office/powerpoint/2010/main" val="31682446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洗涤力和发泡力</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09721"/>
            <a:ext cx="8778240" cy="500656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表面活性剂是香波的主要成分，为香波提供了良好的洗涤效果和丰富的泡沫。通常洗发产品的表面活性剂含量为</a:t>
            </a:r>
            <a:r>
              <a:rPr lang="en-US" altLang="zh-CN" sz="2400" dirty="0">
                <a:latin typeface="+mn-lt"/>
                <a:ea typeface="SimHei" panose="02010609060101010101" pitchFamily="49" charset="-122"/>
              </a:rPr>
              <a:t>15%</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20%</a:t>
            </a:r>
            <a:r>
              <a:rPr lang="zh-CN" altLang="en-US" sz="2400" dirty="0">
                <a:latin typeface="+mn-lt"/>
                <a:ea typeface="SimHei" panose="02010609060101010101" pitchFamily="49" charset="-122"/>
              </a:rPr>
              <a:t>，婴孩洗发产品中的含量可酌减，并选用低刺激的表面活性剂。</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去污力和脱脂性是正比变化的，过高的去污力不但浪费原料， 而且对皮肤和毛发都没有好处。因此，越是高档次的和功能性的洗发产品，越要选择低刺激、性能温和的表面活性剂。由于表面活性剂的协同作用， 一般多种表面活性剂复配形成综合性能优异的清洁体系。</a:t>
            </a:r>
          </a:p>
        </p:txBody>
      </p:sp>
    </p:spTree>
    <p:extLst>
      <p:ext uri="{BB962C8B-B14F-4D97-AF65-F5344CB8AC3E}">
        <p14:creationId xmlns:p14="http://schemas.microsoft.com/office/powerpoint/2010/main" val="17807529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洗涤力和发泡力</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06610" y="1597191"/>
            <a:ext cx="7461065" cy="223657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发泡是洗发产品的重要特性之一，从洗涤机理上看，泡沫和洗涤能力并无关系，但在使用和漂洗上是有重要作用的。洗发产品在清洁使用过程中必须有一定量的泡沫，且相对比较稳定。</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7541720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粘度</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06610" y="1597191"/>
            <a:ext cx="7461065" cy="168257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洗发产品的黏度高低主要取决于配方中主表面活性剂、辅助表面活性剂和流变调节剂</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常用无机盐</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的用量。</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16334828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润发和保湿</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09721"/>
            <a:ext cx="8778240" cy="44525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常规的油脂类原料都对毛发有一定的护理作用，但油脂加入体系中，需要注意避免对泡沫的影响，因为油脂有一定的消泡作用。</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zh-CN" altLang="en-US"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欲使头发柔软除了油脂外，水分也十分重要，提高洗发产品的保湿性，可以防止头发发脆。甘油、丙二醇和山梨醇有保留水分和减少水分挥发的特性，加入洗发产品中能使头发由于保持着一些水分而柔软顺服。</a:t>
            </a:r>
          </a:p>
        </p:txBody>
      </p:sp>
    </p:spTree>
    <p:extLst>
      <p:ext uri="{BB962C8B-B14F-4D97-AF65-F5344CB8AC3E}">
        <p14:creationId xmlns:p14="http://schemas.microsoft.com/office/powerpoint/2010/main" val="29546922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抗硬水</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06610" y="1597191"/>
            <a:ext cx="7461065" cy="57785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sz="2400" dirty="0">
                <a:latin typeface="+mn-lt"/>
                <a:ea typeface="SimHei" panose="02010609060101010101" pitchFamily="49" charset="-122"/>
              </a:rPr>
              <a:t>EDTA-2Na</a:t>
            </a:r>
          </a:p>
        </p:txBody>
      </p:sp>
    </p:spTree>
    <p:extLst>
      <p:ext uri="{BB962C8B-B14F-4D97-AF65-F5344CB8AC3E}">
        <p14:creationId xmlns:p14="http://schemas.microsoft.com/office/powerpoint/2010/main" val="8642579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pH</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06610" y="1597191"/>
            <a:ext cx="7461065" cy="279057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一般洗发产品的</a:t>
            </a:r>
            <a:r>
              <a:rPr lang="en-US" altLang="zh-CN" sz="2400" dirty="0">
                <a:latin typeface="+mn-lt"/>
                <a:ea typeface="SimHei" panose="02010609060101010101" pitchFamily="49" charset="-122"/>
              </a:rPr>
              <a:t>pH </a:t>
            </a:r>
            <a:r>
              <a:rPr lang="zh-CN" altLang="en-US" sz="2400" dirty="0">
                <a:latin typeface="+mn-lt"/>
                <a:ea typeface="SimHei" panose="02010609060101010101" pitchFamily="49" charset="-122"/>
              </a:rPr>
              <a:t>为</a:t>
            </a:r>
            <a:r>
              <a:rPr lang="en-US" altLang="zh-CN" sz="2400" dirty="0">
                <a:latin typeface="+mn-lt"/>
                <a:ea typeface="SimHei" panose="02010609060101010101" pitchFamily="49" charset="-122"/>
              </a:rPr>
              <a:t>6</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9</a:t>
            </a:r>
            <a:r>
              <a:rPr lang="zh-CN" altLang="en-US" sz="2400" dirty="0">
                <a:latin typeface="+mn-lt"/>
                <a:ea typeface="SimHei" panose="02010609060101010101" pitchFamily="49" charset="-122"/>
              </a:rPr>
              <a:t>。 </a:t>
            </a:r>
            <a:r>
              <a:rPr lang="en-US" altLang="zh-CN" sz="2400" dirty="0">
                <a:latin typeface="+mn-lt"/>
                <a:ea typeface="SimHei" panose="02010609060101010101" pitchFamily="49" charset="-122"/>
              </a:rPr>
              <a:t>pH</a:t>
            </a:r>
            <a:r>
              <a:rPr lang="zh-CN" altLang="en-US" sz="2400" dirty="0">
                <a:latin typeface="+mn-lt"/>
                <a:ea typeface="SimHei" panose="02010609060101010101" pitchFamily="49" charset="-122"/>
              </a:rPr>
              <a:t>太低，不但会使某些阴离子表面活性剂发生水解，还会影响产品的安全性。在洗发产 品中， 一般使用柠檬酸或磷酸调 </a:t>
            </a:r>
            <a:r>
              <a:rPr lang="en-US" altLang="zh-CN" sz="2400" dirty="0">
                <a:latin typeface="+mn-lt"/>
                <a:ea typeface="SimHei" panose="02010609060101010101" pitchFamily="49" charset="-122"/>
              </a:rPr>
              <a:t>pH (</a:t>
            </a:r>
            <a:r>
              <a:rPr lang="zh-CN" altLang="en-US" sz="2400" dirty="0">
                <a:latin typeface="+mn-lt"/>
                <a:ea typeface="SimHei" panose="02010609060101010101" pitchFamily="49" charset="-122"/>
              </a:rPr>
              <a:t>用量一般在</a:t>
            </a:r>
            <a:r>
              <a:rPr lang="en-US" altLang="zh-CN" sz="2400" dirty="0">
                <a:latin typeface="+mn-lt"/>
                <a:ea typeface="SimHei" panose="02010609060101010101" pitchFamily="49" charset="-122"/>
              </a:rPr>
              <a:t>0.1%</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0.5%)</a:t>
            </a:r>
            <a:r>
              <a:rPr lang="zh-CN" altLang="en-US" sz="2400" dirty="0">
                <a:latin typeface="+mn-lt"/>
                <a:ea typeface="SimHei" panose="02010609060101010101" pitchFamily="49" charset="-122"/>
              </a:rPr>
              <a:t>，并加入一定量的缓冲剂，保证产品有一个稳定的 </a:t>
            </a:r>
            <a:r>
              <a:rPr lang="en-US" altLang="zh-CN" sz="2400" dirty="0">
                <a:latin typeface="+mn-lt"/>
                <a:ea typeface="SimHei" panose="02010609060101010101" pitchFamily="49" charset="-122"/>
              </a:rPr>
              <a:t>pH</a:t>
            </a:r>
            <a:r>
              <a:rPr lang="zh-CN" altLang="en-US" sz="2400" dirty="0">
                <a:latin typeface="+mn-lt"/>
                <a:ea typeface="SimHei" panose="02010609060101010101" pitchFamily="49" charset="-122"/>
              </a:rPr>
              <a:t>。</a:t>
            </a:r>
          </a:p>
        </p:txBody>
      </p:sp>
    </p:spTree>
    <p:extLst>
      <p:ext uri="{BB962C8B-B14F-4D97-AF65-F5344CB8AC3E}">
        <p14:creationId xmlns:p14="http://schemas.microsoft.com/office/powerpoint/2010/main" val="38245569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香精、色素和防腐剂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836704" y="1346495"/>
            <a:ext cx="7461065" cy="44525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香精可掩盖不愉快的气味，赋予产品愉快的香味，且洗后使头发留有芳香。色素  能赋予产品鲜艳、明快的色彩，但必须选用化妆品允许使用的色素。</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色素和香精加入 产品后应进行高低温、阳光、酸碱性等综合因素对其稳定性影响的试验，试验合格后，方可确定用于生产。</a:t>
            </a: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为防止香波受霉菌或细菌侵袭导致腐败，需要加入防腐剂。</a:t>
            </a:r>
          </a:p>
        </p:txBody>
      </p:sp>
    </p:spTree>
    <p:extLst>
      <p:ext uri="{BB962C8B-B14F-4D97-AF65-F5344CB8AC3E}">
        <p14:creationId xmlns:p14="http://schemas.microsoft.com/office/powerpoint/2010/main" val="39616787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阳离子聚合物的护理机理</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65614"/>
            <a:ext cx="8778240" cy="443775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阳离子聚合物沉积在头发的表面，使头发润滑、分散性好、易于梳理，增强头发体感，同时可以使开叉头发有所改善。</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a:lnSpc>
                <a:spcPct val="150000"/>
              </a:lnSpc>
            </a:pPr>
            <a:r>
              <a:rPr lang="en-US" altLang="zh-CN" sz="2400" b="1" dirty="0">
                <a:latin typeface="KaiTi" panose="02010609060101010101" pitchFamily="49" charset="-122"/>
                <a:ea typeface="KaiTi" panose="02010609060101010101" pitchFamily="49" charset="-122"/>
              </a:rPr>
              <a:t>	</a:t>
            </a:r>
            <a:r>
              <a:rPr lang="zh-CN" altLang="en-US" sz="2400" b="1" dirty="0">
                <a:latin typeface="KaiTi" panose="02010609060101010101" pitchFamily="49" charset="-122"/>
                <a:ea typeface="KaiTi" panose="02010609060101010101" pitchFamily="49" charset="-122"/>
              </a:rPr>
              <a:t>阳离子聚合物在洗涤过程中能吸附于头发表面的机理是：</a:t>
            </a:r>
            <a:r>
              <a:rPr lang="zh-CN" altLang="en-US" sz="2400" b="1" dirty="0">
                <a:solidFill>
                  <a:srgbClr val="0000FF"/>
                </a:solidFill>
                <a:latin typeface="KaiTi" panose="02010609060101010101" pitchFamily="49" charset="-122"/>
                <a:ea typeface="KaiTi" panose="02010609060101010101" pitchFamily="49" charset="-122"/>
              </a:rPr>
              <a:t>清洗和沐浴</a:t>
            </a:r>
            <a:r>
              <a:rPr lang="zh-CN" altLang="en-US" sz="2400" b="1" dirty="0">
                <a:latin typeface="KaiTi" panose="02010609060101010101" pitchFamily="49" charset="-122"/>
                <a:ea typeface="KaiTi" panose="02010609060101010101" pitchFamily="49" charset="-122"/>
              </a:rPr>
              <a:t>一般来说是在体系表面活性剂的临界胶束浓度 </a:t>
            </a:r>
            <a:r>
              <a:rPr lang="en-US" altLang="zh-CN" sz="2400" b="1" dirty="0">
                <a:latin typeface="KaiTi" panose="02010609060101010101" pitchFamily="49" charset="-122"/>
                <a:ea typeface="KaiTi" panose="02010609060101010101" pitchFamily="49" charset="-122"/>
              </a:rPr>
              <a:t>(</a:t>
            </a:r>
            <a:r>
              <a:rPr lang="en-US" altLang="zh-CN" sz="2400" b="1" dirty="0" err="1">
                <a:latin typeface="KaiTi" panose="02010609060101010101" pitchFamily="49" charset="-122"/>
                <a:ea typeface="KaiTi" panose="02010609060101010101" pitchFamily="49" charset="-122"/>
              </a:rPr>
              <a:t>cmc</a:t>
            </a:r>
            <a:r>
              <a:rPr lang="en-US" altLang="zh-CN" sz="2400" b="1" dirty="0">
                <a:latin typeface="KaiTi" panose="02010609060101010101" pitchFamily="49" charset="-122"/>
                <a:ea typeface="KaiTi" panose="02010609060101010101" pitchFamily="49" charset="-122"/>
              </a:rPr>
              <a:t>) </a:t>
            </a:r>
            <a:r>
              <a:rPr lang="zh-CN" altLang="en-US" sz="2400" b="1" dirty="0">
                <a:latin typeface="KaiTi" panose="02010609060101010101" pitchFamily="49" charset="-122"/>
                <a:ea typeface="KaiTi" panose="02010609060101010101" pitchFamily="49" charset="-122"/>
              </a:rPr>
              <a:t>以上进行的，在此过程中</a:t>
            </a:r>
            <a:r>
              <a:rPr lang="zh-CN" altLang="en-US" sz="2400" b="1" dirty="0">
                <a:solidFill>
                  <a:srgbClr val="0000FF"/>
                </a:solidFill>
                <a:latin typeface="KaiTi" panose="02010609060101010101" pitchFamily="49" charset="-122"/>
                <a:ea typeface="KaiTi" panose="02010609060101010101" pitchFamily="49" charset="-122"/>
              </a:rPr>
              <a:t>阳离子聚合物保持可溶状态</a:t>
            </a:r>
            <a:r>
              <a:rPr lang="zh-CN" altLang="en-US" sz="2400" b="1" dirty="0">
                <a:latin typeface="KaiTi" panose="02010609060101010101" pitchFamily="49" charset="-122"/>
                <a:ea typeface="KaiTi" panose="02010609060101010101" pitchFamily="49" charset="-122"/>
              </a:rPr>
              <a:t>，而在冲洗时，</a:t>
            </a:r>
            <a:r>
              <a:rPr lang="zh-CN" altLang="en-US" sz="2400" b="1" dirty="0">
                <a:solidFill>
                  <a:srgbClr val="0000FF"/>
                </a:solidFill>
                <a:latin typeface="KaiTi" panose="02010609060101010101" pitchFamily="49" charset="-122"/>
                <a:ea typeface="KaiTi" panose="02010609060101010101" pitchFamily="49" charset="-122"/>
              </a:rPr>
              <a:t>表面活性剂会被稀释</a:t>
            </a:r>
            <a:r>
              <a:rPr lang="zh-CN" altLang="en-US" sz="2400" b="1" dirty="0">
                <a:latin typeface="KaiTi" panose="02010609060101010101" pitchFamily="49" charset="-122"/>
                <a:ea typeface="KaiTi" panose="02010609060101010101" pitchFamily="49" charset="-122"/>
              </a:rPr>
              <a:t>到接近它的</a:t>
            </a:r>
            <a:r>
              <a:rPr lang="en-US" altLang="zh-CN" sz="2400" b="1" dirty="0" err="1">
                <a:latin typeface="KaiTi" panose="02010609060101010101" pitchFamily="49" charset="-122"/>
                <a:ea typeface="KaiTi" panose="02010609060101010101" pitchFamily="49" charset="-122"/>
              </a:rPr>
              <a:t>cmc</a:t>
            </a:r>
            <a:r>
              <a:rPr lang="en-US" altLang="zh-CN" sz="2400" b="1" dirty="0">
                <a:latin typeface="KaiTi" panose="02010609060101010101" pitchFamily="49" charset="-122"/>
                <a:ea typeface="KaiTi" panose="02010609060101010101" pitchFamily="49" charset="-122"/>
              </a:rPr>
              <a:t>, </a:t>
            </a:r>
            <a:r>
              <a:rPr lang="zh-CN" altLang="en-US" sz="2400" b="1" dirty="0">
                <a:solidFill>
                  <a:srgbClr val="0000FF"/>
                </a:solidFill>
                <a:latin typeface="KaiTi" panose="02010609060101010101" pitchFamily="49" charset="-122"/>
                <a:ea typeface="KaiTi" panose="02010609060101010101" pitchFamily="49" charset="-122"/>
              </a:rPr>
              <a:t>聚合物</a:t>
            </a:r>
            <a:r>
              <a:rPr lang="zh-CN" altLang="en-US" sz="2400" b="1" dirty="0">
                <a:latin typeface="KaiTi" panose="02010609060101010101" pitchFamily="49" charset="-122"/>
                <a:ea typeface="KaiTi" panose="02010609060101010101" pitchFamily="49" charset="-122"/>
              </a:rPr>
              <a:t>在水中的溶解性降低，进而</a:t>
            </a:r>
            <a:r>
              <a:rPr lang="zh-CN" altLang="en-US" sz="2400" b="1" dirty="0">
                <a:solidFill>
                  <a:srgbClr val="0000FF"/>
                </a:solidFill>
                <a:latin typeface="KaiTi" panose="02010609060101010101" pitchFamily="49" charset="-122"/>
                <a:ea typeface="KaiTi" panose="02010609060101010101" pitchFamily="49" charset="-122"/>
              </a:rPr>
              <a:t>被吸附到头发上</a:t>
            </a:r>
            <a:r>
              <a:rPr lang="zh-CN" altLang="en-US" sz="2400" b="1" dirty="0">
                <a:latin typeface="KaiTi" panose="02010609060101010101" pitchFamily="49" charset="-122"/>
                <a:ea typeface="KaiTi" panose="02010609060101010101" pitchFamily="49" charset="-122"/>
              </a:rPr>
              <a:t>，而表面活性剂被冲走。</a:t>
            </a:r>
          </a:p>
        </p:txBody>
      </p:sp>
    </p:spTree>
    <p:extLst>
      <p:ext uri="{BB962C8B-B14F-4D97-AF65-F5344CB8AC3E}">
        <p14:creationId xmlns:p14="http://schemas.microsoft.com/office/powerpoint/2010/main" val="4636971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祛屑机理</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06610" y="1597191"/>
            <a:ext cx="7461065" cy="334457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头屑过多和头皮发痒与卵圆形糠秕孢子菌的异常繁殖有密切的关系。头屑的产生为微生物的生长和繁殖创造了有利条件而致刺激头皮，引起瘙痒，加速表皮细胞的异常增殖。</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因此抑制细胞角化速度，从而降低表皮新陈代谢的速度和杀菌是防止头屑的主要途径。</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6865667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香波的原料选择</a:t>
            </a: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a:t>
            </a: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主表面活性剂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65614"/>
            <a:ext cx="8778240" cy="556056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目前最常用的表面活性剂是一些阴离子表面活性剂。香波按照主表面活性剂可以分为钠盐体系与铵盐体系。</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b="1" dirty="0">
                <a:latin typeface="KaiTi" panose="02010609060101010101" pitchFamily="49" charset="-122"/>
                <a:ea typeface="KaiTi" panose="02010609060101010101" pitchFamily="49" charset="-122"/>
              </a:rPr>
              <a:t>钠盐体系：脂肪醇聚氧乙烯醚</a:t>
            </a:r>
            <a:r>
              <a:rPr lang="en-US" altLang="zh-CN" sz="2400" b="1" dirty="0">
                <a:latin typeface="KaiTi" panose="02010609060101010101" pitchFamily="49" charset="-122"/>
                <a:ea typeface="KaiTi" panose="02010609060101010101" pitchFamily="49" charset="-122"/>
              </a:rPr>
              <a:t>(2EO</a:t>
            </a:r>
            <a:r>
              <a:rPr lang="zh-CN" altLang="en-US" sz="2400" b="1" dirty="0">
                <a:latin typeface="KaiTi" panose="02010609060101010101" pitchFamily="49" charset="-122"/>
                <a:ea typeface="KaiTi" panose="02010609060101010101" pitchFamily="49" charset="-122"/>
              </a:rPr>
              <a:t>或</a:t>
            </a:r>
            <a:r>
              <a:rPr lang="en-US" altLang="zh-CN" sz="2400" b="1" dirty="0">
                <a:latin typeface="KaiTi" panose="02010609060101010101" pitchFamily="49" charset="-122"/>
                <a:ea typeface="KaiTi" panose="02010609060101010101" pitchFamily="49" charset="-122"/>
              </a:rPr>
              <a:t>3EO)</a:t>
            </a:r>
            <a:r>
              <a:rPr lang="zh-CN" altLang="en-US" sz="2400" b="1" dirty="0">
                <a:latin typeface="KaiTi" panose="02010609060101010101" pitchFamily="49" charset="-122"/>
                <a:ea typeface="KaiTi" panose="02010609060101010101" pitchFamily="49" charset="-122"/>
              </a:rPr>
              <a:t>硫酸钠</a:t>
            </a:r>
            <a:r>
              <a:rPr lang="en-US" altLang="zh-CN" sz="2400" b="1" dirty="0">
                <a:latin typeface="KaiTi" panose="02010609060101010101" pitchFamily="49" charset="-122"/>
                <a:ea typeface="KaiTi" panose="02010609060101010101" pitchFamily="49" charset="-122"/>
              </a:rPr>
              <a:t>(</a:t>
            </a:r>
            <a:r>
              <a:rPr lang="en-US" altLang="zh-CN" sz="2400" b="1" dirty="0">
                <a:solidFill>
                  <a:srgbClr val="0000FF"/>
                </a:solidFill>
                <a:latin typeface="KaiTi" panose="02010609060101010101" pitchFamily="49" charset="-122"/>
                <a:ea typeface="KaiTi" panose="02010609060101010101" pitchFamily="49" charset="-122"/>
              </a:rPr>
              <a:t>AES</a:t>
            </a:r>
            <a:r>
              <a:rPr lang="zh-CN" altLang="en-US" sz="2400" b="1" dirty="0">
                <a:solidFill>
                  <a:srgbClr val="0000FF"/>
                </a:solidFill>
                <a:latin typeface="KaiTi" panose="02010609060101010101" pitchFamily="49" charset="-122"/>
                <a:ea typeface="KaiTi" panose="02010609060101010101" pitchFamily="49" charset="-122"/>
              </a:rPr>
              <a:t>、</a:t>
            </a:r>
            <a:r>
              <a:rPr lang="en-US" altLang="zh-CN" sz="2400" b="1" dirty="0">
                <a:solidFill>
                  <a:srgbClr val="0000FF"/>
                </a:solidFill>
                <a:latin typeface="KaiTi" panose="02010609060101010101" pitchFamily="49" charset="-122"/>
                <a:ea typeface="KaiTi" panose="02010609060101010101" pitchFamily="49" charset="-122"/>
              </a:rPr>
              <a:t>AES-Na</a:t>
            </a:r>
            <a:r>
              <a:rPr lang="en-US" altLang="zh-CN" sz="2400" b="1" dirty="0">
                <a:latin typeface="KaiTi" panose="02010609060101010101" pitchFamily="49" charset="-122"/>
                <a:ea typeface="KaiTi" panose="02010609060101010101" pitchFamily="49" charset="-122"/>
              </a:rPr>
              <a:t>)</a:t>
            </a:r>
            <a:r>
              <a:rPr lang="zh-CN" altLang="en-US" sz="2400" b="1" dirty="0">
                <a:latin typeface="KaiTi" panose="02010609060101010101" pitchFamily="49" charset="-122"/>
                <a:ea typeface="KaiTi" panose="02010609060101010101" pitchFamily="49" charset="-122"/>
              </a:rPr>
              <a:t>。铵盐体系：脂肪醇聚氧乙烯醚</a:t>
            </a:r>
            <a:r>
              <a:rPr lang="en-US" altLang="zh-CN" sz="2400" b="1" dirty="0">
                <a:latin typeface="KaiTi" panose="02010609060101010101" pitchFamily="49" charset="-122"/>
                <a:ea typeface="KaiTi" panose="02010609060101010101" pitchFamily="49" charset="-122"/>
              </a:rPr>
              <a:t>(2EO</a:t>
            </a:r>
            <a:r>
              <a:rPr lang="zh-CN" altLang="en-US" sz="2400" b="1" dirty="0">
                <a:latin typeface="KaiTi" panose="02010609060101010101" pitchFamily="49" charset="-122"/>
                <a:ea typeface="KaiTi" panose="02010609060101010101" pitchFamily="49" charset="-122"/>
              </a:rPr>
              <a:t>或</a:t>
            </a:r>
            <a:r>
              <a:rPr lang="en-US" altLang="zh-CN" sz="2400" b="1" dirty="0">
                <a:latin typeface="KaiTi" panose="02010609060101010101" pitchFamily="49" charset="-122"/>
                <a:ea typeface="KaiTi" panose="02010609060101010101" pitchFamily="49" charset="-122"/>
              </a:rPr>
              <a:t>3EO)</a:t>
            </a:r>
            <a:r>
              <a:rPr lang="zh-CN" altLang="en-US" sz="2400" b="1" dirty="0">
                <a:latin typeface="KaiTi" panose="02010609060101010101" pitchFamily="49" charset="-122"/>
                <a:ea typeface="KaiTi" panose="02010609060101010101" pitchFamily="49" charset="-122"/>
              </a:rPr>
              <a:t>硫酸铵 </a:t>
            </a:r>
            <a:r>
              <a:rPr lang="en-US" altLang="zh-CN" sz="2400" b="1" dirty="0">
                <a:latin typeface="KaiTi" panose="02010609060101010101" pitchFamily="49" charset="-122"/>
                <a:ea typeface="KaiTi" panose="02010609060101010101" pitchFamily="49" charset="-122"/>
              </a:rPr>
              <a:t>(AAES</a:t>
            </a:r>
            <a:r>
              <a:rPr lang="zh-CN" altLang="en-US" sz="2400" b="1" dirty="0">
                <a:latin typeface="KaiTi" panose="02010609060101010101" pitchFamily="49" charset="-122"/>
                <a:ea typeface="KaiTi" panose="02010609060101010101" pitchFamily="49" charset="-122"/>
              </a:rPr>
              <a:t>、</a:t>
            </a:r>
            <a:r>
              <a:rPr lang="en-US" altLang="zh-CN" sz="2400" b="1" dirty="0">
                <a:latin typeface="KaiTi" panose="02010609060101010101" pitchFamily="49" charset="-122"/>
                <a:ea typeface="KaiTi" panose="02010609060101010101" pitchFamily="49" charset="-122"/>
              </a:rPr>
              <a:t>AES-NH₄)</a:t>
            </a:r>
            <a:r>
              <a:rPr lang="zh-CN" altLang="en-US" sz="2400" b="1" dirty="0">
                <a:latin typeface="KaiTi" panose="02010609060101010101" pitchFamily="49" charset="-122"/>
                <a:ea typeface="KaiTi" panose="02010609060101010101" pitchFamily="49" charset="-122"/>
              </a:rPr>
              <a:t>和十二烷基硫酸铵</a:t>
            </a:r>
            <a:r>
              <a:rPr lang="en-US" altLang="zh-CN" sz="2400" b="1" dirty="0">
                <a:latin typeface="KaiTi" panose="02010609060101010101" pitchFamily="49" charset="-122"/>
                <a:ea typeface="KaiTi" panose="02010609060101010101" pitchFamily="49" charset="-122"/>
              </a:rPr>
              <a:t>(</a:t>
            </a:r>
            <a:r>
              <a:rPr lang="en-US" altLang="zh-CN" sz="2400" b="1" dirty="0">
                <a:solidFill>
                  <a:srgbClr val="0000FF"/>
                </a:solidFill>
                <a:latin typeface="KaiTi" panose="02010609060101010101" pitchFamily="49" charset="-122"/>
                <a:ea typeface="KaiTi" panose="02010609060101010101" pitchFamily="49" charset="-122"/>
              </a:rPr>
              <a:t>ALS</a:t>
            </a:r>
            <a:r>
              <a:rPr lang="en-US" altLang="zh-CN" sz="2400" b="1" dirty="0">
                <a:latin typeface="KaiTi" panose="02010609060101010101" pitchFamily="49" charset="-122"/>
                <a:ea typeface="KaiTi" panose="02010609060101010101" pitchFamily="49" charset="-122"/>
              </a:rPr>
              <a:t>)</a:t>
            </a:r>
            <a:r>
              <a:rPr lang="zh-CN" altLang="en-US" sz="2400" b="1" dirty="0">
                <a:latin typeface="KaiTi" panose="02010609060101010101" pitchFamily="49" charset="-122"/>
                <a:ea typeface="KaiTi" panose="02010609060101010101" pitchFamily="49" charset="-122"/>
              </a:rPr>
              <a:t>。</a:t>
            </a:r>
          </a:p>
          <a:p>
            <a:pPr marL="342900" indent="-342900">
              <a:lnSpc>
                <a:spcPct val="150000"/>
              </a:lnSpc>
              <a:buFont typeface="Arial" panose="020B0604020202020204" pitchFamily="34" charset="0"/>
              <a:buChar char="•"/>
            </a:pPr>
            <a:r>
              <a:rPr lang="zh-CN" altLang="en-US" sz="2400" b="1" dirty="0">
                <a:latin typeface="KaiTi" panose="02010609060101010101" pitchFamily="49" charset="-122"/>
                <a:ea typeface="KaiTi" panose="02010609060101010101" pitchFamily="49" charset="-122"/>
              </a:rPr>
              <a:t>理论上</a:t>
            </a:r>
            <a:r>
              <a:rPr lang="zh-CN" altLang="en-US" sz="2400" b="1" dirty="0">
                <a:solidFill>
                  <a:srgbClr val="0000FF"/>
                </a:solidFill>
                <a:latin typeface="KaiTi" panose="02010609060101010101" pitchFamily="49" charset="-122"/>
                <a:ea typeface="KaiTi" panose="02010609060101010101" pitchFamily="49" charset="-122"/>
              </a:rPr>
              <a:t>铵盐体系更温和，其去污性及发泡性不如钠盐</a:t>
            </a:r>
            <a:r>
              <a:rPr lang="zh-CN" altLang="en-US" sz="2400" b="1" dirty="0">
                <a:latin typeface="KaiTi" panose="02010609060101010101" pitchFamily="49" charset="-122"/>
                <a:ea typeface="KaiTi" panose="02010609060101010101" pitchFamily="49" charset="-122"/>
              </a:rPr>
              <a:t>，因此，通过复配</a:t>
            </a:r>
            <a:r>
              <a:rPr lang="en-US" altLang="zh-CN" sz="2400" b="1" dirty="0">
                <a:latin typeface="KaiTi" panose="02010609060101010101" pitchFamily="49" charset="-122"/>
                <a:ea typeface="KaiTi" panose="02010609060101010101" pitchFamily="49" charset="-122"/>
              </a:rPr>
              <a:t>ALS</a:t>
            </a:r>
            <a:r>
              <a:rPr lang="zh-CN" altLang="en-US" sz="2400" b="1" dirty="0">
                <a:latin typeface="KaiTi" panose="02010609060101010101" pitchFamily="49" charset="-122"/>
                <a:ea typeface="KaiTi" panose="02010609060101010101" pitchFamily="49" charset="-122"/>
              </a:rPr>
              <a:t>来提升</a:t>
            </a:r>
            <a:r>
              <a:rPr lang="en-US" altLang="zh-CN" sz="2400" b="1" dirty="0">
                <a:latin typeface="KaiTi" panose="02010609060101010101" pitchFamily="49" charset="-122"/>
                <a:ea typeface="KaiTi" panose="02010609060101010101" pitchFamily="49" charset="-122"/>
              </a:rPr>
              <a:t>AAES</a:t>
            </a:r>
            <a:r>
              <a:rPr lang="zh-CN" altLang="en-US" sz="2400" b="1" dirty="0">
                <a:latin typeface="KaiTi" panose="02010609060101010101" pitchFamily="49" charset="-122"/>
                <a:ea typeface="KaiTi" panose="02010609060101010101" pitchFamily="49" charset="-122"/>
              </a:rPr>
              <a:t>的去污性及发泡性。但实际上这些差异消费者在使用过程中感觉不到。而铵盐体系在制备过程中，容易出现</a:t>
            </a:r>
            <a:r>
              <a:rPr lang="zh-CN" altLang="en-US" sz="2400" b="1" dirty="0">
                <a:solidFill>
                  <a:srgbClr val="FF0000"/>
                </a:solidFill>
                <a:latin typeface="KaiTi" panose="02010609060101010101" pitchFamily="49" charset="-122"/>
                <a:ea typeface="KaiTi" panose="02010609060101010101" pitchFamily="49" charset="-122"/>
              </a:rPr>
              <a:t>局部</a:t>
            </a:r>
            <a:r>
              <a:rPr lang="en-US" altLang="zh-CN" sz="2400" b="1" dirty="0">
                <a:solidFill>
                  <a:srgbClr val="FF0000"/>
                </a:solidFill>
                <a:latin typeface="KaiTi" panose="02010609060101010101" pitchFamily="49" charset="-122"/>
                <a:ea typeface="KaiTi" panose="02010609060101010101" pitchFamily="49" charset="-122"/>
              </a:rPr>
              <a:t>pH</a:t>
            </a:r>
            <a:r>
              <a:rPr lang="zh-CN" altLang="en-US" sz="2400" b="1" dirty="0">
                <a:solidFill>
                  <a:srgbClr val="FF0000"/>
                </a:solidFill>
                <a:latin typeface="KaiTi" panose="02010609060101010101" pitchFamily="49" charset="-122"/>
                <a:ea typeface="KaiTi" panose="02010609060101010101" pitchFamily="49" charset="-122"/>
              </a:rPr>
              <a:t>偏高的问题，以及局部有氨气释放进而影响到产品的气味的问题</a:t>
            </a:r>
            <a:r>
              <a:rPr lang="zh-CN" altLang="en-US" sz="2400" b="1" dirty="0">
                <a:latin typeface="KaiTi" panose="02010609060101010101" pitchFamily="49" charset="-122"/>
                <a:ea typeface="KaiTi" panose="02010609060101010101" pitchFamily="49" charset="-122"/>
              </a:rPr>
              <a:t>。</a:t>
            </a:r>
          </a:p>
        </p:txBody>
      </p:sp>
    </p:spTree>
    <p:extLst>
      <p:ext uri="{BB962C8B-B14F-4D97-AF65-F5344CB8AC3E}">
        <p14:creationId xmlns:p14="http://schemas.microsoft.com/office/powerpoint/2010/main" val="6669748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辅助表面活性剂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5" name="文本框 4">
            <a:extLst>
              <a:ext uri="{FF2B5EF4-FFF2-40B4-BE49-F238E27FC236}">
                <a16:creationId xmlns:a16="http://schemas.microsoft.com/office/drawing/2014/main" id="{6D9E0FA5-6125-293C-4319-A8A1004D3CBA}"/>
              </a:ext>
            </a:extLst>
          </p:cNvPr>
          <p:cNvSpPr txBox="1"/>
          <p:nvPr/>
        </p:nvSpPr>
        <p:spPr>
          <a:xfrm>
            <a:off x="841467" y="1357290"/>
            <a:ext cx="7461065" cy="334457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辅助表面活性剂用量较少，能增强主表面活性剂的去污力和泡沫稳定性，改善洗发产品的洗涤性和调理性，也可在电解质增黏剂存在和不存在时，增大产品的黏度。</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辅助表面活性剂包括阴离子型、非离子型、两性离子型表面活性剂。</a:t>
            </a:r>
          </a:p>
        </p:txBody>
      </p:sp>
    </p:spTree>
    <p:extLst>
      <p:ext uri="{BB962C8B-B14F-4D97-AF65-F5344CB8AC3E}">
        <p14:creationId xmlns:p14="http://schemas.microsoft.com/office/powerpoint/2010/main" val="20766421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调理剂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5" name="文本框 4">
            <a:extLst>
              <a:ext uri="{FF2B5EF4-FFF2-40B4-BE49-F238E27FC236}">
                <a16:creationId xmlns:a16="http://schemas.microsoft.com/office/drawing/2014/main" id="{8CA36EDE-69E6-E3DB-4756-23B888376093}"/>
              </a:ext>
            </a:extLst>
          </p:cNvPr>
          <p:cNvSpPr txBox="1"/>
          <p:nvPr/>
        </p:nvSpPr>
        <p:spPr>
          <a:xfrm>
            <a:off x="182880" y="1165614"/>
            <a:ext cx="8778240" cy="44525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一般来说洗发产品在洗净头发的同时也或多或少地会损伤头发，如过分去除由头 皮自然分泌的皮脂成分，由于表面活性剂的吸附，使头发缠结而难以梳理等。</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调理剂应具有的功能特性：</a:t>
            </a:r>
            <a:endParaRPr lang="en-US" altLang="zh-CN" sz="2400" dirty="0">
              <a:latin typeface="+mn-lt"/>
              <a:ea typeface="SimHei" panose="02010609060101010101" pitchFamily="49" charset="-122"/>
            </a:endParaRPr>
          </a:p>
          <a:p>
            <a:pPr>
              <a:lnSpc>
                <a:spcPct val="150000"/>
              </a:lnSpc>
            </a:pPr>
            <a:r>
              <a:rPr lang="zh-CN" altLang="en-US" sz="2400" b="1" dirty="0">
                <a:latin typeface="KaiTi" panose="02010609060101010101" pitchFamily="49" charset="-122"/>
                <a:ea typeface="KaiTi" panose="02010609060101010101" pitchFamily="49" charset="-122"/>
              </a:rPr>
              <a:t>①容易梳理，不使头发缠结；</a:t>
            </a:r>
            <a:endParaRPr lang="en-US" altLang="zh-CN" sz="2400" b="1" dirty="0">
              <a:latin typeface="KaiTi" panose="02010609060101010101" pitchFamily="49" charset="-122"/>
              <a:ea typeface="KaiTi" panose="02010609060101010101" pitchFamily="49" charset="-122"/>
            </a:endParaRPr>
          </a:p>
          <a:p>
            <a:pPr>
              <a:lnSpc>
                <a:spcPct val="150000"/>
              </a:lnSpc>
            </a:pPr>
            <a:r>
              <a:rPr lang="zh-CN" altLang="en-US" sz="2400" b="1" dirty="0">
                <a:latin typeface="KaiTi" panose="02010609060101010101" pitchFamily="49" charset="-122"/>
                <a:ea typeface="KaiTi" panose="02010609060101010101" pitchFamily="49" charset="-122"/>
              </a:rPr>
              <a:t>②使头发经常保持湿润、柔软及对卷发有良好的保持性；</a:t>
            </a:r>
            <a:endParaRPr lang="en-US" altLang="zh-CN" sz="2400" b="1" dirty="0">
              <a:latin typeface="KaiTi" panose="02010609060101010101" pitchFamily="49" charset="-122"/>
              <a:ea typeface="KaiTi" panose="02010609060101010101" pitchFamily="49" charset="-122"/>
            </a:endParaRPr>
          </a:p>
          <a:p>
            <a:pPr>
              <a:lnSpc>
                <a:spcPct val="150000"/>
              </a:lnSpc>
            </a:pPr>
            <a:r>
              <a:rPr lang="zh-CN" altLang="en-US" sz="2400" b="1" dirty="0">
                <a:latin typeface="KaiTi" panose="02010609060101010101" pitchFamily="49" charset="-122"/>
                <a:ea typeface="KaiTi" panose="02010609060101010101" pitchFamily="49" charset="-122"/>
              </a:rPr>
              <a:t>③使头发外观富于光泽； </a:t>
            </a:r>
            <a:endParaRPr lang="en-US" altLang="zh-CN" sz="2400" b="1" dirty="0">
              <a:latin typeface="KaiTi" panose="02010609060101010101" pitchFamily="49" charset="-122"/>
              <a:ea typeface="KaiTi" panose="02010609060101010101" pitchFamily="49" charset="-122"/>
            </a:endParaRPr>
          </a:p>
          <a:p>
            <a:pPr>
              <a:lnSpc>
                <a:spcPct val="150000"/>
              </a:lnSpc>
            </a:pPr>
            <a:r>
              <a:rPr lang="zh-CN" altLang="en-US" sz="2400" b="1" dirty="0">
                <a:latin typeface="KaiTi" panose="02010609060101010101" pitchFamily="49" charset="-122"/>
                <a:ea typeface="KaiTi" panose="02010609060101010101" pitchFamily="49" charset="-122"/>
              </a:rPr>
              <a:t>④增强头发弹性。</a:t>
            </a:r>
            <a:endParaRPr lang="en-US" altLang="zh-CN" sz="2400" b="1"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25184850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祛屑止痒剂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8243"/>
            <a:ext cx="8778240" cy="455759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祛屑止痒剂有吡啶硫酮锌 </a:t>
            </a:r>
            <a:r>
              <a:rPr lang="en-US" altLang="zh-CN" sz="2400" dirty="0">
                <a:latin typeface="+mn-lt"/>
                <a:ea typeface="SimHei" panose="02010609060101010101" pitchFamily="49" charset="-122"/>
              </a:rPr>
              <a:t>(ZPT)</a:t>
            </a:r>
            <a:r>
              <a:rPr lang="zh-CN" altLang="en-US" sz="2400" dirty="0">
                <a:latin typeface="+mn-lt"/>
                <a:ea typeface="SimHei" panose="02010609060101010101" pitchFamily="49" charset="-122"/>
              </a:rPr>
              <a:t>、</a:t>
            </a:r>
            <a:r>
              <a:rPr lang="en-US" altLang="zh-CN" sz="2400" dirty="0" err="1">
                <a:latin typeface="+mn-lt"/>
                <a:ea typeface="SimHei" panose="02010609060101010101" pitchFamily="49" charset="-122"/>
              </a:rPr>
              <a:t>Octopirox</a:t>
            </a:r>
            <a:r>
              <a:rPr lang="zh-CN" altLang="en-US" sz="2400" dirty="0">
                <a:latin typeface="+mn-lt"/>
                <a:ea typeface="SimHei" panose="02010609060101010101" pitchFamily="49" charset="-122"/>
              </a:rPr>
              <a:t>、 甘宝素、十一碳烯酸衍生物</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solidFill>
                  <a:srgbClr val="0000FF"/>
                </a:solidFill>
                <a:latin typeface="+mn-lt"/>
                <a:ea typeface="SimHei" panose="02010609060101010101" pitchFamily="49" charset="-122"/>
              </a:rPr>
              <a:t>甘宝素</a:t>
            </a:r>
            <a:r>
              <a:rPr lang="zh-CN" altLang="en-US" sz="2400" dirty="0">
                <a:latin typeface="+mn-lt"/>
                <a:ea typeface="SimHei" panose="02010609060101010101" pitchFamily="49" charset="-122"/>
              </a:rPr>
              <a:t>，又称活性甘宝素，化学名称为</a:t>
            </a:r>
            <a:r>
              <a:rPr lang="zh-CN" altLang="en-US" sz="2400" dirty="0">
                <a:solidFill>
                  <a:srgbClr val="0000FF"/>
                </a:solidFill>
                <a:latin typeface="+mn-lt"/>
                <a:ea typeface="SimHei" panose="02010609060101010101" pitchFamily="49" charset="-122"/>
              </a:rPr>
              <a:t>二唑酮</a:t>
            </a:r>
            <a:endParaRPr lang="en-US" altLang="zh-CN" sz="2400" dirty="0">
              <a:solidFill>
                <a:srgbClr val="0000FF"/>
              </a:solidFill>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208915" marR="66040" indent="374015" algn="just" eaLnBrk="0">
              <a:lnSpc>
                <a:spcPct val="122000"/>
              </a:lnSpc>
              <a:spcBef>
                <a:spcPts val="1610"/>
              </a:spcBef>
              <a:spcAft>
                <a:spcPts val="0"/>
              </a:spcAft>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pic>
        <p:nvPicPr>
          <p:cNvPr id="5" name="IM 250">
            <a:extLst>
              <a:ext uri="{FF2B5EF4-FFF2-40B4-BE49-F238E27FC236}">
                <a16:creationId xmlns:a16="http://schemas.microsoft.com/office/drawing/2014/main" id="{2C74E6BB-0EF7-2B82-ABFC-962ED11F2069}"/>
              </a:ext>
            </a:extLst>
          </p:cNvPr>
          <p:cNvPicPr>
            <a:picLocks noChangeAspect="1"/>
          </p:cNvPicPr>
          <p:nvPr/>
        </p:nvPicPr>
        <p:blipFill>
          <a:blip r:embed="rId2"/>
          <a:stretch>
            <a:fillRect/>
          </a:stretch>
        </p:blipFill>
        <p:spPr>
          <a:xfrm>
            <a:off x="1965960" y="2782298"/>
            <a:ext cx="5212080" cy="2263140"/>
          </a:xfrm>
          <a:prstGeom prst="rect">
            <a:avLst/>
          </a:prstGeom>
        </p:spPr>
      </p:pic>
    </p:spTree>
    <p:extLst>
      <p:ext uri="{BB962C8B-B14F-4D97-AF65-F5344CB8AC3E}">
        <p14:creationId xmlns:p14="http://schemas.microsoft.com/office/powerpoint/2010/main" val="23427364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甘宝素</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65614"/>
            <a:ext cx="8778240" cy="5009833"/>
          </a:xfrm>
          <a:prstGeom prst="rect">
            <a:avLst/>
          </a:prstGeom>
          <a:noFill/>
        </p:spPr>
        <p:txBody>
          <a:bodyPr wrap="square" rtlCol="0">
            <a:spAutoFit/>
          </a:bodyPr>
          <a:lstStyle/>
          <a:p>
            <a:pPr>
              <a:lnSpc>
                <a:spcPct val="150000"/>
              </a:lnSpc>
            </a:pPr>
            <a:r>
              <a:rPr lang="zh-CN" altLang="en-US" sz="2400" b="1" dirty="0">
                <a:latin typeface="KaiTi" panose="02010609060101010101" pitchFamily="49" charset="-122"/>
                <a:ea typeface="KaiTi" panose="02010609060101010101" pitchFamily="49" charset="-122"/>
              </a:rPr>
              <a:t>甘宝素为白色或灰白色结晶状，略有气味，无吸湿性，对光和热均稳定，熔点 </a:t>
            </a:r>
            <a:r>
              <a:rPr lang="en-US" altLang="zh-CN" sz="2400" b="1" dirty="0">
                <a:latin typeface="KaiTi" panose="02010609060101010101" pitchFamily="49" charset="-122"/>
                <a:ea typeface="KaiTi" panose="02010609060101010101" pitchFamily="49" charset="-122"/>
              </a:rPr>
              <a:t>95</a:t>
            </a:r>
            <a:r>
              <a:rPr lang="zh-CN" altLang="en-US" sz="2400" b="1" dirty="0">
                <a:latin typeface="KaiTi" panose="02010609060101010101" pitchFamily="49" charset="-122"/>
                <a:ea typeface="KaiTi" panose="02010609060101010101" pitchFamily="49" charset="-122"/>
              </a:rPr>
              <a:t>～</a:t>
            </a:r>
            <a:r>
              <a:rPr lang="en-US" altLang="zh-CN" sz="2400" b="1" dirty="0">
                <a:latin typeface="KaiTi" panose="02010609060101010101" pitchFamily="49" charset="-122"/>
                <a:ea typeface="KaiTi" panose="02010609060101010101" pitchFamily="49" charset="-122"/>
              </a:rPr>
              <a:t>97 ℃,</a:t>
            </a:r>
            <a:r>
              <a:rPr lang="zh-CN" altLang="en-US" sz="2400" b="1" dirty="0">
                <a:latin typeface="KaiTi" panose="02010609060101010101" pitchFamily="49" charset="-122"/>
                <a:ea typeface="KaiTi" panose="02010609060101010101" pitchFamily="49" charset="-122"/>
              </a:rPr>
              <a:t>其具有</a:t>
            </a:r>
            <a:r>
              <a:rPr lang="zh-CN" altLang="en-US" sz="2400" b="1" dirty="0">
                <a:solidFill>
                  <a:srgbClr val="0000FF"/>
                </a:solidFill>
                <a:latin typeface="KaiTi" panose="02010609060101010101" pitchFamily="49" charset="-122"/>
                <a:ea typeface="KaiTi" panose="02010609060101010101" pitchFamily="49" charset="-122"/>
              </a:rPr>
              <a:t>独特的抗真菌性能</a:t>
            </a:r>
            <a:r>
              <a:rPr lang="zh-CN" altLang="en-US" sz="2400" b="1" dirty="0">
                <a:latin typeface="KaiTi" panose="02010609060101010101" pitchFamily="49" charset="-122"/>
                <a:ea typeface="KaiTi" panose="02010609060101010101" pitchFamily="49" charset="-122"/>
              </a:rPr>
              <a:t>，对光、热和重金属离子稳定，不变色，易制得透明香波。甘宝素具有独特的抗真菌性能，</a:t>
            </a:r>
            <a:r>
              <a:rPr lang="zh-CN" altLang="en-US" sz="2400" b="1" dirty="0">
                <a:solidFill>
                  <a:srgbClr val="0000FF"/>
                </a:solidFill>
                <a:latin typeface="KaiTi" panose="02010609060101010101" pitchFamily="49" charset="-122"/>
                <a:ea typeface="KaiTi" panose="02010609060101010101" pitchFamily="49" charset="-122"/>
              </a:rPr>
              <a:t>对能引起人体头皮屑的卵状芽孢菌属或卵状抗真 菌属以及白色念珠菌、发癣菌有抑制作用</a:t>
            </a:r>
            <a:r>
              <a:rPr lang="zh-CN" altLang="en-US" sz="2400" b="1" dirty="0">
                <a:latin typeface="KaiTi" panose="02010609060101010101" pitchFamily="49" charset="-122"/>
                <a:ea typeface="KaiTi" panose="02010609060101010101" pitchFamily="49" charset="-122"/>
              </a:rPr>
              <a:t>，其祛屑止痒机理是通过杀菌和抑菌来消除产生头屑的外部因素，以达到祛屑止痒的效果，它不同于单纯地通过脱脂的方式暂时消除头屑。若与吡啶硫酮锌合用时对祛屑具有明显的协同效应。</a:t>
            </a: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16094993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十一碳烯酸衍生物</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331457"/>
            <a:ext cx="8778240" cy="168257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十一烯酸单乙醇酰胺酯二钠盐是十一碳烯酸衍生物类 物质中常用的一种，由十一烯酸单乙醇酰胺与马来酸酐发生酯化，再经 </a:t>
            </a:r>
            <a:r>
              <a:rPr lang="en-US" altLang="zh-CN" sz="2400" dirty="0" err="1">
                <a:latin typeface="+mn-lt"/>
                <a:ea typeface="SimHei" panose="02010609060101010101" pitchFamily="49" charset="-122"/>
              </a:rPr>
              <a:t>Na₂SO</a:t>
            </a:r>
            <a:r>
              <a:rPr lang="en-US" altLang="zh-CN" sz="2400" dirty="0">
                <a:latin typeface="+mn-lt"/>
                <a:ea typeface="SimHei" panose="02010609060101010101" pitchFamily="49" charset="-122"/>
              </a:rPr>
              <a:t>₃  </a:t>
            </a:r>
            <a:r>
              <a:rPr lang="zh-CN" altLang="en-US" sz="2400" dirty="0">
                <a:latin typeface="+mn-lt"/>
                <a:ea typeface="SimHei" panose="02010609060101010101" pitchFamily="49" charset="-122"/>
              </a:rPr>
              <a:t>磺化而制得的，</a:t>
            </a:r>
            <a:endParaRPr lang="en-US" altLang="zh-CN" sz="2400" dirty="0">
              <a:latin typeface="+mn-lt"/>
              <a:ea typeface="SimHei" panose="02010609060101010101" pitchFamily="49" charset="-122"/>
            </a:endParaRPr>
          </a:p>
        </p:txBody>
      </p:sp>
      <p:pic>
        <p:nvPicPr>
          <p:cNvPr id="6" name="图片 5">
            <a:extLst>
              <a:ext uri="{FF2B5EF4-FFF2-40B4-BE49-F238E27FC236}">
                <a16:creationId xmlns:a16="http://schemas.microsoft.com/office/drawing/2014/main" id="{EABB0F6C-C88A-6A44-CDE7-5A487FAC4AC9}"/>
              </a:ext>
            </a:extLst>
          </p:cNvPr>
          <p:cNvPicPr>
            <a:picLocks noChangeAspect="1"/>
          </p:cNvPicPr>
          <p:nvPr/>
        </p:nvPicPr>
        <p:blipFill>
          <a:blip r:embed="rId2"/>
          <a:stretch>
            <a:fillRect/>
          </a:stretch>
        </p:blipFill>
        <p:spPr>
          <a:xfrm>
            <a:off x="457200" y="3701529"/>
            <a:ext cx="8229600" cy="2048337"/>
          </a:xfrm>
          <a:prstGeom prst="rect">
            <a:avLst/>
          </a:prstGeom>
        </p:spPr>
      </p:pic>
    </p:spTree>
    <p:extLst>
      <p:ext uri="{BB962C8B-B14F-4D97-AF65-F5344CB8AC3E}">
        <p14:creationId xmlns:p14="http://schemas.microsoft.com/office/powerpoint/2010/main" val="4979780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十一碳烯酸衍生物</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228347"/>
            <a:ext cx="8778240" cy="38985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a:latin typeface="KaiTi" panose="02010609060101010101" pitchFamily="49" charset="-122"/>
                <a:ea typeface="KaiTi" panose="02010609060101010101" pitchFamily="49" charset="-122"/>
              </a:rPr>
              <a:t>十一烯酸单乙醇酰胺酯二钠盐对人体皮肤和头发的刺激性小，具有良好的配伍性、水溶性、稳定性和抗脂溢性，与头发角朊蛋白有着牢固的亲和性，其</a:t>
            </a:r>
            <a:r>
              <a:rPr lang="zh-CN" altLang="en-US" sz="2400" b="1" dirty="0">
                <a:solidFill>
                  <a:srgbClr val="0000FF"/>
                </a:solidFill>
                <a:latin typeface="KaiTi" panose="02010609060101010101" pitchFamily="49" charset="-122"/>
                <a:ea typeface="KaiTi" panose="02010609060101010101" pitchFamily="49" charset="-122"/>
              </a:rPr>
              <a:t>治疗皮屑的机理在于抑制表皮细胞的分离，延长细胞变换率</a:t>
            </a:r>
            <a:r>
              <a:rPr lang="zh-CN" altLang="en-US" sz="2400" b="1" dirty="0">
                <a:latin typeface="KaiTi" panose="02010609060101010101" pitchFamily="49" charset="-122"/>
                <a:ea typeface="KaiTi" panose="02010609060101010101" pitchFamily="49" charset="-122"/>
              </a:rPr>
              <a:t>，减少老化细胞产生和积存现象，使用后还会减少脂溢性皮肤病的产生。用量一般为</a:t>
            </a:r>
            <a:r>
              <a:rPr lang="en-US" altLang="zh-CN" sz="2400" b="1" dirty="0">
                <a:latin typeface="KaiTi" panose="02010609060101010101" pitchFamily="49" charset="-122"/>
                <a:ea typeface="KaiTi" panose="02010609060101010101" pitchFamily="49" charset="-122"/>
              </a:rPr>
              <a:t>2%</a:t>
            </a:r>
            <a:r>
              <a:rPr lang="zh-CN" altLang="en-US" sz="2400" b="1" dirty="0">
                <a:latin typeface="KaiTi" panose="02010609060101010101" pitchFamily="49" charset="-122"/>
                <a:ea typeface="KaiTi" panose="02010609060101010101" pitchFamily="49" charset="-122"/>
              </a:rPr>
              <a:t>时效果比较明显。其具有广谱抗菌性能，是温和的表面活性剂，价格低廉，对热不稳定，祛屑效果不如</a:t>
            </a:r>
            <a:r>
              <a:rPr lang="en-US" altLang="zh-CN" sz="2400" b="1" dirty="0">
                <a:latin typeface="KaiTi" panose="02010609060101010101" pitchFamily="49" charset="-122"/>
                <a:ea typeface="KaiTi" panose="02010609060101010101" pitchFamily="49" charset="-122"/>
              </a:rPr>
              <a:t>ZPT</a:t>
            </a:r>
            <a:r>
              <a:rPr lang="zh-CN" altLang="en-US" sz="2400" b="1" dirty="0">
                <a:latin typeface="KaiTi" panose="02010609060101010101" pitchFamily="49" charset="-122"/>
                <a:ea typeface="KaiTi" panose="02010609060101010101" pitchFamily="49" charset="-122"/>
              </a:rPr>
              <a:t>、</a:t>
            </a:r>
            <a:r>
              <a:rPr lang="en-US" altLang="zh-CN" sz="2400" b="1" dirty="0">
                <a:latin typeface="KaiTi" panose="02010609060101010101" pitchFamily="49" charset="-122"/>
                <a:ea typeface="KaiTi" panose="02010609060101010101" pitchFamily="49" charset="-122"/>
              </a:rPr>
              <a:t>OCT</a:t>
            </a:r>
            <a:r>
              <a:rPr lang="zh-CN" altLang="en-US" sz="2400" b="1" dirty="0">
                <a:latin typeface="KaiTi" panose="02010609060101010101" pitchFamily="49" charset="-122"/>
                <a:ea typeface="KaiTi" panose="02010609060101010101" pitchFamily="49" charset="-122"/>
              </a:rPr>
              <a:t>。</a:t>
            </a:r>
            <a:endParaRPr lang="en-US" altLang="zh-CN" sz="2400" b="1" dirty="0">
              <a:latin typeface="+mn-lt"/>
              <a:ea typeface="SimHei" panose="02010609060101010101" pitchFamily="49" charset="-122"/>
            </a:endParaRPr>
          </a:p>
        </p:txBody>
      </p:sp>
    </p:spTree>
    <p:extLst>
      <p:ext uri="{BB962C8B-B14F-4D97-AF65-F5344CB8AC3E}">
        <p14:creationId xmlns:p14="http://schemas.microsoft.com/office/powerpoint/2010/main" val="27611998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配方示例与工艺</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79" y="4387047"/>
            <a:ext cx="8778238" cy="168257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a:solidFill>
                  <a:srgbClr val="0000FF"/>
                </a:solidFill>
                <a:latin typeface="+mn-lt"/>
                <a:ea typeface="SimHei" panose="02010609060101010101" pitchFamily="49" charset="-122"/>
              </a:rPr>
              <a:t>透明香波配方</a:t>
            </a:r>
            <a:r>
              <a:rPr lang="zh-CN" altLang="en-US" sz="2400" dirty="0">
                <a:latin typeface="+mn-lt"/>
                <a:ea typeface="SimHei" panose="02010609060101010101" pitchFamily="49" charset="-122"/>
              </a:rPr>
              <a:t>，所用原料均为液体，在水中的分散性较好，制备工艺比较简单，只需在常温下依次将各组分加入去离子水中，搅拌均匀即可。</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784B93C0-10BC-68F8-13E9-17F4C2B219E2}"/>
              </a:ext>
            </a:extLst>
          </p:cNvPr>
          <p:cNvGraphicFramePr>
            <a:graphicFrameLocks noGrp="1"/>
          </p:cNvGraphicFramePr>
          <p:nvPr>
            <p:extLst>
              <p:ext uri="{D42A27DB-BD31-4B8C-83A1-F6EECF244321}">
                <p14:modId xmlns:p14="http://schemas.microsoft.com/office/powerpoint/2010/main" val="1218589653"/>
              </p:ext>
            </p:extLst>
          </p:nvPr>
        </p:nvGraphicFramePr>
        <p:xfrm>
          <a:off x="182879" y="1165614"/>
          <a:ext cx="8778238" cy="2198624"/>
        </p:xfrm>
        <a:graphic>
          <a:graphicData uri="http://schemas.openxmlformats.org/drawingml/2006/table">
            <a:tbl>
              <a:tblPr firstRow="1" firstCol="1" bandRow="1">
                <a:tableStyleId>{21E4AEA4-8DFA-4A89-87EB-49C32662AFE0}</a:tableStyleId>
              </a:tblPr>
              <a:tblGrid>
                <a:gridCol w="565212">
                  <a:extLst>
                    <a:ext uri="{9D8B030D-6E8A-4147-A177-3AD203B41FA5}">
                      <a16:colId xmlns:a16="http://schemas.microsoft.com/office/drawing/2014/main" val="724439048"/>
                    </a:ext>
                  </a:extLst>
                </a:gridCol>
                <a:gridCol w="2337607">
                  <a:extLst>
                    <a:ext uri="{9D8B030D-6E8A-4147-A177-3AD203B41FA5}">
                      <a16:colId xmlns:a16="http://schemas.microsoft.com/office/drawing/2014/main" val="4202577521"/>
                    </a:ext>
                  </a:extLst>
                </a:gridCol>
                <a:gridCol w="997845">
                  <a:extLst>
                    <a:ext uri="{9D8B030D-6E8A-4147-A177-3AD203B41FA5}">
                      <a16:colId xmlns:a16="http://schemas.microsoft.com/office/drawing/2014/main" val="2601809760"/>
                    </a:ext>
                  </a:extLst>
                </a:gridCol>
                <a:gridCol w="1946843">
                  <a:extLst>
                    <a:ext uri="{9D8B030D-6E8A-4147-A177-3AD203B41FA5}">
                      <a16:colId xmlns:a16="http://schemas.microsoft.com/office/drawing/2014/main" val="413714050"/>
                    </a:ext>
                  </a:extLst>
                </a:gridCol>
                <a:gridCol w="1946843">
                  <a:extLst>
                    <a:ext uri="{9D8B030D-6E8A-4147-A177-3AD203B41FA5}">
                      <a16:colId xmlns:a16="http://schemas.microsoft.com/office/drawing/2014/main" val="3151774598"/>
                    </a:ext>
                  </a:extLst>
                </a:gridCol>
                <a:gridCol w="983888">
                  <a:extLst>
                    <a:ext uri="{9D8B030D-6E8A-4147-A177-3AD203B41FA5}">
                      <a16:colId xmlns:a16="http://schemas.microsoft.com/office/drawing/2014/main" val="618585548"/>
                    </a:ext>
                  </a:extLst>
                </a:gridCol>
              </a:tblGrid>
              <a:tr h="255270">
                <a:tc>
                  <a:txBody>
                    <a:bodyPr/>
                    <a:lstStyle/>
                    <a:p>
                      <a:pPr marL="101600" marR="0" eaLnBrk="0">
                        <a:lnSpc>
                          <a:spcPct val="92000"/>
                        </a:lnSpc>
                        <a:spcBef>
                          <a:spcPts val="480"/>
                        </a:spcBef>
                        <a:spcAft>
                          <a:spcPts val="0"/>
                        </a:spcAft>
                      </a:pPr>
                      <a:r>
                        <a:rPr lang="zh-CN" sz="1800" b="1" spc="40">
                          <a:effectLst/>
                        </a:rPr>
                        <a:t>组相</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777875" marR="0" eaLnBrk="0">
                        <a:lnSpc>
                          <a:spcPct val="91000"/>
                        </a:lnSpc>
                        <a:spcBef>
                          <a:spcPts val="470"/>
                        </a:spcBef>
                        <a:spcAft>
                          <a:spcPts val="0"/>
                        </a:spcAft>
                      </a:pPr>
                      <a:r>
                        <a:rPr lang="zh-CN" sz="1800" b="1" spc="10">
                          <a:effectLst/>
                        </a:rPr>
                        <a:t>原料名称</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8425" marR="0" eaLnBrk="0">
                        <a:lnSpc>
                          <a:spcPct val="91000"/>
                        </a:lnSpc>
                        <a:spcBef>
                          <a:spcPts val="470"/>
                        </a:spcBef>
                        <a:spcAft>
                          <a:spcPts val="0"/>
                        </a:spcAft>
                      </a:pPr>
                      <a:r>
                        <a:rPr lang="zh-CN" sz="1800" b="1" spc="-10">
                          <a:effectLst/>
                        </a:rPr>
                        <a:t>质量分数</a:t>
                      </a:r>
                      <a:r>
                        <a:rPr lang="en-US" sz="1800" b="1" spc="-10">
                          <a:effectLst/>
                        </a:rPr>
                        <a:t>/%</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0490" marR="0" eaLnBrk="0">
                        <a:lnSpc>
                          <a:spcPct val="92000"/>
                        </a:lnSpc>
                        <a:spcBef>
                          <a:spcPts val="480"/>
                        </a:spcBef>
                        <a:spcAft>
                          <a:spcPts val="0"/>
                        </a:spcAft>
                      </a:pPr>
                      <a:r>
                        <a:rPr lang="zh-CN" sz="1800" b="1" spc="45">
                          <a:effectLst/>
                        </a:rPr>
                        <a:t>组相</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612775" marR="0" eaLnBrk="0">
                        <a:lnSpc>
                          <a:spcPct val="91000"/>
                        </a:lnSpc>
                        <a:spcBef>
                          <a:spcPts val="470"/>
                        </a:spcBef>
                        <a:spcAft>
                          <a:spcPts val="0"/>
                        </a:spcAft>
                      </a:pPr>
                      <a:r>
                        <a:rPr lang="zh-CN" sz="1800" b="1" spc="10">
                          <a:effectLst/>
                        </a:rPr>
                        <a:t>原料名称</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2075" marR="0" eaLnBrk="0">
                        <a:lnSpc>
                          <a:spcPct val="91000"/>
                        </a:lnSpc>
                        <a:spcBef>
                          <a:spcPts val="470"/>
                        </a:spcBef>
                        <a:spcAft>
                          <a:spcPts val="0"/>
                        </a:spcAft>
                      </a:pPr>
                      <a:r>
                        <a:rPr lang="zh-CN" sz="1800" b="1" spc="-10">
                          <a:effectLst/>
                        </a:rPr>
                        <a:t>质量分数</a:t>
                      </a:r>
                      <a:r>
                        <a:rPr lang="en-US" sz="1800" b="1" spc="-10">
                          <a:effectLst/>
                        </a:rPr>
                        <a:t>/%</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1289333216"/>
                  </a:ext>
                </a:extLst>
              </a:tr>
              <a:tr h="252730">
                <a:tc rowSpan="2">
                  <a:txBody>
                    <a:bodyPr/>
                    <a:lstStyle/>
                    <a:p>
                      <a:pPr marL="0" marR="0" eaLnBrk="0">
                        <a:lnSpc>
                          <a:spcPct val="132000"/>
                        </a:lnSpc>
                        <a:spcBef>
                          <a:spcPts val="0"/>
                        </a:spcBef>
                        <a:spcAft>
                          <a:spcPts val="0"/>
                        </a:spcAft>
                      </a:pPr>
                      <a:r>
                        <a:rPr lang="en-US" sz="1800" b="1">
                          <a:effectLst/>
                        </a:rPr>
                        <a:t> </a:t>
                      </a:r>
                    </a:p>
                    <a:p>
                      <a:pPr marL="0" marR="0" eaLnBrk="0">
                        <a:lnSpc>
                          <a:spcPct val="133000"/>
                        </a:lnSpc>
                        <a:spcBef>
                          <a:spcPts val="0"/>
                        </a:spcBef>
                        <a:spcAft>
                          <a:spcPts val="0"/>
                        </a:spcAft>
                      </a:pPr>
                      <a:r>
                        <a:rPr lang="en-US" sz="1800" b="1">
                          <a:effectLst/>
                        </a:rPr>
                        <a:t> </a:t>
                      </a:r>
                    </a:p>
                    <a:p>
                      <a:pPr marL="133350" marR="0" eaLnBrk="0">
                        <a:lnSpc>
                          <a:spcPct val="92000"/>
                        </a:lnSpc>
                        <a:spcBef>
                          <a:spcPts val="360"/>
                        </a:spcBef>
                        <a:spcAft>
                          <a:spcPts val="0"/>
                        </a:spcAft>
                      </a:pPr>
                      <a:r>
                        <a:rPr lang="en-US" sz="1800" b="1" spc="-5">
                          <a:effectLst/>
                        </a:rPr>
                        <a:t>A</a:t>
                      </a:r>
                      <a:r>
                        <a:rPr lang="zh-CN" sz="1800" b="1" spc="-5">
                          <a:effectLst/>
                        </a:rPr>
                        <a:t>相</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111125" marR="0" eaLnBrk="0">
                        <a:lnSpc>
                          <a:spcPct val="91000"/>
                        </a:lnSpc>
                        <a:spcBef>
                          <a:spcPts val="410"/>
                        </a:spcBef>
                        <a:spcAft>
                          <a:spcPts val="0"/>
                        </a:spcAft>
                      </a:pPr>
                      <a:r>
                        <a:rPr lang="zh-CN" sz="1800" b="1" spc="10">
                          <a:effectLst/>
                        </a:rPr>
                        <a:t>去离子水</a:t>
                      </a:r>
                      <a:endParaRPr lang="en-US" sz="1800" b="1">
                        <a:effectLst/>
                      </a:endParaRPr>
                    </a:p>
                    <a:p>
                      <a:pPr marL="111125" marR="0" eaLnBrk="0">
                        <a:lnSpc>
                          <a:spcPct val="76000"/>
                        </a:lnSpc>
                        <a:spcBef>
                          <a:spcPts val="1120"/>
                        </a:spcBef>
                        <a:spcAft>
                          <a:spcPts val="0"/>
                        </a:spcAft>
                      </a:pPr>
                      <a:r>
                        <a:rPr lang="en-US" sz="1800" b="1" spc="-5">
                          <a:effectLst/>
                        </a:rPr>
                        <a:t>EDTA-2Na</a:t>
                      </a:r>
                      <a:endParaRPr lang="en-US" sz="1800" b="1">
                        <a:effectLst/>
                      </a:endParaRPr>
                    </a:p>
                    <a:p>
                      <a:pPr marL="111125" marR="0" eaLnBrk="0">
                        <a:lnSpc>
                          <a:spcPts val="2000"/>
                        </a:lnSpc>
                        <a:spcBef>
                          <a:spcPts val="670"/>
                        </a:spcBef>
                        <a:spcAft>
                          <a:spcPts val="0"/>
                        </a:spcAft>
                      </a:pPr>
                      <a:r>
                        <a:rPr lang="zh-CN" sz="1800" b="1" spc="15">
                          <a:effectLst/>
                        </a:rPr>
                        <a:t>脂肪醇聚氧乙烯醚硫酸钠</a:t>
                      </a:r>
                      <a:r>
                        <a:rPr lang="en-US" sz="1800" b="1" spc="15">
                          <a:effectLst/>
                        </a:rPr>
                        <a:t>(27%)</a:t>
                      </a:r>
                      <a:endParaRPr lang="en-US" sz="1800" b="1">
                        <a:effectLst/>
                      </a:endParaRPr>
                    </a:p>
                    <a:p>
                      <a:pPr marL="111125" marR="0" eaLnBrk="0">
                        <a:lnSpc>
                          <a:spcPct val="91000"/>
                        </a:lnSpc>
                        <a:spcBef>
                          <a:spcPts val="0"/>
                        </a:spcBef>
                        <a:spcAft>
                          <a:spcPts val="0"/>
                        </a:spcAft>
                      </a:pPr>
                      <a:r>
                        <a:rPr lang="zh-CN" sz="1800" b="1" spc="15">
                          <a:effectLst/>
                        </a:rPr>
                        <a:t>椰油酰胺丙基甜菜碱</a:t>
                      </a:r>
                      <a:r>
                        <a:rPr lang="en-US" sz="1800" b="1" spc="15">
                          <a:effectLst/>
                        </a:rPr>
                        <a:t>(30%)</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206375" marR="0" eaLnBrk="0">
                        <a:lnSpc>
                          <a:spcPts val="2405"/>
                        </a:lnSpc>
                        <a:spcBef>
                          <a:spcPts val="430"/>
                        </a:spcBef>
                        <a:spcAft>
                          <a:spcPts val="0"/>
                        </a:spcAft>
                      </a:pPr>
                      <a:r>
                        <a:rPr lang="zh-CN" sz="1800" b="1" spc="-10" dirty="0">
                          <a:effectLst/>
                        </a:rPr>
                        <a:t>至</a:t>
                      </a:r>
                      <a:r>
                        <a:rPr lang="en-US" sz="1800" b="1" spc="-10" dirty="0">
                          <a:effectLst/>
                        </a:rPr>
                        <a:t>100</a:t>
                      </a:r>
                      <a:endParaRPr lang="en-US" sz="1800" b="1" dirty="0">
                        <a:effectLst/>
                      </a:endParaRPr>
                    </a:p>
                    <a:p>
                      <a:pPr marL="346075" marR="0" eaLnBrk="0">
                        <a:lnSpc>
                          <a:spcPct val="76000"/>
                        </a:lnSpc>
                        <a:spcBef>
                          <a:spcPts val="0"/>
                        </a:spcBef>
                        <a:spcAft>
                          <a:spcPts val="0"/>
                        </a:spcAft>
                      </a:pPr>
                      <a:r>
                        <a:rPr lang="en-US" sz="1800" b="1" spc="-15" dirty="0">
                          <a:effectLst/>
                        </a:rPr>
                        <a:t>0.1</a:t>
                      </a:r>
                      <a:endParaRPr lang="en-US" sz="1800" b="1" dirty="0">
                        <a:effectLst/>
                      </a:endParaRPr>
                    </a:p>
                    <a:p>
                      <a:pPr marL="307975" marR="0" eaLnBrk="0">
                        <a:lnSpc>
                          <a:spcPts val="1900"/>
                        </a:lnSpc>
                        <a:spcBef>
                          <a:spcPts val="1055"/>
                        </a:spcBef>
                        <a:spcAft>
                          <a:spcPts val="0"/>
                        </a:spcAft>
                      </a:pPr>
                      <a:r>
                        <a:rPr lang="en-US" sz="1800" b="1" spc="-15" dirty="0">
                          <a:effectLst/>
                        </a:rPr>
                        <a:t>36.3</a:t>
                      </a:r>
                      <a:endParaRPr lang="en-US" sz="1800" b="1" dirty="0">
                        <a:effectLst/>
                      </a:endParaRPr>
                    </a:p>
                    <a:p>
                      <a:pPr marL="346075" marR="0" eaLnBrk="0">
                        <a:lnSpc>
                          <a:spcPct val="76000"/>
                        </a:lnSpc>
                        <a:spcBef>
                          <a:spcPts val="0"/>
                        </a:spcBef>
                        <a:spcAft>
                          <a:spcPts val="0"/>
                        </a:spcAft>
                      </a:pPr>
                      <a:r>
                        <a:rPr lang="en-US" sz="1800" b="1" spc="-15" dirty="0">
                          <a:effectLst/>
                        </a:rPr>
                        <a:t>6.0</a:t>
                      </a:r>
                      <a:endParaRPr lang="en-US" sz="1800" b="1"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49225" marR="0" eaLnBrk="0">
                        <a:lnSpc>
                          <a:spcPct val="92000"/>
                        </a:lnSpc>
                        <a:spcBef>
                          <a:spcPts val="470"/>
                        </a:spcBef>
                        <a:spcAft>
                          <a:spcPts val="0"/>
                        </a:spcAft>
                      </a:pPr>
                      <a:r>
                        <a:rPr lang="en-US" sz="1800" b="1" spc="-5">
                          <a:effectLst/>
                        </a:rPr>
                        <a:t>A</a:t>
                      </a:r>
                      <a:r>
                        <a:rPr lang="zh-CN" sz="1800" b="1" spc="-5">
                          <a:effectLst/>
                        </a:rPr>
                        <a:t>相</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8425" marR="0" eaLnBrk="0">
                        <a:lnSpc>
                          <a:spcPct val="91000"/>
                        </a:lnSpc>
                        <a:spcBef>
                          <a:spcPts val="460"/>
                        </a:spcBef>
                        <a:spcAft>
                          <a:spcPts val="0"/>
                        </a:spcAft>
                      </a:pPr>
                      <a:r>
                        <a:rPr lang="zh-CN" sz="1800" b="1" spc="15">
                          <a:effectLst/>
                        </a:rPr>
                        <a:t>椰油基二乙醇酰胺</a:t>
                      </a:r>
                      <a:r>
                        <a:rPr lang="en-US" sz="1800" b="1" spc="15">
                          <a:effectLst/>
                        </a:rPr>
                        <a:t>(6501)</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39725" marR="0" eaLnBrk="0">
                        <a:lnSpc>
                          <a:spcPct val="76000"/>
                        </a:lnSpc>
                        <a:spcBef>
                          <a:spcPts val="740"/>
                        </a:spcBef>
                        <a:spcAft>
                          <a:spcPts val="0"/>
                        </a:spcAft>
                      </a:pPr>
                      <a:r>
                        <a:rPr lang="en-US" sz="1800" b="1" spc="-15">
                          <a:effectLst/>
                        </a:rPr>
                        <a:t>3.0</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797279128"/>
                  </a:ext>
                </a:extLst>
              </a:tr>
              <a:tr h="77406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eaLnBrk="0">
                        <a:lnSpc>
                          <a:spcPct val="180000"/>
                        </a:lnSpc>
                        <a:spcBef>
                          <a:spcPts val="0"/>
                        </a:spcBef>
                        <a:spcAft>
                          <a:spcPts val="0"/>
                        </a:spcAft>
                      </a:pPr>
                      <a:r>
                        <a:rPr lang="en-US" sz="1800" b="1">
                          <a:effectLst/>
                        </a:rPr>
                        <a:t> </a:t>
                      </a:r>
                    </a:p>
                    <a:p>
                      <a:pPr marL="149225" marR="0" eaLnBrk="0">
                        <a:lnSpc>
                          <a:spcPct val="92000"/>
                        </a:lnSpc>
                        <a:spcBef>
                          <a:spcPts val="360"/>
                        </a:spcBef>
                        <a:spcAft>
                          <a:spcPts val="0"/>
                        </a:spcAft>
                      </a:pPr>
                      <a:r>
                        <a:rPr lang="en-US" sz="1800" b="1" spc="45">
                          <a:effectLst/>
                        </a:rPr>
                        <a:t>B</a:t>
                      </a:r>
                      <a:r>
                        <a:rPr lang="zh-CN" sz="1800" b="1" spc="45">
                          <a:effectLst/>
                        </a:rPr>
                        <a:t>相</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8425" marR="0" eaLnBrk="0">
                        <a:lnSpc>
                          <a:spcPct val="91000"/>
                        </a:lnSpc>
                        <a:spcBef>
                          <a:spcPts val="510"/>
                        </a:spcBef>
                        <a:spcAft>
                          <a:spcPts val="0"/>
                        </a:spcAft>
                      </a:pPr>
                      <a:r>
                        <a:rPr lang="zh-CN" sz="1800" b="1" spc="20">
                          <a:effectLst/>
                        </a:rPr>
                        <a:t>防腐剂</a:t>
                      </a:r>
                      <a:endParaRPr lang="en-US" sz="1800" b="1">
                        <a:effectLst/>
                      </a:endParaRPr>
                    </a:p>
                    <a:p>
                      <a:pPr marL="98425" marR="0" eaLnBrk="0">
                        <a:lnSpc>
                          <a:spcPts val="2060"/>
                        </a:lnSpc>
                        <a:spcBef>
                          <a:spcPts val="695"/>
                        </a:spcBef>
                        <a:spcAft>
                          <a:spcPts val="0"/>
                        </a:spcAft>
                      </a:pPr>
                      <a:r>
                        <a:rPr lang="zh-CN" sz="1800" b="1" spc="10">
                          <a:effectLst/>
                        </a:rPr>
                        <a:t>香精、色素</a:t>
                      </a:r>
                      <a:endParaRPr lang="en-US" sz="1800" b="1">
                        <a:effectLst/>
                      </a:endParaRPr>
                    </a:p>
                    <a:p>
                      <a:pPr marL="98425" marR="0" eaLnBrk="0">
                        <a:lnSpc>
                          <a:spcPct val="91000"/>
                        </a:lnSpc>
                        <a:spcBef>
                          <a:spcPts val="0"/>
                        </a:spcBef>
                        <a:spcAft>
                          <a:spcPts val="0"/>
                        </a:spcAft>
                      </a:pPr>
                      <a:r>
                        <a:rPr lang="zh-CN" sz="1800" b="1" spc="20">
                          <a:effectLst/>
                        </a:rPr>
                        <a:t>氯化钠</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01625" marR="0" eaLnBrk="0">
                        <a:lnSpc>
                          <a:spcPts val="2000"/>
                        </a:lnSpc>
                        <a:spcBef>
                          <a:spcPts val="550"/>
                        </a:spcBef>
                        <a:spcAft>
                          <a:spcPts val="0"/>
                        </a:spcAft>
                      </a:pPr>
                      <a:r>
                        <a:rPr lang="zh-CN" sz="1800" b="1" spc="-15" dirty="0">
                          <a:effectLst/>
                        </a:rPr>
                        <a:t>适量</a:t>
                      </a:r>
                      <a:endParaRPr lang="en-US" sz="1800" b="1" dirty="0">
                        <a:effectLst/>
                      </a:endParaRPr>
                    </a:p>
                    <a:p>
                      <a:pPr marL="301625" marR="0" eaLnBrk="0">
                        <a:lnSpc>
                          <a:spcPct val="93000"/>
                        </a:lnSpc>
                        <a:spcBef>
                          <a:spcPts val="0"/>
                        </a:spcBef>
                        <a:spcAft>
                          <a:spcPts val="0"/>
                        </a:spcAft>
                      </a:pPr>
                      <a:r>
                        <a:rPr lang="zh-CN" sz="1800" b="1" spc="-15" dirty="0">
                          <a:effectLst/>
                        </a:rPr>
                        <a:t>适量</a:t>
                      </a:r>
                      <a:endParaRPr lang="en-US" sz="1800" b="1" dirty="0">
                        <a:effectLst/>
                      </a:endParaRPr>
                    </a:p>
                    <a:p>
                      <a:pPr marL="301625" marR="0" eaLnBrk="0">
                        <a:lnSpc>
                          <a:spcPct val="93000"/>
                        </a:lnSpc>
                        <a:spcBef>
                          <a:spcPts val="705"/>
                        </a:spcBef>
                        <a:spcAft>
                          <a:spcPts val="0"/>
                        </a:spcAft>
                      </a:pPr>
                      <a:r>
                        <a:rPr lang="zh-CN" sz="1800" b="1" spc="-15" dirty="0">
                          <a:effectLst/>
                        </a:rPr>
                        <a:t>适量</a:t>
                      </a:r>
                      <a:endParaRPr lang="en-US" sz="1800" b="1" dirty="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39441363"/>
                  </a:ext>
                </a:extLst>
              </a:tr>
            </a:tbl>
          </a:graphicData>
        </a:graphic>
      </p:graphicFrame>
    </p:spTree>
    <p:extLst>
      <p:ext uri="{BB962C8B-B14F-4D97-AF65-F5344CB8AC3E}">
        <p14:creationId xmlns:p14="http://schemas.microsoft.com/office/powerpoint/2010/main" val="29059010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配方示例与工艺</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4166971"/>
            <a:ext cx="8778238" cy="223657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珠光香波即在透明香波的基础上加上珠光剂，由于该类香波对产品的透明度没有要求，所以选择原料的限制就大大低于透明香波。</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在室温下逐一将各原料加入水中，搅拌均匀即可。</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91A9F3DB-D4BA-3C47-EB19-F3B8A0E7AE69}"/>
              </a:ext>
            </a:extLst>
          </p:cNvPr>
          <p:cNvGraphicFramePr>
            <a:graphicFrameLocks noGrp="1"/>
          </p:cNvGraphicFramePr>
          <p:nvPr>
            <p:extLst>
              <p:ext uri="{D42A27DB-BD31-4B8C-83A1-F6EECF244321}">
                <p14:modId xmlns:p14="http://schemas.microsoft.com/office/powerpoint/2010/main" val="4293267944"/>
              </p:ext>
            </p:extLst>
          </p:nvPr>
        </p:nvGraphicFramePr>
        <p:xfrm>
          <a:off x="182880" y="1327453"/>
          <a:ext cx="8778238" cy="2493582"/>
        </p:xfrm>
        <a:graphic>
          <a:graphicData uri="http://schemas.openxmlformats.org/drawingml/2006/table">
            <a:tbl>
              <a:tblPr firstRow="1" firstCol="1" bandRow="1">
                <a:tableStyleId>{21E4AEA4-8DFA-4A89-87EB-49C32662AFE0}</a:tableStyleId>
              </a:tblPr>
              <a:tblGrid>
                <a:gridCol w="713322">
                  <a:extLst>
                    <a:ext uri="{9D8B030D-6E8A-4147-A177-3AD203B41FA5}">
                      <a16:colId xmlns:a16="http://schemas.microsoft.com/office/drawing/2014/main" val="486427756"/>
                    </a:ext>
                  </a:extLst>
                </a:gridCol>
                <a:gridCol w="2474794">
                  <a:extLst>
                    <a:ext uri="{9D8B030D-6E8A-4147-A177-3AD203B41FA5}">
                      <a16:colId xmlns:a16="http://schemas.microsoft.com/office/drawing/2014/main" val="2387100867"/>
                    </a:ext>
                  </a:extLst>
                </a:gridCol>
                <a:gridCol w="1091821">
                  <a:extLst>
                    <a:ext uri="{9D8B030D-6E8A-4147-A177-3AD203B41FA5}">
                      <a16:colId xmlns:a16="http://schemas.microsoft.com/office/drawing/2014/main" val="790483158"/>
                    </a:ext>
                  </a:extLst>
                </a:gridCol>
                <a:gridCol w="1710519">
                  <a:extLst>
                    <a:ext uri="{9D8B030D-6E8A-4147-A177-3AD203B41FA5}">
                      <a16:colId xmlns:a16="http://schemas.microsoft.com/office/drawing/2014/main" val="549952107"/>
                    </a:ext>
                  </a:extLst>
                </a:gridCol>
                <a:gridCol w="1710519">
                  <a:extLst>
                    <a:ext uri="{9D8B030D-6E8A-4147-A177-3AD203B41FA5}">
                      <a16:colId xmlns:a16="http://schemas.microsoft.com/office/drawing/2014/main" val="2166468940"/>
                    </a:ext>
                  </a:extLst>
                </a:gridCol>
                <a:gridCol w="1077263">
                  <a:extLst>
                    <a:ext uri="{9D8B030D-6E8A-4147-A177-3AD203B41FA5}">
                      <a16:colId xmlns:a16="http://schemas.microsoft.com/office/drawing/2014/main" val="3485915483"/>
                    </a:ext>
                  </a:extLst>
                </a:gridCol>
              </a:tblGrid>
              <a:tr h="249555">
                <a:tc>
                  <a:txBody>
                    <a:bodyPr/>
                    <a:lstStyle/>
                    <a:p>
                      <a:pPr marL="107950" marR="0" eaLnBrk="0">
                        <a:lnSpc>
                          <a:spcPct val="92000"/>
                        </a:lnSpc>
                        <a:spcBef>
                          <a:spcPts val="435"/>
                        </a:spcBef>
                        <a:spcAft>
                          <a:spcPts val="0"/>
                        </a:spcAft>
                      </a:pPr>
                      <a:r>
                        <a:rPr lang="zh-CN" sz="1800" b="1" spc="45">
                          <a:effectLst/>
                        </a:rPr>
                        <a:t>组相</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802640" marR="0" eaLnBrk="0">
                        <a:lnSpc>
                          <a:spcPct val="91000"/>
                        </a:lnSpc>
                        <a:spcBef>
                          <a:spcPts val="425"/>
                        </a:spcBef>
                        <a:spcAft>
                          <a:spcPts val="0"/>
                        </a:spcAft>
                      </a:pPr>
                      <a:r>
                        <a:rPr lang="zh-CN" sz="1800" b="1" spc="10">
                          <a:effectLst/>
                        </a:rPr>
                        <a:t>原料名称</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04140" marR="0" eaLnBrk="0">
                        <a:lnSpc>
                          <a:spcPct val="91000"/>
                        </a:lnSpc>
                        <a:spcBef>
                          <a:spcPts val="420"/>
                        </a:spcBef>
                        <a:spcAft>
                          <a:spcPts val="0"/>
                        </a:spcAft>
                      </a:pPr>
                      <a:r>
                        <a:rPr lang="zh-CN" sz="1800" b="1" spc="-10">
                          <a:effectLst/>
                        </a:rPr>
                        <a:t>质量分数</a:t>
                      </a:r>
                      <a:r>
                        <a:rPr lang="en-US" sz="1800" b="1" spc="-10">
                          <a:effectLst/>
                        </a:rPr>
                        <a:t>/%</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61290" marR="0" eaLnBrk="0">
                        <a:lnSpc>
                          <a:spcPct val="92000"/>
                        </a:lnSpc>
                        <a:spcBef>
                          <a:spcPts val="435"/>
                        </a:spcBef>
                        <a:spcAft>
                          <a:spcPts val="0"/>
                        </a:spcAft>
                      </a:pPr>
                      <a:r>
                        <a:rPr lang="zh-CN" sz="1800" b="1" spc="45">
                          <a:effectLst/>
                        </a:rPr>
                        <a:t>组相</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460375" marR="0" eaLnBrk="0">
                        <a:lnSpc>
                          <a:spcPct val="91000"/>
                        </a:lnSpc>
                        <a:spcBef>
                          <a:spcPts val="425"/>
                        </a:spcBef>
                        <a:spcAft>
                          <a:spcPts val="0"/>
                        </a:spcAft>
                      </a:pPr>
                      <a:r>
                        <a:rPr lang="zh-CN" sz="1800" b="1" spc="10">
                          <a:effectLst/>
                        </a:rPr>
                        <a:t>原料名称</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7790" marR="0" eaLnBrk="0">
                        <a:lnSpc>
                          <a:spcPct val="91000"/>
                        </a:lnSpc>
                        <a:spcBef>
                          <a:spcPts val="420"/>
                        </a:spcBef>
                        <a:spcAft>
                          <a:spcPts val="0"/>
                        </a:spcAft>
                      </a:pPr>
                      <a:r>
                        <a:rPr lang="zh-CN" sz="1800" b="1" spc="-10">
                          <a:effectLst/>
                        </a:rPr>
                        <a:t>质量分数</a:t>
                      </a:r>
                      <a:r>
                        <a:rPr lang="en-US" sz="1800" b="1" spc="-10">
                          <a:effectLst/>
                        </a:rPr>
                        <a:t>/%</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1903060016"/>
                  </a:ext>
                </a:extLst>
              </a:tr>
              <a:tr h="253365">
                <a:tc rowSpan="2">
                  <a:txBody>
                    <a:bodyPr/>
                    <a:lstStyle/>
                    <a:p>
                      <a:pPr marL="0" marR="0" eaLnBrk="0">
                        <a:lnSpc>
                          <a:spcPct val="112000"/>
                        </a:lnSpc>
                        <a:spcBef>
                          <a:spcPts val="0"/>
                        </a:spcBef>
                        <a:spcAft>
                          <a:spcPts val="0"/>
                        </a:spcAft>
                      </a:pPr>
                      <a:r>
                        <a:rPr lang="en-US" sz="1800" b="1">
                          <a:effectLst/>
                        </a:rPr>
                        <a:t> </a:t>
                      </a:r>
                    </a:p>
                    <a:p>
                      <a:pPr marL="0" marR="0" eaLnBrk="0">
                        <a:lnSpc>
                          <a:spcPct val="112000"/>
                        </a:lnSpc>
                        <a:spcBef>
                          <a:spcPts val="0"/>
                        </a:spcBef>
                        <a:spcAft>
                          <a:spcPts val="0"/>
                        </a:spcAft>
                      </a:pPr>
                      <a:r>
                        <a:rPr lang="en-US" sz="1800" b="1">
                          <a:effectLst/>
                        </a:rPr>
                        <a:t> </a:t>
                      </a:r>
                    </a:p>
                    <a:p>
                      <a:pPr marL="0" marR="0" eaLnBrk="0">
                        <a:lnSpc>
                          <a:spcPct val="113000"/>
                        </a:lnSpc>
                        <a:spcBef>
                          <a:spcPts val="0"/>
                        </a:spcBef>
                        <a:spcAft>
                          <a:spcPts val="0"/>
                        </a:spcAft>
                      </a:pPr>
                      <a:r>
                        <a:rPr lang="en-US" sz="1800" b="1">
                          <a:effectLst/>
                        </a:rPr>
                        <a:t> </a:t>
                      </a:r>
                    </a:p>
                    <a:p>
                      <a:pPr marL="145415" marR="0" eaLnBrk="0">
                        <a:lnSpc>
                          <a:spcPct val="92000"/>
                        </a:lnSpc>
                        <a:spcBef>
                          <a:spcPts val="375"/>
                        </a:spcBef>
                        <a:spcAft>
                          <a:spcPts val="0"/>
                        </a:spcAft>
                      </a:pPr>
                      <a:r>
                        <a:rPr lang="en-US" sz="1800" b="1" spc="-5">
                          <a:effectLst/>
                        </a:rPr>
                        <a:t>A</a:t>
                      </a:r>
                      <a:r>
                        <a:rPr lang="zh-CN" sz="1800" b="1" spc="-5">
                          <a:effectLst/>
                        </a:rPr>
                        <a:t>相</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104140" marR="0" eaLnBrk="0">
                        <a:lnSpc>
                          <a:spcPct val="91000"/>
                        </a:lnSpc>
                        <a:spcBef>
                          <a:spcPts val="455"/>
                        </a:spcBef>
                        <a:spcAft>
                          <a:spcPts val="0"/>
                        </a:spcAft>
                      </a:pPr>
                      <a:r>
                        <a:rPr lang="zh-CN" sz="1800" b="1" spc="10">
                          <a:effectLst/>
                        </a:rPr>
                        <a:t>去离子水</a:t>
                      </a:r>
                      <a:endParaRPr lang="en-US" sz="1800" b="1">
                        <a:effectLst/>
                      </a:endParaRPr>
                    </a:p>
                    <a:p>
                      <a:pPr marL="104140" marR="0" eaLnBrk="0">
                        <a:lnSpc>
                          <a:spcPct val="76000"/>
                        </a:lnSpc>
                        <a:spcBef>
                          <a:spcPts val="1075"/>
                        </a:spcBef>
                        <a:spcAft>
                          <a:spcPts val="0"/>
                        </a:spcAft>
                      </a:pPr>
                      <a:r>
                        <a:rPr lang="en-US" sz="1800" b="1" spc="-5">
                          <a:effectLst/>
                        </a:rPr>
                        <a:t>EDTA-2Na</a:t>
                      </a:r>
                      <a:endParaRPr lang="en-US" sz="1800" b="1">
                        <a:effectLst/>
                      </a:endParaRPr>
                    </a:p>
                    <a:p>
                      <a:pPr marL="104140" marR="0" eaLnBrk="0">
                        <a:lnSpc>
                          <a:spcPts val="1955"/>
                        </a:lnSpc>
                        <a:spcBef>
                          <a:spcPts val="505"/>
                        </a:spcBef>
                        <a:spcAft>
                          <a:spcPts val="0"/>
                        </a:spcAft>
                      </a:pPr>
                      <a:r>
                        <a:rPr lang="zh-CN" sz="1800" b="1" spc="10">
                          <a:effectLst/>
                        </a:rPr>
                        <a:t>脂肪醇聚氧乙烯醚硫酸钠</a:t>
                      </a:r>
                      <a:r>
                        <a:rPr lang="en-US" sz="1800" b="1" spc="10">
                          <a:effectLst/>
                        </a:rPr>
                        <a:t>(27%)</a:t>
                      </a:r>
                      <a:endParaRPr lang="en-US" sz="1800" b="1">
                        <a:effectLst/>
                      </a:endParaRPr>
                    </a:p>
                    <a:p>
                      <a:pPr marL="104140" marR="0" eaLnBrk="0">
                        <a:lnSpc>
                          <a:spcPct val="91000"/>
                        </a:lnSpc>
                        <a:spcBef>
                          <a:spcPts val="0"/>
                        </a:spcBef>
                        <a:spcAft>
                          <a:spcPts val="0"/>
                        </a:spcAft>
                      </a:pPr>
                      <a:r>
                        <a:rPr lang="zh-CN" sz="1800" b="1" spc="15">
                          <a:effectLst/>
                        </a:rPr>
                        <a:t>椰油酰胺丙基甜菜碱</a:t>
                      </a:r>
                      <a:r>
                        <a:rPr lang="en-US" sz="1800" b="1" spc="15">
                          <a:effectLst/>
                        </a:rPr>
                        <a:t>(30%)</a:t>
                      </a:r>
                      <a:endParaRPr lang="en-US" sz="1800" b="1">
                        <a:effectLst/>
                      </a:endParaRPr>
                    </a:p>
                    <a:p>
                      <a:pPr marL="104140" marR="0" eaLnBrk="0">
                        <a:lnSpc>
                          <a:spcPct val="91000"/>
                        </a:lnSpc>
                        <a:spcBef>
                          <a:spcPts val="635"/>
                        </a:spcBef>
                        <a:spcAft>
                          <a:spcPts val="0"/>
                        </a:spcAft>
                      </a:pPr>
                      <a:r>
                        <a:rPr lang="zh-CN" sz="1800" b="1" spc="25">
                          <a:effectLst/>
                        </a:rPr>
                        <a:t>烷基糖苷</a:t>
                      </a:r>
                      <a:r>
                        <a:rPr lang="en-US" sz="1800" b="1" spc="25">
                          <a:effectLst/>
                        </a:rPr>
                        <a:t>(50%)</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212090" marR="0" eaLnBrk="0">
                        <a:lnSpc>
                          <a:spcPts val="2420"/>
                        </a:lnSpc>
                        <a:spcBef>
                          <a:spcPts val="475"/>
                        </a:spcBef>
                        <a:spcAft>
                          <a:spcPts val="0"/>
                        </a:spcAft>
                      </a:pPr>
                      <a:r>
                        <a:rPr lang="zh-CN" sz="1800" b="1" spc="15" dirty="0">
                          <a:effectLst/>
                        </a:rPr>
                        <a:t>至</a:t>
                      </a:r>
                      <a:r>
                        <a:rPr lang="en-US" sz="1800" b="1" spc="15" dirty="0">
                          <a:effectLst/>
                        </a:rPr>
                        <a:t>100</a:t>
                      </a:r>
                      <a:endParaRPr lang="en-US" sz="1800" b="1" dirty="0">
                        <a:effectLst/>
                      </a:endParaRPr>
                    </a:p>
                    <a:p>
                      <a:pPr marL="358140" marR="0" eaLnBrk="0">
                        <a:lnSpc>
                          <a:spcPct val="76000"/>
                        </a:lnSpc>
                        <a:spcBef>
                          <a:spcPts val="0"/>
                        </a:spcBef>
                        <a:spcAft>
                          <a:spcPts val="0"/>
                        </a:spcAft>
                      </a:pPr>
                      <a:r>
                        <a:rPr lang="en-US" sz="1800" b="1" spc="-15" dirty="0">
                          <a:effectLst/>
                        </a:rPr>
                        <a:t>0.1</a:t>
                      </a:r>
                      <a:endParaRPr lang="en-US" sz="1800" b="1" dirty="0">
                        <a:effectLst/>
                      </a:endParaRPr>
                    </a:p>
                    <a:p>
                      <a:pPr marL="327025" marR="0" eaLnBrk="0">
                        <a:lnSpc>
                          <a:spcPts val="1955"/>
                        </a:lnSpc>
                        <a:spcBef>
                          <a:spcPts val="750"/>
                        </a:spcBef>
                        <a:spcAft>
                          <a:spcPts val="0"/>
                        </a:spcAft>
                      </a:pPr>
                      <a:r>
                        <a:rPr lang="en-US" sz="1800" b="1" spc="-10" dirty="0">
                          <a:effectLst/>
                        </a:rPr>
                        <a:t>41.5</a:t>
                      </a:r>
                      <a:endParaRPr lang="en-US" sz="1800" b="1" dirty="0">
                        <a:effectLst/>
                      </a:endParaRPr>
                    </a:p>
                    <a:p>
                      <a:pPr marL="358140" marR="0" eaLnBrk="0">
                        <a:lnSpc>
                          <a:spcPct val="76000"/>
                        </a:lnSpc>
                        <a:spcBef>
                          <a:spcPts val="0"/>
                        </a:spcBef>
                        <a:spcAft>
                          <a:spcPts val="0"/>
                        </a:spcAft>
                      </a:pPr>
                      <a:endParaRPr lang="en-US" sz="1800" b="1" spc="-20" dirty="0">
                        <a:effectLst/>
                      </a:endParaRPr>
                    </a:p>
                    <a:p>
                      <a:pPr marL="358140" marR="0" eaLnBrk="0">
                        <a:lnSpc>
                          <a:spcPct val="76000"/>
                        </a:lnSpc>
                        <a:spcBef>
                          <a:spcPts val="0"/>
                        </a:spcBef>
                        <a:spcAft>
                          <a:spcPts val="0"/>
                        </a:spcAft>
                      </a:pPr>
                      <a:endParaRPr lang="en-US" sz="1800" b="1" spc="-20" dirty="0">
                        <a:effectLst/>
                      </a:endParaRPr>
                    </a:p>
                    <a:p>
                      <a:pPr marL="358140" marR="0" eaLnBrk="0">
                        <a:lnSpc>
                          <a:spcPct val="76000"/>
                        </a:lnSpc>
                        <a:spcBef>
                          <a:spcPts val="0"/>
                        </a:spcBef>
                        <a:spcAft>
                          <a:spcPts val="0"/>
                        </a:spcAft>
                      </a:pPr>
                      <a:r>
                        <a:rPr lang="en-US" sz="1800" b="1" spc="-20" dirty="0">
                          <a:effectLst/>
                        </a:rPr>
                        <a:t>5.0</a:t>
                      </a:r>
                      <a:endParaRPr lang="en-US" sz="1800" b="1" dirty="0">
                        <a:effectLst/>
                      </a:endParaRPr>
                    </a:p>
                    <a:p>
                      <a:pPr marL="358140" marR="0" eaLnBrk="0">
                        <a:lnSpc>
                          <a:spcPct val="76000"/>
                        </a:lnSpc>
                        <a:spcBef>
                          <a:spcPts val="760"/>
                        </a:spcBef>
                        <a:spcAft>
                          <a:spcPts val="0"/>
                        </a:spcAft>
                      </a:pPr>
                      <a:r>
                        <a:rPr lang="en-US" sz="1800" b="1" spc="-15" dirty="0">
                          <a:effectLst/>
                        </a:rPr>
                        <a:t>2.0</a:t>
                      </a:r>
                      <a:endParaRPr lang="en-US" sz="1800" b="1"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93040" marR="0" eaLnBrk="0">
                        <a:lnSpc>
                          <a:spcPct val="92000"/>
                        </a:lnSpc>
                        <a:spcBef>
                          <a:spcPts val="470"/>
                        </a:spcBef>
                        <a:spcAft>
                          <a:spcPts val="0"/>
                        </a:spcAft>
                      </a:pPr>
                      <a:r>
                        <a:rPr lang="en-US" sz="1800" b="1" spc="55">
                          <a:effectLst/>
                        </a:rPr>
                        <a:t>B</a:t>
                      </a:r>
                      <a:r>
                        <a:rPr lang="zh-CN" sz="1800" b="1" spc="55">
                          <a:effectLst/>
                        </a:rPr>
                        <a:t>相</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1440" marR="0" eaLnBrk="0">
                        <a:lnSpc>
                          <a:spcPct val="91000"/>
                        </a:lnSpc>
                        <a:spcBef>
                          <a:spcPts val="455"/>
                        </a:spcBef>
                        <a:spcAft>
                          <a:spcPts val="0"/>
                        </a:spcAft>
                      </a:pPr>
                      <a:r>
                        <a:rPr lang="zh-CN" sz="1800" b="1" spc="-15">
                          <a:effectLst/>
                        </a:rPr>
                        <a:t>珠光浆</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51790" marR="0" eaLnBrk="0">
                        <a:lnSpc>
                          <a:spcPct val="76000"/>
                        </a:lnSpc>
                        <a:spcBef>
                          <a:spcPts val="750"/>
                        </a:spcBef>
                        <a:spcAft>
                          <a:spcPts val="0"/>
                        </a:spcAft>
                      </a:pPr>
                      <a:r>
                        <a:rPr lang="en-US" sz="1800" b="1" spc="-10">
                          <a:effectLst/>
                        </a:rPr>
                        <a:t>4.0</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1134658503"/>
                  </a:ext>
                </a:extLst>
              </a:tr>
              <a:tr h="101473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eaLnBrk="0">
                        <a:lnSpc>
                          <a:spcPct val="128000"/>
                        </a:lnSpc>
                        <a:spcBef>
                          <a:spcPts val="0"/>
                        </a:spcBef>
                        <a:spcAft>
                          <a:spcPts val="0"/>
                        </a:spcAft>
                      </a:pPr>
                      <a:r>
                        <a:rPr lang="en-US" sz="1800" b="1">
                          <a:effectLst/>
                        </a:rPr>
                        <a:t> </a:t>
                      </a:r>
                    </a:p>
                    <a:p>
                      <a:pPr marL="0" marR="0" eaLnBrk="0">
                        <a:lnSpc>
                          <a:spcPct val="128000"/>
                        </a:lnSpc>
                        <a:spcBef>
                          <a:spcPts val="0"/>
                        </a:spcBef>
                        <a:spcAft>
                          <a:spcPts val="0"/>
                        </a:spcAft>
                      </a:pPr>
                      <a:r>
                        <a:rPr lang="en-US" sz="1800" b="1">
                          <a:effectLst/>
                        </a:rPr>
                        <a:t> </a:t>
                      </a:r>
                    </a:p>
                    <a:p>
                      <a:pPr marL="193675" marR="0" eaLnBrk="0">
                        <a:lnSpc>
                          <a:spcPct val="92000"/>
                        </a:lnSpc>
                        <a:spcBef>
                          <a:spcPts val="370"/>
                        </a:spcBef>
                        <a:spcAft>
                          <a:spcPts val="0"/>
                        </a:spcAft>
                      </a:pPr>
                      <a:r>
                        <a:rPr lang="en-US" sz="1800" b="1" spc="55">
                          <a:effectLst/>
                        </a:rPr>
                        <a:t>C</a:t>
                      </a:r>
                      <a:r>
                        <a:rPr lang="zh-CN" sz="1800" b="1" spc="55">
                          <a:effectLst/>
                        </a:rPr>
                        <a:t>相</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1440" marR="0" eaLnBrk="0">
                        <a:lnSpc>
                          <a:spcPct val="91000"/>
                        </a:lnSpc>
                        <a:spcBef>
                          <a:spcPts val="510"/>
                        </a:spcBef>
                        <a:spcAft>
                          <a:spcPts val="0"/>
                        </a:spcAft>
                      </a:pPr>
                      <a:r>
                        <a:rPr lang="en-US" sz="1800" b="1" spc="-5">
                          <a:effectLst/>
                        </a:rPr>
                        <a:t>DMDM</a:t>
                      </a:r>
                      <a:r>
                        <a:rPr lang="zh-CN" sz="1800" b="1" spc="-5">
                          <a:effectLst/>
                        </a:rPr>
                        <a:t>乙内酰脲</a:t>
                      </a:r>
                      <a:endParaRPr lang="en-US" sz="1800" b="1">
                        <a:effectLst/>
                      </a:endParaRPr>
                    </a:p>
                    <a:p>
                      <a:pPr marL="91440" marR="0" eaLnBrk="0">
                        <a:lnSpc>
                          <a:spcPts val="1960"/>
                        </a:lnSpc>
                        <a:spcBef>
                          <a:spcPts val="630"/>
                        </a:spcBef>
                        <a:spcAft>
                          <a:spcPts val="0"/>
                        </a:spcAft>
                      </a:pPr>
                      <a:r>
                        <a:rPr lang="zh-CN" sz="1800" b="1" spc="-10">
                          <a:effectLst/>
                        </a:rPr>
                        <a:t>柠檬酸</a:t>
                      </a:r>
                      <a:endParaRPr lang="en-US" sz="1800" b="1">
                        <a:effectLst/>
                      </a:endParaRPr>
                    </a:p>
                    <a:p>
                      <a:pPr marL="91440" marR="0" eaLnBrk="0">
                        <a:lnSpc>
                          <a:spcPct val="91000"/>
                        </a:lnSpc>
                        <a:spcBef>
                          <a:spcPts val="0"/>
                        </a:spcBef>
                        <a:spcAft>
                          <a:spcPts val="0"/>
                        </a:spcAft>
                      </a:pPr>
                      <a:r>
                        <a:rPr lang="zh-CN" sz="1800" b="1" spc="20">
                          <a:effectLst/>
                        </a:rPr>
                        <a:t>氯化钠</a:t>
                      </a:r>
                      <a:endParaRPr lang="en-US" sz="1800" b="1">
                        <a:effectLst/>
                      </a:endParaRPr>
                    </a:p>
                    <a:p>
                      <a:pPr marL="91440" marR="0" eaLnBrk="0">
                        <a:lnSpc>
                          <a:spcPct val="91000"/>
                        </a:lnSpc>
                        <a:spcBef>
                          <a:spcPts val="560"/>
                        </a:spcBef>
                        <a:spcAft>
                          <a:spcPts val="0"/>
                        </a:spcAft>
                      </a:pPr>
                      <a:r>
                        <a:rPr lang="zh-CN" sz="1800" b="1" spc="25">
                          <a:effectLst/>
                        </a:rPr>
                        <a:t>香精</a:t>
                      </a:r>
                      <a:endParaRPr lang="en-US" sz="18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51790" marR="0" eaLnBrk="0">
                        <a:lnSpc>
                          <a:spcPct val="99000"/>
                        </a:lnSpc>
                        <a:spcBef>
                          <a:spcPts val="905"/>
                        </a:spcBef>
                        <a:spcAft>
                          <a:spcPts val="0"/>
                        </a:spcAft>
                      </a:pPr>
                      <a:r>
                        <a:rPr lang="en-US" sz="1800" b="1" spc="-15" dirty="0">
                          <a:effectLst/>
                        </a:rPr>
                        <a:t>0.3</a:t>
                      </a:r>
                      <a:endParaRPr lang="en-US" sz="1800" b="1" dirty="0">
                        <a:effectLst/>
                      </a:endParaRPr>
                    </a:p>
                    <a:p>
                      <a:pPr marL="320675" marR="0" eaLnBrk="0">
                        <a:lnSpc>
                          <a:spcPct val="93000"/>
                        </a:lnSpc>
                        <a:spcBef>
                          <a:spcPts val="0"/>
                        </a:spcBef>
                        <a:spcAft>
                          <a:spcPts val="0"/>
                        </a:spcAft>
                      </a:pPr>
                      <a:endParaRPr lang="en-US" altLang="zh-CN" sz="1800" b="1" spc="-15" dirty="0">
                        <a:effectLst/>
                      </a:endParaRPr>
                    </a:p>
                    <a:p>
                      <a:pPr marL="320675" marR="0" eaLnBrk="0">
                        <a:lnSpc>
                          <a:spcPct val="93000"/>
                        </a:lnSpc>
                        <a:spcBef>
                          <a:spcPts val="0"/>
                        </a:spcBef>
                        <a:spcAft>
                          <a:spcPts val="0"/>
                        </a:spcAft>
                      </a:pPr>
                      <a:r>
                        <a:rPr lang="zh-CN" sz="1800" b="1" spc="-15" dirty="0">
                          <a:effectLst/>
                        </a:rPr>
                        <a:t>适量</a:t>
                      </a:r>
                      <a:endParaRPr lang="en-US" sz="1800" b="1" dirty="0">
                        <a:effectLst/>
                      </a:endParaRPr>
                    </a:p>
                    <a:p>
                      <a:pPr marL="320675" marR="0" eaLnBrk="0">
                        <a:lnSpc>
                          <a:spcPct val="93000"/>
                        </a:lnSpc>
                        <a:spcBef>
                          <a:spcPts val="595"/>
                        </a:spcBef>
                        <a:spcAft>
                          <a:spcPts val="0"/>
                        </a:spcAft>
                      </a:pPr>
                      <a:r>
                        <a:rPr lang="zh-CN" sz="1800" b="1" spc="-15" dirty="0">
                          <a:effectLst/>
                        </a:rPr>
                        <a:t>适量</a:t>
                      </a:r>
                      <a:endParaRPr lang="en-US" sz="1800" b="1" dirty="0">
                        <a:effectLst/>
                      </a:endParaRPr>
                    </a:p>
                    <a:p>
                      <a:pPr marL="320675" marR="0" eaLnBrk="0">
                        <a:lnSpc>
                          <a:spcPct val="93000"/>
                        </a:lnSpc>
                        <a:spcBef>
                          <a:spcPts val="645"/>
                        </a:spcBef>
                        <a:spcAft>
                          <a:spcPts val="0"/>
                        </a:spcAft>
                      </a:pPr>
                      <a:r>
                        <a:rPr lang="zh-CN" sz="1800" b="1" spc="-15" dirty="0">
                          <a:effectLst/>
                        </a:rPr>
                        <a:t>适量</a:t>
                      </a:r>
                      <a:endParaRPr lang="en-US" sz="1800" b="1" dirty="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78946557"/>
                  </a:ext>
                </a:extLst>
              </a:tr>
            </a:tbl>
          </a:graphicData>
        </a:graphic>
      </p:graphicFrame>
    </p:spTree>
    <p:extLst>
      <p:ext uri="{BB962C8B-B14F-4D97-AF65-F5344CB8AC3E}">
        <p14:creationId xmlns:p14="http://schemas.microsoft.com/office/powerpoint/2010/main" val="16462422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护发产品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65614"/>
            <a:ext cx="8778240" cy="44525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正常的头皮，其皮脂腺分泌的油脂较身体其他部位皮肤分泌得多，油性较强。</a:t>
            </a:r>
            <a:r>
              <a:rPr lang="zh-CN" altLang="en-US" sz="2400" dirty="0">
                <a:solidFill>
                  <a:srgbClr val="0000FF"/>
                </a:solidFill>
                <a:latin typeface="+mn-lt"/>
                <a:ea typeface="SimHei" panose="02010609060101010101" pitchFamily="49" charset="-122"/>
              </a:rPr>
              <a:t>头发角质的表皮有一层薄的油膜</a:t>
            </a:r>
            <a:r>
              <a:rPr lang="zh-CN" altLang="en-US" sz="2400" dirty="0">
                <a:latin typeface="+mn-lt"/>
                <a:ea typeface="SimHei" panose="02010609060101010101" pitchFamily="49" charset="-122"/>
              </a:rPr>
              <a:t>，此层薄膜可</a:t>
            </a:r>
            <a:r>
              <a:rPr lang="zh-CN" altLang="en-US" sz="2400" dirty="0">
                <a:solidFill>
                  <a:srgbClr val="0000FF"/>
                </a:solidFill>
                <a:latin typeface="+mn-lt"/>
                <a:ea typeface="SimHei" panose="02010609060101010101" pitchFamily="49" charset="-122"/>
              </a:rPr>
              <a:t>维持头发的水分平衡，保持头发光亮</a:t>
            </a:r>
            <a:r>
              <a:rPr lang="zh-CN" altLang="en-US" sz="2400" dirty="0">
                <a:latin typeface="+mn-lt"/>
                <a:ea typeface="SimHei" panose="02010609060101010101" pitchFamily="49" charset="-122"/>
              </a:rPr>
              <a:t>，同时还直接</a:t>
            </a:r>
            <a:r>
              <a:rPr lang="zh-CN" altLang="en-US" sz="2400" dirty="0">
                <a:solidFill>
                  <a:srgbClr val="0000FF"/>
                </a:solidFill>
                <a:latin typeface="+mn-lt"/>
                <a:ea typeface="SimHei" panose="02010609060101010101" pitchFamily="49" charset="-122"/>
              </a:rPr>
              <a:t>保护着头发和头皮</a:t>
            </a:r>
            <a:r>
              <a:rPr lang="zh-CN" altLang="en-US" sz="2400" dirty="0">
                <a:latin typeface="+mn-lt"/>
                <a:ea typeface="SimHei" panose="02010609060101010101" pitchFamily="49" charset="-122"/>
              </a:rPr>
              <a:t>，减轻风、雨、阳光和温度等变化的影响。</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市场上护发制品的名称繁多，较早时期称作养发水、润丝，后来又称作护发素、焗油。</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护发素是一种主要的护发用品，在护发用品市场中占较大的份额。</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8158626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护发产品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09721"/>
            <a:ext cx="8778240" cy="279057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a:latin typeface="KaiTi" panose="02010609060101010101" pitchFamily="49" charset="-122"/>
                <a:ea typeface="KaiTi" panose="02010609060101010101" pitchFamily="49" charset="-122"/>
              </a:rPr>
              <a:t>在我们用</a:t>
            </a:r>
            <a:r>
              <a:rPr lang="zh-CN" altLang="en-US" sz="2400" b="1" dirty="0">
                <a:solidFill>
                  <a:srgbClr val="0000FF"/>
                </a:solidFill>
                <a:latin typeface="KaiTi" panose="02010609060101010101" pitchFamily="49" charset="-122"/>
                <a:ea typeface="KaiTi" panose="02010609060101010101" pitchFamily="49" charset="-122"/>
              </a:rPr>
              <a:t>香波洗去污垢的同时</a:t>
            </a:r>
            <a:r>
              <a:rPr lang="zh-CN" altLang="en-US" sz="2400" b="1" dirty="0">
                <a:latin typeface="KaiTi" panose="02010609060101010101" pitchFamily="49" charset="-122"/>
                <a:ea typeface="KaiTi" panose="02010609060101010101" pitchFamily="49" charset="-122"/>
              </a:rPr>
              <a:t>，也会洗去头发表面的油分，头发表面的</a:t>
            </a:r>
            <a:r>
              <a:rPr lang="zh-CN" altLang="en-US" sz="2400" b="1" dirty="0">
                <a:solidFill>
                  <a:srgbClr val="0000FF"/>
                </a:solidFill>
                <a:latin typeface="KaiTi" panose="02010609060101010101" pitchFamily="49" charset="-122"/>
                <a:ea typeface="KaiTi" panose="02010609060101010101" pitchFamily="49" charset="-122"/>
              </a:rPr>
              <a:t>毛鳞片受到损伤，头发之间的摩擦力增大</a:t>
            </a:r>
            <a:r>
              <a:rPr lang="zh-CN" altLang="en-US" sz="2400" b="1" dirty="0">
                <a:latin typeface="KaiTi" panose="02010609060101010101" pitchFamily="49" charset="-122"/>
                <a:ea typeface="KaiTi" panose="02010609060101010101" pitchFamily="49" charset="-122"/>
              </a:rPr>
              <a:t>，使得头发易于缠结，难以梳理，且特别容易</a:t>
            </a:r>
            <a:r>
              <a:rPr lang="zh-CN" altLang="en-US" sz="2400" b="1" dirty="0">
                <a:solidFill>
                  <a:srgbClr val="0000FF"/>
                </a:solidFill>
                <a:latin typeface="KaiTi" panose="02010609060101010101" pitchFamily="49" charset="-122"/>
                <a:ea typeface="KaiTi" panose="02010609060101010101" pitchFamily="49" charset="-122"/>
              </a:rPr>
              <a:t>产生静电</a:t>
            </a:r>
            <a:r>
              <a:rPr lang="zh-CN" altLang="en-US" sz="2400" b="1" dirty="0">
                <a:latin typeface="KaiTi" panose="02010609060101010101" pitchFamily="49" charset="-122"/>
                <a:ea typeface="KaiTi" panose="02010609060101010101" pitchFamily="49" charset="-122"/>
              </a:rPr>
              <a:t>，易于飘拂，缺少光泽。而在烫发、染发的过程中对头发造成的损伤就更加严重。</a:t>
            </a:r>
            <a:r>
              <a:rPr lang="en-US" altLang="zh-CN" sz="2400" b="1" dirty="0">
                <a:latin typeface="+mn-lt"/>
                <a:ea typeface="SimHei" panose="02010609060101010101" pitchFamily="49" charset="-122"/>
              </a:rPr>
              <a:t>      </a:t>
            </a:r>
            <a:r>
              <a:rPr lang="zh-CN" altLang="en-US" sz="2400" dirty="0">
                <a:solidFill>
                  <a:srgbClr val="FF0000"/>
                </a:solidFill>
                <a:latin typeface="+mn-lt"/>
                <a:ea typeface="SimHei" panose="02010609060101010101" pitchFamily="49" charset="-122"/>
              </a:rPr>
              <a:t>受损头发表面 </a:t>
            </a:r>
            <a:r>
              <a:rPr lang="en-US" altLang="zh-CN" sz="2400" dirty="0">
                <a:solidFill>
                  <a:srgbClr val="FF0000"/>
                </a:solidFill>
                <a:latin typeface="+mn-lt"/>
                <a:ea typeface="SimHei" panose="02010609060101010101" pitchFamily="49" charset="-122"/>
              </a:rPr>
              <a:t>vs </a:t>
            </a:r>
            <a:r>
              <a:rPr lang="zh-CN" altLang="en-US" sz="2400" dirty="0">
                <a:solidFill>
                  <a:srgbClr val="FF0000"/>
                </a:solidFill>
                <a:latin typeface="+mn-lt"/>
                <a:ea typeface="SimHei" panose="02010609060101010101" pitchFamily="49" charset="-122"/>
              </a:rPr>
              <a:t>护理后头发</a:t>
            </a:r>
            <a:r>
              <a:rPr lang="zh-CN" altLang="en-US" sz="2400" dirty="0">
                <a:solidFill>
                  <a:srgbClr val="FF0000"/>
                </a:solidFill>
                <a:ea typeface="SimHei" panose="02010609060101010101" pitchFamily="49" charset="-122"/>
              </a:rPr>
              <a:t>表面</a:t>
            </a:r>
            <a:endParaRPr lang="en-US" altLang="zh-CN" sz="2400" dirty="0">
              <a:solidFill>
                <a:srgbClr val="FF0000"/>
              </a:solidFill>
              <a:latin typeface="+mn-lt"/>
              <a:ea typeface="SimHei" panose="02010609060101010101" pitchFamily="49" charset="-122"/>
            </a:endParaRPr>
          </a:p>
        </p:txBody>
      </p:sp>
      <p:pic>
        <p:nvPicPr>
          <p:cNvPr id="5" name="IM 255">
            <a:extLst>
              <a:ext uri="{FF2B5EF4-FFF2-40B4-BE49-F238E27FC236}">
                <a16:creationId xmlns:a16="http://schemas.microsoft.com/office/drawing/2014/main" id="{6829260D-9864-16AF-1307-CB662FA22A78}"/>
              </a:ext>
            </a:extLst>
          </p:cNvPr>
          <p:cNvPicPr>
            <a:picLocks noChangeAspect="1"/>
          </p:cNvPicPr>
          <p:nvPr/>
        </p:nvPicPr>
        <p:blipFill>
          <a:blip r:embed="rId2"/>
          <a:stretch>
            <a:fillRect/>
          </a:stretch>
        </p:blipFill>
        <p:spPr>
          <a:xfrm>
            <a:off x="943522" y="3811088"/>
            <a:ext cx="3810000" cy="2971800"/>
          </a:xfrm>
          <a:prstGeom prst="rect">
            <a:avLst/>
          </a:prstGeom>
        </p:spPr>
      </p:pic>
      <p:pic>
        <p:nvPicPr>
          <p:cNvPr id="6" name="IM 256">
            <a:extLst>
              <a:ext uri="{FF2B5EF4-FFF2-40B4-BE49-F238E27FC236}">
                <a16:creationId xmlns:a16="http://schemas.microsoft.com/office/drawing/2014/main" id="{C0B4245B-7137-72B8-5357-7350C513E32F}"/>
              </a:ext>
            </a:extLst>
          </p:cNvPr>
          <p:cNvPicPr>
            <a:picLocks noChangeAspect="1"/>
          </p:cNvPicPr>
          <p:nvPr/>
        </p:nvPicPr>
        <p:blipFill>
          <a:blip r:embed="rId3"/>
          <a:stretch>
            <a:fillRect/>
          </a:stretch>
        </p:blipFill>
        <p:spPr>
          <a:xfrm>
            <a:off x="4753522" y="3789734"/>
            <a:ext cx="3790950" cy="2990850"/>
          </a:xfrm>
          <a:prstGeom prst="rect">
            <a:avLst/>
          </a:prstGeom>
        </p:spPr>
      </p:pic>
    </p:spTree>
    <p:extLst>
      <p:ext uri="{BB962C8B-B14F-4D97-AF65-F5344CB8AC3E}">
        <p14:creationId xmlns:p14="http://schemas.microsoft.com/office/powerpoint/2010/main" val="40173280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护发素</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65614"/>
            <a:ext cx="8778240" cy="44525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理想的护发素应具有以下功能：</a:t>
            </a:r>
          </a:p>
          <a:p>
            <a:pPr>
              <a:lnSpc>
                <a:spcPct val="150000"/>
              </a:lnSpc>
            </a:pPr>
            <a:r>
              <a:rPr lang="zh-CN" altLang="en-US" sz="2400" dirty="0">
                <a:latin typeface="+mn-lt"/>
                <a:ea typeface="SimHei" panose="02010609060101010101" pitchFamily="49" charset="-122"/>
              </a:rPr>
              <a:t>① 能改善干梳和湿梳性能，使头发不会缠绕；</a:t>
            </a:r>
          </a:p>
          <a:p>
            <a:pPr>
              <a:lnSpc>
                <a:spcPct val="150000"/>
              </a:lnSpc>
            </a:pPr>
            <a:r>
              <a:rPr lang="zh-CN" altLang="en-US" sz="2400" dirty="0">
                <a:latin typeface="+mn-lt"/>
                <a:ea typeface="SimHei" panose="02010609060101010101" pitchFamily="49" charset="-122"/>
              </a:rPr>
              <a:t>② 具有抗静电作用，使头发不会飘拂；</a:t>
            </a:r>
          </a:p>
          <a:p>
            <a:pPr>
              <a:lnSpc>
                <a:spcPct val="150000"/>
              </a:lnSpc>
            </a:pPr>
            <a:r>
              <a:rPr lang="zh-CN" altLang="en-US" sz="2400" dirty="0">
                <a:latin typeface="+mn-lt"/>
                <a:ea typeface="SimHei" panose="02010609060101010101" pitchFamily="49" charset="-122"/>
              </a:rPr>
              <a:t>③ 能赋予头发光泽；</a:t>
            </a:r>
          </a:p>
          <a:p>
            <a:pPr>
              <a:lnSpc>
                <a:spcPct val="150000"/>
              </a:lnSpc>
            </a:pPr>
            <a:r>
              <a:rPr lang="zh-CN" altLang="en-US" sz="2400" dirty="0">
                <a:latin typeface="+mn-lt"/>
                <a:ea typeface="SimHei" panose="02010609060101010101" pitchFamily="49" charset="-122"/>
              </a:rPr>
              <a:t>④ 能保护头发表面，增强头发的体感。</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除上述的这些基本要求外，根据不同的需要，还有一些专门的功能，如改善卷曲头发的保持能力</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定型作用</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、修复受损伤的头发、润湿头发和抑制头屑或皮脂分泌等。</a:t>
            </a:r>
          </a:p>
        </p:txBody>
      </p:sp>
    </p:spTree>
    <p:extLst>
      <p:ext uri="{BB962C8B-B14F-4D97-AF65-F5344CB8AC3E}">
        <p14:creationId xmlns:p14="http://schemas.microsoft.com/office/powerpoint/2010/main" val="15160301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静电</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pic>
        <p:nvPicPr>
          <p:cNvPr id="6" name="图片 5">
            <a:extLst>
              <a:ext uri="{FF2B5EF4-FFF2-40B4-BE49-F238E27FC236}">
                <a16:creationId xmlns:a16="http://schemas.microsoft.com/office/drawing/2014/main" id="{FD634698-F819-A29A-A227-6FE509F0BA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5579" y="1165614"/>
            <a:ext cx="4092841" cy="5454990"/>
          </a:xfrm>
          <a:prstGeom prst="rect">
            <a:avLst/>
          </a:prstGeom>
        </p:spPr>
      </p:pic>
    </p:spTree>
    <p:extLst>
      <p:ext uri="{BB962C8B-B14F-4D97-AF65-F5344CB8AC3E}">
        <p14:creationId xmlns:p14="http://schemas.microsoft.com/office/powerpoint/2010/main" val="31040985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护发素配方结构</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79" y="1015419"/>
            <a:ext cx="8778239" cy="559769"/>
          </a:xfrm>
          <a:prstGeom prst="rect">
            <a:avLst/>
          </a:prstGeom>
          <a:noFill/>
        </p:spPr>
        <p:txBody>
          <a:bodyPr wrap="square" rtlCol="0">
            <a:spAutoFit/>
          </a:bodyPr>
          <a:lstStyle/>
          <a:p>
            <a:pPr>
              <a:lnSpc>
                <a:spcPct val="150000"/>
              </a:lnSpc>
            </a:pPr>
            <a:r>
              <a:rPr lang="zh-CN" altLang="en-US" sz="2400" b="1" dirty="0">
                <a:latin typeface="KaiTi" panose="02010609060101010101" pitchFamily="49" charset="-122"/>
                <a:ea typeface="KaiTi" panose="02010609060101010101" pitchFamily="49" charset="-122"/>
              </a:rPr>
              <a:t>护发素主要为乳液状，加入多种护发、养发成分</a:t>
            </a:r>
            <a:endParaRPr lang="en-US" altLang="zh-CN" sz="2400" b="1" dirty="0">
              <a:latin typeface="KaiTi" panose="02010609060101010101" pitchFamily="49" charset="-122"/>
              <a:ea typeface="KaiTi" panose="02010609060101010101" pitchFamily="49" charset="-122"/>
            </a:endParaRPr>
          </a:p>
        </p:txBody>
      </p:sp>
      <p:graphicFrame>
        <p:nvGraphicFramePr>
          <p:cNvPr id="5" name="表格 4">
            <a:extLst>
              <a:ext uri="{FF2B5EF4-FFF2-40B4-BE49-F238E27FC236}">
                <a16:creationId xmlns:a16="http://schemas.microsoft.com/office/drawing/2014/main" id="{E6288CF4-9045-13F5-AD75-CDE57B1BA6FA}"/>
              </a:ext>
            </a:extLst>
          </p:cNvPr>
          <p:cNvGraphicFramePr>
            <a:graphicFrameLocks noGrp="1"/>
          </p:cNvGraphicFramePr>
          <p:nvPr>
            <p:extLst>
              <p:ext uri="{D42A27DB-BD31-4B8C-83A1-F6EECF244321}">
                <p14:modId xmlns:p14="http://schemas.microsoft.com/office/powerpoint/2010/main" val="4186767416"/>
              </p:ext>
            </p:extLst>
          </p:nvPr>
        </p:nvGraphicFramePr>
        <p:xfrm>
          <a:off x="182879" y="1734207"/>
          <a:ext cx="8778239" cy="4770981"/>
        </p:xfrm>
        <a:graphic>
          <a:graphicData uri="http://schemas.openxmlformats.org/drawingml/2006/table">
            <a:tbl>
              <a:tblPr firstRow="1" firstCol="1" bandRow="1">
                <a:tableStyleId>{21E4AEA4-8DFA-4A89-87EB-49C32662AFE0}</a:tableStyleId>
              </a:tblPr>
              <a:tblGrid>
                <a:gridCol w="1510056">
                  <a:extLst>
                    <a:ext uri="{9D8B030D-6E8A-4147-A177-3AD203B41FA5}">
                      <a16:colId xmlns:a16="http://schemas.microsoft.com/office/drawing/2014/main" val="771176489"/>
                    </a:ext>
                  </a:extLst>
                </a:gridCol>
                <a:gridCol w="3849814">
                  <a:extLst>
                    <a:ext uri="{9D8B030D-6E8A-4147-A177-3AD203B41FA5}">
                      <a16:colId xmlns:a16="http://schemas.microsoft.com/office/drawing/2014/main" val="2191057755"/>
                    </a:ext>
                  </a:extLst>
                </a:gridCol>
                <a:gridCol w="3418369">
                  <a:extLst>
                    <a:ext uri="{9D8B030D-6E8A-4147-A177-3AD203B41FA5}">
                      <a16:colId xmlns:a16="http://schemas.microsoft.com/office/drawing/2014/main" val="1146068156"/>
                    </a:ext>
                  </a:extLst>
                </a:gridCol>
              </a:tblGrid>
              <a:tr h="361086">
                <a:tc>
                  <a:txBody>
                    <a:bodyPr/>
                    <a:lstStyle/>
                    <a:p>
                      <a:pPr marL="323215" marR="0" eaLnBrk="0">
                        <a:lnSpc>
                          <a:spcPct val="91000"/>
                        </a:lnSpc>
                        <a:spcBef>
                          <a:spcPts val="470"/>
                        </a:spcBef>
                        <a:spcAft>
                          <a:spcPts val="0"/>
                        </a:spcAft>
                      </a:pPr>
                      <a:r>
                        <a:rPr lang="zh-CN" sz="1400" b="1" spc="-30">
                          <a:effectLst/>
                        </a:rPr>
                        <a:t>组</a:t>
                      </a:r>
                      <a:r>
                        <a:rPr lang="en-US" sz="1400" b="1" spc="75">
                          <a:effectLst/>
                        </a:rPr>
                        <a:t>  </a:t>
                      </a:r>
                      <a:r>
                        <a:rPr lang="zh-CN" sz="1400" b="1" spc="-30">
                          <a:effectLst/>
                        </a:rPr>
                        <a:t>分</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202690" marR="0" eaLnBrk="0">
                        <a:lnSpc>
                          <a:spcPct val="92000"/>
                        </a:lnSpc>
                        <a:spcBef>
                          <a:spcPts val="475"/>
                        </a:spcBef>
                        <a:spcAft>
                          <a:spcPts val="0"/>
                        </a:spcAft>
                      </a:pPr>
                      <a:r>
                        <a:rPr lang="zh-CN" sz="1400" b="1" spc="10">
                          <a:effectLst/>
                        </a:rPr>
                        <a:t>主要功能</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68375" marR="0" eaLnBrk="0">
                        <a:lnSpc>
                          <a:spcPct val="91000"/>
                        </a:lnSpc>
                        <a:spcBef>
                          <a:spcPts val="470"/>
                        </a:spcBef>
                        <a:spcAft>
                          <a:spcPts val="0"/>
                        </a:spcAft>
                      </a:pPr>
                      <a:r>
                        <a:rPr lang="zh-CN" sz="1400" b="1" spc="-10">
                          <a:effectLst/>
                        </a:rPr>
                        <a:t>代表性原料</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1666340917"/>
                  </a:ext>
                </a:extLst>
              </a:tr>
              <a:tr h="356617">
                <a:tc>
                  <a:txBody>
                    <a:bodyPr/>
                    <a:lstStyle/>
                    <a:p>
                      <a:pPr marL="94615" marR="0" eaLnBrk="0">
                        <a:lnSpc>
                          <a:spcPct val="91000"/>
                        </a:lnSpc>
                        <a:spcBef>
                          <a:spcPts val="440"/>
                        </a:spcBef>
                        <a:spcAft>
                          <a:spcPts val="0"/>
                        </a:spcAft>
                      </a:pPr>
                      <a:r>
                        <a:rPr lang="zh-CN" sz="1400" b="1" spc="20">
                          <a:effectLst/>
                        </a:rPr>
                        <a:t>调理剂</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1125" marR="0" eaLnBrk="0">
                        <a:lnSpc>
                          <a:spcPct val="91000"/>
                        </a:lnSpc>
                        <a:spcBef>
                          <a:spcPts val="440"/>
                        </a:spcBef>
                        <a:spcAft>
                          <a:spcPts val="0"/>
                        </a:spcAft>
                      </a:pPr>
                      <a:r>
                        <a:rPr lang="zh-CN" sz="1400" b="1" spc="10">
                          <a:effectLst/>
                        </a:rPr>
                        <a:t>乳化、抗静电和抑菌作用</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7490" marR="0" eaLnBrk="0">
                        <a:lnSpc>
                          <a:spcPct val="91000"/>
                        </a:lnSpc>
                        <a:spcBef>
                          <a:spcPts val="440"/>
                        </a:spcBef>
                        <a:spcAft>
                          <a:spcPts val="0"/>
                        </a:spcAft>
                      </a:pPr>
                      <a:r>
                        <a:rPr lang="zh-CN" sz="1400" b="1" spc="5" dirty="0">
                          <a:effectLst/>
                        </a:rPr>
                        <a:t>季铵盐类阳离子表面活性剂</a:t>
                      </a:r>
                      <a:endParaRPr lang="en-US" sz="1400" b="1" dirty="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1528247476"/>
                  </a:ext>
                </a:extLst>
              </a:tr>
              <a:tr h="347679">
                <a:tc>
                  <a:txBody>
                    <a:bodyPr/>
                    <a:lstStyle/>
                    <a:p>
                      <a:pPr marL="94615" marR="0" eaLnBrk="0">
                        <a:lnSpc>
                          <a:spcPct val="91000"/>
                        </a:lnSpc>
                        <a:spcBef>
                          <a:spcPts val="445"/>
                        </a:spcBef>
                        <a:spcAft>
                          <a:spcPts val="0"/>
                        </a:spcAft>
                      </a:pPr>
                      <a:r>
                        <a:rPr lang="zh-CN" sz="1400" b="1" spc="20">
                          <a:effectLst/>
                        </a:rPr>
                        <a:t>乳化剂</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1125" marR="0" eaLnBrk="0">
                        <a:lnSpc>
                          <a:spcPct val="91000"/>
                        </a:lnSpc>
                        <a:spcBef>
                          <a:spcPts val="455"/>
                        </a:spcBef>
                        <a:spcAft>
                          <a:spcPts val="0"/>
                        </a:spcAft>
                      </a:pPr>
                      <a:r>
                        <a:rPr lang="zh-CN" sz="1400" b="1" spc="30">
                          <a:effectLst/>
                        </a:rPr>
                        <a:t>乳化作用</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7490" marR="0" eaLnBrk="0">
                        <a:lnSpc>
                          <a:spcPct val="91000"/>
                        </a:lnSpc>
                        <a:spcBef>
                          <a:spcPts val="445"/>
                        </a:spcBef>
                        <a:spcAft>
                          <a:spcPts val="0"/>
                        </a:spcAft>
                      </a:pPr>
                      <a:r>
                        <a:rPr lang="zh-CN" sz="1400" b="1" spc="5">
                          <a:effectLst/>
                        </a:rPr>
                        <a:t>非离子表面活性剂</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354351298"/>
                  </a:ext>
                </a:extLst>
              </a:tr>
              <a:tr h="597937">
                <a:tc>
                  <a:txBody>
                    <a:bodyPr/>
                    <a:lstStyle/>
                    <a:p>
                      <a:pPr marL="94615" marR="0" eaLnBrk="0">
                        <a:lnSpc>
                          <a:spcPct val="91000"/>
                        </a:lnSpc>
                        <a:spcBef>
                          <a:spcPts val="1160"/>
                        </a:spcBef>
                        <a:spcAft>
                          <a:spcPts val="0"/>
                        </a:spcAft>
                      </a:pPr>
                      <a:r>
                        <a:rPr lang="zh-CN" sz="1400" b="1" spc="5" dirty="0">
                          <a:effectLst/>
                        </a:rPr>
                        <a:t>阳离子聚合物</a:t>
                      </a:r>
                      <a:endParaRPr lang="en-US" sz="1400" b="1"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1125" marR="0" eaLnBrk="0">
                        <a:lnSpc>
                          <a:spcPct val="91000"/>
                        </a:lnSpc>
                        <a:spcBef>
                          <a:spcPts val="1150"/>
                        </a:spcBef>
                        <a:spcAft>
                          <a:spcPts val="0"/>
                        </a:spcAft>
                      </a:pPr>
                      <a:r>
                        <a:rPr lang="zh-CN" sz="1400" b="1">
                          <a:effectLst/>
                        </a:rPr>
                        <a:t>调理、抗静电作用、流变性调节剂、头发定型</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0490" marR="0" indent="133350" eaLnBrk="0">
                        <a:lnSpc>
                          <a:spcPct val="102000"/>
                        </a:lnSpc>
                        <a:spcBef>
                          <a:spcPts val="410"/>
                        </a:spcBef>
                        <a:spcAft>
                          <a:spcPts val="0"/>
                        </a:spcAft>
                      </a:pPr>
                      <a:r>
                        <a:rPr lang="zh-CN" sz="1400" b="1" spc="45">
                          <a:effectLst/>
                        </a:rPr>
                        <a:t>季铵化的羟乙基纤维素、水解蛋白、二</a:t>
                      </a:r>
                      <a:r>
                        <a:rPr lang="zh-CN" sz="1400" b="1" spc="30">
                          <a:effectLst/>
                        </a:rPr>
                        <a:t> </a:t>
                      </a:r>
                      <a:r>
                        <a:rPr lang="zh-CN" sz="1400" b="1" spc="55">
                          <a:effectLst/>
                        </a:rPr>
                        <a:t>甲基硅氧烷、壳多糖等</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531255058"/>
                  </a:ext>
                </a:extLst>
              </a:tr>
              <a:tr h="615812">
                <a:tc>
                  <a:txBody>
                    <a:bodyPr/>
                    <a:lstStyle/>
                    <a:p>
                      <a:pPr marL="94615" marR="0" eaLnBrk="0">
                        <a:lnSpc>
                          <a:spcPct val="91000"/>
                        </a:lnSpc>
                        <a:spcBef>
                          <a:spcPts val="1205"/>
                        </a:spcBef>
                        <a:spcAft>
                          <a:spcPts val="0"/>
                        </a:spcAft>
                      </a:pPr>
                      <a:r>
                        <a:rPr lang="zh-CN" sz="1400" b="1" spc="20">
                          <a:effectLst/>
                        </a:rPr>
                        <a:t>赋脂剂</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1125" marR="0" eaLnBrk="0">
                        <a:lnSpc>
                          <a:spcPct val="91000"/>
                        </a:lnSpc>
                        <a:spcBef>
                          <a:spcPts val="1205"/>
                        </a:spcBef>
                        <a:spcAft>
                          <a:spcPts val="0"/>
                        </a:spcAft>
                      </a:pPr>
                      <a:r>
                        <a:rPr lang="zh-CN" sz="1400" b="1" spc="5">
                          <a:effectLst/>
                        </a:rPr>
                        <a:t>调理剂、赋脂剂</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04140" marR="4445" indent="152400" eaLnBrk="0">
                        <a:spcBef>
                          <a:spcPts val="460"/>
                        </a:spcBef>
                        <a:spcAft>
                          <a:spcPts val="0"/>
                        </a:spcAft>
                      </a:pPr>
                      <a:r>
                        <a:rPr lang="zh-CN" sz="1400" b="1" spc="-15">
                          <a:effectLst/>
                        </a:rPr>
                        <a:t>各种植物油、乙氧基化植物油、三甘油</a:t>
                      </a:r>
                      <a:r>
                        <a:rPr lang="zh-CN" sz="1400" b="1" spc="65">
                          <a:effectLst/>
                        </a:rPr>
                        <a:t> </a:t>
                      </a:r>
                      <a:r>
                        <a:rPr lang="zh-CN" sz="1400" b="1">
                          <a:effectLst/>
                        </a:rPr>
                        <a:t>酯、支链脂肪醇类、支链脂肪酸酯</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37575261"/>
                  </a:ext>
                </a:extLst>
              </a:tr>
              <a:tr h="356617">
                <a:tc>
                  <a:txBody>
                    <a:bodyPr/>
                    <a:lstStyle/>
                    <a:p>
                      <a:pPr marL="94615" marR="0" eaLnBrk="0">
                        <a:lnSpc>
                          <a:spcPct val="91000"/>
                        </a:lnSpc>
                        <a:spcBef>
                          <a:spcPts val="460"/>
                        </a:spcBef>
                        <a:spcAft>
                          <a:spcPts val="0"/>
                        </a:spcAft>
                      </a:pPr>
                      <a:r>
                        <a:rPr lang="zh-CN" sz="1400" b="1" spc="20">
                          <a:effectLst/>
                        </a:rPr>
                        <a:t>增稠剂</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1125" marR="0" eaLnBrk="0">
                        <a:lnSpc>
                          <a:spcPct val="91000"/>
                        </a:lnSpc>
                        <a:spcBef>
                          <a:spcPts val="470"/>
                        </a:spcBef>
                        <a:spcAft>
                          <a:spcPts val="0"/>
                        </a:spcAft>
                      </a:pPr>
                      <a:r>
                        <a:rPr lang="zh-CN" sz="1400" b="1" spc="5">
                          <a:effectLst/>
                        </a:rPr>
                        <a:t>调节黏度、改善流变性能</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7490" marR="0" eaLnBrk="0">
                        <a:lnSpc>
                          <a:spcPct val="91000"/>
                        </a:lnSpc>
                        <a:spcBef>
                          <a:spcPts val="470"/>
                        </a:spcBef>
                        <a:spcAft>
                          <a:spcPts val="0"/>
                        </a:spcAft>
                      </a:pPr>
                      <a:r>
                        <a:rPr lang="zh-CN" sz="1400" b="1">
                          <a:effectLst/>
                        </a:rPr>
                        <a:t>盐类、羟乙基纤维素、聚丙烯酸树脂</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634413166"/>
                  </a:ext>
                </a:extLst>
              </a:tr>
              <a:tr h="356617">
                <a:tc>
                  <a:txBody>
                    <a:bodyPr/>
                    <a:lstStyle/>
                    <a:p>
                      <a:pPr marL="94615" marR="0" eaLnBrk="0">
                        <a:lnSpc>
                          <a:spcPct val="91000"/>
                        </a:lnSpc>
                        <a:spcBef>
                          <a:spcPts val="465"/>
                        </a:spcBef>
                        <a:spcAft>
                          <a:spcPts val="0"/>
                        </a:spcAft>
                      </a:pPr>
                      <a:r>
                        <a:rPr lang="zh-CN" sz="1400" b="1" spc="25">
                          <a:effectLst/>
                        </a:rPr>
                        <a:t>香精</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1125" marR="0" eaLnBrk="0">
                        <a:lnSpc>
                          <a:spcPct val="92000"/>
                        </a:lnSpc>
                        <a:spcBef>
                          <a:spcPts val="480"/>
                        </a:spcBef>
                        <a:spcAft>
                          <a:spcPts val="0"/>
                        </a:spcAft>
                      </a:pPr>
                      <a:r>
                        <a:rPr lang="zh-CN" sz="1400" b="1" spc="25">
                          <a:effectLst/>
                        </a:rPr>
                        <a:t>赋香</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0" marR="0" eaLnBrk="0">
                        <a:spcBef>
                          <a:spcPts val="0"/>
                        </a:spcBef>
                        <a:spcAft>
                          <a:spcPts val="0"/>
                        </a:spcAft>
                      </a:pPr>
                      <a:r>
                        <a:rPr lang="en-US" sz="1400" b="1">
                          <a:effectLst/>
                        </a:rPr>
                        <a:t> </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4068118150"/>
                  </a:ext>
                </a:extLst>
              </a:tr>
              <a:tr h="356617">
                <a:tc>
                  <a:txBody>
                    <a:bodyPr/>
                    <a:lstStyle/>
                    <a:p>
                      <a:pPr marL="94615" marR="0" eaLnBrk="0">
                        <a:lnSpc>
                          <a:spcPct val="91000"/>
                        </a:lnSpc>
                        <a:spcBef>
                          <a:spcPts val="470"/>
                        </a:spcBef>
                        <a:spcAft>
                          <a:spcPts val="0"/>
                        </a:spcAft>
                      </a:pPr>
                      <a:r>
                        <a:rPr lang="zh-CN" sz="1400" b="1" spc="20">
                          <a:effectLst/>
                        </a:rPr>
                        <a:t>防腐剂</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1125" marR="0" eaLnBrk="0">
                        <a:lnSpc>
                          <a:spcPct val="91000"/>
                        </a:lnSpc>
                        <a:spcBef>
                          <a:spcPts val="480"/>
                        </a:spcBef>
                        <a:spcAft>
                          <a:spcPts val="0"/>
                        </a:spcAft>
                      </a:pPr>
                      <a:r>
                        <a:rPr lang="zh-CN" sz="1400" b="1" spc="-10">
                          <a:effectLst/>
                        </a:rPr>
                        <a:t>抑制微生物生长</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0" marR="0" eaLnBrk="0">
                        <a:spcBef>
                          <a:spcPts val="0"/>
                        </a:spcBef>
                        <a:spcAft>
                          <a:spcPts val="0"/>
                        </a:spcAft>
                      </a:pPr>
                      <a:r>
                        <a:rPr lang="en-US" sz="1400" b="1">
                          <a:effectLst/>
                        </a:rPr>
                        <a:t> </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897394774"/>
                  </a:ext>
                </a:extLst>
              </a:tr>
              <a:tr h="356617">
                <a:tc>
                  <a:txBody>
                    <a:bodyPr/>
                    <a:lstStyle/>
                    <a:p>
                      <a:pPr marL="94615" marR="0" eaLnBrk="0">
                        <a:lnSpc>
                          <a:spcPct val="91000"/>
                        </a:lnSpc>
                        <a:spcBef>
                          <a:spcPts val="475"/>
                        </a:spcBef>
                        <a:spcAft>
                          <a:spcPts val="0"/>
                        </a:spcAft>
                      </a:pPr>
                      <a:r>
                        <a:rPr lang="zh-CN" sz="1400" b="1" spc="20">
                          <a:effectLst/>
                        </a:rPr>
                        <a:t>螯合剂</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1125" marR="0" eaLnBrk="0">
                        <a:lnSpc>
                          <a:spcPct val="91000"/>
                        </a:lnSpc>
                        <a:spcBef>
                          <a:spcPts val="485"/>
                        </a:spcBef>
                        <a:spcAft>
                          <a:spcPts val="0"/>
                        </a:spcAft>
                      </a:pPr>
                      <a:r>
                        <a:rPr lang="zh-CN" sz="1400" b="1" spc="5">
                          <a:effectLst/>
                        </a:rPr>
                        <a:t>螯合钙、镁等离子</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7490" marR="0" eaLnBrk="0">
                        <a:lnSpc>
                          <a:spcPct val="91000"/>
                        </a:lnSpc>
                        <a:spcBef>
                          <a:spcPts val="485"/>
                        </a:spcBef>
                        <a:spcAft>
                          <a:spcPts val="0"/>
                        </a:spcAft>
                      </a:pPr>
                      <a:r>
                        <a:rPr lang="en-US" sz="1400" b="1" spc="-5">
                          <a:effectLst/>
                        </a:rPr>
                        <a:t>EDTA</a:t>
                      </a:r>
                      <a:r>
                        <a:rPr lang="zh-CN" sz="1400" b="1" spc="-5">
                          <a:effectLst/>
                        </a:rPr>
                        <a:t>盐类</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664642976"/>
                  </a:ext>
                </a:extLst>
              </a:tr>
              <a:tr h="356617">
                <a:tc>
                  <a:txBody>
                    <a:bodyPr/>
                    <a:lstStyle/>
                    <a:p>
                      <a:pPr marL="94615" marR="0" eaLnBrk="0">
                        <a:lnSpc>
                          <a:spcPct val="91000"/>
                        </a:lnSpc>
                        <a:spcBef>
                          <a:spcPts val="480"/>
                        </a:spcBef>
                        <a:spcAft>
                          <a:spcPts val="0"/>
                        </a:spcAft>
                      </a:pPr>
                      <a:r>
                        <a:rPr lang="zh-CN" sz="1400" b="1" spc="15">
                          <a:effectLst/>
                        </a:rPr>
                        <a:t>抗氧化剂</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1125" marR="0" eaLnBrk="0">
                        <a:lnSpc>
                          <a:spcPct val="91000"/>
                        </a:lnSpc>
                        <a:spcBef>
                          <a:spcPts val="480"/>
                        </a:spcBef>
                        <a:spcAft>
                          <a:spcPts val="0"/>
                        </a:spcAft>
                      </a:pPr>
                      <a:r>
                        <a:rPr lang="zh-CN" sz="1400" b="1">
                          <a:effectLst/>
                        </a:rPr>
                        <a:t>防止油脂类化合物氧化酸败</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7490" marR="0" eaLnBrk="0">
                        <a:lnSpc>
                          <a:spcPct val="91000"/>
                        </a:lnSpc>
                        <a:spcBef>
                          <a:spcPts val="490"/>
                        </a:spcBef>
                        <a:spcAft>
                          <a:spcPts val="0"/>
                        </a:spcAft>
                      </a:pPr>
                      <a:r>
                        <a:rPr lang="en-US" sz="1400" b="1" spc="-5">
                          <a:effectLst/>
                        </a:rPr>
                        <a:t>BHT</a:t>
                      </a:r>
                      <a:r>
                        <a:rPr lang="zh-CN" sz="1400" b="1" spc="-5">
                          <a:effectLst/>
                        </a:rPr>
                        <a:t>、</a:t>
                      </a:r>
                      <a:r>
                        <a:rPr lang="en-US" sz="1400" b="1" spc="-5">
                          <a:effectLst/>
                        </a:rPr>
                        <a:t>BHA</a:t>
                      </a:r>
                      <a:r>
                        <a:rPr lang="zh-CN" sz="1400" b="1" spc="-5">
                          <a:effectLst/>
                        </a:rPr>
                        <a:t>、生育酚</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414354538"/>
                  </a:ext>
                </a:extLst>
              </a:tr>
              <a:tr h="347679">
                <a:tc>
                  <a:txBody>
                    <a:bodyPr/>
                    <a:lstStyle/>
                    <a:p>
                      <a:pPr marL="94615" marR="0" eaLnBrk="0">
                        <a:lnSpc>
                          <a:spcPct val="91000"/>
                        </a:lnSpc>
                        <a:spcBef>
                          <a:spcPts val="485"/>
                        </a:spcBef>
                        <a:spcAft>
                          <a:spcPts val="0"/>
                        </a:spcAft>
                      </a:pPr>
                      <a:r>
                        <a:rPr lang="zh-CN" sz="1400" b="1" spc="5">
                          <a:effectLst/>
                        </a:rPr>
                        <a:t>着色剂和珠光剂</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1125" marR="0" eaLnBrk="0">
                        <a:lnSpc>
                          <a:spcPct val="91000"/>
                        </a:lnSpc>
                        <a:spcBef>
                          <a:spcPts val="495"/>
                        </a:spcBef>
                        <a:spcAft>
                          <a:spcPts val="0"/>
                        </a:spcAft>
                      </a:pPr>
                      <a:r>
                        <a:rPr lang="zh-CN" sz="1400" b="1" spc="5">
                          <a:effectLst/>
                        </a:rPr>
                        <a:t>赋色、改善外观</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7490" marR="0" eaLnBrk="0">
                        <a:lnSpc>
                          <a:spcPct val="91000"/>
                        </a:lnSpc>
                        <a:spcBef>
                          <a:spcPts val="495"/>
                        </a:spcBef>
                        <a:spcAft>
                          <a:spcPts val="0"/>
                        </a:spcAft>
                      </a:pPr>
                      <a:r>
                        <a:rPr lang="en-US" sz="1400" b="1" spc="-5">
                          <a:effectLst/>
                        </a:rPr>
                        <a:t>BASF</a:t>
                      </a:r>
                      <a:r>
                        <a:rPr lang="zh-CN" sz="1400" b="1" spc="-5">
                          <a:effectLst/>
                        </a:rPr>
                        <a:t>天来加</a:t>
                      </a:r>
                      <a:r>
                        <a:rPr lang="en-US" sz="1400" b="1" spc="-5">
                          <a:effectLst/>
                        </a:rPr>
                        <a:t>TT</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282363284"/>
                  </a:ext>
                </a:extLst>
              </a:tr>
              <a:tr h="361086">
                <a:tc>
                  <a:txBody>
                    <a:bodyPr/>
                    <a:lstStyle/>
                    <a:p>
                      <a:pPr marL="94615" marR="0" eaLnBrk="0">
                        <a:lnSpc>
                          <a:spcPct val="91000"/>
                        </a:lnSpc>
                        <a:spcBef>
                          <a:spcPts val="500"/>
                        </a:spcBef>
                        <a:spcAft>
                          <a:spcPts val="0"/>
                        </a:spcAft>
                      </a:pPr>
                      <a:r>
                        <a:rPr lang="zh-CN" sz="1400" b="1" spc="-10">
                          <a:effectLst/>
                        </a:rPr>
                        <a:t>其他活性成分</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1125" marR="0" eaLnBrk="0">
                        <a:lnSpc>
                          <a:spcPct val="91000"/>
                        </a:lnSpc>
                        <a:spcBef>
                          <a:spcPts val="500"/>
                        </a:spcBef>
                        <a:spcAft>
                          <a:spcPts val="0"/>
                        </a:spcAft>
                      </a:pPr>
                      <a:r>
                        <a:rPr lang="zh-CN" sz="1400" b="1">
                          <a:effectLst/>
                        </a:rPr>
                        <a:t>赋予各种功能，如祛头屑、定型和润湿等</a:t>
                      </a:r>
                      <a:endParaRPr lang="en-US" sz="14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7490" marR="0" eaLnBrk="0">
                        <a:lnSpc>
                          <a:spcPct val="91000"/>
                        </a:lnSpc>
                        <a:spcBef>
                          <a:spcPts val="500"/>
                        </a:spcBef>
                        <a:spcAft>
                          <a:spcPts val="0"/>
                        </a:spcAft>
                      </a:pPr>
                      <a:r>
                        <a:rPr lang="en-US" sz="1400" b="1" spc="-5" dirty="0">
                          <a:effectLst/>
                        </a:rPr>
                        <a:t>ZPT</a:t>
                      </a:r>
                      <a:r>
                        <a:rPr lang="zh-CN" sz="1400" b="1" spc="-5" dirty="0">
                          <a:effectLst/>
                        </a:rPr>
                        <a:t>、</a:t>
                      </a:r>
                      <a:r>
                        <a:rPr lang="en-US" sz="1400" b="1" spc="-5" dirty="0">
                          <a:effectLst/>
                        </a:rPr>
                        <a:t>PCA-Na</a:t>
                      </a:r>
                      <a:r>
                        <a:rPr lang="zh-CN" sz="1400" b="1" spc="-5" dirty="0">
                          <a:effectLst/>
                        </a:rPr>
                        <a:t>、泛醇等</a:t>
                      </a:r>
                      <a:endParaRPr lang="en-US" sz="1400" b="1" dirty="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4095717162"/>
                  </a:ext>
                </a:extLst>
              </a:tr>
            </a:tbl>
          </a:graphicData>
        </a:graphic>
      </p:graphicFrame>
    </p:spTree>
    <p:extLst>
      <p:ext uri="{BB962C8B-B14F-4D97-AF65-F5344CB8AC3E}">
        <p14:creationId xmlns:p14="http://schemas.microsoft.com/office/powerpoint/2010/main" val="32281712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设计原理</a:t>
            </a: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a:t>
            </a: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油脂的选择</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836704" y="1620908"/>
            <a:ext cx="7461065" cy="279057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护发素主要是通过赋脂、阳离子等起到对头发的护理作用。而油脂中硅油的成膜性、顺滑性为最优，因此硅油是护发素的第一首选油脂。然后可以适当复配其他植物、动物来源的油脂，但以比较清爽型油脂为主。</a:t>
            </a:r>
          </a:p>
        </p:txBody>
      </p:sp>
    </p:spTree>
    <p:extLst>
      <p:ext uri="{BB962C8B-B14F-4D97-AF65-F5344CB8AC3E}">
        <p14:creationId xmlns:p14="http://schemas.microsoft.com/office/powerpoint/2010/main" val="5170894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原料选择</a:t>
            </a: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a:t>
            </a: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主要表明活性剂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346495"/>
            <a:ext cx="8778240" cy="460786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护发素中最常用的活性调理剂是季铵盐类阳离子表面活性剂</a:t>
            </a:r>
            <a:endParaRPr lang="en-US" altLang="zh-CN" sz="2400" dirty="0">
              <a:latin typeface="+mn-lt"/>
              <a:ea typeface="SimHei" panose="02010609060101010101" pitchFamily="49" charset="-122"/>
            </a:endParaRPr>
          </a:p>
          <a:p>
            <a:pPr marL="208915" marR="74295" indent="387350" algn="just" eaLnBrk="0">
              <a:lnSpc>
                <a:spcPct val="119000"/>
              </a:lnSpc>
              <a:spcBef>
                <a:spcPts val="500"/>
              </a:spcBef>
              <a:spcAft>
                <a:spcPts val="0"/>
              </a:spcAft>
            </a:pPr>
            <a:r>
              <a:rPr lang="zh-CN" sz="2400" b="1" spc="10"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季铵盐</a:t>
            </a:r>
            <a:r>
              <a:rPr lang="zh-CN" sz="2400" b="1" spc="10" dirty="0">
                <a:effectLst/>
                <a:latin typeface="KaiTi" panose="02010609060101010101" pitchFamily="49" charset="-122"/>
                <a:ea typeface="KaiTi" panose="02010609060101010101" pitchFamily="49" charset="-122"/>
                <a:cs typeface="SimSun" panose="02010600030101010101" pitchFamily="2" charset="-122"/>
              </a:rPr>
              <a:t>被用作护发素主要调理剂的原因首先是因为季铵盐含有带正</a:t>
            </a:r>
            <a:r>
              <a:rPr lang="zh-CN" sz="2400" b="1" spc="5" dirty="0">
                <a:effectLst/>
                <a:latin typeface="KaiTi" panose="02010609060101010101" pitchFamily="49" charset="-122"/>
                <a:ea typeface="KaiTi" panose="02010609060101010101" pitchFamily="49" charset="-122"/>
                <a:cs typeface="SimSun" panose="02010600030101010101" pitchFamily="2" charset="-122"/>
              </a:rPr>
              <a:t>电荷的氮原</a:t>
            </a:r>
            <a:r>
              <a:rPr lang="zh-CN" sz="2400" b="1" spc="35" dirty="0">
                <a:effectLst/>
                <a:latin typeface="KaiTi" panose="02010609060101010101" pitchFamily="49" charset="-122"/>
                <a:ea typeface="KaiTi" panose="02010609060101010101" pitchFamily="49" charset="-122"/>
                <a:cs typeface="SimSun" panose="02010600030101010101" pitchFamily="2" charset="-122"/>
              </a:rPr>
              <a:t>子，并有</a:t>
            </a:r>
            <a:r>
              <a:rPr lang="en-US" sz="2400" b="1" spc="35"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1~2</a:t>
            </a:r>
            <a:r>
              <a:rPr lang="zh-CN" sz="2400" b="1" spc="35"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个脂肪链</a:t>
            </a:r>
            <a:r>
              <a:rPr lang="zh-CN" sz="2400" b="1" spc="35" dirty="0">
                <a:effectLst/>
                <a:latin typeface="KaiTi" panose="02010609060101010101" pitchFamily="49" charset="-122"/>
                <a:ea typeface="KaiTi" panose="02010609060101010101" pitchFamily="49" charset="-122"/>
                <a:cs typeface="SimSun" panose="02010600030101010101" pitchFamily="2" charset="-122"/>
              </a:rPr>
              <a:t>包绕着它，这样的化学结构使它对毛发</a:t>
            </a:r>
            <a:r>
              <a:rPr lang="zh-CN" sz="2400" b="1" spc="30" dirty="0">
                <a:effectLst/>
                <a:latin typeface="KaiTi" panose="02010609060101010101" pitchFamily="49" charset="-122"/>
                <a:ea typeface="KaiTi" panose="02010609060101010101" pitchFamily="49" charset="-122"/>
                <a:cs typeface="SimSun" panose="02010600030101010101" pitchFamily="2" charset="-122"/>
              </a:rPr>
              <a:t>的亲和性较好，它能</a:t>
            </a:r>
            <a:r>
              <a:rPr lang="zh-CN" sz="2400" b="1" spc="-25"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吸附于毛杆</a:t>
            </a:r>
            <a:r>
              <a:rPr lang="zh-CN" sz="2400" b="1" spc="-25" dirty="0">
                <a:effectLst/>
                <a:latin typeface="KaiTi" panose="02010609060101010101" pitchFamily="49" charset="-122"/>
                <a:ea typeface="KaiTi" panose="02010609060101010101" pitchFamily="49" charset="-122"/>
                <a:cs typeface="SimSun" panose="02010600030101010101" pitchFamily="2" charset="-122"/>
              </a:rPr>
              <a:t>，</a:t>
            </a:r>
            <a:r>
              <a:rPr lang="zh-CN" sz="2400" b="1" spc="-25"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形成单分子吸附膜</a:t>
            </a:r>
            <a:r>
              <a:rPr lang="zh-CN" sz="2400" b="1" spc="-25" dirty="0">
                <a:effectLst/>
                <a:latin typeface="KaiTi" panose="02010609060101010101" pitchFamily="49" charset="-122"/>
                <a:ea typeface="KaiTi" panose="02010609060101010101" pitchFamily="49" charset="-122"/>
                <a:cs typeface="SimSun" panose="02010600030101010101" pitchFamily="2" charset="-122"/>
              </a:rPr>
              <a:t>，这种膜</a:t>
            </a:r>
            <a:r>
              <a:rPr lang="zh-CN" sz="2400" b="1" spc="-25"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赋予头发柔软</a:t>
            </a:r>
            <a:r>
              <a:rPr lang="zh-CN" sz="2400" b="1" spc="-30"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性及光泽，使头发有弹性，并</a:t>
            </a:r>
            <a:r>
              <a:rPr lang="zh-CN" sz="2400" b="1" spc="-25"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防止静电产生，梳理方便</a:t>
            </a:r>
            <a:r>
              <a:rPr lang="zh-CN" sz="2400" b="1" spc="-25" dirty="0">
                <a:effectLst/>
                <a:latin typeface="KaiTi" panose="02010609060101010101" pitchFamily="49" charset="-122"/>
                <a:ea typeface="KaiTi" panose="02010609060101010101" pitchFamily="49" charset="-122"/>
                <a:cs typeface="SimSun" panose="02010600030101010101" pitchFamily="2" charset="-122"/>
              </a:rPr>
              <a:t>，进而成为较理想的头发调理剂；其次，季铵盐已在化妆品和洗涤用品工业中广泛应用多年，积累了大量的数据和资料，已证实其有效性、稳定</a:t>
            </a:r>
            <a:r>
              <a:rPr lang="zh-CN" sz="2400" b="1" spc="-20" dirty="0">
                <a:effectLst/>
                <a:latin typeface="KaiTi" panose="02010609060101010101" pitchFamily="49" charset="-122"/>
                <a:ea typeface="KaiTi" panose="02010609060101010101" pitchFamily="49" charset="-122"/>
                <a:cs typeface="SimSun" panose="02010600030101010101" pitchFamily="2" charset="-122"/>
              </a:rPr>
              <a:t>性和安全性；此外，</a:t>
            </a:r>
            <a:r>
              <a:rPr lang="zh-CN" sz="2400" b="1" spc="-20"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季铵盐是当今性价比最好的调理剂</a:t>
            </a:r>
            <a:r>
              <a:rPr lang="zh-CN" sz="2400" b="1" spc="-20" dirty="0">
                <a:effectLst/>
                <a:latin typeface="KaiTi" panose="02010609060101010101" pitchFamily="49" charset="-122"/>
                <a:ea typeface="KaiTi" panose="02010609060101010101" pitchFamily="49" charset="-122"/>
                <a:cs typeface="SimSun" panose="02010600030101010101" pitchFamily="2" charset="-122"/>
              </a:rPr>
              <a:t>之一，季铵</a:t>
            </a:r>
            <a:r>
              <a:rPr lang="zh-CN" sz="2400" b="1" spc="-25" dirty="0">
                <a:effectLst/>
                <a:latin typeface="KaiTi" panose="02010609060101010101" pitchFamily="49" charset="-122"/>
                <a:ea typeface="KaiTi" panose="02010609060101010101" pitchFamily="49" charset="-122"/>
                <a:cs typeface="SimSun" panose="02010600030101010101" pitchFamily="2" charset="-122"/>
              </a:rPr>
              <a:t>盐品种的多样性，</a:t>
            </a:r>
            <a:r>
              <a:rPr lang="zh-CN" sz="2400" b="1" spc="-40" dirty="0">
                <a:effectLst/>
                <a:latin typeface="KaiTi" panose="02010609060101010101" pitchFamily="49" charset="-122"/>
                <a:ea typeface="KaiTi" panose="02010609060101010101" pitchFamily="49" charset="-122"/>
                <a:cs typeface="SimSun" panose="02010600030101010101" pitchFamily="2" charset="-122"/>
              </a:rPr>
              <a:t>可满足各种配方的需要。</a:t>
            </a:r>
            <a:endParaRPr lang="en-US" sz="2400" b="1" dirty="0">
              <a:effectLst/>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26604018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原料选择</a:t>
            </a: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a:t>
            </a: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主要表明活性剂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841467" y="1610113"/>
            <a:ext cx="7461065" cy="44525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a:latin typeface="KaiTi" panose="02010609060101010101" pitchFamily="49" charset="-122"/>
                <a:ea typeface="KaiTi" panose="02010609060101010101" pitchFamily="49" charset="-122"/>
              </a:rPr>
              <a:t>季铵盐所含烷基的链长直接影响阳离子调理剂在头发上的吸附性，三十六烷基甲基氯化铵不溶于水，但有很好的调理性能。长链的双烷基和三烷基季铵盐如果使用过量，会造成积聚或“过分调理”。然而，积聚是较容易克服的，如使用较低的浓度，也可与其他季铵盐配伍使用，在轻度或中等调理作用的配方中，用作辅助的调理剂。较长链的季铵盐在深度调理护发素的产品中使用最普遍。</a:t>
            </a:r>
          </a:p>
        </p:txBody>
      </p:sp>
    </p:spTree>
    <p:extLst>
      <p:ext uri="{BB962C8B-B14F-4D97-AF65-F5344CB8AC3E}">
        <p14:creationId xmlns:p14="http://schemas.microsoft.com/office/powerpoint/2010/main" val="12588365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原料选择</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06610" y="1597191"/>
            <a:ext cx="7461065" cy="223657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辅助表面活性剂：主要作用是乳化。主要选用一些 非离子型表面活性剂，如单硬脂酸甘油酯、失水山梨醇脂肪酸酯、聚氧乙烯脂肪醇</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羊毛醇或油醇等</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醚、聚氧乙烯失水山梨醇脂肪酸酯等。</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1107173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原料选择</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06610" y="1597191"/>
            <a:ext cx="7461065" cy="279057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阳离子聚合物：季铵化羟乙基纤维素</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如</a:t>
            </a:r>
            <a:r>
              <a:rPr lang="en-US" altLang="zh-CN" sz="2400" dirty="0">
                <a:latin typeface="+mn-lt"/>
                <a:ea typeface="SimHei" panose="02010609060101010101" pitchFamily="49" charset="-122"/>
              </a:rPr>
              <a:t>JR-400)</a:t>
            </a:r>
            <a:r>
              <a:rPr lang="zh-CN" altLang="en-US" sz="2400" dirty="0">
                <a:latin typeface="+mn-lt"/>
                <a:ea typeface="SimHei" panose="02010609060101010101" pitchFamily="49" charset="-122"/>
              </a:rPr>
              <a:t>、 季铵化羟丙基瓜尔胶</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如 </a:t>
            </a:r>
            <a:r>
              <a:rPr lang="en-US" altLang="zh-CN" sz="2400" dirty="0">
                <a:latin typeface="+mn-lt"/>
                <a:ea typeface="SimHei" panose="02010609060101010101" pitchFamily="49" charset="-122"/>
              </a:rPr>
              <a:t>Jaguar C-14S)</a:t>
            </a:r>
            <a:r>
              <a:rPr lang="zh-CN" altLang="en-US" sz="2400" dirty="0">
                <a:latin typeface="+mn-lt"/>
                <a:ea typeface="SimHei" panose="02010609060101010101" pitchFamily="49" charset="-122"/>
              </a:rPr>
              <a:t>、丙烯酰胺</a:t>
            </a:r>
            <a:r>
              <a:rPr lang="en-US" altLang="zh-CN" sz="2400" dirty="0">
                <a:latin typeface="+mn-lt"/>
                <a:ea typeface="SimHei" panose="02010609060101010101" pitchFamily="49" charset="-122"/>
              </a:rPr>
              <a:t>/N,N-</a:t>
            </a:r>
            <a:r>
              <a:rPr lang="zh-CN" altLang="en-US" sz="2400" dirty="0">
                <a:latin typeface="+mn-lt"/>
                <a:ea typeface="SimHei" panose="02010609060101010101" pitchFamily="49" charset="-122"/>
              </a:rPr>
              <a:t>二甲基</a:t>
            </a:r>
            <a:r>
              <a:rPr lang="en-US" altLang="zh-CN" sz="2400" dirty="0">
                <a:latin typeface="+mn-lt"/>
                <a:ea typeface="SimHei" panose="02010609060101010101" pitchFamily="49" charset="-122"/>
              </a:rPr>
              <a:t>-2-</a:t>
            </a:r>
            <a:r>
              <a:rPr lang="zh-CN" altLang="en-US" sz="2400" dirty="0">
                <a:latin typeface="+mn-lt"/>
                <a:ea typeface="SimHei" panose="02010609060101010101" pitchFamily="49" charset="-122"/>
              </a:rPr>
              <a:t>丙烯基</a:t>
            </a:r>
            <a:r>
              <a:rPr lang="en-US" altLang="zh-CN" sz="2400" dirty="0">
                <a:latin typeface="+mn-lt"/>
                <a:ea typeface="SimHei" panose="02010609060101010101" pitchFamily="49" charset="-122"/>
              </a:rPr>
              <a:t>-1-</a:t>
            </a:r>
            <a:r>
              <a:rPr lang="zh-CN" altLang="en-US" sz="2400" dirty="0">
                <a:latin typeface="+mn-lt"/>
                <a:ea typeface="SimHei" panose="02010609060101010101" pitchFamily="49" charset="-122"/>
              </a:rPr>
              <a:t>氯化铵</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聚季铵盐</a:t>
            </a:r>
            <a:r>
              <a:rPr lang="en-US" altLang="zh-CN" sz="2400" dirty="0">
                <a:latin typeface="+mn-lt"/>
                <a:ea typeface="SimHei" panose="02010609060101010101" pitchFamily="49" charset="-122"/>
              </a:rPr>
              <a:t>-7)</a:t>
            </a:r>
            <a:r>
              <a:rPr lang="zh-CN" altLang="en-US" sz="2400" dirty="0">
                <a:latin typeface="+mn-lt"/>
                <a:ea typeface="SimHei" panose="02010609060101010101" pitchFamily="49" charset="-122"/>
              </a:rPr>
              <a:t>等。所有用于洗发香波中的阴离子聚合物都可用于护发产品中。</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8850761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原料选择</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836704" y="1610332"/>
            <a:ext cx="7461065" cy="223657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赋脂剂：白油、植物油、羊毛脂、脂肪酸、高碳醇、硅油等油性原料，可补充洗发后头发上油脂的不足，起到护发、改善梳理性、柔润性和光泽性，并对产品起到增稠的作用。</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7827670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配方示例与工艺</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83410"/>
            <a:ext cx="7461065" cy="57458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透明护发素</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5245FFCB-7513-8E52-8D35-279B873D4D47}"/>
              </a:ext>
            </a:extLst>
          </p:cNvPr>
          <p:cNvGraphicFramePr>
            <a:graphicFrameLocks noGrp="1"/>
          </p:cNvGraphicFramePr>
          <p:nvPr>
            <p:extLst>
              <p:ext uri="{D42A27DB-BD31-4B8C-83A1-F6EECF244321}">
                <p14:modId xmlns:p14="http://schemas.microsoft.com/office/powerpoint/2010/main" val="1071071416"/>
              </p:ext>
            </p:extLst>
          </p:nvPr>
        </p:nvGraphicFramePr>
        <p:xfrm>
          <a:off x="182880" y="2085080"/>
          <a:ext cx="8778240" cy="2183344"/>
        </p:xfrm>
        <a:graphic>
          <a:graphicData uri="http://schemas.openxmlformats.org/drawingml/2006/table">
            <a:tbl>
              <a:tblPr firstRow="1" firstCol="1" bandRow="1">
                <a:tableStyleId>{21E4AEA4-8DFA-4A89-87EB-49C32662AFE0}</a:tableStyleId>
              </a:tblPr>
              <a:tblGrid>
                <a:gridCol w="676357">
                  <a:extLst>
                    <a:ext uri="{9D8B030D-6E8A-4147-A177-3AD203B41FA5}">
                      <a16:colId xmlns:a16="http://schemas.microsoft.com/office/drawing/2014/main" val="612659218"/>
                    </a:ext>
                  </a:extLst>
                </a:gridCol>
                <a:gridCol w="2273708">
                  <a:extLst>
                    <a:ext uri="{9D8B030D-6E8A-4147-A177-3AD203B41FA5}">
                      <a16:colId xmlns:a16="http://schemas.microsoft.com/office/drawing/2014/main" val="2091520522"/>
                    </a:ext>
                  </a:extLst>
                </a:gridCol>
                <a:gridCol w="1043315">
                  <a:extLst>
                    <a:ext uri="{9D8B030D-6E8A-4147-A177-3AD203B41FA5}">
                      <a16:colId xmlns:a16="http://schemas.microsoft.com/office/drawing/2014/main" val="2605247308"/>
                    </a:ext>
                  </a:extLst>
                </a:gridCol>
                <a:gridCol w="1841991">
                  <a:extLst>
                    <a:ext uri="{9D8B030D-6E8A-4147-A177-3AD203B41FA5}">
                      <a16:colId xmlns:a16="http://schemas.microsoft.com/office/drawing/2014/main" val="2816085536"/>
                    </a:ext>
                  </a:extLst>
                </a:gridCol>
                <a:gridCol w="1841991">
                  <a:extLst>
                    <a:ext uri="{9D8B030D-6E8A-4147-A177-3AD203B41FA5}">
                      <a16:colId xmlns:a16="http://schemas.microsoft.com/office/drawing/2014/main" val="1838431521"/>
                    </a:ext>
                  </a:extLst>
                </a:gridCol>
                <a:gridCol w="1100878">
                  <a:extLst>
                    <a:ext uri="{9D8B030D-6E8A-4147-A177-3AD203B41FA5}">
                      <a16:colId xmlns:a16="http://schemas.microsoft.com/office/drawing/2014/main" val="417406424"/>
                    </a:ext>
                  </a:extLst>
                </a:gridCol>
              </a:tblGrid>
              <a:tr h="367761">
                <a:tc>
                  <a:txBody>
                    <a:bodyPr/>
                    <a:lstStyle/>
                    <a:p>
                      <a:pPr marL="152400" marR="0" eaLnBrk="0">
                        <a:lnSpc>
                          <a:spcPct val="92000"/>
                        </a:lnSpc>
                        <a:spcBef>
                          <a:spcPts val="530"/>
                        </a:spcBef>
                        <a:spcAft>
                          <a:spcPts val="0"/>
                        </a:spcAft>
                      </a:pPr>
                      <a:r>
                        <a:rPr lang="zh-CN" sz="1600" b="1" spc="45">
                          <a:effectLst/>
                        </a:rPr>
                        <a:t>组相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720090" marR="0" eaLnBrk="0">
                        <a:lnSpc>
                          <a:spcPct val="91000"/>
                        </a:lnSpc>
                        <a:spcBef>
                          <a:spcPts val="520"/>
                        </a:spcBef>
                        <a:spcAft>
                          <a:spcPts val="0"/>
                        </a:spcAft>
                      </a:pPr>
                      <a:r>
                        <a:rPr lang="zh-CN" sz="1600" b="1" spc="10" dirty="0">
                          <a:effectLst/>
                        </a:rPr>
                        <a:t>原料名称</a:t>
                      </a:r>
                      <a:endParaRPr lang="en-US" sz="1600" b="1"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04140" marR="0" eaLnBrk="0">
                        <a:lnSpc>
                          <a:spcPct val="91000"/>
                        </a:lnSpc>
                        <a:spcBef>
                          <a:spcPts val="520"/>
                        </a:spcBef>
                        <a:spcAft>
                          <a:spcPts val="0"/>
                        </a:spcAft>
                      </a:pPr>
                      <a:r>
                        <a:rPr lang="zh-CN" sz="1600" b="1" spc="-10">
                          <a:effectLst/>
                        </a:rPr>
                        <a:t>质量分数</a:t>
                      </a:r>
                      <a:r>
                        <a:rPr lang="en-US" sz="1600" b="1" spc="-10">
                          <a:effectLst/>
                        </a:rPr>
                        <a:t>/%</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54940" marR="0" eaLnBrk="0">
                        <a:lnSpc>
                          <a:spcPct val="92000"/>
                        </a:lnSpc>
                        <a:spcBef>
                          <a:spcPts val="530"/>
                        </a:spcBef>
                        <a:spcAft>
                          <a:spcPts val="0"/>
                        </a:spcAft>
                      </a:pPr>
                      <a:r>
                        <a:rPr lang="zh-CN" sz="1600" b="1" spc="45">
                          <a:effectLst/>
                        </a:rPr>
                        <a:t>组相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542925" marR="0" eaLnBrk="0">
                        <a:lnSpc>
                          <a:spcPct val="91000"/>
                        </a:lnSpc>
                        <a:spcBef>
                          <a:spcPts val="520"/>
                        </a:spcBef>
                        <a:spcAft>
                          <a:spcPts val="0"/>
                        </a:spcAft>
                      </a:pPr>
                      <a:r>
                        <a:rPr lang="zh-CN" sz="1600" b="1" spc="10">
                          <a:effectLst/>
                        </a:rPr>
                        <a:t>原料名称</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29540" marR="0" eaLnBrk="0">
                        <a:lnSpc>
                          <a:spcPct val="91000"/>
                        </a:lnSpc>
                        <a:spcBef>
                          <a:spcPts val="520"/>
                        </a:spcBef>
                        <a:spcAft>
                          <a:spcPts val="0"/>
                        </a:spcAft>
                      </a:pPr>
                      <a:r>
                        <a:rPr lang="zh-CN" sz="1600" b="1" spc="-10">
                          <a:effectLst/>
                        </a:rPr>
                        <a:t>质量分数</a:t>
                      </a:r>
                      <a:r>
                        <a:rPr lang="en-US" sz="1600" b="1" spc="-10">
                          <a:effectLst/>
                        </a:rPr>
                        <a:t>/%</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739109555"/>
                  </a:ext>
                </a:extLst>
              </a:tr>
              <a:tr h="345499">
                <a:tc rowSpan="2">
                  <a:txBody>
                    <a:bodyPr/>
                    <a:lstStyle/>
                    <a:p>
                      <a:pPr marL="0" marR="0" eaLnBrk="0">
                        <a:lnSpc>
                          <a:spcPct val="174000"/>
                        </a:lnSpc>
                        <a:spcBef>
                          <a:spcPts val="0"/>
                        </a:spcBef>
                        <a:spcAft>
                          <a:spcPts val="0"/>
                        </a:spcAft>
                      </a:pPr>
                      <a:r>
                        <a:rPr lang="en-US" sz="1600" b="1">
                          <a:effectLst/>
                        </a:rPr>
                        <a:t> </a:t>
                      </a:r>
                    </a:p>
                    <a:p>
                      <a:pPr marL="183515" marR="0" eaLnBrk="0">
                        <a:lnSpc>
                          <a:spcPct val="92000"/>
                        </a:lnSpc>
                        <a:spcBef>
                          <a:spcPts val="360"/>
                        </a:spcBef>
                        <a:spcAft>
                          <a:spcPts val="0"/>
                        </a:spcAft>
                      </a:pPr>
                      <a:r>
                        <a:rPr lang="en-US" sz="1600" b="1" spc="-5">
                          <a:effectLst/>
                        </a:rPr>
                        <a:t>A</a:t>
                      </a:r>
                      <a:r>
                        <a:rPr lang="zh-CN" sz="1600" b="1" spc="-5">
                          <a:effectLst/>
                        </a:rPr>
                        <a:t>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111125" marR="0" eaLnBrk="0">
                        <a:lnSpc>
                          <a:spcPct val="91000"/>
                        </a:lnSpc>
                        <a:spcBef>
                          <a:spcPts val="405"/>
                        </a:spcBef>
                        <a:spcAft>
                          <a:spcPts val="0"/>
                        </a:spcAft>
                      </a:pPr>
                      <a:r>
                        <a:rPr lang="zh-CN" sz="1600" b="1" spc="10">
                          <a:effectLst/>
                        </a:rPr>
                        <a:t>去离子水</a:t>
                      </a:r>
                      <a:endParaRPr lang="en-US" sz="1600" b="1">
                        <a:effectLst/>
                      </a:endParaRPr>
                    </a:p>
                    <a:p>
                      <a:pPr marL="111125" marR="0" eaLnBrk="0">
                        <a:lnSpc>
                          <a:spcPts val="2005"/>
                        </a:lnSpc>
                        <a:spcBef>
                          <a:spcPts val="745"/>
                        </a:spcBef>
                        <a:spcAft>
                          <a:spcPts val="0"/>
                        </a:spcAft>
                      </a:pPr>
                      <a:r>
                        <a:rPr lang="zh-CN" sz="1600" b="1" spc="15">
                          <a:effectLst/>
                        </a:rPr>
                        <a:t>十六烷基三甲基氯化铵</a:t>
                      </a:r>
                      <a:r>
                        <a:rPr lang="en-US" sz="1600" b="1" spc="15">
                          <a:effectLst/>
                        </a:rPr>
                        <a:t>(1631)</a:t>
                      </a:r>
                      <a:endParaRPr lang="en-US" sz="1600" b="1">
                        <a:effectLst/>
                      </a:endParaRPr>
                    </a:p>
                    <a:p>
                      <a:pPr marL="111125" marR="0" eaLnBrk="0">
                        <a:lnSpc>
                          <a:spcPct val="91000"/>
                        </a:lnSpc>
                        <a:spcBef>
                          <a:spcPts val="0"/>
                        </a:spcBef>
                        <a:spcAft>
                          <a:spcPts val="0"/>
                        </a:spcAft>
                      </a:pPr>
                      <a:r>
                        <a:rPr lang="en-US" sz="1600" b="1">
                          <a:effectLst/>
                        </a:rPr>
                        <a:t>PEG</a:t>
                      </a:r>
                      <a:r>
                        <a:rPr lang="en-US" sz="1600" b="1" spc="10">
                          <a:effectLst/>
                        </a:rPr>
                        <a:t>-40</a:t>
                      </a:r>
                      <a:r>
                        <a:rPr lang="zh-CN" sz="1600" b="1" spc="10">
                          <a:effectLst/>
                        </a:rPr>
                        <a:t>氢化蓖麻油</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212090" marR="0" eaLnBrk="0">
                        <a:lnSpc>
                          <a:spcPts val="2360"/>
                        </a:lnSpc>
                        <a:spcBef>
                          <a:spcPts val="425"/>
                        </a:spcBef>
                        <a:spcAft>
                          <a:spcPts val="0"/>
                        </a:spcAft>
                      </a:pPr>
                      <a:r>
                        <a:rPr lang="zh-CN" sz="1600" b="1" spc="-10" dirty="0">
                          <a:effectLst/>
                        </a:rPr>
                        <a:t>加至</a:t>
                      </a:r>
                      <a:r>
                        <a:rPr lang="en-US" sz="1600" b="1" spc="-10" dirty="0">
                          <a:effectLst/>
                        </a:rPr>
                        <a:t>100</a:t>
                      </a:r>
                      <a:endParaRPr lang="en-US" sz="1600" b="1" dirty="0">
                        <a:effectLst/>
                      </a:endParaRPr>
                    </a:p>
                    <a:p>
                      <a:pPr marL="352425" marR="0" eaLnBrk="0">
                        <a:lnSpc>
                          <a:spcPct val="76000"/>
                        </a:lnSpc>
                        <a:spcBef>
                          <a:spcPts val="0"/>
                        </a:spcBef>
                        <a:spcAft>
                          <a:spcPts val="0"/>
                        </a:spcAft>
                      </a:pPr>
                      <a:endParaRPr lang="en-US" sz="1600" b="1" spc="-15" dirty="0">
                        <a:effectLst/>
                      </a:endParaRPr>
                    </a:p>
                    <a:p>
                      <a:pPr marL="352425" marR="0" eaLnBrk="0">
                        <a:lnSpc>
                          <a:spcPct val="76000"/>
                        </a:lnSpc>
                        <a:spcBef>
                          <a:spcPts val="0"/>
                        </a:spcBef>
                        <a:spcAft>
                          <a:spcPts val="0"/>
                        </a:spcAft>
                      </a:pPr>
                      <a:r>
                        <a:rPr lang="en-US" sz="1600" b="1" spc="-15" dirty="0">
                          <a:effectLst/>
                        </a:rPr>
                        <a:t>3.0</a:t>
                      </a:r>
                      <a:endParaRPr lang="en-US" sz="1600" b="1" dirty="0">
                        <a:effectLst/>
                      </a:endParaRPr>
                    </a:p>
                    <a:p>
                      <a:pPr marL="352425" marR="0" eaLnBrk="0">
                        <a:lnSpc>
                          <a:spcPct val="76000"/>
                        </a:lnSpc>
                        <a:spcBef>
                          <a:spcPts val="855"/>
                        </a:spcBef>
                        <a:spcAft>
                          <a:spcPts val="0"/>
                        </a:spcAft>
                      </a:pPr>
                      <a:r>
                        <a:rPr lang="en-US" sz="1600" b="1" spc="-15" dirty="0">
                          <a:effectLst/>
                        </a:rPr>
                        <a:t>0.5</a:t>
                      </a:r>
                      <a:endParaRPr lang="en-US" sz="1600" b="1"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87325" marR="0" eaLnBrk="0">
                        <a:lnSpc>
                          <a:spcPct val="92000"/>
                        </a:lnSpc>
                        <a:spcBef>
                          <a:spcPts val="470"/>
                        </a:spcBef>
                        <a:spcAft>
                          <a:spcPts val="0"/>
                        </a:spcAft>
                      </a:pPr>
                      <a:r>
                        <a:rPr lang="en-US" sz="1600" b="1" spc="45">
                          <a:effectLst/>
                        </a:rPr>
                        <a:t>B</a:t>
                      </a:r>
                      <a:r>
                        <a:rPr lang="zh-CN" sz="1600" b="1" spc="45">
                          <a:effectLst/>
                        </a:rPr>
                        <a:t>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8425" marR="0" eaLnBrk="0">
                        <a:lnSpc>
                          <a:spcPct val="91000"/>
                        </a:lnSpc>
                        <a:spcBef>
                          <a:spcPts val="445"/>
                        </a:spcBef>
                        <a:spcAft>
                          <a:spcPts val="0"/>
                        </a:spcAft>
                      </a:pPr>
                      <a:r>
                        <a:rPr lang="zh-CN" sz="1600" b="1" spc="25">
                          <a:effectLst/>
                        </a:rPr>
                        <a:t>香精</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39090" marR="0" eaLnBrk="0">
                        <a:lnSpc>
                          <a:spcPct val="93000"/>
                        </a:lnSpc>
                        <a:spcBef>
                          <a:spcPts val="485"/>
                        </a:spcBef>
                        <a:spcAft>
                          <a:spcPts val="0"/>
                        </a:spcAft>
                      </a:pPr>
                      <a:r>
                        <a:rPr lang="zh-CN" sz="1600" b="1" spc="-15">
                          <a:effectLst/>
                        </a:rPr>
                        <a:t>适量</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104057067"/>
                  </a:ext>
                </a:extLst>
              </a:tr>
              <a:tr h="1036141">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marL="0" marR="0" eaLnBrk="0">
                        <a:lnSpc>
                          <a:spcPct val="175000"/>
                        </a:lnSpc>
                        <a:spcBef>
                          <a:spcPts val="0"/>
                        </a:spcBef>
                        <a:spcAft>
                          <a:spcPts val="0"/>
                        </a:spcAft>
                      </a:pPr>
                      <a:r>
                        <a:rPr lang="en-US" sz="1600" b="1">
                          <a:effectLst/>
                        </a:rPr>
                        <a:t> </a:t>
                      </a:r>
                    </a:p>
                    <a:p>
                      <a:pPr marL="187325" marR="0" eaLnBrk="0">
                        <a:lnSpc>
                          <a:spcPct val="92000"/>
                        </a:lnSpc>
                        <a:spcBef>
                          <a:spcPts val="360"/>
                        </a:spcBef>
                        <a:spcAft>
                          <a:spcPts val="0"/>
                        </a:spcAft>
                      </a:pPr>
                      <a:r>
                        <a:rPr lang="en-US" sz="1600" b="1" spc="45">
                          <a:effectLst/>
                        </a:rPr>
                        <a:t>C</a:t>
                      </a:r>
                      <a:r>
                        <a:rPr lang="zh-CN" sz="1600" b="1" spc="45">
                          <a:effectLst/>
                        </a:rPr>
                        <a:t>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98425" marR="0" eaLnBrk="0">
                        <a:lnSpc>
                          <a:spcPts val="2090"/>
                        </a:lnSpc>
                        <a:spcBef>
                          <a:spcPts val="415"/>
                        </a:spcBef>
                        <a:spcAft>
                          <a:spcPts val="0"/>
                        </a:spcAft>
                      </a:pPr>
                      <a:r>
                        <a:rPr lang="zh-CN" sz="1600" b="1" spc="15">
                          <a:effectLst/>
                        </a:rPr>
                        <a:t>丙二醇</a:t>
                      </a:r>
                      <a:endParaRPr lang="en-US" sz="1600" b="1">
                        <a:effectLst/>
                      </a:endParaRPr>
                    </a:p>
                    <a:p>
                      <a:pPr marL="98425" marR="0" eaLnBrk="0">
                        <a:lnSpc>
                          <a:spcPct val="94000"/>
                        </a:lnSpc>
                        <a:spcBef>
                          <a:spcPts val="0"/>
                        </a:spcBef>
                        <a:spcAft>
                          <a:spcPts val="0"/>
                        </a:spcAft>
                      </a:pPr>
                      <a:r>
                        <a:rPr lang="zh-CN" sz="1600" b="1" spc="10">
                          <a:effectLst/>
                        </a:rPr>
                        <a:t>吐温</a:t>
                      </a:r>
                      <a:r>
                        <a:rPr lang="en-US" sz="1600" b="1" spc="10">
                          <a:effectLst/>
                        </a:rPr>
                        <a:t>20</a:t>
                      </a:r>
                      <a:endParaRPr lang="en-US" sz="1600" b="1">
                        <a:effectLst/>
                      </a:endParaRPr>
                    </a:p>
                    <a:p>
                      <a:pPr marL="98425" marR="0" eaLnBrk="0">
                        <a:lnSpc>
                          <a:spcPct val="91000"/>
                        </a:lnSpc>
                        <a:spcBef>
                          <a:spcPts val="550"/>
                        </a:spcBef>
                        <a:spcAft>
                          <a:spcPts val="0"/>
                        </a:spcAft>
                      </a:pPr>
                      <a:r>
                        <a:rPr lang="zh-CN" sz="1600" b="1" spc="20">
                          <a:effectLst/>
                        </a:rPr>
                        <a:t>防腐剂</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377825" marR="0" eaLnBrk="0">
                        <a:lnSpc>
                          <a:spcPts val="1995"/>
                        </a:lnSpc>
                        <a:spcBef>
                          <a:spcPts val="745"/>
                        </a:spcBef>
                        <a:spcAft>
                          <a:spcPts val="0"/>
                        </a:spcAft>
                      </a:pPr>
                      <a:r>
                        <a:rPr lang="en-US" sz="1600" b="1" spc="-15">
                          <a:effectLst/>
                        </a:rPr>
                        <a:t>8.0</a:t>
                      </a:r>
                      <a:endParaRPr lang="en-US" sz="1600" b="1">
                        <a:effectLst/>
                      </a:endParaRPr>
                    </a:p>
                    <a:p>
                      <a:pPr marL="377825" marR="0" eaLnBrk="0">
                        <a:lnSpc>
                          <a:spcPct val="76000"/>
                        </a:lnSpc>
                        <a:spcBef>
                          <a:spcPts val="0"/>
                        </a:spcBef>
                        <a:spcAft>
                          <a:spcPts val="0"/>
                        </a:spcAft>
                      </a:pPr>
                      <a:r>
                        <a:rPr lang="en-US" sz="1600" b="1" spc="-30">
                          <a:effectLst/>
                        </a:rPr>
                        <a:t>1.0</a:t>
                      </a:r>
                      <a:endParaRPr lang="en-US" sz="1600" b="1">
                        <a:effectLst/>
                      </a:endParaRPr>
                    </a:p>
                    <a:p>
                      <a:pPr marL="339090" marR="0" eaLnBrk="0">
                        <a:lnSpc>
                          <a:spcPct val="93000"/>
                        </a:lnSpc>
                        <a:spcBef>
                          <a:spcPts val="610"/>
                        </a:spcBef>
                        <a:spcAft>
                          <a:spcPts val="0"/>
                        </a:spcAft>
                      </a:pPr>
                      <a:r>
                        <a:rPr lang="zh-CN" sz="1600" b="1" spc="-15">
                          <a:effectLst/>
                        </a:rPr>
                        <a:t>适量</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713576597"/>
                  </a:ext>
                </a:extLst>
              </a:tr>
              <a:tr h="357966">
                <a:tc>
                  <a:txBody>
                    <a:bodyPr/>
                    <a:lstStyle/>
                    <a:p>
                      <a:pPr marL="183515" marR="0" eaLnBrk="0">
                        <a:lnSpc>
                          <a:spcPct val="92000"/>
                        </a:lnSpc>
                        <a:spcBef>
                          <a:spcPts val="495"/>
                        </a:spcBef>
                        <a:spcAft>
                          <a:spcPts val="0"/>
                        </a:spcAft>
                      </a:pPr>
                      <a:r>
                        <a:rPr lang="en-US" sz="1600" b="1" spc="45">
                          <a:effectLst/>
                        </a:rPr>
                        <a:t>B</a:t>
                      </a:r>
                      <a:r>
                        <a:rPr lang="zh-CN" sz="1600" b="1" spc="45">
                          <a:effectLst/>
                        </a:rPr>
                        <a:t>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1125" marR="0" eaLnBrk="0">
                        <a:lnSpc>
                          <a:spcPct val="91000"/>
                        </a:lnSpc>
                        <a:spcBef>
                          <a:spcPts val="485"/>
                        </a:spcBef>
                        <a:spcAft>
                          <a:spcPts val="0"/>
                        </a:spcAft>
                      </a:pPr>
                      <a:r>
                        <a:rPr lang="zh-CN" sz="1600" b="1" spc="20">
                          <a:effectLst/>
                        </a:rPr>
                        <a:t>乙醇</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13690" marR="0" eaLnBrk="0">
                        <a:lnSpc>
                          <a:spcPct val="76000"/>
                        </a:lnSpc>
                        <a:spcBef>
                          <a:spcPts val="760"/>
                        </a:spcBef>
                        <a:spcAft>
                          <a:spcPts val="0"/>
                        </a:spcAft>
                      </a:pPr>
                      <a:r>
                        <a:rPr lang="en-US" sz="1600" b="1" spc="-25" dirty="0">
                          <a:effectLst/>
                        </a:rPr>
                        <a:t>12.0</a:t>
                      </a:r>
                      <a:endParaRPr lang="en-US" sz="1600" b="1" dirty="0">
                        <a:solidFill>
                          <a:srgbClr val="000000"/>
                        </a:solidFill>
                        <a:effectLst/>
                        <a:latin typeface="Arial" panose="020B0604020202020204" pitchFamily="34" charset="0"/>
                        <a:ea typeface="Arial" panose="020B0604020202020204" pitchFamily="34" charset="0"/>
                      </a:endParaRPr>
                    </a:p>
                  </a:txBody>
                  <a:tcPr marL="0" marR="0" marT="0" marB="0"/>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396293254"/>
                  </a:ext>
                </a:extLst>
              </a:tr>
            </a:tbl>
          </a:graphicData>
        </a:graphic>
      </p:graphicFrame>
      <p:sp>
        <p:nvSpPr>
          <p:cNvPr id="8" name="文本框 7">
            <a:extLst>
              <a:ext uri="{FF2B5EF4-FFF2-40B4-BE49-F238E27FC236}">
                <a16:creationId xmlns:a16="http://schemas.microsoft.com/office/drawing/2014/main" id="{BC81A2E5-4D2F-0C34-7DD5-2600C95E6A08}"/>
              </a:ext>
            </a:extLst>
          </p:cNvPr>
          <p:cNvSpPr txBox="1"/>
          <p:nvPr/>
        </p:nvSpPr>
        <p:spPr>
          <a:xfrm>
            <a:off x="182880" y="4467341"/>
            <a:ext cx="8778240" cy="1935915"/>
          </a:xfrm>
          <a:prstGeom prst="rect">
            <a:avLst/>
          </a:prstGeom>
          <a:noFill/>
        </p:spPr>
        <p:txBody>
          <a:bodyPr wrap="square">
            <a:spAutoFit/>
          </a:bodyPr>
          <a:lstStyle/>
          <a:p>
            <a:pPr marL="577215" marR="0" eaLnBrk="0">
              <a:lnSpc>
                <a:spcPct val="90000"/>
              </a:lnSpc>
              <a:spcBef>
                <a:spcPts val="560"/>
              </a:spcBef>
              <a:spcAft>
                <a:spcPts val="0"/>
              </a:spcAft>
            </a:pPr>
            <a:r>
              <a:rPr lang="en-US" sz="2400" b="1" spc="2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①</a:t>
            </a:r>
            <a:r>
              <a:rPr lang="en-US" sz="2400" b="1" spc="4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 </a:t>
            </a:r>
            <a:r>
              <a:rPr lang="zh-CN" sz="2400" b="1" spc="2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准确称取去离子水，加入到主容器中；</a:t>
            </a:r>
            <a:endParaRPr lang="en-US" sz="2400" b="1" dirty="0">
              <a:solidFill>
                <a:srgbClr val="000000"/>
              </a:solidFill>
              <a:effectLst/>
              <a:latin typeface="KaiTi" panose="02010609060101010101" pitchFamily="49" charset="-122"/>
              <a:ea typeface="KaiTi" panose="02010609060101010101" pitchFamily="49" charset="-122"/>
            </a:endParaRPr>
          </a:p>
          <a:p>
            <a:pPr marL="577215" marR="0" eaLnBrk="0">
              <a:lnSpc>
                <a:spcPts val="2315"/>
              </a:lnSpc>
              <a:spcBef>
                <a:spcPts val="650"/>
              </a:spcBef>
              <a:spcAft>
                <a:spcPts val="0"/>
              </a:spcAft>
            </a:pPr>
            <a:r>
              <a:rPr lang="en-US" sz="2400" b="1" spc="8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②</a:t>
            </a:r>
            <a:r>
              <a:rPr lang="en-US" sz="2400" b="1" spc="-1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 </a:t>
            </a:r>
            <a:r>
              <a:rPr lang="zh-CN" sz="2400" b="1" spc="8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将阳离子表面活性剂十六烷基三甲基氯化铵</a:t>
            </a:r>
            <a:r>
              <a:rPr lang="en-US" sz="2400" b="1" spc="8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(1631)</a:t>
            </a:r>
            <a:r>
              <a:rPr lang="zh-CN" sz="2400" b="1" spc="8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加入去离子水</a:t>
            </a:r>
            <a:r>
              <a:rPr lang="zh-CN" sz="2400" b="1" spc="7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中，搅拌</a:t>
            </a:r>
            <a:r>
              <a:rPr lang="zh-CN" sz="2400" b="1"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至完全溶解；</a:t>
            </a:r>
            <a:endParaRPr lang="en-US" sz="2400" b="1" dirty="0">
              <a:solidFill>
                <a:srgbClr val="000000"/>
              </a:solidFill>
              <a:effectLst/>
              <a:latin typeface="KaiTi" panose="02010609060101010101" pitchFamily="49" charset="-122"/>
              <a:ea typeface="KaiTi" panose="02010609060101010101" pitchFamily="49" charset="-122"/>
            </a:endParaRPr>
          </a:p>
          <a:p>
            <a:pPr marL="577215" marR="0" eaLnBrk="0">
              <a:lnSpc>
                <a:spcPct val="90000"/>
              </a:lnSpc>
              <a:spcBef>
                <a:spcPts val="620"/>
              </a:spcBef>
              <a:spcAft>
                <a:spcPts val="0"/>
              </a:spcAft>
            </a:pPr>
            <a:r>
              <a:rPr lang="en-US" sz="2400" b="1" spc="2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③</a:t>
            </a:r>
            <a:r>
              <a:rPr lang="en-US" sz="2400" b="1" spc="9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 </a:t>
            </a:r>
            <a:r>
              <a:rPr lang="zh-CN" sz="2400" b="1" spc="2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再将已溶解好香精、色素的乙醇溶液加入其中；</a:t>
            </a:r>
            <a:endParaRPr lang="en-US" sz="2400" b="1" dirty="0">
              <a:solidFill>
                <a:srgbClr val="000000"/>
              </a:solidFill>
              <a:effectLst/>
              <a:latin typeface="KaiTi" panose="02010609060101010101" pitchFamily="49" charset="-122"/>
              <a:ea typeface="KaiTi" panose="02010609060101010101" pitchFamily="49" charset="-122"/>
            </a:endParaRPr>
          </a:p>
          <a:p>
            <a:pPr marL="577215" marR="0" eaLnBrk="0">
              <a:lnSpc>
                <a:spcPct val="90000"/>
              </a:lnSpc>
              <a:spcBef>
                <a:spcPts val="655"/>
              </a:spcBef>
              <a:spcAft>
                <a:spcPts val="0"/>
              </a:spcAft>
            </a:pPr>
            <a:r>
              <a:rPr lang="en-US" sz="2400" b="1" spc="2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④</a:t>
            </a:r>
            <a:r>
              <a:rPr lang="en-US" sz="2400" b="1" spc="17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 </a:t>
            </a:r>
            <a:r>
              <a:rPr lang="zh-CN" sz="2400" b="1" spc="2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在搅拌下加入其他原料，混合均匀即可。</a:t>
            </a:r>
            <a:endParaRPr lang="en-US" sz="2400" b="1" dirty="0">
              <a:solidFill>
                <a:srgbClr val="000000"/>
              </a:solidFill>
              <a:effectLst/>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0037274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配方示例与工艺</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65614"/>
            <a:ext cx="7461065" cy="57458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乳化型护发素</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3F2D85AB-22B7-FDE8-7ABD-B3EC017BDE7E}"/>
              </a:ext>
            </a:extLst>
          </p:cNvPr>
          <p:cNvGraphicFramePr>
            <a:graphicFrameLocks noGrp="1"/>
          </p:cNvGraphicFramePr>
          <p:nvPr>
            <p:extLst>
              <p:ext uri="{D42A27DB-BD31-4B8C-83A1-F6EECF244321}">
                <p14:modId xmlns:p14="http://schemas.microsoft.com/office/powerpoint/2010/main" val="750912680"/>
              </p:ext>
            </p:extLst>
          </p:nvPr>
        </p:nvGraphicFramePr>
        <p:xfrm>
          <a:off x="182880" y="1896088"/>
          <a:ext cx="8778241" cy="1968119"/>
        </p:xfrm>
        <a:graphic>
          <a:graphicData uri="http://schemas.openxmlformats.org/drawingml/2006/table">
            <a:tbl>
              <a:tblPr firstRow="1" firstCol="1" bandRow="1">
                <a:tableStyleId>{21E4AEA4-8DFA-4A89-87EB-49C32662AFE0}</a:tableStyleId>
              </a:tblPr>
              <a:tblGrid>
                <a:gridCol w="803450">
                  <a:extLst>
                    <a:ext uri="{9D8B030D-6E8A-4147-A177-3AD203B41FA5}">
                      <a16:colId xmlns:a16="http://schemas.microsoft.com/office/drawing/2014/main" val="1688908935"/>
                    </a:ext>
                  </a:extLst>
                </a:gridCol>
                <a:gridCol w="2108135">
                  <a:extLst>
                    <a:ext uri="{9D8B030D-6E8A-4147-A177-3AD203B41FA5}">
                      <a16:colId xmlns:a16="http://schemas.microsoft.com/office/drawing/2014/main" val="3633192537"/>
                    </a:ext>
                  </a:extLst>
                </a:gridCol>
                <a:gridCol w="1186009">
                  <a:extLst>
                    <a:ext uri="{9D8B030D-6E8A-4147-A177-3AD203B41FA5}">
                      <a16:colId xmlns:a16="http://schemas.microsoft.com/office/drawing/2014/main" val="3767454288"/>
                    </a:ext>
                  </a:extLst>
                </a:gridCol>
                <a:gridCol w="1783806">
                  <a:extLst>
                    <a:ext uri="{9D8B030D-6E8A-4147-A177-3AD203B41FA5}">
                      <a16:colId xmlns:a16="http://schemas.microsoft.com/office/drawing/2014/main" val="237055708"/>
                    </a:ext>
                  </a:extLst>
                </a:gridCol>
                <a:gridCol w="1783806">
                  <a:extLst>
                    <a:ext uri="{9D8B030D-6E8A-4147-A177-3AD203B41FA5}">
                      <a16:colId xmlns:a16="http://schemas.microsoft.com/office/drawing/2014/main" val="1400936208"/>
                    </a:ext>
                  </a:extLst>
                </a:gridCol>
                <a:gridCol w="1113035">
                  <a:extLst>
                    <a:ext uri="{9D8B030D-6E8A-4147-A177-3AD203B41FA5}">
                      <a16:colId xmlns:a16="http://schemas.microsoft.com/office/drawing/2014/main" val="1346447953"/>
                    </a:ext>
                  </a:extLst>
                </a:gridCol>
              </a:tblGrid>
              <a:tr h="243205">
                <a:tc>
                  <a:txBody>
                    <a:bodyPr/>
                    <a:lstStyle/>
                    <a:p>
                      <a:pPr marL="203200" marR="0" eaLnBrk="0">
                        <a:lnSpc>
                          <a:spcPct val="92000"/>
                        </a:lnSpc>
                        <a:spcBef>
                          <a:spcPts val="435"/>
                        </a:spcBef>
                        <a:spcAft>
                          <a:spcPts val="0"/>
                        </a:spcAft>
                      </a:pPr>
                      <a:r>
                        <a:rPr lang="zh-CN" sz="1600" b="1" spc="40">
                          <a:effectLst/>
                        </a:rPr>
                        <a:t>组相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625475" marR="0" eaLnBrk="0">
                        <a:lnSpc>
                          <a:spcPct val="91000"/>
                        </a:lnSpc>
                        <a:spcBef>
                          <a:spcPts val="420"/>
                        </a:spcBef>
                        <a:spcAft>
                          <a:spcPts val="0"/>
                        </a:spcAft>
                      </a:pPr>
                      <a:r>
                        <a:rPr lang="zh-CN" sz="1600" b="1" spc="10">
                          <a:effectLst/>
                        </a:rPr>
                        <a:t>原料名称</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54940" marR="0" eaLnBrk="0">
                        <a:lnSpc>
                          <a:spcPct val="91000"/>
                        </a:lnSpc>
                        <a:spcBef>
                          <a:spcPts val="420"/>
                        </a:spcBef>
                        <a:spcAft>
                          <a:spcPts val="0"/>
                        </a:spcAft>
                      </a:pPr>
                      <a:r>
                        <a:rPr lang="zh-CN" sz="1600" b="1" spc="-10">
                          <a:effectLst/>
                        </a:rPr>
                        <a:t>质量分数</a:t>
                      </a:r>
                      <a:r>
                        <a:rPr lang="en-US" sz="1600" b="1" spc="-10">
                          <a:effectLst/>
                        </a:rPr>
                        <a:t>/%</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00660" marR="0" eaLnBrk="0">
                        <a:lnSpc>
                          <a:spcPct val="92000"/>
                        </a:lnSpc>
                        <a:spcBef>
                          <a:spcPts val="435"/>
                        </a:spcBef>
                        <a:spcAft>
                          <a:spcPts val="0"/>
                        </a:spcAft>
                      </a:pPr>
                      <a:r>
                        <a:rPr lang="zh-CN" sz="1600" b="1" spc="45">
                          <a:effectLst/>
                        </a:rPr>
                        <a:t>组相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499110" marR="0" eaLnBrk="0">
                        <a:lnSpc>
                          <a:spcPct val="91000"/>
                        </a:lnSpc>
                        <a:spcBef>
                          <a:spcPts val="420"/>
                        </a:spcBef>
                        <a:spcAft>
                          <a:spcPts val="0"/>
                        </a:spcAft>
                      </a:pPr>
                      <a:r>
                        <a:rPr lang="zh-CN" sz="1600" b="1" spc="10">
                          <a:effectLst/>
                        </a:rPr>
                        <a:t>原料名称</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24460" marR="0" eaLnBrk="0">
                        <a:lnSpc>
                          <a:spcPct val="91000"/>
                        </a:lnSpc>
                        <a:spcBef>
                          <a:spcPts val="420"/>
                        </a:spcBef>
                        <a:spcAft>
                          <a:spcPts val="0"/>
                        </a:spcAft>
                      </a:pPr>
                      <a:r>
                        <a:rPr lang="zh-CN" sz="1600" b="1" spc="-10">
                          <a:effectLst/>
                        </a:rPr>
                        <a:t>质量分数</a:t>
                      </a:r>
                      <a:r>
                        <a:rPr lang="en-US" sz="1600" b="1" spc="-10">
                          <a:effectLst/>
                        </a:rPr>
                        <a:t>/%</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642908356"/>
                  </a:ext>
                </a:extLst>
              </a:tr>
              <a:tr h="467995">
                <a:tc rowSpan="2">
                  <a:txBody>
                    <a:bodyPr/>
                    <a:lstStyle/>
                    <a:p>
                      <a:pPr marL="0" marR="0" eaLnBrk="0">
                        <a:lnSpc>
                          <a:spcPct val="116000"/>
                        </a:lnSpc>
                        <a:spcBef>
                          <a:spcPts val="0"/>
                        </a:spcBef>
                        <a:spcAft>
                          <a:spcPts val="0"/>
                        </a:spcAft>
                      </a:pPr>
                      <a:r>
                        <a:rPr lang="en-US" sz="1600" b="1">
                          <a:effectLst/>
                        </a:rPr>
                        <a:t> </a:t>
                      </a:r>
                    </a:p>
                    <a:p>
                      <a:pPr marL="0" marR="0" eaLnBrk="0">
                        <a:lnSpc>
                          <a:spcPct val="116000"/>
                        </a:lnSpc>
                        <a:spcBef>
                          <a:spcPts val="0"/>
                        </a:spcBef>
                        <a:spcAft>
                          <a:spcPts val="0"/>
                        </a:spcAft>
                      </a:pPr>
                      <a:r>
                        <a:rPr lang="en-US" sz="1600" b="1">
                          <a:effectLst/>
                        </a:rPr>
                        <a:t> </a:t>
                      </a:r>
                    </a:p>
                    <a:p>
                      <a:pPr marL="234950" marR="0" eaLnBrk="0">
                        <a:lnSpc>
                          <a:spcPct val="92000"/>
                        </a:lnSpc>
                        <a:spcBef>
                          <a:spcPts val="355"/>
                        </a:spcBef>
                        <a:spcAft>
                          <a:spcPts val="0"/>
                        </a:spcAft>
                      </a:pPr>
                      <a:r>
                        <a:rPr lang="en-US" sz="1600" b="1" spc="-5">
                          <a:effectLst/>
                        </a:rPr>
                        <a:t>A</a:t>
                      </a:r>
                      <a:r>
                        <a:rPr lang="zh-CN" sz="1600" b="1" spc="-5">
                          <a:effectLst/>
                        </a:rPr>
                        <a:t>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98425" marR="0" eaLnBrk="0">
                        <a:lnSpc>
                          <a:spcPts val="2005"/>
                        </a:lnSpc>
                        <a:spcBef>
                          <a:spcPts val="200"/>
                        </a:spcBef>
                        <a:spcAft>
                          <a:spcPts val="0"/>
                        </a:spcAft>
                      </a:pPr>
                      <a:r>
                        <a:rPr lang="zh-CN" sz="1600" b="1" spc="10">
                          <a:effectLst/>
                        </a:rPr>
                        <a:t>去离子水</a:t>
                      </a:r>
                      <a:endParaRPr lang="en-US" sz="1600" b="1">
                        <a:effectLst/>
                      </a:endParaRPr>
                    </a:p>
                    <a:p>
                      <a:pPr marL="98425" marR="0" eaLnBrk="0">
                        <a:lnSpc>
                          <a:spcPct val="91000"/>
                        </a:lnSpc>
                        <a:spcBef>
                          <a:spcPts val="0"/>
                        </a:spcBef>
                        <a:spcAft>
                          <a:spcPts val="0"/>
                        </a:spcAft>
                      </a:pPr>
                      <a:r>
                        <a:rPr lang="zh-CN" sz="1600" b="1" spc="55">
                          <a:effectLst/>
                        </a:rPr>
                        <a:t>甘油</a:t>
                      </a:r>
                      <a:endParaRPr lang="en-US" sz="1600" b="1">
                        <a:effectLst/>
                      </a:endParaRPr>
                    </a:p>
                    <a:p>
                      <a:pPr marL="98425" marR="0" eaLnBrk="0">
                        <a:lnSpc>
                          <a:spcPct val="91000"/>
                        </a:lnSpc>
                        <a:spcBef>
                          <a:spcPts val="635"/>
                        </a:spcBef>
                        <a:spcAft>
                          <a:spcPts val="0"/>
                        </a:spcAft>
                      </a:pPr>
                      <a:r>
                        <a:rPr lang="zh-CN" sz="1600" b="1" spc="10">
                          <a:effectLst/>
                        </a:rPr>
                        <a:t>聚乙烯醇</a:t>
                      </a:r>
                      <a:endParaRPr lang="en-US" sz="1600" b="1">
                        <a:effectLst/>
                      </a:endParaRPr>
                    </a:p>
                    <a:p>
                      <a:pPr marL="98425" marR="0" eaLnBrk="0">
                        <a:lnSpc>
                          <a:spcPct val="91000"/>
                        </a:lnSpc>
                        <a:spcBef>
                          <a:spcPts val="495"/>
                        </a:spcBef>
                        <a:spcAft>
                          <a:spcPts val="0"/>
                        </a:spcAft>
                      </a:pPr>
                      <a:r>
                        <a:rPr lang="zh-CN" sz="1600" b="1">
                          <a:effectLst/>
                        </a:rPr>
                        <a:t>聚乙烯醇</a:t>
                      </a:r>
                      <a:r>
                        <a:rPr lang="en-US" sz="1600" b="1">
                          <a:effectLst/>
                        </a:rPr>
                        <a:t>(20)</a:t>
                      </a:r>
                      <a:r>
                        <a:rPr lang="zh-CN" sz="1600" b="1">
                          <a:effectLst/>
                        </a:rPr>
                        <a:t>失水三梨醇</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263525" marR="0" eaLnBrk="0">
                        <a:lnSpc>
                          <a:spcPts val="2160"/>
                        </a:lnSpc>
                        <a:spcBef>
                          <a:spcPts val="375"/>
                        </a:spcBef>
                        <a:spcAft>
                          <a:spcPts val="0"/>
                        </a:spcAft>
                      </a:pPr>
                      <a:r>
                        <a:rPr lang="zh-CN" sz="1600" b="1" spc="-10">
                          <a:effectLst/>
                        </a:rPr>
                        <a:t>加至</a:t>
                      </a:r>
                      <a:r>
                        <a:rPr lang="en-US" sz="1600" b="1" spc="-10">
                          <a:effectLst/>
                        </a:rPr>
                        <a:t>100</a:t>
                      </a:r>
                      <a:endParaRPr lang="en-US" sz="1600" b="1">
                        <a:effectLst/>
                      </a:endParaRPr>
                    </a:p>
                    <a:p>
                      <a:pPr marL="403225" marR="0" eaLnBrk="0">
                        <a:lnSpc>
                          <a:spcPct val="76000"/>
                        </a:lnSpc>
                        <a:spcBef>
                          <a:spcPts val="0"/>
                        </a:spcBef>
                        <a:spcAft>
                          <a:spcPts val="0"/>
                        </a:spcAft>
                      </a:pPr>
                      <a:r>
                        <a:rPr lang="en-US" sz="1600" b="1" spc="-15">
                          <a:effectLst/>
                        </a:rPr>
                        <a:t>5.0</a:t>
                      </a:r>
                      <a:endParaRPr lang="en-US" sz="1600" b="1">
                        <a:effectLst/>
                      </a:endParaRPr>
                    </a:p>
                    <a:p>
                      <a:pPr marL="403225" marR="0" eaLnBrk="0">
                        <a:lnSpc>
                          <a:spcPts val="1800"/>
                        </a:lnSpc>
                        <a:spcBef>
                          <a:spcPts val="855"/>
                        </a:spcBef>
                        <a:spcAft>
                          <a:spcPts val="0"/>
                        </a:spcAft>
                      </a:pPr>
                      <a:r>
                        <a:rPr lang="en-US" sz="1600" b="1" spc="-30">
                          <a:effectLst/>
                        </a:rPr>
                        <a:t>1.0</a:t>
                      </a:r>
                      <a:endParaRPr lang="en-US" sz="1600" b="1">
                        <a:effectLst/>
                      </a:endParaRPr>
                    </a:p>
                    <a:p>
                      <a:pPr marL="403225" marR="0" eaLnBrk="0">
                        <a:lnSpc>
                          <a:spcPct val="75000"/>
                        </a:lnSpc>
                        <a:spcBef>
                          <a:spcPts val="0"/>
                        </a:spcBef>
                        <a:spcAft>
                          <a:spcPts val="0"/>
                        </a:spcAft>
                      </a:pPr>
                      <a:r>
                        <a:rPr lang="en-US" sz="1600" b="1" spc="-30">
                          <a:effectLst/>
                        </a:rPr>
                        <a:t>1.0</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8760" marR="0" eaLnBrk="0">
                        <a:lnSpc>
                          <a:spcPct val="92000"/>
                        </a:lnSpc>
                        <a:spcBef>
                          <a:spcPts val="1320"/>
                        </a:spcBef>
                        <a:spcAft>
                          <a:spcPts val="0"/>
                        </a:spcAft>
                      </a:pPr>
                      <a:r>
                        <a:rPr lang="en-US" sz="1600" b="1" spc="45">
                          <a:effectLst/>
                        </a:rPr>
                        <a:t>B</a:t>
                      </a:r>
                      <a:r>
                        <a:rPr lang="zh-CN" sz="1600" b="1" spc="45">
                          <a:effectLst/>
                        </a:rPr>
                        <a:t>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9060" marR="0" eaLnBrk="0">
                        <a:lnSpc>
                          <a:spcPct val="91000"/>
                        </a:lnSpc>
                        <a:spcBef>
                          <a:spcPts val="305"/>
                        </a:spcBef>
                        <a:spcAft>
                          <a:spcPts val="0"/>
                        </a:spcAft>
                      </a:pPr>
                      <a:r>
                        <a:rPr lang="zh-CN" sz="1600" b="1" spc="-15">
                          <a:effectLst/>
                        </a:rPr>
                        <a:t>十六醇</a:t>
                      </a:r>
                      <a:endParaRPr lang="en-US" sz="1600" b="1">
                        <a:effectLst/>
                      </a:endParaRPr>
                    </a:p>
                    <a:p>
                      <a:pPr marL="99060" marR="0" eaLnBrk="0">
                        <a:lnSpc>
                          <a:spcPct val="91000"/>
                        </a:lnSpc>
                        <a:spcBef>
                          <a:spcPts val="585"/>
                        </a:spcBef>
                        <a:spcAft>
                          <a:spcPts val="0"/>
                        </a:spcAft>
                      </a:pPr>
                      <a:r>
                        <a:rPr lang="zh-CN" sz="1600" b="1" spc="5">
                          <a:effectLst/>
                        </a:rPr>
                        <a:t>单硬脂酸甘油酯</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72110" marR="0" eaLnBrk="0">
                        <a:lnSpc>
                          <a:spcPts val="1795"/>
                        </a:lnSpc>
                        <a:spcBef>
                          <a:spcPts val="685"/>
                        </a:spcBef>
                        <a:spcAft>
                          <a:spcPts val="0"/>
                        </a:spcAft>
                      </a:pPr>
                      <a:r>
                        <a:rPr lang="en-US" sz="1600" b="1" spc="-15">
                          <a:effectLst/>
                        </a:rPr>
                        <a:t>3.0</a:t>
                      </a:r>
                      <a:endParaRPr lang="en-US" sz="1600" b="1">
                        <a:effectLst/>
                      </a:endParaRPr>
                    </a:p>
                    <a:p>
                      <a:pPr marL="372110" marR="0" eaLnBrk="0">
                        <a:lnSpc>
                          <a:spcPct val="76000"/>
                        </a:lnSpc>
                        <a:spcBef>
                          <a:spcPts val="0"/>
                        </a:spcBef>
                        <a:spcAft>
                          <a:spcPts val="0"/>
                        </a:spcAft>
                      </a:pPr>
                      <a:r>
                        <a:rPr lang="en-US" sz="1600" b="1" spc="-30">
                          <a:effectLst/>
                        </a:rPr>
                        <a:t>1.0</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97140826"/>
                  </a:ext>
                </a:extLst>
              </a:tr>
              <a:tr h="0">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marL="0" marR="0" eaLnBrk="0">
                        <a:lnSpc>
                          <a:spcPct val="159000"/>
                        </a:lnSpc>
                        <a:spcBef>
                          <a:spcPts val="0"/>
                        </a:spcBef>
                        <a:spcAft>
                          <a:spcPts val="0"/>
                        </a:spcAft>
                      </a:pPr>
                      <a:r>
                        <a:rPr lang="en-US" sz="1600" b="1">
                          <a:effectLst/>
                        </a:rPr>
                        <a:t> </a:t>
                      </a:r>
                    </a:p>
                    <a:p>
                      <a:pPr marL="238760" marR="0" eaLnBrk="0">
                        <a:lnSpc>
                          <a:spcPct val="92000"/>
                        </a:lnSpc>
                        <a:spcBef>
                          <a:spcPts val="355"/>
                        </a:spcBef>
                        <a:spcAft>
                          <a:spcPts val="0"/>
                        </a:spcAft>
                      </a:pPr>
                      <a:r>
                        <a:rPr lang="en-US" sz="1600" b="1" spc="45">
                          <a:effectLst/>
                        </a:rPr>
                        <a:t>C</a:t>
                      </a:r>
                      <a:r>
                        <a:rPr lang="zh-CN" sz="1600" b="1" spc="45">
                          <a:effectLst/>
                        </a:rPr>
                        <a:t>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99060" marR="0" eaLnBrk="0">
                        <a:lnSpc>
                          <a:spcPct val="91000"/>
                        </a:lnSpc>
                        <a:spcBef>
                          <a:spcPts val="1210"/>
                        </a:spcBef>
                        <a:spcAft>
                          <a:spcPts val="0"/>
                        </a:spcAft>
                      </a:pPr>
                      <a:r>
                        <a:rPr lang="zh-CN" sz="1600" b="1" spc="25">
                          <a:effectLst/>
                        </a:rPr>
                        <a:t>香精</a:t>
                      </a:r>
                      <a:endParaRPr lang="en-US" sz="1600" b="1">
                        <a:effectLst/>
                      </a:endParaRPr>
                    </a:p>
                    <a:p>
                      <a:pPr marL="99060" marR="0" eaLnBrk="0">
                        <a:lnSpc>
                          <a:spcPct val="91000"/>
                        </a:lnSpc>
                        <a:spcBef>
                          <a:spcPts val="645"/>
                        </a:spcBef>
                        <a:spcAft>
                          <a:spcPts val="0"/>
                        </a:spcAft>
                      </a:pPr>
                      <a:r>
                        <a:rPr lang="zh-CN" sz="1600" b="1" spc="20">
                          <a:effectLst/>
                        </a:rPr>
                        <a:t>防腐剂</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334010" marR="0" eaLnBrk="0">
                        <a:lnSpc>
                          <a:spcPts val="1850"/>
                        </a:lnSpc>
                        <a:spcBef>
                          <a:spcPts val="1200"/>
                        </a:spcBef>
                        <a:spcAft>
                          <a:spcPts val="0"/>
                        </a:spcAft>
                      </a:pPr>
                      <a:r>
                        <a:rPr lang="zh-CN" sz="1600" b="1" spc="-15">
                          <a:effectLst/>
                        </a:rPr>
                        <a:t>适量</a:t>
                      </a:r>
                      <a:endParaRPr lang="en-US" sz="1600" b="1">
                        <a:effectLst/>
                      </a:endParaRPr>
                    </a:p>
                    <a:p>
                      <a:pPr marL="334010" marR="0" eaLnBrk="0">
                        <a:lnSpc>
                          <a:spcPct val="93000"/>
                        </a:lnSpc>
                        <a:spcBef>
                          <a:spcPts val="0"/>
                        </a:spcBef>
                        <a:spcAft>
                          <a:spcPts val="0"/>
                        </a:spcAft>
                      </a:pPr>
                      <a:r>
                        <a:rPr lang="zh-CN" sz="1600" b="1" spc="-15">
                          <a:effectLst/>
                        </a:rPr>
                        <a:t>适量</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263128695"/>
                  </a:ext>
                </a:extLst>
              </a:tr>
              <a:tr h="243205">
                <a:tc>
                  <a:txBody>
                    <a:bodyPr/>
                    <a:lstStyle/>
                    <a:p>
                      <a:pPr marL="234950" marR="0" eaLnBrk="0">
                        <a:lnSpc>
                          <a:spcPct val="92000"/>
                        </a:lnSpc>
                        <a:spcBef>
                          <a:spcPts val="450"/>
                        </a:spcBef>
                        <a:spcAft>
                          <a:spcPts val="0"/>
                        </a:spcAft>
                      </a:pPr>
                      <a:r>
                        <a:rPr lang="en-US" sz="1600" b="1" spc="45">
                          <a:effectLst/>
                        </a:rPr>
                        <a:t>B</a:t>
                      </a:r>
                      <a:r>
                        <a:rPr lang="zh-CN" sz="1600" b="1" spc="45">
                          <a:effectLst/>
                        </a:rPr>
                        <a:t>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8425" marR="0" eaLnBrk="0">
                        <a:lnSpc>
                          <a:spcPct val="92000"/>
                        </a:lnSpc>
                        <a:spcBef>
                          <a:spcPts val="440"/>
                        </a:spcBef>
                        <a:spcAft>
                          <a:spcPts val="0"/>
                        </a:spcAft>
                      </a:pPr>
                      <a:r>
                        <a:rPr lang="zh-CN" sz="1600" b="1" spc="-5">
                          <a:effectLst/>
                        </a:rPr>
                        <a:t>硬脂基三甲基氯化铵</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403225" marR="0" eaLnBrk="0">
                        <a:lnSpc>
                          <a:spcPct val="76000"/>
                        </a:lnSpc>
                        <a:spcBef>
                          <a:spcPts val="715"/>
                        </a:spcBef>
                        <a:spcAft>
                          <a:spcPts val="0"/>
                        </a:spcAft>
                      </a:pPr>
                      <a:r>
                        <a:rPr lang="en-US" sz="1600" b="1" spc="-15" dirty="0">
                          <a:effectLst/>
                        </a:rPr>
                        <a:t>2.0</a:t>
                      </a:r>
                      <a:endParaRPr lang="en-US" sz="1600" b="1" dirty="0">
                        <a:solidFill>
                          <a:srgbClr val="000000"/>
                        </a:solidFill>
                        <a:effectLst/>
                        <a:latin typeface="Arial" panose="020B0604020202020204" pitchFamily="34" charset="0"/>
                        <a:ea typeface="Arial" panose="020B0604020202020204" pitchFamily="34" charset="0"/>
                      </a:endParaRPr>
                    </a:p>
                  </a:txBody>
                  <a:tcPr marL="0" marR="0" marT="0" marB="0"/>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369865113"/>
                  </a:ext>
                </a:extLst>
              </a:tr>
            </a:tbl>
          </a:graphicData>
        </a:graphic>
      </p:graphicFrame>
      <p:sp>
        <p:nvSpPr>
          <p:cNvPr id="8" name="文本框 7">
            <a:extLst>
              <a:ext uri="{FF2B5EF4-FFF2-40B4-BE49-F238E27FC236}">
                <a16:creationId xmlns:a16="http://schemas.microsoft.com/office/drawing/2014/main" id="{63E699A6-69EE-0521-D619-20201AD49AE2}"/>
              </a:ext>
            </a:extLst>
          </p:cNvPr>
          <p:cNvSpPr txBox="1"/>
          <p:nvPr/>
        </p:nvSpPr>
        <p:spPr>
          <a:xfrm>
            <a:off x="182880" y="4199670"/>
            <a:ext cx="8778240" cy="1575816"/>
          </a:xfrm>
          <a:prstGeom prst="rect">
            <a:avLst/>
          </a:prstGeom>
          <a:noFill/>
        </p:spPr>
        <p:txBody>
          <a:bodyPr wrap="square">
            <a:spAutoFit/>
          </a:bodyPr>
          <a:lstStyle/>
          <a:p>
            <a:pPr marR="0" eaLnBrk="0">
              <a:lnSpc>
                <a:spcPct val="90000"/>
              </a:lnSpc>
              <a:spcBef>
                <a:spcPts val="575"/>
              </a:spcBef>
              <a:spcAft>
                <a:spcPts val="0"/>
              </a:spcAft>
            </a:pPr>
            <a:r>
              <a:rPr lang="en-US" sz="2400" b="1" spc="4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①</a:t>
            </a:r>
            <a:r>
              <a:rPr lang="zh-CN" sz="2400" b="1" spc="4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将</a:t>
            </a:r>
            <a:r>
              <a:rPr lang="zh-CN" sz="2400" b="1" spc="-31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 </a:t>
            </a:r>
            <a:r>
              <a:rPr lang="en-US" sz="2400" b="1" spc="45" dirty="0">
                <a:solidFill>
                  <a:srgbClr val="000000"/>
                </a:solidFill>
                <a:effectLst/>
                <a:latin typeface="KaiTi" panose="02010609060101010101" pitchFamily="49" charset="-122"/>
                <a:ea typeface="KaiTi" panose="02010609060101010101" pitchFamily="49" charset="-122"/>
              </a:rPr>
              <a:t>A</a:t>
            </a:r>
            <a:r>
              <a:rPr lang="en-US" sz="2400" b="1" spc="100" dirty="0">
                <a:solidFill>
                  <a:srgbClr val="000000"/>
                </a:solidFill>
                <a:effectLst/>
                <a:latin typeface="KaiTi" panose="02010609060101010101" pitchFamily="49" charset="-122"/>
                <a:ea typeface="KaiTi" panose="02010609060101010101" pitchFamily="49" charset="-122"/>
              </a:rPr>
              <a:t> </a:t>
            </a:r>
            <a:r>
              <a:rPr lang="zh-CN" sz="2400" b="1" spc="4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相组分混合加热至</a:t>
            </a:r>
            <a:r>
              <a:rPr lang="en-US" sz="2400" b="1" spc="4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90 ℃;</a:t>
            </a:r>
            <a:endParaRPr lang="en-US" sz="2400" b="1" dirty="0">
              <a:solidFill>
                <a:srgbClr val="000000"/>
              </a:solidFill>
              <a:effectLst/>
              <a:latin typeface="KaiTi" panose="02010609060101010101" pitchFamily="49" charset="-122"/>
              <a:ea typeface="KaiTi" panose="02010609060101010101" pitchFamily="49" charset="-122"/>
            </a:endParaRPr>
          </a:p>
          <a:p>
            <a:pPr marR="0" eaLnBrk="0">
              <a:lnSpc>
                <a:spcPct val="90000"/>
              </a:lnSpc>
              <a:spcBef>
                <a:spcPts val="605"/>
              </a:spcBef>
              <a:spcAft>
                <a:spcPts val="0"/>
              </a:spcAft>
            </a:pPr>
            <a:r>
              <a:rPr lang="en-US" sz="2400" b="1" spc="5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②</a:t>
            </a:r>
            <a:r>
              <a:rPr lang="zh-CN" sz="2400" b="1" spc="5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将</a:t>
            </a:r>
            <a:r>
              <a:rPr lang="zh-CN" sz="2400" b="1" spc="-30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 </a:t>
            </a:r>
            <a:r>
              <a:rPr lang="en-US" sz="2400" b="1" spc="55" dirty="0">
                <a:solidFill>
                  <a:srgbClr val="000000"/>
                </a:solidFill>
                <a:effectLst/>
                <a:latin typeface="KaiTi" panose="02010609060101010101" pitchFamily="49" charset="-122"/>
                <a:ea typeface="KaiTi" panose="02010609060101010101" pitchFamily="49" charset="-122"/>
              </a:rPr>
              <a:t>B</a:t>
            </a:r>
            <a:r>
              <a:rPr lang="en-US" sz="2400" b="1" spc="40" dirty="0">
                <a:solidFill>
                  <a:srgbClr val="000000"/>
                </a:solidFill>
                <a:effectLst/>
                <a:latin typeface="KaiTi" panose="02010609060101010101" pitchFamily="49" charset="-122"/>
                <a:ea typeface="KaiTi" panose="02010609060101010101" pitchFamily="49" charset="-122"/>
              </a:rPr>
              <a:t> </a:t>
            </a:r>
            <a:r>
              <a:rPr lang="zh-CN" sz="2400" b="1" spc="5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相加热熔化，在</a:t>
            </a:r>
            <a:r>
              <a:rPr lang="en-US" sz="2400" b="1" spc="5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75 ℃</a:t>
            </a:r>
            <a:r>
              <a:rPr lang="zh-CN" sz="2400" b="1" spc="5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时将</a:t>
            </a:r>
            <a:r>
              <a:rPr lang="en-US" altLang="zh-CN" sz="2400" b="1" spc="5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 </a:t>
            </a:r>
            <a:r>
              <a:rPr lang="en-US" sz="2400" b="1" spc="55" dirty="0">
                <a:solidFill>
                  <a:srgbClr val="000000"/>
                </a:solidFill>
                <a:effectLst/>
                <a:latin typeface="KaiTi" panose="02010609060101010101" pitchFamily="49" charset="-122"/>
                <a:ea typeface="KaiTi" panose="02010609060101010101" pitchFamily="49" charset="-122"/>
              </a:rPr>
              <a:t>A</a:t>
            </a:r>
            <a:r>
              <a:rPr lang="en-US" sz="2400" b="1" spc="105" dirty="0">
                <a:solidFill>
                  <a:srgbClr val="000000"/>
                </a:solidFill>
                <a:effectLst/>
                <a:latin typeface="KaiTi" panose="02010609060101010101" pitchFamily="49" charset="-122"/>
                <a:ea typeface="KaiTi" panose="02010609060101010101" pitchFamily="49" charset="-122"/>
              </a:rPr>
              <a:t> </a:t>
            </a:r>
            <a:r>
              <a:rPr lang="zh-CN" sz="2400" b="1" spc="5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相加入</a:t>
            </a:r>
            <a:r>
              <a:rPr lang="en-US" altLang="zh-CN" sz="2400" b="1" spc="5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 </a:t>
            </a:r>
            <a:r>
              <a:rPr lang="en-US" sz="2400" b="1" spc="55" dirty="0">
                <a:solidFill>
                  <a:srgbClr val="000000"/>
                </a:solidFill>
                <a:effectLst/>
                <a:latin typeface="KaiTi" panose="02010609060101010101" pitchFamily="49" charset="-122"/>
                <a:ea typeface="KaiTi" panose="02010609060101010101" pitchFamily="49" charset="-122"/>
              </a:rPr>
              <a:t>B </a:t>
            </a:r>
            <a:r>
              <a:rPr lang="zh-CN" sz="2400" b="1" spc="5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相中搅拌乳化</a:t>
            </a:r>
            <a:endParaRPr lang="en-US" sz="2400" b="1" dirty="0">
              <a:solidFill>
                <a:srgbClr val="000000"/>
              </a:solidFill>
              <a:effectLst/>
              <a:latin typeface="KaiTi" panose="02010609060101010101" pitchFamily="49" charset="-122"/>
              <a:ea typeface="KaiTi" panose="02010609060101010101" pitchFamily="49" charset="-122"/>
            </a:endParaRPr>
          </a:p>
          <a:p>
            <a:pPr marR="0" eaLnBrk="0">
              <a:lnSpc>
                <a:spcPct val="90000"/>
              </a:lnSpc>
              <a:spcBef>
                <a:spcPts val="600"/>
              </a:spcBef>
              <a:spcAft>
                <a:spcPts val="0"/>
              </a:spcAft>
            </a:pPr>
            <a:r>
              <a:rPr lang="en-US" sz="2400" b="1" spc="5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③</a:t>
            </a:r>
            <a:r>
              <a:rPr lang="zh-CN" sz="2400" b="1" spc="5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冷却至</a:t>
            </a:r>
            <a:r>
              <a:rPr lang="en-US" sz="2400" b="1" spc="5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45 ℃</a:t>
            </a:r>
            <a:r>
              <a:rPr lang="zh-CN" sz="2400" b="1" spc="5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时逐一加入</a:t>
            </a:r>
            <a:r>
              <a:rPr lang="en-US" altLang="zh-CN" sz="2400" b="1" spc="5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 </a:t>
            </a:r>
            <a:r>
              <a:rPr lang="en-US" sz="2400" b="1" spc="50" dirty="0">
                <a:solidFill>
                  <a:srgbClr val="000000"/>
                </a:solidFill>
                <a:effectLst/>
                <a:latin typeface="KaiTi" panose="02010609060101010101" pitchFamily="49" charset="-122"/>
                <a:ea typeface="KaiTi" panose="02010609060101010101" pitchFamily="49" charset="-122"/>
              </a:rPr>
              <a:t>C</a:t>
            </a:r>
            <a:r>
              <a:rPr lang="en-US" sz="2400" b="1" spc="70" dirty="0">
                <a:solidFill>
                  <a:srgbClr val="000000"/>
                </a:solidFill>
                <a:effectLst/>
                <a:latin typeface="KaiTi" panose="02010609060101010101" pitchFamily="49" charset="-122"/>
                <a:ea typeface="KaiTi" panose="02010609060101010101" pitchFamily="49" charset="-122"/>
              </a:rPr>
              <a:t> </a:t>
            </a:r>
            <a:r>
              <a:rPr lang="zh-CN" sz="2400" b="1" spc="5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相中其他组分，搅拌均匀冷却至室温即可。</a:t>
            </a:r>
            <a:endParaRPr lang="en-US" sz="2400" b="1" dirty="0">
              <a:solidFill>
                <a:srgbClr val="000000"/>
              </a:solidFill>
              <a:effectLst/>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90981315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配方示例与工艺</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65614"/>
            <a:ext cx="8778238" cy="223657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免洗护发素</a:t>
            </a:r>
            <a:endParaRPr lang="en-US" altLang="zh-CN" sz="2400" dirty="0">
              <a:latin typeface="+mn-lt"/>
              <a:ea typeface="SimHei" panose="02010609060101010101" pitchFamily="49" charset="-122"/>
            </a:endParaRPr>
          </a:p>
          <a:p>
            <a:pPr>
              <a:lnSpc>
                <a:spcPct val="150000"/>
              </a:lnSpc>
            </a:pPr>
            <a:r>
              <a:rPr lang="zh-CN" altLang="en-US" sz="2400" b="1" dirty="0">
                <a:latin typeface="KaiTi" panose="02010609060101010101" pitchFamily="49" charset="-122"/>
                <a:ea typeface="KaiTi" panose="02010609060101010101" pitchFamily="49" charset="-122"/>
              </a:rPr>
              <a:t>免洗护发素不需用水冲洗，不易沾尘埃，不沾衣领、被褥，防静电，易于梳理成型，使用后头发更加柔顺、润滑，富有弹性，美观大方</a:t>
            </a:r>
            <a:endParaRPr lang="en-US" altLang="zh-CN" sz="2400" b="1" dirty="0">
              <a:latin typeface="KaiTi" panose="02010609060101010101" pitchFamily="49" charset="-122"/>
              <a:ea typeface="KaiTi" panose="02010609060101010101" pitchFamily="49" charset="-122"/>
            </a:endParaRPr>
          </a:p>
        </p:txBody>
      </p:sp>
      <p:graphicFrame>
        <p:nvGraphicFramePr>
          <p:cNvPr id="5" name="表格 4">
            <a:extLst>
              <a:ext uri="{FF2B5EF4-FFF2-40B4-BE49-F238E27FC236}">
                <a16:creationId xmlns:a16="http://schemas.microsoft.com/office/drawing/2014/main" id="{7AC9D8DE-A6D5-B63A-E52A-55DCEF9B9C7A}"/>
              </a:ext>
            </a:extLst>
          </p:cNvPr>
          <p:cNvGraphicFramePr>
            <a:graphicFrameLocks noGrp="1"/>
          </p:cNvGraphicFramePr>
          <p:nvPr>
            <p:extLst>
              <p:ext uri="{D42A27DB-BD31-4B8C-83A1-F6EECF244321}">
                <p14:modId xmlns:p14="http://schemas.microsoft.com/office/powerpoint/2010/main" val="2164832952"/>
              </p:ext>
            </p:extLst>
          </p:nvPr>
        </p:nvGraphicFramePr>
        <p:xfrm>
          <a:off x="182881" y="3737666"/>
          <a:ext cx="8778239" cy="1723263"/>
        </p:xfrm>
        <a:graphic>
          <a:graphicData uri="http://schemas.openxmlformats.org/drawingml/2006/table">
            <a:tbl>
              <a:tblPr firstRow="1" firstCol="1" bandRow="1">
                <a:tableStyleId>{21E4AEA4-8DFA-4A89-87EB-49C32662AFE0}</a:tableStyleId>
              </a:tblPr>
              <a:tblGrid>
                <a:gridCol w="853035">
                  <a:extLst>
                    <a:ext uri="{9D8B030D-6E8A-4147-A177-3AD203B41FA5}">
                      <a16:colId xmlns:a16="http://schemas.microsoft.com/office/drawing/2014/main" val="534585254"/>
                    </a:ext>
                  </a:extLst>
                </a:gridCol>
                <a:gridCol w="1953960">
                  <a:extLst>
                    <a:ext uri="{9D8B030D-6E8A-4147-A177-3AD203B41FA5}">
                      <a16:colId xmlns:a16="http://schemas.microsoft.com/office/drawing/2014/main" val="952235254"/>
                    </a:ext>
                  </a:extLst>
                </a:gridCol>
                <a:gridCol w="1181125">
                  <a:extLst>
                    <a:ext uri="{9D8B030D-6E8A-4147-A177-3AD203B41FA5}">
                      <a16:colId xmlns:a16="http://schemas.microsoft.com/office/drawing/2014/main" val="981542529"/>
                    </a:ext>
                  </a:extLst>
                </a:gridCol>
                <a:gridCol w="1844597">
                  <a:extLst>
                    <a:ext uri="{9D8B030D-6E8A-4147-A177-3AD203B41FA5}">
                      <a16:colId xmlns:a16="http://schemas.microsoft.com/office/drawing/2014/main" val="3707037044"/>
                    </a:ext>
                  </a:extLst>
                </a:gridCol>
                <a:gridCol w="1844597">
                  <a:extLst>
                    <a:ext uri="{9D8B030D-6E8A-4147-A177-3AD203B41FA5}">
                      <a16:colId xmlns:a16="http://schemas.microsoft.com/office/drawing/2014/main" val="3332062935"/>
                    </a:ext>
                  </a:extLst>
                </a:gridCol>
                <a:gridCol w="1100925">
                  <a:extLst>
                    <a:ext uri="{9D8B030D-6E8A-4147-A177-3AD203B41FA5}">
                      <a16:colId xmlns:a16="http://schemas.microsoft.com/office/drawing/2014/main" val="3748275874"/>
                    </a:ext>
                  </a:extLst>
                </a:gridCol>
              </a:tblGrid>
              <a:tr h="248920">
                <a:tc>
                  <a:txBody>
                    <a:bodyPr/>
                    <a:lstStyle/>
                    <a:p>
                      <a:pPr marL="228600" marR="0" eaLnBrk="0">
                        <a:lnSpc>
                          <a:spcPct val="92000"/>
                        </a:lnSpc>
                        <a:spcBef>
                          <a:spcPts val="480"/>
                        </a:spcBef>
                        <a:spcAft>
                          <a:spcPts val="0"/>
                        </a:spcAft>
                      </a:pPr>
                      <a:r>
                        <a:rPr lang="zh-CN" sz="1600" b="1" spc="40">
                          <a:effectLst/>
                        </a:rPr>
                        <a:t>组相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581025" marR="0" eaLnBrk="0">
                        <a:lnSpc>
                          <a:spcPct val="91000"/>
                        </a:lnSpc>
                        <a:spcBef>
                          <a:spcPts val="470"/>
                        </a:spcBef>
                        <a:spcAft>
                          <a:spcPts val="0"/>
                        </a:spcAft>
                      </a:pPr>
                      <a:r>
                        <a:rPr lang="zh-CN" sz="1600" b="1" spc="10">
                          <a:effectLst/>
                        </a:rPr>
                        <a:t>原料名称</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61925" marR="0" eaLnBrk="0">
                        <a:lnSpc>
                          <a:spcPct val="91000"/>
                        </a:lnSpc>
                        <a:spcBef>
                          <a:spcPts val="470"/>
                        </a:spcBef>
                        <a:spcAft>
                          <a:spcPts val="0"/>
                        </a:spcAft>
                      </a:pPr>
                      <a:r>
                        <a:rPr lang="zh-CN" sz="1600" b="1" spc="-10">
                          <a:effectLst/>
                        </a:rPr>
                        <a:t>质量分数</a:t>
                      </a:r>
                      <a:r>
                        <a:rPr lang="en-US" sz="1600" b="1" spc="-10">
                          <a:effectLst/>
                        </a:rPr>
                        <a:t>/%</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93675" marR="0" eaLnBrk="0">
                        <a:lnSpc>
                          <a:spcPct val="92000"/>
                        </a:lnSpc>
                        <a:spcBef>
                          <a:spcPts val="480"/>
                        </a:spcBef>
                        <a:spcAft>
                          <a:spcPts val="0"/>
                        </a:spcAft>
                      </a:pPr>
                      <a:r>
                        <a:rPr lang="zh-CN" sz="1600" b="1" spc="40">
                          <a:effectLst/>
                        </a:rPr>
                        <a:t>组相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517525" marR="0" eaLnBrk="0">
                        <a:lnSpc>
                          <a:spcPct val="91000"/>
                        </a:lnSpc>
                        <a:spcBef>
                          <a:spcPts val="470"/>
                        </a:spcBef>
                        <a:spcAft>
                          <a:spcPts val="0"/>
                        </a:spcAft>
                      </a:pPr>
                      <a:r>
                        <a:rPr lang="zh-CN" sz="1600" b="1" spc="10">
                          <a:effectLst/>
                        </a:rPr>
                        <a:t>原料名称</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23825" marR="0" eaLnBrk="0">
                        <a:lnSpc>
                          <a:spcPct val="91000"/>
                        </a:lnSpc>
                        <a:spcBef>
                          <a:spcPts val="470"/>
                        </a:spcBef>
                        <a:spcAft>
                          <a:spcPts val="0"/>
                        </a:spcAft>
                      </a:pPr>
                      <a:r>
                        <a:rPr lang="zh-CN" sz="1600" b="1" spc="-10">
                          <a:effectLst/>
                        </a:rPr>
                        <a:t>质量分数</a:t>
                      </a:r>
                      <a:r>
                        <a:rPr lang="en-US" sz="1600" b="1" spc="-10">
                          <a:effectLst/>
                        </a:rPr>
                        <a:t>/%</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052623175"/>
                  </a:ext>
                </a:extLst>
              </a:tr>
              <a:tr h="499110">
                <a:tc rowSpan="2">
                  <a:txBody>
                    <a:bodyPr/>
                    <a:lstStyle/>
                    <a:p>
                      <a:pPr marL="0" marR="0" eaLnBrk="0">
                        <a:lnSpc>
                          <a:spcPct val="128000"/>
                        </a:lnSpc>
                        <a:spcBef>
                          <a:spcPts val="0"/>
                        </a:spcBef>
                        <a:spcAft>
                          <a:spcPts val="0"/>
                        </a:spcAft>
                      </a:pPr>
                      <a:r>
                        <a:rPr lang="en-US" sz="1600" b="1">
                          <a:effectLst/>
                        </a:rPr>
                        <a:t> </a:t>
                      </a:r>
                    </a:p>
                    <a:p>
                      <a:pPr marL="0" marR="0" eaLnBrk="0">
                        <a:lnSpc>
                          <a:spcPct val="129000"/>
                        </a:lnSpc>
                        <a:spcBef>
                          <a:spcPts val="0"/>
                        </a:spcBef>
                        <a:spcAft>
                          <a:spcPts val="0"/>
                        </a:spcAft>
                      </a:pPr>
                      <a:r>
                        <a:rPr lang="en-US" sz="1600" b="1">
                          <a:effectLst/>
                        </a:rPr>
                        <a:t> </a:t>
                      </a:r>
                    </a:p>
                    <a:p>
                      <a:pPr marL="266700" marR="0" eaLnBrk="0">
                        <a:lnSpc>
                          <a:spcPct val="92000"/>
                        </a:lnSpc>
                        <a:spcBef>
                          <a:spcPts val="360"/>
                        </a:spcBef>
                        <a:spcAft>
                          <a:spcPts val="0"/>
                        </a:spcAft>
                      </a:pPr>
                      <a:r>
                        <a:rPr lang="en-US" sz="1600" b="1" spc="-5">
                          <a:effectLst/>
                        </a:rPr>
                        <a:t>A</a:t>
                      </a:r>
                      <a:r>
                        <a:rPr lang="zh-CN" sz="1600" b="1" spc="-5">
                          <a:effectLst/>
                        </a:rPr>
                        <a:t>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104775" marR="0" eaLnBrk="0">
                        <a:lnSpc>
                          <a:spcPts val="1950"/>
                        </a:lnSpc>
                        <a:spcBef>
                          <a:spcPts val="455"/>
                        </a:spcBef>
                        <a:spcAft>
                          <a:spcPts val="0"/>
                        </a:spcAft>
                      </a:pPr>
                      <a:r>
                        <a:rPr lang="zh-CN" sz="1600" b="1" spc="10">
                          <a:effectLst/>
                        </a:rPr>
                        <a:t>去离子水</a:t>
                      </a:r>
                      <a:endParaRPr lang="en-US" sz="1600" b="1">
                        <a:effectLst/>
                      </a:endParaRPr>
                    </a:p>
                    <a:p>
                      <a:pPr marL="104775" marR="0" eaLnBrk="0">
                        <a:lnSpc>
                          <a:spcPct val="90000"/>
                        </a:lnSpc>
                        <a:spcBef>
                          <a:spcPts val="0"/>
                        </a:spcBef>
                        <a:spcAft>
                          <a:spcPts val="0"/>
                        </a:spcAft>
                      </a:pPr>
                      <a:r>
                        <a:rPr lang="zh-CN" sz="1600" b="1" spc="110">
                          <a:effectLst/>
                        </a:rPr>
                        <a:t>维生素</a:t>
                      </a:r>
                      <a:r>
                        <a:rPr lang="en-US" sz="1600" b="1" spc="110">
                          <a:effectLst/>
                        </a:rPr>
                        <a:t>B₅</a:t>
                      </a:r>
                      <a:endParaRPr lang="en-US" sz="1600" b="1">
                        <a:effectLst/>
                      </a:endParaRPr>
                    </a:p>
                    <a:p>
                      <a:pPr marL="104775" marR="0" eaLnBrk="0">
                        <a:lnSpc>
                          <a:spcPts val="1910"/>
                        </a:lnSpc>
                        <a:spcBef>
                          <a:spcPts val="845"/>
                        </a:spcBef>
                        <a:spcAft>
                          <a:spcPts val="0"/>
                        </a:spcAft>
                      </a:pPr>
                      <a:r>
                        <a:rPr lang="en-US" sz="1600" b="1" spc="-5">
                          <a:effectLst/>
                        </a:rPr>
                        <a:t>PEG-12</a:t>
                      </a:r>
                      <a:r>
                        <a:rPr lang="zh-CN" sz="1600" b="1" spc="-5">
                          <a:effectLst/>
                        </a:rPr>
                        <a:t>二甲基硅氧烷</a:t>
                      </a:r>
                      <a:endParaRPr lang="en-US" sz="1600" b="1">
                        <a:effectLst/>
                      </a:endParaRPr>
                    </a:p>
                    <a:p>
                      <a:pPr marL="104775" marR="0" eaLnBrk="0">
                        <a:lnSpc>
                          <a:spcPct val="91000"/>
                        </a:lnSpc>
                        <a:spcBef>
                          <a:spcPts val="0"/>
                        </a:spcBef>
                        <a:spcAft>
                          <a:spcPts val="0"/>
                        </a:spcAft>
                      </a:pPr>
                      <a:r>
                        <a:rPr lang="zh-CN" sz="1600" b="1" spc="20">
                          <a:effectLst/>
                        </a:rPr>
                        <a:t>氯化钠</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263525" marR="0" eaLnBrk="0">
                        <a:lnSpc>
                          <a:spcPts val="2205"/>
                        </a:lnSpc>
                        <a:spcBef>
                          <a:spcPts val="530"/>
                        </a:spcBef>
                        <a:spcAft>
                          <a:spcPts val="0"/>
                        </a:spcAft>
                      </a:pPr>
                      <a:r>
                        <a:rPr lang="zh-CN" sz="1600" b="1" spc="-10">
                          <a:effectLst/>
                        </a:rPr>
                        <a:t>加至</a:t>
                      </a:r>
                      <a:r>
                        <a:rPr lang="en-US" sz="1600" b="1" spc="-10">
                          <a:effectLst/>
                        </a:rPr>
                        <a:t>100</a:t>
                      </a:r>
                      <a:endParaRPr lang="en-US" sz="1600" b="1">
                        <a:effectLst/>
                      </a:endParaRPr>
                    </a:p>
                    <a:p>
                      <a:pPr marL="402590" marR="0" eaLnBrk="0">
                        <a:lnSpc>
                          <a:spcPct val="76000"/>
                        </a:lnSpc>
                        <a:spcBef>
                          <a:spcPts val="0"/>
                        </a:spcBef>
                        <a:spcAft>
                          <a:spcPts val="0"/>
                        </a:spcAft>
                      </a:pPr>
                      <a:r>
                        <a:rPr lang="en-US" sz="1600" b="1" spc="-15">
                          <a:effectLst/>
                        </a:rPr>
                        <a:t>0.1</a:t>
                      </a:r>
                      <a:endParaRPr lang="en-US" sz="1600" b="1">
                        <a:effectLst/>
                      </a:endParaRPr>
                    </a:p>
                    <a:p>
                      <a:pPr marL="402590" marR="0" eaLnBrk="0">
                        <a:lnSpc>
                          <a:spcPts val="2100"/>
                        </a:lnSpc>
                        <a:spcBef>
                          <a:spcPts val="955"/>
                        </a:spcBef>
                        <a:spcAft>
                          <a:spcPts val="0"/>
                        </a:spcAft>
                      </a:pPr>
                      <a:r>
                        <a:rPr lang="en-US" sz="1600" b="1" spc="-15">
                          <a:effectLst/>
                        </a:rPr>
                        <a:t>3.0</a:t>
                      </a:r>
                      <a:endParaRPr lang="en-US" sz="1600" b="1">
                        <a:effectLst/>
                      </a:endParaRPr>
                    </a:p>
                    <a:p>
                      <a:pPr marL="402590" marR="0" eaLnBrk="0">
                        <a:lnSpc>
                          <a:spcPct val="76000"/>
                        </a:lnSpc>
                        <a:spcBef>
                          <a:spcPts val="0"/>
                        </a:spcBef>
                        <a:spcAft>
                          <a:spcPts val="0"/>
                        </a:spcAft>
                      </a:pPr>
                      <a:r>
                        <a:rPr lang="en-US" sz="1600" b="1" spc="-15">
                          <a:effectLst/>
                        </a:rPr>
                        <a:t>0.5</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1775" marR="0" eaLnBrk="0">
                        <a:lnSpc>
                          <a:spcPct val="92000"/>
                        </a:lnSpc>
                        <a:spcBef>
                          <a:spcPts val="1475"/>
                        </a:spcBef>
                        <a:spcAft>
                          <a:spcPts val="0"/>
                        </a:spcAft>
                      </a:pPr>
                      <a:r>
                        <a:rPr lang="en-US" sz="1600" b="1" spc="-5">
                          <a:effectLst/>
                        </a:rPr>
                        <a:t>A</a:t>
                      </a:r>
                      <a:r>
                        <a:rPr lang="zh-CN" sz="1600" b="1" spc="-5">
                          <a:effectLst/>
                        </a:rPr>
                        <a:t>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04775" marR="0" eaLnBrk="0">
                        <a:lnSpc>
                          <a:spcPct val="91000"/>
                        </a:lnSpc>
                        <a:spcBef>
                          <a:spcPts val="300"/>
                        </a:spcBef>
                        <a:spcAft>
                          <a:spcPts val="0"/>
                        </a:spcAft>
                      </a:pPr>
                      <a:r>
                        <a:rPr lang="zh-CN" sz="1600" b="1" spc="20">
                          <a:effectLst/>
                        </a:rPr>
                        <a:t>防腐剂</a:t>
                      </a:r>
                      <a:endParaRPr lang="en-US" sz="1600" b="1">
                        <a:effectLst/>
                      </a:endParaRPr>
                    </a:p>
                    <a:p>
                      <a:pPr marL="104775" marR="0" eaLnBrk="0">
                        <a:lnSpc>
                          <a:spcPct val="91000"/>
                        </a:lnSpc>
                        <a:spcBef>
                          <a:spcPts val="805"/>
                        </a:spcBef>
                        <a:spcAft>
                          <a:spcPts val="0"/>
                        </a:spcAft>
                      </a:pPr>
                      <a:r>
                        <a:rPr lang="zh-CN" sz="1600" b="1" spc="-10">
                          <a:effectLst/>
                        </a:rPr>
                        <a:t>蓝色</a:t>
                      </a:r>
                      <a:r>
                        <a:rPr lang="en-US" sz="1600" b="1" spc="-10">
                          <a:effectLst/>
                        </a:rPr>
                        <a:t>I</a:t>
                      </a:r>
                      <a:r>
                        <a:rPr lang="zh-CN" sz="1600" b="1" spc="-10">
                          <a:effectLst/>
                        </a:rPr>
                        <a:t>号染料</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71475" marR="0" eaLnBrk="0">
                        <a:lnSpc>
                          <a:spcPts val="1600"/>
                        </a:lnSpc>
                        <a:spcBef>
                          <a:spcPts val="740"/>
                        </a:spcBef>
                        <a:spcAft>
                          <a:spcPts val="0"/>
                        </a:spcAft>
                      </a:pPr>
                      <a:r>
                        <a:rPr lang="en-US" sz="1600" b="1" spc="-15">
                          <a:effectLst/>
                        </a:rPr>
                        <a:t>0.5</a:t>
                      </a:r>
                      <a:endParaRPr lang="en-US" sz="1600" b="1">
                        <a:effectLst/>
                      </a:endParaRPr>
                    </a:p>
                    <a:p>
                      <a:pPr marL="333375" marR="0" eaLnBrk="0">
                        <a:lnSpc>
                          <a:spcPct val="93000"/>
                        </a:lnSpc>
                        <a:spcBef>
                          <a:spcPts val="0"/>
                        </a:spcBef>
                        <a:spcAft>
                          <a:spcPts val="0"/>
                        </a:spcAft>
                      </a:pPr>
                      <a:r>
                        <a:rPr lang="zh-CN" sz="1600" b="1" spc="-15">
                          <a:effectLst/>
                        </a:rPr>
                        <a:t>适量</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95247002"/>
                  </a:ext>
                </a:extLst>
              </a:tr>
              <a:tr h="50863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231775" marR="0" eaLnBrk="0">
                        <a:lnSpc>
                          <a:spcPct val="92000"/>
                        </a:lnSpc>
                        <a:spcBef>
                          <a:spcPts val="1490"/>
                        </a:spcBef>
                        <a:spcAft>
                          <a:spcPts val="0"/>
                        </a:spcAft>
                      </a:pPr>
                      <a:r>
                        <a:rPr lang="en-US" sz="1600" b="1" spc="45">
                          <a:effectLst/>
                        </a:rPr>
                        <a:t>B</a:t>
                      </a:r>
                      <a:r>
                        <a:rPr lang="zh-CN" sz="1600" b="1" spc="45">
                          <a:effectLst/>
                        </a:rPr>
                        <a:t>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04775" marR="0" eaLnBrk="0">
                        <a:lnSpc>
                          <a:spcPts val="2000"/>
                        </a:lnSpc>
                        <a:spcBef>
                          <a:spcPts val="525"/>
                        </a:spcBef>
                        <a:spcAft>
                          <a:spcPts val="0"/>
                        </a:spcAft>
                      </a:pPr>
                      <a:r>
                        <a:rPr lang="zh-CN" sz="1600" b="1" spc="5">
                          <a:effectLst/>
                        </a:rPr>
                        <a:t>二甲基硅氧烷</a:t>
                      </a:r>
                      <a:endParaRPr lang="en-US" sz="1600" b="1">
                        <a:effectLst/>
                      </a:endParaRPr>
                    </a:p>
                    <a:p>
                      <a:pPr marL="104775" marR="0" eaLnBrk="0">
                        <a:lnSpc>
                          <a:spcPct val="90000"/>
                        </a:lnSpc>
                        <a:spcBef>
                          <a:spcPts val="0"/>
                        </a:spcBef>
                        <a:spcAft>
                          <a:spcPts val="0"/>
                        </a:spcAft>
                      </a:pPr>
                      <a:r>
                        <a:rPr lang="zh-CN" sz="1600" b="1" spc="25">
                          <a:effectLst/>
                        </a:rPr>
                        <a:t>香精</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71475" marR="0" eaLnBrk="0">
                        <a:lnSpc>
                          <a:spcPts val="1900"/>
                        </a:lnSpc>
                        <a:spcBef>
                          <a:spcPts val="910"/>
                        </a:spcBef>
                        <a:spcAft>
                          <a:spcPts val="0"/>
                        </a:spcAft>
                      </a:pPr>
                      <a:r>
                        <a:rPr lang="en-US" sz="1600" b="1" spc="-15" dirty="0">
                          <a:effectLst/>
                        </a:rPr>
                        <a:t>5.0</a:t>
                      </a:r>
                      <a:endParaRPr lang="en-US" sz="1600" b="1" dirty="0">
                        <a:effectLst/>
                      </a:endParaRPr>
                    </a:p>
                    <a:p>
                      <a:pPr marL="371475" marR="0" eaLnBrk="0">
                        <a:lnSpc>
                          <a:spcPct val="76000"/>
                        </a:lnSpc>
                        <a:spcBef>
                          <a:spcPts val="0"/>
                        </a:spcBef>
                        <a:spcAft>
                          <a:spcPts val="0"/>
                        </a:spcAft>
                      </a:pPr>
                      <a:r>
                        <a:rPr lang="en-US" sz="1600" b="1" spc="-15" dirty="0">
                          <a:effectLst/>
                        </a:rPr>
                        <a:t>0.2</a:t>
                      </a:r>
                      <a:endParaRPr lang="en-US" sz="1600" b="1" dirty="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100646042"/>
                  </a:ext>
                </a:extLst>
              </a:tr>
            </a:tbl>
          </a:graphicData>
        </a:graphic>
      </p:graphicFrame>
      <p:sp>
        <p:nvSpPr>
          <p:cNvPr id="10" name="文本框 9">
            <a:extLst>
              <a:ext uri="{FF2B5EF4-FFF2-40B4-BE49-F238E27FC236}">
                <a16:creationId xmlns:a16="http://schemas.microsoft.com/office/drawing/2014/main" id="{B054D72A-6143-B101-FFD5-4EBA7300C362}"/>
              </a:ext>
            </a:extLst>
          </p:cNvPr>
          <p:cNvSpPr txBox="1"/>
          <p:nvPr/>
        </p:nvSpPr>
        <p:spPr>
          <a:xfrm>
            <a:off x="182880" y="5815702"/>
            <a:ext cx="8778239" cy="830997"/>
          </a:xfrm>
          <a:prstGeom prst="rect">
            <a:avLst/>
          </a:prstGeom>
          <a:noFill/>
        </p:spPr>
        <p:txBody>
          <a:bodyPr wrap="square">
            <a:spAutoFit/>
          </a:bodyPr>
          <a:lstStyle/>
          <a:p>
            <a:r>
              <a:rPr lang="en-US" sz="2400" b="1" dirty="0">
                <a:latin typeface="KaiTi" panose="02010609060101010101" pitchFamily="49" charset="-122"/>
                <a:ea typeface="KaiTi" panose="02010609060101010101" pitchFamily="49" charset="-122"/>
              </a:rPr>
              <a:t>① </a:t>
            </a:r>
            <a:r>
              <a:rPr lang="en-US" sz="2400" b="1" dirty="0" err="1">
                <a:latin typeface="KaiTi" panose="02010609060101010101" pitchFamily="49" charset="-122"/>
                <a:ea typeface="KaiTi" panose="02010609060101010101" pitchFamily="49" charset="-122"/>
              </a:rPr>
              <a:t>分别混合</a:t>
            </a:r>
            <a:r>
              <a:rPr lang="en-US" sz="2400" b="1" dirty="0">
                <a:latin typeface="KaiTi" panose="02010609060101010101" pitchFamily="49" charset="-122"/>
                <a:ea typeface="KaiTi" panose="02010609060101010101" pitchFamily="49" charset="-122"/>
              </a:rPr>
              <a:t> A </a:t>
            </a:r>
            <a:r>
              <a:rPr lang="en-US" sz="2400" b="1" dirty="0" err="1">
                <a:latin typeface="KaiTi" panose="02010609060101010101" pitchFamily="49" charset="-122"/>
                <a:ea typeface="KaiTi" panose="02010609060101010101" pitchFamily="49" charset="-122"/>
              </a:rPr>
              <a:t>相和</a:t>
            </a:r>
            <a:r>
              <a:rPr lang="en-US" sz="2400" b="1" dirty="0">
                <a:latin typeface="KaiTi" panose="02010609060101010101" pitchFamily="49" charset="-122"/>
                <a:ea typeface="KaiTi" panose="02010609060101010101" pitchFamily="49" charset="-122"/>
              </a:rPr>
              <a:t> B </a:t>
            </a:r>
            <a:r>
              <a:rPr lang="en-US" sz="2400" b="1" dirty="0" err="1">
                <a:latin typeface="KaiTi" panose="02010609060101010101" pitchFamily="49" charset="-122"/>
                <a:ea typeface="KaiTi" panose="02010609060101010101" pitchFamily="49" charset="-122"/>
              </a:rPr>
              <a:t>相中各组分</a:t>
            </a:r>
            <a:r>
              <a:rPr lang="en-US" sz="2400" b="1" dirty="0">
                <a:latin typeface="KaiTi" panose="02010609060101010101" pitchFamily="49" charset="-122"/>
                <a:ea typeface="KaiTi" panose="02010609060101010101" pitchFamily="49" charset="-122"/>
              </a:rPr>
              <a:t>；</a:t>
            </a:r>
          </a:p>
          <a:p>
            <a:r>
              <a:rPr lang="en-US" sz="2400" b="1" dirty="0">
                <a:latin typeface="KaiTi" panose="02010609060101010101" pitchFamily="49" charset="-122"/>
                <a:ea typeface="KaiTi" panose="02010609060101010101" pitchFamily="49" charset="-122"/>
              </a:rPr>
              <a:t>② 将 A </a:t>
            </a:r>
            <a:r>
              <a:rPr lang="en-US" sz="2400" b="1" dirty="0" err="1">
                <a:latin typeface="KaiTi" panose="02010609060101010101" pitchFamily="49" charset="-122"/>
                <a:ea typeface="KaiTi" panose="02010609060101010101" pitchFamily="49" charset="-122"/>
              </a:rPr>
              <a:t>相加入</a:t>
            </a:r>
            <a:r>
              <a:rPr lang="en-US" sz="2400" b="1" dirty="0">
                <a:latin typeface="KaiTi" panose="02010609060101010101" pitchFamily="49" charset="-122"/>
                <a:ea typeface="KaiTi" panose="02010609060101010101" pitchFamily="49" charset="-122"/>
              </a:rPr>
              <a:t> B </a:t>
            </a:r>
            <a:r>
              <a:rPr lang="en-US" sz="2400" b="1" dirty="0" err="1">
                <a:latin typeface="KaiTi" panose="02010609060101010101" pitchFamily="49" charset="-122"/>
                <a:ea typeface="KaiTi" panose="02010609060101010101" pitchFamily="49" charset="-122"/>
              </a:rPr>
              <a:t>相中，搅拌均匀</a:t>
            </a:r>
            <a:r>
              <a:rPr lang="en-US" sz="2400" b="1" dirty="0">
                <a:latin typeface="KaiTi" panose="02010609060101010101" pitchFamily="49" charset="-122"/>
                <a:ea typeface="KaiTi" panose="02010609060101010101" pitchFamily="49" charset="-122"/>
              </a:rPr>
              <a:t>。</a:t>
            </a:r>
          </a:p>
        </p:txBody>
      </p:sp>
    </p:spTree>
    <p:extLst>
      <p:ext uri="{BB962C8B-B14F-4D97-AF65-F5344CB8AC3E}">
        <p14:creationId xmlns:p14="http://schemas.microsoft.com/office/powerpoint/2010/main" val="29784495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洗发水成分表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pic>
        <p:nvPicPr>
          <p:cNvPr id="6" name="图片 5">
            <a:extLst>
              <a:ext uri="{FF2B5EF4-FFF2-40B4-BE49-F238E27FC236}">
                <a16:creationId xmlns:a16="http://schemas.microsoft.com/office/drawing/2014/main" id="{A7B2141F-72BD-4161-8FEF-13E41B769390}"/>
              </a:ext>
            </a:extLst>
          </p:cNvPr>
          <p:cNvPicPr>
            <a:picLocks noChangeAspect="1"/>
          </p:cNvPicPr>
          <p:nvPr/>
        </p:nvPicPr>
        <p:blipFill rotWithShape="1">
          <a:blip r:embed="rId2">
            <a:extLst>
              <a:ext uri="{28A0092B-C50C-407E-A947-70E740481C1C}">
                <a14:useLocalDpi xmlns:a14="http://schemas.microsoft.com/office/drawing/2010/main" val="0"/>
              </a:ext>
            </a:extLst>
          </a:blip>
          <a:srcRect l="11364" t="47586" r="28229" b="38391"/>
          <a:stretch/>
        </p:blipFill>
        <p:spPr>
          <a:xfrm>
            <a:off x="182881" y="1899357"/>
            <a:ext cx="8778240" cy="2718134"/>
          </a:xfrm>
          <a:prstGeom prst="rect">
            <a:avLst/>
          </a:prstGeom>
        </p:spPr>
      </p:pic>
    </p:spTree>
    <p:extLst>
      <p:ext uri="{BB962C8B-B14F-4D97-AF65-F5344CB8AC3E}">
        <p14:creationId xmlns:p14="http://schemas.microsoft.com/office/powerpoint/2010/main" val="17321944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洗发水成分表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pic>
        <p:nvPicPr>
          <p:cNvPr id="8" name="图片 7">
            <a:extLst>
              <a:ext uri="{FF2B5EF4-FFF2-40B4-BE49-F238E27FC236}">
                <a16:creationId xmlns:a16="http://schemas.microsoft.com/office/drawing/2014/main" id="{C6918BE9-D66F-84D6-0CB0-BD20A859808E}"/>
              </a:ext>
            </a:extLst>
          </p:cNvPr>
          <p:cNvPicPr>
            <a:picLocks noChangeAspect="1"/>
          </p:cNvPicPr>
          <p:nvPr/>
        </p:nvPicPr>
        <p:blipFill rotWithShape="1">
          <a:blip r:embed="rId2">
            <a:extLst>
              <a:ext uri="{28A0092B-C50C-407E-A947-70E740481C1C}">
                <a14:useLocalDpi xmlns:a14="http://schemas.microsoft.com/office/drawing/2010/main" val="0"/>
              </a:ext>
            </a:extLst>
          </a:blip>
          <a:srcRect l="5845" t="50000" r="13817" b="30966"/>
          <a:stretch/>
        </p:blipFill>
        <p:spPr>
          <a:xfrm>
            <a:off x="182880" y="2262353"/>
            <a:ext cx="8778240" cy="2774192"/>
          </a:xfrm>
          <a:prstGeom prst="rect">
            <a:avLst/>
          </a:prstGeom>
        </p:spPr>
      </p:pic>
    </p:spTree>
    <p:extLst>
      <p:ext uri="{BB962C8B-B14F-4D97-AF65-F5344CB8AC3E}">
        <p14:creationId xmlns:p14="http://schemas.microsoft.com/office/powerpoint/2010/main" val="308721312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19FCC-79C4-79C5-F39C-9CD1AE0ED53F}"/>
            </a:ext>
          </a:extLst>
        </p:cNvPr>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AF56BDC1-4E16-F89D-D22B-3E5D3ECDFA5C}"/>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C9259F9F-68B5-E3FB-33D6-3ECE388D769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3CB3257F-3C4E-A9AD-DFEA-371727A5E4DC}"/>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洗发水成分表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pic>
        <p:nvPicPr>
          <p:cNvPr id="7" name="图片 6">
            <a:extLst>
              <a:ext uri="{FF2B5EF4-FFF2-40B4-BE49-F238E27FC236}">
                <a16:creationId xmlns:a16="http://schemas.microsoft.com/office/drawing/2014/main" id="{53491791-144E-EA75-745B-1A22CAB78B09}"/>
              </a:ext>
            </a:extLst>
          </p:cNvPr>
          <p:cNvPicPr>
            <a:picLocks noChangeAspect="1"/>
          </p:cNvPicPr>
          <p:nvPr/>
        </p:nvPicPr>
        <p:blipFill>
          <a:blip r:embed="rId2">
            <a:extLst>
              <a:ext uri="{28A0092B-C50C-407E-A947-70E740481C1C}">
                <a14:useLocalDpi xmlns:a14="http://schemas.microsoft.com/office/drawing/2010/main" val="0"/>
              </a:ext>
            </a:extLst>
          </a:blip>
          <a:srcRect l="13866" t="56084" r="33344" b="20794"/>
          <a:stretch>
            <a:fillRect/>
          </a:stretch>
        </p:blipFill>
        <p:spPr>
          <a:xfrm>
            <a:off x="1429657" y="1824107"/>
            <a:ext cx="6284685" cy="3671667"/>
          </a:xfrm>
          <a:prstGeom prst="rect">
            <a:avLst/>
          </a:prstGeom>
        </p:spPr>
      </p:pic>
    </p:spTree>
    <p:extLst>
      <p:ext uri="{BB962C8B-B14F-4D97-AF65-F5344CB8AC3E}">
        <p14:creationId xmlns:p14="http://schemas.microsoft.com/office/powerpoint/2010/main" val="15790960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AF78A-74D5-DC1D-B072-A9949B4C3F1C}"/>
            </a:ext>
          </a:extLst>
        </p:cNvPr>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83F73D89-4242-2006-1AD3-6FA18A5D0903}"/>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39662014-BA9A-9CC8-50FC-CA5FC16C100E}"/>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39BD329D-6C1C-700D-8F48-101672A37926}"/>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洗发水成分表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pic>
        <p:nvPicPr>
          <p:cNvPr id="7" name="图片 6">
            <a:extLst>
              <a:ext uri="{FF2B5EF4-FFF2-40B4-BE49-F238E27FC236}">
                <a16:creationId xmlns:a16="http://schemas.microsoft.com/office/drawing/2014/main" id="{3EA679DE-193C-1809-334A-3E12ED07F3FC}"/>
              </a:ext>
            </a:extLst>
          </p:cNvPr>
          <p:cNvPicPr>
            <a:picLocks noChangeAspect="1"/>
          </p:cNvPicPr>
          <p:nvPr/>
        </p:nvPicPr>
        <p:blipFill>
          <a:blip r:embed="rId2">
            <a:extLst>
              <a:ext uri="{28A0092B-C50C-407E-A947-70E740481C1C}">
                <a14:useLocalDpi xmlns:a14="http://schemas.microsoft.com/office/drawing/2010/main" val="0"/>
              </a:ext>
            </a:extLst>
          </a:blip>
          <a:srcRect l="10761" t="40942" r="11890" b="33820"/>
          <a:stretch>
            <a:fillRect/>
          </a:stretch>
        </p:blipFill>
        <p:spPr>
          <a:xfrm>
            <a:off x="702351" y="1610113"/>
            <a:ext cx="7739297" cy="3368287"/>
          </a:xfrm>
          <a:prstGeom prst="rect">
            <a:avLst/>
          </a:prstGeom>
        </p:spPr>
      </p:pic>
    </p:spTree>
    <p:extLst>
      <p:ext uri="{BB962C8B-B14F-4D97-AF65-F5344CB8AC3E}">
        <p14:creationId xmlns:p14="http://schemas.microsoft.com/office/powerpoint/2010/main" val="51146906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1025C-563E-9D3F-8D85-C6BE0A1D3F7D}"/>
            </a:ext>
          </a:extLst>
        </p:cNvPr>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BE9DC4C8-DA7B-2384-8F4E-2C2813540564}"/>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19C84179-5728-145C-5981-1756000077A7}"/>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B9C656A-7EE4-469C-10FF-0C4F93ED04AE}"/>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护发素成分表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pic>
        <p:nvPicPr>
          <p:cNvPr id="7" name="图片 6">
            <a:extLst>
              <a:ext uri="{FF2B5EF4-FFF2-40B4-BE49-F238E27FC236}">
                <a16:creationId xmlns:a16="http://schemas.microsoft.com/office/drawing/2014/main" id="{52D2C756-D621-4A0E-C2BD-96DB42211625}"/>
              </a:ext>
            </a:extLst>
          </p:cNvPr>
          <p:cNvPicPr>
            <a:picLocks noChangeAspect="1"/>
          </p:cNvPicPr>
          <p:nvPr/>
        </p:nvPicPr>
        <p:blipFill>
          <a:blip r:embed="rId2">
            <a:extLst>
              <a:ext uri="{28A0092B-C50C-407E-A947-70E740481C1C}">
                <a14:useLocalDpi xmlns:a14="http://schemas.microsoft.com/office/drawing/2010/main" val="0"/>
              </a:ext>
            </a:extLst>
          </a:blip>
          <a:srcRect t="40624" r="5680" b="46027"/>
          <a:stretch>
            <a:fillRect/>
          </a:stretch>
        </p:blipFill>
        <p:spPr>
          <a:xfrm>
            <a:off x="370123" y="1989682"/>
            <a:ext cx="8403753" cy="1586412"/>
          </a:xfrm>
          <a:prstGeom prst="rect">
            <a:avLst/>
          </a:prstGeom>
        </p:spPr>
      </p:pic>
    </p:spTree>
    <p:extLst>
      <p:ext uri="{BB962C8B-B14F-4D97-AF65-F5344CB8AC3E}">
        <p14:creationId xmlns:p14="http://schemas.microsoft.com/office/powerpoint/2010/main" val="5770022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标题</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06610" y="1597191"/>
            <a:ext cx="7461065" cy="112857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文字</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en-US" altLang="zh-CN" sz="2400">
                <a:latin typeface="+mn-lt"/>
                <a:ea typeface="SimHei" panose="02010609060101010101" pitchFamily="49" charset="-122"/>
              </a:rPr>
              <a:t>Text</a:t>
            </a:r>
            <a:endParaRPr lang="en-US" altLang="zh-CN" sz="2400" dirty="0">
              <a:latin typeface="+mn-lt"/>
              <a:ea typeface="SimHei" panose="02010609060101010101" pitchFamily="49" charset="-122"/>
            </a:endParaRPr>
          </a:p>
        </p:txBody>
      </p:sp>
      <p:sp>
        <p:nvSpPr>
          <p:cNvPr id="6" name="矩形 5">
            <a:extLst>
              <a:ext uri="{FF2B5EF4-FFF2-40B4-BE49-F238E27FC236}">
                <a16:creationId xmlns:a16="http://schemas.microsoft.com/office/drawing/2014/main" id="{ED2D0B72-2417-4BBD-B677-D459CCA4FD81}"/>
              </a:ext>
            </a:extLst>
          </p:cNvPr>
          <p:cNvSpPr/>
          <p:nvPr/>
        </p:nvSpPr>
        <p:spPr>
          <a:xfrm>
            <a:off x="5462534" y="2049410"/>
            <a:ext cx="3253588" cy="1194567"/>
          </a:xfrm>
          <a:prstGeom prst="rect">
            <a:avLst/>
          </a:prstGeom>
          <a:solidFill>
            <a:schemeClr val="bg1"/>
          </a:solidFill>
          <a:ln w="25400">
            <a:solidFill>
              <a:schemeClr val="tx1"/>
            </a:solidFill>
          </a:ln>
        </p:spPr>
        <p:txBody>
          <a:bodyPr rtlCol="0" anchor="ctr"/>
          <a:lstStyle/>
          <a:p>
            <a:pPr algn="ctr"/>
            <a:endParaRPr lang="en-US"/>
          </a:p>
        </p:txBody>
      </p:sp>
    </p:spTree>
    <p:extLst>
      <p:ext uri="{BB962C8B-B14F-4D97-AF65-F5344CB8AC3E}">
        <p14:creationId xmlns:p14="http://schemas.microsoft.com/office/powerpoint/2010/main" val="4002564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theme/theme1.xml><?xml version="1.0" encoding="utf-8"?>
<a:theme xmlns:a="http://schemas.openxmlformats.org/drawingml/2006/main" name="默认设计模板_2">
  <a:themeElements>
    <a:clrScheme name="默认设计模板_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_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25400">
          <a:solidFill>
            <a:schemeClr val="tx1"/>
          </a:solidFill>
        </a:ln>
      </a:spPr>
      <a:bodyPr rtlCol="0" anchor="ctr"/>
      <a:lstStyle>
        <a:defPPr algn="ctr">
          <a:defRPr/>
        </a:defPPr>
      </a:lstStyle>
    </a:spDef>
    <a:lnDef>
      <a:spPr bwMode="auto">
        <a:solidFill>
          <a:schemeClr val="accent1"/>
        </a:solidFill>
        <a:ln w="25400" cap="flat" cmpd="sng" algn="ctr">
          <a:solidFill>
            <a:schemeClr val="tx1"/>
          </a:solidFill>
          <a:prstDash val="solid"/>
          <a:round/>
          <a:headEnd type="none" w="med" len="med"/>
          <a:tailEnd type="stealth" w="lg" len="lg"/>
        </a:ln>
        <a:effectLst/>
      </a:spPr>
      <a:bodyPr/>
      <a:lstStyle/>
    </a:lnDef>
  </a:objectDefaults>
  <a:extraClrSchemeLst>
    <a:extraClrScheme>
      <a:clrScheme name="默认设计模板_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58183</TotalTime>
  <Pages>0</Pages>
  <Words>6614</Words>
  <Characters>0</Characters>
  <Application>Microsoft Office PowerPoint</Application>
  <DocSecurity>0</DocSecurity>
  <PresentationFormat>全屏显示(4:3)</PresentationFormat>
  <Lines>0</Lines>
  <Paragraphs>534</Paragraphs>
  <Slides>77</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77</vt:i4>
      </vt:variant>
    </vt:vector>
  </HeadingPairs>
  <TitlesOfParts>
    <vt:vector size="90" baseType="lpstr">
      <vt:lpstr>Adobe 黑体 Std R</vt:lpstr>
      <vt:lpstr>AdvTT9a5695f7</vt:lpstr>
      <vt:lpstr>AdvTTcd7bcd39</vt:lpstr>
      <vt:lpstr>AdvTTf99636c8.B</vt:lpstr>
      <vt:lpstr>Helvetica-Bold</vt:lpstr>
      <vt:lpstr>Helvetica-Oblique</vt:lpstr>
      <vt:lpstr>KaiTi</vt:lpstr>
      <vt:lpstr>Microsoft JhengHei</vt:lpstr>
      <vt:lpstr>SimHei</vt:lpstr>
      <vt:lpstr>Arial</vt:lpstr>
      <vt:lpstr>Helvetica</vt:lpstr>
      <vt:lpstr>默认设计模板_2</vt:lpstr>
      <vt:lpstr>CS ChemDraw Drawing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Administrator</dc:creator>
  <cp:keywords/>
  <dc:description/>
  <cp:lastModifiedBy>yanqifan@pku.edu.cn</cp:lastModifiedBy>
  <cp:revision>1392</cp:revision>
  <cp:lastPrinted>2025-11-17T01:06:49Z</cp:lastPrinted>
  <dcterms:created xsi:type="dcterms:W3CDTF">2012-03-24T04:10:06Z</dcterms:created>
  <dcterms:modified xsi:type="dcterms:W3CDTF">2025-12-03T06:58:02Z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2052-9.1.0.4517</vt:lpwstr>
  </property>
</Properties>
</file>