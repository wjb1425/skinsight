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61"/>
  </p:notesMasterIdLst>
  <p:sldIdLst>
    <p:sldId id="1127" r:id="rId2"/>
    <p:sldId id="1133" r:id="rId3"/>
    <p:sldId id="1180" r:id="rId4"/>
    <p:sldId id="1181" r:id="rId5"/>
    <p:sldId id="1182" r:id="rId6"/>
    <p:sldId id="1183" r:id="rId7"/>
    <p:sldId id="1185" r:id="rId8"/>
    <p:sldId id="1184" r:id="rId9"/>
    <p:sldId id="1186" r:id="rId10"/>
    <p:sldId id="1187" r:id="rId11"/>
    <p:sldId id="1188" r:id="rId12"/>
    <p:sldId id="1189" r:id="rId13"/>
    <p:sldId id="1190" r:id="rId14"/>
    <p:sldId id="1191" r:id="rId15"/>
    <p:sldId id="1192" r:id="rId16"/>
    <p:sldId id="1193" r:id="rId17"/>
    <p:sldId id="1194" r:id="rId18"/>
    <p:sldId id="1195" r:id="rId19"/>
    <p:sldId id="1196" r:id="rId20"/>
    <p:sldId id="1235" r:id="rId21"/>
    <p:sldId id="1197" r:id="rId22"/>
    <p:sldId id="1198" r:id="rId23"/>
    <p:sldId id="1199" r:id="rId24"/>
    <p:sldId id="1200" r:id="rId25"/>
    <p:sldId id="1201" r:id="rId26"/>
    <p:sldId id="1211" r:id="rId27"/>
    <p:sldId id="1202" r:id="rId28"/>
    <p:sldId id="1203" r:id="rId29"/>
    <p:sldId id="1204" r:id="rId30"/>
    <p:sldId id="1205" r:id="rId31"/>
    <p:sldId id="1206" r:id="rId32"/>
    <p:sldId id="1207" r:id="rId33"/>
    <p:sldId id="1208" r:id="rId34"/>
    <p:sldId id="1209" r:id="rId35"/>
    <p:sldId id="1210" r:id="rId36"/>
    <p:sldId id="1212" r:id="rId37"/>
    <p:sldId id="1213" r:id="rId38"/>
    <p:sldId id="1214" r:id="rId39"/>
    <p:sldId id="1215" r:id="rId40"/>
    <p:sldId id="1216" r:id="rId41"/>
    <p:sldId id="1217" r:id="rId42"/>
    <p:sldId id="1218" r:id="rId43"/>
    <p:sldId id="1219" r:id="rId44"/>
    <p:sldId id="1220" r:id="rId45"/>
    <p:sldId id="1221" r:id="rId46"/>
    <p:sldId id="1222" r:id="rId47"/>
    <p:sldId id="1223" r:id="rId48"/>
    <p:sldId id="1231" r:id="rId49"/>
    <p:sldId id="1224" r:id="rId50"/>
    <p:sldId id="1225" r:id="rId51"/>
    <p:sldId id="1232" r:id="rId52"/>
    <p:sldId id="1233" r:id="rId53"/>
    <p:sldId id="1226" r:id="rId54"/>
    <p:sldId id="1227" r:id="rId55"/>
    <p:sldId id="1228" r:id="rId56"/>
    <p:sldId id="1229" r:id="rId57"/>
    <p:sldId id="1230" r:id="rId58"/>
    <p:sldId id="1234" r:id="rId59"/>
    <p:sldId id="1179" r:id="rId60"/>
  </p:sldIdLst>
  <p:sldSz cx="9144000" cy="6858000" type="screen4x3"/>
  <p:notesSz cx="6858000" cy="9947275"/>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3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FF"/>
    <a:srgbClr val="008000"/>
    <a:srgbClr val="00FF00"/>
    <a:srgbClr val="FF6600"/>
    <a:srgbClr val="FFFF00"/>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473" autoAdjust="0"/>
  </p:normalViewPr>
  <p:slideViewPr>
    <p:cSldViewPr snapToGrid="0">
      <p:cViewPr varScale="1">
        <p:scale>
          <a:sx n="61" d="100"/>
          <a:sy n="61" d="100"/>
        </p:scale>
        <p:origin x="1656" y="66"/>
      </p:cViewPr>
      <p:guideLst>
        <p:guide orient="horz" pos="2138"/>
        <p:guide pos="2880"/>
      </p:guideLst>
    </p:cSldViewPr>
  </p:slideViewPr>
  <p:notesTextViewPr>
    <p:cViewPr>
      <p:scale>
        <a:sx n="1" d="1"/>
        <a:sy n="1" d="1"/>
      </p:scale>
      <p:origin x="0" y="0"/>
    </p:cViewPr>
  </p:notesTextViewPr>
  <p:gridSpacing cx="76198" cy="7619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BE4076EE-FE68-43AE-99C5-A81FDE8C2F83}"/>
              </a:ext>
            </a:extLst>
          </p:cNvPr>
          <p:cNvSpPr>
            <a:spLocks noGrp="1" noChangeArrowheads="1"/>
          </p:cNvSpPr>
          <p:nvPr>
            <p:ph type="hdr" sz="quarter"/>
          </p:nvPr>
        </p:nvSpPr>
        <p:spPr bwMode="auto">
          <a:xfrm>
            <a:off x="1" y="0"/>
            <a:ext cx="2970213" cy="497364"/>
          </a:xfrm>
          <a:prstGeom prst="rect">
            <a:avLst/>
          </a:prstGeom>
          <a:noFill/>
          <a:ln>
            <a:noFill/>
          </a:ln>
          <a:extLst>
            <a:ext uri="{909E8E84-426E-40dd-AFC4-6F175D3DCCD1}"/>
            <a:ext uri="{91240B29-F687-4f45-9708-019B960494DF}"/>
          </a:extLst>
        </p:spPr>
        <p:txBody>
          <a:bodyPr vert="horz" wrap="square" lIns="91440" tIns="45720" rIns="91440" bIns="45720" numCol="1" anchor="t" anchorCtr="0" compatLnSpc="1">
            <a:prstTxWarp prst="textNoShape">
              <a:avLst/>
            </a:prstTxWarp>
          </a:bodyPr>
          <a:lstStyle>
            <a:lvl1pPr eaLnBrk="1" hangingPunct="1">
              <a:buFont typeface="Arial" charset="0"/>
              <a:buNone/>
              <a:defRPr sz="1200">
                <a:latin typeface="Arial" charset="0"/>
                <a:ea typeface="宋体" charset="0"/>
                <a:cs typeface="宋体" charset="0"/>
              </a:defRPr>
            </a:lvl1pPr>
          </a:lstStyle>
          <a:p>
            <a:pPr>
              <a:defRPr/>
            </a:pPr>
            <a:endParaRPr lang="zh-CN" altLang="en-US"/>
          </a:p>
        </p:txBody>
      </p:sp>
      <p:sp>
        <p:nvSpPr>
          <p:cNvPr id="3075" name="Rectangle 3">
            <a:extLst>
              <a:ext uri="{FF2B5EF4-FFF2-40B4-BE49-F238E27FC236}">
                <a16:creationId xmlns:a16="http://schemas.microsoft.com/office/drawing/2014/main" id="{9F48D32A-919E-48D2-B1E8-51EAC1B42BD8}"/>
              </a:ext>
            </a:extLst>
          </p:cNvPr>
          <p:cNvSpPr>
            <a:spLocks noGrp="1" noChangeArrowheads="1"/>
          </p:cNvSpPr>
          <p:nvPr>
            <p:ph type="dt" idx="1"/>
          </p:nvPr>
        </p:nvSpPr>
        <p:spPr bwMode="auto">
          <a:xfrm>
            <a:off x="3883025" y="0"/>
            <a:ext cx="2973388" cy="497364"/>
          </a:xfrm>
          <a:prstGeom prst="rect">
            <a:avLst/>
          </a:prstGeom>
          <a:noFill/>
          <a:ln>
            <a:noFill/>
          </a:ln>
          <a:extLst>
            <a:ext uri="{909E8E84-426E-40dd-AFC4-6F175D3DCCD1}"/>
            <a:ext uri="{91240B29-F687-4f45-9708-019B960494DF}"/>
          </a:extLst>
        </p:spPr>
        <p:txBody>
          <a:bodyPr vert="horz" wrap="square" lIns="91440" tIns="45720" rIns="91440" bIns="45720" numCol="1" anchor="t" anchorCtr="0" compatLnSpc="1">
            <a:prstTxWarp prst="textNoShape">
              <a:avLst/>
            </a:prstTxWarp>
          </a:bodyPr>
          <a:lstStyle>
            <a:lvl1pPr algn="r" eaLnBrk="1" hangingPunct="1">
              <a:buFont typeface="Arial" charset="0"/>
              <a:buNone/>
              <a:defRPr sz="1200">
                <a:latin typeface="Arial" charset="0"/>
                <a:ea typeface="宋体" charset="0"/>
                <a:cs typeface="宋体" charset="0"/>
              </a:defRPr>
            </a:lvl1pPr>
          </a:lstStyle>
          <a:p>
            <a:pPr>
              <a:defRPr/>
            </a:pPr>
            <a:endParaRPr lang="zh-CN" altLang="en-US"/>
          </a:p>
        </p:txBody>
      </p:sp>
      <p:sp>
        <p:nvSpPr>
          <p:cNvPr id="2052" name="Rectangle 4">
            <a:extLst>
              <a:ext uri="{FF2B5EF4-FFF2-40B4-BE49-F238E27FC236}">
                <a16:creationId xmlns:a16="http://schemas.microsoft.com/office/drawing/2014/main" id="{D34AD48D-B12D-4736-AF44-05EE8E9247E8}"/>
              </a:ext>
            </a:extLst>
          </p:cNvPr>
          <p:cNvSpPr>
            <a:spLocks noGrp="1" noRot="1" noChangeAspect="1" noChangeArrowheads="1"/>
          </p:cNvSpPr>
          <p:nvPr>
            <p:ph type="sldImg" idx="2"/>
          </p:nvPr>
        </p:nvSpPr>
        <p:spPr bwMode="auto">
          <a:xfrm>
            <a:off x="942975" y="746125"/>
            <a:ext cx="4972050" cy="373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Rectangle 5">
            <a:extLst>
              <a:ext uri="{FF2B5EF4-FFF2-40B4-BE49-F238E27FC236}">
                <a16:creationId xmlns:a16="http://schemas.microsoft.com/office/drawing/2014/main" id="{EC3AA012-CFE6-4520-8A8E-13DDAFFDCFAA}"/>
              </a:ext>
            </a:extLst>
          </p:cNvPr>
          <p:cNvSpPr>
            <a:spLocks noGrp="1" noRot="1" noChangeArrowheads="1"/>
          </p:cNvSpPr>
          <p:nvPr>
            <p:ph type="body" sz="quarter" idx="3"/>
          </p:nvPr>
        </p:nvSpPr>
        <p:spPr bwMode="auto">
          <a:xfrm>
            <a:off x="685800" y="4724956"/>
            <a:ext cx="5486400" cy="4476274"/>
          </a:xfrm>
          <a:prstGeom prst="rect">
            <a:avLst/>
          </a:prstGeom>
          <a:noFill/>
          <a:ln>
            <a:noFill/>
          </a:ln>
          <a:extLst>
            <a:ext uri="{909E8E84-426E-40dd-AFC4-6F175D3DCCD1}"/>
            <a:ext uri="{91240B29-F687-4f45-9708-019B960494DF}"/>
          </a:extLst>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endParaRPr lang="en-US" altLang="zh-CN" noProof="0"/>
          </a:p>
          <a:p>
            <a:pPr lvl="1"/>
            <a:r>
              <a:rPr lang="zh-CN" altLang="en-US" noProof="0"/>
              <a:t>第二级</a:t>
            </a:r>
            <a:endParaRPr lang="en-US" altLang="zh-CN" noProof="0"/>
          </a:p>
          <a:p>
            <a:pPr lvl="2"/>
            <a:r>
              <a:rPr lang="zh-CN" altLang="en-US" noProof="0"/>
              <a:t>第三级</a:t>
            </a:r>
            <a:endParaRPr lang="en-US" altLang="zh-CN" noProof="0"/>
          </a:p>
          <a:p>
            <a:pPr lvl="3"/>
            <a:r>
              <a:rPr lang="zh-CN" altLang="en-US" noProof="0"/>
              <a:t>第四级</a:t>
            </a:r>
            <a:endParaRPr lang="en-US" altLang="zh-CN" noProof="0"/>
          </a:p>
          <a:p>
            <a:pPr lvl="4"/>
            <a:r>
              <a:rPr lang="zh-CN" altLang="en-US" noProof="0"/>
              <a:t>第五级</a:t>
            </a:r>
            <a:endParaRPr lang="en-US" altLang="zh-CN" noProof="0"/>
          </a:p>
        </p:txBody>
      </p:sp>
      <p:sp>
        <p:nvSpPr>
          <p:cNvPr id="3078" name="Rectangle 6">
            <a:extLst>
              <a:ext uri="{FF2B5EF4-FFF2-40B4-BE49-F238E27FC236}">
                <a16:creationId xmlns:a16="http://schemas.microsoft.com/office/drawing/2014/main" id="{900D91B0-938D-43D2-B4A5-04218A09BCE8}"/>
              </a:ext>
            </a:extLst>
          </p:cNvPr>
          <p:cNvSpPr>
            <a:spLocks noGrp="1" noChangeArrowheads="1"/>
          </p:cNvSpPr>
          <p:nvPr>
            <p:ph type="ftr" sz="quarter" idx="4"/>
          </p:nvPr>
        </p:nvSpPr>
        <p:spPr bwMode="auto">
          <a:xfrm>
            <a:off x="1" y="9448185"/>
            <a:ext cx="2970213" cy="497364"/>
          </a:xfrm>
          <a:prstGeom prst="rect">
            <a:avLst/>
          </a:prstGeom>
          <a:noFill/>
          <a:ln>
            <a:noFill/>
          </a:ln>
          <a:extLst>
            <a:ext uri="{909E8E84-426E-40dd-AFC4-6F175D3DCCD1}"/>
            <a:ext uri="{91240B29-F687-4f45-9708-019B960494DF}"/>
          </a:extLst>
        </p:spPr>
        <p:txBody>
          <a:bodyPr vert="horz" wrap="square" lIns="91440" tIns="45720" rIns="91440" bIns="45720" numCol="1" anchor="b" anchorCtr="0" compatLnSpc="1">
            <a:prstTxWarp prst="textNoShape">
              <a:avLst/>
            </a:prstTxWarp>
          </a:bodyPr>
          <a:lstStyle>
            <a:lvl1pPr eaLnBrk="1" hangingPunct="1">
              <a:buFont typeface="Arial" charset="0"/>
              <a:buNone/>
              <a:defRPr sz="1200">
                <a:latin typeface="Arial" charset="0"/>
                <a:ea typeface="宋体" charset="0"/>
                <a:cs typeface="宋体" charset="0"/>
              </a:defRPr>
            </a:lvl1pPr>
          </a:lstStyle>
          <a:p>
            <a:pPr>
              <a:defRPr/>
            </a:pPr>
            <a:endParaRPr lang="zh-CN" altLang="en-US"/>
          </a:p>
        </p:txBody>
      </p:sp>
      <p:sp>
        <p:nvSpPr>
          <p:cNvPr id="3079" name="Rectangle 7">
            <a:extLst>
              <a:ext uri="{FF2B5EF4-FFF2-40B4-BE49-F238E27FC236}">
                <a16:creationId xmlns:a16="http://schemas.microsoft.com/office/drawing/2014/main" id="{460084FF-D1F9-4991-8BEC-52A9C4629F32}"/>
              </a:ext>
            </a:extLst>
          </p:cNvPr>
          <p:cNvSpPr>
            <a:spLocks noGrp="1" noChangeArrowheads="1"/>
          </p:cNvSpPr>
          <p:nvPr>
            <p:ph type="sldNum" sz="quarter" idx="5"/>
          </p:nvPr>
        </p:nvSpPr>
        <p:spPr bwMode="auto">
          <a:xfrm>
            <a:off x="3883025" y="9448185"/>
            <a:ext cx="2973388" cy="497364"/>
          </a:xfrm>
          <a:prstGeom prst="rect">
            <a:avLst/>
          </a:prstGeom>
          <a:noFill/>
          <a:ln>
            <a:noFill/>
          </a:ln>
          <a:extLst>
            <a:ext uri="{909E8E84-426E-40dd-AFC4-6F175D3DCCD1}"/>
            <a:ext uri="{91240B29-F687-4f45-9708-019B960494DF}"/>
          </a:extLst>
        </p:spPr>
        <p:txBody>
          <a:bodyPr vert="horz" wrap="square" lIns="91440" tIns="45720" rIns="91440" bIns="45720" numCol="1" anchor="b" anchorCtr="0" compatLnSpc="1">
            <a:prstTxWarp prst="textNoShape">
              <a:avLst/>
            </a:prstTxWarp>
          </a:bodyPr>
          <a:lstStyle>
            <a:lvl1pPr algn="r" eaLnBrk="1" hangingPunct="1">
              <a:buFont typeface="Arial" panose="020B0604020202020204" pitchFamily="34" charset="0"/>
              <a:buNone/>
              <a:defRPr sz="1200">
                <a:ea typeface="SimSun" panose="02010600030101010101" pitchFamily="2" charset="-122"/>
              </a:defRPr>
            </a:lvl1pPr>
          </a:lstStyle>
          <a:p>
            <a:pPr>
              <a:defRPr/>
            </a:pPr>
            <a:fld id="{778C1415-F545-4EAF-A725-72D26972220F}"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pPr>
              <a:defRPr/>
            </a:pPr>
            <a:fld id="{778C1415-F545-4EAF-A725-72D26972220F}" type="slidenum">
              <a:rPr lang="zh-CN" altLang="en-US" smtClean="0"/>
              <a:pPr>
                <a:defRPr/>
              </a:pPr>
              <a:t>58</a:t>
            </a:fld>
            <a:endParaRPr lang="zh-CN" altLang="en-US"/>
          </a:p>
        </p:txBody>
      </p:sp>
    </p:spTree>
    <p:extLst>
      <p:ext uri="{BB962C8B-B14F-4D97-AF65-F5344CB8AC3E}">
        <p14:creationId xmlns:p14="http://schemas.microsoft.com/office/powerpoint/2010/main" val="4182803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a:extLst>
              <a:ext uri="{FF2B5EF4-FFF2-40B4-BE49-F238E27FC236}">
                <a16:creationId xmlns:a16="http://schemas.microsoft.com/office/drawing/2014/main" id="{3258F932-2890-466A-B7FD-D54B5E428C5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C6CDF12-C462-4CCB-A356-28A7F58EA67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56ABFEF-8D30-40EE-85CE-F956A80A477B}"/>
              </a:ext>
            </a:extLst>
          </p:cNvPr>
          <p:cNvSpPr>
            <a:spLocks noGrp="1" noChangeArrowheads="1"/>
          </p:cNvSpPr>
          <p:nvPr>
            <p:ph type="sldNum" sz="quarter" idx="12"/>
          </p:nvPr>
        </p:nvSpPr>
        <p:spPr>
          <a:ln/>
        </p:spPr>
        <p:txBody>
          <a:bodyPr/>
          <a:lstStyle>
            <a:lvl1pPr>
              <a:defRPr/>
            </a:lvl1pPr>
          </a:lstStyle>
          <a:p>
            <a:pPr>
              <a:defRPr/>
            </a:pPr>
            <a:fld id="{83ACF02D-BD2B-41A3-A43A-08279D48516E}" type="slidenum">
              <a:rPr lang="en-US" altLang="zh-CN"/>
              <a:pPr>
                <a:defRPr/>
              </a:pPr>
              <a:t>‹#›</a:t>
            </a:fld>
            <a:endParaRPr lang="en-US" altLang="zh-CN"/>
          </a:p>
        </p:txBody>
      </p:sp>
    </p:spTree>
    <p:extLst>
      <p:ext uri="{BB962C8B-B14F-4D97-AF65-F5344CB8AC3E}">
        <p14:creationId xmlns:p14="http://schemas.microsoft.com/office/powerpoint/2010/main" val="821212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153F3F7-AC56-4FF9-B43F-CF4FBD8658D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3031F05-997D-49D6-A3A7-B3CFD738767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8907D21-A66F-4D72-8CDD-4E3976303BA1}"/>
              </a:ext>
            </a:extLst>
          </p:cNvPr>
          <p:cNvSpPr>
            <a:spLocks noGrp="1" noChangeArrowheads="1"/>
          </p:cNvSpPr>
          <p:nvPr>
            <p:ph type="sldNum" sz="quarter" idx="12"/>
          </p:nvPr>
        </p:nvSpPr>
        <p:spPr>
          <a:ln/>
        </p:spPr>
        <p:txBody>
          <a:bodyPr/>
          <a:lstStyle>
            <a:lvl1pPr>
              <a:defRPr/>
            </a:lvl1pPr>
          </a:lstStyle>
          <a:p>
            <a:pPr>
              <a:defRPr/>
            </a:pPr>
            <a:fld id="{D1AE9027-F3D1-4C9B-9224-74565BAB0F91}" type="slidenum">
              <a:rPr lang="en-US" altLang="zh-CN"/>
              <a:pPr>
                <a:defRPr/>
              </a:pPr>
              <a:t>‹#›</a:t>
            </a:fld>
            <a:endParaRPr lang="en-US" altLang="zh-CN"/>
          </a:p>
        </p:txBody>
      </p:sp>
    </p:spTree>
    <p:extLst>
      <p:ext uri="{BB962C8B-B14F-4D97-AF65-F5344CB8AC3E}">
        <p14:creationId xmlns:p14="http://schemas.microsoft.com/office/powerpoint/2010/main" val="3471907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07D94C75-0E5B-4C8C-8A85-61C6E7B6502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C655DBC5-C64C-4A22-B684-D5ED958D0EC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A1FB95A-9604-4FE1-9D3A-7F2FF52535B1}"/>
              </a:ext>
            </a:extLst>
          </p:cNvPr>
          <p:cNvSpPr>
            <a:spLocks noGrp="1" noChangeArrowheads="1"/>
          </p:cNvSpPr>
          <p:nvPr>
            <p:ph type="sldNum" sz="quarter" idx="12"/>
          </p:nvPr>
        </p:nvSpPr>
        <p:spPr>
          <a:ln/>
        </p:spPr>
        <p:txBody>
          <a:bodyPr/>
          <a:lstStyle>
            <a:lvl1pPr>
              <a:defRPr/>
            </a:lvl1pPr>
          </a:lstStyle>
          <a:p>
            <a:pPr>
              <a:defRPr/>
            </a:pPr>
            <a:fld id="{01EA35FE-6C29-4C46-8B53-D31BCACACDA4}" type="slidenum">
              <a:rPr lang="en-US" altLang="zh-CN"/>
              <a:pPr>
                <a:defRPr/>
              </a:pPr>
              <a:t>‹#›</a:t>
            </a:fld>
            <a:endParaRPr lang="en-US" altLang="zh-CN"/>
          </a:p>
        </p:txBody>
      </p:sp>
    </p:spTree>
    <p:extLst>
      <p:ext uri="{BB962C8B-B14F-4D97-AF65-F5344CB8AC3E}">
        <p14:creationId xmlns:p14="http://schemas.microsoft.com/office/powerpoint/2010/main" val="3571400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67C559C9-402E-49B6-972F-BA454CAB79D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1CD5592F-244A-426B-AE54-C75B816AAF9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DB71A969-1188-4E27-94E7-7C97008B70AD}"/>
              </a:ext>
            </a:extLst>
          </p:cNvPr>
          <p:cNvSpPr>
            <a:spLocks noGrp="1" noChangeArrowheads="1"/>
          </p:cNvSpPr>
          <p:nvPr>
            <p:ph type="sldNum" sz="quarter" idx="12"/>
          </p:nvPr>
        </p:nvSpPr>
        <p:spPr>
          <a:ln/>
        </p:spPr>
        <p:txBody>
          <a:bodyPr/>
          <a:lstStyle>
            <a:lvl1pPr>
              <a:defRPr/>
            </a:lvl1pPr>
          </a:lstStyle>
          <a:p>
            <a:pPr>
              <a:defRPr/>
            </a:pPr>
            <a:fld id="{A2BEFB40-825F-4796-972A-72776875975C}" type="slidenum">
              <a:rPr lang="en-US" altLang="zh-CN"/>
              <a:pPr>
                <a:defRPr/>
              </a:pPr>
              <a:t>‹#›</a:t>
            </a:fld>
            <a:endParaRPr lang="en-US" altLang="zh-CN"/>
          </a:p>
        </p:txBody>
      </p:sp>
    </p:spTree>
    <p:extLst>
      <p:ext uri="{BB962C8B-B14F-4D97-AF65-F5344CB8AC3E}">
        <p14:creationId xmlns:p14="http://schemas.microsoft.com/office/powerpoint/2010/main" val="1774853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87852098-092B-4191-91AC-47E76367E5B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62835333-50B1-47AA-8BD8-9180F0B6EF0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306042E5-AB1C-4E74-A4F2-A3A8A16B765E}"/>
              </a:ext>
            </a:extLst>
          </p:cNvPr>
          <p:cNvSpPr>
            <a:spLocks noGrp="1" noChangeArrowheads="1"/>
          </p:cNvSpPr>
          <p:nvPr>
            <p:ph type="sldNum" sz="quarter" idx="12"/>
          </p:nvPr>
        </p:nvSpPr>
        <p:spPr>
          <a:ln/>
        </p:spPr>
        <p:txBody>
          <a:bodyPr/>
          <a:lstStyle>
            <a:lvl1pPr>
              <a:defRPr/>
            </a:lvl1pPr>
          </a:lstStyle>
          <a:p>
            <a:pPr>
              <a:defRPr/>
            </a:pPr>
            <a:fld id="{FA06A27F-7434-4140-BAD3-3CE749CFA594}" type="slidenum">
              <a:rPr lang="en-US" altLang="zh-CN"/>
              <a:pPr>
                <a:defRPr/>
              </a:pPr>
              <a:t>‹#›</a:t>
            </a:fld>
            <a:endParaRPr lang="en-US" altLang="zh-CN"/>
          </a:p>
        </p:txBody>
      </p:sp>
    </p:spTree>
    <p:extLst>
      <p:ext uri="{BB962C8B-B14F-4D97-AF65-F5344CB8AC3E}">
        <p14:creationId xmlns:p14="http://schemas.microsoft.com/office/powerpoint/2010/main" val="3430043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CC065B87-4760-410D-9B8A-0031A9CAF7C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C54285A1-172E-4738-9540-9201D81FBB3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9AEB86D3-7468-4211-8791-ECFAAFE185BE}"/>
              </a:ext>
            </a:extLst>
          </p:cNvPr>
          <p:cNvSpPr>
            <a:spLocks noGrp="1" noChangeArrowheads="1"/>
          </p:cNvSpPr>
          <p:nvPr>
            <p:ph type="sldNum" sz="quarter" idx="12"/>
          </p:nvPr>
        </p:nvSpPr>
        <p:spPr>
          <a:ln/>
        </p:spPr>
        <p:txBody>
          <a:bodyPr/>
          <a:lstStyle>
            <a:lvl1pPr>
              <a:defRPr/>
            </a:lvl1pPr>
          </a:lstStyle>
          <a:p>
            <a:pPr>
              <a:defRPr/>
            </a:pPr>
            <a:fld id="{5D94F624-5205-4AAE-AE23-807F393407FA}" type="slidenum">
              <a:rPr lang="en-US" altLang="zh-CN"/>
              <a:pPr>
                <a:defRPr/>
              </a:pPr>
              <a:t>‹#›</a:t>
            </a:fld>
            <a:endParaRPr lang="en-US" altLang="zh-CN"/>
          </a:p>
        </p:txBody>
      </p:sp>
    </p:spTree>
    <p:extLst>
      <p:ext uri="{BB962C8B-B14F-4D97-AF65-F5344CB8AC3E}">
        <p14:creationId xmlns:p14="http://schemas.microsoft.com/office/powerpoint/2010/main" val="10472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C77E13B-72D9-470A-A1FF-022BA31FDD0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7551F784-F8A4-4306-B383-E8C5305331E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D5B2EE31-B659-4A2E-A5F7-4B33CE055727}"/>
              </a:ext>
            </a:extLst>
          </p:cNvPr>
          <p:cNvSpPr>
            <a:spLocks noGrp="1" noChangeArrowheads="1"/>
          </p:cNvSpPr>
          <p:nvPr>
            <p:ph type="sldNum" sz="quarter" idx="12"/>
          </p:nvPr>
        </p:nvSpPr>
        <p:spPr>
          <a:ln/>
        </p:spPr>
        <p:txBody>
          <a:bodyPr/>
          <a:lstStyle>
            <a:lvl1pPr>
              <a:defRPr/>
            </a:lvl1pPr>
          </a:lstStyle>
          <a:p>
            <a:pPr>
              <a:defRPr/>
            </a:pPr>
            <a:fld id="{28315612-C62D-4AEB-B509-25ACC8E173B5}" type="slidenum">
              <a:rPr lang="en-US" altLang="zh-CN"/>
              <a:pPr>
                <a:defRPr/>
              </a:pPr>
              <a:t>‹#›</a:t>
            </a:fld>
            <a:endParaRPr lang="en-US" altLang="zh-CN"/>
          </a:p>
        </p:txBody>
      </p:sp>
    </p:spTree>
    <p:extLst>
      <p:ext uri="{BB962C8B-B14F-4D97-AF65-F5344CB8AC3E}">
        <p14:creationId xmlns:p14="http://schemas.microsoft.com/office/powerpoint/2010/main" val="1321404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7330B0F8-9AD5-4FFB-BAA3-1A9121D7747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5C99C597-8A04-4988-B2BC-BC7245954CD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64FA4472-FF9F-4640-A6AA-A22E92CDF4EA}"/>
              </a:ext>
            </a:extLst>
          </p:cNvPr>
          <p:cNvSpPr>
            <a:spLocks noGrp="1" noChangeArrowheads="1"/>
          </p:cNvSpPr>
          <p:nvPr>
            <p:ph type="sldNum" sz="quarter" idx="12"/>
          </p:nvPr>
        </p:nvSpPr>
        <p:spPr>
          <a:ln/>
        </p:spPr>
        <p:txBody>
          <a:bodyPr/>
          <a:lstStyle>
            <a:lvl1pPr>
              <a:defRPr/>
            </a:lvl1pPr>
          </a:lstStyle>
          <a:p>
            <a:pPr>
              <a:defRPr/>
            </a:pPr>
            <a:fld id="{EB68E671-225C-4CFC-9C8F-6FC8794CFFD6}" type="slidenum">
              <a:rPr lang="en-US" altLang="zh-CN"/>
              <a:pPr>
                <a:defRPr/>
              </a:pPr>
              <a:t>‹#›</a:t>
            </a:fld>
            <a:endParaRPr lang="en-US" altLang="zh-CN"/>
          </a:p>
        </p:txBody>
      </p:sp>
    </p:spTree>
    <p:extLst>
      <p:ext uri="{BB962C8B-B14F-4D97-AF65-F5344CB8AC3E}">
        <p14:creationId xmlns:p14="http://schemas.microsoft.com/office/powerpoint/2010/main" val="2242910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EC8497F1-318E-4118-8ADB-DC9B25B0626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C63987DB-7905-42B3-92B5-1E55EC54476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8F771812-8A9A-4030-9354-C31CAB44A21B}"/>
              </a:ext>
            </a:extLst>
          </p:cNvPr>
          <p:cNvSpPr>
            <a:spLocks noGrp="1" noChangeArrowheads="1"/>
          </p:cNvSpPr>
          <p:nvPr>
            <p:ph type="sldNum" sz="quarter" idx="12"/>
          </p:nvPr>
        </p:nvSpPr>
        <p:spPr>
          <a:ln/>
        </p:spPr>
        <p:txBody>
          <a:bodyPr/>
          <a:lstStyle>
            <a:lvl1pPr>
              <a:defRPr/>
            </a:lvl1pPr>
          </a:lstStyle>
          <a:p>
            <a:pPr>
              <a:defRPr/>
            </a:pPr>
            <a:fld id="{D0C1CC3E-3A36-4EA1-8FDF-FCBC759A9980}" type="slidenum">
              <a:rPr lang="en-US" altLang="zh-CN"/>
              <a:pPr>
                <a:defRPr/>
              </a:pPr>
              <a:t>‹#›</a:t>
            </a:fld>
            <a:endParaRPr lang="en-US" altLang="zh-CN"/>
          </a:p>
        </p:txBody>
      </p:sp>
    </p:spTree>
    <p:extLst>
      <p:ext uri="{BB962C8B-B14F-4D97-AF65-F5344CB8AC3E}">
        <p14:creationId xmlns:p14="http://schemas.microsoft.com/office/powerpoint/2010/main" val="1270931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A0C0EC6-7BCF-4048-853F-1E8529DAA4B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CDA18239-816F-4A76-A6F8-54BB7DC23A4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0D12BE1-4C58-4ED6-B698-E499CC12A84B}"/>
              </a:ext>
            </a:extLst>
          </p:cNvPr>
          <p:cNvSpPr>
            <a:spLocks noGrp="1" noChangeArrowheads="1"/>
          </p:cNvSpPr>
          <p:nvPr>
            <p:ph type="sldNum" sz="quarter" idx="12"/>
          </p:nvPr>
        </p:nvSpPr>
        <p:spPr>
          <a:ln/>
        </p:spPr>
        <p:txBody>
          <a:bodyPr/>
          <a:lstStyle>
            <a:lvl1pPr>
              <a:defRPr/>
            </a:lvl1pPr>
          </a:lstStyle>
          <a:p>
            <a:pPr>
              <a:defRPr/>
            </a:pPr>
            <a:fld id="{6179DB30-7045-4D36-B14A-80846535937F}" type="slidenum">
              <a:rPr lang="en-US" altLang="zh-CN"/>
              <a:pPr>
                <a:defRPr/>
              </a:pPr>
              <a:t>‹#›</a:t>
            </a:fld>
            <a:endParaRPr lang="en-US" altLang="zh-CN"/>
          </a:p>
        </p:txBody>
      </p:sp>
    </p:spTree>
    <p:extLst>
      <p:ext uri="{BB962C8B-B14F-4D97-AF65-F5344CB8AC3E}">
        <p14:creationId xmlns:p14="http://schemas.microsoft.com/office/powerpoint/2010/main" val="1856350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696751CC-D93A-4811-9EB6-52F2917DE16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252C067-7BB3-43EC-89D8-A7FA4AB2AD9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383FF4B-04D2-4813-BCA2-8E3C22F53182}"/>
              </a:ext>
            </a:extLst>
          </p:cNvPr>
          <p:cNvSpPr>
            <a:spLocks noGrp="1" noChangeArrowheads="1"/>
          </p:cNvSpPr>
          <p:nvPr>
            <p:ph type="sldNum" sz="quarter" idx="12"/>
          </p:nvPr>
        </p:nvSpPr>
        <p:spPr>
          <a:ln/>
        </p:spPr>
        <p:txBody>
          <a:bodyPr/>
          <a:lstStyle>
            <a:lvl1pPr>
              <a:defRPr/>
            </a:lvl1pPr>
          </a:lstStyle>
          <a:p>
            <a:pPr>
              <a:defRPr/>
            </a:pPr>
            <a:fld id="{5F5BCAFB-D2B0-4266-B070-58FF8190BD85}" type="slidenum">
              <a:rPr lang="en-US" altLang="zh-CN"/>
              <a:pPr>
                <a:defRPr/>
              </a:pPr>
              <a:t>‹#›</a:t>
            </a:fld>
            <a:endParaRPr lang="en-US" altLang="zh-CN"/>
          </a:p>
        </p:txBody>
      </p:sp>
    </p:spTree>
    <p:extLst>
      <p:ext uri="{BB962C8B-B14F-4D97-AF65-F5344CB8AC3E}">
        <p14:creationId xmlns:p14="http://schemas.microsoft.com/office/powerpoint/2010/main" val="500121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98ED485-6AA5-423E-A45F-DF87DF13AA7B}"/>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7" name="Rectangle 3">
            <a:extLst>
              <a:ext uri="{FF2B5EF4-FFF2-40B4-BE49-F238E27FC236}">
                <a16:creationId xmlns:a16="http://schemas.microsoft.com/office/drawing/2014/main" id="{EF87A2F6-7A58-428B-8C9D-135F10D749E2}"/>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endParaRPr lang="en-US" altLang="zh-CN"/>
          </a:p>
          <a:p>
            <a:pPr lvl="1"/>
            <a:r>
              <a:rPr lang="zh-CN" altLang="en-US"/>
              <a:t>第二级</a:t>
            </a:r>
            <a:endParaRPr lang="en-US" altLang="zh-CN"/>
          </a:p>
          <a:p>
            <a:pPr lvl="2"/>
            <a:r>
              <a:rPr lang="zh-CN" altLang="en-US"/>
              <a:t>第三级</a:t>
            </a:r>
            <a:endParaRPr lang="en-US" altLang="zh-CN"/>
          </a:p>
          <a:p>
            <a:pPr lvl="3"/>
            <a:r>
              <a:rPr lang="zh-CN" altLang="en-US"/>
              <a:t>第四级</a:t>
            </a:r>
            <a:endParaRPr lang="en-US" altLang="zh-CN"/>
          </a:p>
          <a:p>
            <a:pPr lvl="4"/>
            <a:r>
              <a:rPr lang="zh-CN" altLang="en-US"/>
              <a:t>第五级</a:t>
            </a:r>
            <a:endParaRPr lang="en-US" altLang="zh-CN"/>
          </a:p>
        </p:txBody>
      </p:sp>
      <p:sp>
        <p:nvSpPr>
          <p:cNvPr id="2052" name="Rectangle 4">
            <a:extLst>
              <a:ext uri="{FF2B5EF4-FFF2-40B4-BE49-F238E27FC236}">
                <a16:creationId xmlns:a16="http://schemas.microsoft.com/office/drawing/2014/main" id="{54FEE0AA-F66C-44D7-A2CF-E2A7D71EF929}"/>
              </a:ext>
            </a:extLst>
          </p:cNvPr>
          <p:cNvSpPr>
            <a:spLocks noGrp="1" noChangeArrowheads="1"/>
          </p:cNvSpPr>
          <p:nvPr>
            <p:ph type="dt" sz="half" idx="2"/>
          </p:nvPr>
        </p:nvSpPr>
        <p:spPr bwMode="auto">
          <a:xfrm>
            <a:off x="457200" y="6245225"/>
            <a:ext cx="2133600" cy="476250"/>
          </a:xfrm>
          <a:prstGeom prst="rect">
            <a:avLst/>
          </a:prstGeom>
          <a:noFill/>
          <a:ln>
            <a:noFill/>
          </a:ln>
          <a:extLst>
            <a:ext uri="{909E8E84-426E-40dd-AFC4-6F175D3DCCD1}"/>
            <a:ext uri="{91240B29-F687-4f45-9708-019B960494DF}"/>
          </a:extLst>
        </p:spPr>
        <p:txBody>
          <a:bodyPr vert="horz" wrap="square" lIns="91440" tIns="45720" rIns="91440" bIns="45720" numCol="1" anchor="t" anchorCtr="0" compatLnSpc="1">
            <a:prstTxWarp prst="textNoShape">
              <a:avLst/>
            </a:prstTxWarp>
          </a:bodyPr>
          <a:lstStyle>
            <a:lvl1pPr eaLnBrk="1" hangingPunct="1">
              <a:buFont typeface="Arial" charset="0"/>
              <a:buNone/>
              <a:defRPr sz="1400">
                <a:latin typeface="Arial" charset="0"/>
                <a:ea typeface="宋体" charset="0"/>
                <a:cs typeface="宋体" charset="0"/>
              </a:defRPr>
            </a:lvl1pPr>
          </a:lstStyle>
          <a:p>
            <a:pPr>
              <a:defRPr/>
            </a:pPr>
            <a:endParaRPr lang="en-US" altLang="zh-CN"/>
          </a:p>
        </p:txBody>
      </p:sp>
      <p:sp>
        <p:nvSpPr>
          <p:cNvPr id="2053" name="Rectangle 5">
            <a:extLst>
              <a:ext uri="{FF2B5EF4-FFF2-40B4-BE49-F238E27FC236}">
                <a16:creationId xmlns:a16="http://schemas.microsoft.com/office/drawing/2014/main" id="{02B35E2B-65B8-403C-BFDA-3A5BA16A2D38}"/>
              </a:ext>
            </a:extLst>
          </p:cNvPr>
          <p:cNvSpPr>
            <a:spLocks noGrp="1" noChangeArrowheads="1"/>
          </p:cNvSpPr>
          <p:nvPr>
            <p:ph type="ftr" sz="quarter" idx="3"/>
          </p:nvPr>
        </p:nvSpPr>
        <p:spPr bwMode="auto">
          <a:xfrm>
            <a:off x="3124200" y="6245225"/>
            <a:ext cx="2895600" cy="476250"/>
          </a:xfrm>
          <a:prstGeom prst="rect">
            <a:avLst/>
          </a:prstGeom>
          <a:noFill/>
          <a:ln>
            <a:noFill/>
          </a:ln>
          <a:extLst>
            <a:ext uri="{909E8E84-426E-40dd-AFC4-6F175D3DCCD1}"/>
            <a:ext uri="{91240B29-F687-4f45-9708-019B960494DF}"/>
          </a:extLst>
        </p:spPr>
        <p:txBody>
          <a:bodyPr vert="horz" wrap="square" lIns="91440" tIns="45720" rIns="91440" bIns="45720" numCol="1" anchor="t" anchorCtr="0" compatLnSpc="1">
            <a:prstTxWarp prst="textNoShape">
              <a:avLst/>
            </a:prstTxWarp>
          </a:bodyPr>
          <a:lstStyle>
            <a:lvl1pPr algn="ctr" eaLnBrk="1" hangingPunct="1">
              <a:buFont typeface="Arial" charset="0"/>
              <a:buNone/>
              <a:defRPr sz="1400">
                <a:latin typeface="Arial" charset="0"/>
                <a:ea typeface="宋体" charset="0"/>
                <a:cs typeface="宋体" charset="0"/>
              </a:defRPr>
            </a:lvl1pPr>
          </a:lstStyle>
          <a:p>
            <a:pPr>
              <a:defRPr/>
            </a:pPr>
            <a:endParaRPr lang="en-US" altLang="zh-CN"/>
          </a:p>
        </p:txBody>
      </p:sp>
      <p:sp>
        <p:nvSpPr>
          <p:cNvPr id="2054" name="Rectangle 6">
            <a:extLst>
              <a:ext uri="{FF2B5EF4-FFF2-40B4-BE49-F238E27FC236}">
                <a16:creationId xmlns:a16="http://schemas.microsoft.com/office/drawing/2014/main" id="{844184CE-A564-44F9-A27E-2DDE5988ED99}"/>
              </a:ext>
            </a:extLst>
          </p:cNvPr>
          <p:cNvSpPr>
            <a:spLocks noGrp="1" noChangeArrowheads="1"/>
          </p:cNvSpPr>
          <p:nvPr>
            <p:ph type="sldNum" sz="quarter" idx="4"/>
          </p:nvPr>
        </p:nvSpPr>
        <p:spPr bwMode="auto">
          <a:xfrm>
            <a:off x="6553200" y="6245225"/>
            <a:ext cx="2133600" cy="476250"/>
          </a:xfrm>
          <a:prstGeom prst="rect">
            <a:avLst/>
          </a:prstGeom>
          <a:noFill/>
          <a:ln>
            <a:noFill/>
          </a:ln>
          <a:extLst>
            <a:ext uri="{909E8E84-426E-40dd-AFC4-6F175D3DCCD1}"/>
            <a:ext uri="{91240B29-F687-4f45-9708-019B960494DF}"/>
          </a:extLst>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400">
                <a:ea typeface="SimSun" panose="02010600030101010101" pitchFamily="2" charset="-122"/>
              </a:defRPr>
            </a:lvl1pPr>
          </a:lstStyle>
          <a:p>
            <a:pPr>
              <a:defRPr/>
            </a:pPr>
            <a:fld id="{F5F2B2FA-3BF5-48AF-AA11-EF51B337F4ED}"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eaLnBrk="0" fontAlgn="base" hangingPunct="0">
        <a:spcBef>
          <a:spcPct val="0"/>
        </a:spcBef>
        <a:spcAft>
          <a:spcPct val="0"/>
        </a:spcAft>
        <a:defRPr sz="4400" kern="1200">
          <a:solidFill>
            <a:schemeClr val="tx2"/>
          </a:solidFill>
          <a:latin typeface="+mj-lt"/>
          <a:ea typeface="MS PGothic" panose="020B0600070205080204" pitchFamily="34" charset="-128"/>
          <a:cs typeface="SimSun" panose="02010600030101010101" pitchFamily="2" charset="-122"/>
        </a:defRPr>
      </a:lvl1pPr>
      <a:lvl2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pitchFamily="34" charset="-128"/>
          <a:cs typeface="SimSun"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pitchFamily="34" charset="-128"/>
          <a:cs typeface="SimSun"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pitchFamily="34" charset="-128"/>
          <a:cs typeface="SimSun"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pitchFamily="34" charset="-128"/>
          <a:cs typeface="SimSun" panose="02010600030101010101" pitchFamily="2" charset="-122"/>
        </a:defRPr>
      </a:lvl5pPr>
      <a:lvl6pPr marL="4572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S PGothic" panose="020B0600070205080204" pitchFamily="34" charset="-128"/>
          <a:cs typeface="SimSun" panose="02010600030101010101" pitchFamily="2" charset="-122"/>
        </a:defRPr>
      </a:lvl1pPr>
      <a:lvl2pPr marL="742950" indent="-285750" algn="l" rtl="0" eaLnBrk="0" fontAlgn="base" hangingPunct="0">
        <a:spcBef>
          <a:spcPct val="20000"/>
        </a:spcBef>
        <a:spcAft>
          <a:spcPct val="0"/>
        </a:spcAft>
        <a:buChar char="–"/>
        <a:defRPr sz="2800" kern="1200">
          <a:solidFill>
            <a:schemeClr val="tx1"/>
          </a:solidFill>
          <a:latin typeface="+mn-lt"/>
          <a:ea typeface="SimSun" panose="02010600030101010101" pitchFamily="2" charset="-122"/>
          <a:cs typeface="SimSun" panose="02010600030101010101" pitchFamily="2" charset="-122"/>
        </a:defRPr>
      </a:lvl2pPr>
      <a:lvl3pPr marL="1143000" indent="-228600" algn="l" rtl="0" eaLnBrk="0" fontAlgn="base" hangingPunct="0">
        <a:spcBef>
          <a:spcPct val="20000"/>
        </a:spcBef>
        <a:spcAft>
          <a:spcPct val="0"/>
        </a:spcAft>
        <a:buChar char="•"/>
        <a:defRPr sz="2400" kern="1200">
          <a:solidFill>
            <a:schemeClr val="tx1"/>
          </a:solidFill>
          <a:latin typeface="+mn-lt"/>
          <a:ea typeface="SimSun" panose="02010600030101010101" pitchFamily="2" charset="-122"/>
          <a:cs typeface="SimSun" panose="02010600030101010101" pitchFamily="2" charset="-122"/>
        </a:defRPr>
      </a:lvl3pPr>
      <a:lvl4pPr marL="1600200" indent="-228600" algn="l" rtl="0" eaLnBrk="0" fontAlgn="base" hangingPunct="0">
        <a:spcBef>
          <a:spcPct val="20000"/>
        </a:spcBef>
        <a:spcAft>
          <a:spcPct val="0"/>
        </a:spcAft>
        <a:buChar char="–"/>
        <a:defRPr sz="2000" kern="1200">
          <a:solidFill>
            <a:schemeClr val="tx1"/>
          </a:solidFill>
          <a:latin typeface="+mn-lt"/>
          <a:ea typeface="SimSun" panose="02010600030101010101" pitchFamily="2" charset="-122"/>
          <a:cs typeface="SimSun" panose="02010600030101010101" pitchFamily="2" charset="-122"/>
        </a:defRPr>
      </a:lvl4pPr>
      <a:lvl5pPr marL="2057400" indent="-228600" algn="l" rtl="0" eaLnBrk="0" fontAlgn="base" hangingPunct="0">
        <a:spcBef>
          <a:spcPct val="20000"/>
        </a:spcBef>
        <a:spcAft>
          <a:spcPct val="0"/>
        </a:spcAft>
        <a:buChar char="»"/>
        <a:defRPr sz="2000" kern="1200">
          <a:solidFill>
            <a:schemeClr val="tx1"/>
          </a:solidFill>
          <a:latin typeface="+mn-lt"/>
          <a:ea typeface="SimSun" panose="02010600030101010101" pitchFamily="2" charset="-122"/>
          <a:cs typeface="SimSun" panose="0201060003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a:extLst>
              <a:ext uri="{FF2B5EF4-FFF2-40B4-BE49-F238E27FC236}">
                <a16:creationId xmlns:a16="http://schemas.microsoft.com/office/drawing/2014/main" id="{C8A27B77-DB4B-42EA-A92A-73A776DB8004}"/>
              </a:ext>
            </a:extLst>
          </p:cNvPr>
          <p:cNvSpPr txBox="1">
            <a:spLocks noChangeArrowheads="1"/>
          </p:cNvSpPr>
          <p:nvPr/>
        </p:nvSpPr>
        <p:spPr bwMode="auto">
          <a:xfrm>
            <a:off x="914400" y="2291973"/>
            <a:ext cx="73152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6000" dirty="0">
                <a:latin typeface="SimHei" panose="02010609060101010101" pitchFamily="49" charset="-122"/>
                <a:ea typeface="SimHei" panose="02010609060101010101" pitchFamily="49" charset="-122"/>
                <a:cs typeface="Adobe 黑体 Std R" charset="-122"/>
              </a:rPr>
              <a:t>光和颜色</a:t>
            </a:r>
            <a:endParaRPr lang="en-US" altLang="zh-CN" sz="6000" dirty="0">
              <a:latin typeface="SimHei" panose="02010609060101010101" pitchFamily="49" charset="-122"/>
              <a:ea typeface="SimHei" panose="02010609060101010101" pitchFamily="49" charset="-122"/>
              <a:cs typeface="Adobe 黑体 Std R" charset="-122"/>
            </a:endParaRPr>
          </a:p>
          <a:p>
            <a:pPr algn="ctr">
              <a:spcBef>
                <a:spcPct val="0"/>
              </a:spcBef>
              <a:buFontTx/>
              <a:buNone/>
            </a:pPr>
            <a:r>
              <a:rPr lang="zh-CN" altLang="en-US" sz="6000" dirty="0">
                <a:latin typeface="SimHei" panose="02010609060101010101" pitchFamily="49" charset="-122"/>
                <a:ea typeface="SimHei" panose="02010609060101010101" pitchFamily="49" charset="-122"/>
                <a:cs typeface="Adobe 黑体 Std R" charset="-122"/>
              </a:rPr>
              <a:t>防晒和染发化妆品</a:t>
            </a:r>
            <a:endParaRPr lang="en-US" altLang="zh-CN" sz="6000" dirty="0">
              <a:latin typeface="SimHei" panose="02010609060101010101" pitchFamily="49" charset="-122"/>
              <a:ea typeface="SimHei" panose="02010609060101010101" pitchFamily="49" charset="-122"/>
              <a:cs typeface="Adobe 黑体 Std R" charset="-122"/>
            </a:endParaRPr>
          </a:p>
        </p:txBody>
      </p:sp>
    </p:spTree>
    <p:extLst>
      <p:ext uri="{BB962C8B-B14F-4D97-AF65-F5344CB8AC3E}">
        <p14:creationId xmlns:p14="http://schemas.microsoft.com/office/powerpoint/2010/main" val="2277165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标题</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346495"/>
            <a:ext cx="8778240" cy="194764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800" dirty="0">
                <a:latin typeface="+mn-lt"/>
                <a:ea typeface="SimHei" panose="02010609060101010101" pitchFamily="49" charset="-122"/>
              </a:rPr>
              <a:t>光与颜色</a:t>
            </a:r>
            <a:endParaRPr lang="en-US" altLang="zh-CN" sz="28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800" dirty="0">
                <a:latin typeface="+mn-lt"/>
                <a:ea typeface="SimHei" panose="02010609060101010101" pitchFamily="49" charset="-122"/>
              </a:rPr>
              <a:t>防晒化妆品</a:t>
            </a:r>
            <a:endParaRPr lang="en-US" altLang="zh-CN" sz="28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800" dirty="0">
                <a:latin typeface="+mn-lt"/>
                <a:ea typeface="SimHei" panose="02010609060101010101" pitchFamily="49" charset="-122"/>
              </a:rPr>
              <a:t>染发化妆品</a:t>
            </a:r>
            <a:endParaRPr lang="en-US" altLang="zh-CN" sz="2800" dirty="0">
              <a:latin typeface="+mn-lt"/>
              <a:ea typeface="SimHei" panose="02010609060101010101" pitchFamily="49" charset="-122"/>
            </a:endParaRPr>
          </a:p>
        </p:txBody>
      </p:sp>
    </p:spTree>
    <p:extLst>
      <p:ext uri="{BB962C8B-B14F-4D97-AF65-F5344CB8AC3E}">
        <p14:creationId xmlns:p14="http://schemas.microsoft.com/office/powerpoint/2010/main" val="142200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Visible Light Spectrum</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7785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用波长表征光</a:t>
            </a:r>
            <a:endParaRPr lang="en-US" altLang="zh-CN" sz="2400" dirty="0">
              <a:latin typeface="+mn-lt"/>
              <a:ea typeface="SimHei" panose="02010609060101010101" pitchFamily="49" charset="-122"/>
            </a:endParaRPr>
          </a:p>
        </p:txBody>
      </p:sp>
      <p:pic>
        <p:nvPicPr>
          <p:cNvPr id="5" name="Picture 2" descr="See the source image">
            <a:extLst>
              <a:ext uri="{FF2B5EF4-FFF2-40B4-BE49-F238E27FC236}">
                <a16:creationId xmlns:a16="http://schemas.microsoft.com/office/drawing/2014/main" id="{BEB510A2-5E48-DC1B-4A95-D562DC8BE2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 y="1717055"/>
            <a:ext cx="8778240" cy="47881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2984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太阳光谱</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7458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视觉经百万年进化适应了太阳光</a:t>
            </a:r>
            <a:endParaRPr lang="en-US" altLang="zh-CN" sz="2400" dirty="0">
              <a:latin typeface="+mn-lt"/>
              <a:ea typeface="SimHei" panose="02010609060101010101" pitchFamily="49" charset="-122"/>
            </a:endParaRPr>
          </a:p>
        </p:txBody>
      </p:sp>
      <p:pic>
        <p:nvPicPr>
          <p:cNvPr id="5" name="Picture 2" descr="查看源图像">
            <a:extLst>
              <a:ext uri="{FF2B5EF4-FFF2-40B4-BE49-F238E27FC236}">
                <a16:creationId xmlns:a16="http://schemas.microsoft.com/office/drawing/2014/main" id="{A65C74EB-C1CD-67E0-757F-438B4E0070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 y="1747036"/>
            <a:ext cx="8778240" cy="4709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1065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人眼看颜色</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pic>
        <p:nvPicPr>
          <p:cNvPr id="5" name="图片 4">
            <a:extLst>
              <a:ext uri="{FF2B5EF4-FFF2-40B4-BE49-F238E27FC236}">
                <a16:creationId xmlns:a16="http://schemas.microsoft.com/office/drawing/2014/main" id="{9E3D45C8-3C08-AA68-C859-9881D16EB927}"/>
              </a:ext>
            </a:extLst>
          </p:cNvPr>
          <p:cNvPicPr>
            <a:picLocks noChangeAspect="1"/>
          </p:cNvPicPr>
          <p:nvPr/>
        </p:nvPicPr>
        <p:blipFill>
          <a:blip r:embed="rId2"/>
          <a:stretch>
            <a:fillRect/>
          </a:stretch>
        </p:blipFill>
        <p:spPr>
          <a:xfrm>
            <a:off x="182880" y="1610691"/>
            <a:ext cx="4389120" cy="4633676"/>
          </a:xfrm>
          <a:prstGeom prst="rect">
            <a:avLst/>
          </a:prstGeom>
        </p:spPr>
      </p:pic>
      <p:pic>
        <p:nvPicPr>
          <p:cNvPr id="6" name="Picture 6" descr="See the source image">
            <a:extLst>
              <a:ext uri="{FF2B5EF4-FFF2-40B4-BE49-F238E27FC236}">
                <a16:creationId xmlns:a16="http://schemas.microsoft.com/office/drawing/2014/main" id="{FA41BC5F-DD35-E8EC-5405-80DA8DDD593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54" t="2886" r="4481" b="2886"/>
          <a:stretch/>
        </p:blipFill>
        <p:spPr bwMode="auto">
          <a:xfrm>
            <a:off x="4572000" y="2012351"/>
            <a:ext cx="4389120" cy="3613342"/>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F1B89A6D-9509-6643-851B-4F7EF3BD4E49}"/>
              </a:ext>
            </a:extLst>
          </p:cNvPr>
          <p:cNvSpPr txBox="1"/>
          <p:nvPr/>
        </p:nvSpPr>
        <p:spPr>
          <a:xfrm>
            <a:off x="182880" y="1030057"/>
            <a:ext cx="8778240" cy="57458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三种视觉细胞，分别能“看见”红、绿、蓝色光</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590924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RGB color</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113184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发光体系（如显示器），通常使用</a:t>
            </a:r>
            <a:r>
              <a:rPr lang="en-US" altLang="zh-CN" sz="2400" dirty="0">
                <a:latin typeface="+mn-lt"/>
                <a:ea typeface="SimHei" panose="02010609060101010101" pitchFamily="49" charset="-122"/>
              </a:rPr>
              <a:t>RGB</a:t>
            </a:r>
            <a:r>
              <a:rPr lang="zh-CN" altLang="en-US" sz="2400" dirty="0">
                <a:latin typeface="+mn-lt"/>
                <a:ea typeface="SimHei" panose="02010609060101010101" pitchFamily="49" charset="-122"/>
              </a:rPr>
              <a:t>三元色来控制像素的颜色</a:t>
            </a:r>
            <a:endParaRPr lang="en-US" altLang="zh-CN" sz="2400" dirty="0">
              <a:latin typeface="+mn-lt"/>
              <a:ea typeface="SimHei" panose="02010609060101010101" pitchFamily="49" charset="-122"/>
            </a:endParaRPr>
          </a:p>
        </p:txBody>
      </p:sp>
      <p:pic>
        <p:nvPicPr>
          <p:cNvPr id="5" name="Picture 4" descr="See the source image">
            <a:extLst>
              <a:ext uri="{FF2B5EF4-FFF2-40B4-BE49-F238E27FC236}">
                <a16:creationId xmlns:a16="http://schemas.microsoft.com/office/drawing/2014/main" id="{84BCA9D2-E2B6-0542-A2CF-4EF8C484C6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857" t="3668" r="9597" b="6765"/>
          <a:stretch/>
        </p:blipFill>
        <p:spPr bwMode="auto">
          <a:xfrm>
            <a:off x="182880" y="1970689"/>
            <a:ext cx="4114800" cy="4692152"/>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a:extLst>
              <a:ext uri="{FF2B5EF4-FFF2-40B4-BE49-F238E27FC236}">
                <a16:creationId xmlns:a16="http://schemas.microsoft.com/office/drawing/2014/main" id="{AA4613C8-A3F1-7924-7536-0E070B689DBC}"/>
              </a:ext>
            </a:extLst>
          </p:cNvPr>
          <p:cNvPicPr>
            <a:picLocks noChangeAspect="1"/>
          </p:cNvPicPr>
          <p:nvPr/>
        </p:nvPicPr>
        <p:blipFill>
          <a:blip r:embed="rId3"/>
          <a:stretch>
            <a:fillRect/>
          </a:stretch>
        </p:blipFill>
        <p:spPr>
          <a:xfrm>
            <a:off x="5157045" y="1620908"/>
            <a:ext cx="2944710" cy="5109198"/>
          </a:xfrm>
          <a:prstGeom prst="rect">
            <a:avLst/>
          </a:prstGeom>
        </p:spPr>
      </p:pic>
    </p:spTree>
    <p:extLst>
      <p:ext uri="{BB962C8B-B14F-4D97-AF65-F5344CB8AC3E}">
        <p14:creationId xmlns:p14="http://schemas.microsoft.com/office/powerpoint/2010/main" val="1149479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CIE Color Coordinates</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7785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把任一可见光谱分解为三元色光谱的加和</a:t>
            </a:r>
            <a:endParaRPr lang="en-US" altLang="zh-CN" sz="2400" dirty="0">
              <a:latin typeface="+mn-lt"/>
              <a:ea typeface="SimHei" panose="02010609060101010101" pitchFamily="49" charset="-122"/>
            </a:endParaRPr>
          </a:p>
        </p:txBody>
      </p:sp>
      <p:pic>
        <p:nvPicPr>
          <p:cNvPr id="5" name="图片 4">
            <a:extLst>
              <a:ext uri="{FF2B5EF4-FFF2-40B4-BE49-F238E27FC236}">
                <a16:creationId xmlns:a16="http://schemas.microsoft.com/office/drawing/2014/main" id="{6496659A-E4C3-F74A-7754-A3522DB132C6}"/>
              </a:ext>
            </a:extLst>
          </p:cNvPr>
          <p:cNvPicPr>
            <a:picLocks noChangeAspect="1"/>
          </p:cNvPicPr>
          <p:nvPr/>
        </p:nvPicPr>
        <p:blipFill rotWithShape="1">
          <a:blip r:embed="rId2"/>
          <a:srcRect t="21919"/>
          <a:stretch/>
        </p:blipFill>
        <p:spPr>
          <a:xfrm>
            <a:off x="0" y="1962108"/>
            <a:ext cx="6259706" cy="4486084"/>
          </a:xfrm>
          <a:prstGeom prst="rect">
            <a:avLst/>
          </a:prstGeom>
        </p:spPr>
      </p:pic>
      <p:pic>
        <p:nvPicPr>
          <p:cNvPr id="8" name="图片 7">
            <a:extLst>
              <a:ext uri="{FF2B5EF4-FFF2-40B4-BE49-F238E27FC236}">
                <a16:creationId xmlns:a16="http://schemas.microsoft.com/office/drawing/2014/main" id="{C4CB19E3-DA9A-D439-6B90-391EACD24869}"/>
              </a:ext>
            </a:extLst>
          </p:cNvPr>
          <p:cNvPicPr>
            <a:picLocks noChangeAspect="1"/>
          </p:cNvPicPr>
          <p:nvPr/>
        </p:nvPicPr>
        <p:blipFill>
          <a:blip r:embed="rId3"/>
          <a:stretch>
            <a:fillRect/>
          </a:stretch>
        </p:blipFill>
        <p:spPr>
          <a:xfrm>
            <a:off x="3617386" y="1565929"/>
            <a:ext cx="4286848" cy="514422"/>
          </a:xfrm>
          <a:prstGeom prst="rect">
            <a:avLst/>
          </a:prstGeom>
        </p:spPr>
      </p:pic>
      <p:sp>
        <p:nvSpPr>
          <p:cNvPr id="9" name="文本框 8">
            <a:extLst>
              <a:ext uri="{FF2B5EF4-FFF2-40B4-BE49-F238E27FC236}">
                <a16:creationId xmlns:a16="http://schemas.microsoft.com/office/drawing/2014/main" id="{87FAAA08-6928-D21D-CF37-BCE3250A3E10}"/>
              </a:ext>
            </a:extLst>
          </p:cNvPr>
          <p:cNvSpPr txBox="1"/>
          <p:nvPr/>
        </p:nvSpPr>
        <p:spPr>
          <a:xfrm>
            <a:off x="6149344" y="2560294"/>
            <a:ext cx="3419061" cy="1200329"/>
          </a:xfrm>
          <a:prstGeom prst="rect">
            <a:avLst/>
          </a:prstGeom>
          <a:noFill/>
        </p:spPr>
        <p:txBody>
          <a:bodyPr wrap="square" rtlCol="0">
            <a:spAutoFit/>
          </a:bodyPr>
          <a:lstStyle/>
          <a:p>
            <a:r>
              <a:rPr lang="en-US" dirty="0"/>
              <a:t>x</a:t>
            </a:r>
            <a:r>
              <a:rPr lang="zh-CN" altLang="en-US" dirty="0"/>
              <a:t> </a:t>
            </a:r>
            <a:r>
              <a:rPr lang="en-US" altLang="zh-CN" dirty="0"/>
              <a:t>= X / (X + Y +Z)</a:t>
            </a:r>
          </a:p>
          <a:p>
            <a:r>
              <a:rPr lang="en-US" dirty="0"/>
              <a:t>y = Y / </a:t>
            </a:r>
            <a:r>
              <a:rPr lang="en-US" altLang="zh-CN" dirty="0"/>
              <a:t>(X + Y +Z)</a:t>
            </a:r>
          </a:p>
          <a:p>
            <a:r>
              <a:rPr lang="en-US" dirty="0"/>
              <a:t>z = Z / </a:t>
            </a:r>
            <a:r>
              <a:rPr lang="en-US" altLang="zh-CN" dirty="0"/>
              <a:t>(X + Y +Z) </a:t>
            </a:r>
          </a:p>
          <a:p>
            <a:r>
              <a:rPr lang="en-US" altLang="zh-CN" dirty="0"/>
              <a:t>= 1 – x – y </a:t>
            </a:r>
            <a:endParaRPr lang="en-US" dirty="0"/>
          </a:p>
        </p:txBody>
      </p:sp>
      <p:sp>
        <p:nvSpPr>
          <p:cNvPr id="10" name="文本框 9">
            <a:extLst>
              <a:ext uri="{FF2B5EF4-FFF2-40B4-BE49-F238E27FC236}">
                <a16:creationId xmlns:a16="http://schemas.microsoft.com/office/drawing/2014/main" id="{95850929-6854-C569-86BD-7F3F8A5FF397}"/>
              </a:ext>
            </a:extLst>
          </p:cNvPr>
          <p:cNvSpPr txBox="1"/>
          <p:nvPr/>
        </p:nvSpPr>
        <p:spPr>
          <a:xfrm>
            <a:off x="6259706" y="4042578"/>
            <a:ext cx="2701414" cy="1477328"/>
          </a:xfrm>
          <a:prstGeom prst="rect">
            <a:avLst/>
          </a:prstGeom>
          <a:noFill/>
        </p:spPr>
        <p:txBody>
          <a:bodyPr wrap="square" rtlCol="0">
            <a:spAutoFit/>
          </a:bodyPr>
          <a:lstStyle/>
          <a:p>
            <a:r>
              <a:rPr lang="en-US" dirty="0"/>
              <a:t>CIE</a:t>
            </a:r>
            <a:r>
              <a:rPr lang="zh-CN" altLang="en-US" dirty="0"/>
              <a:t>色坐标</a:t>
            </a:r>
            <a:r>
              <a:rPr lang="en-US" altLang="zh-CN" dirty="0"/>
              <a:t>(x, y): </a:t>
            </a:r>
          </a:p>
          <a:p>
            <a:r>
              <a:rPr lang="zh-CN" altLang="en-US" dirty="0"/>
              <a:t>光谱中（红光比例，绿光比例）</a:t>
            </a:r>
            <a:endParaRPr lang="en-US" altLang="zh-CN" dirty="0"/>
          </a:p>
          <a:p>
            <a:endParaRPr lang="en-US" dirty="0"/>
          </a:p>
          <a:p>
            <a:r>
              <a:rPr lang="zh-CN" altLang="en-US" dirty="0"/>
              <a:t>白色光 </a:t>
            </a:r>
            <a:r>
              <a:rPr lang="en-US" altLang="zh-CN" dirty="0"/>
              <a:t>(0.33, 0.33)</a:t>
            </a:r>
            <a:endParaRPr lang="en-US" dirty="0"/>
          </a:p>
        </p:txBody>
      </p:sp>
    </p:spTree>
    <p:extLst>
      <p:ext uri="{BB962C8B-B14F-4D97-AF65-F5344CB8AC3E}">
        <p14:creationId xmlns:p14="http://schemas.microsoft.com/office/powerpoint/2010/main" val="622415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CIE Color Coordinates</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pic>
        <p:nvPicPr>
          <p:cNvPr id="5" name="Picture 2" descr="See the source image">
            <a:extLst>
              <a:ext uri="{FF2B5EF4-FFF2-40B4-BE49-F238E27FC236}">
                <a16:creationId xmlns:a16="http://schemas.microsoft.com/office/drawing/2014/main" id="{9EDA0354-FF93-DBE3-E9AB-0A0FBA84265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79" t="11204" r="6662" b="6348"/>
          <a:stretch/>
        </p:blipFill>
        <p:spPr bwMode="auto">
          <a:xfrm>
            <a:off x="530087" y="1158970"/>
            <a:ext cx="8083826" cy="55129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8392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CMYK Color System</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7785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遮盖色（例如，印刷）通常使用</a:t>
            </a:r>
            <a:r>
              <a:rPr lang="en-US" altLang="zh-CN" sz="2400" dirty="0">
                <a:latin typeface="+mn-lt"/>
                <a:ea typeface="SimHei" panose="02010609060101010101" pitchFamily="49" charset="-122"/>
              </a:rPr>
              <a:t>CMYK</a:t>
            </a:r>
            <a:r>
              <a:rPr lang="zh-CN" altLang="en-US" sz="2400" dirty="0">
                <a:latin typeface="+mn-lt"/>
                <a:ea typeface="SimHei" panose="02010609060101010101" pitchFamily="49" charset="-122"/>
              </a:rPr>
              <a:t>颜色体系</a:t>
            </a:r>
            <a:endParaRPr lang="en-US" altLang="zh-CN" sz="2400" dirty="0">
              <a:latin typeface="+mn-lt"/>
              <a:ea typeface="SimHei" panose="02010609060101010101" pitchFamily="49" charset="-122"/>
            </a:endParaRPr>
          </a:p>
        </p:txBody>
      </p:sp>
      <p:pic>
        <p:nvPicPr>
          <p:cNvPr id="6" name="Picture 6" descr="See the source image">
            <a:extLst>
              <a:ext uri="{FF2B5EF4-FFF2-40B4-BE49-F238E27FC236}">
                <a16:creationId xmlns:a16="http://schemas.microsoft.com/office/drawing/2014/main" id="{C77CE162-D360-386F-AC6D-4C342E5F6F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2625" y="1357290"/>
            <a:ext cx="5238750" cy="523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1835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L*a*b* Color Coordinates</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7458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从太阳的白色光中，吸收了部分光，透过（反射）的光的颜色</a:t>
            </a:r>
            <a:endParaRPr lang="en-US" altLang="zh-CN" sz="2400" dirty="0">
              <a:latin typeface="+mn-lt"/>
              <a:ea typeface="SimHei" panose="02010609060101010101" pitchFamily="49" charset="-122"/>
            </a:endParaRPr>
          </a:p>
        </p:txBody>
      </p:sp>
      <p:pic>
        <p:nvPicPr>
          <p:cNvPr id="5" name="Picture 2" descr="LAB Color Space, L*a*b* Color Space, Color Space, Color Values | X-Rite Color Blog">
            <a:extLst>
              <a:ext uri="{FF2B5EF4-FFF2-40B4-BE49-F238E27FC236}">
                <a16:creationId xmlns:a16="http://schemas.microsoft.com/office/drawing/2014/main" id="{1865B41B-3866-66B5-5D34-7C828D5909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9120" y="1620908"/>
            <a:ext cx="4572000" cy="473964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37839943-191B-806A-DB11-565617B86901}"/>
              </a:ext>
            </a:extLst>
          </p:cNvPr>
          <p:cNvSpPr txBox="1"/>
          <p:nvPr/>
        </p:nvSpPr>
        <p:spPr>
          <a:xfrm>
            <a:off x="182880" y="2228671"/>
            <a:ext cx="6096000" cy="1938992"/>
          </a:xfrm>
          <a:prstGeom prst="rect">
            <a:avLst/>
          </a:prstGeom>
          <a:noFill/>
        </p:spPr>
        <p:txBody>
          <a:bodyPr wrap="square">
            <a:spAutoFit/>
          </a:bodyPr>
          <a:lstStyle/>
          <a:p>
            <a:pPr algn="l">
              <a:buFont typeface="Arial" panose="020B0604020202020204" pitchFamily="34" charset="0"/>
              <a:buChar char="•"/>
            </a:pPr>
            <a:r>
              <a:rPr lang="en-US" sz="2400" b="1" i="0" dirty="0">
                <a:solidFill>
                  <a:srgbClr val="53555A"/>
                </a:solidFill>
                <a:effectLst/>
                <a:latin typeface="Frutiger LT W01_45 Ligh1475730"/>
              </a:rPr>
              <a:t>L*: Lightness</a:t>
            </a:r>
            <a:endParaRPr lang="en-US" sz="2400" b="0" i="0" dirty="0">
              <a:solidFill>
                <a:srgbClr val="53555A"/>
              </a:solidFill>
              <a:effectLst/>
              <a:latin typeface="Frutiger LT W01_45 Ligh1475730"/>
            </a:endParaRPr>
          </a:p>
          <a:p>
            <a:pPr algn="l">
              <a:buFont typeface="Arial" panose="020B0604020202020204" pitchFamily="34" charset="0"/>
              <a:buChar char="•"/>
            </a:pPr>
            <a:r>
              <a:rPr lang="en-US" sz="2400" b="1" i="0" dirty="0">
                <a:solidFill>
                  <a:srgbClr val="53555A"/>
                </a:solidFill>
                <a:effectLst/>
                <a:latin typeface="Frutiger LT W01_45 Ligh1475730"/>
              </a:rPr>
              <a:t>a*: Red/Green Value</a:t>
            </a:r>
            <a:endParaRPr lang="en-US" sz="2400" b="0" i="0" dirty="0">
              <a:solidFill>
                <a:srgbClr val="53555A"/>
              </a:solidFill>
              <a:effectLst/>
              <a:latin typeface="Frutiger LT W01_45 Ligh1475730"/>
            </a:endParaRPr>
          </a:p>
          <a:p>
            <a:pPr algn="l">
              <a:buFont typeface="Arial" panose="020B0604020202020204" pitchFamily="34" charset="0"/>
              <a:buChar char="•"/>
            </a:pPr>
            <a:r>
              <a:rPr lang="en-US" sz="2400" b="1" i="0" dirty="0">
                <a:solidFill>
                  <a:srgbClr val="53555A"/>
                </a:solidFill>
                <a:effectLst/>
                <a:latin typeface="Frutiger LT W01_45 Ligh1475730"/>
              </a:rPr>
              <a:t>b*: Blue/Yellow Value</a:t>
            </a:r>
          </a:p>
          <a:p>
            <a:pPr algn="l">
              <a:buFont typeface="Arial" panose="020B0604020202020204" pitchFamily="34" charset="0"/>
              <a:buChar char="•"/>
            </a:pPr>
            <a:endParaRPr lang="en-US" sz="2400" b="1" dirty="0">
              <a:solidFill>
                <a:srgbClr val="53555A"/>
              </a:solidFill>
              <a:latin typeface="Frutiger LT W01_45 Ligh1475730"/>
            </a:endParaRPr>
          </a:p>
          <a:p>
            <a:pPr algn="l"/>
            <a:r>
              <a:rPr lang="zh-CN" altLang="en-US" sz="2400" dirty="0">
                <a:latin typeface="Arial" panose="020B0604020202020204" pitchFamily="34" charset="0"/>
                <a:ea typeface="SimHei" panose="02010609060101010101" pitchFamily="49" charset="-122"/>
                <a:cs typeface="Arial" panose="020B0604020202020204" pitchFamily="34" charset="0"/>
              </a:rPr>
              <a:t>纯黑色</a:t>
            </a:r>
            <a:r>
              <a:rPr lang="en-US" altLang="zh-CN" sz="2400" dirty="0">
                <a:latin typeface="Arial" panose="020B0604020202020204" pitchFamily="34" charset="0"/>
                <a:ea typeface="SimHei" panose="02010609060101010101" pitchFamily="49" charset="-122"/>
                <a:cs typeface="Arial" panose="020B0604020202020204" pitchFamily="34" charset="0"/>
              </a:rPr>
              <a:t>a* = 0, b* = 0</a:t>
            </a:r>
            <a:endParaRPr lang="en-US" sz="2400" b="0" i="0" dirty="0">
              <a:solidFill>
                <a:srgbClr val="53555A"/>
              </a:solidFill>
              <a:effectLst/>
              <a:latin typeface="Frutiger LT W01_45 Ligh1475730"/>
            </a:endParaRPr>
          </a:p>
        </p:txBody>
      </p:sp>
    </p:spTree>
    <p:extLst>
      <p:ext uri="{BB962C8B-B14F-4D97-AF65-F5344CB8AC3E}">
        <p14:creationId xmlns:p14="http://schemas.microsoft.com/office/powerpoint/2010/main" val="2597138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颜料的颜色</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7785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颜料的吸收光谱决定了其颜色</a:t>
            </a:r>
            <a:endParaRPr lang="en-US" altLang="zh-CN" sz="2400" dirty="0">
              <a:latin typeface="+mn-lt"/>
              <a:ea typeface="SimHei" panose="02010609060101010101" pitchFamily="49" charset="-122"/>
            </a:endParaRPr>
          </a:p>
        </p:txBody>
      </p:sp>
      <p:pic>
        <p:nvPicPr>
          <p:cNvPr id="5" name="图片 4">
            <a:extLst>
              <a:ext uri="{FF2B5EF4-FFF2-40B4-BE49-F238E27FC236}">
                <a16:creationId xmlns:a16="http://schemas.microsoft.com/office/drawing/2014/main" id="{69DDAA44-355A-AC3D-BD9B-B7515D5D234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82880" y="1949225"/>
            <a:ext cx="3657600" cy="2822710"/>
          </a:xfrm>
          <a:prstGeom prst="rect">
            <a:avLst/>
          </a:prstGeom>
        </p:spPr>
      </p:pic>
      <p:sp>
        <p:nvSpPr>
          <p:cNvPr id="6" name="文本框 5">
            <a:extLst>
              <a:ext uri="{FF2B5EF4-FFF2-40B4-BE49-F238E27FC236}">
                <a16:creationId xmlns:a16="http://schemas.microsoft.com/office/drawing/2014/main" id="{9C91814F-3FC9-F15B-7722-A1571AAB6917}"/>
              </a:ext>
            </a:extLst>
          </p:cNvPr>
          <p:cNvSpPr txBox="1"/>
          <p:nvPr/>
        </p:nvSpPr>
        <p:spPr>
          <a:xfrm>
            <a:off x="182880" y="5366278"/>
            <a:ext cx="4564648" cy="461665"/>
          </a:xfrm>
          <a:prstGeom prst="rect">
            <a:avLst/>
          </a:prstGeom>
          <a:noFill/>
        </p:spPr>
        <p:txBody>
          <a:bodyPr wrap="none" rtlCol="0">
            <a:spAutoFit/>
          </a:bodyPr>
          <a:lstStyle/>
          <a:p>
            <a:r>
              <a:rPr lang="en-US" sz="2400" dirty="0"/>
              <a:t>Plot absorption against wavelength</a:t>
            </a:r>
          </a:p>
        </p:txBody>
      </p:sp>
      <p:sp>
        <p:nvSpPr>
          <p:cNvPr id="18" name="太阳形 17">
            <a:extLst>
              <a:ext uri="{FF2B5EF4-FFF2-40B4-BE49-F238E27FC236}">
                <a16:creationId xmlns:a16="http://schemas.microsoft.com/office/drawing/2014/main" id="{6CC7DBF3-9D7C-6D0B-2109-DDCFBE1085E5}"/>
              </a:ext>
            </a:extLst>
          </p:cNvPr>
          <p:cNvSpPr/>
          <p:nvPr/>
        </p:nvSpPr>
        <p:spPr>
          <a:xfrm>
            <a:off x="5804910" y="1815778"/>
            <a:ext cx="914400" cy="914400"/>
          </a:xfrm>
          <a:prstGeom prst="sun">
            <a:avLst/>
          </a:prstGeom>
          <a:solidFill>
            <a:srgbClr val="FFC000"/>
          </a:solidFill>
          <a:ln w="12700" cap="flat" cmpd="sng" algn="ctr">
            <a:solidFill>
              <a:srgbClr val="FFC00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 name="文本框 18">
            <a:extLst>
              <a:ext uri="{FF2B5EF4-FFF2-40B4-BE49-F238E27FC236}">
                <a16:creationId xmlns:a16="http://schemas.microsoft.com/office/drawing/2014/main" id="{B3083E48-13E7-342D-83D2-71D7241ACF2F}"/>
              </a:ext>
            </a:extLst>
          </p:cNvPr>
          <p:cNvSpPr txBox="1"/>
          <p:nvPr/>
        </p:nvSpPr>
        <p:spPr>
          <a:xfrm>
            <a:off x="6952933" y="1857479"/>
            <a:ext cx="1688411" cy="830997"/>
          </a:xfrm>
          <a:prstGeom prst="rect">
            <a:avLst/>
          </a:prstGeom>
          <a:noFill/>
        </p:spPr>
        <p:txBody>
          <a:bodyPr wrap="none" rtlCol="0">
            <a:spAutoFit/>
          </a:bodyPr>
          <a:lstStyle/>
          <a:p>
            <a:pPr eaLnBrk="1" fontAlgn="auto" hangingPunct="1">
              <a:spcBef>
                <a:spcPts val="0"/>
              </a:spcBef>
              <a:spcAft>
                <a:spcPts val="0"/>
              </a:spcAft>
            </a:pPr>
            <a:r>
              <a:rPr lang="zh-CN" altLang="en-US" sz="2400" dirty="0">
                <a:solidFill>
                  <a:prstClr val="black"/>
                </a:solidFill>
                <a:latin typeface="Calibri" panose="020F0502020204030204"/>
                <a:ea typeface="等线" panose="02010600030101010101" pitchFamily="2" charset="-122"/>
              </a:rPr>
              <a:t>光源</a:t>
            </a:r>
            <a:endParaRPr lang="en-US" altLang="zh-CN" sz="2400" dirty="0">
              <a:solidFill>
                <a:prstClr val="black"/>
              </a:solidFill>
              <a:latin typeface="Calibri" panose="020F0502020204030204"/>
              <a:ea typeface="等线" panose="02010600030101010101" pitchFamily="2" charset="-122"/>
            </a:endParaRPr>
          </a:p>
          <a:p>
            <a:pPr eaLnBrk="1" fontAlgn="auto" hangingPunct="1">
              <a:spcBef>
                <a:spcPts val="0"/>
              </a:spcBef>
              <a:spcAft>
                <a:spcPts val="0"/>
              </a:spcAft>
            </a:pPr>
            <a:r>
              <a:rPr lang="en-US" altLang="zh-CN" sz="2400" dirty="0">
                <a:solidFill>
                  <a:prstClr val="black"/>
                </a:solidFill>
                <a:latin typeface="Calibri" panose="020F0502020204030204"/>
                <a:ea typeface="等线" panose="02010600030101010101" pitchFamily="2" charset="-122"/>
              </a:rPr>
              <a:t>e.g. </a:t>
            </a:r>
            <a:r>
              <a:rPr lang="en-US" sz="2400" dirty="0">
                <a:solidFill>
                  <a:prstClr val="black"/>
                </a:solidFill>
                <a:latin typeface="Calibri" panose="020F0502020204030204"/>
                <a:ea typeface="+mn-ea"/>
              </a:rPr>
              <a:t>the sun</a:t>
            </a:r>
          </a:p>
        </p:txBody>
      </p:sp>
      <p:sp>
        <p:nvSpPr>
          <p:cNvPr id="20" name="矩形: 圆角 19">
            <a:extLst>
              <a:ext uri="{FF2B5EF4-FFF2-40B4-BE49-F238E27FC236}">
                <a16:creationId xmlns:a16="http://schemas.microsoft.com/office/drawing/2014/main" id="{FD3FFE9B-FB05-9B0C-A6AA-B7D186E52F1C}"/>
              </a:ext>
            </a:extLst>
          </p:cNvPr>
          <p:cNvSpPr/>
          <p:nvPr/>
        </p:nvSpPr>
        <p:spPr>
          <a:xfrm>
            <a:off x="5071637" y="3401359"/>
            <a:ext cx="2495811" cy="196837"/>
          </a:xfrm>
          <a:prstGeom prst="round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1" name="箭头: 下 20">
            <a:extLst>
              <a:ext uri="{FF2B5EF4-FFF2-40B4-BE49-F238E27FC236}">
                <a16:creationId xmlns:a16="http://schemas.microsoft.com/office/drawing/2014/main" id="{91046061-1ACF-1A7B-F81C-EFD126DEA889}"/>
              </a:ext>
            </a:extLst>
          </p:cNvPr>
          <p:cNvSpPr/>
          <p:nvPr/>
        </p:nvSpPr>
        <p:spPr>
          <a:xfrm>
            <a:off x="6122962" y="2854707"/>
            <a:ext cx="278296" cy="431344"/>
          </a:xfrm>
          <a:prstGeom prst="downArrow">
            <a:avLst/>
          </a:prstGeom>
          <a:solidFill>
            <a:sysClr val="window" lastClr="FFFFFF"/>
          </a:solidFill>
          <a:ln w="12700" cap="flat" cmpd="sng" algn="ctr">
            <a:solidFill>
              <a:srgbClr val="5B9BD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22" name="箭头: 下 21">
            <a:extLst>
              <a:ext uri="{FF2B5EF4-FFF2-40B4-BE49-F238E27FC236}">
                <a16:creationId xmlns:a16="http://schemas.microsoft.com/office/drawing/2014/main" id="{ADDB53A5-25AA-DB13-7920-C51F09257EF5}"/>
              </a:ext>
            </a:extLst>
          </p:cNvPr>
          <p:cNvSpPr/>
          <p:nvPr/>
        </p:nvSpPr>
        <p:spPr>
          <a:xfrm>
            <a:off x="6122963" y="3783262"/>
            <a:ext cx="278296" cy="431344"/>
          </a:xfrm>
          <a:prstGeom prst="downArrow">
            <a:avLst/>
          </a:prstGeom>
          <a:solidFill>
            <a:srgbClr val="0070C0"/>
          </a:solidFill>
          <a:ln w="12700" cap="flat" cmpd="sng" algn="ctr">
            <a:solidFill>
              <a:srgbClr val="5B9BD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pic>
        <p:nvPicPr>
          <p:cNvPr id="23" name="Picture 2" descr="See the source image">
            <a:extLst>
              <a:ext uri="{FF2B5EF4-FFF2-40B4-BE49-F238E27FC236}">
                <a16:creationId xmlns:a16="http://schemas.microsoft.com/office/drawing/2014/main" id="{CF985BA1-4474-8121-93AA-1387632263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1854" y="4501131"/>
            <a:ext cx="857456" cy="422973"/>
          </a:xfrm>
          <a:prstGeom prst="rect">
            <a:avLst/>
          </a:prstGeom>
          <a:noFill/>
          <a:extLst>
            <a:ext uri="{909E8E84-426E-40DD-AFC4-6F175D3DCCD1}">
              <a14:hiddenFill xmlns:a14="http://schemas.microsoft.com/office/drawing/2010/main">
                <a:solidFill>
                  <a:srgbClr val="FFFFFF"/>
                </a:solidFill>
              </a14:hiddenFill>
            </a:ext>
          </a:extLst>
        </p:spPr>
      </p:pic>
      <p:sp>
        <p:nvSpPr>
          <p:cNvPr id="24" name="文本框 23">
            <a:extLst>
              <a:ext uri="{FF2B5EF4-FFF2-40B4-BE49-F238E27FC236}">
                <a16:creationId xmlns:a16="http://schemas.microsoft.com/office/drawing/2014/main" id="{BD0E9EF1-3262-D956-BC02-0ED8624D0A8B}"/>
              </a:ext>
            </a:extLst>
          </p:cNvPr>
          <p:cNvSpPr txBox="1"/>
          <p:nvPr/>
        </p:nvSpPr>
        <p:spPr>
          <a:xfrm>
            <a:off x="6581872" y="2784066"/>
            <a:ext cx="1415772" cy="461665"/>
          </a:xfrm>
          <a:prstGeom prst="rect">
            <a:avLst/>
          </a:prstGeom>
          <a:noFill/>
        </p:spPr>
        <p:txBody>
          <a:bodyPr wrap="none" rtlCol="0">
            <a:spAutoFit/>
          </a:bodyPr>
          <a:lstStyle/>
          <a:p>
            <a:pPr eaLnBrk="1" fontAlgn="auto" hangingPunct="1">
              <a:spcBef>
                <a:spcPts val="0"/>
              </a:spcBef>
              <a:spcAft>
                <a:spcPts val="0"/>
              </a:spcAft>
            </a:pPr>
            <a:r>
              <a:rPr lang="zh-CN" altLang="en-US" sz="2400" dirty="0">
                <a:solidFill>
                  <a:prstClr val="black"/>
                </a:solidFill>
                <a:latin typeface="Calibri" panose="020F0502020204030204"/>
                <a:ea typeface="等线" panose="02010600030101010101" pitchFamily="2" charset="-122"/>
              </a:rPr>
              <a:t>太阳光谱</a:t>
            </a:r>
            <a:endParaRPr lang="en-US" altLang="zh-CN" sz="2400" dirty="0">
              <a:solidFill>
                <a:prstClr val="black"/>
              </a:solidFill>
              <a:latin typeface="Calibri" panose="020F0502020204030204"/>
              <a:ea typeface="等线" panose="02010600030101010101" pitchFamily="2" charset="-122"/>
            </a:endParaRPr>
          </a:p>
        </p:txBody>
      </p:sp>
      <p:sp>
        <p:nvSpPr>
          <p:cNvPr id="25" name="文本框 24">
            <a:extLst>
              <a:ext uri="{FF2B5EF4-FFF2-40B4-BE49-F238E27FC236}">
                <a16:creationId xmlns:a16="http://schemas.microsoft.com/office/drawing/2014/main" id="{A2DEB2B1-904F-0A0D-B7DE-31ED181B46AC}"/>
              </a:ext>
            </a:extLst>
          </p:cNvPr>
          <p:cNvSpPr txBox="1"/>
          <p:nvPr/>
        </p:nvSpPr>
        <p:spPr>
          <a:xfrm>
            <a:off x="7797138" y="3274343"/>
            <a:ext cx="800219" cy="461665"/>
          </a:xfrm>
          <a:prstGeom prst="rect">
            <a:avLst/>
          </a:prstGeom>
          <a:noFill/>
        </p:spPr>
        <p:txBody>
          <a:bodyPr wrap="none" rtlCol="0">
            <a:spAutoFit/>
          </a:bodyPr>
          <a:lstStyle/>
          <a:p>
            <a:pPr eaLnBrk="1" fontAlgn="auto" hangingPunct="1">
              <a:spcBef>
                <a:spcPts val="0"/>
              </a:spcBef>
              <a:spcAft>
                <a:spcPts val="0"/>
              </a:spcAft>
            </a:pPr>
            <a:r>
              <a:rPr lang="zh-CN" altLang="en-US" sz="2400" dirty="0">
                <a:solidFill>
                  <a:prstClr val="black"/>
                </a:solidFill>
                <a:latin typeface="Calibri" panose="020F0502020204030204"/>
                <a:ea typeface="等线" panose="02010600030101010101" pitchFamily="2" charset="-122"/>
              </a:rPr>
              <a:t>颜料</a:t>
            </a:r>
            <a:endParaRPr lang="en-US" altLang="zh-CN" sz="2400" dirty="0">
              <a:solidFill>
                <a:prstClr val="black"/>
              </a:solidFill>
              <a:latin typeface="Calibri" panose="020F0502020204030204"/>
              <a:ea typeface="等线" panose="02010600030101010101" pitchFamily="2" charset="-122"/>
            </a:endParaRPr>
          </a:p>
        </p:txBody>
      </p:sp>
      <p:sp>
        <p:nvSpPr>
          <p:cNvPr id="26" name="文本框 25">
            <a:extLst>
              <a:ext uri="{FF2B5EF4-FFF2-40B4-BE49-F238E27FC236}">
                <a16:creationId xmlns:a16="http://schemas.microsoft.com/office/drawing/2014/main" id="{56142098-8DE8-D984-26BB-C8A729BE4363}"/>
              </a:ext>
            </a:extLst>
          </p:cNvPr>
          <p:cNvSpPr txBox="1"/>
          <p:nvPr/>
        </p:nvSpPr>
        <p:spPr>
          <a:xfrm>
            <a:off x="6581872" y="3745048"/>
            <a:ext cx="2217274" cy="461665"/>
          </a:xfrm>
          <a:prstGeom prst="rect">
            <a:avLst/>
          </a:prstGeom>
          <a:noFill/>
        </p:spPr>
        <p:txBody>
          <a:bodyPr wrap="none" rtlCol="0">
            <a:spAutoFit/>
          </a:bodyPr>
          <a:lstStyle/>
          <a:p>
            <a:pPr eaLnBrk="1" fontAlgn="auto" hangingPunct="1">
              <a:spcBef>
                <a:spcPts val="0"/>
              </a:spcBef>
              <a:spcAft>
                <a:spcPts val="0"/>
              </a:spcAft>
            </a:pPr>
            <a:r>
              <a:rPr lang="zh-CN" altLang="en-US" sz="2400" dirty="0">
                <a:solidFill>
                  <a:prstClr val="black"/>
                </a:solidFill>
                <a:latin typeface="Calibri" panose="020F0502020204030204"/>
                <a:ea typeface="等线" panose="02010600030101010101" pitchFamily="2" charset="-122"/>
              </a:rPr>
              <a:t>透过</a:t>
            </a:r>
            <a:r>
              <a:rPr lang="en-US" altLang="zh-CN" sz="2400" dirty="0">
                <a:solidFill>
                  <a:prstClr val="black"/>
                </a:solidFill>
                <a:latin typeface="Calibri" panose="020F0502020204030204"/>
                <a:ea typeface="等线" panose="02010600030101010101" pitchFamily="2" charset="-122"/>
              </a:rPr>
              <a:t>(</a:t>
            </a:r>
            <a:r>
              <a:rPr lang="zh-CN" altLang="en-US" sz="2400" dirty="0">
                <a:solidFill>
                  <a:prstClr val="black"/>
                </a:solidFill>
                <a:latin typeface="Calibri" panose="020F0502020204030204"/>
                <a:ea typeface="等线" panose="02010600030101010101" pitchFamily="2" charset="-122"/>
              </a:rPr>
              <a:t>反射</a:t>
            </a:r>
            <a:r>
              <a:rPr lang="en-US" altLang="zh-CN" sz="2400" dirty="0">
                <a:solidFill>
                  <a:prstClr val="black"/>
                </a:solidFill>
                <a:latin typeface="Calibri" panose="020F0502020204030204"/>
                <a:ea typeface="等线" panose="02010600030101010101" pitchFamily="2" charset="-122"/>
              </a:rPr>
              <a:t>)</a:t>
            </a:r>
            <a:r>
              <a:rPr lang="zh-CN" altLang="en-US" sz="2400" dirty="0">
                <a:solidFill>
                  <a:prstClr val="black"/>
                </a:solidFill>
                <a:latin typeface="Calibri" panose="020F0502020204030204"/>
                <a:ea typeface="等线" panose="02010600030101010101" pitchFamily="2" charset="-122"/>
              </a:rPr>
              <a:t>光谱</a:t>
            </a:r>
            <a:endParaRPr lang="en-US" altLang="zh-CN" sz="2400" dirty="0">
              <a:solidFill>
                <a:prstClr val="black"/>
              </a:solidFill>
              <a:latin typeface="Calibri" panose="020F0502020204030204"/>
              <a:ea typeface="等线" panose="02010600030101010101" pitchFamily="2" charset="-122"/>
            </a:endParaRPr>
          </a:p>
        </p:txBody>
      </p:sp>
      <p:sp>
        <p:nvSpPr>
          <p:cNvPr id="27" name="文本框 26">
            <a:extLst>
              <a:ext uri="{FF2B5EF4-FFF2-40B4-BE49-F238E27FC236}">
                <a16:creationId xmlns:a16="http://schemas.microsoft.com/office/drawing/2014/main" id="{D4DF4EAE-87C5-E63E-6481-0835298B9242}"/>
              </a:ext>
            </a:extLst>
          </p:cNvPr>
          <p:cNvSpPr txBox="1"/>
          <p:nvPr/>
        </p:nvSpPr>
        <p:spPr>
          <a:xfrm>
            <a:off x="6859562" y="4462439"/>
            <a:ext cx="1415772" cy="461665"/>
          </a:xfrm>
          <a:prstGeom prst="rect">
            <a:avLst/>
          </a:prstGeom>
          <a:noFill/>
        </p:spPr>
        <p:txBody>
          <a:bodyPr wrap="none" rtlCol="0">
            <a:spAutoFit/>
          </a:bodyPr>
          <a:lstStyle/>
          <a:p>
            <a:pPr eaLnBrk="1" fontAlgn="auto" hangingPunct="1">
              <a:spcBef>
                <a:spcPts val="0"/>
              </a:spcBef>
              <a:spcAft>
                <a:spcPts val="0"/>
              </a:spcAft>
            </a:pPr>
            <a:r>
              <a:rPr lang="zh-CN" altLang="en-US" sz="2400" dirty="0">
                <a:solidFill>
                  <a:prstClr val="black"/>
                </a:solidFill>
                <a:latin typeface="Calibri" panose="020F0502020204030204"/>
                <a:ea typeface="等线" panose="02010600030101010101" pitchFamily="2" charset="-122"/>
              </a:rPr>
              <a:t>感知颜色</a:t>
            </a:r>
            <a:endParaRPr lang="en-US" altLang="zh-CN" sz="2400" dirty="0">
              <a:solidFill>
                <a:prstClr val="black"/>
              </a:solidFill>
              <a:latin typeface="Calibri" panose="020F0502020204030204"/>
              <a:ea typeface="等线" panose="02010600030101010101" pitchFamily="2" charset="-122"/>
            </a:endParaRPr>
          </a:p>
        </p:txBody>
      </p:sp>
    </p:spTree>
    <p:extLst>
      <p:ext uri="{BB962C8B-B14F-4D97-AF65-F5344CB8AC3E}">
        <p14:creationId xmlns:p14="http://schemas.microsoft.com/office/powerpoint/2010/main" val="1329420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防晒化妆品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56056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日光照射对于人体来说有许多益处，但</a:t>
            </a:r>
            <a:r>
              <a:rPr lang="zh-CN" altLang="en-US" sz="2400" dirty="0">
                <a:solidFill>
                  <a:srgbClr val="0000FF"/>
                </a:solidFill>
                <a:latin typeface="+mn-lt"/>
                <a:ea typeface="SimHei" panose="02010609060101010101" pitchFamily="49" charset="-122"/>
              </a:rPr>
              <a:t>不适度的日晒对人体，特别是对皮肤会造成伤害</a:t>
            </a:r>
            <a:r>
              <a:rPr lang="zh-CN" altLang="en-US" sz="2400" dirty="0">
                <a:latin typeface="+mn-lt"/>
                <a:ea typeface="SimHei" panose="02010609060101010101" pitchFamily="49" charset="-122"/>
              </a:rPr>
              <a:t>。 日光对人体的作用程度取决于光的波长和频率、光的强度和个体对光的敏感程度。</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很多地区，人们渴望拥有白皙的，甚至是如瓷器般洁白无瑕的皮肤。</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日光中的紫外线照射人体时能消毒杀菌，使皮肤中产生维生素</a:t>
            </a:r>
            <a:r>
              <a:rPr lang="en-US" altLang="zh-CN" sz="2400" dirty="0">
                <a:latin typeface="+mn-lt"/>
                <a:ea typeface="SimHei" panose="02010609060101010101" pitchFamily="49" charset="-122"/>
              </a:rPr>
              <a:t>D, </a:t>
            </a:r>
            <a:r>
              <a:rPr lang="zh-CN" altLang="en-US" sz="2400" dirty="0">
                <a:latin typeface="+mn-lt"/>
                <a:ea typeface="SimHei" panose="02010609060101010101" pitchFamily="49" charset="-122"/>
              </a:rPr>
              <a:t>有益于身体健康，皮肤晒黑被誉为“健康美”。</a:t>
            </a:r>
            <a:r>
              <a:rPr lang="zh-CN" altLang="en-US" sz="2400" dirty="0">
                <a:solidFill>
                  <a:srgbClr val="FF0000"/>
                </a:solidFill>
                <a:latin typeface="+mn-lt"/>
                <a:ea typeface="SimHei" panose="02010609060101010101" pitchFamily="49" charset="-122"/>
              </a:rPr>
              <a:t>日光曝晒是促使皮肤老化的重要因素之一，强烈的紫外线照射可能引起皮肤癌。</a:t>
            </a:r>
            <a:endParaRPr lang="en-US" altLang="zh-CN" sz="2400" dirty="0">
              <a:solidFill>
                <a:srgbClr val="FF0000"/>
              </a:solidFill>
              <a:latin typeface="+mn-lt"/>
              <a:ea typeface="SimHei" panose="02010609060101010101" pitchFamily="49" charset="-122"/>
            </a:endParaRPr>
          </a:p>
        </p:txBody>
      </p:sp>
    </p:spTree>
    <p:extLst>
      <p:ext uri="{BB962C8B-B14F-4D97-AF65-F5344CB8AC3E}">
        <p14:creationId xmlns:p14="http://schemas.microsoft.com/office/powerpoint/2010/main" val="24158209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防晒黑</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445256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防止皮肤色素沉着的方法主要有两种：</a:t>
            </a:r>
            <a:endParaRPr lang="en-US" altLang="zh-CN" sz="2400" dirty="0">
              <a:latin typeface="+mn-lt"/>
              <a:ea typeface="SimHei" panose="02010609060101010101" pitchFamily="49" charset="-122"/>
            </a:endParaRPr>
          </a:p>
          <a:p>
            <a:pPr>
              <a:lnSpc>
                <a:spcPct val="150000"/>
              </a:lnSpc>
            </a:pPr>
            <a:r>
              <a:rPr lang="en-US" altLang="zh-CN" sz="2400" dirty="0">
                <a:latin typeface="+mn-lt"/>
                <a:ea typeface="SimHei" panose="02010609060101010101" pitchFamily="49" charset="-122"/>
              </a:rPr>
              <a:t>	</a:t>
            </a:r>
            <a:r>
              <a:rPr lang="zh-CN" altLang="en-US" sz="2400" dirty="0">
                <a:latin typeface="KaiTi" panose="02010609060101010101" pitchFamily="49" charset="-122"/>
                <a:ea typeface="KaiTi" panose="02010609060101010101" pitchFamily="49" charset="-122"/>
              </a:rPr>
              <a:t>第一种，也是最早使用的一种方法，就是避免紫外线辐射，防止产生额外的黑素沉着，即晒黑；</a:t>
            </a:r>
            <a:endParaRPr lang="en-US" altLang="zh-CN" sz="2400" dirty="0">
              <a:latin typeface="KaiTi" panose="02010609060101010101" pitchFamily="49" charset="-122"/>
              <a:ea typeface="KaiTi" panose="02010609060101010101" pitchFamily="49" charset="-122"/>
            </a:endParaRPr>
          </a:p>
          <a:p>
            <a:pPr>
              <a:lnSpc>
                <a:spcPct val="150000"/>
              </a:lnSpc>
            </a:pPr>
            <a:endParaRPr lang="en-US" altLang="zh-CN" sz="2400" dirty="0">
              <a:latin typeface="KaiTi" panose="02010609060101010101" pitchFamily="49" charset="-122"/>
              <a:ea typeface="KaiT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第二种是使用化妆品活性物抑制色素沉着。</a:t>
            </a:r>
            <a:endParaRPr lang="en-US" altLang="zh-CN" sz="2400" dirty="0">
              <a:latin typeface="KaiTi" panose="02010609060101010101" pitchFamily="49" charset="-122"/>
              <a:ea typeface="KaiTi" panose="02010609060101010101" pitchFamily="49" charset="-122"/>
            </a:endParaRPr>
          </a:p>
          <a:p>
            <a:pPr>
              <a:lnSpc>
                <a:spcPct val="150000"/>
              </a:lnSpc>
            </a:pPr>
            <a:endParaRPr lang="en-US" altLang="zh-CN" sz="2400" dirty="0">
              <a:latin typeface="KaiTi" panose="02010609060101010101" pitchFamily="49" charset="-122"/>
              <a:ea typeface="KaiT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这两种方法可以同时使用，以更有效地控制黑素的形成，保养肤色。</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196215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紫外辐射（</a:t>
            </a: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UVR</a:t>
            </a: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334457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紫外线波段造成光生物反应。这种光生物反应可导致黑素的产生，把皮肤晒黑， 或者引起遗传信息的改变甚至是细胞行为的异常。</a:t>
            </a: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波长越短，辐射能越大；波长越长，散射越少。短波的</a:t>
            </a:r>
            <a:r>
              <a:rPr lang="en-US" altLang="zh-CN" sz="2400" dirty="0">
                <a:latin typeface="+mn-lt"/>
                <a:ea typeface="SimHei" panose="02010609060101010101" pitchFamily="49" charset="-122"/>
              </a:rPr>
              <a:t>UVR</a:t>
            </a:r>
            <a:r>
              <a:rPr lang="zh-CN" altLang="en-US" sz="2400" dirty="0">
                <a:latin typeface="+mn-lt"/>
                <a:ea typeface="SimHei" panose="02010609060101010101" pitchFamily="49" charset="-122"/>
              </a:rPr>
              <a:t>更容易引起光化学反应。因而，由</a:t>
            </a:r>
            <a:r>
              <a:rPr lang="en-US" altLang="zh-CN" sz="2400" dirty="0">
                <a:latin typeface="+mn-lt"/>
                <a:ea typeface="SimHei" panose="02010609060101010101" pitchFamily="49" charset="-122"/>
              </a:rPr>
              <a:t>UVR</a:t>
            </a:r>
            <a:r>
              <a:rPr lang="zh-CN" altLang="en-US" sz="2400" dirty="0">
                <a:latin typeface="+mn-lt"/>
                <a:ea typeface="SimHei" panose="02010609060101010101" pitchFamily="49" charset="-122"/>
              </a:rPr>
              <a:t>引起的生物效应会随着波长的变化而不同。</a:t>
            </a:r>
          </a:p>
        </p:txBody>
      </p:sp>
    </p:spTree>
    <p:extLst>
      <p:ext uri="{BB962C8B-B14F-4D97-AF65-F5344CB8AC3E}">
        <p14:creationId xmlns:p14="http://schemas.microsoft.com/office/powerpoint/2010/main" val="19716210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紫外辐射（</a:t>
            </a: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UVR</a:t>
            </a: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56056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波长为</a:t>
            </a:r>
            <a:r>
              <a:rPr lang="en-US" altLang="zh-CN" sz="2400" dirty="0">
                <a:latin typeface="+mn-lt"/>
                <a:ea typeface="SimHei" panose="02010609060101010101" pitchFamily="49" charset="-122"/>
              </a:rPr>
              <a:t>100</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400 nm </a:t>
            </a:r>
            <a:r>
              <a:rPr lang="zh-CN" altLang="en-US" sz="2400" dirty="0">
                <a:latin typeface="+mn-lt"/>
                <a:ea typeface="SimHei" panose="02010609060101010101" pitchFamily="49" charset="-122"/>
              </a:rPr>
              <a:t>的紫外光谱可分为三部分： </a:t>
            </a:r>
            <a:r>
              <a:rPr lang="en-US" altLang="zh-CN" sz="2400" dirty="0">
                <a:latin typeface="+mn-lt"/>
                <a:ea typeface="SimHei" panose="02010609060101010101" pitchFamily="49" charset="-122"/>
              </a:rPr>
              <a:t>UVC</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UVB  </a:t>
            </a:r>
            <a:r>
              <a:rPr lang="zh-CN" altLang="en-US" sz="2400" dirty="0">
                <a:latin typeface="+mn-lt"/>
                <a:ea typeface="SimHei" panose="02010609060101010101" pitchFamily="49" charset="-122"/>
              </a:rPr>
              <a:t>和 </a:t>
            </a:r>
            <a:r>
              <a:rPr lang="en-US" altLang="zh-CN" sz="2400" dirty="0">
                <a:latin typeface="+mn-lt"/>
                <a:ea typeface="SimHei" panose="02010609060101010101" pitchFamily="49" charset="-122"/>
              </a:rPr>
              <a:t>UVA</a:t>
            </a:r>
            <a:r>
              <a:rPr lang="zh-CN" altLang="en-US" sz="2400" dirty="0">
                <a:latin typeface="+mn-lt"/>
                <a:ea typeface="SimHei" panose="02010609060101010101" pitchFamily="49" charset="-122"/>
              </a:rPr>
              <a:t>。</a:t>
            </a:r>
            <a:endParaRPr lang="en-US" altLang="zh-CN" sz="2400" dirty="0">
              <a:latin typeface="+mn-lt"/>
              <a:ea typeface="SimHei" panose="02010609060101010101" pitchFamily="49" charset="-122"/>
            </a:endParaRPr>
          </a:p>
          <a:p>
            <a:pPr>
              <a:lnSpc>
                <a:spcPct val="150000"/>
              </a:lnSpc>
            </a:pPr>
            <a:r>
              <a:rPr lang="en-US" altLang="zh-CN" sz="2400" dirty="0">
                <a:latin typeface="+mn-lt"/>
                <a:ea typeface="SimHei" panose="02010609060101010101" pitchFamily="49" charset="-122"/>
              </a:rPr>
              <a:t>	</a:t>
            </a:r>
            <a:r>
              <a:rPr lang="en-US" altLang="zh-CN" sz="2400" dirty="0">
                <a:latin typeface="KaiTi" panose="02010609060101010101" pitchFamily="49" charset="-122"/>
                <a:ea typeface="KaiTi" panose="02010609060101010101" pitchFamily="49" charset="-122"/>
              </a:rPr>
              <a:t>UVC </a:t>
            </a:r>
            <a:r>
              <a:rPr lang="zh-CN" altLang="en-US" sz="2400" dirty="0">
                <a:latin typeface="KaiTi" panose="02010609060101010101" pitchFamily="49" charset="-122"/>
                <a:ea typeface="KaiTi" panose="02010609060101010101" pitchFamily="49" charset="-122"/>
              </a:rPr>
              <a:t>的波长在</a:t>
            </a:r>
            <a:r>
              <a:rPr lang="en-US" altLang="zh-CN" sz="2400" dirty="0">
                <a:latin typeface="KaiTi" panose="02010609060101010101" pitchFamily="49" charset="-122"/>
                <a:ea typeface="KaiTi" panose="02010609060101010101" pitchFamily="49" charset="-122"/>
              </a:rPr>
              <a:t>100</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280nm </a:t>
            </a:r>
            <a:r>
              <a:rPr lang="zh-CN" altLang="en-US" sz="2400" dirty="0">
                <a:latin typeface="KaiTi" panose="02010609060101010101" pitchFamily="49" charset="-122"/>
                <a:ea typeface="KaiTi" panose="02010609060101010101" pitchFamily="49" charset="-122"/>
              </a:rPr>
              <a:t>之间，其</a:t>
            </a:r>
            <a:r>
              <a:rPr lang="zh-CN" altLang="en-US" sz="2400" dirty="0">
                <a:solidFill>
                  <a:srgbClr val="0000FF"/>
                </a:solidFill>
                <a:latin typeface="KaiTi" panose="02010609060101010101" pitchFamily="49" charset="-122"/>
                <a:ea typeface="KaiTi" panose="02010609060101010101" pitchFamily="49" charset="-122"/>
              </a:rPr>
              <a:t>完全被臭氧层吸收</a:t>
            </a:r>
            <a:r>
              <a:rPr lang="zh-CN" altLang="en-US" sz="2400" dirty="0">
                <a:latin typeface="KaiTi" panose="02010609060101010101" pitchFamily="49" charset="-122"/>
                <a:ea typeface="KaiTi" panose="02010609060101010101" pitchFamily="49" charset="-122"/>
              </a:rPr>
              <a:t>，所以对人体一般不会构成伤害。</a:t>
            </a:r>
            <a:endParaRPr lang="en-US" altLang="zh-CN" sz="2400" dirty="0">
              <a:latin typeface="KaiTi" panose="02010609060101010101" pitchFamily="49" charset="-122"/>
              <a:ea typeface="KaiT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UVB </a:t>
            </a:r>
            <a:r>
              <a:rPr lang="zh-CN" altLang="en-US" sz="2400" dirty="0">
                <a:latin typeface="KaiTi" panose="02010609060101010101" pitchFamily="49" charset="-122"/>
                <a:ea typeface="KaiTi" panose="02010609060101010101" pitchFamily="49" charset="-122"/>
              </a:rPr>
              <a:t>的波长在</a:t>
            </a:r>
            <a:r>
              <a:rPr lang="en-US" altLang="zh-CN" sz="2400" dirty="0">
                <a:latin typeface="KaiTi" panose="02010609060101010101" pitchFamily="49" charset="-122"/>
                <a:ea typeface="KaiTi" panose="02010609060101010101" pitchFamily="49" charset="-122"/>
              </a:rPr>
              <a:t>280</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320nm </a:t>
            </a:r>
            <a:r>
              <a:rPr lang="zh-CN" altLang="en-US" sz="2400" dirty="0">
                <a:latin typeface="KaiTi" panose="02010609060101010101" pitchFamily="49" charset="-122"/>
                <a:ea typeface="KaiTi" panose="02010609060101010101" pitchFamily="49" charset="-122"/>
              </a:rPr>
              <a:t>之间，</a:t>
            </a:r>
            <a:r>
              <a:rPr lang="zh-CN" altLang="en-US" sz="2400" dirty="0">
                <a:solidFill>
                  <a:srgbClr val="0000FF"/>
                </a:solidFill>
                <a:latin typeface="KaiTi" panose="02010609060101010101" pitchFamily="49" charset="-122"/>
                <a:ea typeface="KaiTi" panose="02010609060101010101" pitchFamily="49" charset="-122"/>
              </a:rPr>
              <a:t>可穿透臭氧层</a:t>
            </a:r>
            <a:r>
              <a:rPr lang="zh-CN" altLang="en-US" sz="2400" dirty="0">
                <a:latin typeface="KaiTi" panose="02010609060101010101" pitchFamily="49" charset="-122"/>
                <a:ea typeface="KaiTi" panose="02010609060101010101" pitchFamily="49" charset="-122"/>
              </a:rPr>
              <a:t>进入到地球表面，它是太阳辐射中对皮肤引起光生物效应的主要波段。主要</a:t>
            </a:r>
            <a:r>
              <a:rPr lang="zh-CN" altLang="en-US" sz="2400" dirty="0">
                <a:solidFill>
                  <a:srgbClr val="0000FF"/>
                </a:solidFill>
                <a:latin typeface="KaiTi" panose="02010609060101010101" pitchFamily="49" charset="-122"/>
                <a:ea typeface="KaiTi" panose="02010609060101010101" pitchFamily="49" charset="-122"/>
              </a:rPr>
              <a:t>作用于表皮层</a:t>
            </a:r>
            <a:r>
              <a:rPr lang="zh-CN" altLang="en-US" sz="2400" dirty="0">
                <a:latin typeface="KaiTi" panose="02010609060101010101" pitchFamily="49" charset="-122"/>
                <a:ea typeface="KaiTi" panose="02010609060101010101" pitchFamily="49" charset="-122"/>
              </a:rPr>
              <a:t>，引发红斑</a:t>
            </a:r>
            <a:r>
              <a:rPr lang="en-US" altLang="zh-CN" sz="2400" dirty="0">
                <a:latin typeface="KaiTi" panose="02010609060101010101" pitchFamily="49" charset="-122"/>
                <a:ea typeface="KaiTi" panose="02010609060101010101" pitchFamily="49" charset="-122"/>
              </a:rPr>
              <a:t>(</a:t>
            </a:r>
            <a:r>
              <a:rPr lang="zh-CN" altLang="en-US" sz="2400" dirty="0">
                <a:solidFill>
                  <a:srgbClr val="0000FF"/>
                </a:solidFill>
                <a:latin typeface="KaiTi" panose="02010609060101010101" pitchFamily="49" charset="-122"/>
                <a:ea typeface="KaiTi" panose="02010609060101010101" pitchFamily="49" charset="-122"/>
              </a:rPr>
              <a:t>晒斑</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。经常性地曝露于强烈的</a:t>
            </a:r>
            <a:r>
              <a:rPr lang="en-US" altLang="zh-CN" sz="2400" dirty="0">
                <a:latin typeface="KaiTi" panose="02010609060101010101" pitchFamily="49" charset="-122"/>
                <a:ea typeface="KaiTi" panose="02010609060101010101" pitchFamily="49" charset="-122"/>
              </a:rPr>
              <a:t>UVB </a:t>
            </a:r>
            <a:r>
              <a:rPr lang="zh-CN" altLang="en-US" sz="2400" dirty="0">
                <a:latin typeface="KaiTi" panose="02010609060101010101" pitchFamily="49" charset="-122"/>
                <a:ea typeface="KaiTi" panose="02010609060101010101" pitchFamily="49" charset="-122"/>
              </a:rPr>
              <a:t>下会损害</a:t>
            </a:r>
            <a:r>
              <a:rPr lang="en-US" altLang="zh-CN" sz="2400" dirty="0">
                <a:latin typeface="KaiTi" panose="02010609060101010101" pitchFamily="49" charset="-122"/>
                <a:ea typeface="KaiTi" panose="02010609060101010101" pitchFamily="49" charset="-122"/>
              </a:rPr>
              <a:t>DNA,</a:t>
            </a:r>
            <a:r>
              <a:rPr lang="zh-CN" altLang="en-US" sz="2400" dirty="0">
                <a:latin typeface="KaiTi" panose="02010609060101010101" pitchFamily="49" charset="-122"/>
                <a:ea typeface="KaiTi" panose="02010609060101010101" pitchFamily="49" charset="-122"/>
              </a:rPr>
              <a:t>也会改变皮肤的免疫反应。同时</a:t>
            </a:r>
            <a:r>
              <a:rPr lang="en-US" altLang="zh-CN" sz="2400" dirty="0">
                <a:latin typeface="KaiTi" panose="02010609060101010101" pitchFamily="49" charset="-122"/>
                <a:ea typeface="KaiTi" panose="02010609060101010101" pitchFamily="49" charset="-122"/>
              </a:rPr>
              <a:t>UVB</a:t>
            </a:r>
            <a:r>
              <a:rPr lang="zh-CN" altLang="en-US" sz="2400" dirty="0">
                <a:latin typeface="KaiTi" panose="02010609060101010101" pitchFamily="49" charset="-122"/>
                <a:ea typeface="KaiTi" panose="02010609060101010101" pitchFamily="49" charset="-122"/>
              </a:rPr>
              <a:t>还会增加各种致命性突变的概率，最终导致</a:t>
            </a:r>
            <a:r>
              <a:rPr lang="zh-CN" altLang="en-US" sz="2400" dirty="0">
                <a:solidFill>
                  <a:srgbClr val="0000FF"/>
                </a:solidFill>
                <a:latin typeface="KaiTi" panose="02010609060101010101" pitchFamily="49" charset="-122"/>
                <a:ea typeface="KaiTi" panose="02010609060101010101" pitchFamily="49" charset="-122"/>
              </a:rPr>
              <a:t>皮肤癌</a:t>
            </a:r>
            <a:r>
              <a:rPr lang="zh-CN" altLang="en-US" sz="2400" dirty="0">
                <a:latin typeface="KaiTi" panose="02010609060101010101" pitchFamily="49" charset="-122"/>
                <a:ea typeface="KaiTi" panose="02010609060101010101" pitchFamily="49" charset="-122"/>
              </a:rPr>
              <a:t>，并降低机体识别和清除发生恶性变异细胞的可能性。</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2006356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紫外辐射（</a:t>
            </a: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UVR</a:t>
            </a: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4452566"/>
          </a:xfrm>
          <a:prstGeom prst="rect">
            <a:avLst/>
          </a:prstGeom>
          <a:noFill/>
        </p:spPr>
        <p:txBody>
          <a:bodyPr wrap="square" rtlCol="0">
            <a:spAutoFit/>
          </a:bodyPr>
          <a:lstStyle/>
          <a:p>
            <a:pPr>
              <a:lnSpc>
                <a:spcPct val="150000"/>
              </a:lnSpc>
            </a:pPr>
            <a:r>
              <a:rPr lang="en-US" altLang="zh-CN" sz="2400" dirty="0">
                <a:latin typeface="+mn-lt"/>
                <a:ea typeface="SimHei" panose="02010609060101010101" pitchFamily="49" charset="-122"/>
              </a:rPr>
              <a:t>	</a:t>
            </a:r>
            <a:r>
              <a:rPr lang="en-US" altLang="zh-CN" sz="2400" dirty="0">
                <a:latin typeface="KaiTi" panose="02010609060101010101" pitchFamily="49" charset="-122"/>
                <a:ea typeface="KaiTi" panose="02010609060101010101" pitchFamily="49" charset="-122"/>
              </a:rPr>
              <a:t>UVA </a:t>
            </a:r>
            <a:r>
              <a:rPr lang="zh-CN" altLang="en-US" sz="2400" dirty="0">
                <a:latin typeface="KaiTi" panose="02010609060101010101" pitchFamily="49" charset="-122"/>
                <a:ea typeface="KaiTi" panose="02010609060101010101" pitchFamily="49" charset="-122"/>
              </a:rPr>
              <a:t>的波长在</a:t>
            </a:r>
            <a:r>
              <a:rPr lang="en-US" altLang="zh-CN" sz="2400" dirty="0">
                <a:latin typeface="KaiTi" panose="02010609060101010101" pitchFamily="49" charset="-122"/>
                <a:ea typeface="KaiTi" panose="02010609060101010101" pitchFamily="49" charset="-122"/>
              </a:rPr>
              <a:t>320</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400 nm</a:t>
            </a:r>
            <a:r>
              <a:rPr lang="zh-CN" altLang="en-US" sz="2400" dirty="0">
                <a:latin typeface="KaiTi" panose="02010609060101010101" pitchFamily="49" charset="-122"/>
                <a:ea typeface="KaiTi" panose="02010609060101010101" pitchFamily="49" charset="-122"/>
              </a:rPr>
              <a:t>之间，它的</a:t>
            </a:r>
            <a:r>
              <a:rPr lang="zh-CN" altLang="en-US" sz="2400" dirty="0">
                <a:solidFill>
                  <a:srgbClr val="0000FF"/>
                </a:solidFill>
                <a:latin typeface="KaiTi" panose="02010609060101010101" pitchFamily="49" charset="-122"/>
                <a:ea typeface="KaiTi" panose="02010609060101010101" pitchFamily="49" charset="-122"/>
              </a:rPr>
              <a:t>穿透力很强</a:t>
            </a:r>
            <a:r>
              <a:rPr lang="zh-CN" altLang="en-US" sz="2400" dirty="0">
                <a:latin typeface="KaiTi" panose="02010609060101010101" pitchFamily="49" charset="-122"/>
                <a:ea typeface="KaiTi" panose="02010609060101010101" pitchFamily="49" charset="-122"/>
              </a:rPr>
              <a:t>，可穿过玻璃窗并穿透皮肤直达真皮层，产生很多光生物学效应，</a:t>
            </a:r>
            <a:r>
              <a:rPr lang="zh-CN" altLang="en-US" sz="2400" dirty="0">
                <a:solidFill>
                  <a:srgbClr val="0000FF"/>
                </a:solidFill>
                <a:latin typeface="KaiTi" panose="02010609060101010101" pitchFamily="49" charset="-122"/>
                <a:ea typeface="KaiTi" panose="02010609060101010101" pitchFamily="49" charset="-122"/>
              </a:rPr>
              <a:t>使皮肤变黑、色素沉着以及皮肤老化，甚至引起皮肤癌，如黑素瘤</a:t>
            </a:r>
            <a:r>
              <a:rPr lang="zh-CN" altLang="en-US" sz="2400" dirty="0">
                <a:latin typeface="KaiTi" panose="02010609060101010101" pitchFamily="49" charset="-122"/>
                <a:ea typeface="KaiTi" panose="02010609060101010101" pitchFamily="49" charset="-122"/>
              </a:rPr>
              <a:t>等。 </a:t>
            </a:r>
            <a:r>
              <a:rPr lang="en-US" altLang="zh-CN" sz="2400" dirty="0">
                <a:latin typeface="KaiTi" panose="02010609060101010101" pitchFamily="49" charset="-122"/>
                <a:ea typeface="KaiTi" panose="02010609060101010101" pitchFamily="49" charset="-122"/>
              </a:rPr>
              <a:t>UVA </a:t>
            </a:r>
            <a:r>
              <a:rPr lang="zh-CN" altLang="en-US" sz="2400" dirty="0">
                <a:latin typeface="KaiTi" panose="02010609060101010101" pitchFamily="49" charset="-122"/>
                <a:ea typeface="KaiTi" panose="02010609060101010101" pitchFamily="49" charset="-122"/>
              </a:rPr>
              <a:t>还可以导致自由基和活性氧化物的生成，间接对皮肤发生作用。</a:t>
            </a:r>
            <a:endParaRPr lang="en-US" altLang="zh-CN" sz="2400" dirty="0">
              <a:latin typeface="KaiTi" panose="02010609060101010101" pitchFamily="49" charset="-122"/>
              <a:ea typeface="KaiTi" panose="02010609060101010101" pitchFamily="49" charset="-122"/>
            </a:endParaRPr>
          </a:p>
          <a:p>
            <a:pPr>
              <a:lnSpc>
                <a:spcPct val="150000"/>
              </a:lnSpc>
            </a:pPr>
            <a:endParaRPr lang="en-US" altLang="zh-CN" sz="2400" dirty="0">
              <a:latin typeface="KaiTi" panose="02010609060101010101" pitchFamily="49" charset="-122"/>
              <a:ea typeface="KaiT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科学研究表明， </a:t>
            </a:r>
            <a:r>
              <a:rPr lang="en-US" altLang="zh-CN" sz="2400" dirty="0">
                <a:latin typeface="+mn-lt"/>
                <a:ea typeface="SimHei" panose="02010609060101010101" pitchFamily="49" charset="-122"/>
              </a:rPr>
              <a:t>UVB </a:t>
            </a:r>
            <a:r>
              <a:rPr lang="zh-CN" altLang="en-US" sz="2400" dirty="0">
                <a:latin typeface="+mn-lt"/>
                <a:ea typeface="SimHei" panose="02010609060101010101" pitchFamily="49" charset="-122"/>
              </a:rPr>
              <a:t>会引起即时和严重的皮肤损害， </a:t>
            </a:r>
            <a:r>
              <a:rPr lang="en-US" altLang="zh-CN" sz="2400" dirty="0">
                <a:latin typeface="+mn-lt"/>
                <a:ea typeface="SimHei" panose="02010609060101010101" pitchFamily="49" charset="-122"/>
              </a:rPr>
              <a:t>UVA</a:t>
            </a:r>
            <a:r>
              <a:rPr lang="zh-CN" altLang="en-US" sz="2400" dirty="0">
                <a:latin typeface="+mn-lt"/>
                <a:ea typeface="SimHei" panose="02010609060101010101" pitchFamily="49" charset="-122"/>
              </a:rPr>
              <a:t>则会引起长期、慢性的损伤，两者都表现出对皮肤的致癌作用。</a:t>
            </a:r>
          </a:p>
        </p:txBody>
      </p:sp>
    </p:spTree>
    <p:extLst>
      <p:ext uri="{BB962C8B-B14F-4D97-AF65-F5344CB8AC3E}">
        <p14:creationId xmlns:p14="http://schemas.microsoft.com/office/powerpoint/2010/main" val="1299551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皮肤日晒红斑</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389856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皮肤日晒红斑即日</a:t>
            </a:r>
            <a:r>
              <a:rPr lang="zh-CN" altLang="en-US" sz="2400" dirty="0">
                <a:solidFill>
                  <a:srgbClr val="FF0000"/>
                </a:solidFill>
                <a:latin typeface="+mn-lt"/>
                <a:ea typeface="SimHei" panose="02010609060101010101" pitchFamily="49" charset="-122"/>
              </a:rPr>
              <a:t>晒伤</a:t>
            </a:r>
            <a:r>
              <a:rPr lang="zh-CN" altLang="en-US" sz="2400" dirty="0">
                <a:latin typeface="+mn-lt"/>
                <a:ea typeface="SimHei" panose="02010609060101010101" pitchFamily="49" charset="-122"/>
              </a:rPr>
              <a:t>，又称皮肤日光灼伤、紫外线红斑等。皮肤日晒红斑是紫 外线照射后在局部引起的一种</a:t>
            </a:r>
            <a:r>
              <a:rPr lang="zh-CN" altLang="en-US" sz="2400" dirty="0">
                <a:solidFill>
                  <a:srgbClr val="FF0000"/>
                </a:solidFill>
                <a:latin typeface="+mn-lt"/>
                <a:ea typeface="SimHei" panose="02010609060101010101" pitchFamily="49" charset="-122"/>
              </a:rPr>
              <a:t>急性光毒性反应</a:t>
            </a:r>
            <a:r>
              <a:rPr lang="zh-CN" altLang="en-US" sz="2400" dirty="0">
                <a:latin typeface="+mn-lt"/>
                <a:ea typeface="SimHei" panose="02010609060101010101" pitchFamily="49" charset="-122"/>
              </a:rPr>
              <a:t> </a:t>
            </a:r>
            <a:r>
              <a:rPr lang="en-US" altLang="zh-CN" sz="2400" dirty="0">
                <a:latin typeface="+mn-lt"/>
                <a:ea typeface="SimHei" panose="02010609060101010101" pitchFamily="49" charset="-122"/>
              </a:rPr>
              <a:t>(phototoxic reaction)</a:t>
            </a:r>
            <a:r>
              <a:rPr lang="zh-CN" altLang="en-US" sz="2400" dirty="0">
                <a:latin typeface="+mn-lt"/>
                <a:ea typeface="SimHei" panose="02010609060101010101" pitchFamily="49" charset="-122"/>
              </a:rPr>
              <a:t>。 临床上表现为</a:t>
            </a:r>
            <a:r>
              <a:rPr lang="zh-CN" altLang="en-US" sz="2400" dirty="0">
                <a:solidFill>
                  <a:srgbClr val="0000FF"/>
                </a:solidFill>
                <a:latin typeface="+mn-lt"/>
                <a:ea typeface="SimHei" panose="02010609060101010101" pitchFamily="49" charset="-122"/>
              </a:rPr>
              <a:t>肉眼可见、边界清晰的斑疹，颜色可为淡红色、鲜红色或深红色</a:t>
            </a:r>
            <a:r>
              <a:rPr lang="zh-CN" altLang="en-US" sz="2400" dirty="0">
                <a:latin typeface="+mn-lt"/>
                <a:ea typeface="SimHei" panose="02010609060101010101" pitchFamily="49" charset="-122"/>
              </a:rPr>
              <a:t>，可有轻度不一的水肿，重者出现水疱。依照射面积大小不同，病人可有不同症状，如灼热、刺痛或出现乏力、不适等轻度全身症状。红斑数日内逐渐消退，可出现脱屑以及继发性色素沉着。</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22927238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皮肤日晒黑化</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389856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皮肤日晒黑化即日晒黑，指日光或紫外线照射后引起的皮肤黑化作用。通常</a:t>
            </a:r>
            <a:r>
              <a:rPr lang="zh-CN" altLang="en-US" sz="2400" dirty="0">
                <a:solidFill>
                  <a:srgbClr val="0000FF"/>
                </a:solidFill>
                <a:latin typeface="+mn-lt"/>
                <a:ea typeface="SimHei" panose="02010609060101010101" pitchFamily="49" charset="-122"/>
              </a:rPr>
              <a:t>限于光照部位</a:t>
            </a:r>
            <a:r>
              <a:rPr lang="zh-CN" altLang="en-US" sz="2400" dirty="0">
                <a:latin typeface="+mn-lt"/>
                <a:ea typeface="SimHei" panose="02010609060101010101" pitchFamily="49" charset="-122"/>
              </a:rPr>
              <a:t>，边界清晰，临床上表现为</a:t>
            </a:r>
            <a:r>
              <a:rPr lang="zh-CN" altLang="en-US" sz="2400" dirty="0">
                <a:solidFill>
                  <a:srgbClr val="0000FF"/>
                </a:solidFill>
                <a:latin typeface="+mn-lt"/>
                <a:ea typeface="SimHei" panose="02010609060101010101" pitchFamily="49" charset="-122"/>
              </a:rPr>
              <a:t>弥漫性灰黑色色素沉着，无自觉症状</a:t>
            </a:r>
            <a:r>
              <a:rPr lang="zh-CN" altLang="en-US" sz="2400" dirty="0">
                <a:latin typeface="+mn-lt"/>
                <a:ea typeface="SimHei" panose="02010609060101010101" pitchFamily="49" charset="-122"/>
              </a:rPr>
              <a:t>。</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皮肤炎症后色素沉着也可以引起肤色加深，但一般限于炎症部位的皮肤，色素分布不均，从发生机理上看主要是一系列炎性介质如白三烯</a:t>
            </a:r>
            <a:r>
              <a:rPr lang="en-US" altLang="zh-CN" sz="2400" dirty="0">
                <a:latin typeface="+mn-lt"/>
                <a:ea typeface="SimHei" panose="02010609060101010101" pitchFamily="49" charset="-122"/>
              </a:rPr>
              <a:t>C4 </a:t>
            </a:r>
            <a:r>
              <a:rPr lang="zh-CN" altLang="en-US" sz="2400" dirty="0">
                <a:latin typeface="+mn-lt"/>
                <a:ea typeface="SimHei" panose="02010609060101010101" pitchFamily="49" charset="-122"/>
              </a:rPr>
              <a:t>和 </a:t>
            </a:r>
            <a:r>
              <a:rPr lang="en-US" altLang="zh-CN" sz="2400" dirty="0">
                <a:latin typeface="+mn-lt"/>
                <a:ea typeface="SimHei" panose="02010609060101010101" pitchFamily="49" charset="-122"/>
              </a:rPr>
              <a:t>D4 </a:t>
            </a:r>
            <a:r>
              <a:rPr lang="zh-CN" altLang="en-US" sz="2400" dirty="0">
                <a:latin typeface="+mn-lt"/>
                <a:ea typeface="SimHei" panose="02010609060101010101" pitchFamily="49" charset="-122"/>
              </a:rPr>
              <a:t>等和黑素细胞的相互作用所致。</a:t>
            </a:r>
          </a:p>
          <a:p>
            <a:pPr marL="342900" indent="-342900">
              <a:lnSpc>
                <a:spcPct val="150000"/>
              </a:lnSpc>
              <a:buFont typeface="Arial" panose="020B0604020202020204" pitchFamily="34" charset="0"/>
              <a:buChar char="•"/>
            </a:pPr>
            <a:r>
              <a:rPr lang="zh-CN" altLang="en-US" sz="2400" dirty="0">
                <a:solidFill>
                  <a:srgbClr val="0000FF"/>
                </a:solidFill>
                <a:latin typeface="+mn-lt"/>
                <a:ea typeface="SimHei" panose="02010609060101010101" pitchFamily="49" charset="-122"/>
              </a:rPr>
              <a:t>皮肤晒黑则是光线对黑素细胞的直接生物学影响</a:t>
            </a:r>
            <a:r>
              <a:rPr lang="zh-CN" altLang="en-US" sz="2400" dirty="0">
                <a:latin typeface="+mn-lt"/>
                <a:ea typeface="SimHei" panose="02010609060101010101" pitchFamily="49" charset="-122"/>
              </a:rPr>
              <a:t>。</a:t>
            </a:r>
          </a:p>
        </p:txBody>
      </p:sp>
    </p:spTree>
    <p:extLst>
      <p:ext uri="{BB962C8B-B14F-4D97-AF65-F5344CB8AC3E}">
        <p14:creationId xmlns:p14="http://schemas.microsoft.com/office/powerpoint/2010/main" val="28605969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皮肤日晒黑化</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482151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经紫外线照射皮肤或黏膜直接出现黑化或色素沉着，其反应类型可分为以下三类。</a:t>
            </a:r>
          </a:p>
          <a:p>
            <a:pPr>
              <a:lnSpc>
                <a:spcPct val="150000"/>
              </a:lnSpc>
            </a:pPr>
            <a:r>
              <a:rPr lang="en-US" altLang="zh-CN" sz="2000" dirty="0">
                <a:latin typeface="KaiTi" panose="02010609060101010101" pitchFamily="49" charset="-122"/>
                <a:ea typeface="KaiTi" panose="02010609060101010101" pitchFamily="49" charset="-122"/>
              </a:rPr>
              <a:t>(1)</a:t>
            </a:r>
            <a:r>
              <a:rPr lang="zh-CN" altLang="en-US" sz="2000" b="1" dirty="0">
                <a:latin typeface="KaiTi" panose="02010609060101010101" pitchFamily="49" charset="-122"/>
                <a:ea typeface="KaiTi" panose="02010609060101010101" pitchFamily="49" charset="-122"/>
              </a:rPr>
              <a:t>即时性黑化</a:t>
            </a:r>
            <a:r>
              <a:rPr lang="zh-CN" altLang="en-US" sz="2000" dirty="0">
                <a:latin typeface="KaiTi" panose="02010609060101010101" pitchFamily="49" charset="-122"/>
                <a:ea typeface="KaiTi" panose="02010609060101010101" pitchFamily="49" charset="-122"/>
              </a:rPr>
              <a:t> 照射后立即发生或照射过程中即可发生的一种色素沉着。通常表现为灰黑色，限于照射部位，色素沉着消退很快，一般可持续数分钟至数小时不等。</a:t>
            </a:r>
          </a:p>
          <a:p>
            <a:pPr>
              <a:lnSpc>
                <a:spcPct val="150000"/>
              </a:lnSpc>
            </a:pPr>
            <a:r>
              <a:rPr lang="en-US" altLang="zh-CN" sz="2000" dirty="0">
                <a:latin typeface="KaiTi" panose="02010609060101010101" pitchFamily="49" charset="-122"/>
                <a:ea typeface="KaiTi" panose="02010609060101010101" pitchFamily="49" charset="-122"/>
              </a:rPr>
              <a:t>(2)</a:t>
            </a:r>
            <a:r>
              <a:rPr lang="zh-CN" altLang="en-US" sz="2000" b="1" dirty="0">
                <a:latin typeface="KaiTi" panose="02010609060101010101" pitchFamily="49" charset="-122"/>
                <a:ea typeface="KaiTi" panose="02010609060101010101" pitchFamily="49" charset="-122"/>
              </a:rPr>
              <a:t>持续性黑化</a:t>
            </a:r>
            <a:r>
              <a:rPr lang="zh-CN" altLang="en-US" sz="2000" dirty="0">
                <a:latin typeface="KaiTi" panose="02010609060101010101" pitchFamily="49" charset="-122"/>
                <a:ea typeface="KaiTi" panose="02010609060101010101" pitchFamily="49" charset="-122"/>
              </a:rPr>
              <a:t> 随着紫外线照射剂量的增加，色素沉着可持续数小时至数天不消退，可与延迟性红斑反应重叠发生，一般表现为暂时性灰黑色或深棕色</a:t>
            </a:r>
          </a:p>
          <a:p>
            <a:pPr>
              <a:lnSpc>
                <a:spcPct val="150000"/>
              </a:lnSpc>
            </a:pPr>
            <a:r>
              <a:rPr lang="en-US" altLang="zh-CN" sz="2000" dirty="0">
                <a:latin typeface="KaiTi" panose="02010609060101010101" pitchFamily="49" charset="-122"/>
                <a:ea typeface="KaiTi" panose="02010609060101010101" pitchFamily="49" charset="-122"/>
              </a:rPr>
              <a:t>(3)</a:t>
            </a:r>
            <a:r>
              <a:rPr lang="zh-CN" altLang="en-US" sz="2000" b="1" dirty="0">
                <a:latin typeface="KaiTi" panose="02010609060101010101" pitchFamily="49" charset="-122"/>
                <a:ea typeface="KaiTi" panose="02010609060101010101" pitchFamily="49" charset="-122"/>
              </a:rPr>
              <a:t>延迟性黑化</a:t>
            </a:r>
            <a:r>
              <a:rPr lang="zh-CN" altLang="en-US" sz="2000" dirty="0">
                <a:latin typeface="KaiTi" panose="02010609060101010101" pitchFamily="49" charset="-122"/>
                <a:ea typeface="KaiTi" panose="02010609060101010101" pitchFamily="49" charset="-122"/>
              </a:rPr>
              <a:t> 照射后数天内发生，色素可持续数天至数月不等。延迟性黑化常伴发于皮肤经紫外辐射后出现的延迟性红斑，并涉及炎症后色素沉着的机制。</a:t>
            </a:r>
            <a:endParaRPr lang="zh-CN" altLang="en-US"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5267173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2BFA31D6-7B8A-CD08-6833-9F5D1DCF000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FB3C9B6-1D36-DB9F-06D8-9F2B3E56E5F8}"/>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D194D4D6-EC83-F592-FC8C-23857FAD623F}"/>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即时性黑化</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pic>
        <p:nvPicPr>
          <p:cNvPr id="6" name="图片 5">
            <a:extLst>
              <a:ext uri="{FF2B5EF4-FFF2-40B4-BE49-F238E27FC236}">
                <a16:creationId xmlns:a16="http://schemas.microsoft.com/office/drawing/2014/main" id="{307FE92A-1646-BEE8-6B1F-61EE651AFA5B}"/>
              </a:ext>
            </a:extLst>
          </p:cNvPr>
          <p:cNvPicPr>
            <a:picLocks noChangeAspect="1"/>
          </p:cNvPicPr>
          <p:nvPr/>
        </p:nvPicPr>
        <p:blipFill>
          <a:blip r:embed="rId2">
            <a:extLst>
              <a:ext uri="{28A0092B-C50C-407E-A947-70E740481C1C}">
                <a14:useLocalDpi xmlns:a14="http://schemas.microsoft.com/office/drawing/2010/main" val="0"/>
              </a:ext>
            </a:extLst>
          </a:blip>
          <a:srcRect t="25478" b="25058"/>
          <a:stretch>
            <a:fillRect/>
          </a:stretch>
        </p:blipFill>
        <p:spPr>
          <a:xfrm>
            <a:off x="420249" y="1904927"/>
            <a:ext cx="3857625" cy="3392287"/>
          </a:xfrm>
          <a:prstGeom prst="rect">
            <a:avLst/>
          </a:prstGeom>
        </p:spPr>
      </p:pic>
      <p:pic>
        <p:nvPicPr>
          <p:cNvPr id="8" name="图片 7">
            <a:extLst>
              <a:ext uri="{FF2B5EF4-FFF2-40B4-BE49-F238E27FC236}">
                <a16:creationId xmlns:a16="http://schemas.microsoft.com/office/drawing/2014/main" id="{6CBD3B1C-FAAD-37F0-A77E-282649EF3DC6}"/>
              </a:ext>
            </a:extLst>
          </p:cNvPr>
          <p:cNvPicPr>
            <a:picLocks noChangeAspect="1"/>
          </p:cNvPicPr>
          <p:nvPr/>
        </p:nvPicPr>
        <p:blipFill>
          <a:blip r:embed="rId3">
            <a:extLst>
              <a:ext uri="{28A0092B-C50C-407E-A947-70E740481C1C}">
                <a14:useLocalDpi xmlns:a14="http://schemas.microsoft.com/office/drawing/2010/main" val="0"/>
              </a:ext>
            </a:extLst>
          </a:blip>
          <a:srcRect t="40138" b="22758"/>
          <a:stretch>
            <a:fillRect/>
          </a:stretch>
        </p:blipFill>
        <p:spPr>
          <a:xfrm>
            <a:off x="4572000" y="1904926"/>
            <a:ext cx="4224742" cy="3392287"/>
          </a:xfrm>
          <a:prstGeom prst="rect">
            <a:avLst/>
          </a:prstGeom>
        </p:spPr>
      </p:pic>
    </p:spTree>
    <p:extLst>
      <p:ext uri="{BB962C8B-B14F-4D97-AF65-F5344CB8AC3E}">
        <p14:creationId xmlns:p14="http://schemas.microsoft.com/office/powerpoint/2010/main" val="32351096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皮肤光老化</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445583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皮肤光老化是指由于长期的日光照射导致皮肤衰老或加速衰老的现象。由于日光中紫外线辐射是环境因素中导致皮肤老化的主要因素，所以通常所说的</a:t>
            </a:r>
            <a:r>
              <a:rPr lang="zh-CN" altLang="en-US" sz="2400" dirty="0">
                <a:solidFill>
                  <a:srgbClr val="0000FF"/>
                </a:solidFill>
                <a:latin typeface="+mn-lt"/>
                <a:ea typeface="SimHei" panose="02010609060101010101" pitchFamily="49" charset="-122"/>
              </a:rPr>
              <a:t>外源性皮肤老化即指皮肤光老化</a:t>
            </a:r>
            <a:r>
              <a:rPr lang="zh-CN" altLang="en-US" sz="2400" dirty="0">
                <a:latin typeface="+mn-lt"/>
                <a:ea typeface="SimHei" panose="02010609060101010101" pitchFamily="49" charset="-122"/>
              </a:rPr>
              <a:t>。</a:t>
            </a:r>
          </a:p>
          <a:p>
            <a:pPr>
              <a:lnSpc>
                <a:spcPct val="150000"/>
              </a:lnSpc>
            </a:pPr>
            <a:r>
              <a:rPr lang="en-US" altLang="zh-CN" sz="2400" dirty="0">
                <a:latin typeface="+mn-lt"/>
                <a:ea typeface="SimHei" panose="02010609060101010101" pitchFamily="49" charset="-122"/>
              </a:rPr>
              <a:t>	</a:t>
            </a:r>
            <a:r>
              <a:rPr lang="zh-CN" altLang="en-US" sz="2400" dirty="0">
                <a:latin typeface="KaiTi" panose="02010609060101010101" pitchFamily="49" charset="-122"/>
                <a:ea typeface="KaiTi" panose="02010609060101010101" pitchFamily="49" charset="-122"/>
              </a:rPr>
              <a:t>由于皮肤光老化是一个日积月累的缓慢发展过程，其影响因素必然广泛而复杂。不同的光线波长、照射剂量、生理因素如年龄、肤色及饮食起居、病理因素、职业和环境因素等均可影响皮肤光老化的发生。</a:t>
            </a: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2615950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防晒</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334457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防晒化妆品是指具有屏蔽或吸收紫外线作用，减轻因日晒引起皮肤损伤、黑素沉着及皮肤老化的化妆品。</a:t>
            </a:r>
            <a:endParaRPr lang="en-US" altLang="zh-CN" sz="2400" dirty="0">
              <a:latin typeface="+mn-lt"/>
              <a:ea typeface="SimHei" panose="02010609060101010101" pitchFamily="49" charset="-122"/>
            </a:endParaRPr>
          </a:p>
          <a:p>
            <a:pPr>
              <a:lnSpc>
                <a:spcPct val="150000"/>
              </a:lnSpc>
            </a:pPr>
            <a:r>
              <a:rPr lang="en-US" altLang="zh-CN" sz="2400" dirty="0">
                <a:latin typeface="+mn-lt"/>
                <a:ea typeface="SimHei" panose="02010609060101010101" pitchFamily="49" charset="-122"/>
              </a:rPr>
              <a:t>	</a:t>
            </a:r>
            <a:r>
              <a:rPr lang="zh-CN" altLang="en-US" sz="2400" dirty="0">
                <a:latin typeface="KaiTi" panose="02010609060101010101" pitchFamily="49" charset="-122"/>
                <a:ea typeface="KaiTi" panose="02010609060101010101" pitchFamily="49" charset="-122"/>
              </a:rPr>
              <a:t>防晒已成为当今国际化妆品发展的热门话题之一，防晒化妆品也越来越被更多的人认识和使用。如今，人们不光在夏季使用防晒品，在冬季甚至在灯光下也开始使用不同防晒指数的防晒品。</a:t>
            </a:r>
            <a:endParaRPr lang="en-US" altLang="zh-CN"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8776705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防晒剂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389856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防晒剂面世至今已有</a:t>
            </a:r>
            <a:r>
              <a:rPr lang="en-US" altLang="zh-CN" sz="2400" dirty="0">
                <a:latin typeface="+mn-lt"/>
                <a:ea typeface="SimHei" panose="02010609060101010101" pitchFamily="49" charset="-122"/>
              </a:rPr>
              <a:t>60</a:t>
            </a:r>
            <a:r>
              <a:rPr lang="zh-CN" altLang="en-US" sz="2400" dirty="0">
                <a:latin typeface="+mn-lt"/>
                <a:ea typeface="SimHei" panose="02010609060101010101" pitchFamily="49" charset="-122"/>
              </a:rPr>
              <a:t>余年之久，它们起初是用来防止晒伤的，即仅对 </a:t>
            </a:r>
            <a:r>
              <a:rPr lang="en-US" altLang="zh-CN" sz="2400" dirty="0">
                <a:latin typeface="+mn-lt"/>
                <a:ea typeface="SimHei" panose="02010609060101010101" pitchFamily="49" charset="-122"/>
              </a:rPr>
              <a:t>UVB </a:t>
            </a:r>
            <a:r>
              <a:rPr lang="zh-CN" altLang="en-US" sz="2400" dirty="0">
                <a:latin typeface="+mn-lt"/>
                <a:ea typeface="SimHei" panose="02010609060101010101" pitchFamily="49" charset="-122"/>
              </a:rPr>
              <a:t>具有防护作用，而对 </a:t>
            </a:r>
            <a:r>
              <a:rPr lang="en-US" altLang="zh-CN" sz="2400" dirty="0">
                <a:latin typeface="+mn-lt"/>
                <a:ea typeface="SimHei" panose="02010609060101010101" pitchFamily="49" charset="-122"/>
              </a:rPr>
              <a:t>UVA </a:t>
            </a:r>
            <a:r>
              <a:rPr lang="zh-CN" altLang="en-US" sz="2400" dirty="0">
                <a:latin typeface="+mn-lt"/>
                <a:ea typeface="SimHei" panose="02010609060101010101" pitchFamily="49" charset="-122"/>
              </a:rPr>
              <a:t>导致的晒黑无能为力。传统的防晒指数 </a:t>
            </a:r>
            <a:r>
              <a:rPr lang="en-US" altLang="zh-CN" sz="2400" dirty="0">
                <a:latin typeface="+mn-lt"/>
                <a:ea typeface="SimHei" panose="02010609060101010101" pitchFamily="49" charset="-122"/>
              </a:rPr>
              <a:t>(SPF) </a:t>
            </a:r>
            <a:r>
              <a:rPr lang="zh-CN" altLang="en-US" sz="2400" dirty="0">
                <a:latin typeface="+mn-lt"/>
                <a:ea typeface="SimHei" panose="02010609060101010101" pitchFamily="49" charset="-122"/>
              </a:rPr>
              <a:t>也只关系到 </a:t>
            </a:r>
            <a:r>
              <a:rPr lang="en-US" altLang="zh-CN" sz="2400" dirty="0">
                <a:latin typeface="+mn-lt"/>
                <a:ea typeface="SimHei" panose="02010609060101010101" pitchFamily="49" charset="-122"/>
              </a:rPr>
              <a:t>UVB </a:t>
            </a:r>
            <a:r>
              <a:rPr lang="zh-CN" altLang="en-US" sz="2400" dirty="0">
                <a:latin typeface="+mn-lt"/>
                <a:ea typeface="SimHei" panose="02010609060101010101" pitchFamily="49" charset="-122"/>
              </a:rPr>
              <a:t>引起的红斑。 </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en-US" altLang="zh-CN" sz="2400" dirty="0">
                <a:latin typeface="+mn-lt"/>
                <a:ea typeface="SimHei" panose="02010609060101010101" pitchFamily="49" charset="-122"/>
              </a:rPr>
              <a:t>UVA  </a:t>
            </a:r>
            <a:r>
              <a:rPr lang="zh-CN" altLang="en-US" sz="2400" dirty="0">
                <a:latin typeface="+mn-lt"/>
                <a:ea typeface="SimHei" panose="02010609060101010101" pitchFamily="49" charset="-122"/>
              </a:rPr>
              <a:t>会增加黑素瘤和其他肿瘤的发病率，随着这一事实日益受到 关注，人们在防止因光照引起皮肤癌的同时也越来越重视，</a:t>
            </a:r>
            <a:r>
              <a:rPr lang="zh-CN" altLang="en-US" sz="2400" dirty="0">
                <a:solidFill>
                  <a:srgbClr val="0000FF"/>
                </a:solidFill>
                <a:latin typeface="+mn-lt"/>
                <a:ea typeface="SimHei" panose="02010609060101010101" pitchFamily="49" charset="-122"/>
              </a:rPr>
              <a:t>对 </a:t>
            </a:r>
            <a:r>
              <a:rPr lang="en-US" altLang="zh-CN" sz="2400" dirty="0">
                <a:solidFill>
                  <a:srgbClr val="0000FF"/>
                </a:solidFill>
                <a:latin typeface="+mn-lt"/>
                <a:ea typeface="SimHei" panose="02010609060101010101" pitchFamily="49" charset="-122"/>
              </a:rPr>
              <a:t>UVA/UVB </a:t>
            </a:r>
            <a:r>
              <a:rPr lang="zh-CN" altLang="en-US" sz="2400" dirty="0">
                <a:solidFill>
                  <a:srgbClr val="0000FF"/>
                </a:solidFill>
                <a:latin typeface="+mn-lt"/>
                <a:ea typeface="SimHei" panose="02010609060101010101" pitchFamily="49" charset="-122"/>
              </a:rPr>
              <a:t>全波段紫外线的防护</a:t>
            </a:r>
            <a:r>
              <a:rPr lang="zh-CN" altLang="en-US" sz="2400" dirty="0">
                <a:latin typeface="+mn-lt"/>
                <a:ea typeface="SimHei" panose="02010609060101010101" pitchFamily="49" charset="-122"/>
              </a:rPr>
              <a:t>。</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9778837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物理性紫外线屏蔽剂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389856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物理性紫外线屏蔽剂也称无机防晒剂，这类物质</a:t>
            </a:r>
            <a:r>
              <a:rPr lang="zh-CN" altLang="en-US" sz="2400" dirty="0">
                <a:solidFill>
                  <a:srgbClr val="0000FF"/>
                </a:solidFill>
                <a:latin typeface="+mn-lt"/>
                <a:ea typeface="SimHei" panose="02010609060101010101" pitchFamily="49" charset="-122"/>
              </a:rPr>
              <a:t>不吸收紫外线</a:t>
            </a:r>
            <a:r>
              <a:rPr lang="zh-CN" altLang="en-US" sz="2400" dirty="0">
                <a:latin typeface="+mn-lt"/>
                <a:ea typeface="SimHei" panose="02010609060101010101" pitchFamily="49" charset="-122"/>
              </a:rPr>
              <a:t>，但能</a:t>
            </a:r>
            <a:r>
              <a:rPr lang="zh-CN" altLang="en-US" sz="2400" dirty="0">
                <a:solidFill>
                  <a:srgbClr val="0000FF"/>
                </a:solidFill>
                <a:latin typeface="+mn-lt"/>
                <a:ea typeface="SimHei" panose="02010609060101010101" pitchFamily="49" charset="-122"/>
              </a:rPr>
              <a:t>反射、散射紫外线</a:t>
            </a:r>
            <a:r>
              <a:rPr lang="zh-CN" altLang="en-US" sz="2400" dirty="0">
                <a:latin typeface="+mn-lt"/>
                <a:ea typeface="SimHei" panose="02010609060101010101" pitchFamily="49" charset="-122"/>
              </a:rPr>
              <a:t>，用于皮肤上可起到物理屏蔽作用，如</a:t>
            </a:r>
            <a:r>
              <a:rPr lang="zh-CN" altLang="en-US" sz="2400" dirty="0">
                <a:solidFill>
                  <a:srgbClr val="0000FF"/>
                </a:solidFill>
                <a:latin typeface="+mn-lt"/>
                <a:ea typeface="SimHei" panose="02010609060101010101" pitchFamily="49" charset="-122"/>
              </a:rPr>
              <a:t>二氧化钛、氧化锌、高岭土、滑石粉、 氧化铁</a:t>
            </a:r>
            <a:r>
              <a:rPr lang="zh-CN" altLang="en-US" sz="2400" dirty="0">
                <a:latin typeface="+mn-lt"/>
                <a:ea typeface="SimHei" panose="02010609060101010101" pitchFamily="49" charset="-122"/>
              </a:rPr>
              <a:t>等。</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其中二氧化钛和氧化锌已经被美国</a:t>
            </a:r>
            <a:r>
              <a:rPr lang="en-US" altLang="zh-CN" sz="2400" dirty="0">
                <a:latin typeface="+mn-lt"/>
                <a:ea typeface="SimHei" panose="02010609060101010101" pitchFamily="49" charset="-122"/>
              </a:rPr>
              <a:t>FDA </a:t>
            </a:r>
            <a:r>
              <a:rPr lang="zh-CN" altLang="en-US" sz="2400" dirty="0">
                <a:latin typeface="+mn-lt"/>
                <a:ea typeface="SimHei" panose="02010609060101010101" pitchFamily="49" charset="-122"/>
              </a:rPr>
              <a:t>列入批准使用的防晒剂清单之中，认可其物理屏蔽作用并广泛用于防晒产品中，配方中最高用量均为</a:t>
            </a:r>
            <a:r>
              <a:rPr lang="en-US" altLang="zh-CN" sz="2400" dirty="0">
                <a:latin typeface="+mn-lt"/>
                <a:ea typeface="SimHei" panose="02010609060101010101" pitchFamily="49" charset="-122"/>
              </a:rPr>
              <a:t>25%</a:t>
            </a:r>
            <a:r>
              <a:rPr lang="zh-CN" altLang="en-US" sz="2400" dirty="0">
                <a:latin typeface="+mn-lt"/>
                <a:ea typeface="SimHei" panose="02010609060101010101" pitchFamily="49" charset="-122"/>
              </a:rPr>
              <a:t>。</a:t>
            </a:r>
          </a:p>
        </p:txBody>
      </p:sp>
    </p:spTree>
    <p:extLst>
      <p:ext uri="{BB962C8B-B14F-4D97-AF65-F5344CB8AC3E}">
        <p14:creationId xmlns:p14="http://schemas.microsoft.com/office/powerpoint/2010/main" val="31057798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物理性紫外线屏蔽剂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112857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物理性紫外屏蔽剂折射率越高，紫外线散射效果越大。这类物理性紫外屏蔽剂及其折射率如下表</a:t>
            </a:r>
          </a:p>
        </p:txBody>
      </p:sp>
      <p:graphicFrame>
        <p:nvGraphicFramePr>
          <p:cNvPr id="5" name="表格 4">
            <a:extLst>
              <a:ext uri="{FF2B5EF4-FFF2-40B4-BE49-F238E27FC236}">
                <a16:creationId xmlns:a16="http://schemas.microsoft.com/office/drawing/2014/main" id="{E055963F-FEB3-89EF-D2E3-B1AB9951F63C}"/>
              </a:ext>
            </a:extLst>
          </p:cNvPr>
          <p:cNvGraphicFramePr>
            <a:graphicFrameLocks noGrp="1"/>
          </p:cNvGraphicFramePr>
          <p:nvPr>
            <p:extLst>
              <p:ext uri="{D42A27DB-BD31-4B8C-83A1-F6EECF244321}">
                <p14:modId xmlns:p14="http://schemas.microsoft.com/office/powerpoint/2010/main" val="2590776055"/>
              </p:ext>
            </p:extLst>
          </p:nvPr>
        </p:nvGraphicFramePr>
        <p:xfrm>
          <a:off x="182880" y="3115633"/>
          <a:ext cx="8778240" cy="1787443"/>
        </p:xfrm>
        <a:graphic>
          <a:graphicData uri="http://schemas.openxmlformats.org/drawingml/2006/table">
            <a:tbl>
              <a:tblPr firstRow="1" firstCol="1" bandRow="1">
                <a:tableStyleId>{72833802-FEF1-4C79-8D5D-14CF1EAF98D9}</a:tableStyleId>
              </a:tblPr>
              <a:tblGrid>
                <a:gridCol w="2083392">
                  <a:extLst>
                    <a:ext uri="{9D8B030D-6E8A-4147-A177-3AD203B41FA5}">
                      <a16:colId xmlns:a16="http://schemas.microsoft.com/office/drawing/2014/main" val="1266809284"/>
                    </a:ext>
                  </a:extLst>
                </a:gridCol>
                <a:gridCol w="2239851">
                  <a:extLst>
                    <a:ext uri="{9D8B030D-6E8A-4147-A177-3AD203B41FA5}">
                      <a16:colId xmlns:a16="http://schemas.microsoft.com/office/drawing/2014/main" val="744823257"/>
                    </a:ext>
                  </a:extLst>
                </a:gridCol>
                <a:gridCol w="2231616">
                  <a:extLst>
                    <a:ext uri="{9D8B030D-6E8A-4147-A177-3AD203B41FA5}">
                      <a16:colId xmlns:a16="http://schemas.microsoft.com/office/drawing/2014/main" val="3850556541"/>
                    </a:ext>
                  </a:extLst>
                </a:gridCol>
                <a:gridCol w="2223381">
                  <a:extLst>
                    <a:ext uri="{9D8B030D-6E8A-4147-A177-3AD203B41FA5}">
                      <a16:colId xmlns:a16="http://schemas.microsoft.com/office/drawing/2014/main" val="816573074"/>
                    </a:ext>
                  </a:extLst>
                </a:gridCol>
              </a:tblGrid>
              <a:tr h="476681">
                <a:tc>
                  <a:txBody>
                    <a:bodyPr/>
                    <a:lstStyle/>
                    <a:p>
                      <a:pPr marL="533400" marR="0" eaLnBrk="0">
                        <a:lnSpc>
                          <a:spcPct val="91000"/>
                        </a:lnSpc>
                        <a:spcBef>
                          <a:spcPts val="570"/>
                        </a:spcBef>
                        <a:spcAft>
                          <a:spcPts val="0"/>
                        </a:spcAft>
                      </a:pPr>
                      <a:r>
                        <a:rPr lang="zh-CN" sz="1800" spc="-10">
                          <a:effectLst/>
                          <a:latin typeface="SimHei" panose="02010609060101010101" pitchFamily="49" charset="-122"/>
                          <a:ea typeface="SimHei" panose="02010609060101010101" pitchFamily="49" charset="-122"/>
                        </a:rPr>
                        <a:t>物质名称</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657225" marR="0" eaLnBrk="0">
                        <a:lnSpc>
                          <a:spcPct val="91000"/>
                        </a:lnSpc>
                        <a:spcBef>
                          <a:spcPts val="565"/>
                        </a:spcBef>
                        <a:spcAft>
                          <a:spcPts val="0"/>
                        </a:spcAft>
                      </a:pPr>
                      <a:r>
                        <a:rPr lang="zh-CN" sz="1800" spc="-15">
                          <a:effectLst/>
                          <a:latin typeface="SimHei" panose="02010609060101010101" pitchFamily="49" charset="-122"/>
                          <a:ea typeface="SimHei" panose="02010609060101010101" pitchFamily="49" charset="-122"/>
                        </a:rPr>
                        <a:t>折射率</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586740" marR="0" eaLnBrk="0">
                        <a:lnSpc>
                          <a:spcPct val="91000"/>
                        </a:lnSpc>
                        <a:spcBef>
                          <a:spcPts val="570"/>
                        </a:spcBef>
                        <a:spcAft>
                          <a:spcPts val="0"/>
                        </a:spcAft>
                      </a:pPr>
                      <a:r>
                        <a:rPr lang="zh-CN" sz="1800" spc="-10" dirty="0">
                          <a:effectLst/>
                          <a:latin typeface="SimHei" panose="02010609060101010101" pitchFamily="49" charset="-122"/>
                          <a:ea typeface="SimHei" panose="02010609060101010101" pitchFamily="49" charset="-122"/>
                        </a:rPr>
                        <a:t>物质名称</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650875" marR="0" eaLnBrk="0">
                        <a:lnSpc>
                          <a:spcPct val="91000"/>
                        </a:lnSpc>
                        <a:spcBef>
                          <a:spcPts val="565"/>
                        </a:spcBef>
                        <a:spcAft>
                          <a:spcPts val="0"/>
                        </a:spcAft>
                      </a:pPr>
                      <a:r>
                        <a:rPr lang="zh-CN" sz="1800" spc="-15">
                          <a:effectLst/>
                          <a:latin typeface="SimHei" panose="02010609060101010101" pitchFamily="49" charset="-122"/>
                          <a:ea typeface="SimHei" panose="02010609060101010101" pitchFamily="49" charset="-122"/>
                        </a:rPr>
                        <a:t>折射率</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2010924926"/>
                  </a:ext>
                </a:extLst>
              </a:tr>
              <a:tr h="438502">
                <a:tc>
                  <a:txBody>
                    <a:bodyPr/>
                    <a:lstStyle/>
                    <a:p>
                      <a:pPr marL="602615" marR="0" eaLnBrk="0">
                        <a:lnSpc>
                          <a:spcPct val="92000"/>
                        </a:lnSpc>
                        <a:spcBef>
                          <a:spcPts val="510"/>
                        </a:spcBef>
                        <a:spcAft>
                          <a:spcPts val="0"/>
                        </a:spcAft>
                      </a:pPr>
                      <a:r>
                        <a:rPr lang="zh-CN" sz="1800" spc="-10">
                          <a:effectLst/>
                          <a:latin typeface="SimHei" panose="02010609060101010101" pitchFamily="49" charset="-122"/>
                          <a:ea typeface="SimHei" panose="02010609060101010101" pitchFamily="49" charset="-122"/>
                        </a:rPr>
                        <a:t>硫酸钙</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523875" marR="0" eaLnBrk="0">
                        <a:lnSpc>
                          <a:spcPct val="76000"/>
                        </a:lnSpc>
                        <a:spcBef>
                          <a:spcPts val="820"/>
                        </a:spcBef>
                        <a:spcAft>
                          <a:spcPts val="0"/>
                        </a:spcAft>
                      </a:pPr>
                      <a:r>
                        <a:rPr lang="en-US" sz="1800" spc="-15">
                          <a:effectLst/>
                          <a:latin typeface="SimHei" panose="02010609060101010101" pitchFamily="49" charset="-122"/>
                          <a:ea typeface="SimHei" panose="02010609060101010101" pitchFamily="49" charset="-122"/>
                        </a:rPr>
                        <a:t>1.51</a:t>
                      </a:r>
                      <a:r>
                        <a:rPr lang="zh-CN" sz="1800" spc="-15">
                          <a:effectLst/>
                          <a:latin typeface="SimHei" panose="02010609060101010101" pitchFamily="49" charset="-122"/>
                          <a:ea typeface="SimHei" panose="02010609060101010101" pitchFamily="49" charset="-122"/>
                        </a:rPr>
                        <a:t>～</a:t>
                      </a:r>
                      <a:r>
                        <a:rPr lang="en-US" sz="1800" spc="-15">
                          <a:effectLst/>
                          <a:latin typeface="SimHei" panose="02010609060101010101" pitchFamily="49" charset="-122"/>
                          <a:ea typeface="SimHei" panose="02010609060101010101" pitchFamily="49" charset="-122"/>
                        </a:rPr>
                        <a:t>1.54</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657225" marR="0" eaLnBrk="0">
                        <a:lnSpc>
                          <a:spcPct val="91000"/>
                        </a:lnSpc>
                        <a:spcBef>
                          <a:spcPts val="500"/>
                        </a:spcBef>
                        <a:spcAft>
                          <a:spcPts val="0"/>
                        </a:spcAft>
                      </a:pPr>
                      <a:r>
                        <a:rPr lang="zh-CN" sz="1800" b="1" spc="-15" dirty="0">
                          <a:effectLst/>
                          <a:latin typeface="SimHei" panose="02010609060101010101" pitchFamily="49" charset="-122"/>
                          <a:ea typeface="SimHei" panose="02010609060101010101" pitchFamily="49" charset="-122"/>
                        </a:rPr>
                        <a:t>氧化铁</a:t>
                      </a:r>
                      <a:endParaRPr lang="en-US" sz="1800" b="1"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516890" marR="0" eaLnBrk="0">
                        <a:lnSpc>
                          <a:spcPct val="75000"/>
                        </a:lnSpc>
                        <a:spcBef>
                          <a:spcPts val="880"/>
                        </a:spcBef>
                        <a:spcAft>
                          <a:spcPts val="0"/>
                        </a:spcAft>
                      </a:pPr>
                      <a:r>
                        <a:rPr lang="en-US" sz="1800" spc="-10">
                          <a:effectLst/>
                          <a:latin typeface="SimHei" panose="02010609060101010101" pitchFamily="49" charset="-122"/>
                          <a:ea typeface="SimHei" panose="02010609060101010101" pitchFamily="49" charset="-122"/>
                        </a:rPr>
                        <a:t>2.70</a:t>
                      </a:r>
                      <a:r>
                        <a:rPr lang="zh-CN" sz="1800" spc="-10">
                          <a:effectLst/>
                          <a:latin typeface="SimHei" panose="02010609060101010101" pitchFamily="49" charset="-122"/>
                          <a:ea typeface="SimHei" panose="02010609060101010101" pitchFamily="49" charset="-122"/>
                        </a:rPr>
                        <a:t>～</a:t>
                      </a:r>
                      <a:r>
                        <a:rPr lang="en-US" sz="1800" spc="-10">
                          <a:effectLst/>
                          <a:latin typeface="SimHei" panose="02010609060101010101" pitchFamily="49" charset="-122"/>
                          <a:ea typeface="SimHei" panose="02010609060101010101" pitchFamily="49" charset="-122"/>
                        </a:rPr>
                        <a:t>2.90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693774325"/>
                  </a:ext>
                </a:extLst>
              </a:tr>
              <a:tr h="438502">
                <a:tc>
                  <a:txBody>
                    <a:bodyPr/>
                    <a:lstStyle/>
                    <a:p>
                      <a:pPr marL="666115" marR="0" eaLnBrk="0">
                        <a:lnSpc>
                          <a:spcPct val="92000"/>
                        </a:lnSpc>
                        <a:spcBef>
                          <a:spcPts val="300"/>
                        </a:spcBef>
                        <a:spcAft>
                          <a:spcPts val="0"/>
                        </a:spcAft>
                      </a:pPr>
                      <a:r>
                        <a:rPr lang="zh-CN" sz="1800" spc="-15">
                          <a:effectLst/>
                          <a:latin typeface="SimHei" panose="02010609060101010101" pitchFamily="49" charset="-122"/>
                          <a:ea typeface="SimHei" panose="02010609060101010101" pitchFamily="49" charset="-122"/>
                        </a:rPr>
                        <a:t>滑石</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523875" marR="0" eaLnBrk="0">
                        <a:lnSpc>
                          <a:spcPct val="76000"/>
                        </a:lnSpc>
                        <a:spcBef>
                          <a:spcPts val="660"/>
                        </a:spcBef>
                        <a:spcAft>
                          <a:spcPts val="0"/>
                        </a:spcAft>
                      </a:pPr>
                      <a:r>
                        <a:rPr lang="en-US" sz="1800" spc="-15">
                          <a:effectLst/>
                          <a:latin typeface="SimHei" panose="02010609060101010101" pitchFamily="49" charset="-122"/>
                          <a:ea typeface="SimHei" panose="02010609060101010101" pitchFamily="49" charset="-122"/>
                        </a:rPr>
                        <a:t>1.55</a:t>
                      </a:r>
                      <a:r>
                        <a:rPr lang="zh-CN" sz="1800" spc="-15">
                          <a:effectLst/>
                          <a:latin typeface="SimHei" panose="02010609060101010101" pitchFamily="49" charset="-122"/>
                          <a:ea typeface="SimHei" panose="02010609060101010101" pitchFamily="49" charset="-122"/>
                        </a:rPr>
                        <a:t>～</a:t>
                      </a:r>
                      <a:r>
                        <a:rPr lang="en-US" sz="1800" spc="-15">
                          <a:effectLst/>
                          <a:latin typeface="SimHei" panose="02010609060101010101" pitchFamily="49" charset="-122"/>
                          <a:ea typeface="SimHei" panose="02010609060101010101" pitchFamily="49" charset="-122"/>
                        </a:rPr>
                        <a:t>1.58</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586740" marR="0" eaLnBrk="0">
                        <a:lnSpc>
                          <a:spcPct val="91000"/>
                        </a:lnSpc>
                        <a:spcBef>
                          <a:spcPts val="390"/>
                        </a:spcBef>
                        <a:spcAft>
                          <a:spcPts val="0"/>
                        </a:spcAft>
                      </a:pPr>
                      <a:r>
                        <a:rPr lang="zh-CN" sz="1800" b="1" spc="-15">
                          <a:effectLst/>
                          <a:latin typeface="SimHei" panose="02010609060101010101" pitchFamily="49" charset="-122"/>
                          <a:ea typeface="SimHei" panose="02010609060101010101" pitchFamily="49" charset="-122"/>
                        </a:rPr>
                        <a:t>二氧化钛</a:t>
                      </a:r>
                      <a:endParaRPr lang="en-US" sz="1800" b="1">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516890" marR="0" eaLnBrk="0">
                        <a:lnSpc>
                          <a:spcPct val="73000"/>
                        </a:lnSpc>
                        <a:spcBef>
                          <a:spcPts val="765"/>
                        </a:spcBef>
                        <a:spcAft>
                          <a:spcPts val="0"/>
                        </a:spcAft>
                      </a:pPr>
                      <a:r>
                        <a:rPr lang="en-US" sz="1800" spc="-10">
                          <a:effectLst/>
                          <a:latin typeface="SimHei" panose="02010609060101010101" pitchFamily="49" charset="-122"/>
                          <a:ea typeface="SimHei" panose="02010609060101010101" pitchFamily="49" charset="-122"/>
                        </a:rPr>
                        <a:t>2.50</a:t>
                      </a:r>
                      <a:r>
                        <a:rPr lang="zh-CN" sz="1800" spc="-10">
                          <a:effectLst/>
                          <a:latin typeface="SimHei" panose="02010609060101010101" pitchFamily="49" charset="-122"/>
                          <a:ea typeface="SimHei" panose="02010609060101010101" pitchFamily="49" charset="-122"/>
                        </a:rPr>
                        <a:t>～</a:t>
                      </a:r>
                      <a:r>
                        <a:rPr lang="en-US" sz="1800" spc="-10">
                          <a:effectLst/>
                          <a:latin typeface="SimHei" panose="02010609060101010101" pitchFamily="49" charset="-122"/>
                          <a:ea typeface="SimHei" panose="02010609060101010101" pitchFamily="49" charset="-122"/>
                        </a:rPr>
                        <a:t>2.90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370891157"/>
                  </a:ext>
                </a:extLst>
              </a:tr>
              <a:tr h="433758">
                <a:tc>
                  <a:txBody>
                    <a:bodyPr/>
                    <a:lstStyle/>
                    <a:p>
                      <a:pPr marL="602615" marR="0" eaLnBrk="0">
                        <a:lnSpc>
                          <a:spcPct val="91000"/>
                        </a:lnSpc>
                        <a:spcBef>
                          <a:spcPts val="320"/>
                        </a:spcBef>
                        <a:spcAft>
                          <a:spcPts val="0"/>
                        </a:spcAft>
                      </a:pPr>
                      <a:r>
                        <a:rPr lang="zh-CN" sz="1800" spc="15">
                          <a:effectLst/>
                          <a:latin typeface="SimHei" panose="02010609060101010101" pitchFamily="49" charset="-122"/>
                          <a:ea typeface="SimHei" panose="02010609060101010101" pitchFamily="49" charset="-122"/>
                        </a:rPr>
                        <a:t>氧化锌</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523875" marR="0" eaLnBrk="0">
                        <a:lnSpc>
                          <a:spcPct val="76000"/>
                        </a:lnSpc>
                        <a:spcBef>
                          <a:spcPts val="595"/>
                        </a:spcBef>
                        <a:spcAft>
                          <a:spcPts val="0"/>
                        </a:spcAft>
                      </a:pPr>
                      <a:r>
                        <a:rPr lang="en-US" sz="1800" spc="-10">
                          <a:effectLst/>
                          <a:latin typeface="SimHei" panose="02010609060101010101" pitchFamily="49" charset="-122"/>
                          <a:ea typeface="SimHei" panose="02010609060101010101" pitchFamily="49" charset="-122"/>
                        </a:rPr>
                        <a:t>2.00</a:t>
                      </a:r>
                      <a:r>
                        <a:rPr lang="zh-CN" sz="1800" spc="-10">
                          <a:effectLst/>
                          <a:latin typeface="SimHei" panose="02010609060101010101" pitchFamily="49" charset="-122"/>
                          <a:ea typeface="SimHei" panose="02010609060101010101" pitchFamily="49" charset="-122"/>
                        </a:rPr>
                        <a:t>～</a:t>
                      </a:r>
                      <a:r>
                        <a:rPr lang="en-US" sz="1800" spc="-10">
                          <a:effectLst/>
                          <a:latin typeface="SimHei" panose="02010609060101010101" pitchFamily="49" charset="-122"/>
                          <a:ea typeface="SimHei" panose="02010609060101010101" pitchFamily="49" charset="-122"/>
                        </a:rPr>
                        <a:t>2.02</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790575" marR="0" eaLnBrk="0">
                        <a:lnSpc>
                          <a:spcPct val="91000"/>
                        </a:lnSpc>
                        <a:spcBef>
                          <a:spcPts val="375"/>
                        </a:spcBef>
                        <a:spcAft>
                          <a:spcPts val="0"/>
                        </a:spcAft>
                      </a:pPr>
                      <a:r>
                        <a:rPr lang="zh-CN" sz="1800" b="1" dirty="0">
                          <a:effectLst/>
                          <a:latin typeface="SimHei" panose="02010609060101010101" pitchFamily="49" charset="-122"/>
                          <a:ea typeface="SimHei" panose="02010609060101010101" pitchFamily="49" charset="-122"/>
                        </a:rPr>
                        <a:t>水</a:t>
                      </a:r>
                      <a:endParaRPr lang="en-US" sz="1800" b="1"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720090" marR="0" eaLnBrk="0">
                        <a:lnSpc>
                          <a:spcPct val="76000"/>
                        </a:lnSpc>
                        <a:spcBef>
                          <a:spcPts val="640"/>
                        </a:spcBef>
                        <a:spcAft>
                          <a:spcPts val="0"/>
                        </a:spcAft>
                      </a:pPr>
                      <a:r>
                        <a:rPr lang="en-US" sz="1800" spc="-25" dirty="0">
                          <a:effectLst/>
                          <a:latin typeface="SimHei" panose="02010609060101010101" pitchFamily="49" charset="-122"/>
                          <a:ea typeface="SimHei" panose="02010609060101010101" pitchFamily="49" charset="-122"/>
                        </a:rPr>
                        <a:t>1.33</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3987590678"/>
                  </a:ext>
                </a:extLst>
              </a:tr>
            </a:tbl>
          </a:graphicData>
        </a:graphic>
      </p:graphicFrame>
    </p:spTree>
    <p:extLst>
      <p:ext uri="{BB962C8B-B14F-4D97-AF65-F5344CB8AC3E}">
        <p14:creationId xmlns:p14="http://schemas.microsoft.com/office/powerpoint/2010/main" val="25486816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物理紫外屏蔽剂的散射作用</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388375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二氧化钛的粒径与遮暇力和紫外屏蔽作用都有关。二氧化钛微粒分散于体系，粒径越大，能够散射或反射的波长也就越大。</a:t>
            </a:r>
            <a:endParaRPr lang="en-US" altLang="zh-CN" sz="2400" dirty="0">
              <a:latin typeface="+mn-lt"/>
              <a:ea typeface="SimHei" panose="02010609060101010101" pitchFamily="49" charset="-122"/>
            </a:endParaRPr>
          </a:p>
          <a:p>
            <a:pPr>
              <a:lnSpc>
                <a:spcPct val="150000"/>
              </a:lnSpc>
            </a:pPr>
            <a:r>
              <a:rPr lang="en-US" altLang="zh-CN" sz="2400" dirty="0">
                <a:solidFill>
                  <a:srgbClr val="0000FF"/>
                </a:solidFill>
                <a:latin typeface="+mn-lt"/>
                <a:ea typeface="SimHei" panose="02010609060101010101" pitchFamily="49" charset="-122"/>
              </a:rPr>
              <a:t>	</a:t>
            </a:r>
          </a:p>
          <a:p>
            <a:pPr>
              <a:lnSpc>
                <a:spcPct val="150000"/>
              </a:lnSpc>
            </a:pPr>
            <a:r>
              <a:rPr lang="en-US" altLang="zh-CN" sz="2400" dirty="0">
                <a:solidFill>
                  <a:srgbClr val="0000FF"/>
                </a:solidFill>
                <a:latin typeface="+mn-lt"/>
                <a:ea typeface="SimHei" panose="02010609060101010101" pitchFamily="49" charset="-122"/>
              </a:rPr>
              <a:t>	</a:t>
            </a:r>
            <a:r>
              <a:rPr lang="zh-CN" altLang="en-US" sz="2400" dirty="0">
                <a:latin typeface="KaiTi" panose="02010609060101010101" pitchFamily="49" charset="-122"/>
                <a:ea typeface="KaiTi" panose="02010609060101010101" pitchFamily="49" charset="-122"/>
              </a:rPr>
              <a:t>粒径</a:t>
            </a:r>
            <a:r>
              <a:rPr lang="en-US" altLang="zh-CN" sz="2400" dirty="0">
                <a:latin typeface="KaiTi" panose="02010609060101010101" pitchFamily="49" charset="-122"/>
                <a:ea typeface="KaiTi" panose="02010609060101010101" pitchFamily="49" charset="-122"/>
              </a:rPr>
              <a:t>200</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400 nm </a:t>
            </a:r>
            <a:r>
              <a:rPr lang="zh-CN" altLang="en-US" sz="2400" dirty="0">
                <a:latin typeface="KaiTi" panose="02010609060101010101" pitchFamily="49" charset="-122"/>
                <a:ea typeface="KaiTi" panose="02010609060101010101" pitchFamily="49" charset="-122"/>
              </a:rPr>
              <a:t>的钛白粉主要以反射可见光波段为主，因此显白色，遮暇力强，用于底妆产品；</a:t>
            </a:r>
            <a:endParaRPr lang="en-US" altLang="zh-CN" sz="2400" dirty="0">
              <a:latin typeface="KaiTi" panose="02010609060101010101" pitchFamily="49" charset="-122"/>
              <a:ea typeface="KaiT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而</a:t>
            </a:r>
            <a:r>
              <a:rPr lang="zh-CN" altLang="en-US" sz="2400" dirty="0">
                <a:solidFill>
                  <a:srgbClr val="0000FF"/>
                </a:solidFill>
                <a:latin typeface="KaiTi" panose="02010609060101010101" pitchFamily="49" charset="-122"/>
                <a:ea typeface="KaiTi" panose="02010609060101010101" pitchFamily="49" charset="-122"/>
              </a:rPr>
              <a:t>粒径</a:t>
            </a:r>
            <a:r>
              <a:rPr lang="en-US" altLang="zh-CN" sz="2400" dirty="0">
                <a:solidFill>
                  <a:srgbClr val="0000FF"/>
                </a:solidFill>
                <a:latin typeface="KaiTi" panose="02010609060101010101" pitchFamily="49" charset="-122"/>
                <a:ea typeface="KaiTi" panose="02010609060101010101" pitchFamily="49" charset="-122"/>
              </a:rPr>
              <a:t>20</a:t>
            </a:r>
            <a:r>
              <a:rPr lang="zh-CN" altLang="en-US" sz="2400" dirty="0">
                <a:solidFill>
                  <a:srgbClr val="0000FF"/>
                </a:solidFill>
                <a:latin typeface="KaiTi" panose="02010609060101010101" pitchFamily="49" charset="-122"/>
                <a:ea typeface="KaiTi" panose="02010609060101010101" pitchFamily="49" charset="-122"/>
              </a:rPr>
              <a:t>～</a:t>
            </a:r>
            <a:r>
              <a:rPr lang="en-US" altLang="zh-CN" sz="2400" dirty="0">
                <a:solidFill>
                  <a:srgbClr val="0000FF"/>
                </a:solidFill>
                <a:latin typeface="KaiTi" panose="02010609060101010101" pitchFamily="49" charset="-122"/>
                <a:ea typeface="KaiTi" panose="02010609060101010101" pitchFamily="49" charset="-122"/>
              </a:rPr>
              <a:t>100 nm </a:t>
            </a:r>
            <a:r>
              <a:rPr lang="zh-CN" altLang="en-US" sz="2400" dirty="0">
                <a:solidFill>
                  <a:srgbClr val="0000FF"/>
                </a:solidFill>
                <a:latin typeface="KaiTi" panose="02010609060101010101" pitchFamily="49" charset="-122"/>
                <a:ea typeface="KaiTi" panose="02010609060101010101" pitchFamily="49" charset="-122"/>
              </a:rPr>
              <a:t>的钛白粉主要散射紫外线波段，可见光可以通过，因此用于防晒</a:t>
            </a:r>
            <a:r>
              <a:rPr lang="zh-CN" altLang="en-US" sz="2400" dirty="0">
                <a:latin typeface="KaiTi" panose="02010609060101010101" pitchFamily="49" charset="-122"/>
                <a:ea typeface="KaiTi" panose="02010609060101010101" pitchFamily="49" charset="-122"/>
              </a:rPr>
              <a:t>。</a:t>
            </a:r>
            <a:endParaRPr lang="en-US" altLang="zh-CN"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5368196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化学性紫外线吸收剂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499175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化学性紫外线吸收剂是指能吸收有伤害作用的紫外辐射的有机化合物，通常称为紫外线吸收剂 </a:t>
            </a:r>
            <a:r>
              <a:rPr lang="en-US" altLang="zh-CN" sz="2400" dirty="0">
                <a:latin typeface="+mn-lt"/>
                <a:ea typeface="SimHei" panose="02010609060101010101" pitchFamily="49" charset="-122"/>
              </a:rPr>
              <a:t>(UV absorber)</a:t>
            </a:r>
            <a:r>
              <a:rPr lang="zh-CN" altLang="en-US" sz="2400" dirty="0">
                <a:latin typeface="+mn-lt"/>
                <a:ea typeface="SimHei" panose="02010609060101010101" pitchFamily="49" charset="-122"/>
              </a:rPr>
              <a:t>。 按照防护辐射的波段不同， </a:t>
            </a:r>
            <a:r>
              <a:rPr lang="en-US" altLang="zh-CN" sz="2400" dirty="0">
                <a:latin typeface="+mn-lt"/>
                <a:ea typeface="SimHei" panose="02010609060101010101" pitchFamily="49" charset="-122"/>
              </a:rPr>
              <a:t>UV </a:t>
            </a:r>
            <a:r>
              <a:rPr lang="zh-CN" altLang="en-US" sz="2400" dirty="0">
                <a:latin typeface="+mn-lt"/>
                <a:ea typeface="SimHei" panose="02010609060101010101" pitchFamily="49" charset="-122"/>
              </a:rPr>
              <a:t>吸收剂可分为</a:t>
            </a:r>
            <a:r>
              <a:rPr lang="en-US" altLang="zh-CN" sz="2400" dirty="0">
                <a:latin typeface="+mn-lt"/>
                <a:ea typeface="SimHei" panose="02010609060101010101" pitchFamily="49" charset="-122"/>
              </a:rPr>
              <a:t>UVA </a:t>
            </a:r>
            <a:r>
              <a:rPr lang="zh-CN" altLang="en-US" sz="2400" dirty="0">
                <a:latin typeface="+mn-lt"/>
                <a:ea typeface="SimHei" panose="02010609060101010101" pitchFamily="49" charset="-122"/>
              </a:rPr>
              <a:t>和</a:t>
            </a:r>
            <a:r>
              <a:rPr lang="en-US" altLang="zh-CN" sz="2400" dirty="0">
                <a:latin typeface="+mn-lt"/>
                <a:ea typeface="SimHei" panose="02010609060101010101" pitchFamily="49" charset="-122"/>
              </a:rPr>
              <a:t>UVB </a:t>
            </a:r>
            <a:r>
              <a:rPr lang="zh-CN" altLang="en-US" sz="2400" dirty="0">
                <a:latin typeface="+mn-lt"/>
                <a:ea typeface="SimHei" panose="02010609060101010101" pitchFamily="49" charset="-122"/>
              </a:rPr>
              <a:t>两种吸收剂。</a:t>
            </a:r>
            <a:endParaRPr lang="en-US" altLang="zh-CN" sz="2400" dirty="0">
              <a:latin typeface="+mn-lt"/>
              <a:ea typeface="SimHei" panose="02010609060101010101" pitchFamily="49" charset="-122"/>
            </a:endParaRPr>
          </a:p>
          <a:p>
            <a:pPr>
              <a:lnSpc>
                <a:spcPct val="150000"/>
              </a:lnSpc>
            </a:pPr>
            <a:r>
              <a:rPr lang="en-US" altLang="zh-CN" sz="2400" dirty="0">
                <a:latin typeface="+mn-lt"/>
                <a:ea typeface="SimHei" panose="02010609060101010101" pitchFamily="49" charset="-122"/>
              </a:rPr>
              <a:t>	</a:t>
            </a:r>
            <a:r>
              <a:rPr lang="en-US" altLang="zh-CN" sz="2400" dirty="0">
                <a:latin typeface="KaiTi" panose="02010609060101010101" pitchFamily="49" charset="-122"/>
                <a:ea typeface="KaiTi" panose="02010609060101010101" pitchFamily="49" charset="-122"/>
              </a:rPr>
              <a:t>UVA </a:t>
            </a:r>
            <a:r>
              <a:rPr lang="zh-CN" altLang="en-US" sz="2400" dirty="0">
                <a:latin typeface="KaiTi" panose="02010609060101010101" pitchFamily="49" charset="-122"/>
                <a:ea typeface="KaiTi" panose="02010609060101010101" pitchFamily="49" charset="-122"/>
              </a:rPr>
              <a:t>吸收剂是倾向于吸收</a:t>
            </a:r>
            <a:r>
              <a:rPr lang="en-US" altLang="zh-CN" sz="2400" dirty="0">
                <a:latin typeface="KaiTi" panose="02010609060101010101" pitchFamily="49" charset="-122"/>
                <a:ea typeface="KaiTi" panose="02010609060101010101" pitchFamily="49" charset="-122"/>
              </a:rPr>
              <a:t>320</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400 nm </a:t>
            </a:r>
            <a:r>
              <a:rPr lang="zh-CN" altLang="en-US" sz="2400" dirty="0">
                <a:latin typeface="KaiTi" panose="02010609060101010101" pitchFamily="49" charset="-122"/>
                <a:ea typeface="KaiTi" panose="02010609060101010101" pitchFamily="49" charset="-122"/>
              </a:rPr>
              <a:t>波长的紫外光谱辐 射的有机化合物</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如</a:t>
            </a:r>
            <a:r>
              <a:rPr lang="zh-CN" altLang="en-US" sz="2400" dirty="0">
                <a:solidFill>
                  <a:srgbClr val="0000FF"/>
                </a:solidFill>
                <a:latin typeface="KaiTi" panose="02010609060101010101" pitchFamily="49" charset="-122"/>
                <a:ea typeface="KaiTi" panose="02010609060101010101" pitchFamily="49" charset="-122"/>
              </a:rPr>
              <a:t>二苯酮、邻氨基苯甲酸酯和二苯甲酰甲烷</a:t>
            </a:r>
            <a:r>
              <a:rPr lang="zh-CN" altLang="en-US" sz="2400" dirty="0">
                <a:latin typeface="KaiTi" panose="02010609060101010101" pitchFamily="49" charset="-122"/>
                <a:ea typeface="KaiTi" panose="02010609060101010101" pitchFamily="49" charset="-122"/>
              </a:rPr>
              <a:t>类化合物</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a:t>
            </a:r>
            <a:endParaRPr lang="en-US" altLang="zh-CN" sz="2400" dirty="0">
              <a:latin typeface="KaiTi" panose="02010609060101010101" pitchFamily="49" charset="-122"/>
              <a:ea typeface="KaiT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UVB </a:t>
            </a:r>
            <a:r>
              <a:rPr lang="zh-CN" altLang="en-US" sz="2400" dirty="0">
                <a:latin typeface="KaiTi" panose="02010609060101010101" pitchFamily="49" charset="-122"/>
                <a:ea typeface="KaiTi" panose="02010609060101010101" pitchFamily="49" charset="-122"/>
              </a:rPr>
              <a:t>吸收剂是倾向于吸收</a:t>
            </a:r>
            <a:r>
              <a:rPr lang="en-US" altLang="zh-CN" sz="2400" dirty="0">
                <a:latin typeface="KaiTi" panose="02010609060101010101" pitchFamily="49" charset="-122"/>
                <a:ea typeface="KaiTi" panose="02010609060101010101" pitchFamily="49" charset="-122"/>
              </a:rPr>
              <a:t>280</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320 nm </a:t>
            </a:r>
            <a:r>
              <a:rPr lang="zh-CN" altLang="en-US" sz="2400" dirty="0">
                <a:latin typeface="KaiTi" panose="02010609060101010101" pitchFamily="49" charset="-122"/>
                <a:ea typeface="KaiTi" panose="02010609060101010101" pitchFamily="49" charset="-122"/>
              </a:rPr>
              <a:t>波长的紫外光谱辐 射的有机化合物</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如</a:t>
            </a:r>
            <a:r>
              <a:rPr lang="zh-CN" altLang="en-US" sz="2400" dirty="0">
                <a:solidFill>
                  <a:srgbClr val="0000FF"/>
                </a:solidFill>
                <a:latin typeface="KaiTi" panose="02010609060101010101" pitchFamily="49" charset="-122"/>
                <a:ea typeface="KaiTi" panose="02010609060101010101" pitchFamily="49" charset="-122"/>
              </a:rPr>
              <a:t>对氨基苯甲酸酯、水杨酸酯、肉桂酸酯和樟脑的衍生物</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a:t>
            </a:r>
          </a:p>
        </p:txBody>
      </p:sp>
    </p:spTree>
    <p:extLst>
      <p:ext uri="{BB962C8B-B14F-4D97-AF65-F5344CB8AC3E}">
        <p14:creationId xmlns:p14="http://schemas.microsoft.com/office/powerpoint/2010/main" val="5807089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理想的紫外线吸收剂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009833"/>
          </a:xfrm>
          <a:prstGeom prst="rect">
            <a:avLst/>
          </a:prstGeom>
          <a:noFill/>
        </p:spPr>
        <p:txBody>
          <a:bodyPr wrap="square" rtlCol="0">
            <a:spAutoFit/>
          </a:bodyPr>
          <a:lstStyle/>
          <a:p>
            <a:pPr>
              <a:lnSpc>
                <a:spcPct val="150000"/>
              </a:lnSpc>
            </a:pPr>
            <a:r>
              <a:rPr lang="zh-CN" altLang="en-US" sz="2400" dirty="0">
                <a:latin typeface="+mn-lt"/>
                <a:ea typeface="SimHei" panose="02010609060101010101" pitchFamily="49" charset="-122"/>
              </a:rPr>
              <a:t>① 能吸收</a:t>
            </a:r>
            <a:r>
              <a:rPr lang="en-US" altLang="zh-CN" sz="2400" dirty="0">
                <a:latin typeface="+mn-lt"/>
                <a:ea typeface="SimHei" panose="02010609060101010101" pitchFamily="49" charset="-122"/>
              </a:rPr>
              <a:t>280</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400 nm </a:t>
            </a:r>
            <a:r>
              <a:rPr lang="zh-CN" altLang="en-US" sz="2400" dirty="0">
                <a:latin typeface="+mn-lt"/>
                <a:ea typeface="SimHei" panose="02010609060101010101" pitchFamily="49" charset="-122"/>
              </a:rPr>
              <a:t>有伤害作用的 </a:t>
            </a:r>
            <a:r>
              <a:rPr lang="en-US" altLang="zh-CN" sz="2400" dirty="0">
                <a:latin typeface="+mn-lt"/>
                <a:ea typeface="SimHei" panose="02010609060101010101" pitchFamily="49" charset="-122"/>
              </a:rPr>
              <a:t>UV </a:t>
            </a:r>
            <a:r>
              <a:rPr lang="zh-CN" altLang="en-US" sz="2400" dirty="0">
                <a:latin typeface="+mn-lt"/>
                <a:ea typeface="SimHei" panose="02010609060101010101" pitchFamily="49" charset="-122"/>
              </a:rPr>
              <a:t>辐射。</a:t>
            </a:r>
            <a:endParaRPr lang="en-US" altLang="zh-CN" sz="2400" dirty="0">
              <a:latin typeface="+mn-lt"/>
              <a:ea typeface="SimHei" panose="02010609060101010101" pitchFamily="49" charset="-122"/>
            </a:endParaRPr>
          </a:p>
          <a:p>
            <a:pPr>
              <a:lnSpc>
                <a:spcPct val="150000"/>
              </a:lnSpc>
            </a:pPr>
            <a:r>
              <a:rPr lang="zh-CN" altLang="en-US" sz="2400" dirty="0">
                <a:latin typeface="+mn-lt"/>
                <a:ea typeface="SimHei" panose="02010609060101010101" pitchFamily="49" charset="-122"/>
              </a:rPr>
              <a:t>② 具有大消光系数</a:t>
            </a:r>
            <a:endParaRPr lang="en-US" altLang="zh-CN" sz="2400" dirty="0">
              <a:latin typeface="+mn-lt"/>
              <a:ea typeface="SimHei" panose="02010609060101010101" pitchFamily="49" charset="-122"/>
            </a:endParaRPr>
          </a:p>
          <a:p>
            <a:pPr>
              <a:lnSpc>
                <a:spcPct val="150000"/>
              </a:lnSpc>
            </a:pPr>
            <a:r>
              <a:rPr lang="zh-CN" altLang="en-US" sz="2400" dirty="0">
                <a:latin typeface="+mn-lt"/>
                <a:ea typeface="SimHei" panose="02010609060101010101" pitchFamily="49" charset="-122"/>
              </a:rPr>
              <a:t>③ 吸收波长和消光系数不受溶剂的影响</a:t>
            </a:r>
            <a:endParaRPr lang="en-US" altLang="zh-CN" sz="2400" dirty="0">
              <a:latin typeface="+mn-lt"/>
              <a:ea typeface="SimHei" panose="02010609060101010101" pitchFamily="49" charset="-122"/>
            </a:endParaRPr>
          </a:p>
          <a:p>
            <a:pPr>
              <a:lnSpc>
                <a:spcPct val="150000"/>
              </a:lnSpc>
            </a:pPr>
            <a:r>
              <a:rPr lang="zh-CN" altLang="en-US" sz="2400" dirty="0">
                <a:latin typeface="+mn-lt"/>
                <a:ea typeface="SimHei" panose="02010609060101010101" pitchFamily="49" charset="-122"/>
              </a:rPr>
              <a:t>④ 有很好的光稳定性和光化学惰性</a:t>
            </a:r>
            <a:endParaRPr lang="en-US" altLang="zh-CN" sz="2400" dirty="0">
              <a:latin typeface="+mn-lt"/>
              <a:ea typeface="SimHei" panose="02010609060101010101" pitchFamily="49" charset="-122"/>
            </a:endParaRPr>
          </a:p>
          <a:p>
            <a:pPr>
              <a:lnSpc>
                <a:spcPct val="150000"/>
              </a:lnSpc>
            </a:pPr>
            <a:r>
              <a:rPr lang="zh-CN" altLang="en-US" sz="2400" dirty="0">
                <a:latin typeface="+mn-lt"/>
                <a:ea typeface="SimHei" panose="02010609060101010101" pitchFamily="49" charset="-122"/>
              </a:rPr>
              <a:t>⑤ 化学稳定性好，对其他化妆品原料是化学惰性的。</a:t>
            </a:r>
            <a:endParaRPr lang="en-US" altLang="zh-CN" sz="2400" dirty="0">
              <a:latin typeface="+mn-lt"/>
              <a:ea typeface="SimHei" panose="02010609060101010101" pitchFamily="49" charset="-122"/>
            </a:endParaRPr>
          </a:p>
          <a:p>
            <a:pPr>
              <a:lnSpc>
                <a:spcPct val="150000"/>
              </a:lnSpc>
            </a:pPr>
            <a:r>
              <a:rPr lang="zh-CN" altLang="en-US" sz="2400" dirty="0">
                <a:latin typeface="+mn-lt"/>
                <a:ea typeface="SimHei" panose="02010609060101010101" pitchFamily="49" charset="-122"/>
              </a:rPr>
              <a:t>⑥ 由于紫外线吸收剂是构成防晒化妆品配方中的重要组分，有时质量分数会超过</a:t>
            </a:r>
            <a:r>
              <a:rPr lang="en-US" altLang="zh-CN" sz="2400" dirty="0">
                <a:latin typeface="+mn-lt"/>
                <a:ea typeface="SimHei" panose="02010609060101010101" pitchFamily="49" charset="-122"/>
              </a:rPr>
              <a:t>15%</a:t>
            </a:r>
            <a:r>
              <a:rPr lang="zh-CN" altLang="en-US" sz="2400" dirty="0">
                <a:latin typeface="+mn-lt"/>
                <a:ea typeface="SimHei" panose="02010609060101010101" pitchFamily="49" charset="-122"/>
              </a:rPr>
              <a:t>，如果它具有多种功能，</a:t>
            </a:r>
            <a:r>
              <a:rPr lang="zh-CN" altLang="en-US" sz="2400" dirty="0">
                <a:solidFill>
                  <a:srgbClr val="0000FF"/>
                </a:solidFill>
                <a:latin typeface="+mn-lt"/>
                <a:ea typeface="SimHei" panose="02010609060101010101" pitchFamily="49" charset="-122"/>
              </a:rPr>
              <a:t>能赋予产物一些附加的特性</a:t>
            </a:r>
            <a:r>
              <a:rPr lang="zh-CN" altLang="en-US" sz="2400" dirty="0">
                <a:latin typeface="+mn-lt"/>
                <a:ea typeface="SimHei" panose="02010609060101010101" pitchFamily="49" charset="-122"/>
              </a:rPr>
              <a:t>，效果会更好。</a:t>
            </a:r>
          </a:p>
          <a:p>
            <a:pPr>
              <a:lnSpc>
                <a:spcPct val="150000"/>
              </a:lnSpc>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2588784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常用的紫外线吸收剂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00656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对氨基苯甲酸 </a:t>
            </a:r>
            <a:r>
              <a:rPr lang="en-US" altLang="zh-CN" sz="2400" dirty="0">
                <a:latin typeface="+mn-lt"/>
                <a:ea typeface="SimHei" panose="02010609060101010101" pitchFamily="49" charset="-122"/>
              </a:rPr>
              <a:t>(p-aminobenzoic acid)</a:t>
            </a:r>
            <a:r>
              <a:rPr lang="zh-CN" altLang="en-US" sz="2400" dirty="0">
                <a:latin typeface="+mn-lt"/>
                <a:ea typeface="SimHei" panose="02010609060101010101" pitchFamily="49" charset="-122"/>
              </a:rPr>
              <a:t>及其酯类</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solidFill>
                  <a:srgbClr val="0000FF"/>
                </a:solidFill>
                <a:latin typeface="+mn-lt"/>
                <a:ea typeface="SimHei" panose="02010609060101010101" pitchFamily="49" charset="-122"/>
              </a:rPr>
              <a:t>易与水或极性溶剂分子</a:t>
            </a:r>
            <a:r>
              <a:rPr lang="zh-CN" altLang="en-US" sz="2400" dirty="0">
                <a:latin typeface="+mn-lt"/>
                <a:ea typeface="SimHei" panose="02010609060101010101" pitchFamily="49" charset="-122"/>
              </a:rPr>
              <a:t>缔合，而增加它们在水中的溶解度，使其易溶于水，进而</a:t>
            </a:r>
            <a:r>
              <a:rPr lang="zh-CN" altLang="en-US" sz="2400" dirty="0">
                <a:solidFill>
                  <a:srgbClr val="0000FF"/>
                </a:solidFill>
                <a:latin typeface="+mn-lt"/>
                <a:ea typeface="SimHei" panose="02010609060101010101" pitchFamily="49" charset="-122"/>
              </a:rPr>
              <a:t>降低产品的耐水性</a:t>
            </a:r>
            <a:r>
              <a:rPr lang="zh-CN" altLang="en-US" sz="2400" dirty="0">
                <a:latin typeface="+mn-lt"/>
                <a:ea typeface="SimHei" panose="02010609060101010101" pitchFamily="49" charset="-122"/>
              </a:rPr>
              <a:t>。氢键的作用，增强了溶剂对吸收波长的影响，使最大吸收波长向短波方向移动，从而</a:t>
            </a:r>
            <a:r>
              <a:rPr lang="zh-CN" altLang="en-US" sz="2400" dirty="0">
                <a:solidFill>
                  <a:srgbClr val="0000FF"/>
                </a:solidFill>
                <a:latin typeface="+mn-lt"/>
                <a:ea typeface="SimHei" panose="02010609060101010101" pitchFamily="49" charset="-122"/>
              </a:rPr>
              <a:t>影响防晒剂的效率</a:t>
            </a:r>
            <a:r>
              <a:rPr lang="zh-CN" altLang="en-US" sz="2400" dirty="0">
                <a:latin typeface="+mn-lt"/>
                <a:ea typeface="SimHei" panose="02010609060101010101" pitchFamily="49" charset="-122"/>
              </a:rPr>
              <a:t>。此外，</a:t>
            </a:r>
            <a:r>
              <a:rPr lang="zh-CN" altLang="en-US" sz="2400" dirty="0">
                <a:solidFill>
                  <a:srgbClr val="FF0000"/>
                </a:solidFill>
                <a:latin typeface="+mn-lt"/>
                <a:ea typeface="SimHei" panose="02010609060101010101" pitchFamily="49" charset="-122"/>
              </a:rPr>
              <a:t>羧基和氨基对</a:t>
            </a:r>
            <a:r>
              <a:rPr lang="en-US" altLang="zh-CN" sz="2400" dirty="0">
                <a:solidFill>
                  <a:srgbClr val="FF0000"/>
                </a:solidFill>
                <a:latin typeface="+mn-lt"/>
                <a:ea typeface="SimHei" panose="02010609060101010101" pitchFamily="49" charset="-122"/>
              </a:rPr>
              <a:t>pH</a:t>
            </a:r>
            <a:r>
              <a:rPr lang="zh-CN" altLang="en-US" sz="2400" dirty="0">
                <a:solidFill>
                  <a:srgbClr val="FF0000"/>
                </a:solidFill>
                <a:latin typeface="+mn-lt"/>
                <a:ea typeface="SimHei" panose="02010609060101010101" pitchFamily="49" charset="-122"/>
              </a:rPr>
              <a:t>值变化敏感，游离胺也倾向于在空气中氧化，引起颜色的变化</a:t>
            </a:r>
            <a:r>
              <a:rPr lang="zh-CN" altLang="en-US" sz="2400" dirty="0">
                <a:latin typeface="+mn-lt"/>
                <a:ea typeface="SimHei" panose="02010609060101010101" pitchFamily="49" charset="-122"/>
              </a:rPr>
              <a:t>。</a:t>
            </a:r>
          </a:p>
        </p:txBody>
      </p:sp>
      <p:pic>
        <p:nvPicPr>
          <p:cNvPr id="6" name="图片 5">
            <a:extLst>
              <a:ext uri="{FF2B5EF4-FFF2-40B4-BE49-F238E27FC236}">
                <a16:creationId xmlns:a16="http://schemas.microsoft.com/office/drawing/2014/main" id="{D3CD9A69-E421-80E9-B932-E4120BD1CB49}"/>
              </a:ext>
            </a:extLst>
          </p:cNvPr>
          <p:cNvPicPr>
            <a:picLocks noChangeAspect="1"/>
          </p:cNvPicPr>
          <p:nvPr/>
        </p:nvPicPr>
        <p:blipFill>
          <a:blip r:embed="rId2"/>
          <a:stretch>
            <a:fillRect/>
          </a:stretch>
        </p:blipFill>
        <p:spPr>
          <a:xfrm>
            <a:off x="2710543" y="1610113"/>
            <a:ext cx="3722914" cy="1569855"/>
          </a:xfrm>
          <a:prstGeom prst="rect">
            <a:avLst/>
          </a:prstGeom>
        </p:spPr>
      </p:pic>
    </p:spTree>
    <p:extLst>
      <p:ext uri="{BB962C8B-B14F-4D97-AF65-F5344CB8AC3E}">
        <p14:creationId xmlns:p14="http://schemas.microsoft.com/office/powerpoint/2010/main" val="40486297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常用的紫外线吸收剂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00656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水杨酸酯 </a:t>
            </a:r>
            <a:r>
              <a:rPr lang="en-US" altLang="zh-CN" sz="2400" dirty="0">
                <a:latin typeface="+mn-lt"/>
                <a:ea typeface="SimHei" panose="02010609060101010101" pitchFamily="49" charset="-122"/>
              </a:rPr>
              <a:t>(salicylates)</a:t>
            </a:r>
            <a:r>
              <a:rPr lang="zh-CN" altLang="en-US" sz="2400" dirty="0">
                <a:latin typeface="+mn-lt"/>
                <a:ea typeface="SimHei" panose="02010609060101010101" pitchFamily="49" charset="-122"/>
              </a:rPr>
              <a:t>及其衍生物</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尽管水杨酸酯类对</a:t>
            </a:r>
            <a:r>
              <a:rPr lang="en-US" altLang="zh-CN" sz="2400" dirty="0">
                <a:latin typeface="+mn-lt"/>
                <a:ea typeface="SimHei" panose="02010609060101010101" pitchFamily="49" charset="-122"/>
              </a:rPr>
              <a:t>UV</a:t>
            </a:r>
            <a:r>
              <a:rPr lang="zh-CN" altLang="en-US" sz="2400" dirty="0">
                <a:latin typeface="+mn-lt"/>
                <a:ea typeface="SimHei" panose="02010609060101010101" pitchFamily="49" charset="-122"/>
              </a:rPr>
              <a:t>吸收较弱，但有较好的安全使用记录，较易添加于化妆品配方中，产品外观好，具有稳定、润滑、水不溶性等性能。</a:t>
            </a:r>
            <a:endParaRPr lang="en-US" altLang="zh-CN" sz="2400" dirty="0">
              <a:latin typeface="+mn-lt"/>
              <a:ea typeface="SimHei" panose="02010609060101010101" pitchFamily="49" charset="-122"/>
            </a:endParaRPr>
          </a:p>
        </p:txBody>
      </p:sp>
      <p:pic>
        <p:nvPicPr>
          <p:cNvPr id="6" name="图片 5">
            <a:extLst>
              <a:ext uri="{FF2B5EF4-FFF2-40B4-BE49-F238E27FC236}">
                <a16:creationId xmlns:a16="http://schemas.microsoft.com/office/drawing/2014/main" id="{EFC5E757-174D-3481-82DB-1147DAC1B76C}"/>
              </a:ext>
            </a:extLst>
          </p:cNvPr>
          <p:cNvPicPr>
            <a:picLocks noChangeAspect="1"/>
          </p:cNvPicPr>
          <p:nvPr/>
        </p:nvPicPr>
        <p:blipFill>
          <a:blip r:embed="rId2"/>
          <a:stretch>
            <a:fillRect/>
          </a:stretch>
        </p:blipFill>
        <p:spPr>
          <a:xfrm>
            <a:off x="767443" y="1762797"/>
            <a:ext cx="7609114" cy="2233402"/>
          </a:xfrm>
          <a:prstGeom prst="rect">
            <a:avLst/>
          </a:prstGeom>
        </p:spPr>
      </p:pic>
    </p:spTree>
    <p:extLst>
      <p:ext uri="{BB962C8B-B14F-4D97-AF65-F5344CB8AC3E}">
        <p14:creationId xmlns:p14="http://schemas.microsoft.com/office/powerpoint/2010/main" val="25930655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常用的紫外线吸收剂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334784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邻氨基苯甲酸酯类 </a:t>
            </a:r>
            <a:r>
              <a:rPr lang="en-US" altLang="zh-CN" sz="2400" dirty="0">
                <a:latin typeface="+mn-lt"/>
                <a:ea typeface="SimHei" panose="02010609060101010101" pitchFamily="49" charset="-122"/>
              </a:rPr>
              <a:t>(anthranilate)</a:t>
            </a:r>
            <a:r>
              <a:rPr lang="zh-CN" altLang="en-US" sz="2400" dirty="0">
                <a:latin typeface="+mn-lt"/>
                <a:ea typeface="SimHei" panose="02010609060101010101" pitchFamily="49" charset="-122"/>
              </a:rPr>
              <a:t>：起着防晒黑作用，其价格低廉，但吸收率低，对皮肤有刺激性</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pic>
        <p:nvPicPr>
          <p:cNvPr id="6" name="图片 5">
            <a:extLst>
              <a:ext uri="{FF2B5EF4-FFF2-40B4-BE49-F238E27FC236}">
                <a16:creationId xmlns:a16="http://schemas.microsoft.com/office/drawing/2014/main" id="{16361441-25D2-F99D-3864-68DE1995B91B}"/>
              </a:ext>
            </a:extLst>
          </p:cNvPr>
          <p:cNvPicPr>
            <a:picLocks noChangeAspect="1"/>
          </p:cNvPicPr>
          <p:nvPr/>
        </p:nvPicPr>
        <p:blipFill rotWithShape="1">
          <a:blip r:embed="rId2"/>
          <a:srcRect l="9762"/>
          <a:stretch/>
        </p:blipFill>
        <p:spPr>
          <a:xfrm>
            <a:off x="182880" y="2338597"/>
            <a:ext cx="2681714" cy="4337331"/>
          </a:xfrm>
          <a:prstGeom prst="rect">
            <a:avLst/>
          </a:prstGeom>
        </p:spPr>
      </p:pic>
      <p:pic>
        <p:nvPicPr>
          <p:cNvPr id="9" name="图片 8">
            <a:extLst>
              <a:ext uri="{FF2B5EF4-FFF2-40B4-BE49-F238E27FC236}">
                <a16:creationId xmlns:a16="http://schemas.microsoft.com/office/drawing/2014/main" id="{224A173B-3676-28E8-2A1B-5B3CEB5DE87B}"/>
              </a:ext>
            </a:extLst>
          </p:cNvPr>
          <p:cNvPicPr>
            <a:picLocks noChangeAspect="1"/>
          </p:cNvPicPr>
          <p:nvPr/>
        </p:nvPicPr>
        <p:blipFill>
          <a:blip r:embed="rId3"/>
          <a:stretch>
            <a:fillRect/>
          </a:stretch>
        </p:blipFill>
        <p:spPr>
          <a:xfrm>
            <a:off x="3572691" y="2156527"/>
            <a:ext cx="5388429" cy="4701473"/>
          </a:xfrm>
          <a:prstGeom prst="rect">
            <a:avLst/>
          </a:prstGeom>
        </p:spPr>
      </p:pic>
    </p:spTree>
    <p:extLst>
      <p:ext uri="{BB962C8B-B14F-4D97-AF65-F5344CB8AC3E}">
        <p14:creationId xmlns:p14="http://schemas.microsoft.com/office/powerpoint/2010/main" val="2528357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常用的紫外线吸收剂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168584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二苯酮 </a:t>
            </a:r>
            <a:r>
              <a:rPr lang="en-US" altLang="zh-CN" sz="2400" dirty="0">
                <a:latin typeface="+mn-lt"/>
                <a:ea typeface="SimHei" panose="02010609060101010101" pitchFamily="49" charset="-122"/>
              </a:rPr>
              <a:t>(benzophenones) </a:t>
            </a:r>
            <a:r>
              <a:rPr lang="zh-CN" altLang="en-US" sz="2400" dirty="0">
                <a:latin typeface="+mn-lt"/>
                <a:ea typeface="SimHei" panose="02010609060101010101" pitchFamily="49" charset="-122"/>
              </a:rPr>
              <a:t>及其衍生物，对 </a:t>
            </a:r>
            <a:r>
              <a:rPr lang="en-US" altLang="zh-CN" sz="2400" dirty="0">
                <a:latin typeface="+mn-lt"/>
                <a:ea typeface="SimHei" panose="02010609060101010101" pitchFamily="49" charset="-122"/>
              </a:rPr>
              <a:t>UVB  </a:t>
            </a:r>
            <a:r>
              <a:rPr lang="zh-CN" altLang="en-US" sz="2400" dirty="0">
                <a:latin typeface="+mn-lt"/>
                <a:ea typeface="SimHei" panose="02010609060101010101" pitchFamily="49" charset="-122"/>
              </a:rPr>
              <a:t>和 </a:t>
            </a:r>
            <a:r>
              <a:rPr lang="en-US" altLang="zh-CN" sz="2400" dirty="0">
                <a:latin typeface="+mn-lt"/>
                <a:ea typeface="SimHei" panose="02010609060101010101" pitchFamily="49" charset="-122"/>
              </a:rPr>
              <a:t>UVA  </a:t>
            </a:r>
            <a:r>
              <a:rPr lang="zh-CN" altLang="en-US" sz="2400" dirty="0">
                <a:latin typeface="+mn-lt"/>
                <a:ea typeface="SimHei" panose="02010609060101010101" pitchFamily="49" charset="-122"/>
              </a:rPr>
              <a:t>区的辐射都能吸收，但其吸收率稍差</a:t>
            </a: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pic>
        <p:nvPicPr>
          <p:cNvPr id="6" name="图片 5">
            <a:extLst>
              <a:ext uri="{FF2B5EF4-FFF2-40B4-BE49-F238E27FC236}">
                <a16:creationId xmlns:a16="http://schemas.microsoft.com/office/drawing/2014/main" id="{E656FDDD-DD9B-7A73-FDD6-A8F3EDF47639}"/>
              </a:ext>
            </a:extLst>
          </p:cNvPr>
          <p:cNvPicPr>
            <a:picLocks noChangeAspect="1"/>
          </p:cNvPicPr>
          <p:nvPr/>
        </p:nvPicPr>
        <p:blipFill>
          <a:blip r:embed="rId2"/>
          <a:stretch>
            <a:fillRect/>
          </a:stretch>
        </p:blipFill>
        <p:spPr>
          <a:xfrm>
            <a:off x="2530928" y="2715903"/>
            <a:ext cx="4082143" cy="2500439"/>
          </a:xfrm>
          <a:prstGeom prst="rect">
            <a:avLst/>
          </a:prstGeom>
        </p:spPr>
      </p:pic>
    </p:spTree>
    <p:extLst>
      <p:ext uri="{BB962C8B-B14F-4D97-AF65-F5344CB8AC3E}">
        <p14:creationId xmlns:p14="http://schemas.microsoft.com/office/powerpoint/2010/main" val="26419015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常用的紫外线吸收剂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112857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对甲氧基肉桂酸类 </a:t>
            </a:r>
            <a:r>
              <a:rPr lang="en-US" altLang="zh-CN" sz="2400" dirty="0">
                <a:latin typeface="+mn-lt"/>
                <a:ea typeface="SimHei" panose="02010609060101010101" pitchFamily="49" charset="-122"/>
              </a:rPr>
              <a:t>(p-methoxycinnamate)</a:t>
            </a:r>
            <a:r>
              <a:rPr lang="zh-CN" altLang="en-US" sz="2400" dirty="0">
                <a:latin typeface="+mn-lt"/>
                <a:ea typeface="SimHei" panose="02010609060101010101" pitchFamily="49" charset="-122"/>
              </a:rPr>
              <a:t>，是</a:t>
            </a:r>
            <a:r>
              <a:rPr lang="en-US" altLang="zh-CN" sz="2400" dirty="0">
                <a:latin typeface="+mn-lt"/>
                <a:ea typeface="SimHei" panose="02010609060101010101" pitchFamily="49" charset="-122"/>
              </a:rPr>
              <a:t>UVB </a:t>
            </a:r>
            <a:r>
              <a:rPr lang="zh-CN" altLang="en-US" sz="2400" dirty="0">
                <a:latin typeface="+mn-lt"/>
                <a:ea typeface="SimHei" panose="02010609060101010101" pitchFamily="49" charset="-122"/>
              </a:rPr>
              <a:t>区的良好吸收剂</a:t>
            </a:r>
            <a:endParaRPr lang="en-US" altLang="zh-CN" sz="2400" dirty="0">
              <a:latin typeface="+mn-lt"/>
              <a:ea typeface="SimHei" panose="02010609060101010101" pitchFamily="49" charset="-122"/>
            </a:endParaRPr>
          </a:p>
        </p:txBody>
      </p:sp>
      <p:pic>
        <p:nvPicPr>
          <p:cNvPr id="6" name="图片 5">
            <a:extLst>
              <a:ext uri="{FF2B5EF4-FFF2-40B4-BE49-F238E27FC236}">
                <a16:creationId xmlns:a16="http://schemas.microsoft.com/office/drawing/2014/main" id="{700C37BB-1E38-BE48-AFC7-59860765C275}"/>
              </a:ext>
            </a:extLst>
          </p:cNvPr>
          <p:cNvPicPr>
            <a:picLocks noChangeAspect="1"/>
          </p:cNvPicPr>
          <p:nvPr/>
        </p:nvPicPr>
        <p:blipFill>
          <a:blip r:embed="rId2"/>
          <a:stretch>
            <a:fillRect/>
          </a:stretch>
        </p:blipFill>
        <p:spPr>
          <a:xfrm>
            <a:off x="1665514" y="2680486"/>
            <a:ext cx="5812971" cy="1497027"/>
          </a:xfrm>
          <a:prstGeom prst="rect">
            <a:avLst/>
          </a:prstGeom>
        </p:spPr>
      </p:pic>
    </p:spTree>
    <p:extLst>
      <p:ext uri="{BB962C8B-B14F-4D97-AF65-F5344CB8AC3E}">
        <p14:creationId xmlns:p14="http://schemas.microsoft.com/office/powerpoint/2010/main" val="11621497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常用的紫外线吸收剂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113184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二苯甲酰甲烷类是一类高效 </a:t>
            </a:r>
            <a:r>
              <a:rPr lang="en-US" altLang="zh-CN" sz="2400" dirty="0">
                <a:latin typeface="+mn-lt"/>
                <a:ea typeface="SimHei" panose="02010609060101010101" pitchFamily="49" charset="-122"/>
              </a:rPr>
              <a:t>UVA </a:t>
            </a:r>
            <a:r>
              <a:rPr lang="zh-CN" altLang="en-US" sz="2400" dirty="0">
                <a:latin typeface="+mn-lt"/>
                <a:ea typeface="SimHei" panose="02010609060101010101" pitchFamily="49" charset="-122"/>
              </a:rPr>
              <a:t>区紫外线吸收剂</a:t>
            </a:r>
            <a:endParaRPr lang="en-US" altLang="zh-CN" sz="2400" dirty="0">
              <a:latin typeface="+mn-lt"/>
              <a:ea typeface="SimHei" panose="02010609060101010101" pitchFamily="49" charset="-122"/>
            </a:endParaRPr>
          </a:p>
          <a:p>
            <a:pPr>
              <a:lnSpc>
                <a:spcPct val="150000"/>
              </a:lnSpc>
            </a:pPr>
            <a:endParaRPr lang="en-US" altLang="zh-CN" sz="2400" dirty="0">
              <a:latin typeface="+mn-lt"/>
              <a:ea typeface="SimHei" panose="02010609060101010101" pitchFamily="49" charset="-122"/>
            </a:endParaRPr>
          </a:p>
        </p:txBody>
      </p:sp>
      <p:pic>
        <p:nvPicPr>
          <p:cNvPr id="6" name="图片 5">
            <a:extLst>
              <a:ext uri="{FF2B5EF4-FFF2-40B4-BE49-F238E27FC236}">
                <a16:creationId xmlns:a16="http://schemas.microsoft.com/office/drawing/2014/main" id="{A7828F73-51A9-6C35-C9B2-AC3FCFB40977}"/>
              </a:ext>
            </a:extLst>
          </p:cNvPr>
          <p:cNvPicPr>
            <a:picLocks noChangeAspect="1"/>
          </p:cNvPicPr>
          <p:nvPr/>
        </p:nvPicPr>
        <p:blipFill>
          <a:blip r:embed="rId2"/>
          <a:stretch>
            <a:fillRect/>
          </a:stretch>
        </p:blipFill>
        <p:spPr>
          <a:xfrm>
            <a:off x="2302328" y="2490324"/>
            <a:ext cx="4539343" cy="1877352"/>
          </a:xfrm>
          <a:prstGeom prst="rect">
            <a:avLst/>
          </a:prstGeom>
        </p:spPr>
      </p:pic>
    </p:spTree>
    <p:extLst>
      <p:ext uri="{BB962C8B-B14F-4D97-AF65-F5344CB8AC3E}">
        <p14:creationId xmlns:p14="http://schemas.microsoft.com/office/powerpoint/2010/main" val="32330209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常用的紫外线吸收剂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56056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樟脑类衍生物 </a:t>
            </a:r>
            <a:r>
              <a:rPr lang="en-US" altLang="zh-CN" sz="2400" dirty="0">
                <a:latin typeface="+mn-lt"/>
                <a:ea typeface="SimHei" panose="02010609060101010101" pitchFamily="49" charset="-122"/>
              </a:rPr>
              <a:t>(camphor derivatives)</a:t>
            </a: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紫外线吸收剂的吸收性， 一般单独使用时的效果均不太理想，多以复配的形式加入到防晒化妆品中。如将</a:t>
            </a:r>
            <a:r>
              <a:rPr lang="en-US" altLang="zh-CN" sz="2400" dirty="0">
                <a:latin typeface="+mn-lt"/>
                <a:ea typeface="SimHei" panose="02010609060101010101" pitchFamily="49" charset="-122"/>
              </a:rPr>
              <a:t>UVA </a:t>
            </a:r>
            <a:r>
              <a:rPr lang="zh-CN" altLang="en-US" sz="2400" dirty="0">
                <a:latin typeface="+mn-lt"/>
                <a:ea typeface="SimHei" panose="02010609060101010101" pitchFamily="49" charset="-122"/>
              </a:rPr>
              <a:t>与 </a:t>
            </a:r>
            <a:r>
              <a:rPr lang="en-US" altLang="zh-CN" sz="2400" dirty="0">
                <a:latin typeface="+mn-lt"/>
                <a:ea typeface="SimHei" panose="02010609060101010101" pitchFamily="49" charset="-122"/>
              </a:rPr>
              <a:t>UVB  </a:t>
            </a:r>
            <a:r>
              <a:rPr lang="zh-CN" altLang="en-US" sz="2400" dirty="0">
                <a:latin typeface="+mn-lt"/>
                <a:ea typeface="SimHei" panose="02010609060101010101" pitchFamily="49" charset="-122"/>
              </a:rPr>
              <a:t>紫外吸收剂按一定比例复配，可以在整个紫外波长范围内具有吸收作用，即相互提升防晒效果，起到协同增效作用。</a:t>
            </a:r>
            <a:endParaRPr lang="en-US" altLang="zh-CN" sz="2400" dirty="0">
              <a:latin typeface="+mn-lt"/>
              <a:ea typeface="SimHei" panose="02010609060101010101" pitchFamily="49" charset="-122"/>
            </a:endParaRPr>
          </a:p>
        </p:txBody>
      </p:sp>
      <p:pic>
        <p:nvPicPr>
          <p:cNvPr id="6" name="图片 5">
            <a:extLst>
              <a:ext uri="{FF2B5EF4-FFF2-40B4-BE49-F238E27FC236}">
                <a16:creationId xmlns:a16="http://schemas.microsoft.com/office/drawing/2014/main" id="{C8E66F16-8B0F-370E-8B4D-34A5094A31CE}"/>
              </a:ext>
            </a:extLst>
          </p:cNvPr>
          <p:cNvPicPr>
            <a:picLocks noChangeAspect="1"/>
          </p:cNvPicPr>
          <p:nvPr/>
        </p:nvPicPr>
        <p:blipFill>
          <a:blip r:embed="rId2"/>
          <a:stretch>
            <a:fillRect/>
          </a:stretch>
        </p:blipFill>
        <p:spPr>
          <a:xfrm>
            <a:off x="3265714" y="1610113"/>
            <a:ext cx="2612571" cy="2702740"/>
          </a:xfrm>
          <a:prstGeom prst="rect">
            <a:avLst/>
          </a:prstGeom>
        </p:spPr>
      </p:pic>
    </p:spTree>
    <p:extLst>
      <p:ext uri="{BB962C8B-B14F-4D97-AF65-F5344CB8AC3E}">
        <p14:creationId xmlns:p14="http://schemas.microsoft.com/office/powerpoint/2010/main" val="2258013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防晒化妆品配方示例与工艺</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7458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水感防晒嗜喱</a:t>
            </a:r>
            <a:endParaRPr lang="en-US" altLang="zh-CN" sz="2400" dirty="0">
              <a:latin typeface="+mn-lt"/>
              <a:ea typeface="SimHei" panose="02010609060101010101" pitchFamily="49" charset="-122"/>
            </a:endParaRPr>
          </a:p>
        </p:txBody>
      </p:sp>
      <p:graphicFrame>
        <p:nvGraphicFramePr>
          <p:cNvPr id="5" name="表格 4">
            <a:extLst>
              <a:ext uri="{FF2B5EF4-FFF2-40B4-BE49-F238E27FC236}">
                <a16:creationId xmlns:a16="http://schemas.microsoft.com/office/drawing/2014/main" id="{D322B204-94D6-BDCF-F9F4-CB22C61FE1E0}"/>
              </a:ext>
            </a:extLst>
          </p:cNvPr>
          <p:cNvGraphicFramePr>
            <a:graphicFrameLocks noGrp="1"/>
          </p:cNvGraphicFramePr>
          <p:nvPr>
            <p:extLst>
              <p:ext uri="{D42A27DB-BD31-4B8C-83A1-F6EECF244321}">
                <p14:modId xmlns:p14="http://schemas.microsoft.com/office/powerpoint/2010/main" val="957016724"/>
              </p:ext>
            </p:extLst>
          </p:nvPr>
        </p:nvGraphicFramePr>
        <p:xfrm>
          <a:off x="182879" y="1655871"/>
          <a:ext cx="8778241" cy="3658235"/>
        </p:xfrm>
        <a:graphic>
          <a:graphicData uri="http://schemas.openxmlformats.org/drawingml/2006/table">
            <a:tbl>
              <a:tblPr firstRow="1" firstCol="1" bandRow="1">
                <a:tableStyleId>{72833802-FEF1-4C79-8D5D-14CF1EAF98D9}</a:tableStyleId>
              </a:tblPr>
              <a:tblGrid>
                <a:gridCol w="563379">
                  <a:extLst>
                    <a:ext uri="{9D8B030D-6E8A-4147-A177-3AD203B41FA5}">
                      <a16:colId xmlns:a16="http://schemas.microsoft.com/office/drawing/2014/main" val="2280553594"/>
                    </a:ext>
                  </a:extLst>
                </a:gridCol>
                <a:gridCol w="2422611">
                  <a:extLst>
                    <a:ext uri="{9D8B030D-6E8A-4147-A177-3AD203B41FA5}">
                      <a16:colId xmlns:a16="http://schemas.microsoft.com/office/drawing/2014/main" val="1925497224"/>
                    </a:ext>
                  </a:extLst>
                </a:gridCol>
                <a:gridCol w="1308538">
                  <a:extLst>
                    <a:ext uri="{9D8B030D-6E8A-4147-A177-3AD203B41FA5}">
                      <a16:colId xmlns:a16="http://schemas.microsoft.com/office/drawing/2014/main" val="2927660585"/>
                    </a:ext>
                  </a:extLst>
                </a:gridCol>
                <a:gridCol w="819807">
                  <a:extLst>
                    <a:ext uri="{9D8B030D-6E8A-4147-A177-3AD203B41FA5}">
                      <a16:colId xmlns:a16="http://schemas.microsoft.com/office/drawing/2014/main" val="4146729690"/>
                    </a:ext>
                  </a:extLst>
                </a:gridCol>
                <a:gridCol w="2733674">
                  <a:extLst>
                    <a:ext uri="{9D8B030D-6E8A-4147-A177-3AD203B41FA5}">
                      <a16:colId xmlns:a16="http://schemas.microsoft.com/office/drawing/2014/main" val="4287100596"/>
                    </a:ext>
                  </a:extLst>
                </a:gridCol>
                <a:gridCol w="930232">
                  <a:extLst>
                    <a:ext uri="{9D8B030D-6E8A-4147-A177-3AD203B41FA5}">
                      <a16:colId xmlns:a16="http://schemas.microsoft.com/office/drawing/2014/main" val="3410777433"/>
                    </a:ext>
                  </a:extLst>
                </a:gridCol>
              </a:tblGrid>
              <a:tr h="274955">
                <a:tc>
                  <a:txBody>
                    <a:bodyPr/>
                    <a:lstStyle/>
                    <a:p>
                      <a:pPr marL="120650" marR="0" eaLnBrk="0">
                        <a:lnSpc>
                          <a:spcPct val="92000"/>
                        </a:lnSpc>
                        <a:spcBef>
                          <a:spcPts val="580"/>
                        </a:spcBef>
                        <a:spcAft>
                          <a:spcPts val="0"/>
                        </a:spcAft>
                      </a:pPr>
                      <a:r>
                        <a:rPr lang="zh-CN" sz="1800" spc="40">
                          <a:effectLst/>
                          <a:latin typeface="SimHei" panose="02010609060101010101" pitchFamily="49" charset="-122"/>
                          <a:ea typeface="SimHei" panose="02010609060101010101" pitchFamily="49" charset="-122"/>
                        </a:rPr>
                        <a:t>组相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568325" marR="0" eaLnBrk="0">
                        <a:lnSpc>
                          <a:spcPct val="91000"/>
                        </a:lnSpc>
                        <a:spcBef>
                          <a:spcPts val="570"/>
                        </a:spcBef>
                        <a:spcAft>
                          <a:spcPts val="0"/>
                        </a:spcAft>
                      </a:pPr>
                      <a:r>
                        <a:rPr lang="zh-CN" sz="1800" spc="-30">
                          <a:effectLst/>
                          <a:latin typeface="SimHei" panose="02010609060101010101" pitchFamily="49" charset="-122"/>
                          <a:ea typeface="SimHei" panose="02010609060101010101" pitchFamily="49" charset="-122"/>
                        </a:rPr>
                        <a:t>组</a:t>
                      </a:r>
                      <a:r>
                        <a:rPr lang="en-US" sz="1800" spc="15">
                          <a:effectLst/>
                          <a:latin typeface="SimHei" panose="02010609060101010101" pitchFamily="49" charset="-122"/>
                          <a:ea typeface="SimHei" panose="02010609060101010101" pitchFamily="49" charset="-122"/>
                        </a:rPr>
                        <a:t>   </a:t>
                      </a:r>
                      <a:r>
                        <a:rPr lang="zh-CN" sz="1800" spc="-30">
                          <a:effectLst/>
                          <a:latin typeface="SimHei" panose="02010609060101010101" pitchFamily="49" charset="-122"/>
                          <a:ea typeface="SimHei" panose="02010609060101010101" pitchFamily="49" charset="-122"/>
                        </a:rPr>
                        <a:t>分</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11125" marR="0" eaLnBrk="0">
                        <a:lnSpc>
                          <a:spcPct val="91000"/>
                        </a:lnSpc>
                        <a:spcBef>
                          <a:spcPts val="565"/>
                        </a:spcBef>
                        <a:spcAft>
                          <a:spcPts val="0"/>
                        </a:spcAft>
                      </a:pPr>
                      <a:r>
                        <a:rPr lang="zh-CN" sz="1800" spc="-10">
                          <a:effectLst/>
                          <a:latin typeface="SimHei" panose="02010609060101010101" pitchFamily="49" charset="-122"/>
                          <a:ea typeface="SimHei" panose="02010609060101010101" pitchFamily="49" charset="-122"/>
                        </a:rPr>
                        <a:t>质量分数</a:t>
                      </a:r>
                      <a:r>
                        <a:rPr lang="en-US" sz="1800" spc="-10">
                          <a:effectLst/>
                          <a:latin typeface="SimHei" panose="02010609060101010101" pitchFamily="49" charset="-122"/>
                          <a:ea typeface="SimHei" panose="02010609060101010101" pitchFamily="49" charset="-122"/>
                        </a:rPr>
                        <a:t>/%</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35890" marR="0" eaLnBrk="0">
                        <a:lnSpc>
                          <a:spcPct val="92000"/>
                        </a:lnSpc>
                        <a:spcBef>
                          <a:spcPts val="580"/>
                        </a:spcBef>
                        <a:spcAft>
                          <a:spcPts val="0"/>
                        </a:spcAft>
                      </a:pPr>
                      <a:r>
                        <a:rPr lang="zh-CN" sz="1800" spc="40">
                          <a:effectLst/>
                          <a:latin typeface="SimHei" panose="02010609060101010101" pitchFamily="49" charset="-122"/>
                          <a:ea typeface="SimHei" panose="02010609060101010101" pitchFamily="49" charset="-122"/>
                        </a:rPr>
                        <a:t>组相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828675" marR="0" eaLnBrk="0">
                        <a:lnSpc>
                          <a:spcPct val="91000"/>
                        </a:lnSpc>
                        <a:spcBef>
                          <a:spcPts val="570"/>
                        </a:spcBef>
                        <a:spcAft>
                          <a:spcPts val="0"/>
                        </a:spcAft>
                      </a:pPr>
                      <a:r>
                        <a:rPr lang="zh-CN" sz="1800" spc="-30">
                          <a:effectLst/>
                          <a:latin typeface="SimHei" panose="02010609060101010101" pitchFamily="49" charset="-122"/>
                          <a:ea typeface="SimHei" panose="02010609060101010101" pitchFamily="49" charset="-122"/>
                        </a:rPr>
                        <a:t>组</a:t>
                      </a:r>
                      <a:r>
                        <a:rPr lang="en-US" sz="1800" spc="15">
                          <a:effectLst/>
                          <a:latin typeface="SimHei" panose="02010609060101010101" pitchFamily="49" charset="-122"/>
                          <a:ea typeface="SimHei" panose="02010609060101010101" pitchFamily="49" charset="-122"/>
                        </a:rPr>
                        <a:t>   </a:t>
                      </a:r>
                      <a:r>
                        <a:rPr lang="zh-CN" sz="1800" spc="-30">
                          <a:effectLst/>
                          <a:latin typeface="SimHei" panose="02010609060101010101" pitchFamily="49" charset="-122"/>
                          <a:ea typeface="SimHei" panose="02010609060101010101" pitchFamily="49" charset="-122"/>
                        </a:rPr>
                        <a:t>分</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11125" marR="0" eaLnBrk="0">
                        <a:lnSpc>
                          <a:spcPct val="91000"/>
                        </a:lnSpc>
                        <a:spcBef>
                          <a:spcPts val="565"/>
                        </a:spcBef>
                        <a:spcAft>
                          <a:spcPts val="0"/>
                        </a:spcAft>
                      </a:pPr>
                      <a:r>
                        <a:rPr lang="zh-CN" sz="1800" spc="-10">
                          <a:effectLst/>
                          <a:latin typeface="SimHei" panose="02010609060101010101" pitchFamily="49" charset="-122"/>
                          <a:ea typeface="SimHei" panose="02010609060101010101" pitchFamily="49" charset="-122"/>
                        </a:rPr>
                        <a:t>质量分数</a:t>
                      </a:r>
                      <a:r>
                        <a:rPr lang="en-US" sz="1800" spc="-10">
                          <a:effectLst/>
                          <a:latin typeface="SimHei" panose="02010609060101010101" pitchFamily="49" charset="-122"/>
                          <a:ea typeface="SimHei" panose="02010609060101010101" pitchFamily="49" charset="-122"/>
                        </a:rPr>
                        <a:t>/%</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3491218723"/>
                  </a:ext>
                </a:extLst>
              </a:tr>
              <a:tr h="531495">
                <a:tc rowSpan="2">
                  <a:txBody>
                    <a:bodyPr/>
                    <a:lstStyle/>
                    <a:p>
                      <a:pPr marL="0" marR="0" eaLnBrk="0">
                        <a:lnSpc>
                          <a:spcPct val="125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0" marR="0" eaLnBrk="0">
                        <a:lnSpc>
                          <a:spcPct val="125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152400" marR="0" eaLnBrk="0">
                        <a:lnSpc>
                          <a:spcPct val="92000"/>
                        </a:lnSpc>
                        <a:spcBef>
                          <a:spcPts val="340"/>
                        </a:spcBef>
                        <a:spcAft>
                          <a:spcPts val="0"/>
                        </a:spcAft>
                      </a:pPr>
                      <a:r>
                        <a:rPr lang="en-US" sz="1800" spc="-5">
                          <a:effectLst/>
                          <a:latin typeface="SimHei" panose="02010609060101010101" pitchFamily="49" charset="-122"/>
                          <a:ea typeface="SimHei" panose="02010609060101010101" pitchFamily="49" charset="-122"/>
                        </a:rPr>
                        <a:t>A</a:t>
                      </a:r>
                      <a:r>
                        <a:rPr lang="zh-CN" sz="1800" spc="-5">
                          <a:effectLst/>
                          <a:latin typeface="SimHei" panose="02010609060101010101" pitchFamily="49" charset="-122"/>
                          <a:ea typeface="SimHei" panose="02010609060101010101" pitchFamily="49" charset="-122"/>
                        </a:rPr>
                        <a:t>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rowSpan="2">
                  <a:txBody>
                    <a:bodyPr/>
                    <a:lstStyle/>
                    <a:p>
                      <a:pPr marL="212725" marR="0" eaLnBrk="0">
                        <a:lnSpc>
                          <a:spcPct val="91000"/>
                        </a:lnSpc>
                        <a:spcBef>
                          <a:spcPts val="550"/>
                        </a:spcBef>
                        <a:spcAft>
                          <a:spcPts val="0"/>
                        </a:spcAft>
                      </a:pPr>
                      <a:r>
                        <a:rPr lang="zh-CN" sz="1800">
                          <a:effectLst/>
                          <a:latin typeface="SimHei" panose="02010609060101010101" pitchFamily="49" charset="-122"/>
                          <a:ea typeface="SimHei" panose="02010609060101010101" pitchFamily="49" charset="-122"/>
                        </a:rPr>
                        <a:t>水</a:t>
                      </a:r>
                      <a:endParaRPr lang="en-US" sz="1800">
                        <a:effectLst/>
                        <a:latin typeface="SimHei" panose="02010609060101010101" pitchFamily="49" charset="-122"/>
                        <a:ea typeface="SimHei" panose="02010609060101010101" pitchFamily="49" charset="-122"/>
                      </a:endParaRPr>
                    </a:p>
                    <a:p>
                      <a:pPr marL="212725" marR="0" eaLnBrk="0">
                        <a:lnSpc>
                          <a:spcPct val="90000"/>
                        </a:lnSpc>
                        <a:spcBef>
                          <a:spcPts val="735"/>
                        </a:spcBef>
                        <a:spcAft>
                          <a:spcPts val="0"/>
                        </a:spcAft>
                      </a:pPr>
                      <a:r>
                        <a:rPr lang="en-US" sz="1800" spc="5">
                          <a:effectLst/>
                          <a:latin typeface="SimHei" panose="02010609060101010101" pitchFamily="49" charset="-122"/>
                          <a:ea typeface="SimHei" panose="02010609060101010101" pitchFamily="49" charset="-122"/>
                        </a:rPr>
                        <a:t>1,3-</a:t>
                      </a:r>
                      <a:r>
                        <a:rPr lang="zh-CN" sz="1800" spc="5">
                          <a:effectLst/>
                          <a:latin typeface="SimHei" panose="02010609060101010101" pitchFamily="49" charset="-122"/>
                          <a:ea typeface="SimHei" panose="02010609060101010101" pitchFamily="49" charset="-122"/>
                        </a:rPr>
                        <a:t>丁二醇</a:t>
                      </a:r>
                      <a:endParaRPr lang="en-US" sz="1800">
                        <a:effectLst/>
                        <a:latin typeface="SimHei" panose="02010609060101010101" pitchFamily="49" charset="-122"/>
                        <a:ea typeface="SimHei" panose="02010609060101010101" pitchFamily="49" charset="-122"/>
                      </a:endParaRPr>
                    </a:p>
                    <a:p>
                      <a:pPr marL="60325" marR="140335" indent="152400" eaLnBrk="0">
                        <a:lnSpc>
                          <a:spcPct val="95000"/>
                        </a:lnSpc>
                        <a:spcBef>
                          <a:spcPts val="1035"/>
                        </a:spcBef>
                        <a:spcAft>
                          <a:spcPts val="0"/>
                        </a:spcAft>
                      </a:pPr>
                      <a:r>
                        <a:rPr lang="zh-CN" sz="1800" spc="5">
                          <a:effectLst/>
                          <a:latin typeface="SimHei" panose="02010609060101010101" pitchFamily="49" charset="-122"/>
                          <a:ea typeface="SimHei" panose="02010609060101010101" pitchFamily="49" charset="-122"/>
                        </a:rPr>
                        <a:t>丙烯酸</a:t>
                      </a:r>
                      <a:r>
                        <a:rPr lang="en-US" sz="1800" spc="5">
                          <a:effectLst/>
                          <a:latin typeface="SimHei" panose="02010609060101010101" pitchFamily="49" charset="-122"/>
                          <a:ea typeface="SimHei" panose="02010609060101010101" pitchFamily="49" charset="-122"/>
                        </a:rPr>
                        <a:t>/</a:t>
                      </a:r>
                      <a:r>
                        <a:rPr lang="zh-CN" sz="1800" spc="5">
                          <a:effectLst/>
                          <a:latin typeface="SimHei" panose="02010609060101010101" pitchFamily="49" charset="-122"/>
                          <a:ea typeface="SimHei" panose="02010609060101010101" pitchFamily="49" charset="-122"/>
                        </a:rPr>
                        <a:t>山嵛醇聚醚</a:t>
                      </a:r>
                      <a:r>
                        <a:rPr lang="en-US" sz="1800" spc="5">
                          <a:effectLst/>
                          <a:latin typeface="SimHei" panose="02010609060101010101" pitchFamily="49" charset="-122"/>
                          <a:ea typeface="SimHei" panose="02010609060101010101" pitchFamily="49" charset="-122"/>
                        </a:rPr>
                        <a:t>-25</a:t>
                      </a:r>
                      <a:r>
                        <a:rPr lang="en-US" sz="1800">
                          <a:effectLst/>
                          <a:latin typeface="SimHei" panose="02010609060101010101" pitchFamily="49" charset="-122"/>
                          <a:ea typeface="SimHei" panose="02010609060101010101" pitchFamily="49" charset="-122"/>
                        </a:rPr>
                        <a:t> </a:t>
                      </a:r>
                      <a:r>
                        <a:rPr lang="zh-CN" sz="1800" spc="5">
                          <a:effectLst/>
                          <a:latin typeface="SimHei" panose="02010609060101010101" pitchFamily="49" charset="-122"/>
                          <a:ea typeface="SimHei" panose="02010609060101010101" pitchFamily="49" charset="-122"/>
                        </a:rPr>
                        <a:t>甲基丙烯酸酯共聚物</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rowSpan="2">
                  <a:txBody>
                    <a:bodyPr/>
                    <a:lstStyle/>
                    <a:p>
                      <a:pPr marL="212725" marR="0" eaLnBrk="0">
                        <a:lnSpc>
                          <a:spcPts val="2400"/>
                        </a:lnSpc>
                        <a:spcBef>
                          <a:spcPts val="570"/>
                        </a:spcBef>
                        <a:spcAft>
                          <a:spcPts val="0"/>
                        </a:spcAft>
                      </a:pPr>
                      <a:r>
                        <a:rPr lang="zh-CN" sz="1800" spc="-10">
                          <a:effectLst/>
                          <a:latin typeface="SimHei" panose="02010609060101010101" pitchFamily="49" charset="-122"/>
                          <a:ea typeface="SimHei" panose="02010609060101010101" pitchFamily="49" charset="-122"/>
                        </a:rPr>
                        <a:t>加至</a:t>
                      </a:r>
                      <a:r>
                        <a:rPr lang="en-US" sz="1800" spc="-10">
                          <a:effectLst/>
                          <a:latin typeface="SimHei" panose="02010609060101010101" pitchFamily="49" charset="-122"/>
                          <a:ea typeface="SimHei" panose="02010609060101010101" pitchFamily="49" charset="-122"/>
                        </a:rPr>
                        <a:t>100</a:t>
                      </a:r>
                      <a:endParaRPr lang="en-US" sz="1800">
                        <a:effectLst/>
                        <a:latin typeface="SimHei" panose="02010609060101010101" pitchFamily="49" charset="-122"/>
                        <a:ea typeface="SimHei" panose="02010609060101010101" pitchFamily="49" charset="-122"/>
                      </a:endParaRPr>
                    </a:p>
                    <a:p>
                      <a:pPr marL="346075" marR="0" eaLnBrk="0">
                        <a:lnSpc>
                          <a:spcPct val="76000"/>
                        </a:lnSpc>
                        <a:spcBef>
                          <a:spcPts val="0"/>
                        </a:spcBef>
                        <a:spcAft>
                          <a:spcPts val="0"/>
                        </a:spcAft>
                      </a:pPr>
                      <a:r>
                        <a:rPr lang="en-US" sz="1800" spc="-15">
                          <a:effectLst/>
                          <a:latin typeface="SimHei" panose="02010609060101010101" pitchFamily="49" charset="-122"/>
                          <a:ea typeface="SimHei" panose="02010609060101010101" pitchFamily="49" charset="-122"/>
                        </a:rPr>
                        <a:t>3.0</a:t>
                      </a:r>
                      <a:endParaRPr lang="en-US" sz="1800">
                        <a:effectLst/>
                        <a:latin typeface="SimHei" panose="02010609060101010101" pitchFamily="49" charset="-122"/>
                        <a:ea typeface="SimHei" panose="02010609060101010101" pitchFamily="49" charset="-122"/>
                      </a:endParaRPr>
                    </a:p>
                    <a:p>
                      <a:pPr marL="0" marR="0" eaLnBrk="0">
                        <a:lnSpc>
                          <a:spcPct val="121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346075" marR="0" eaLnBrk="0">
                        <a:lnSpc>
                          <a:spcPct val="76000"/>
                        </a:lnSpc>
                        <a:spcBef>
                          <a:spcPts val="340"/>
                        </a:spcBef>
                        <a:spcAft>
                          <a:spcPts val="0"/>
                        </a:spcAft>
                      </a:pPr>
                      <a:r>
                        <a:rPr lang="en-US" sz="1800" spc="-15">
                          <a:effectLst/>
                          <a:latin typeface="SimHei" panose="02010609060101010101" pitchFamily="49" charset="-122"/>
                          <a:ea typeface="SimHei" panose="02010609060101010101" pitchFamily="49" charset="-122"/>
                        </a:rPr>
                        <a:t>2.0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0" marR="0" eaLnBrk="0">
                        <a:lnSpc>
                          <a:spcPct val="105000"/>
                        </a:lnSpc>
                        <a:spcBef>
                          <a:spcPts val="0"/>
                        </a:spcBef>
                        <a:spcAft>
                          <a:spcPts val="0"/>
                        </a:spcAft>
                      </a:pPr>
                      <a:r>
                        <a:rPr lang="en-US" sz="1800" b="1" dirty="0">
                          <a:effectLst/>
                          <a:latin typeface="SimHei" panose="02010609060101010101" pitchFamily="49" charset="-122"/>
                          <a:ea typeface="SimHei" panose="02010609060101010101" pitchFamily="49" charset="-122"/>
                        </a:rPr>
                        <a:t> </a:t>
                      </a:r>
                    </a:p>
                    <a:p>
                      <a:pPr marL="168275" marR="0" eaLnBrk="0">
                        <a:lnSpc>
                          <a:spcPct val="92000"/>
                        </a:lnSpc>
                        <a:spcBef>
                          <a:spcPts val="340"/>
                        </a:spcBef>
                        <a:spcAft>
                          <a:spcPts val="0"/>
                        </a:spcAft>
                      </a:pPr>
                      <a:r>
                        <a:rPr lang="en-US" sz="1800" b="1" spc="-5" dirty="0">
                          <a:effectLst/>
                          <a:latin typeface="SimHei" panose="02010609060101010101" pitchFamily="49" charset="-122"/>
                          <a:ea typeface="SimHei" panose="02010609060101010101" pitchFamily="49" charset="-122"/>
                        </a:rPr>
                        <a:t>B</a:t>
                      </a:r>
                      <a:r>
                        <a:rPr lang="zh-CN" sz="1800" b="1" spc="-5" dirty="0">
                          <a:effectLst/>
                          <a:latin typeface="SimHei" panose="02010609060101010101" pitchFamily="49" charset="-122"/>
                          <a:ea typeface="SimHei" panose="02010609060101010101" pitchFamily="49" charset="-122"/>
                        </a:rPr>
                        <a:t>相</a:t>
                      </a:r>
                      <a:endParaRPr lang="en-US" sz="1800" b="1"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74625" marR="0" eaLnBrk="0">
                        <a:lnSpc>
                          <a:spcPct val="92000"/>
                        </a:lnSpc>
                        <a:spcBef>
                          <a:spcPts val="505"/>
                        </a:spcBef>
                        <a:spcAft>
                          <a:spcPts val="0"/>
                        </a:spcAft>
                      </a:pPr>
                      <a:r>
                        <a:rPr lang="zh-CN" sz="1800" spc="5" dirty="0">
                          <a:solidFill>
                            <a:srgbClr val="FF0000"/>
                          </a:solidFill>
                          <a:effectLst/>
                          <a:latin typeface="SimHei" panose="02010609060101010101" pitchFamily="49" charset="-122"/>
                          <a:ea typeface="SimHei" panose="02010609060101010101" pitchFamily="49" charset="-122"/>
                        </a:rPr>
                        <a:t>乙基己基三嗪酮</a:t>
                      </a:r>
                      <a:endParaRPr lang="en-US" sz="1800" dirty="0">
                        <a:solidFill>
                          <a:srgbClr val="FF0000"/>
                        </a:solidFill>
                        <a:effectLst/>
                        <a:latin typeface="SimHei" panose="02010609060101010101" pitchFamily="49" charset="-122"/>
                        <a:ea typeface="SimHei" panose="02010609060101010101" pitchFamily="49" charset="-122"/>
                      </a:endParaRPr>
                    </a:p>
                    <a:p>
                      <a:pPr marL="174625" marR="0" eaLnBrk="0">
                        <a:lnSpc>
                          <a:spcPct val="91000"/>
                        </a:lnSpc>
                        <a:spcBef>
                          <a:spcPts val="830"/>
                        </a:spcBef>
                        <a:spcAft>
                          <a:spcPts val="0"/>
                        </a:spcAft>
                      </a:pPr>
                      <a:r>
                        <a:rPr lang="zh-CN" sz="1800" dirty="0">
                          <a:solidFill>
                            <a:srgbClr val="FF0000"/>
                          </a:solidFill>
                          <a:effectLst/>
                          <a:latin typeface="SimHei" panose="02010609060101010101" pitchFamily="49" charset="-122"/>
                          <a:ea typeface="SimHei" panose="02010609060101010101" pitchFamily="49" charset="-122"/>
                        </a:rPr>
                        <a:t>二乙氨羟苯甲酰基苯甲酸己酯</a:t>
                      </a:r>
                      <a:endParaRPr lang="en-US" sz="1800" dirty="0">
                        <a:solidFill>
                          <a:srgbClr val="FF0000"/>
                        </a:solidFill>
                        <a:effectLst/>
                        <a:latin typeface="SimHei" panose="02010609060101010101" pitchFamily="49" charset="-122"/>
                        <a:ea typeface="SimHei" panose="02010609060101010101" pitchFamily="49" charset="-122"/>
                      </a:endParaRPr>
                    </a:p>
                  </a:txBody>
                  <a:tcPr marL="0" marR="0" marT="0" marB="0"/>
                </a:tc>
                <a:tc>
                  <a:txBody>
                    <a:bodyPr/>
                    <a:lstStyle/>
                    <a:p>
                      <a:pPr marL="346075" marR="0" eaLnBrk="0">
                        <a:lnSpc>
                          <a:spcPts val="2050"/>
                        </a:lnSpc>
                        <a:spcBef>
                          <a:spcPts val="820"/>
                        </a:spcBef>
                        <a:spcAft>
                          <a:spcPts val="0"/>
                        </a:spcAft>
                      </a:pPr>
                      <a:r>
                        <a:rPr lang="en-US" sz="1800" spc="-15">
                          <a:effectLst/>
                          <a:latin typeface="SimHei" panose="02010609060101010101" pitchFamily="49" charset="-122"/>
                          <a:ea typeface="SimHei" panose="02010609060101010101" pitchFamily="49" charset="-122"/>
                        </a:rPr>
                        <a:t>2.5</a:t>
                      </a:r>
                      <a:endParaRPr lang="en-US" sz="1800">
                        <a:effectLst/>
                        <a:latin typeface="SimHei" panose="02010609060101010101" pitchFamily="49" charset="-122"/>
                        <a:ea typeface="SimHei" panose="02010609060101010101" pitchFamily="49" charset="-122"/>
                      </a:endParaRPr>
                    </a:p>
                    <a:p>
                      <a:pPr marL="346075" marR="0" eaLnBrk="0">
                        <a:lnSpc>
                          <a:spcPct val="76000"/>
                        </a:lnSpc>
                        <a:spcBef>
                          <a:spcPts val="0"/>
                        </a:spcBef>
                        <a:spcAft>
                          <a:spcPts val="0"/>
                        </a:spcAft>
                      </a:pPr>
                      <a:r>
                        <a:rPr lang="en-US" sz="1800" spc="-15">
                          <a:effectLst/>
                          <a:latin typeface="SimHei" panose="02010609060101010101" pitchFamily="49" charset="-122"/>
                          <a:ea typeface="SimHei" panose="02010609060101010101" pitchFamily="49" charset="-122"/>
                        </a:rPr>
                        <a:t>5.0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3296414701"/>
                  </a:ext>
                </a:extLst>
              </a:tr>
              <a:tr h="44323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68275" marR="0" eaLnBrk="0">
                        <a:lnSpc>
                          <a:spcPct val="92000"/>
                        </a:lnSpc>
                        <a:spcBef>
                          <a:spcPts val="530"/>
                        </a:spcBef>
                        <a:spcAft>
                          <a:spcPts val="0"/>
                        </a:spcAft>
                      </a:pPr>
                      <a:r>
                        <a:rPr lang="en-US" sz="1800" b="1" spc="-10" dirty="0">
                          <a:effectLst/>
                          <a:latin typeface="SimHei" panose="02010609060101010101" pitchFamily="49" charset="-122"/>
                          <a:ea typeface="SimHei" panose="02010609060101010101" pitchFamily="49" charset="-122"/>
                        </a:rPr>
                        <a:t>C</a:t>
                      </a:r>
                      <a:r>
                        <a:rPr lang="zh-CN" sz="1800" b="1" spc="-10" dirty="0">
                          <a:effectLst/>
                          <a:latin typeface="SimHei" panose="02010609060101010101" pitchFamily="49" charset="-122"/>
                          <a:ea typeface="SimHei" panose="02010609060101010101" pitchFamily="49" charset="-122"/>
                        </a:rPr>
                        <a:t>相</a:t>
                      </a:r>
                      <a:endParaRPr lang="en-US" sz="1800" b="1"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53340" marR="100965" indent="139700" eaLnBrk="0">
                        <a:lnSpc>
                          <a:spcPct val="98000"/>
                        </a:lnSpc>
                        <a:spcBef>
                          <a:spcPts val="515"/>
                        </a:spcBef>
                        <a:spcAft>
                          <a:spcPts val="0"/>
                        </a:spcAft>
                      </a:pPr>
                      <a:r>
                        <a:rPr lang="zh-CN" sz="1800" spc="-5">
                          <a:effectLst/>
                          <a:latin typeface="SimHei" panose="02010609060101010101" pitchFamily="49" charset="-122"/>
                          <a:ea typeface="SimHei" panose="02010609060101010101" pitchFamily="49" charset="-122"/>
                        </a:rPr>
                        <a:t>亚甲基双</a:t>
                      </a:r>
                      <a:r>
                        <a:rPr lang="en-US" sz="1800" spc="-5">
                          <a:effectLst/>
                          <a:latin typeface="SimHei" panose="02010609060101010101" pitchFamily="49" charset="-122"/>
                          <a:ea typeface="SimHei" panose="02010609060101010101" pitchFamily="49" charset="-122"/>
                        </a:rPr>
                        <a:t>-</a:t>
                      </a:r>
                      <a:r>
                        <a:rPr lang="zh-CN" sz="1800" spc="-5">
                          <a:effectLst/>
                          <a:latin typeface="SimHei" panose="02010609060101010101" pitchFamily="49" charset="-122"/>
                          <a:ea typeface="SimHei" panose="02010609060101010101" pitchFamily="49" charset="-122"/>
                        </a:rPr>
                        <a:t>苯并三唑基四甲基丁基</a:t>
                      </a:r>
                      <a:r>
                        <a:rPr lang="zh-CN" sz="1800" spc="20">
                          <a:effectLst/>
                          <a:latin typeface="SimHei" panose="02010609060101010101" pitchFamily="49" charset="-122"/>
                          <a:ea typeface="SimHei" panose="02010609060101010101" pitchFamily="49" charset="-122"/>
                        </a:rPr>
                        <a:t> </a:t>
                      </a:r>
                      <a:r>
                        <a:rPr lang="zh-CN" sz="1800" spc="-5">
                          <a:effectLst/>
                          <a:latin typeface="SimHei" panose="02010609060101010101" pitchFamily="49" charset="-122"/>
                          <a:ea typeface="SimHei" panose="02010609060101010101" pitchFamily="49" charset="-122"/>
                        </a:rPr>
                        <a:t>酚</a:t>
                      </a:r>
                      <a:r>
                        <a:rPr lang="en-US" sz="1800" spc="-5">
                          <a:effectLst/>
                          <a:latin typeface="SimHei" panose="02010609060101010101" pitchFamily="49" charset="-122"/>
                          <a:ea typeface="SimHei" panose="02010609060101010101" pitchFamily="49" charset="-122"/>
                        </a:rPr>
                        <a:t>/</a:t>
                      </a:r>
                      <a:r>
                        <a:rPr lang="zh-CN" sz="1800" spc="-5">
                          <a:effectLst/>
                          <a:latin typeface="SimHei" panose="02010609060101010101" pitchFamily="49" charset="-122"/>
                          <a:ea typeface="SimHei" panose="02010609060101010101" pitchFamily="49" charset="-122"/>
                        </a:rPr>
                        <a:t>水</a:t>
                      </a:r>
                      <a:r>
                        <a:rPr lang="en-US" sz="1800" spc="-5">
                          <a:effectLst/>
                          <a:latin typeface="SimHei" panose="02010609060101010101" pitchFamily="49" charset="-122"/>
                          <a:ea typeface="SimHei" panose="02010609060101010101" pitchFamily="49" charset="-122"/>
                        </a:rPr>
                        <a:t>/</a:t>
                      </a:r>
                      <a:r>
                        <a:rPr lang="zh-CN" sz="1800" spc="-5">
                          <a:effectLst/>
                          <a:latin typeface="SimHei" panose="02010609060101010101" pitchFamily="49" charset="-122"/>
                          <a:ea typeface="SimHei" panose="02010609060101010101" pitchFamily="49" charset="-122"/>
                        </a:rPr>
                        <a:t>癸基葡糖苷</a:t>
                      </a:r>
                      <a:r>
                        <a:rPr lang="en-US" sz="1800" spc="-5">
                          <a:effectLst/>
                          <a:latin typeface="SimHei" panose="02010609060101010101" pitchFamily="49" charset="-122"/>
                          <a:ea typeface="SimHei" panose="02010609060101010101" pitchFamily="49" charset="-122"/>
                        </a:rPr>
                        <a:t>/</a:t>
                      </a:r>
                      <a:r>
                        <a:rPr lang="zh-CN" sz="1800" spc="-5">
                          <a:effectLst/>
                          <a:latin typeface="SimHei" panose="02010609060101010101" pitchFamily="49" charset="-122"/>
                          <a:ea typeface="SimHei" panose="02010609060101010101" pitchFamily="49" charset="-122"/>
                        </a:rPr>
                        <a:t>丙二醇</a:t>
                      </a:r>
                      <a:r>
                        <a:rPr lang="en-US" sz="1800" spc="-5">
                          <a:effectLst/>
                          <a:latin typeface="SimHei" panose="02010609060101010101" pitchFamily="49" charset="-122"/>
                          <a:ea typeface="SimHei" panose="02010609060101010101" pitchFamily="49" charset="-122"/>
                        </a:rPr>
                        <a:t>/</a:t>
                      </a:r>
                      <a:r>
                        <a:rPr lang="zh-CN" sz="1800" spc="-5">
                          <a:effectLst/>
                          <a:latin typeface="SimHei" panose="02010609060101010101" pitchFamily="49" charset="-122"/>
                          <a:ea typeface="SimHei" panose="02010609060101010101" pitchFamily="49" charset="-122"/>
                        </a:rPr>
                        <a:t>汉生胶</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346075" marR="0" eaLnBrk="0">
                        <a:lnSpc>
                          <a:spcPct val="76000"/>
                        </a:lnSpc>
                        <a:spcBef>
                          <a:spcPts val="1535"/>
                        </a:spcBef>
                        <a:spcAft>
                          <a:spcPts val="0"/>
                        </a:spcAft>
                      </a:pPr>
                      <a:r>
                        <a:rPr lang="en-US" sz="1800" spc="-15">
                          <a:effectLst/>
                          <a:latin typeface="SimHei" panose="02010609060101010101" pitchFamily="49" charset="-122"/>
                          <a:ea typeface="SimHei" panose="02010609060101010101" pitchFamily="49" charset="-122"/>
                        </a:rPr>
                        <a:t>6.0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2246527134"/>
                  </a:ext>
                </a:extLst>
              </a:tr>
              <a:tr h="272415">
                <a:tc rowSpan="2">
                  <a:txBody>
                    <a:bodyPr/>
                    <a:lstStyle/>
                    <a:p>
                      <a:pPr marL="0" marR="0" eaLnBrk="0">
                        <a:lnSpc>
                          <a:spcPct val="144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0" marR="0" eaLnBrk="0">
                        <a:lnSpc>
                          <a:spcPct val="145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152400" marR="0" eaLnBrk="0">
                        <a:lnSpc>
                          <a:spcPct val="92000"/>
                        </a:lnSpc>
                        <a:spcBef>
                          <a:spcPts val="345"/>
                        </a:spcBef>
                        <a:spcAft>
                          <a:spcPts val="0"/>
                        </a:spcAft>
                      </a:pPr>
                      <a:r>
                        <a:rPr lang="en-US" sz="1800" spc="-5">
                          <a:effectLst/>
                          <a:latin typeface="SimHei" panose="02010609060101010101" pitchFamily="49" charset="-122"/>
                          <a:ea typeface="SimHei" panose="02010609060101010101" pitchFamily="49" charset="-122"/>
                        </a:rPr>
                        <a:t>B</a:t>
                      </a:r>
                      <a:r>
                        <a:rPr lang="zh-CN" sz="1800" spc="-5">
                          <a:effectLst/>
                          <a:latin typeface="SimHei" panose="02010609060101010101" pitchFamily="49" charset="-122"/>
                          <a:ea typeface="SimHei" panose="02010609060101010101" pitchFamily="49" charset="-122"/>
                        </a:rPr>
                        <a:t>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rowSpan="2">
                  <a:txBody>
                    <a:bodyPr/>
                    <a:lstStyle/>
                    <a:p>
                      <a:pPr marL="212725" marR="0" eaLnBrk="0">
                        <a:lnSpc>
                          <a:spcPct val="91000"/>
                        </a:lnSpc>
                        <a:spcBef>
                          <a:spcPts val="530"/>
                        </a:spcBef>
                        <a:spcAft>
                          <a:spcPts val="0"/>
                        </a:spcAft>
                      </a:pPr>
                      <a:r>
                        <a:rPr lang="zh-CN" sz="1800" spc="10">
                          <a:effectLst/>
                          <a:latin typeface="SimHei" panose="02010609060101010101" pitchFamily="49" charset="-122"/>
                          <a:ea typeface="SimHei" panose="02010609060101010101" pitchFamily="49" charset="-122"/>
                        </a:rPr>
                        <a:t>碳酸二辛酯</a:t>
                      </a:r>
                      <a:endParaRPr lang="en-US" sz="1800">
                        <a:effectLst/>
                        <a:latin typeface="SimHei" panose="02010609060101010101" pitchFamily="49" charset="-122"/>
                        <a:ea typeface="SimHei" panose="02010609060101010101" pitchFamily="49" charset="-122"/>
                      </a:endParaRPr>
                    </a:p>
                    <a:p>
                      <a:pPr marL="212725" marR="0" eaLnBrk="0">
                        <a:lnSpc>
                          <a:spcPts val="2145"/>
                        </a:lnSpc>
                        <a:spcBef>
                          <a:spcPts val="945"/>
                        </a:spcBef>
                        <a:spcAft>
                          <a:spcPts val="0"/>
                        </a:spcAft>
                      </a:pPr>
                      <a:r>
                        <a:rPr lang="zh-CN" sz="1800" spc="5">
                          <a:effectLst/>
                          <a:latin typeface="SimHei" panose="02010609060101010101" pitchFamily="49" charset="-122"/>
                          <a:ea typeface="SimHei" panose="02010609060101010101" pitchFamily="49" charset="-122"/>
                        </a:rPr>
                        <a:t>椰油醇辛酸癸酸酯</a:t>
                      </a:r>
                      <a:endParaRPr lang="en-US" sz="1800">
                        <a:effectLst/>
                        <a:latin typeface="SimHei" panose="02010609060101010101" pitchFamily="49" charset="-122"/>
                        <a:ea typeface="SimHei" panose="02010609060101010101" pitchFamily="49" charset="-122"/>
                      </a:endParaRPr>
                    </a:p>
                    <a:p>
                      <a:pPr marL="212725" marR="0" eaLnBrk="0">
                        <a:lnSpc>
                          <a:spcPct val="91000"/>
                        </a:lnSpc>
                        <a:spcBef>
                          <a:spcPts val="0"/>
                        </a:spcBef>
                        <a:spcAft>
                          <a:spcPts val="0"/>
                        </a:spcAft>
                      </a:pPr>
                      <a:r>
                        <a:rPr lang="zh-CN" sz="1800" spc="5">
                          <a:effectLst/>
                          <a:latin typeface="SimHei" panose="02010609060101010101" pitchFamily="49" charset="-122"/>
                          <a:ea typeface="SimHei" panose="02010609060101010101" pitchFamily="49" charset="-122"/>
                        </a:rPr>
                        <a:t>水杨酸乙基己酯</a:t>
                      </a:r>
                      <a:endParaRPr lang="en-US" sz="1800">
                        <a:effectLst/>
                        <a:latin typeface="SimHei" panose="02010609060101010101" pitchFamily="49" charset="-122"/>
                        <a:ea typeface="SimHei" panose="02010609060101010101" pitchFamily="49" charset="-122"/>
                      </a:endParaRPr>
                    </a:p>
                    <a:p>
                      <a:pPr marL="219075" marR="0" eaLnBrk="0">
                        <a:lnSpc>
                          <a:spcPct val="91000"/>
                        </a:lnSpc>
                        <a:spcBef>
                          <a:spcPts val="895"/>
                        </a:spcBef>
                        <a:spcAft>
                          <a:spcPts val="0"/>
                        </a:spcAft>
                      </a:pPr>
                      <a:r>
                        <a:rPr lang="zh-CN" sz="1800" spc="5">
                          <a:effectLst/>
                          <a:latin typeface="SimHei" panose="02010609060101010101" pitchFamily="49" charset="-122"/>
                          <a:ea typeface="SimHei" panose="02010609060101010101" pitchFamily="49" charset="-122"/>
                        </a:rPr>
                        <a:t>甲氧基肉桂酸乙基己酯</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rowSpan="2">
                  <a:txBody>
                    <a:bodyPr/>
                    <a:lstStyle/>
                    <a:p>
                      <a:pPr marL="346075" marR="0" eaLnBrk="0">
                        <a:lnSpc>
                          <a:spcPts val="2250"/>
                        </a:lnSpc>
                        <a:spcBef>
                          <a:spcPts val="895"/>
                        </a:spcBef>
                        <a:spcAft>
                          <a:spcPts val="0"/>
                        </a:spcAft>
                      </a:pPr>
                      <a:r>
                        <a:rPr lang="en-US" sz="1800" spc="-15">
                          <a:effectLst/>
                          <a:latin typeface="SimHei" panose="02010609060101010101" pitchFamily="49" charset="-122"/>
                          <a:ea typeface="SimHei" panose="02010609060101010101" pitchFamily="49" charset="-122"/>
                        </a:rPr>
                        <a:t>6.0</a:t>
                      </a:r>
                      <a:endParaRPr lang="en-US" sz="1800">
                        <a:effectLst/>
                        <a:latin typeface="SimHei" panose="02010609060101010101" pitchFamily="49" charset="-122"/>
                        <a:ea typeface="SimHei" panose="02010609060101010101" pitchFamily="49" charset="-122"/>
                      </a:endParaRPr>
                    </a:p>
                    <a:p>
                      <a:pPr marL="346075" marR="0" eaLnBrk="0">
                        <a:lnSpc>
                          <a:spcPct val="76000"/>
                        </a:lnSpc>
                        <a:spcBef>
                          <a:spcPts val="0"/>
                        </a:spcBef>
                        <a:spcAft>
                          <a:spcPts val="0"/>
                        </a:spcAft>
                      </a:pPr>
                      <a:r>
                        <a:rPr lang="en-US" sz="1800" spc="-15">
                          <a:effectLst/>
                          <a:latin typeface="SimHei" panose="02010609060101010101" pitchFamily="49" charset="-122"/>
                          <a:ea typeface="SimHei" panose="02010609060101010101" pitchFamily="49" charset="-122"/>
                        </a:rPr>
                        <a:t>7.0</a:t>
                      </a:r>
                      <a:endParaRPr lang="en-US" sz="1800">
                        <a:effectLst/>
                        <a:latin typeface="SimHei" panose="02010609060101010101" pitchFamily="49" charset="-122"/>
                        <a:ea typeface="SimHei" panose="02010609060101010101" pitchFamily="49" charset="-122"/>
                      </a:endParaRPr>
                    </a:p>
                    <a:p>
                      <a:pPr marL="346075" marR="0" eaLnBrk="0">
                        <a:lnSpc>
                          <a:spcPct val="76000"/>
                        </a:lnSpc>
                        <a:spcBef>
                          <a:spcPts val="1105"/>
                        </a:spcBef>
                        <a:spcAft>
                          <a:spcPts val="0"/>
                        </a:spcAft>
                      </a:pPr>
                      <a:r>
                        <a:rPr lang="en-US" sz="1800" spc="-15">
                          <a:effectLst/>
                          <a:latin typeface="SimHei" panose="02010609060101010101" pitchFamily="49" charset="-122"/>
                          <a:ea typeface="SimHei" panose="02010609060101010101" pitchFamily="49" charset="-122"/>
                        </a:rPr>
                        <a:t>5.0</a:t>
                      </a:r>
                      <a:endParaRPr lang="en-US" sz="1800">
                        <a:effectLst/>
                        <a:latin typeface="SimHei" panose="02010609060101010101" pitchFamily="49" charset="-122"/>
                        <a:ea typeface="SimHei" panose="02010609060101010101" pitchFamily="49" charset="-122"/>
                      </a:endParaRPr>
                    </a:p>
                    <a:p>
                      <a:pPr marL="314325" marR="0" eaLnBrk="0">
                        <a:lnSpc>
                          <a:spcPct val="76000"/>
                        </a:lnSpc>
                        <a:spcBef>
                          <a:spcPts val="1000"/>
                        </a:spcBef>
                        <a:spcAft>
                          <a:spcPts val="0"/>
                        </a:spcAft>
                      </a:pPr>
                      <a:r>
                        <a:rPr lang="en-US" sz="1800" spc="-25">
                          <a:effectLst/>
                          <a:latin typeface="SimHei" panose="02010609060101010101" pitchFamily="49" charset="-122"/>
                          <a:ea typeface="SimHei" panose="02010609060101010101" pitchFamily="49" charset="-122"/>
                        </a:rPr>
                        <a:t>10.0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68275" marR="0" eaLnBrk="0">
                        <a:lnSpc>
                          <a:spcPct val="92000"/>
                        </a:lnSpc>
                        <a:spcBef>
                          <a:spcPts val="590"/>
                        </a:spcBef>
                        <a:spcAft>
                          <a:spcPts val="0"/>
                        </a:spcAft>
                      </a:pPr>
                      <a:r>
                        <a:rPr lang="en-US" sz="1800" b="1" spc="-5" dirty="0">
                          <a:effectLst/>
                          <a:latin typeface="SimHei" panose="02010609060101010101" pitchFamily="49" charset="-122"/>
                          <a:ea typeface="SimHei" panose="02010609060101010101" pitchFamily="49" charset="-122"/>
                        </a:rPr>
                        <a:t>D</a:t>
                      </a:r>
                      <a:r>
                        <a:rPr lang="zh-CN" sz="1800" b="1" spc="-5" dirty="0">
                          <a:effectLst/>
                          <a:latin typeface="SimHei" panose="02010609060101010101" pitchFamily="49" charset="-122"/>
                          <a:ea typeface="SimHei" panose="02010609060101010101" pitchFamily="49" charset="-122"/>
                        </a:rPr>
                        <a:t>相</a:t>
                      </a:r>
                      <a:endParaRPr lang="en-US" sz="1800" b="1"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74625" marR="0" eaLnBrk="0">
                        <a:lnSpc>
                          <a:spcPct val="91000"/>
                        </a:lnSpc>
                        <a:spcBef>
                          <a:spcPts val="575"/>
                        </a:spcBef>
                        <a:spcAft>
                          <a:spcPts val="0"/>
                        </a:spcAft>
                      </a:pPr>
                      <a:r>
                        <a:rPr lang="zh-CN" sz="1800" spc="-15">
                          <a:effectLst/>
                          <a:latin typeface="SimHei" panose="02010609060101010101" pitchFamily="49" charset="-122"/>
                          <a:ea typeface="SimHei" panose="02010609060101010101" pitchFamily="49" charset="-122"/>
                        </a:rPr>
                        <a:t>尼龙</a:t>
                      </a:r>
                      <a:r>
                        <a:rPr lang="en-US" sz="1800" spc="-15">
                          <a:effectLst/>
                          <a:latin typeface="SimHei" panose="02010609060101010101" pitchFamily="49" charset="-122"/>
                          <a:ea typeface="SimHei" panose="02010609060101010101" pitchFamily="49" charset="-122"/>
                        </a:rPr>
                        <a:t>6</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346075" marR="0" eaLnBrk="0">
                        <a:lnSpc>
                          <a:spcPct val="76000"/>
                        </a:lnSpc>
                        <a:spcBef>
                          <a:spcPts val="845"/>
                        </a:spcBef>
                        <a:spcAft>
                          <a:spcPts val="0"/>
                        </a:spcAft>
                      </a:pPr>
                      <a:r>
                        <a:rPr lang="en-US" sz="1800" spc="-15">
                          <a:effectLst/>
                          <a:latin typeface="SimHei" panose="02010609060101010101" pitchFamily="49" charset="-122"/>
                          <a:ea typeface="SimHei" panose="02010609060101010101" pitchFamily="49" charset="-122"/>
                        </a:rPr>
                        <a:t>2.0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3839628012"/>
                  </a:ext>
                </a:extLst>
              </a:tr>
              <a:tr h="81343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eaLnBrk="0">
                        <a:lnSpc>
                          <a:spcPct val="199000"/>
                        </a:lnSpc>
                        <a:spcBef>
                          <a:spcPts val="0"/>
                        </a:spcBef>
                        <a:spcAft>
                          <a:spcPts val="0"/>
                        </a:spcAft>
                      </a:pPr>
                      <a:r>
                        <a:rPr lang="en-US" sz="1800" b="1" dirty="0">
                          <a:effectLst/>
                          <a:latin typeface="SimHei" panose="02010609060101010101" pitchFamily="49" charset="-122"/>
                          <a:ea typeface="SimHei" panose="02010609060101010101" pitchFamily="49" charset="-122"/>
                        </a:rPr>
                        <a:t> </a:t>
                      </a:r>
                    </a:p>
                    <a:p>
                      <a:pPr marL="168275" marR="0" eaLnBrk="0">
                        <a:lnSpc>
                          <a:spcPct val="92000"/>
                        </a:lnSpc>
                        <a:spcBef>
                          <a:spcPts val="340"/>
                        </a:spcBef>
                        <a:spcAft>
                          <a:spcPts val="0"/>
                        </a:spcAft>
                      </a:pPr>
                      <a:r>
                        <a:rPr lang="en-US" sz="1800" b="1" spc="-5" dirty="0">
                          <a:effectLst/>
                          <a:latin typeface="SimHei" panose="02010609060101010101" pitchFamily="49" charset="-122"/>
                          <a:ea typeface="SimHei" panose="02010609060101010101" pitchFamily="49" charset="-122"/>
                        </a:rPr>
                        <a:t>E</a:t>
                      </a:r>
                      <a:r>
                        <a:rPr lang="zh-CN" sz="1800" b="1" spc="-5" dirty="0">
                          <a:effectLst/>
                          <a:latin typeface="SimHei" panose="02010609060101010101" pitchFamily="49" charset="-122"/>
                          <a:ea typeface="SimHei" panose="02010609060101010101" pitchFamily="49" charset="-122"/>
                        </a:rPr>
                        <a:t>相</a:t>
                      </a:r>
                      <a:endParaRPr lang="en-US" sz="1800" b="1"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74625" marR="0" eaLnBrk="0">
                        <a:lnSpc>
                          <a:spcPts val="2150"/>
                        </a:lnSpc>
                        <a:spcBef>
                          <a:spcPts val="575"/>
                        </a:spcBef>
                        <a:spcAft>
                          <a:spcPts val="0"/>
                        </a:spcAft>
                      </a:pPr>
                      <a:r>
                        <a:rPr lang="zh-CN" sz="1800" spc="20">
                          <a:effectLst/>
                          <a:latin typeface="SimHei" panose="02010609060101010101" pitchFamily="49" charset="-122"/>
                          <a:ea typeface="SimHei" panose="02010609060101010101" pitchFamily="49" charset="-122"/>
                        </a:rPr>
                        <a:t>防腐剂</a:t>
                      </a:r>
                      <a:endParaRPr lang="en-US" sz="1800">
                        <a:effectLst/>
                        <a:latin typeface="SimHei" panose="02010609060101010101" pitchFamily="49" charset="-122"/>
                        <a:ea typeface="SimHei" panose="02010609060101010101" pitchFamily="49" charset="-122"/>
                      </a:endParaRPr>
                    </a:p>
                    <a:p>
                      <a:pPr marL="174625" marR="0" eaLnBrk="0">
                        <a:lnSpc>
                          <a:spcPct val="90000"/>
                        </a:lnSpc>
                        <a:spcBef>
                          <a:spcPts val="0"/>
                        </a:spcBef>
                        <a:spcAft>
                          <a:spcPts val="0"/>
                        </a:spcAft>
                      </a:pPr>
                      <a:r>
                        <a:rPr lang="zh-CN" sz="1800" spc="25">
                          <a:effectLst/>
                          <a:latin typeface="SimHei" panose="02010609060101010101" pitchFamily="49" charset="-122"/>
                          <a:ea typeface="SimHei" panose="02010609060101010101" pitchFamily="49" charset="-122"/>
                        </a:rPr>
                        <a:t>香精</a:t>
                      </a:r>
                      <a:endParaRPr lang="en-US" sz="1800">
                        <a:effectLst/>
                        <a:latin typeface="SimHei" panose="02010609060101010101" pitchFamily="49" charset="-122"/>
                        <a:ea typeface="SimHei" panose="02010609060101010101" pitchFamily="49" charset="-122"/>
                      </a:endParaRPr>
                    </a:p>
                    <a:p>
                      <a:pPr marL="174625" marR="0" eaLnBrk="0">
                        <a:lnSpc>
                          <a:spcPct val="91000"/>
                        </a:lnSpc>
                        <a:spcBef>
                          <a:spcPts val="755"/>
                        </a:spcBef>
                        <a:spcAft>
                          <a:spcPts val="0"/>
                        </a:spcAft>
                      </a:pPr>
                      <a:r>
                        <a:rPr lang="zh-CN" sz="1800" spc="25">
                          <a:effectLst/>
                          <a:latin typeface="SimHei" panose="02010609060101010101" pitchFamily="49" charset="-122"/>
                          <a:ea typeface="SimHei" panose="02010609060101010101" pitchFamily="49" charset="-122"/>
                        </a:rPr>
                        <a:t>酒精</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314325" marR="0" eaLnBrk="0">
                        <a:lnSpc>
                          <a:spcPts val="2055"/>
                        </a:lnSpc>
                        <a:spcBef>
                          <a:spcPts val="610"/>
                        </a:spcBef>
                        <a:spcAft>
                          <a:spcPts val="0"/>
                        </a:spcAft>
                      </a:pPr>
                      <a:r>
                        <a:rPr lang="zh-CN" sz="1800" spc="-15" dirty="0">
                          <a:effectLst/>
                          <a:latin typeface="SimHei" panose="02010609060101010101" pitchFamily="49" charset="-122"/>
                          <a:ea typeface="SimHei" panose="02010609060101010101" pitchFamily="49" charset="-122"/>
                        </a:rPr>
                        <a:t>适量</a:t>
                      </a:r>
                      <a:endParaRPr lang="en-US" sz="1800" dirty="0">
                        <a:effectLst/>
                        <a:latin typeface="SimHei" panose="02010609060101010101" pitchFamily="49" charset="-122"/>
                        <a:ea typeface="SimHei" panose="02010609060101010101" pitchFamily="49" charset="-122"/>
                      </a:endParaRPr>
                    </a:p>
                    <a:p>
                      <a:pPr marL="314325" marR="0" eaLnBrk="0">
                        <a:lnSpc>
                          <a:spcPct val="93000"/>
                        </a:lnSpc>
                        <a:spcBef>
                          <a:spcPts val="0"/>
                        </a:spcBef>
                        <a:spcAft>
                          <a:spcPts val="0"/>
                        </a:spcAft>
                      </a:pPr>
                      <a:r>
                        <a:rPr lang="zh-CN" sz="1800" spc="-15" dirty="0">
                          <a:effectLst/>
                          <a:latin typeface="SimHei" panose="02010609060101010101" pitchFamily="49" charset="-122"/>
                          <a:ea typeface="SimHei" panose="02010609060101010101" pitchFamily="49" charset="-122"/>
                        </a:rPr>
                        <a:t>适量</a:t>
                      </a:r>
                      <a:endParaRPr lang="en-US" sz="1800" dirty="0">
                        <a:effectLst/>
                        <a:latin typeface="SimHei" panose="02010609060101010101" pitchFamily="49" charset="-122"/>
                        <a:ea typeface="SimHei" panose="02010609060101010101" pitchFamily="49" charset="-122"/>
                      </a:endParaRPr>
                    </a:p>
                    <a:p>
                      <a:pPr marL="314325" marR="0" eaLnBrk="0">
                        <a:lnSpc>
                          <a:spcPct val="76000"/>
                        </a:lnSpc>
                        <a:spcBef>
                          <a:spcPts val="1100"/>
                        </a:spcBef>
                        <a:spcAft>
                          <a:spcPts val="0"/>
                        </a:spcAft>
                      </a:pPr>
                      <a:r>
                        <a:rPr lang="en-US" sz="1800" spc="-25" dirty="0">
                          <a:effectLst/>
                          <a:latin typeface="SimHei" panose="02010609060101010101" pitchFamily="49" charset="-122"/>
                          <a:ea typeface="SimHei" panose="02010609060101010101" pitchFamily="49" charset="-122"/>
                        </a:rPr>
                        <a:t>10.0</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2740952270"/>
                  </a:ext>
                </a:extLst>
              </a:tr>
            </a:tbl>
          </a:graphicData>
        </a:graphic>
      </p:graphicFrame>
    </p:spTree>
    <p:extLst>
      <p:ext uri="{BB962C8B-B14F-4D97-AF65-F5344CB8AC3E}">
        <p14:creationId xmlns:p14="http://schemas.microsoft.com/office/powerpoint/2010/main" val="4879398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防晒化妆品配方示例与工艺</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279057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水感防晒嗜喱</a:t>
            </a:r>
            <a:endParaRPr lang="en-US" altLang="zh-CN" sz="2400" dirty="0">
              <a:latin typeface="+mn-lt"/>
              <a:ea typeface="SimHei" panose="02010609060101010101" pitchFamily="49" charset="-122"/>
            </a:endParaRPr>
          </a:p>
          <a:p>
            <a:pPr>
              <a:lnSpc>
                <a:spcPct val="150000"/>
              </a:lnSpc>
            </a:pPr>
            <a:r>
              <a:rPr lang="zh-CN" altLang="en-US" sz="2400" dirty="0">
                <a:latin typeface="+mn-lt"/>
                <a:ea typeface="SimHei" panose="02010609060101010101" pitchFamily="49" charset="-122"/>
              </a:rPr>
              <a:t>① </a:t>
            </a:r>
            <a:r>
              <a:rPr lang="en-US" altLang="zh-CN" sz="2400" dirty="0">
                <a:latin typeface="+mn-lt"/>
                <a:ea typeface="SimHei" panose="02010609060101010101" pitchFamily="49" charset="-122"/>
              </a:rPr>
              <a:t>A </a:t>
            </a:r>
            <a:r>
              <a:rPr lang="zh-CN" altLang="en-US" sz="2400" dirty="0">
                <a:latin typeface="+mn-lt"/>
                <a:ea typeface="SimHei" panose="02010609060101010101" pitchFamily="49" charset="-122"/>
              </a:rPr>
              <a:t>相和</a:t>
            </a:r>
            <a:r>
              <a:rPr lang="en-US" altLang="zh-CN" sz="2400" dirty="0">
                <a:latin typeface="+mn-lt"/>
                <a:ea typeface="SimHei" panose="02010609060101010101" pitchFamily="49" charset="-122"/>
              </a:rPr>
              <a:t>B </a:t>
            </a:r>
            <a:r>
              <a:rPr lang="zh-CN" altLang="en-US" sz="2400" dirty="0">
                <a:latin typeface="+mn-lt"/>
                <a:ea typeface="SimHei" panose="02010609060101010101" pitchFamily="49" charset="-122"/>
              </a:rPr>
              <a:t>相分别搅拌加热至</a:t>
            </a:r>
            <a:r>
              <a:rPr lang="en-US" altLang="zh-CN" sz="2400" dirty="0">
                <a:latin typeface="+mn-lt"/>
                <a:ea typeface="SimHei" panose="02010609060101010101" pitchFamily="49" charset="-122"/>
              </a:rPr>
              <a:t>80℃;</a:t>
            </a:r>
          </a:p>
          <a:p>
            <a:pPr>
              <a:lnSpc>
                <a:spcPct val="150000"/>
              </a:lnSpc>
            </a:pPr>
            <a:r>
              <a:rPr lang="en-US" altLang="zh-CN" sz="2400" dirty="0">
                <a:latin typeface="+mn-lt"/>
                <a:ea typeface="SimHei" panose="02010609060101010101" pitchFamily="49" charset="-122"/>
              </a:rPr>
              <a:t>② </a:t>
            </a:r>
            <a:r>
              <a:rPr lang="zh-CN" altLang="en-US" sz="2400" dirty="0">
                <a:latin typeface="+mn-lt"/>
                <a:ea typeface="SimHei" panose="02010609060101010101" pitchFamily="49" charset="-122"/>
              </a:rPr>
              <a:t>把 </a:t>
            </a:r>
            <a:r>
              <a:rPr lang="en-US" altLang="zh-CN" sz="2400" dirty="0">
                <a:latin typeface="+mn-lt"/>
                <a:ea typeface="SimHei" panose="02010609060101010101" pitchFamily="49" charset="-122"/>
              </a:rPr>
              <a:t>B </a:t>
            </a:r>
            <a:r>
              <a:rPr lang="zh-CN" altLang="en-US" sz="2400" dirty="0">
                <a:latin typeface="+mn-lt"/>
                <a:ea typeface="SimHei" panose="02010609060101010101" pitchFamily="49" charset="-122"/>
              </a:rPr>
              <a:t>相加入</a:t>
            </a:r>
            <a:r>
              <a:rPr lang="en-US" altLang="zh-CN" sz="2400" dirty="0">
                <a:latin typeface="+mn-lt"/>
                <a:ea typeface="SimHei" panose="02010609060101010101" pitchFamily="49" charset="-122"/>
              </a:rPr>
              <a:t>A </a:t>
            </a:r>
            <a:r>
              <a:rPr lang="zh-CN" altLang="en-US" sz="2400" dirty="0">
                <a:latin typeface="+mn-lt"/>
                <a:ea typeface="SimHei" panose="02010609060101010101" pitchFamily="49" charset="-122"/>
              </a:rPr>
              <a:t>相中，高速均质乳化</a:t>
            </a:r>
            <a:r>
              <a:rPr lang="en-US" altLang="zh-CN" sz="2400" dirty="0">
                <a:latin typeface="+mn-lt"/>
                <a:ea typeface="SimHei" panose="02010609060101010101" pitchFamily="49" charset="-122"/>
              </a:rPr>
              <a:t>8min;</a:t>
            </a:r>
          </a:p>
          <a:p>
            <a:pPr>
              <a:lnSpc>
                <a:spcPct val="150000"/>
              </a:lnSpc>
            </a:pPr>
            <a:r>
              <a:rPr lang="en-US" altLang="zh-CN" sz="2400" dirty="0">
                <a:latin typeface="+mn-lt"/>
                <a:ea typeface="SimHei" panose="02010609060101010101" pitchFamily="49" charset="-122"/>
              </a:rPr>
              <a:t>③ </a:t>
            </a:r>
            <a:r>
              <a:rPr lang="zh-CN" altLang="en-US" sz="2400" dirty="0">
                <a:latin typeface="+mn-lt"/>
                <a:ea typeface="SimHei" panose="02010609060101010101" pitchFamily="49" charset="-122"/>
              </a:rPr>
              <a:t>搅拌降温到</a:t>
            </a:r>
            <a:r>
              <a:rPr lang="en-US" altLang="zh-CN" sz="2400" dirty="0">
                <a:latin typeface="+mn-lt"/>
                <a:ea typeface="SimHei" panose="02010609060101010101" pitchFamily="49" charset="-122"/>
              </a:rPr>
              <a:t>60℃</a:t>
            </a:r>
            <a:r>
              <a:rPr lang="zh-CN" altLang="en-US" sz="2400" dirty="0">
                <a:latin typeface="+mn-lt"/>
                <a:ea typeface="SimHei" panose="02010609060101010101" pitchFamily="49" charset="-122"/>
              </a:rPr>
              <a:t>时，加入</a:t>
            </a:r>
            <a:r>
              <a:rPr lang="en-US" altLang="zh-CN" sz="2400" dirty="0">
                <a:latin typeface="+mn-lt"/>
                <a:ea typeface="SimHei" panose="02010609060101010101" pitchFamily="49" charset="-122"/>
              </a:rPr>
              <a:t>C </a:t>
            </a:r>
            <a:r>
              <a:rPr lang="zh-CN" altLang="en-US" sz="2400" dirty="0">
                <a:latin typeface="+mn-lt"/>
                <a:ea typeface="SimHei" panose="02010609060101010101" pitchFamily="49" charset="-122"/>
              </a:rPr>
              <a:t>相，继续降温到</a:t>
            </a:r>
            <a:r>
              <a:rPr lang="en-US" altLang="zh-CN" sz="2400" dirty="0">
                <a:latin typeface="+mn-lt"/>
                <a:ea typeface="SimHei" panose="02010609060101010101" pitchFamily="49" charset="-122"/>
              </a:rPr>
              <a:t>50℃,</a:t>
            </a:r>
            <a:r>
              <a:rPr lang="zh-CN" altLang="en-US" sz="2400" dirty="0">
                <a:latin typeface="+mn-lt"/>
                <a:ea typeface="SimHei" panose="02010609060101010101" pitchFamily="49" charset="-122"/>
              </a:rPr>
              <a:t>加入</a:t>
            </a:r>
            <a:r>
              <a:rPr lang="en-US" altLang="zh-CN" sz="2400" dirty="0">
                <a:latin typeface="+mn-lt"/>
                <a:ea typeface="SimHei" panose="02010609060101010101" pitchFamily="49" charset="-122"/>
              </a:rPr>
              <a:t>D </a:t>
            </a:r>
            <a:r>
              <a:rPr lang="zh-CN" altLang="en-US" sz="2400" dirty="0">
                <a:latin typeface="+mn-lt"/>
                <a:ea typeface="SimHei" panose="02010609060101010101" pitchFamily="49" charset="-122"/>
              </a:rPr>
              <a:t>相</a:t>
            </a:r>
          </a:p>
          <a:p>
            <a:pPr>
              <a:lnSpc>
                <a:spcPct val="150000"/>
              </a:lnSpc>
            </a:pPr>
            <a:r>
              <a:rPr lang="zh-CN" altLang="en-US" sz="2400" dirty="0">
                <a:latin typeface="+mn-lt"/>
                <a:ea typeface="SimHei" panose="02010609060101010101" pitchFamily="49" charset="-122"/>
              </a:rPr>
              <a:t>④ 继续搅拌降温至</a:t>
            </a:r>
            <a:r>
              <a:rPr lang="en-US" altLang="zh-CN" sz="2400" dirty="0">
                <a:latin typeface="+mn-lt"/>
                <a:ea typeface="SimHei" panose="02010609060101010101" pitchFamily="49" charset="-122"/>
              </a:rPr>
              <a:t>35℃</a:t>
            </a:r>
            <a:r>
              <a:rPr lang="zh-CN" altLang="en-US" sz="2400" dirty="0">
                <a:latin typeface="+mn-lt"/>
                <a:ea typeface="SimHei" panose="02010609060101010101" pitchFamily="49" charset="-122"/>
              </a:rPr>
              <a:t>加入</a:t>
            </a:r>
            <a:r>
              <a:rPr lang="en-US" altLang="zh-CN" sz="2400" dirty="0">
                <a:latin typeface="+mn-lt"/>
                <a:ea typeface="SimHei" panose="02010609060101010101" pitchFamily="49" charset="-122"/>
              </a:rPr>
              <a:t>E </a:t>
            </a:r>
            <a:r>
              <a:rPr lang="zh-CN" altLang="en-US" sz="2400" dirty="0">
                <a:latin typeface="+mn-lt"/>
                <a:ea typeface="SimHei" panose="02010609060101010101" pitchFamily="49" charset="-122"/>
              </a:rPr>
              <a:t>相，搅拌均匀后出料。</a:t>
            </a:r>
          </a:p>
        </p:txBody>
      </p:sp>
    </p:spTree>
    <p:extLst>
      <p:ext uri="{BB962C8B-B14F-4D97-AF65-F5344CB8AC3E}">
        <p14:creationId xmlns:p14="http://schemas.microsoft.com/office/powerpoint/2010/main" val="12854704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染发</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00983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古埃及人利用指甲花的热水提取物使头发染成橙红的色调；罗马人 用乙酸铅掩盖灰发，利用浸酸、酒或醋的铅梳子梳头。乙酸铅染发剂是沿用时间较长 的染发剂，能产生棕色至棕黑色的色调。</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en-US" altLang="zh-CN" sz="2400" dirty="0">
                <a:latin typeface="+mn-lt"/>
                <a:ea typeface="SimHei" panose="02010609060101010101" pitchFamily="49" charset="-122"/>
              </a:rPr>
              <a:t>18 </a:t>
            </a:r>
            <a:r>
              <a:rPr lang="zh-CN" altLang="en-US" sz="2400" dirty="0">
                <a:latin typeface="+mn-lt"/>
                <a:ea typeface="SimHei" panose="02010609060101010101" pitchFamily="49" charset="-122"/>
              </a:rPr>
              <a:t>世纪中期，有机化学的发展提供了可在 短时间染色和较安全、更可靠的染料。 一直到现在，永久性氧化染料依然沿用当初合成的染发剂。</a:t>
            </a: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23337328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染发剂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00656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市售染发剂主要包括同时利用</a:t>
            </a:r>
            <a:r>
              <a:rPr lang="zh-CN" altLang="en-US" sz="2400" dirty="0">
                <a:solidFill>
                  <a:srgbClr val="0000FF"/>
                </a:solidFill>
                <a:latin typeface="+mn-lt"/>
                <a:ea typeface="SimHei" panose="02010609060101010101" pitchFamily="49" charset="-122"/>
              </a:rPr>
              <a:t>漂白、染色作用</a:t>
            </a:r>
            <a:r>
              <a:rPr lang="zh-CN" altLang="en-US" sz="2400" dirty="0">
                <a:latin typeface="+mn-lt"/>
                <a:ea typeface="SimHei" panose="02010609060101010101" pitchFamily="49" charset="-122"/>
              </a:rPr>
              <a:t>的氧化性永久性染发剂，即</a:t>
            </a:r>
            <a:r>
              <a:rPr lang="zh-CN" altLang="en-US" sz="2400" dirty="0">
                <a:solidFill>
                  <a:srgbClr val="0000FF"/>
                </a:solidFill>
                <a:latin typeface="+mn-lt"/>
                <a:ea typeface="SimHei" panose="02010609060101010101" pitchFamily="49" charset="-122"/>
              </a:rPr>
              <a:t>利用染料使头发着色的直接染发剂</a:t>
            </a:r>
            <a:r>
              <a:rPr lang="zh-CN" altLang="en-US" sz="2400" dirty="0">
                <a:latin typeface="+mn-lt"/>
                <a:ea typeface="SimHei" panose="02010609060101010101" pitchFamily="49" charset="-122"/>
              </a:rPr>
              <a:t>和</a:t>
            </a:r>
            <a:r>
              <a:rPr lang="zh-CN" altLang="en-US" sz="2400" dirty="0">
                <a:solidFill>
                  <a:srgbClr val="0000FF"/>
                </a:solidFill>
                <a:latin typeface="+mn-lt"/>
                <a:ea typeface="SimHei" panose="02010609060101010101" pitchFamily="49" charset="-122"/>
              </a:rPr>
              <a:t>除去头发天然色泽的漂白剂</a:t>
            </a:r>
            <a:r>
              <a:rPr lang="zh-CN" altLang="en-US" sz="2400" dirty="0">
                <a:latin typeface="+mn-lt"/>
                <a:ea typeface="SimHei" panose="02010609060101010101" pitchFamily="49" charset="-122"/>
              </a:rPr>
              <a:t>。目前的染发剂化妆 品市场中，以永久性染发剂为主，约占</a:t>
            </a:r>
            <a:r>
              <a:rPr lang="en-US" altLang="zh-CN" sz="2400" dirty="0">
                <a:latin typeface="+mn-lt"/>
                <a:ea typeface="SimHei" panose="02010609060101010101" pitchFamily="49" charset="-122"/>
              </a:rPr>
              <a:t>80%</a:t>
            </a:r>
            <a:r>
              <a:rPr lang="zh-CN" altLang="en-US" sz="2400" dirty="0">
                <a:latin typeface="+mn-lt"/>
                <a:ea typeface="SimHei" panose="02010609060101010101" pitchFamily="49" charset="-122"/>
              </a:rPr>
              <a:t>份额。</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随着对染发的化学过程以及对</a:t>
            </a:r>
            <a:r>
              <a:rPr lang="zh-CN" altLang="en-US" sz="2400" dirty="0">
                <a:solidFill>
                  <a:srgbClr val="0000FF"/>
                </a:solidFill>
                <a:latin typeface="+mn-lt"/>
                <a:ea typeface="SimHei" panose="02010609060101010101" pitchFamily="49" charset="-122"/>
              </a:rPr>
              <a:t>染发剂的染料、染料中间体和偶合剂等毒理学性质</a:t>
            </a:r>
            <a:r>
              <a:rPr lang="zh-CN" altLang="en-US" sz="2400" dirty="0">
                <a:latin typeface="+mn-lt"/>
                <a:ea typeface="SimHei" panose="02010609060101010101" pitchFamily="49" charset="-122"/>
              </a:rPr>
              <a:t>研究的不断深入以及消费者对染发剂安全性的日益关注， 一些国家化妆品法规已将染发剂允许使用的原料列成清单。</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23859677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染发机理</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00656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当染发剂与头发最外层</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即毛表皮</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接触 时，开始起作用。在染发剂和头发的液</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固界面上可以观察到润湿作用和吸附作用的界面现象。染发剂利用渗透作用和扩散作用可能通过细胞膜复合体，并通过表皮进入皮质，也可能发生聚合作用。</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染发剂一般有两剂，在染发过程中，将 </a:t>
            </a:r>
            <a:r>
              <a:rPr lang="en-US" altLang="zh-CN" sz="2400" dirty="0">
                <a:latin typeface="Times New Roman" panose="02020603050405020304" pitchFamily="18" charset="0"/>
                <a:ea typeface="SimHei" panose="02010609060101010101" pitchFamily="49" charset="-122"/>
                <a:cs typeface="Times New Roman" panose="02020603050405020304" pitchFamily="18" charset="0"/>
              </a:rPr>
              <a:t>I </a:t>
            </a:r>
            <a:r>
              <a:rPr lang="zh-CN" altLang="en-US" sz="2400" dirty="0">
                <a:latin typeface="+mn-lt"/>
                <a:ea typeface="SimHei" panose="02010609060101010101" pitchFamily="49" charset="-122"/>
              </a:rPr>
              <a:t>剂与</a:t>
            </a:r>
            <a:r>
              <a:rPr lang="en-US" altLang="zh-CN" sz="2400" dirty="0">
                <a:latin typeface="+mn-lt"/>
                <a:ea typeface="SimHei" panose="02010609060101010101" pitchFamily="49" charset="-122"/>
              </a:rPr>
              <a:t>Ⅱ</a:t>
            </a:r>
            <a:r>
              <a:rPr lang="zh-CN" altLang="en-US" sz="2400" dirty="0">
                <a:latin typeface="+mn-lt"/>
                <a:ea typeface="SimHei" panose="02010609060101010101" pitchFamily="49" charset="-122"/>
              </a:rPr>
              <a:t>剂混合，</a:t>
            </a:r>
            <a:r>
              <a:rPr lang="en-US" altLang="zh-CN" sz="2400" dirty="0">
                <a:latin typeface="+mn-lt"/>
                <a:ea typeface="SimHei" panose="02010609060101010101" pitchFamily="49" charset="-122"/>
              </a:rPr>
              <a:t>Ⅱ</a:t>
            </a:r>
            <a:r>
              <a:rPr lang="zh-CN" altLang="en-US" sz="2400" dirty="0">
                <a:latin typeface="+mn-lt"/>
                <a:ea typeface="SimHei" panose="02010609060101010101" pitchFamily="49" charset="-122"/>
              </a:rPr>
              <a:t>剂中的过氧化氢使 </a:t>
            </a:r>
            <a:r>
              <a:rPr lang="en-US" altLang="zh-CN" sz="2400" dirty="0">
                <a:latin typeface="Times New Roman" panose="02020603050405020304" pitchFamily="18" charset="0"/>
                <a:ea typeface="SimHei" panose="02010609060101010101" pitchFamily="49" charset="-122"/>
                <a:cs typeface="Times New Roman" panose="02020603050405020304" pitchFamily="18" charset="0"/>
              </a:rPr>
              <a:t>I </a:t>
            </a:r>
            <a:r>
              <a:rPr lang="zh-CN" altLang="en-US" sz="2400" dirty="0">
                <a:latin typeface="+mn-lt"/>
                <a:ea typeface="SimHei" panose="02010609060101010101" pitchFamily="49" charset="-122"/>
              </a:rPr>
              <a:t>剂的中间体产生活性，发挥染色功能，同时过氧化氢对头发所含的黑色素进行氧化分解褪色，并使中间体渗透毛髓形成大分子色素“卡”在头发内部显色。</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30380833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染发机理</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389856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毛发所含黑色素可分为两类： </a:t>
            </a:r>
            <a:endParaRPr lang="en-US" altLang="zh-CN" sz="2400" dirty="0">
              <a:latin typeface="+mn-lt"/>
              <a:ea typeface="SimHei" panose="02010609060101010101" pitchFamily="49" charset="-122"/>
            </a:endParaRPr>
          </a:p>
          <a:p>
            <a:pPr>
              <a:lnSpc>
                <a:spcPct val="150000"/>
              </a:lnSpc>
            </a:pPr>
            <a:r>
              <a:rPr lang="en-US" altLang="zh-CN" sz="2400" dirty="0">
                <a:latin typeface="+mn-lt"/>
                <a:ea typeface="SimHei" panose="02010609060101010101" pitchFamily="49" charset="-122"/>
              </a:rPr>
              <a:t>	</a:t>
            </a:r>
            <a:r>
              <a:rPr lang="zh-CN" altLang="en-US" sz="2400" dirty="0">
                <a:latin typeface="KaiTi" panose="02010609060101010101" pitchFamily="49" charset="-122"/>
                <a:ea typeface="KaiTi" panose="02010609060101010101" pitchFamily="49" charset="-122"/>
              </a:rPr>
              <a:t>一是真黑色素，不含硫原子，使头发呈黑色或棕色，这是最普通的一种；</a:t>
            </a:r>
            <a:endParaRPr lang="en-US" altLang="zh-CN" sz="2400" dirty="0">
              <a:latin typeface="KaiTi" panose="02010609060101010101" pitchFamily="49" charset="-122"/>
              <a:ea typeface="KaiT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二是脱黑色素，含硫原子，使头发呈黄色</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金黄色、橘黄色、红色色调。</a:t>
            </a:r>
            <a:endParaRPr lang="en-US" altLang="zh-CN" sz="2400" dirty="0">
              <a:latin typeface="KaiTi" panose="02010609060101010101" pitchFamily="49" charset="-122"/>
              <a:ea typeface="KaiT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如果头发中没有黑色素则呈白色或灰色。</a:t>
            </a:r>
            <a:endParaRPr lang="en-US" altLang="zh-CN" sz="2400" dirty="0">
              <a:latin typeface="KaiTi" panose="02010609060101010101" pitchFamily="49" charset="-122"/>
              <a:ea typeface="KaiT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针对毛发不同部位其染色机理也有不同。</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34782534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毛表皮表面染色</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3344570"/>
          </a:xfrm>
          <a:prstGeom prst="rect">
            <a:avLst/>
          </a:prstGeom>
          <a:noFill/>
        </p:spPr>
        <p:txBody>
          <a:bodyPr wrap="square" rtlCol="0">
            <a:spAutoFit/>
          </a:bodyPr>
          <a:lstStyle/>
          <a:p>
            <a:pPr marL="342900" indent="-342900">
              <a:lnSpc>
                <a:spcPct val="150000"/>
              </a:lnSpc>
              <a:buFont typeface="Arial" panose="020B0604020202020204" pitchFamily="34" charset="0"/>
              <a:buChar char="•"/>
            </a:pPr>
            <a:endParaRPr lang="zh-CN" altLang="en-US"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颜料或染料定位在毛表皮的表面。</a:t>
            </a:r>
            <a:endParaRPr lang="en-US" altLang="zh-CN" sz="2400" dirty="0">
              <a:latin typeface="+mn-lt"/>
              <a:ea typeface="SimHei" panose="02010609060101010101" pitchFamily="49" charset="-122"/>
            </a:endParaRPr>
          </a:p>
          <a:p>
            <a:pPr>
              <a:lnSpc>
                <a:spcPct val="150000"/>
              </a:lnSpc>
            </a:pPr>
            <a:r>
              <a:rPr lang="en-US" altLang="zh-CN" sz="2400" dirty="0">
                <a:latin typeface="+mn-lt"/>
                <a:ea typeface="SimHei" panose="02010609060101010101" pitchFamily="49" charset="-122"/>
              </a:rPr>
              <a:t>	</a:t>
            </a:r>
            <a:r>
              <a:rPr lang="zh-CN" altLang="en-US" sz="2400" dirty="0">
                <a:latin typeface="KaiTi" panose="02010609060101010101" pitchFamily="49" charset="-122"/>
                <a:ea typeface="KaiTi" panose="02010609060101010101" pitchFamily="49" charset="-122"/>
              </a:rPr>
              <a:t>可利用一些不同的方法完成该功能，包括利用油和油脂的黏着性</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如着色棒</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、水溶性聚合物黏着性</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如着色凝胶</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和聚合物树脂胶黏作用</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如着色喷雾和着色摩丝</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a:t>
            </a:r>
            <a:r>
              <a:rPr lang="zh-CN" altLang="en-US" sz="2400" dirty="0">
                <a:solidFill>
                  <a:srgbClr val="0000FF"/>
                </a:solidFill>
                <a:latin typeface="KaiTi" panose="02010609060101010101" pitchFamily="49" charset="-122"/>
                <a:ea typeface="KaiTi" panose="02010609060101010101" pitchFamily="49" charset="-122"/>
              </a:rPr>
              <a:t>暂时性染发剂</a:t>
            </a:r>
            <a:r>
              <a:rPr lang="zh-CN" altLang="en-US" sz="2400" dirty="0">
                <a:latin typeface="KaiTi" panose="02010609060101010101" pitchFamily="49" charset="-122"/>
                <a:ea typeface="KaiTi" panose="02010609060101010101" pitchFamily="49" charset="-122"/>
              </a:rPr>
              <a:t>在头发上着色就是以这些机理为基础的。</a:t>
            </a:r>
          </a:p>
        </p:txBody>
      </p:sp>
    </p:spTree>
    <p:extLst>
      <p:ext uri="{BB962C8B-B14F-4D97-AF65-F5344CB8AC3E}">
        <p14:creationId xmlns:p14="http://schemas.microsoft.com/office/powerpoint/2010/main" val="39536581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部分表皮和皮质内染色</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223657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酸性染料渗透至部分表皮和皮质内，通过离子键结合，头发吸收着色剂。利用如 苄醇等溶剂的载体效应可使着色剂的渗透变得容易。</a:t>
            </a:r>
            <a:r>
              <a:rPr lang="zh-CN" altLang="en-US" sz="2400" dirty="0">
                <a:solidFill>
                  <a:srgbClr val="0000FF"/>
                </a:solidFill>
                <a:latin typeface="+mn-lt"/>
                <a:ea typeface="SimHei" panose="02010609060101010101" pitchFamily="49" charset="-122"/>
              </a:rPr>
              <a:t>染发可持续约</a:t>
            </a:r>
            <a:r>
              <a:rPr lang="en-US" altLang="zh-CN" sz="2400" dirty="0">
                <a:solidFill>
                  <a:srgbClr val="0000FF"/>
                </a:solidFill>
                <a:latin typeface="+mn-lt"/>
                <a:ea typeface="SimHei" panose="02010609060101010101" pitchFamily="49" charset="-122"/>
              </a:rPr>
              <a:t>1</a:t>
            </a:r>
            <a:r>
              <a:rPr lang="zh-CN" altLang="en-US" sz="2400" dirty="0">
                <a:solidFill>
                  <a:srgbClr val="0000FF"/>
                </a:solidFill>
                <a:latin typeface="+mn-lt"/>
                <a:ea typeface="SimHei" panose="02010609060101010101" pitchFamily="49" charset="-122"/>
              </a:rPr>
              <a:t>个月的半暂时性</a:t>
            </a:r>
            <a:r>
              <a:rPr lang="zh-CN" altLang="en-US" sz="2400" dirty="0">
                <a:latin typeface="+mn-lt"/>
                <a:ea typeface="SimHei" panose="02010609060101010101" pitchFamily="49" charset="-122"/>
              </a:rPr>
              <a:t>染发剂染发是以这种机理为基础的。</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36405260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皮质内染色</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00656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单体的氧化染料</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胺类和酚类</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渗透进入头发，同时在氧化剂</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通常为</a:t>
            </a:r>
            <a:r>
              <a:rPr lang="zh-CN" altLang="en-US" sz="2400" dirty="0">
                <a:solidFill>
                  <a:srgbClr val="0000FF"/>
                </a:solidFill>
                <a:latin typeface="+mn-lt"/>
                <a:ea typeface="SimHei" panose="02010609060101010101" pitchFamily="49" charset="-122"/>
              </a:rPr>
              <a:t>过氧化氢</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的 作用下发生氧化聚合，形成聚合物着色剂沉着在皮质内。由于着色剂的聚合物特性，在皮质形成的聚合物着色剂被永久固定在头发内。</a:t>
            </a:r>
            <a:r>
              <a:rPr lang="zh-CN" altLang="en-US" sz="2400" dirty="0">
                <a:solidFill>
                  <a:srgbClr val="0000FF"/>
                </a:solidFill>
                <a:latin typeface="+mn-lt"/>
                <a:ea typeface="SimHei" panose="02010609060101010101" pitchFamily="49" charset="-122"/>
              </a:rPr>
              <a:t>永久性</a:t>
            </a:r>
            <a:r>
              <a:rPr lang="zh-CN" altLang="en-US" sz="2400" dirty="0">
                <a:latin typeface="+mn-lt"/>
                <a:ea typeface="SimHei" panose="02010609060101010101" pitchFamily="49" charset="-122"/>
              </a:rPr>
              <a:t>染发剂染发是以这种机理为基础的。</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如果将毛发染为白色，则是对毛发的脱色过程，其脱色机理：</a:t>
            </a:r>
            <a:r>
              <a:rPr lang="zh-CN" altLang="en-US" sz="2400" dirty="0">
                <a:solidFill>
                  <a:srgbClr val="0000FF"/>
                </a:solidFill>
                <a:latin typeface="+mn-lt"/>
                <a:ea typeface="SimHei" panose="02010609060101010101" pitchFamily="49" charset="-122"/>
              </a:rPr>
              <a:t>过氧化氢与氢氧化铵混合活化，将毛发内部的黑色素氧化分解，黑色素减少使头发呈白色或灰色</a:t>
            </a:r>
            <a:r>
              <a:rPr lang="zh-CN" altLang="en-US" sz="2400" dirty="0">
                <a:latin typeface="+mn-lt"/>
                <a:ea typeface="SimHei" panose="02010609060101010101" pitchFamily="49" charset="-122"/>
              </a:rPr>
              <a:t>。脱色是染发过程中使毛发的蛋白质损伤的重要原因。</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6739843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染发剂原料</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168257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根据染发后头发颜色可能经受洗发的次数</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即耐久性</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目前市场上的染发剂可分为三类：暂时性染发剂、半永久染发剂和永久性染发剂。</a:t>
            </a:r>
            <a:endParaRPr lang="en-US" altLang="zh-CN" sz="2400" dirty="0">
              <a:latin typeface="+mn-lt"/>
              <a:ea typeface="SimHei" panose="02010609060101010101" pitchFamily="49" charset="-122"/>
            </a:endParaRPr>
          </a:p>
        </p:txBody>
      </p:sp>
      <p:graphicFrame>
        <p:nvGraphicFramePr>
          <p:cNvPr id="5" name="表格 4">
            <a:extLst>
              <a:ext uri="{FF2B5EF4-FFF2-40B4-BE49-F238E27FC236}">
                <a16:creationId xmlns:a16="http://schemas.microsoft.com/office/drawing/2014/main" id="{EF7C47EA-C157-95F0-9083-9B0BA8DBD454}"/>
              </a:ext>
            </a:extLst>
          </p:cNvPr>
          <p:cNvGraphicFramePr>
            <a:graphicFrameLocks noGrp="1"/>
          </p:cNvGraphicFramePr>
          <p:nvPr>
            <p:extLst>
              <p:ext uri="{D42A27DB-BD31-4B8C-83A1-F6EECF244321}">
                <p14:modId xmlns:p14="http://schemas.microsoft.com/office/powerpoint/2010/main" val="288129852"/>
              </p:ext>
            </p:extLst>
          </p:nvPr>
        </p:nvGraphicFramePr>
        <p:xfrm>
          <a:off x="182879" y="2673087"/>
          <a:ext cx="8778239" cy="4006088"/>
        </p:xfrm>
        <a:graphic>
          <a:graphicData uri="http://schemas.openxmlformats.org/drawingml/2006/table">
            <a:tbl>
              <a:tblPr firstRow="1" firstCol="1" bandRow="1">
                <a:tableStyleId>{72833802-FEF1-4C79-8D5D-14CF1EAF98D9}</a:tableStyleId>
              </a:tblPr>
              <a:tblGrid>
                <a:gridCol w="1268663">
                  <a:extLst>
                    <a:ext uri="{9D8B030D-6E8A-4147-A177-3AD203B41FA5}">
                      <a16:colId xmlns:a16="http://schemas.microsoft.com/office/drawing/2014/main" val="2428941261"/>
                    </a:ext>
                  </a:extLst>
                </a:gridCol>
                <a:gridCol w="2503192">
                  <a:extLst>
                    <a:ext uri="{9D8B030D-6E8A-4147-A177-3AD203B41FA5}">
                      <a16:colId xmlns:a16="http://schemas.microsoft.com/office/drawing/2014/main" val="2949597616"/>
                    </a:ext>
                  </a:extLst>
                </a:gridCol>
                <a:gridCol w="2503192">
                  <a:extLst>
                    <a:ext uri="{9D8B030D-6E8A-4147-A177-3AD203B41FA5}">
                      <a16:colId xmlns:a16="http://schemas.microsoft.com/office/drawing/2014/main" val="999667944"/>
                    </a:ext>
                  </a:extLst>
                </a:gridCol>
                <a:gridCol w="2503192">
                  <a:extLst>
                    <a:ext uri="{9D8B030D-6E8A-4147-A177-3AD203B41FA5}">
                      <a16:colId xmlns:a16="http://schemas.microsoft.com/office/drawing/2014/main" val="3853801537"/>
                    </a:ext>
                  </a:extLst>
                </a:gridCol>
              </a:tblGrid>
              <a:tr h="256540">
                <a:tc gridSpan="3">
                  <a:txBody>
                    <a:bodyPr/>
                    <a:lstStyle/>
                    <a:p>
                      <a:pPr marL="1694815" marR="0" eaLnBrk="0">
                        <a:lnSpc>
                          <a:spcPct val="91000"/>
                        </a:lnSpc>
                        <a:spcBef>
                          <a:spcPts val="470"/>
                        </a:spcBef>
                        <a:spcAft>
                          <a:spcPts val="0"/>
                        </a:spcAft>
                      </a:pPr>
                      <a:r>
                        <a:rPr lang="zh-CN" sz="1600" spc="-30">
                          <a:effectLst/>
                          <a:latin typeface="SimHei" panose="02010609060101010101" pitchFamily="49" charset="-122"/>
                          <a:ea typeface="SimHei" panose="02010609060101010101" pitchFamily="49" charset="-122"/>
                        </a:rPr>
                        <a:t>分</a:t>
                      </a:r>
                      <a:r>
                        <a:rPr lang="en-US" sz="1600" spc="45">
                          <a:effectLst/>
                          <a:latin typeface="SimHei" panose="02010609060101010101" pitchFamily="49" charset="-122"/>
                          <a:ea typeface="SimHei" panose="02010609060101010101" pitchFamily="49" charset="-122"/>
                        </a:rPr>
                        <a:t>   </a:t>
                      </a:r>
                      <a:r>
                        <a:rPr lang="zh-CN" sz="1600" spc="-30">
                          <a:effectLst/>
                          <a:latin typeface="SimHei" panose="02010609060101010101" pitchFamily="49" charset="-122"/>
                          <a:ea typeface="SimHei" panose="02010609060101010101" pitchFamily="49" charset="-122"/>
                        </a:rPr>
                        <a:t>类</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hMerge="1">
                  <a:txBody>
                    <a:bodyPr/>
                    <a:lstStyle/>
                    <a:p>
                      <a:endParaRPr lang="en-US"/>
                    </a:p>
                  </a:txBody>
                  <a:tcPr/>
                </a:tc>
                <a:tc hMerge="1">
                  <a:txBody>
                    <a:bodyPr/>
                    <a:lstStyle/>
                    <a:p>
                      <a:endParaRPr lang="en-US"/>
                    </a:p>
                  </a:txBody>
                  <a:tcPr/>
                </a:tc>
                <a:tc>
                  <a:txBody>
                    <a:bodyPr/>
                    <a:lstStyle/>
                    <a:p>
                      <a:pPr marL="1120775" marR="0" eaLnBrk="0">
                        <a:lnSpc>
                          <a:spcPct val="91000"/>
                        </a:lnSpc>
                        <a:spcBef>
                          <a:spcPts val="470"/>
                        </a:spcBef>
                        <a:spcAft>
                          <a:spcPts val="0"/>
                        </a:spcAft>
                      </a:pPr>
                      <a:r>
                        <a:rPr lang="zh-CN" sz="1600" spc="-10">
                          <a:effectLst/>
                          <a:latin typeface="SimHei" panose="02010609060101010101" pitchFamily="49" charset="-122"/>
                          <a:ea typeface="SimHei" panose="02010609060101010101" pitchFamily="49" charset="-122"/>
                        </a:rPr>
                        <a:t>主要成分</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4247541275"/>
                  </a:ext>
                </a:extLst>
              </a:tr>
              <a:tr h="684530">
                <a:tc rowSpan="3">
                  <a:txBody>
                    <a:bodyPr/>
                    <a:lstStyle/>
                    <a:p>
                      <a:pPr marL="0" marR="0" eaLnBrk="0">
                        <a:spcBef>
                          <a:spcPts val="0"/>
                        </a:spcBef>
                        <a:spcAft>
                          <a:spcPts val="0"/>
                        </a:spcAft>
                      </a:pPr>
                      <a:r>
                        <a:rPr lang="en-US" sz="1600" dirty="0">
                          <a:effectLst/>
                          <a:latin typeface="SimHei" panose="02010609060101010101" pitchFamily="49" charset="-122"/>
                          <a:ea typeface="SimHei" panose="02010609060101010101" pitchFamily="49" charset="-122"/>
                        </a:rPr>
                        <a:t> </a:t>
                      </a:r>
                    </a:p>
                    <a:p>
                      <a:pPr marL="0" marR="0" eaLnBrk="0">
                        <a:spcBef>
                          <a:spcPts val="0"/>
                        </a:spcBef>
                        <a:spcAft>
                          <a:spcPts val="0"/>
                        </a:spcAft>
                      </a:pPr>
                      <a:r>
                        <a:rPr lang="en-US" sz="1600" dirty="0">
                          <a:effectLst/>
                          <a:latin typeface="SimHei" panose="02010609060101010101" pitchFamily="49" charset="-122"/>
                          <a:ea typeface="SimHei" panose="02010609060101010101" pitchFamily="49" charset="-122"/>
                        </a:rPr>
                        <a:t> </a:t>
                      </a:r>
                    </a:p>
                    <a:p>
                      <a:pPr marL="0" marR="0" eaLnBrk="0">
                        <a:spcBef>
                          <a:spcPts val="0"/>
                        </a:spcBef>
                        <a:spcAft>
                          <a:spcPts val="0"/>
                        </a:spcAft>
                      </a:pPr>
                      <a:r>
                        <a:rPr lang="en-US" sz="1600" dirty="0">
                          <a:effectLst/>
                          <a:latin typeface="SimHei" panose="02010609060101010101" pitchFamily="49" charset="-122"/>
                          <a:ea typeface="SimHei" panose="02010609060101010101" pitchFamily="49" charset="-122"/>
                        </a:rPr>
                        <a:t> </a:t>
                      </a:r>
                    </a:p>
                    <a:p>
                      <a:pPr marL="0" marR="0" eaLnBrk="0">
                        <a:lnSpc>
                          <a:spcPct val="100000"/>
                        </a:lnSpc>
                        <a:spcBef>
                          <a:spcPts val="0"/>
                        </a:spcBef>
                        <a:spcAft>
                          <a:spcPts val="0"/>
                        </a:spcAft>
                      </a:pPr>
                      <a:r>
                        <a:rPr lang="en-US" sz="1600" dirty="0">
                          <a:effectLst/>
                          <a:latin typeface="SimHei" panose="02010609060101010101" pitchFamily="49" charset="-122"/>
                          <a:ea typeface="SimHei" panose="02010609060101010101" pitchFamily="49" charset="-122"/>
                        </a:rPr>
                        <a:t> </a:t>
                      </a:r>
                    </a:p>
                    <a:p>
                      <a:pPr marL="94615" marR="118110" indent="145415" eaLnBrk="0">
                        <a:lnSpc>
                          <a:spcPct val="95000"/>
                        </a:lnSpc>
                        <a:spcBef>
                          <a:spcPts val="355"/>
                        </a:spcBef>
                        <a:spcAft>
                          <a:spcPts val="0"/>
                        </a:spcAft>
                      </a:pPr>
                      <a:r>
                        <a:rPr lang="zh-CN" sz="1600" spc="5" dirty="0">
                          <a:effectLst/>
                          <a:latin typeface="SimHei" panose="02010609060101010101" pitchFamily="49" charset="-122"/>
                          <a:ea typeface="SimHei" panose="02010609060101010101" pitchFamily="49" charset="-122"/>
                        </a:rPr>
                        <a:t>染发剂</a:t>
                      </a:r>
                      <a:r>
                        <a:rPr lang="en-US" sz="1600" spc="5" dirty="0">
                          <a:effectLst/>
                          <a:latin typeface="SimHei" panose="02010609060101010101" pitchFamily="49" charset="-122"/>
                          <a:ea typeface="SimHei" panose="02010609060101010101" pitchFamily="49" charset="-122"/>
                        </a:rPr>
                        <a:t>(</a:t>
                      </a:r>
                      <a:r>
                        <a:rPr lang="zh-CN" sz="1600" spc="5" dirty="0">
                          <a:effectLst/>
                          <a:latin typeface="SimHei" panose="02010609060101010101" pitchFamily="49" charset="-122"/>
                          <a:ea typeface="SimHei" panose="02010609060101010101" pitchFamily="49" charset="-122"/>
                        </a:rPr>
                        <a:t>国产特殊</a:t>
                      </a:r>
                      <a:r>
                        <a:rPr lang="zh-CN" sz="1600" dirty="0">
                          <a:effectLst/>
                          <a:latin typeface="SimHei" panose="02010609060101010101" pitchFamily="49" charset="-122"/>
                          <a:ea typeface="SimHei" panose="02010609060101010101" pitchFamily="49" charset="-122"/>
                        </a:rPr>
                        <a:t> </a:t>
                      </a:r>
                      <a:r>
                        <a:rPr lang="zh-CN" sz="1600" spc="-10" dirty="0">
                          <a:effectLst/>
                          <a:latin typeface="SimHei" panose="02010609060101010101" pitchFamily="49" charset="-122"/>
                          <a:ea typeface="SimHei" panose="02010609060101010101" pitchFamily="49" charset="-122"/>
                        </a:rPr>
                        <a:t>用途化妆品行政许</a:t>
                      </a:r>
                      <a:r>
                        <a:rPr lang="zh-CN" sz="1600" spc="60" dirty="0">
                          <a:effectLst/>
                          <a:latin typeface="SimHei" panose="02010609060101010101" pitchFamily="49" charset="-122"/>
                          <a:ea typeface="SimHei" panose="02010609060101010101" pitchFamily="49" charset="-122"/>
                        </a:rPr>
                        <a:t>可批件</a:t>
                      </a:r>
                      <a:r>
                        <a:rPr lang="en-US" sz="1600" spc="60" dirty="0">
                          <a:effectLst/>
                          <a:latin typeface="SimHei" panose="02010609060101010101" pitchFamily="49" charset="-122"/>
                          <a:ea typeface="SimHei" panose="02010609060101010101" pitchFamily="49" charset="-122"/>
                        </a:rPr>
                        <a:t>)</a:t>
                      </a:r>
                      <a:endParaRPr lang="en-US" sz="1600" dirty="0">
                        <a:solidFill>
                          <a:srgbClr val="000000"/>
                        </a:solidFill>
                        <a:effectLst/>
                        <a:latin typeface="SimHei" panose="02010609060101010101" pitchFamily="49" charset="-122"/>
                        <a:ea typeface="SimHei" panose="02010609060101010101" pitchFamily="49" charset="-122"/>
                      </a:endParaRPr>
                    </a:p>
                  </a:txBody>
                  <a:tcPr marL="0" marR="0" marT="0" marB="0"/>
                </a:tc>
                <a:tc rowSpan="2">
                  <a:txBody>
                    <a:bodyPr/>
                    <a:lstStyle/>
                    <a:p>
                      <a:pPr marL="0" marR="0" eaLnBrk="0">
                        <a:lnSpc>
                          <a:spcPct val="123000"/>
                        </a:lnSpc>
                        <a:spcBef>
                          <a:spcPts val="0"/>
                        </a:spcBef>
                        <a:spcAft>
                          <a:spcPts val="0"/>
                        </a:spcAft>
                      </a:pPr>
                      <a:r>
                        <a:rPr lang="en-US" sz="1600">
                          <a:effectLst/>
                          <a:latin typeface="SimHei" panose="02010609060101010101" pitchFamily="49" charset="-122"/>
                          <a:ea typeface="SimHei" panose="02010609060101010101" pitchFamily="49" charset="-122"/>
                        </a:rPr>
                        <a:t> </a:t>
                      </a:r>
                    </a:p>
                    <a:p>
                      <a:pPr marL="0" marR="0" eaLnBrk="0">
                        <a:lnSpc>
                          <a:spcPct val="123000"/>
                        </a:lnSpc>
                        <a:spcBef>
                          <a:spcPts val="0"/>
                        </a:spcBef>
                        <a:spcAft>
                          <a:spcPts val="0"/>
                        </a:spcAft>
                      </a:pPr>
                      <a:r>
                        <a:rPr lang="en-US" sz="1600">
                          <a:effectLst/>
                          <a:latin typeface="SimHei" panose="02010609060101010101" pitchFamily="49" charset="-122"/>
                          <a:ea typeface="SimHei" panose="02010609060101010101" pitchFamily="49" charset="-122"/>
                        </a:rPr>
                        <a:t> </a:t>
                      </a:r>
                    </a:p>
                    <a:p>
                      <a:pPr marL="0" marR="0" eaLnBrk="0">
                        <a:lnSpc>
                          <a:spcPct val="123000"/>
                        </a:lnSpc>
                        <a:spcBef>
                          <a:spcPts val="0"/>
                        </a:spcBef>
                        <a:spcAft>
                          <a:spcPts val="0"/>
                        </a:spcAft>
                      </a:pPr>
                      <a:r>
                        <a:rPr lang="en-US" sz="1600">
                          <a:effectLst/>
                          <a:latin typeface="SimHei" panose="02010609060101010101" pitchFamily="49" charset="-122"/>
                          <a:ea typeface="SimHei" panose="02010609060101010101" pitchFamily="49" charset="-122"/>
                        </a:rPr>
                        <a:t> </a:t>
                      </a:r>
                    </a:p>
                    <a:p>
                      <a:pPr marL="97790" marR="0" eaLnBrk="0">
                        <a:lnSpc>
                          <a:spcPct val="91000"/>
                        </a:lnSpc>
                        <a:spcBef>
                          <a:spcPts val="360"/>
                        </a:spcBef>
                        <a:spcAft>
                          <a:spcPts val="0"/>
                        </a:spcAft>
                      </a:pPr>
                      <a:r>
                        <a:rPr lang="zh-CN" sz="1600" spc="10">
                          <a:effectLst/>
                          <a:latin typeface="SimHei" panose="02010609060101010101" pitchFamily="49" charset="-122"/>
                          <a:ea typeface="SimHei" panose="02010609060101010101" pitchFamily="49" charset="-122"/>
                        </a:rPr>
                        <a:t>永久性染发剂</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0" marR="0" eaLnBrk="0">
                        <a:lnSpc>
                          <a:spcPct val="147000"/>
                        </a:lnSpc>
                        <a:spcBef>
                          <a:spcPts val="0"/>
                        </a:spcBef>
                        <a:spcAft>
                          <a:spcPts val="0"/>
                        </a:spcAft>
                      </a:pPr>
                      <a:r>
                        <a:rPr lang="en-US" sz="1600">
                          <a:effectLst/>
                          <a:latin typeface="SimHei" panose="02010609060101010101" pitchFamily="49" charset="-122"/>
                          <a:ea typeface="SimHei" panose="02010609060101010101" pitchFamily="49" charset="-122"/>
                        </a:rPr>
                        <a:t> </a:t>
                      </a:r>
                    </a:p>
                    <a:p>
                      <a:pPr marL="100330" marR="0" eaLnBrk="0">
                        <a:lnSpc>
                          <a:spcPct val="91000"/>
                        </a:lnSpc>
                        <a:spcBef>
                          <a:spcPts val="355"/>
                        </a:spcBef>
                        <a:spcAft>
                          <a:spcPts val="0"/>
                        </a:spcAft>
                      </a:pPr>
                      <a:r>
                        <a:rPr lang="zh-CN" sz="1600" spc="10">
                          <a:effectLst/>
                          <a:latin typeface="SimHei" panose="02010609060101010101" pitchFamily="49" charset="-122"/>
                          <a:ea typeface="SimHei" panose="02010609060101010101" pitchFamily="49" charset="-122"/>
                        </a:rPr>
                        <a:t>氧化型染发剂</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98425" marR="0" eaLnBrk="0">
                        <a:lnSpc>
                          <a:spcPts val="1600"/>
                        </a:lnSpc>
                        <a:spcBef>
                          <a:spcPts val="445"/>
                        </a:spcBef>
                        <a:spcAft>
                          <a:spcPts val="0"/>
                        </a:spcAft>
                      </a:pPr>
                      <a:r>
                        <a:rPr lang="zh-CN" sz="1600" spc="5">
                          <a:effectLst/>
                          <a:latin typeface="SimHei" panose="02010609060101010101" pitchFamily="49" charset="-122"/>
                          <a:ea typeface="SimHei" panose="02010609060101010101" pitchFamily="49" charset="-122"/>
                        </a:rPr>
                        <a:t>中间体、偶合剂</a:t>
                      </a:r>
                      <a:endParaRPr lang="en-US" sz="1600">
                        <a:effectLst/>
                        <a:latin typeface="SimHei" panose="02010609060101010101" pitchFamily="49" charset="-122"/>
                        <a:ea typeface="SimHei" panose="02010609060101010101" pitchFamily="49" charset="-122"/>
                      </a:endParaRPr>
                    </a:p>
                    <a:p>
                      <a:pPr marL="98425" marR="0" eaLnBrk="0">
                        <a:lnSpc>
                          <a:spcPct val="90000"/>
                        </a:lnSpc>
                        <a:spcBef>
                          <a:spcPts val="0"/>
                        </a:spcBef>
                        <a:spcAft>
                          <a:spcPts val="0"/>
                        </a:spcAft>
                      </a:pPr>
                      <a:r>
                        <a:rPr lang="zh-CN" sz="1600" spc="10">
                          <a:effectLst/>
                          <a:latin typeface="SimHei" panose="02010609060101010101" pitchFamily="49" charset="-122"/>
                          <a:ea typeface="SimHei" panose="02010609060101010101" pitchFamily="49" charset="-122"/>
                        </a:rPr>
                        <a:t>过氧化物</a:t>
                      </a:r>
                      <a:endParaRPr lang="en-US" sz="1600">
                        <a:effectLst/>
                        <a:latin typeface="SimHei" panose="02010609060101010101" pitchFamily="49" charset="-122"/>
                        <a:ea typeface="SimHei" panose="02010609060101010101" pitchFamily="49" charset="-122"/>
                      </a:endParaRPr>
                    </a:p>
                    <a:p>
                      <a:pPr marL="98425" marR="0" eaLnBrk="0">
                        <a:lnSpc>
                          <a:spcPct val="91000"/>
                        </a:lnSpc>
                        <a:spcBef>
                          <a:spcPts val="345"/>
                        </a:spcBef>
                        <a:spcAft>
                          <a:spcPts val="0"/>
                        </a:spcAft>
                      </a:pPr>
                      <a:r>
                        <a:rPr lang="zh-CN" sz="1600" spc="-10">
                          <a:effectLst/>
                          <a:latin typeface="SimHei" panose="02010609060101010101" pitchFamily="49" charset="-122"/>
                          <a:ea typeface="SimHei" panose="02010609060101010101" pitchFamily="49" charset="-122"/>
                        </a:rPr>
                        <a:t>碱剂</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3461732402"/>
                  </a:ext>
                </a:extLst>
              </a:tr>
              <a:tr h="678180">
                <a:tc vMerge="1">
                  <a:txBody>
                    <a:bodyPr/>
                    <a:lstStyle/>
                    <a:p>
                      <a:endParaRPr lang="en-US"/>
                    </a:p>
                  </a:txBody>
                  <a:tcPr/>
                </a:tc>
                <a:tc vMerge="1">
                  <a:txBody>
                    <a:bodyPr/>
                    <a:lstStyle/>
                    <a:p>
                      <a:endParaRPr lang="en-US"/>
                    </a:p>
                  </a:txBody>
                  <a:tcPr/>
                </a:tc>
                <a:tc>
                  <a:txBody>
                    <a:bodyPr/>
                    <a:lstStyle/>
                    <a:p>
                      <a:pPr marL="0" marR="0" eaLnBrk="0">
                        <a:lnSpc>
                          <a:spcPct val="148000"/>
                        </a:lnSpc>
                        <a:spcBef>
                          <a:spcPts val="0"/>
                        </a:spcBef>
                        <a:spcAft>
                          <a:spcPts val="0"/>
                        </a:spcAft>
                      </a:pPr>
                      <a:r>
                        <a:rPr lang="en-US" sz="1600">
                          <a:effectLst/>
                          <a:latin typeface="SimHei" panose="02010609060101010101" pitchFamily="49" charset="-122"/>
                          <a:ea typeface="SimHei" panose="02010609060101010101" pitchFamily="49" charset="-122"/>
                        </a:rPr>
                        <a:t> </a:t>
                      </a:r>
                    </a:p>
                    <a:p>
                      <a:pPr marL="100330" marR="0" eaLnBrk="0">
                        <a:lnSpc>
                          <a:spcPct val="91000"/>
                        </a:lnSpc>
                        <a:spcBef>
                          <a:spcPts val="360"/>
                        </a:spcBef>
                        <a:spcAft>
                          <a:spcPts val="0"/>
                        </a:spcAft>
                      </a:pPr>
                      <a:r>
                        <a:rPr lang="zh-CN" sz="1600" spc="5">
                          <a:effectLst/>
                          <a:latin typeface="SimHei" panose="02010609060101010101" pitchFamily="49" charset="-122"/>
                          <a:ea typeface="SimHei" panose="02010609060101010101" pitchFamily="49" charset="-122"/>
                        </a:rPr>
                        <a:t>非氧化型染发剂</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98425" marR="0" eaLnBrk="0">
                        <a:lnSpc>
                          <a:spcPct val="91000"/>
                        </a:lnSpc>
                        <a:spcBef>
                          <a:spcPts val="460"/>
                        </a:spcBef>
                        <a:spcAft>
                          <a:spcPts val="0"/>
                        </a:spcAft>
                      </a:pPr>
                      <a:r>
                        <a:rPr lang="zh-CN" sz="1600" spc="10">
                          <a:effectLst/>
                          <a:latin typeface="SimHei" panose="02010609060101010101" pitchFamily="49" charset="-122"/>
                          <a:ea typeface="SimHei" panose="02010609060101010101" pitchFamily="49" charset="-122"/>
                        </a:rPr>
                        <a:t>多元酚</a:t>
                      </a:r>
                      <a:endParaRPr lang="en-US" sz="1600">
                        <a:effectLst/>
                        <a:latin typeface="SimHei" panose="02010609060101010101" pitchFamily="49" charset="-122"/>
                        <a:ea typeface="SimHei" panose="02010609060101010101" pitchFamily="49" charset="-122"/>
                      </a:endParaRPr>
                    </a:p>
                    <a:p>
                      <a:pPr marL="98425" marR="0" eaLnBrk="0">
                        <a:lnSpc>
                          <a:spcPts val="1600"/>
                        </a:lnSpc>
                        <a:spcBef>
                          <a:spcPts val="335"/>
                        </a:spcBef>
                        <a:spcAft>
                          <a:spcPts val="0"/>
                        </a:spcAft>
                      </a:pPr>
                      <a:r>
                        <a:rPr lang="zh-CN" sz="1600" spc="20">
                          <a:effectLst/>
                          <a:latin typeface="SimHei" panose="02010609060101010101" pitchFamily="49" charset="-122"/>
                          <a:ea typeface="SimHei" panose="02010609060101010101" pitchFamily="49" charset="-122"/>
                        </a:rPr>
                        <a:t>金属离子</a:t>
                      </a:r>
                      <a:r>
                        <a:rPr lang="en-US" sz="1600" spc="20">
                          <a:effectLst/>
                          <a:latin typeface="SimHei" panose="02010609060101010101" pitchFamily="49" charset="-122"/>
                          <a:ea typeface="SimHei" panose="02010609060101010101" pitchFamily="49" charset="-122"/>
                        </a:rPr>
                        <a:t>(</a:t>
                      </a:r>
                      <a:r>
                        <a:rPr lang="zh-CN" sz="1600" spc="20">
                          <a:effectLst/>
                          <a:latin typeface="SimHei" panose="02010609060101010101" pitchFamily="49" charset="-122"/>
                          <a:ea typeface="SimHei" panose="02010609060101010101" pitchFamily="49" charset="-122"/>
                        </a:rPr>
                        <a:t>主要是铁离子</a:t>
                      </a:r>
                      <a:r>
                        <a:rPr lang="en-US" sz="1600" spc="20">
                          <a:effectLst/>
                          <a:latin typeface="SimHei" panose="02010609060101010101" pitchFamily="49" charset="-122"/>
                          <a:ea typeface="SimHei" panose="02010609060101010101" pitchFamily="49" charset="-122"/>
                        </a:rPr>
                        <a:t>)</a:t>
                      </a:r>
                      <a:endParaRPr lang="en-US" sz="1600">
                        <a:effectLst/>
                        <a:latin typeface="SimHei" panose="02010609060101010101" pitchFamily="49" charset="-122"/>
                        <a:ea typeface="SimHei" panose="02010609060101010101" pitchFamily="49" charset="-122"/>
                      </a:endParaRPr>
                    </a:p>
                    <a:p>
                      <a:pPr marL="98425" marR="0" eaLnBrk="0">
                        <a:lnSpc>
                          <a:spcPct val="91000"/>
                        </a:lnSpc>
                        <a:spcBef>
                          <a:spcPts val="0"/>
                        </a:spcBef>
                        <a:spcAft>
                          <a:spcPts val="0"/>
                        </a:spcAft>
                      </a:pPr>
                      <a:r>
                        <a:rPr lang="zh-CN" sz="1600" spc="10">
                          <a:effectLst/>
                          <a:latin typeface="SimHei" panose="02010609060101010101" pitchFamily="49" charset="-122"/>
                          <a:ea typeface="SimHei" panose="02010609060101010101" pitchFamily="49" charset="-122"/>
                        </a:rPr>
                        <a:t>天然植物</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496161386"/>
                  </a:ext>
                </a:extLst>
              </a:tr>
              <a:tr h="455930">
                <a:tc vMerge="1">
                  <a:txBody>
                    <a:bodyPr/>
                    <a:lstStyle/>
                    <a:p>
                      <a:endParaRPr lang="en-US"/>
                    </a:p>
                  </a:txBody>
                  <a:tcPr/>
                </a:tc>
                <a:tc>
                  <a:txBody>
                    <a:bodyPr/>
                    <a:lstStyle/>
                    <a:p>
                      <a:pPr marL="97790" marR="125730" eaLnBrk="0">
                        <a:lnSpc>
                          <a:spcPct val="101000"/>
                        </a:lnSpc>
                        <a:spcBef>
                          <a:spcPts val="410"/>
                        </a:spcBef>
                        <a:spcAft>
                          <a:spcPts val="0"/>
                        </a:spcAft>
                      </a:pPr>
                      <a:r>
                        <a:rPr lang="zh-CN" sz="1600" spc="5">
                          <a:effectLst/>
                          <a:latin typeface="SimHei" panose="02010609060101010101" pitchFamily="49" charset="-122"/>
                          <a:ea typeface="SimHei" panose="02010609060101010101" pitchFamily="49" charset="-122"/>
                        </a:rPr>
                        <a:t>脱色剂、脱染剂</a:t>
                      </a:r>
                      <a:r>
                        <a:rPr lang="zh-CN" sz="1600" spc="20">
                          <a:effectLst/>
                          <a:latin typeface="SimHei" panose="02010609060101010101" pitchFamily="49" charset="-122"/>
                          <a:ea typeface="SimHei" panose="02010609060101010101" pitchFamily="49" charset="-122"/>
                        </a:rPr>
                        <a:t> </a:t>
                      </a:r>
                      <a:r>
                        <a:rPr lang="en-US" sz="1600" spc="30">
                          <a:effectLst/>
                          <a:latin typeface="SimHei" panose="02010609060101010101" pitchFamily="49" charset="-122"/>
                          <a:ea typeface="SimHei" panose="02010609060101010101" pitchFamily="49" charset="-122"/>
                        </a:rPr>
                        <a:t>(</a:t>
                      </a:r>
                      <a:r>
                        <a:rPr lang="zh-CN" sz="1600" spc="30">
                          <a:effectLst/>
                          <a:latin typeface="SimHei" panose="02010609060101010101" pitchFamily="49" charset="-122"/>
                          <a:ea typeface="SimHei" panose="02010609060101010101" pitchFamily="49" charset="-122"/>
                        </a:rPr>
                        <a:t>浅色染发剂等</a:t>
                      </a:r>
                      <a:r>
                        <a:rPr lang="en-US" sz="1600" spc="30">
                          <a:effectLst/>
                          <a:latin typeface="SimHei" panose="02010609060101010101" pitchFamily="49" charset="-122"/>
                          <a:ea typeface="SimHei" panose="02010609060101010101" pitchFamily="49" charset="-122"/>
                        </a:rPr>
                        <a:t>)</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00330" marR="0" eaLnBrk="0">
                        <a:lnSpc>
                          <a:spcPct val="91000"/>
                        </a:lnSpc>
                        <a:spcBef>
                          <a:spcPts val="1260"/>
                        </a:spcBef>
                        <a:spcAft>
                          <a:spcPts val="0"/>
                        </a:spcAft>
                      </a:pPr>
                      <a:r>
                        <a:rPr lang="zh-CN" sz="1600" spc="20">
                          <a:effectLst/>
                          <a:latin typeface="SimHei" panose="02010609060101010101" pitchFamily="49" charset="-122"/>
                          <a:ea typeface="SimHei" panose="02010609060101010101" pitchFamily="49" charset="-122"/>
                        </a:rPr>
                        <a:t>漂白剂</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98425" marR="0" eaLnBrk="0">
                        <a:lnSpc>
                          <a:spcPts val="1595"/>
                        </a:lnSpc>
                        <a:spcBef>
                          <a:spcPts val="365"/>
                        </a:spcBef>
                        <a:spcAft>
                          <a:spcPts val="0"/>
                        </a:spcAft>
                      </a:pPr>
                      <a:r>
                        <a:rPr lang="zh-CN" sz="1600" spc="10">
                          <a:effectLst/>
                          <a:latin typeface="SimHei" panose="02010609060101010101" pitchFamily="49" charset="-122"/>
                          <a:ea typeface="SimHei" panose="02010609060101010101" pitchFamily="49" charset="-122"/>
                        </a:rPr>
                        <a:t>过氧化物</a:t>
                      </a:r>
                      <a:endParaRPr lang="en-US" sz="1600">
                        <a:effectLst/>
                        <a:latin typeface="SimHei" panose="02010609060101010101" pitchFamily="49" charset="-122"/>
                        <a:ea typeface="SimHei" panose="02010609060101010101" pitchFamily="49" charset="-122"/>
                      </a:endParaRPr>
                    </a:p>
                    <a:p>
                      <a:pPr marL="98425" marR="0" eaLnBrk="0">
                        <a:lnSpc>
                          <a:spcPct val="90000"/>
                        </a:lnSpc>
                        <a:spcBef>
                          <a:spcPts val="0"/>
                        </a:spcBef>
                        <a:spcAft>
                          <a:spcPts val="0"/>
                        </a:spcAft>
                      </a:pPr>
                      <a:r>
                        <a:rPr lang="zh-CN" sz="1600" spc="-10">
                          <a:effectLst/>
                          <a:latin typeface="SimHei" panose="02010609060101010101" pitchFamily="49" charset="-122"/>
                          <a:ea typeface="SimHei" panose="02010609060101010101" pitchFamily="49" charset="-122"/>
                        </a:rPr>
                        <a:t>碱剂</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533569336"/>
                  </a:ext>
                </a:extLst>
              </a:tr>
              <a:tr h="684530">
                <a:tc rowSpan="2">
                  <a:txBody>
                    <a:bodyPr/>
                    <a:lstStyle/>
                    <a:p>
                      <a:pPr marL="0" marR="0" eaLnBrk="0">
                        <a:lnSpc>
                          <a:spcPct val="122000"/>
                        </a:lnSpc>
                        <a:spcBef>
                          <a:spcPts val="0"/>
                        </a:spcBef>
                        <a:spcAft>
                          <a:spcPts val="0"/>
                        </a:spcAft>
                      </a:pPr>
                      <a:r>
                        <a:rPr lang="en-US" sz="1600" dirty="0">
                          <a:effectLst/>
                          <a:latin typeface="SimHei" panose="02010609060101010101" pitchFamily="49" charset="-122"/>
                          <a:ea typeface="SimHei" panose="02010609060101010101" pitchFamily="49" charset="-122"/>
                        </a:rPr>
                        <a:t> </a:t>
                      </a:r>
                    </a:p>
                    <a:p>
                      <a:pPr marL="0" marR="0" eaLnBrk="0">
                        <a:lnSpc>
                          <a:spcPct val="123000"/>
                        </a:lnSpc>
                        <a:spcBef>
                          <a:spcPts val="0"/>
                        </a:spcBef>
                        <a:spcAft>
                          <a:spcPts val="0"/>
                        </a:spcAft>
                      </a:pPr>
                      <a:r>
                        <a:rPr lang="en-US" sz="1600" dirty="0">
                          <a:effectLst/>
                          <a:latin typeface="SimHei" panose="02010609060101010101" pitchFamily="49" charset="-122"/>
                          <a:ea typeface="SimHei" panose="02010609060101010101" pitchFamily="49" charset="-122"/>
                        </a:rPr>
                        <a:t> </a:t>
                      </a:r>
                    </a:p>
                    <a:p>
                      <a:pPr marL="94615" marR="99060" indent="145415" eaLnBrk="0">
                        <a:lnSpc>
                          <a:spcPct val="94000"/>
                        </a:lnSpc>
                        <a:spcBef>
                          <a:spcPts val="355"/>
                        </a:spcBef>
                        <a:spcAft>
                          <a:spcPts val="0"/>
                        </a:spcAft>
                      </a:pPr>
                      <a:r>
                        <a:rPr lang="zh-CN" sz="1600" spc="5" dirty="0">
                          <a:effectLst/>
                          <a:latin typeface="SimHei" panose="02010609060101010101" pitchFamily="49" charset="-122"/>
                          <a:ea typeface="SimHei" panose="02010609060101010101" pitchFamily="49" charset="-122"/>
                        </a:rPr>
                        <a:t>染发化妆品</a:t>
                      </a:r>
                      <a:r>
                        <a:rPr lang="en-US" sz="1600" spc="5" dirty="0">
                          <a:effectLst/>
                          <a:latin typeface="SimHei" panose="02010609060101010101" pitchFamily="49" charset="-122"/>
                          <a:ea typeface="SimHei" panose="02010609060101010101" pitchFamily="49" charset="-122"/>
                        </a:rPr>
                        <a:t>(</a:t>
                      </a:r>
                      <a:r>
                        <a:rPr lang="zh-CN" sz="1600" spc="5" dirty="0">
                          <a:effectLst/>
                          <a:latin typeface="SimHei" panose="02010609060101010101" pitchFamily="49" charset="-122"/>
                          <a:ea typeface="SimHei" panose="02010609060101010101" pitchFamily="49" charset="-122"/>
                        </a:rPr>
                        <a:t>普通</a:t>
                      </a:r>
                      <a:r>
                        <a:rPr lang="zh-CN" sz="1600" spc="25" dirty="0">
                          <a:effectLst/>
                          <a:latin typeface="SimHei" panose="02010609060101010101" pitchFamily="49" charset="-122"/>
                          <a:ea typeface="SimHei" panose="02010609060101010101" pitchFamily="49" charset="-122"/>
                        </a:rPr>
                        <a:t>非特殊化妆品备案</a:t>
                      </a:r>
                      <a:r>
                        <a:rPr lang="en-US" sz="1600" spc="25" dirty="0">
                          <a:effectLst/>
                          <a:latin typeface="SimHei" panose="02010609060101010101" pitchFamily="49" charset="-122"/>
                          <a:ea typeface="SimHei" panose="02010609060101010101" pitchFamily="49" charset="-122"/>
                        </a:rPr>
                        <a:t>)</a:t>
                      </a:r>
                      <a:endParaRPr lang="en-US" sz="1600" dirty="0">
                        <a:solidFill>
                          <a:srgbClr val="000000"/>
                        </a:solidFill>
                        <a:effectLst/>
                        <a:latin typeface="SimHei" panose="02010609060101010101" pitchFamily="49" charset="-122"/>
                        <a:ea typeface="SimHei" panose="02010609060101010101" pitchFamily="49" charset="-122"/>
                      </a:endParaRPr>
                    </a:p>
                  </a:txBody>
                  <a:tcPr marL="0" marR="0" marT="0" marB="0"/>
                </a:tc>
                <a:tc gridSpan="2">
                  <a:txBody>
                    <a:bodyPr/>
                    <a:lstStyle/>
                    <a:p>
                      <a:pPr marL="0" marR="0" eaLnBrk="0">
                        <a:lnSpc>
                          <a:spcPct val="150000"/>
                        </a:lnSpc>
                        <a:spcBef>
                          <a:spcPts val="0"/>
                        </a:spcBef>
                        <a:spcAft>
                          <a:spcPts val="0"/>
                        </a:spcAft>
                      </a:pPr>
                      <a:r>
                        <a:rPr lang="en-US" sz="1600">
                          <a:effectLst/>
                          <a:latin typeface="SimHei" panose="02010609060101010101" pitchFamily="49" charset="-122"/>
                          <a:ea typeface="SimHei" panose="02010609060101010101" pitchFamily="49" charset="-122"/>
                        </a:rPr>
                        <a:t> </a:t>
                      </a:r>
                    </a:p>
                    <a:p>
                      <a:pPr marL="104775" marR="0" eaLnBrk="0">
                        <a:lnSpc>
                          <a:spcPct val="91000"/>
                        </a:lnSpc>
                        <a:spcBef>
                          <a:spcPts val="360"/>
                        </a:spcBef>
                        <a:spcAft>
                          <a:spcPts val="0"/>
                        </a:spcAft>
                      </a:pPr>
                      <a:r>
                        <a:rPr lang="zh-CN" sz="1600" spc="5">
                          <a:effectLst/>
                          <a:latin typeface="SimHei" panose="02010609060101010101" pitchFamily="49" charset="-122"/>
                          <a:ea typeface="SimHei" panose="02010609060101010101" pitchFamily="49" charset="-122"/>
                        </a:rPr>
                        <a:t>半永久性染发剂</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hMerge="1">
                  <a:txBody>
                    <a:bodyPr/>
                    <a:lstStyle/>
                    <a:p>
                      <a:endParaRPr lang="en-US"/>
                    </a:p>
                  </a:txBody>
                  <a:tcPr/>
                </a:tc>
                <a:tc>
                  <a:txBody>
                    <a:bodyPr/>
                    <a:lstStyle/>
                    <a:p>
                      <a:pPr marL="98425" marR="0" eaLnBrk="0">
                        <a:lnSpc>
                          <a:spcPts val="1590"/>
                        </a:lnSpc>
                        <a:spcBef>
                          <a:spcPts val="530"/>
                        </a:spcBef>
                        <a:spcAft>
                          <a:spcPts val="0"/>
                        </a:spcAft>
                      </a:pPr>
                      <a:r>
                        <a:rPr lang="zh-CN" sz="1600" spc="-5">
                          <a:effectLst/>
                          <a:latin typeface="SimHei" panose="02010609060101010101" pitchFamily="49" charset="-122"/>
                          <a:ea typeface="SimHei" panose="02010609060101010101" pitchFamily="49" charset="-122"/>
                        </a:rPr>
                        <a:t>分子量较大的可渗透的染料</a:t>
                      </a:r>
                      <a:endParaRPr lang="en-US" sz="1600">
                        <a:effectLst/>
                        <a:latin typeface="SimHei" panose="02010609060101010101" pitchFamily="49" charset="-122"/>
                        <a:ea typeface="SimHei" panose="02010609060101010101" pitchFamily="49" charset="-122"/>
                      </a:endParaRPr>
                    </a:p>
                    <a:p>
                      <a:pPr marL="98425" marR="0" eaLnBrk="0">
                        <a:lnSpc>
                          <a:spcPct val="90000"/>
                        </a:lnSpc>
                        <a:spcBef>
                          <a:spcPts val="0"/>
                        </a:spcBef>
                        <a:spcAft>
                          <a:spcPts val="0"/>
                        </a:spcAft>
                      </a:pPr>
                      <a:r>
                        <a:rPr lang="zh-CN" sz="1600" spc="15">
                          <a:effectLst/>
                          <a:latin typeface="SimHei" panose="02010609060101010101" pitchFamily="49" charset="-122"/>
                          <a:ea typeface="SimHei" panose="02010609060101010101" pitchFamily="49" charset="-122"/>
                        </a:rPr>
                        <a:t>促渗透剂</a:t>
                      </a:r>
                      <a:endParaRPr lang="en-US" sz="1600">
                        <a:effectLst/>
                        <a:latin typeface="SimHei" panose="02010609060101010101" pitchFamily="49" charset="-122"/>
                        <a:ea typeface="SimHei" panose="02010609060101010101" pitchFamily="49" charset="-122"/>
                      </a:endParaRPr>
                    </a:p>
                    <a:p>
                      <a:pPr marL="98425" marR="0" eaLnBrk="0">
                        <a:lnSpc>
                          <a:spcPct val="89000"/>
                        </a:lnSpc>
                        <a:spcBef>
                          <a:spcPts val="420"/>
                        </a:spcBef>
                        <a:spcAft>
                          <a:spcPts val="0"/>
                        </a:spcAft>
                      </a:pPr>
                      <a:r>
                        <a:rPr lang="en-US" sz="1600" spc="-5">
                          <a:effectLst/>
                          <a:latin typeface="SimHei" panose="02010609060101010101" pitchFamily="49" charset="-122"/>
                          <a:ea typeface="SimHei" panose="02010609060101010101" pitchFamily="49" charset="-122"/>
                        </a:rPr>
                        <a:t>pH</a:t>
                      </a:r>
                      <a:r>
                        <a:rPr lang="zh-CN" sz="1600" spc="-5">
                          <a:effectLst/>
                          <a:latin typeface="SimHei" panose="02010609060101010101" pitchFamily="49" charset="-122"/>
                          <a:ea typeface="SimHei" panose="02010609060101010101" pitchFamily="49" charset="-122"/>
                        </a:rPr>
                        <a:t>调节剂</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2726586759"/>
                  </a:ext>
                </a:extLst>
              </a:tr>
              <a:tr h="471805">
                <a:tc vMerge="1">
                  <a:txBody>
                    <a:bodyPr/>
                    <a:lstStyle/>
                    <a:p>
                      <a:endParaRPr lang="en-US"/>
                    </a:p>
                  </a:txBody>
                  <a:tcPr/>
                </a:tc>
                <a:tc gridSpan="2">
                  <a:txBody>
                    <a:bodyPr/>
                    <a:lstStyle/>
                    <a:p>
                      <a:pPr marL="104775" marR="0" eaLnBrk="0">
                        <a:lnSpc>
                          <a:spcPct val="91000"/>
                        </a:lnSpc>
                        <a:spcBef>
                          <a:spcPts val="1330"/>
                        </a:spcBef>
                        <a:spcAft>
                          <a:spcPts val="0"/>
                        </a:spcAft>
                      </a:pPr>
                      <a:r>
                        <a:rPr lang="zh-CN" sz="1600" spc="10">
                          <a:effectLst/>
                          <a:latin typeface="SimHei" panose="02010609060101010101" pitchFamily="49" charset="-122"/>
                          <a:ea typeface="SimHei" panose="02010609060101010101" pitchFamily="49" charset="-122"/>
                        </a:rPr>
                        <a:t>暂时性染发剂</a:t>
                      </a:r>
                      <a:endParaRPr lang="en-US" sz="1600">
                        <a:solidFill>
                          <a:srgbClr val="000000"/>
                        </a:solidFill>
                        <a:effectLst/>
                        <a:latin typeface="SimHei" panose="02010609060101010101" pitchFamily="49" charset="-122"/>
                        <a:ea typeface="SimHei" panose="02010609060101010101" pitchFamily="49" charset="-122"/>
                      </a:endParaRPr>
                    </a:p>
                  </a:txBody>
                  <a:tcPr marL="0" marR="0" marT="0" marB="0"/>
                </a:tc>
                <a:tc hMerge="1">
                  <a:txBody>
                    <a:bodyPr/>
                    <a:lstStyle/>
                    <a:p>
                      <a:endParaRPr lang="en-US"/>
                    </a:p>
                  </a:txBody>
                  <a:tcPr/>
                </a:tc>
                <a:tc>
                  <a:txBody>
                    <a:bodyPr/>
                    <a:lstStyle/>
                    <a:p>
                      <a:pPr marL="98425" marR="0" eaLnBrk="0">
                        <a:lnSpc>
                          <a:spcPts val="1650"/>
                        </a:lnSpc>
                        <a:spcBef>
                          <a:spcPts val="435"/>
                        </a:spcBef>
                        <a:spcAft>
                          <a:spcPts val="0"/>
                        </a:spcAft>
                      </a:pPr>
                      <a:r>
                        <a:rPr lang="zh-CN" sz="1600" spc="-10" dirty="0">
                          <a:effectLst/>
                          <a:latin typeface="SimHei" panose="02010609060101010101" pitchFamily="49" charset="-122"/>
                          <a:ea typeface="SimHei" panose="02010609060101010101" pitchFamily="49" charset="-122"/>
                        </a:rPr>
                        <a:t>有机颜料</a:t>
                      </a:r>
                      <a:endParaRPr lang="en-US" sz="1600" dirty="0">
                        <a:effectLst/>
                        <a:latin typeface="SimHei" panose="02010609060101010101" pitchFamily="49" charset="-122"/>
                        <a:ea typeface="SimHei" panose="02010609060101010101" pitchFamily="49" charset="-122"/>
                      </a:endParaRPr>
                    </a:p>
                    <a:p>
                      <a:pPr marL="98425" marR="0" eaLnBrk="0">
                        <a:lnSpc>
                          <a:spcPct val="90000"/>
                        </a:lnSpc>
                        <a:spcBef>
                          <a:spcPts val="0"/>
                        </a:spcBef>
                        <a:spcAft>
                          <a:spcPts val="0"/>
                        </a:spcAft>
                      </a:pPr>
                      <a:r>
                        <a:rPr lang="zh-CN" sz="1600" spc="-10" dirty="0">
                          <a:effectLst/>
                          <a:latin typeface="SimHei" panose="02010609060101010101" pitchFamily="49" charset="-122"/>
                          <a:ea typeface="SimHei" panose="02010609060101010101" pitchFamily="49" charset="-122"/>
                        </a:rPr>
                        <a:t>无机颜料</a:t>
                      </a:r>
                      <a:endParaRPr lang="en-US" sz="1600" dirty="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933245130"/>
                  </a:ext>
                </a:extLst>
              </a:tr>
            </a:tbl>
          </a:graphicData>
        </a:graphic>
      </p:graphicFrame>
    </p:spTree>
    <p:extLst>
      <p:ext uri="{BB962C8B-B14F-4D97-AF65-F5344CB8AC3E}">
        <p14:creationId xmlns:p14="http://schemas.microsoft.com/office/powerpoint/2010/main" val="4411673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暂时性染发剂常用的染料</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7458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酸性黑</a:t>
            </a:r>
            <a:r>
              <a:rPr lang="en-US" altLang="zh-CN" sz="2400" dirty="0">
                <a:latin typeface="+mn-lt"/>
                <a:ea typeface="SimHei" panose="02010609060101010101" pitchFamily="49" charset="-122"/>
              </a:rPr>
              <a:t>1</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CI 20470</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CAS#</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1064-48-8</a:t>
            </a:r>
          </a:p>
        </p:txBody>
      </p:sp>
      <p:pic>
        <p:nvPicPr>
          <p:cNvPr id="6" name="图片 5">
            <a:extLst>
              <a:ext uri="{FF2B5EF4-FFF2-40B4-BE49-F238E27FC236}">
                <a16:creationId xmlns:a16="http://schemas.microsoft.com/office/drawing/2014/main" id="{E64C9A6F-1ED0-2A5E-3101-D78149F6E44A}"/>
              </a:ext>
            </a:extLst>
          </p:cNvPr>
          <p:cNvPicPr>
            <a:picLocks noChangeAspect="1"/>
          </p:cNvPicPr>
          <p:nvPr/>
        </p:nvPicPr>
        <p:blipFill>
          <a:blip r:embed="rId2"/>
          <a:stretch>
            <a:fillRect/>
          </a:stretch>
        </p:blipFill>
        <p:spPr>
          <a:xfrm>
            <a:off x="1910443" y="2574945"/>
            <a:ext cx="5323114" cy="3252998"/>
          </a:xfrm>
          <a:prstGeom prst="rect">
            <a:avLst/>
          </a:prstGeom>
        </p:spPr>
      </p:pic>
    </p:spTree>
    <p:extLst>
      <p:ext uri="{BB962C8B-B14F-4D97-AF65-F5344CB8AC3E}">
        <p14:creationId xmlns:p14="http://schemas.microsoft.com/office/powerpoint/2010/main" val="36397618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暂时性染发剂常用的染料</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113184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酸性红</a:t>
            </a:r>
            <a:r>
              <a:rPr lang="en-US" altLang="zh-CN" sz="2400" dirty="0">
                <a:latin typeface="+mn-lt"/>
                <a:ea typeface="SimHei" panose="02010609060101010101" pitchFamily="49" charset="-122"/>
              </a:rPr>
              <a:t>33</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CI17200</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CAS 3567-66-6</a:t>
            </a: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pic>
        <p:nvPicPr>
          <p:cNvPr id="6" name="图片 5">
            <a:extLst>
              <a:ext uri="{FF2B5EF4-FFF2-40B4-BE49-F238E27FC236}">
                <a16:creationId xmlns:a16="http://schemas.microsoft.com/office/drawing/2014/main" id="{213AAFE5-87B5-1247-F5C0-6BF3BF512E94}"/>
              </a:ext>
            </a:extLst>
          </p:cNvPr>
          <p:cNvPicPr>
            <a:picLocks noChangeAspect="1"/>
          </p:cNvPicPr>
          <p:nvPr/>
        </p:nvPicPr>
        <p:blipFill>
          <a:blip r:embed="rId2"/>
          <a:stretch>
            <a:fillRect/>
          </a:stretch>
        </p:blipFill>
        <p:spPr>
          <a:xfrm>
            <a:off x="2579914" y="2452793"/>
            <a:ext cx="3984171" cy="2646096"/>
          </a:xfrm>
          <a:prstGeom prst="rect">
            <a:avLst/>
          </a:prstGeom>
        </p:spPr>
      </p:pic>
    </p:spTree>
    <p:extLst>
      <p:ext uri="{BB962C8B-B14F-4D97-AF65-F5344CB8AC3E}">
        <p14:creationId xmlns:p14="http://schemas.microsoft.com/office/powerpoint/2010/main" val="40762850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暂时性染发剂常用的染料</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113184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酸性红</a:t>
            </a:r>
            <a:r>
              <a:rPr lang="en-US" altLang="zh-CN" sz="2400" dirty="0">
                <a:latin typeface="+mn-lt"/>
                <a:ea typeface="SimHei" panose="02010609060101010101" pitchFamily="49" charset="-122"/>
              </a:rPr>
              <a:t>92</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CI45410</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CAS 18472-87-2</a:t>
            </a: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pic>
        <p:nvPicPr>
          <p:cNvPr id="8" name="图片 7">
            <a:extLst>
              <a:ext uri="{FF2B5EF4-FFF2-40B4-BE49-F238E27FC236}">
                <a16:creationId xmlns:a16="http://schemas.microsoft.com/office/drawing/2014/main" id="{93922526-1A96-1CDB-7A97-80D2A38C6D1A}"/>
              </a:ext>
            </a:extLst>
          </p:cNvPr>
          <p:cNvPicPr>
            <a:picLocks noChangeAspect="1"/>
          </p:cNvPicPr>
          <p:nvPr/>
        </p:nvPicPr>
        <p:blipFill>
          <a:blip r:embed="rId2"/>
          <a:stretch>
            <a:fillRect/>
          </a:stretch>
        </p:blipFill>
        <p:spPr>
          <a:xfrm>
            <a:off x="2628900" y="2300719"/>
            <a:ext cx="3886200" cy="2824120"/>
          </a:xfrm>
          <a:prstGeom prst="rect">
            <a:avLst/>
          </a:prstGeom>
        </p:spPr>
      </p:pic>
      <p:sp>
        <p:nvSpPr>
          <p:cNvPr id="9" name="文本框 8">
            <a:extLst>
              <a:ext uri="{FF2B5EF4-FFF2-40B4-BE49-F238E27FC236}">
                <a16:creationId xmlns:a16="http://schemas.microsoft.com/office/drawing/2014/main" id="{1D838527-4BA5-B5DF-713A-B350BA7C6C39}"/>
              </a:ext>
            </a:extLst>
          </p:cNvPr>
          <p:cNvSpPr txBox="1"/>
          <p:nvPr/>
        </p:nvSpPr>
        <p:spPr>
          <a:xfrm>
            <a:off x="3044847" y="5316149"/>
            <a:ext cx="3054306" cy="577850"/>
          </a:xfrm>
          <a:prstGeom prst="rect">
            <a:avLst/>
          </a:prstGeom>
          <a:noFill/>
        </p:spPr>
        <p:txBody>
          <a:bodyPr wrap="square" rtlCol="0">
            <a:spAutoFit/>
          </a:bodyPr>
          <a:lstStyle/>
          <a:p>
            <a:pPr algn="ctr">
              <a:lnSpc>
                <a:spcPct val="150000"/>
              </a:lnSpc>
            </a:pPr>
            <a:r>
              <a:rPr lang="zh-CN" altLang="en-US" sz="2400" i="1" dirty="0">
                <a:latin typeface="+mn-lt"/>
                <a:ea typeface="SimHei" panose="02010609060101010101" pitchFamily="49" charset="-122"/>
              </a:rPr>
              <a:t>羧酸根结构有误</a:t>
            </a:r>
            <a:endParaRPr lang="en-US" altLang="zh-CN" sz="2400" i="1" dirty="0">
              <a:latin typeface="+mn-lt"/>
              <a:ea typeface="SimHei" panose="02010609060101010101" pitchFamily="49" charset="-122"/>
            </a:endParaRPr>
          </a:p>
        </p:txBody>
      </p:sp>
    </p:spTree>
    <p:extLst>
      <p:ext uri="{BB962C8B-B14F-4D97-AF65-F5344CB8AC3E}">
        <p14:creationId xmlns:p14="http://schemas.microsoft.com/office/powerpoint/2010/main" val="11468243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半永久性染发剂常用的染料</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545749"/>
          </a:xfrm>
          <a:prstGeom prst="rect">
            <a:avLst/>
          </a:prstGeom>
          <a:noFill/>
        </p:spPr>
        <p:txBody>
          <a:bodyPr wrap="square" rtlCol="0">
            <a:spAutoFit/>
          </a:bodyPr>
          <a:lstStyle/>
          <a:p>
            <a:pPr>
              <a:lnSpc>
                <a:spcPct val="150000"/>
              </a:lnSpc>
            </a:pPr>
            <a:r>
              <a:rPr lang="zh-CN" altLang="en-US" sz="2400" dirty="0">
                <a:latin typeface="+mn-lt"/>
                <a:ea typeface="SimHei" panose="02010609060101010101" pitchFamily="49" charset="-122"/>
              </a:rPr>
              <a:t>① 安全性</a:t>
            </a:r>
            <a:endParaRPr lang="en-US" altLang="zh-CN" sz="2400" dirty="0">
              <a:latin typeface="+mn-lt"/>
              <a:ea typeface="SimHei" panose="02010609060101010101" pitchFamily="49" charset="-122"/>
            </a:endParaRPr>
          </a:p>
          <a:p>
            <a:pPr>
              <a:lnSpc>
                <a:spcPct val="150000"/>
              </a:lnSpc>
            </a:pPr>
            <a:r>
              <a:rPr lang="zh-CN" altLang="en-US" sz="2400" dirty="0">
                <a:latin typeface="+mn-lt"/>
                <a:ea typeface="SimHei" panose="02010609060101010101" pitchFamily="49" charset="-122"/>
              </a:rPr>
              <a:t>② 色调协调性和均匀性</a:t>
            </a:r>
            <a:endParaRPr lang="en-US" altLang="zh-CN" sz="2400" dirty="0">
              <a:latin typeface="+mn-lt"/>
              <a:ea typeface="SimHei" panose="02010609060101010101" pitchFamily="49" charset="-122"/>
            </a:endParaRPr>
          </a:p>
          <a:p>
            <a:pPr>
              <a:lnSpc>
                <a:spcPct val="150000"/>
              </a:lnSpc>
            </a:pPr>
            <a:r>
              <a:rPr lang="zh-CN" altLang="en-US" sz="2400" dirty="0">
                <a:latin typeface="+mn-lt"/>
                <a:ea typeface="SimHei" panose="02010609060101010101" pitchFamily="49" charset="-122"/>
              </a:rPr>
              <a:t>③ 染料稳固性：</a:t>
            </a:r>
            <a:r>
              <a:rPr lang="zh-CN" altLang="en-US" sz="2400" dirty="0">
                <a:latin typeface="KaiTi" panose="02010609060101010101" pitchFamily="49" charset="-122"/>
                <a:ea typeface="KaiTi" panose="02010609060101010101" pitchFamily="49" charset="-122"/>
              </a:rPr>
              <a:t>吸附于毛发上的染料要有一定的稳固性，以避免因阳光、大气、 氧、摩擦和洗发等因素引起褪色。</a:t>
            </a:r>
            <a:endParaRPr lang="en-US" altLang="zh-CN" sz="2400" dirty="0">
              <a:latin typeface="KaiTi" panose="02010609060101010101" pitchFamily="49" charset="-122"/>
              <a:ea typeface="KaiTi" panose="02010609060101010101" pitchFamily="49" charset="-122"/>
            </a:endParaRPr>
          </a:p>
          <a:p>
            <a:pPr>
              <a:lnSpc>
                <a:spcPct val="150000"/>
              </a:lnSpc>
            </a:pPr>
            <a:r>
              <a:rPr lang="zh-CN" altLang="en-US" sz="2400" dirty="0">
                <a:latin typeface="SimHei" panose="02010609060101010101" pitchFamily="49" charset="-122"/>
                <a:ea typeface="SimHei" panose="02010609060101010101" pitchFamily="49" charset="-122"/>
              </a:rPr>
              <a:t>④ 染料必须在碱性溶液中长期稳定。</a:t>
            </a:r>
          </a:p>
          <a:p>
            <a:pPr>
              <a:lnSpc>
                <a:spcPct val="150000"/>
              </a:lnSpc>
            </a:pPr>
            <a:r>
              <a:rPr lang="zh-CN" altLang="en-US" sz="2400" dirty="0">
                <a:latin typeface="SimHei" panose="02010609060101010101" pitchFamily="49" charset="-122"/>
                <a:ea typeface="SimHei" panose="02010609060101010101" pitchFamily="49" charset="-122"/>
              </a:rPr>
              <a:t>⑤ 在染发条件下</a:t>
            </a:r>
            <a:r>
              <a:rPr lang="en-US" altLang="zh-CN" sz="2400" dirty="0">
                <a:latin typeface="SimHei" panose="02010609060101010101" pitchFamily="49" charset="-122"/>
                <a:ea typeface="SimHei" panose="02010609060101010101" pitchFamily="49" charset="-122"/>
              </a:rPr>
              <a:t>(25</a:t>
            </a:r>
            <a:r>
              <a:rPr lang="zh-CN" altLang="en-US" sz="2400" dirty="0">
                <a:latin typeface="SimHei" panose="02010609060101010101" pitchFamily="49" charset="-122"/>
                <a:ea typeface="SimHei" panose="02010609060101010101" pitchFamily="49" charset="-122"/>
              </a:rPr>
              <a:t>～</a:t>
            </a:r>
            <a:r>
              <a:rPr lang="en-US" altLang="zh-CN" sz="2400" dirty="0">
                <a:latin typeface="SimHei" panose="02010609060101010101" pitchFamily="49" charset="-122"/>
                <a:ea typeface="SimHei" panose="02010609060101010101" pitchFamily="49" charset="-122"/>
              </a:rPr>
              <a:t>40℃),</a:t>
            </a:r>
            <a:r>
              <a:rPr lang="zh-CN" altLang="en-US" sz="2400" dirty="0">
                <a:latin typeface="SimHei" panose="02010609060101010101" pitchFamily="49" charset="-122"/>
                <a:ea typeface="SimHei" panose="02010609060101010101" pitchFamily="49" charset="-122"/>
              </a:rPr>
              <a:t>染料对头发有较好的亲和作用。</a:t>
            </a:r>
            <a:endParaRPr lang="en-US" altLang="zh-CN" sz="2400" dirty="0">
              <a:latin typeface="SimHei" panose="02010609060101010101" pitchFamily="49" charset="-122"/>
              <a:ea typeface="SimHei" panose="02010609060101010101" pitchFamily="49" charset="-122"/>
            </a:endParaRPr>
          </a:p>
          <a:p>
            <a:pPr>
              <a:lnSpc>
                <a:spcPct val="150000"/>
              </a:lnSpc>
            </a:pPr>
            <a:endParaRPr lang="en-US" altLang="zh-CN" sz="2400" dirty="0">
              <a:latin typeface="SimHei" panose="02010609060101010101" pitchFamily="49" charset="-122"/>
              <a:ea typeface="SimHei" panose="02010609060101010101" pitchFamily="49" charset="-122"/>
            </a:endParaRPr>
          </a:p>
          <a:p>
            <a:pPr>
              <a:lnSpc>
                <a:spcPct val="150000"/>
              </a:lnSpc>
            </a:pPr>
            <a:r>
              <a:rPr lang="zh-CN" altLang="en-US" sz="2400" dirty="0">
                <a:latin typeface="SimHei" panose="02010609060101010101" pitchFamily="49" charset="-122"/>
                <a:ea typeface="SimHei" panose="02010609060101010101" pitchFamily="49" charset="-122"/>
              </a:rPr>
              <a:t>半永久性染发剂主要包括硝基苯二胺，硝基氨苯酚，氨基蒽醌，萘醌，偶氮、碱性、活性和金属染料等，这些染料分子量较低、可渗透入外皮和部分渗透进皮质的染料。</a:t>
            </a:r>
            <a:endParaRPr lang="en-US" altLang="zh-CN"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7494978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半永久性染发剂常用的染料</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7458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zh-CN" sz="2400" dirty="0">
                <a:latin typeface="+mn-lt"/>
                <a:ea typeface="SimHei" panose="02010609060101010101" pitchFamily="49" charset="-122"/>
              </a:rPr>
              <a:t>HC</a:t>
            </a:r>
            <a:r>
              <a:rPr lang="zh-CN" altLang="en-US" sz="2400" dirty="0">
                <a:latin typeface="+mn-lt"/>
                <a:ea typeface="SimHei" panose="02010609060101010101" pitchFamily="49" charset="-122"/>
              </a:rPr>
              <a:t>黄</a:t>
            </a:r>
            <a:r>
              <a:rPr lang="en-US" altLang="zh-CN" sz="2400" dirty="0">
                <a:latin typeface="+mn-lt"/>
                <a:ea typeface="SimHei" panose="02010609060101010101" pitchFamily="49" charset="-122"/>
              </a:rPr>
              <a:t>2</a:t>
            </a:r>
            <a:r>
              <a:rPr lang="zh-CN" altLang="en-US" sz="2400" dirty="0">
                <a:latin typeface="+mn-lt"/>
                <a:ea typeface="SimHei" panose="02010609060101010101" pitchFamily="49" charset="-122"/>
              </a:rPr>
              <a:t>号，</a:t>
            </a:r>
            <a:r>
              <a:rPr lang="en-US" altLang="zh-CN" sz="2400" dirty="0">
                <a:latin typeface="+mn-lt"/>
                <a:ea typeface="SimHei" panose="02010609060101010101" pitchFamily="49" charset="-122"/>
              </a:rPr>
              <a:t>CAS 4926-55-0</a:t>
            </a:r>
          </a:p>
        </p:txBody>
      </p:sp>
      <p:pic>
        <p:nvPicPr>
          <p:cNvPr id="6" name="图片 5">
            <a:extLst>
              <a:ext uri="{FF2B5EF4-FFF2-40B4-BE49-F238E27FC236}">
                <a16:creationId xmlns:a16="http://schemas.microsoft.com/office/drawing/2014/main" id="{EA2AF835-3B26-F92A-DB2F-5BA2EB742C8B}"/>
              </a:ext>
            </a:extLst>
          </p:cNvPr>
          <p:cNvPicPr>
            <a:picLocks noChangeAspect="1"/>
          </p:cNvPicPr>
          <p:nvPr/>
        </p:nvPicPr>
        <p:blipFill>
          <a:blip r:embed="rId2"/>
          <a:stretch>
            <a:fillRect/>
          </a:stretch>
        </p:blipFill>
        <p:spPr>
          <a:xfrm>
            <a:off x="3602420" y="2583382"/>
            <a:ext cx="2286000" cy="1691235"/>
          </a:xfrm>
          <a:prstGeom prst="rect">
            <a:avLst/>
          </a:prstGeom>
        </p:spPr>
      </p:pic>
    </p:spTree>
    <p:extLst>
      <p:ext uri="{BB962C8B-B14F-4D97-AF65-F5344CB8AC3E}">
        <p14:creationId xmlns:p14="http://schemas.microsoft.com/office/powerpoint/2010/main" val="14823617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半永久性染发剂常用的染料</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7458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zh-CN" sz="2400" dirty="0">
                <a:latin typeface="+mn-lt"/>
                <a:ea typeface="SimHei" panose="02010609060101010101" pitchFamily="49" charset="-122"/>
              </a:rPr>
              <a:t>4-</a:t>
            </a:r>
            <a:r>
              <a:rPr lang="zh-CN" altLang="en-US" sz="2400" dirty="0">
                <a:latin typeface="+mn-lt"/>
                <a:ea typeface="SimHei" panose="02010609060101010101" pitchFamily="49" charset="-122"/>
              </a:rPr>
              <a:t>羟丙氨基</a:t>
            </a:r>
            <a:r>
              <a:rPr lang="en-US" altLang="zh-CN" sz="2400" dirty="0">
                <a:latin typeface="+mn-lt"/>
                <a:ea typeface="SimHei" panose="02010609060101010101" pitchFamily="49" charset="-122"/>
              </a:rPr>
              <a:t>-3-</a:t>
            </a:r>
            <a:r>
              <a:rPr lang="zh-CN" altLang="en-US" sz="2400" dirty="0">
                <a:latin typeface="+mn-lt"/>
                <a:ea typeface="SimHei" panose="02010609060101010101" pitchFamily="49" charset="-122"/>
              </a:rPr>
              <a:t>硝基苯酚，</a:t>
            </a:r>
            <a:r>
              <a:rPr lang="en-US" altLang="zh-CN" sz="2400" dirty="0">
                <a:latin typeface="+mn-lt"/>
                <a:ea typeface="SimHei" panose="02010609060101010101" pitchFamily="49" charset="-122"/>
              </a:rPr>
              <a:t>CAS</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92952-81-3</a:t>
            </a:r>
          </a:p>
        </p:txBody>
      </p:sp>
      <p:pic>
        <p:nvPicPr>
          <p:cNvPr id="6" name="图片 5">
            <a:extLst>
              <a:ext uri="{FF2B5EF4-FFF2-40B4-BE49-F238E27FC236}">
                <a16:creationId xmlns:a16="http://schemas.microsoft.com/office/drawing/2014/main" id="{3AE68143-6A21-82EF-ED97-04227713B4A5}"/>
              </a:ext>
            </a:extLst>
          </p:cNvPr>
          <p:cNvPicPr>
            <a:picLocks noChangeAspect="1"/>
          </p:cNvPicPr>
          <p:nvPr/>
        </p:nvPicPr>
        <p:blipFill>
          <a:blip r:embed="rId2"/>
          <a:stretch>
            <a:fillRect/>
          </a:stretch>
        </p:blipFill>
        <p:spPr>
          <a:xfrm>
            <a:off x="2890157" y="2571244"/>
            <a:ext cx="3363686" cy="1715512"/>
          </a:xfrm>
          <a:prstGeom prst="rect">
            <a:avLst/>
          </a:prstGeom>
        </p:spPr>
      </p:pic>
    </p:spTree>
    <p:extLst>
      <p:ext uri="{BB962C8B-B14F-4D97-AF65-F5344CB8AC3E}">
        <p14:creationId xmlns:p14="http://schemas.microsoft.com/office/powerpoint/2010/main" val="36010492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半永久性染发剂常用的染料</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7458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碱性红</a:t>
            </a:r>
            <a:r>
              <a:rPr lang="en-US" altLang="zh-CN" sz="2400" dirty="0">
                <a:latin typeface="+mn-lt"/>
                <a:ea typeface="SimHei" panose="02010609060101010101" pitchFamily="49" charset="-122"/>
              </a:rPr>
              <a:t>51</a:t>
            </a:r>
            <a:r>
              <a:rPr lang="zh-CN" altLang="en-US" sz="2400" dirty="0">
                <a:latin typeface="+mn-lt"/>
                <a:ea typeface="SimHei" panose="02010609060101010101" pitchFamily="49" charset="-122"/>
              </a:rPr>
              <a:t>号，</a:t>
            </a:r>
            <a:r>
              <a:rPr lang="en-US" altLang="zh-CN" sz="2400" dirty="0">
                <a:latin typeface="+mn-lt"/>
                <a:ea typeface="SimHei" panose="02010609060101010101" pitchFamily="49" charset="-122"/>
              </a:rPr>
              <a:t>CAS</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77061-58-6</a:t>
            </a:r>
          </a:p>
        </p:txBody>
      </p:sp>
      <p:pic>
        <p:nvPicPr>
          <p:cNvPr id="6" name="图片 5">
            <a:extLst>
              <a:ext uri="{FF2B5EF4-FFF2-40B4-BE49-F238E27FC236}">
                <a16:creationId xmlns:a16="http://schemas.microsoft.com/office/drawing/2014/main" id="{A3788A54-52A6-19DD-38C7-B2F579581600}"/>
              </a:ext>
            </a:extLst>
          </p:cNvPr>
          <p:cNvPicPr>
            <a:picLocks noChangeAspect="1"/>
          </p:cNvPicPr>
          <p:nvPr/>
        </p:nvPicPr>
        <p:blipFill>
          <a:blip r:embed="rId2"/>
          <a:stretch>
            <a:fillRect/>
          </a:stretch>
        </p:blipFill>
        <p:spPr>
          <a:xfrm>
            <a:off x="2988128" y="2482232"/>
            <a:ext cx="3167743" cy="1893536"/>
          </a:xfrm>
          <a:prstGeom prst="rect">
            <a:avLst/>
          </a:prstGeom>
        </p:spPr>
      </p:pic>
      <p:sp>
        <p:nvSpPr>
          <p:cNvPr id="8" name="文本框 7">
            <a:extLst>
              <a:ext uri="{FF2B5EF4-FFF2-40B4-BE49-F238E27FC236}">
                <a16:creationId xmlns:a16="http://schemas.microsoft.com/office/drawing/2014/main" id="{D37CF91C-683D-1468-928E-1CE73D27D71B}"/>
              </a:ext>
            </a:extLst>
          </p:cNvPr>
          <p:cNvSpPr txBox="1"/>
          <p:nvPr/>
        </p:nvSpPr>
        <p:spPr>
          <a:xfrm>
            <a:off x="3044847" y="5316149"/>
            <a:ext cx="3054306" cy="577850"/>
          </a:xfrm>
          <a:prstGeom prst="rect">
            <a:avLst/>
          </a:prstGeom>
          <a:noFill/>
        </p:spPr>
        <p:txBody>
          <a:bodyPr wrap="square" rtlCol="0">
            <a:spAutoFit/>
          </a:bodyPr>
          <a:lstStyle/>
          <a:p>
            <a:pPr algn="ctr">
              <a:lnSpc>
                <a:spcPct val="150000"/>
              </a:lnSpc>
            </a:pPr>
            <a:r>
              <a:rPr lang="zh-CN" altLang="en-US" sz="2400" i="1" dirty="0">
                <a:latin typeface="+mn-lt"/>
                <a:ea typeface="SimHei" panose="02010609060101010101" pitchFamily="49" charset="-122"/>
              </a:rPr>
              <a:t>抗衡离子为</a:t>
            </a:r>
            <a:r>
              <a:rPr lang="en-US" altLang="zh-CN" sz="2400" i="1" dirty="0">
                <a:latin typeface="+mn-lt"/>
                <a:ea typeface="SimHei" panose="02010609060101010101" pitchFamily="49" charset="-122"/>
              </a:rPr>
              <a:t>Cl</a:t>
            </a:r>
            <a:r>
              <a:rPr lang="en-US" altLang="zh-CN" sz="2400" i="1" baseline="30000" dirty="0">
                <a:latin typeface="+mn-lt"/>
                <a:ea typeface="SimHei" panose="02010609060101010101" pitchFamily="49" charset="-122"/>
              </a:rPr>
              <a:t>-</a:t>
            </a:r>
          </a:p>
        </p:txBody>
      </p:sp>
    </p:spTree>
    <p:extLst>
      <p:ext uri="{BB962C8B-B14F-4D97-AF65-F5344CB8AC3E}">
        <p14:creationId xmlns:p14="http://schemas.microsoft.com/office/powerpoint/2010/main" val="36310456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永久性染发剂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165614"/>
            <a:ext cx="8778240" cy="279057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永久性染发剂包括</a:t>
            </a:r>
            <a:r>
              <a:rPr lang="zh-CN" altLang="en-US" sz="2400" dirty="0">
                <a:solidFill>
                  <a:srgbClr val="0000FF"/>
                </a:solidFill>
                <a:latin typeface="+mn-lt"/>
                <a:ea typeface="SimHei" panose="02010609060101010101" pitchFamily="49" charset="-122"/>
              </a:rPr>
              <a:t>染料中间体和偶合剂</a:t>
            </a:r>
            <a:r>
              <a:rPr lang="en-US" altLang="zh-CN" sz="2400" dirty="0">
                <a:solidFill>
                  <a:srgbClr val="0000FF"/>
                </a:solidFill>
                <a:latin typeface="+mn-lt"/>
                <a:ea typeface="SimHei" panose="02010609060101010101" pitchFamily="49" charset="-122"/>
              </a:rPr>
              <a:t>(</a:t>
            </a:r>
            <a:r>
              <a:rPr lang="zh-CN" altLang="en-US" sz="2400" dirty="0">
                <a:solidFill>
                  <a:srgbClr val="0000FF"/>
                </a:solidFill>
                <a:latin typeface="+mn-lt"/>
                <a:ea typeface="SimHei" panose="02010609060101010101" pitchFamily="49" charset="-122"/>
              </a:rPr>
              <a:t>或称改性剂</a:t>
            </a:r>
            <a:r>
              <a:rPr lang="en-US" altLang="zh-CN" sz="2400" dirty="0">
                <a:solidFill>
                  <a:srgbClr val="0000FF"/>
                </a:solidFill>
                <a:latin typeface="+mn-lt"/>
                <a:ea typeface="SimHei" panose="02010609060101010101" pitchFamily="49" charset="-122"/>
              </a:rPr>
              <a:t>)</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两者总称为</a:t>
            </a:r>
            <a:r>
              <a:rPr lang="zh-CN" altLang="en-US" sz="2400" dirty="0">
                <a:solidFill>
                  <a:srgbClr val="0000FF"/>
                </a:solidFill>
                <a:latin typeface="+mn-lt"/>
                <a:ea typeface="SimHei" panose="02010609060101010101" pitchFamily="49" charset="-122"/>
              </a:rPr>
              <a:t>染料前体</a:t>
            </a:r>
            <a:r>
              <a:rPr lang="zh-CN" altLang="en-US" sz="2400" dirty="0">
                <a:latin typeface="+mn-lt"/>
                <a:ea typeface="SimHei" panose="02010609060101010101" pitchFamily="49" charset="-122"/>
              </a:rPr>
              <a:t>。</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这些中间体和偶合剂渗透进入头发的毛表皮后，发生氧化反应、偶合和缩合反应</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一般</a:t>
            </a:r>
            <a:r>
              <a:rPr lang="zh-CN" altLang="en-US" sz="2400" dirty="0">
                <a:solidFill>
                  <a:srgbClr val="0000FF"/>
                </a:solidFill>
                <a:latin typeface="+mn-lt"/>
                <a:ea typeface="SimHei" panose="02010609060101010101" pitchFamily="49" charset="-122"/>
              </a:rPr>
              <a:t>在氧化剂，如过氧化氢作用下进行</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形成较大的染料分子，被封闭在 头发纤维内。</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31878410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染料中间体</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112857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显色的染料中间体主要有对氨基苯酚、对苯二胺等；偶合剂主要有间氨基苯酚、 间苯二酚等</a:t>
            </a:r>
            <a:endParaRPr lang="en-US" altLang="zh-CN" sz="2400" dirty="0">
              <a:latin typeface="+mn-lt"/>
              <a:ea typeface="SimHei" panose="02010609060101010101" pitchFamily="49" charset="-122"/>
            </a:endParaRPr>
          </a:p>
        </p:txBody>
      </p:sp>
      <p:pic>
        <p:nvPicPr>
          <p:cNvPr id="6" name="图片 5">
            <a:extLst>
              <a:ext uri="{FF2B5EF4-FFF2-40B4-BE49-F238E27FC236}">
                <a16:creationId xmlns:a16="http://schemas.microsoft.com/office/drawing/2014/main" id="{1A3E02B3-F2D3-29D3-5A1D-06FF8EEF227A}"/>
              </a:ext>
            </a:extLst>
          </p:cNvPr>
          <p:cNvPicPr>
            <a:picLocks noChangeAspect="1"/>
          </p:cNvPicPr>
          <p:nvPr/>
        </p:nvPicPr>
        <p:blipFill>
          <a:blip r:embed="rId2"/>
          <a:stretch>
            <a:fillRect/>
          </a:stretch>
        </p:blipFill>
        <p:spPr>
          <a:xfrm>
            <a:off x="1624417" y="2178972"/>
            <a:ext cx="5895166" cy="4514708"/>
          </a:xfrm>
          <a:prstGeom prst="rect">
            <a:avLst/>
          </a:prstGeom>
        </p:spPr>
      </p:pic>
    </p:spTree>
    <p:extLst>
      <p:ext uri="{BB962C8B-B14F-4D97-AF65-F5344CB8AC3E}">
        <p14:creationId xmlns:p14="http://schemas.microsoft.com/office/powerpoint/2010/main" val="31837829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氧化剂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390183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zh-CN" sz="2400" dirty="0">
                <a:latin typeface="+mn-lt"/>
                <a:ea typeface="SimHei" panose="02010609060101010101" pitchFamily="49" charset="-122"/>
              </a:rPr>
              <a:t>Ⅱ</a:t>
            </a:r>
            <a:r>
              <a:rPr lang="zh-CN" altLang="en-US" sz="2400" dirty="0">
                <a:latin typeface="+mn-lt"/>
                <a:ea typeface="SimHei" panose="02010609060101010101" pitchFamily="49" charset="-122"/>
              </a:rPr>
              <a:t>剂中加入过氧化物作为氧化剂以使 </a:t>
            </a:r>
            <a:r>
              <a:rPr lang="en-US" altLang="zh-CN" sz="2400" dirty="0">
                <a:latin typeface="Times New Roman" panose="02020603050405020304" pitchFamily="18" charset="0"/>
                <a:ea typeface="SimHei" panose="02010609060101010101" pitchFamily="49" charset="-122"/>
                <a:cs typeface="Times New Roman" panose="02020603050405020304" pitchFamily="18" charset="0"/>
              </a:rPr>
              <a:t>I</a:t>
            </a:r>
            <a:r>
              <a:rPr lang="en-US" altLang="zh-CN" sz="2400" dirty="0">
                <a:latin typeface="+mn-lt"/>
                <a:ea typeface="SimHei" panose="02010609060101010101" pitchFamily="49" charset="-122"/>
              </a:rPr>
              <a:t> </a:t>
            </a:r>
            <a:r>
              <a:rPr lang="zh-CN" altLang="en-US" sz="2400" dirty="0">
                <a:latin typeface="+mn-lt"/>
                <a:ea typeface="SimHei" panose="02010609060101010101" pitchFamily="49" charset="-122"/>
              </a:rPr>
              <a:t>剂的中间体显色，常用的过氧化物是</a:t>
            </a:r>
            <a:r>
              <a:rPr lang="zh-CN" altLang="en-US" sz="2400" dirty="0">
                <a:solidFill>
                  <a:srgbClr val="0000FF"/>
                </a:solidFill>
                <a:latin typeface="+mn-lt"/>
                <a:ea typeface="SimHei" panose="02010609060101010101" pitchFamily="49" charset="-122"/>
              </a:rPr>
              <a:t>过氧化氢</a:t>
            </a:r>
            <a:r>
              <a:rPr lang="en-US" altLang="zh-CN" sz="2400" dirty="0">
                <a:solidFill>
                  <a:srgbClr val="0000FF"/>
                </a:solidFill>
                <a:latin typeface="+mn-lt"/>
                <a:ea typeface="SimHei" panose="02010609060101010101" pitchFamily="49" charset="-122"/>
              </a:rPr>
              <a:t>(</a:t>
            </a:r>
            <a:r>
              <a:rPr lang="zh-CN" altLang="en-US" sz="2400" dirty="0">
                <a:solidFill>
                  <a:srgbClr val="0000FF"/>
                </a:solidFill>
                <a:latin typeface="+mn-lt"/>
                <a:ea typeface="SimHei" panose="02010609060101010101" pitchFamily="49" charset="-122"/>
              </a:rPr>
              <a:t>即双氧水</a:t>
            </a:r>
            <a:r>
              <a:rPr lang="en-US" altLang="zh-CN" sz="2400" dirty="0">
                <a:solidFill>
                  <a:srgbClr val="0000FF"/>
                </a:solidFill>
                <a:latin typeface="+mn-lt"/>
                <a:ea typeface="SimHei" panose="02010609060101010101" pitchFamily="49" charset="-122"/>
              </a:rPr>
              <a:t>)</a:t>
            </a:r>
            <a:r>
              <a:rPr lang="en-US" altLang="zh-CN" sz="2400" dirty="0">
                <a:latin typeface="+mn-lt"/>
                <a:ea typeface="SimHei" panose="02010609060101010101" pitchFamily="49" charset="-122"/>
              </a:rPr>
              <a:t>, </a:t>
            </a:r>
            <a:r>
              <a:rPr lang="zh-CN" altLang="en-US" sz="2400" dirty="0">
                <a:latin typeface="+mn-lt"/>
                <a:ea typeface="SimHei" panose="02010609060101010101" pitchFamily="49" charset="-122"/>
              </a:rPr>
              <a:t>它在一定的浓度才有以下功能：氧化黑色素以减少天然颜料的含量</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漂白</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、将颗粒状的颜料转化为弥散状的颜料、氧化不完全影响染发效 果。但浓度也不宜过高，浓度过高会导致头发中硫元素的流失</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导致头发变得硬、轻、细</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a:t>
            </a: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33847465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永久性氧化型染发剂配方</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168257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这类染发剂在染发产品市场中占主导地位，约占市售染发剂的</a:t>
            </a:r>
            <a:r>
              <a:rPr lang="en-US" altLang="zh-CN" sz="2400" dirty="0">
                <a:latin typeface="+mn-lt"/>
                <a:ea typeface="SimHei" panose="02010609060101010101" pitchFamily="49" charset="-122"/>
              </a:rPr>
              <a:t>80%,</a:t>
            </a:r>
            <a:r>
              <a:rPr lang="zh-CN" altLang="en-US" sz="2400" dirty="0">
                <a:latin typeface="+mn-lt"/>
                <a:ea typeface="SimHei" panose="02010609060101010101" pitchFamily="49" charset="-122"/>
              </a:rPr>
              <a:t>它可以持久有效地改变头发的颜色，可以</a:t>
            </a:r>
            <a:r>
              <a:rPr lang="en-US" altLang="zh-CN" sz="2400" dirty="0">
                <a:latin typeface="+mn-lt"/>
                <a:ea typeface="SimHei" panose="02010609060101010101" pitchFamily="49" charset="-122"/>
              </a:rPr>
              <a:t>100%</a:t>
            </a:r>
            <a:r>
              <a:rPr lang="zh-CN" altLang="en-US" sz="2400" dirty="0">
                <a:latin typeface="+mn-lt"/>
                <a:ea typeface="SimHei" panose="02010609060101010101" pitchFamily="49" charset="-122"/>
              </a:rPr>
              <a:t>遮盖头发的原有色彩。</a:t>
            </a:r>
            <a:endParaRPr lang="en-US" altLang="zh-CN" sz="2400" dirty="0">
              <a:latin typeface="+mn-lt"/>
              <a:ea typeface="SimHei" panose="02010609060101010101" pitchFamily="49" charset="-122"/>
            </a:endParaRPr>
          </a:p>
        </p:txBody>
      </p:sp>
      <p:graphicFrame>
        <p:nvGraphicFramePr>
          <p:cNvPr id="5" name="表格 4">
            <a:extLst>
              <a:ext uri="{FF2B5EF4-FFF2-40B4-BE49-F238E27FC236}">
                <a16:creationId xmlns:a16="http://schemas.microsoft.com/office/drawing/2014/main" id="{DE6035C9-1983-F2F6-1A8D-15865D70C5B3}"/>
              </a:ext>
            </a:extLst>
          </p:cNvPr>
          <p:cNvGraphicFramePr>
            <a:graphicFrameLocks noGrp="1"/>
          </p:cNvGraphicFramePr>
          <p:nvPr>
            <p:extLst>
              <p:ext uri="{D42A27DB-BD31-4B8C-83A1-F6EECF244321}">
                <p14:modId xmlns:p14="http://schemas.microsoft.com/office/powerpoint/2010/main" val="3362630607"/>
              </p:ext>
            </p:extLst>
          </p:nvPr>
        </p:nvGraphicFramePr>
        <p:xfrm>
          <a:off x="182879" y="3239130"/>
          <a:ext cx="8778239" cy="2400999"/>
        </p:xfrm>
        <a:graphic>
          <a:graphicData uri="http://schemas.openxmlformats.org/drawingml/2006/table">
            <a:tbl>
              <a:tblPr firstRow="1" firstCol="1" bandRow="1">
                <a:tableStyleId>{72833802-FEF1-4C79-8D5D-14CF1EAF98D9}</a:tableStyleId>
              </a:tblPr>
              <a:tblGrid>
                <a:gridCol w="1513490">
                  <a:extLst>
                    <a:ext uri="{9D8B030D-6E8A-4147-A177-3AD203B41FA5}">
                      <a16:colId xmlns:a16="http://schemas.microsoft.com/office/drawing/2014/main" val="2432905154"/>
                    </a:ext>
                  </a:extLst>
                </a:gridCol>
                <a:gridCol w="2110704">
                  <a:extLst>
                    <a:ext uri="{9D8B030D-6E8A-4147-A177-3AD203B41FA5}">
                      <a16:colId xmlns:a16="http://schemas.microsoft.com/office/drawing/2014/main" val="2884527346"/>
                    </a:ext>
                  </a:extLst>
                </a:gridCol>
                <a:gridCol w="2511575">
                  <a:extLst>
                    <a:ext uri="{9D8B030D-6E8A-4147-A177-3AD203B41FA5}">
                      <a16:colId xmlns:a16="http://schemas.microsoft.com/office/drawing/2014/main" val="2322167064"/>
                    </a:ext>
                  </a:extLst>
                </a:gridCol>
                <a:gridCol w="2642470">
                  <a:extLst>
                    <a:ext uri="{9D8B030D-6E8A-4147-A177-3AD203B41FA5}">
                      <a16:colId xmlns:a16="http://schemas.microsoft.com/office/drawing/2014/main" val="1705893860"/>
                    </a:ext>
                  </a:extLst>
                </a:gridCol>
              </a:tblGrid>
              <a:tr h="250190">
                <a:tc>
                  <a:txBody>
                    <a:bodyPr/>
                    <a:lstStyle/>
                    <a:p>
                      <a:pPr marL="387350" marR="0" eaLnBrk="0">
                        <a:lnSpc>
                          <a:spcPct val="92000"/>
                        </a:lnSpc>
                        <a:spcBef>
                          <a:spcPts val="470"/>
                        </a:spcBef>
                        <a:spcAft>
                          <a:spcPts val="0"/>
                        </a:spcAft>
                      </a:pPr>
                      <a:r>
                        <a:rPr lang="zh-CN" sz="1800" spc="-20">
                          <a:effectLst/>
                          <a:latin typeface="SimHei" panose="02010609060101010101" pitchFamily="49" charset="-122"/>
                          <a:ea typeface="SimHei" panose="02010609060101010101" pitchFamily="49" charset="-122"/>
                        </a:rPr>
                        <a:t>颜</a:t>
                      </a:r>
                      <a:r>
                        <a:rPr lang="en-US" sz="1800" spc="25">
                          <a:effectLst/>
                          <a:latin typeface="SimHei" panose="02010609060101010101" pitchFamily="49" charset="-122"/>
                          <a:ea typeface="SimHei" panose="02010609060101010101" pitchFamily="49" charset="-122"/>
                        </a:rPr>
                        <a:t>  </a:t>
                      </a:r>
                      <a:r>
                        <a:rPr lang="zh-CN" sz="1800" spc="-20">
                          <a:effectLst/>
                          <a:latin typeface="SimHei" panose="02010609060101010101" pitchFamily="49" charset="-122"/>
                          <a:ea typeface="SimHei" panose="02010609060101010101" pitchFamily="49" charset="-122"/>
                        </a:rPr>
                        <a:t>色</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625475" marR="0" eaLnBrk="0">
                        <a:lnSpc>
                          <a:spcPct val="91000"/>
                        </a:lnSpc>
                        <a:spcBef>
                          <a:spcPts val="470"/>
                        </a:spcBef>
                        <a:spcAft>
                          <a:spcPts val="0"/>
                        </a:spcAft>
                      </a:pPr>
                      <a:r>
                        <a:rPr lang="zh-CN" sz="1800" spc="20">
                          <a:effectLst/>
                          <a:latin typeface="SimHei" panose="02010609060101010101" pitchFamily="49" charset="-122"/>
                          <a:ea typeface="SimHei" panose="02010609060101010101" pitchFamily="49" charset="-122"/>
                        </a:rPr>
                        <a:t>自然黑</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770890" marR="0" eaLnBrk="0">
                        <a:lnSpc>
                          <a:spcPct val="92000"/>
                        </a:lnSpc>
                        <a:spcBef>
                          <a:spcPts val="480"/>
                        </a:spcBef>
                        <a:spcAft>
                          <a:spcPts val="0"/>
                        </a:spcAft>
                      </a:pPr>
                      <a:r>
                        <a:rPr lang="zh-CN" sz="1800" spc="15">
                          <a:effectLst/>
                          <a:latin typeface="SimHei" panose="02010609060101010101" pitchFamily="49" charset="-122"/>
                          <a:ea typeface="SimHei" panose="02010609060101010101" pitchFamily="49" charset="-122"/>
                        </a:rPr>
                        <a:t>咖啡色</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815975" marR="0" eaLnBrk="0">
                        <a:lnSpc>
                          <a:spcPct val="91000"/>
                        </a:lnSpc>
                        <a:spcBef>
                          <a:spcPts val="465"/>
                        </a:spcBef>
                        <a:spcAft>
                          <a:spcPts val="0"/>
                        </a:spcAft>
                      </a:pPr>
                      <a:r>
                        <a:rPr lang="zh-CN" sz="1800" spc="-20">
                          <a:effectLst/>
                          <a:latin typeface="SimHei" panose="02010609060101010101" pitchFamily="49" charset="-122"/>
                          <a:ea typeface="SimHei" panose="02010609060101010101" pitchFamily="49" charset="-122"/>
                        </a:rPr>
                        <a:t>棕</a:t>
                      </a:r>
                      <a:r>
                        <a:rPr lang="en-US" sz="1800" spc="25">
                          <a:effectLst/>
                          <a:latin typeface="SimHei" panose="02010609060101010101" pitchFamily="49" charset="-122"/>
                          <a:ea typeface="SimHei" panose="02010609060101010101" pitchFamily="49" charset="-122"/>
                        </a:rPr>
                        <a:t>  </a:t>
                      </a:r>
                      <a:r>
                        <a:rPr lang="zh-CN" sz="1800" spc="-20">
                          <a:effectLst/>
                          <a:latin typeface="SimHei" panose="02010609060101010101" pitchFamily="49" charset="-122"/>
                          <a:ea typeface="SimHei" panose="02010609060101010101" pitchFamily="49" charset="-122"/>
                        </a:rPr>
                        <a:t>色</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2430849766"/>
                  </a:ext>
                </a:extLst>
              </a:tr>
              <a:tr h="1502410">
                <a:tc>
                  <a:txBody>
                    <a:bodyPr/>
                    <a:lstStyle/>
                    <a:p>
                      <a:pPr marL="120650" marR="0" eaLnBrk="0">
                        <a:lnSpc>
                          <a:spcPct val="91000"/>
                        </a:lnSpc>
                        <a:spcBef>
                          <a:spcPts val="400"/>
                        </a:spcBef>
                        <a:spcAft>
                          <a:spcPts val="0"/>
                        </a:spcAft>
                      </a:pPr>
                      <a:r>
                        <a:rPr lang="zh-CN" sz="1800" spc="5">
                          <a:effectLst/>
                          <a:latin typeface="SimHei" panose="02010609060101010101" pitchFamily="49" charset="-122"/>
                          <a:ea typeface="SimHei" panose="02010609060101010101" pitchFamily="49" charset="-122"/>
                        </a:rPr>
                        <a:t>染料中间体配比</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56540" marR="0" eaLnBrk="0">
                        <a:lnSpc>
                          <a:spcPct val="91000"/>
                        </a:lnSpc>
                        <a:spcBef>
                          <a:spcPts val="690"/>
                        </a:spcBef>
                        <a:spcAft>
                          <a:spcPts val="0"/>
                        </a:spcAft>
                      </a:pPr>
                      <a:r>
                        <a:rPr lang="zh-CN" sz="1800" spc="-5">
                          <a:effectLst/>
                          <a:latin typeface="SimHei" panose="02010609060101010101" pitchFamily="49" charset="-122"/>
                          <a:ea typeface="SimHei" panose="02010609060101010101" pitchFamily="49" charset="-122"/>
                        </a:rPr>
                        <a:t>对苯二胺</a:t>
                      </a:r>
                      <a:r>
                        <a:rPr lang="en-US" sz="1800" spc="-5">
                          <a:effectLst/>
                          <a:latin typeface="SimHei" panose="02010609060101010101" pitchFamily="49" charset="-122"/>
                          <a:ea typeface="SimHei" panose="02010609060101010101" pitchFamily="49" charset="-122"/>
                        </a:rPr>
                        <a:t>1.8%</a:t>
                      </a:r>
                      <a:endParaRPr lang="en-US" sz="1800">
                        <a:effectLst/>
                        <a:latin typeface="SimHei" panose="02010609060101010101" pitchFamily="49" charset="-122"/>
                        <a:ea typeface="SimHei" panose="02010609060101010101" pitchFamily="49" charset="-122"/>
                      </a:endParaRPr>
                    </a:p>
                    <a:p>
                      <a:pPr marL="256540" marR="0" eaLnBrk="0">
                        <a:lnSpc>
                          <a:spcPct val="91000"/>
                        </a:lnSpc>
                        <a:spcBef>
                          <a:spcPts val="750"/>
                        </a:spcBef>
                        <a:spcAft>
                          <a:spcPts val="0"/>
                        </a:spcAft>
                      </a:pPr>
                      <a:r>
                        <a:rPr lang="zh-CN" sz="1800">
                          <a:effectLst/>
                          <a:latin typeface="SimHei" panose="02010609060101010101" pitchFamily="49" charset="-122"/>
                          <a:ea typeface="SimHei" panose="02010609060101010101" pitchFamily="49" charset="-122"/>
                        </a:rPr>
                        <a:t>间氨基苯酚</a:t>
                      </a:r>
                      <a:r>
                        <a:rPr lang="en-US" sz="1800">
                          <a:effectLst/>
                          <a:latin typeface="SimHei" panose="02010609060101010101" pitchFamily="49" charset="-122"/>
                          <a:ea typeface="SimHei" panose="02010609060101010101" pitchFamily="49" charset="-122"/>
                        </a:rPr>
                        <a:t>0.27%</a:t>
                      </a:r>
                    </a:p>
                    <a:p>
                      <a:pPr marL="98425" marR="164465" indent="158115" eaLnBrk="0">
                        <a:lnSpc>
                          <a:spcPct val="97000"/>
                        </a:lnSpc>
                        <a:spcBef>
                          <a:spcPts val="690"/>
                        </a:spcBef>
                        <a:spcAft>
                          <a:spcPts val="0"/>
                        </a:spcAft>
                      </a:pPr>
                      <a:r>
                        <a:rPr lang="en-US" sz="1800" spc="5">
                          <a:effectLst/>
                          <a:latin typeface="SimHei" panose="02010609060101010101" pitchFamily="49" charset="-122"/>
                          <a:ea typeface="SimHei" panose="02010609060101010101" pitchFamily="49" charset="-122"/>
                        </a:rPr>
                        <a:t>2,4-</a:t>
                      </a:r>
                      <a:r>
                        <a:rPr lang="zh-CN" sz="1800" spc="5">
                          <a:effectLst/>
                          <a:latin typeface="SimHei" panose="02010609060101010101" pitchFamily="49" charset="-122"/>
                          <a:ea typeface="SimHei" panose="02010609060101010101" pitchFamily="49" charset="-122"/>
                        </a:rPr>
                        <a:t>二氨基苯氧基乙</a:t>
                      </a:r>
                      <a:r>
                        <a:rPr lang="zh-CN" sz="1800" spc="15">
                          <a:effectLst/>
                          <a:latin typeface="SimHei" panose="02010609060101010101" pitchFamily="49" charset="-122"/>
                          <a:ea typeface="SimHei" panose="02010609060101010101" pitchFamily="49" charset="-122"/>
                        </a:rPr>
                        <a:t> </a:t>
                      </a:r>
                      <a:r>
                        <a:rPr lang="zh-CN" sz="1800" spc="-10">
                          <a:effectLst/>
                          <a:latin typeface="SimHei" panose="02010609060101010101" pitchFamily="49" charset="-122"/>
                          <a:ea typeface="SimHei" panose="02010609060101010101" pitchFamily="49" charset="-122"/>
                        </a:rPr>
                        <a:t>醇盐酸盐</a:t>
                      </a:r>
                      <a:r>
                        <a:rPr lang="en-US" sz="1800" spc="-10">
                          <a:effectLst/>
                          <a:latin typeface="SimHei" panose="02010609060101010101" pitchFamily="49" charset="-122"/>
                          <a:ea typeface="SimHei" panose="02010609060101010101" pitchFamily="49" charset="-122"/>
                        </a:rPr>
                        <a:t>0.44%</a:t>
                      </a:r>
                      <a:endParaRPr lang="en-US" sz="1800">
                        <a:effectLst/>
                        <a:latin typeface="SimHei" panose="02010609060101010101" pitchFamily="49" charset="-122"/>
                        <a:ea typeface="SimHei" panose="02010609060101010101" pitchFamily="49" charset="-122"/>
                      </a:endParaRPr>
                    </a:p>
                    <a:p>
                      <a:pPr marL="256540" marR="0" eaLnBrk="0">
                        <a:lnSpc>
                          <a:spcPct val="91000"/>
                        </a:lnSpc>
                        <a:spcBef>
                          <a:spcPts val="685"/>
                        </a:spcBef>
                        <a:spcAft>
                          <a:spcPts val="0"/>
                        </a:spcAft>
                      </a:pPr>
                      <a:r>
                        <a:rPr lang="zh-CN" sz="1800">
                          <a:effectLst/>
                          <a:latin typeface="SimHei" panose="02010609060101010101" pitchFamily="49" charset="-122"/>
                          <a:ea typeface="SimHei" panose="02010609060101010101" pitchFamily="49" charset="-122"/>
                        </a:rPr>
                        <a:t>间苯二酚</a:t>
                      </a:r>
                      <a:r>
                        <a:rPr lang="en-US" sz="1800">
                          <a:effectLst/>
                          <a:latin typeface="SimHei" panose="02010609060101010101" pitchFamily="49" charset="-122"/>
                          <a:ea typeface="SimHei" panose="02010609060101010101" pitchFamily="49" charset="-122"/>
                        </a:rPr>
                        <a:t>1.03%</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57175" marR="0" eaLnBrk="0">
                        <a:lnSpc>
                          <a:spcPct val="91000"/>
                        </a:lnSpc>
                        <a:spcBef>
                          <a:spcPts val="690"/>
                        </a:spcBef>
                        <a:spcAft>
                          <a:spcPts val="0"/>
                        </a:spcAft>
                      </a:pPr>
                      <a:r>
                        <a:rPr lang="zh-CN" sz="1800" spc="5">
                          <a:effectLst/>
                          <a:latin typeface="SimHei" panose="02010609060101010101" pitchFamily="49" charset="-122"/>
                          <a:ea typeface="SimHei" panose="02010609060101010101" pitchFamily="49" charset="-122"/>
                        </a:rPr>
                        <a:t>间苯二酚</a:t>
                      </a:r>
                      <a:r>
                        <a:rPr lang="en-US" sz="1800" spc="5">
                          <a:effectLst/>
                          <a:latin typeface="SimHei" panose="02010609060101010101" pitchFamily="49" charset="-122"/>
                          <a:ea typeface="SimHei" panose="02010609060101010101" pitchFamily="49" charset="-122"/>
                        </a:rPr>
                        <a:t>0.2%</a:t>
                      </a:r>
                      <a:endParaRPr lang="en-US" sz="1800">
                        <a:effectLst/>
                        <a:latin typeface="SimHei" panose="02010609060101010101" pitchFamily="49" charset="-122"/>
                        <a:ea typeface="SimHei" panose="02010609060101010101" pitchFamily="49" charset="-122"/>
                      </a:endParaRPr>
                    </a:p>
                    <a:p>
                      <a:pPr marL="257175" marR="0" eaLnBrk="0">
                        <a:lnSpc>
                          <a:spcPct val="91000"/>
                        </a:lnSpc>
                        <a:spcBef>
                          <a:spcPts val="750"/>
                        </a:spcBef>
                        <a:spcAft>
                          <a:spcPts val="0"/>
                        </a:spcAft>
                      </a:pPr>
                      <a:r>
                        <a:rPr lang="zh-CN" sz="1800">
                          <a:effectLst/>
                          <a:latin typeface="SimHei" panose="02010609060101010101" pitchFamily="49" charset="-122"/>
                          <a:ea typeface="SimHei" panose="02010609060101010101" pitchFamily="49" charset="-122"/>
                        </a:rPr>
                        <a:t>间氨基苯酚</a:t>
                      </a:r>
                      <a:r>
                        <a:rPr lang="en-US" sz="1800">
                          <a:effectLst/>
                          <a:latin typeface="SimHei" panose="02010609060101010101" pitchFamily="49" charset="-122"/>
                          <a:ea typeface="SimHei" panose="02010609060101010101" pitchFamily="49" charset="-122"/>
                        </a:rPr>
                        <a:t>0.08%</a:t>
                      </a:r>
                    </a:p>
                    <a:p>
                      <a:pPr marL="104775" marR="184785" indent="120015" eaLnBrk="0">
                        <a:lnSpc>
                          <a:spcPct val="99000"/>
                        </a:lnSpc>
                        <a:spcBef>
                          <a:spcPts val="655"/>
                        </a:spcBef>
                        <a:spcAft>
                          <a:spcPts val="0"/>
                        </a:spcAft>
                      </a:pPr>
                      <a:r>
                        <a:rPr lang="en-US" sz="1800" spc="-5">
                          <a:effectLst/>
                          <a:latin typeface="SimHei" panose="02010609060101010101" pitchFamily="49" charset="-122"/>
                          <a:ea typeface="SimHei" panose="02010609060101010101" pitchFamily="49" charset="-122"/>
                        </a:rPr>
                        <a:t>N.N-</a:t>
                      </a:r>
                      <a:r>
                        <a:rPr lang="zh-CN" sz="1800" spc="-5">
                          <a:effectLst/>
                          <a:latin typeface="SimHei" panose="02010609060101010101" pitchFamily="49" charset="-122"/>
                          <a:ea typeface="SimHei" panose="02010609060101010101" pitchFamily="49" charset="-122"/>
                        </a:rPr>
                        <a:t>双</a:t>
                      </a:r>
                      <a:r>
                        <a:rPr lang="en-US" sz="1800" spc="-5">
                          <a:effectLst/>
                          <a:latin typeface="SimHei" panose="02010609060101010101" pitchFamily="49" charset="-122"/>
                          <a:ea typeface="SimHei" panose="02010609060101010101" pitchFamily="49" charset="-122"/>
                        </a:rPr>
                        <a:t>(2-</a:t>
                      </a:r>
                      <a:r>
                        <a:rPr lang="zh-CN" sz="1800" spc="-5">
                          <a:effectLst/>
                          <a:latin typeface="SimHei" panose="02010609060101010101" pitchFamily="49" charset="-122"/>
                          <a:ea typeface="SimHei" panose="02010609060101010101" pitchFamily="49" charset="-122"/>
                        </a:rPr>
                        <a:t>羟乙基</a:t>
                      </a:r>
                      <a:r>
                        <a:rPr lang="en-US" sz="1800" spc="-5">
                          <a:effectLst/>
                          <a:latin typeface="SimHei" panose="02010609060101010101" pitchFamily="49" charset="-122"/>
                          <a:ea typeface="SimHei" panose="02010609060101010101" pitchFamily="49" charset="-122"/>
                        </a:rPr>
                        <a:t>)-</a:t>
                      </a:r>
                      <a:r>
                        <a:rPr lang="zh-CN" sz="1800" spc="-5">
                          <a:effectLst/>
                          <a:latin typeface="SimHei" panose="02010609060101010101" pitchFamily="49" charset="-122"/>
                          <a:ea typeface="SimHei" panose="02010609060101010101" pitchFamily="49" charset="-122"/>
                        </a:rPr>
                        <a:t>对苯二</a:t>
                      </a:r>
                      <a:r>
                        <a:rPr lang="zh-CN" sz="1800" spc="65">
                          <a:effectLst/>
                          <a:latin typeface="SimHei" panose="02010609060101010101" pitchFamily="49" charset="-122"/>
                          <a:ea typeface="SimHei" panose="02010609060101010101" pitchFamily="49" charset="-122"/>
                        </a:rPr>
                        <a:t> </a:t>
                      </a:r>
                      <a:r>
                        <a:rPr lang="zh-CN" sz="1800" spc="-5">
                          <a:effectLst/>
                          <a:latin typeface="SimHei" panose="02010609060101010101" pitchFamily="49" charset="-122"/>
                          <a:ea typeface="SimHei" panose="02010609060101010101" pitchFamily="49" charset="-122"/>
                        </a:rPr>
                        <a:t>胺硫酸盐</a:t>
                      </a:r>
                      <a:r>
                        <a:rPr lang="en-US" sz="1800" spc="-5">
                          <a:effectLst/>
                          <a:latin typeface="SimHei" panose="02010609060101010101" pitchFamily="49" charset="-122"/>
                          <a:ea typeface="SimHei" panose="02010609060101010101" pitchFamily="49" charset="-122"/>
                        </a:rPr>
                        <a:t>0.2%</a:t>
                      </a:r>
                      <a:endParaRPr lang="en-US" sz="1800">
                        <a:effectLst/>
                        <a:latin typeface="SimHei" panose="02010609060101010101" pitchFamily="49" charset="-122"/>
                        <a:ea typeface="SimHei" panose="02010609060101010101" pitchFamily="49" charset="-122"/>
                      </a:endParaRPr>
                    </a:p>
                    <a:p>
                      <a:pPr marL="257175" marR="0" eaLnBrk="0">
                        <a:lnSpc>
                          <a:spcPts val="1635"/>
                        </a:lnSpc>
                        <a:spcBef>
                          <a:spcPts val="670"/>
                        </a:spcBef>
                        <a:spcAft>
                          <a:spcPts val="0"/>
                        </a:spcAft>
                      </a:pPr>
                      <a:r>
                        <a:rPr lang="zh-CN" sz="1800">
                          <a:effectLst/>
                          <a:latin typeface="SimHei" panose="02010609060101010101" pitchFamily="49" charset="-122"/>
                          <a:ea typeface="SimHei" panose="02010609060101010101" pitchFamily="49" charset="-122"/>
                        </a:rPr>
                        <a:t>甲苯</a:t>
                      </a:r>
                      <a:r>
                        <a:rPr lang="en-US" sz="1800">
                          <a:effectLst/>
                          <a:latin typeface="SimHei" panose="02010609060101010101" pitchFamily="49" charset="-122"/>
                          <a:ea typeface="SimHei" panose="02010609060101010101" pitchFamily="49" charset="-122"/>
                        </a:rPr>
                        <a:t>-2,5-</a:t>
                      </a:r>
                      <a:r>
                        <a:rPr lang="zh-CN" sz="1800">
                          <a:effectLst/>
                          <a:latin typeface="SimHei" panose="02010609060101010101" pitchFamily="49" charset="-122"/>
                          <a:ea typeface="SimHei" panose="02010609060101010101" pitchFamily="49" charset="-122"/>
                        </a:rPr>
                        <a:t>二胺硫酸盐</a:t>
                      </a:r>
                      <a:endParaRPr lang="en-US" sz="1800">
                        <a:effectLst/>
                        <a:latin typeface="SimHei" panose="02010609060101010101" pitchFamily="49" charset="-122"/>
                        <a:ea typeface="SimHei" panose="02010609060101010101" pitchFamily="49" charset="-122"/>
                      </a:endParaRPr>
                    </a:p>
                    <a:p>
                      <a:pPr marL="92075" marR="0" eaLnBrk="0">
                        <a:lnSpc>
                          <a:spcPct val="76000"/>
                        </a:lnSpc>
                        <a:spcBef>
                          <a:spcPts val="0"/>
                        </a:spcBef>
                        <a:spcAft>
                          <a:spcPts val="0"/>
                        </a:spcAft>
                      </a:pPr>
                      <a:r>
                        <a:rPr lang="en-US" sz="1800" spc="-10">
                          <a:effectLst/>
                          <a:latin typeface="SimHei" panose="02010609060101010101" pitchFamily="49" charset="-122"/>
                          <a:ea typeface="SimHei" panose="02010609060101010101" pitchFamily="49" charset="-122"/>
                        </a:rPr>
                        <a:t>0.33%</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56540" marR="0" eaLnBrk="0">
                        <a:lnSpc>
                          <a:spcPct val="91000"/>
                        </a:lnSpc>
                        <a:spcBef>
                          <a:spcPts val="740"/>
                        </a:spcBef>
                        <a:spcAft>
                          <a:spcPts val="0"/>
                        </a:spcAft>
                      </a:pPr>
                      <a:r>
                        <a:rPr lang="zh-CN" sz="1800" dirty="0">
                          <a:effectLst/>
                          <a:latin typeface="SimHei" panose="02010609060101010101" pitchFamily="49" charset="-122"/>
                          <a:ea typeface="SimHei" panose="02010609060101010101" pitchFamily="49" charset="-122"/>
                        </a:rPr>
                        <a:t>间苯二酚</a:t>
                      </a:r>
                      <a:r>
                        <a:rPr lang="en-US" sz="1800" dirty="0">
                          <a:effectLst/>
                          <a:latin typeface="SimHei" panose="02010609060101010101" pitchFamily="49" charset="-122"/>
                          <a:ea typeface="SimHei" panose="02010609060101010101" pitchFamily="49" charset="-122"/>
                        </a:rPr>
                        <a:t>0.22%</a:t>
                      </a:r>
                    </a:p>
                    <a:p>
                      <a:pPr marL="256540" marR="0" eaLnBrk="0">
                        <a:lnSpc>
                          <a:spcPct val="91000"/>
                        </a:lnSpc>
                        <a:spcBef>
                          <a:spcPts val="750"/>
                        </a:spcBef>
                        <a:spcAft>
                          <a:spcPts val="0"/>
                        </a:spcAft>
                      </a:pPr>
                      <a:r>
                        <a:rPr lang="zh-CN" sz="1800" dirty="0">
                          <a:effectLst/>
                          <a:latin typeface="SimHei" panose="02010609060101010101" pitchFamily="49" charset="-122"/>
                          <a:ea typeface="SimHei" panose="02010609060101010101" pitchFamily="49" charset="-122"/>
                        </a:rPr>
                        <a:t>间氨基苯酚</a:t>
                      </a:r>
                      <a:r>
                        <a:rPr lang="en-US" sz="1800" dirty="0">
                          <a:effectLst/>
                          <a:latin typeface="SimHei" panose="02010609060101010101" pitchFamily="49" charset="-122"/>
                          <a:ea typeface="SimHei" panose="02010609060101010101" pitchFamily="49" charset="-122"/>
                        </a:rPr>
                        <a:t>0.25%</a:t>
                      </a:r>
                    </a:p>
                    <a:p>
                      <a:pPr marL="256540" marR="0" eaLnBrk="0">
                        <a:lnSpc>
                          <a:spcPct val="91000"/>
                        </a:lnSpc>
                        <a:spcBef>
                          <a:spcPts val="700"/>
                        </a:spcBef>
                        <a:spcAft>
                          <a:spcPts val="0"/>
                        </a:spcAft>
                      </a:pPr>
                      <a:r>
                        <a:rPr lang="zh-CN" sz="1800" dirty="0">
                          <a:effectLst/>
                          <a:latin typeface="SimHei" panose="02010609060101010101" pitchFamily="49" charset="-122"/>
                          <a:ea typeface="SimHei" panose="02010609060101010101" pitchFamily="49" charset="-122"/>
                        </a:rPr>
                        <a:t>对氨基苯酚</a:t>
                      </a:r>
                      <a:r>
                        <a:rPr lang="en-US" sz="1800" dirty="0">
                          <a:effectLst/>
                          <a:latin typeface="SimHei" panose="02010609060101010101" pitchFamily="49" charset="-122"/>
                          <a:ea typeface="SimHei" panose="02010609060101010101" pitchFamily="49" charset="-122"/>
                        </a:rPr>
                        <a:t>0.15%</a:t>
                      </a:r>
                    </a:p>
                    <a:p>
                      <a:pPr marL="256540" marR="0" eaLnBrk="0">
                        <a:lnSpc>
                          <a:spcPct val="90000"/>
                        </a:lnSpc>
                        <a:spcBef>
                          <a:spcPts val="645"/>
                        </a:spcBef>
                        <a:spcAft>
                          <a:spcPts val="0"/>
                        </a:spcAft>
                      </a:pPr>
                      <a:r>
                        <a:rPr lang="zh-CN" sz="1800" dirty="0">
                          <a:effectLst/>
                          <a:latin typeface="SimHei" panose="02010609060101010101" pitchFamily="49" charset="-122"/>
                          <a:ea typeface="SimHei" panose="02010609060101010101" pitchFamily="49" charset="-122"/>
                        </a:rPr>
                        <a:t>甲苯</a:t>
                      </a:r>
                      <a:r>
                        <a:rPr lang="en-US" sz="1800" dirty="0">
                          <a:effectLst/>
                          <a:latin typeface="SimHei" panose="02010609060101010101" pitchFamily="49" charset="-122"/>
                          <a:ea typeface="SimHei" panose="02010609060101010101" pitchFamily="49" charset="-122"/>
                        </a:rPr>
                        <a:t>-2,5-</a:t>
                      </a:r>
                      <a:r>
                        <a:rPr lang="zh-CN" sz="1800" dirty="0">
                          <a:effectLst/>
                          <a:latin typeface="SimHei" panose="02010609060101010101" pitchFamily="49" charset="-122"/>
                          <a:ea typeface="SimHei" panose="02010609060101010101" pitchFamily="49" charset="-122"/>
                        </a:rPr>
                        <a:t>二胺硫酸盐</a:t>
                      </a:r>
                      <a:r>
                        <a:rPr lang="en-US" sz="1800" dirty="0">
                          <a:effectLst/>
                          <a:latin typeface="SimHei" panose="02010609060101010101" pitchFamily="49" charset="-122"/>
                          <a:ea typeface="SimHei" panose="02010609060101010101" pitchFamily="49" charset="-122"/>
                        </a:rPr>
                        <a:t>0.4%</a:t>
                      </a:r>
                    </a:p>
                    <a:p>
                      <a:pPr marL="104775" marR="140970" indent="139065" eaLnBrk="0">
                        <a:lnSpc>
                          <a:spcPct val="98000"/>
                        </a:lnSpc>
                        <a:spcBef>
                          <a:spcPts val="765"/>
                        </a:spcBef>
                        <a:spcAft>
                          <a:spcPts val="0"/>
                        </a:spcAft>
                      </a:pPr>
                      <a:r>
                        <a:rPr lang="en-US" sz="1800" spc="-15" dirty="0">
                          <a:effectLst/>
                          <a:latin typeface="SimHei" panose="02010609060101010101" pitchFamily="49" charset="-122"/>
                          <a:ea typeface="SimHei" panose="02010609060101010101" pitchFamily="49" charset="-122"/>
                        </a:rPr>
                        <a:t>4,5-</a:t>
                      </a:r>
                      <a:r>
                        <a:rPr lang="zh-CN" sz="1800" spc="-15" dirty="0">
                          <a:effectLst/>
                          <a:latin typeface="SimHei" panose="02010609060101010101" pitchFamily="49" charset="-122"/>
                          <a:ea typeface="SimHei" panose="02010609060101010101" pitchFamily="49" charset="-122"/>
                        </a:rPr>
                        <a:t>二氨基</a:t>
                      </a:r>
                      <a:r>
                        <a:rPr lang="en-US" sz="1800" spc="-15" dirty="0">
                          <a:effectLst/>
                          <a:latin typeface="SimHei" panose="02010609060101010101" pitchFamily="49" charset="-122"/>
                          <a:ea typeface="SimHei" panose="02010609060101010101" pitchFamily="49" charset="-122"/>
                        </a:rPr>
                        <a:t>-1-</a:t>
                      </a:r>
                      <a:r>
                        <a:rPr lang="en-US" sz="1800" spc="-300" dirty="0">
                          <a:effectLst/>
                          <a:latin typeface="SimHei" panose="02010609060101010101" pitchFamily="49" charset="-122"/>
                          <a:ea typeface="SimHei" panose="02010609060101010101" pitchFamily="49" charset="-122"/>
                        </a:rPr>
                        <a:t> </a:t>
                      </a:r>
                      <a:r>
                        <a:rPr lang="en-US" sz="1800" spc="-15" dirty="0">
                          <a:effectLst/>
                          <a:latin typeface="SimHei" panose="02010609060101010101" pitchFamily="49" charset="-122"/>
                          <a:ea typeface="SimHei" panose="02010609060101010101" pitchFamily="49" charset="-122"/>
                        </a:rPr>
                        <a:t>(2-</a:t>
                      </a:r>
                      <a:r>
                        <a:rPr lang="zh-CN" sz="1800" spc="-15" dirty="0">
                          <a:effectLst/>
                          <a:latin typeface="SimHei" panose="02010609060101010101" pitchFamily="49" charset="-122"/>
                          <a:ea typeface="SimHei" panose="02010609060101010101" pitchFamily="49" charset="-122"/>
                        </a:rPr>
                        <a:t>羟乙基</a:t>
                      </a:r>
                      <a:r>
                        <a:rPr lang="en-US" sz="1800" spc="-15" dirty="0">
                          <a:effectLst/>
                          <a:latin typeface="SimHei" panose="02010609060101010101" pitchFamily="49" charset="-122"/>
                          <a:ea typeface="SimHei" panose="02010609060101010101" pitchFamily="49" charset="-122"/>
                        </a:rPr>
                        <a:t>)</a:t>
                      </a:r>
                      <a:r>
                        <a:rPr lang="zh-CN" sz="1800" spc="-15" dirty="0">
                          <a:effectLst/>
                          <a:latin typeface="SimHei" panose="02010609060101010101" pitchFamily="49" charset="-122"/>
                          <a:ea typeface="SimHei" panose="02010609060101010101" pitchFamily="49" charset="-122"/>
                        </a:rPr>
                        <a:t>吡</a:t>
                      </a:r>
                      <a:r>
                        <a:rPr lang="zh-CN" sz="1800" spc="-10" dirty="0">
                          <a:effectLst/>
                          <a:latin typeface="SimHei" panose="02010609060101010101" pitchFamily="49" charset="-122"/>
                          <a:ea typeface="SimHei" panose="02010609060101010101" pitchFamily="49" charset="-122"/>
                        </a:rPr>
                        <a:t>唑硫酸盐</a:t>
                      </a:r>
                      <a:r>
                        <a:rPr lang="en-US" sz="1800" spc="-10" dirty="0">
                          <a:effectLst/>
                          <a:latin typeface="SimHei" panose="02010609060101010101" pitchFamily="49" charset="-122"/>
                          <a:ea typeface="SimHei" panose="02010609060101010101" pitchFamily="49" charset="-122"/>
                        </a:rPr>
                        <a:t>0.02%</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1861249482"/>
                  </a:ext>
                </a:extLst>
              </a:tr>
            </a:tbl>
          </a:graphicData>
        </a:graphic>
      </p:graphicFrame>
    </p:spTree>
    <p:extLst>
      <p:ext uri="{BB962C8B-B14F-4D97-AF65-F5344CB8AC3E}">
        <p14:creationId xmlns:p14="http://schemas.microsoft.com/office/powerpoint/2010/main" val="21894811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染发膏 </a:t>
            </a: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I </a:t>
            </a: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剂配方</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graphicFrame>
        <p:nvGraphicFramePr>
          <p:cNvPr id="5" name="表格 4">
            <a:extLst>
              <a:ext uri="{FF2B5EF4-FFF2-40B4-BE49-F238E27FC236}">
                <a16:creationId xmlns:a16="http://schemas.microsoft.com/office/drawing/2014/main" id="{91BDA6FE-54F3-CDD1-6311-2C73E286A3A1}"/>
              </a:ext>
            </a:extLst>
          </p:cNvPr>
          <p:cNvGraphicFramePr>
            <a:graphicFrameLocks noGrp="1"/>
          </p:cNvGraphicFramePr>
          <p:nvPr>
            <p:extLst>
              <p:ext uri="{D42A27DB-BD31-4B8C-83A1-F6EECF244321}">
                <p14:modId xmlns:p14="http://schemas.microsoft.com/office/powerpoint/2010/main" val="2414110335"/>
              </p:ext>
            </p:extLst>
          </p:nvPr>
        </p:nvGraphicFramePr>
        <p:xfrm>
          <a:off x="182879" y="1165614"/>
          <a:ext cx="8778238" cy="4537964"/>
        </p:xfrm>
        <a:graphic>
          <a:graphicData uri="http://schemas.openxmlformats.org/drawingml/2006/table">
            <a:tbl>
              <a:tblPr firstRow="1" firstCol="1" bandRow="1">
                <a:tableStyleId>{72833802-FEF1-4C79-8D5D-14CF1EAF98D9}</a:tableStyleId>
              </a:tblPr>
              <a:tblGrid>
                <a:gridCol w="895678">
                  <a:extLst>
                    <a:ext uri="{9D8B030D-6E8A-4147-A177-3AD203B41FA5}">
                      <a16:colId xmlns:a16="http://schemas.microsoft.com/office/drawing/2014/main" val="2262905120"/>
                    </a:ext>
                  </a:extLst>
                </a:gridCol>
                <a:gridCol w="1822472">
                  <a:extLst>
                    <a:ext uri="{9D8B030D-6E8A-4147-A177-3AD203B41FA5}">
                      <a16:colId xmlns:a16="http://schemas.microsoft.com/office/drawing/2014/main" val="3422227911"/>
                    </a:ext>
                  </a:extLst>
                </a:gridCol>
                <a:gridCol w="1214980">
                  <a:extLst>
                    <a:ext uri="{9D8B030D-6E8A-4147-A177-3AD203B41FA5}">
                      <a16:colId xmlns:a16="http://schemas.microsoft.com/office/drawing/2014/main" val="1187885187"/>
                    </a:ext>
                  </a:extLst>
                </a:gridCol>
                <a:gridCol w="1829880">
                  <a:extLst>
                    <a:ext uri="{9D8B030D-6E8A-4147-A177-3AD203B41FA5}">
                      <a16:colId xmlns:a16="http://schemas.microsoft.com/office/drawing/2014/main" val="3697889501"/>
                    </a:ext>
                  </a:extLst>
                </a:gridCol>
                <a:gridCol w="1829880">
                  <a:extLst>
                    <a:ext uri="{9D8B030D-6E8A-4147-A177-3AD203B41FA5}">
                      <a16:colId xmlns:a16="http://schemas.microsoft.com/office/drawing/2014/main" val="1991187979"/>
                    </a:ext>
                  </a:extLst>
                </a:gridCol>
                <a:gridCol w="1185348">
                  <a:extLst>
                    <a:ext uri="{9D8B030D-6E8A-4147-A177-3AD203B41FA5}">
                      <a16:colId xmlns:a16="http://schemas.microsoft.com/office/drawing/2014/main" val="278820397"/>
                    </a:ext>
                  </a:extLst>
                </a:gridCol>
              </a:tblGrid>
              <a:tr h="300990">
                <a:tc>
                  <a:txBody>
                    <a:bodyPr/>
                    <a:lstStyle/>
                    <a:p>
                      <a:pPr marL="240665" marR="0" eaLnBrk="0">
                        <a:lnSpc>
                          <a:spcPct val="92000"/>
                        </a:lnSpc>
                        <a:spcBef>
                          <a:spcPts val="680"/>
                        </a:spcBef>
                        <a:spcAft>
                          <a:spcPts val="0"/>
                        </a:spcAft>
                      </a:pPr>
                      <a:r>
                        <a:rPr lang="zh-CN" sz="1800" spc="45">
                          <a:effectLst/>
                          <a:latin typeface="SimHei" panose="02010609060101010101" pitchFamily="49" charset="-122"/>
                          <a:ea typeface="SimHei" panose="02010609060101010101" pitchFamily="49" charset="-122"/>
                        </a:rPr>
                        <a:t>组相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504825" marR="0" eaLnBrk="0">
                        <a:lnSpc>
                          <a:spcPct val="91000"/>
                        </a:lnSpc>
                        <a:spcBef>
                          <a:spcPts val="670"/>
                        </a:spcBef>
                        <a:spcAft>
                          <a:spcPts val="0"/>
                        </a:spcAft>
                      </a:pPr>
                      <a:r>
                        <a:rPr lang="zh-CN" sz="1800" spc="-30">
                          <a:effectLst/>
                          <a:latin typeface="SimHei" panose="02010609060101010101" pitchFamily="49" charset="-122"/>
                          <a:ea typeface="SimHei" panose="02010609060101010101" pitchFamily="49" charset="-122"/>
                        </a:rPr>
                        <a:t>组</a:t>
                      </a:r>
                      <a:r>
                        <a:rPr lang="en-US" sz="1800" spc="50">
                          <a:effectLst/>
                          <a:latin typeface="SimHei" panose="02010609060101010101" pitchFamily="49" charset="-122"/>
                          <a:ea typeface="SimHei" panose="02010609060101010101" pitchFamily="49" charset="-122"/>
                        </a:rPr>
                        <a:t>   </a:t>
                      </a:r>
                      <a:r>
                        <a:rPr lang="zh-CN" sz="1800" spc="-30">
                          <a:effectLst/>
                          <a:latin typeface="SimHei" panose="02010609060101010101" pitchFamily="49" charset="-122"/>
                          <a:ea typeface="SimHei" panose="02010609060101010101" pitchFamily="49" charset="-122"/>
                        </a:rPr>
                        <a:t>分</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68275" marR="0" eaLnBrk="0">
                        <a:lnSpc>
                          <a:spcPct val="91000"/>
                        </a:lnSpc>
                        <a:spcBef>
                          <a:spcPts val="670"/>
                        </a:spcBef>
                        <a:spcAft>
                          <a:spcPts val="0"/>
                        </a:spcAft>
                      </a:pPr>
                      <a:r>
                        <a:rPr lang="zh-CN" sz="1800" spc="-10">
                          <a:effectLst/>
                          <a:latin typeface="SimHei" panose="02010609060101010101" pitchFamily="49" charset="-122"/>
                          <a:ea typeface="SimHei" panose="02010609060101010101" pitchFamily="49" charset="-122"/>
                        </a:rPr>
                        <a:t>质量分数</a:t>
                      </a:r>
                      <a:r>
                        <a:rPr lang="en-US" sz="1800" spc="-10">
                          <a:effectLst/>
                          <a:latin typeface="SimHei" panose="02010609060101010101" pitchFamily="49" charset="-122"/>
                          <a:ea typeface="SimHei" panose="02010609060101010101" pitchFamily="49" charset="-122"/>
                        </a:rPr>
                        <a:t>/%</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25425" marR="0" eaLnBrk="0">
                        <a:lnSpc>
                          <a:spcPct val="92000"/>
                        </a:lnSpc>
                        <a:spcBef>
                          <a:spcPts val="680"/>
                        </a:spcBef>
                        <a:spcAft>
                          <a:spcPts val="0"/>
                        </a:spcAft>
                      </a:pPr>
                      <a:r>
                        <a:rPr lang="zh-CN" sz="1800" spc="45">
                          <a:effectLst/>
                          <a:latin typeface="SimHei" panose="02010609060101010101" pitchFamily="49" charset="-122"/>
                          <a:ea typeface="SimHei" panose="02010609060101010101" pitchFamily="49" charset="-122"/>
                        </a:rPr>
                        <a:t>组相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517525" marR="0" eaLnBrk="0">
                        <a:lnSpc>
                          <a:spcPct val="91000"/>
                        </a:lnSpc>
                        <a:spcBef>
                          <a:spcPts val="670"/>
                        </a:spcBef>
                        <a:spcAft>
                          <a:spcPts val="0"/>
                        </a:spcAft>
                      </a:pPr>
                      <a:r>
                        <a:rPr lang="zh-CN" sz="1800" spc="-30">
                          <a:effectLst/>
                          <a:latin typeface="SimHei" panose="02010609060101010101" pitchFamily="49" charset="-122"/>
                          <a:ea typeface="SimHei" panose="02010609060101010101" pitchFamily="49" charset="-122"/>
                        </a:rPr>
                        <a:t>组</a:t>
                      </a:r>
                      <a:r>
                        <a:rPr lang="en-US" sz="1800" spc="50">
                          <a:effectLst/>
                          <a:latin typeface="SimHei" panose="02010609060101010101" pitchFamily="49" charset="-122"/>
                          <a:ea typeface="SimHei" panose="02010609060101010101" pitchFamily="49" charset="-122"/>
                        </a:rPr>
                        <a:t>   </a:t>
                      </a:r>
                      <a:r>
                        <a:rPr lang="zh-CN" sz="1800" spc="-30">
                          <a:effectLst/>
                          <a:latin typeface="SimHei" panose="02010609060101010101" pitchFamily="49" charset="-122"/>
                          <a:ea typeface="SimHei" panose="02010609060101010101" pitchFamily="49" charset="-122"/>
                        </a:rPr>
                        <a:t>分</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55575" marR="0" eaLnBrk="0">
                        <a:lnSpc>
                          <a:spcPct val="91000"/>
                        </a:lnSpc>
                        <a:spcBef>
                          <a:spcPts val="670"/>
                        </a:spcBef>
                        <a:spcAft>
                          <a:spcPts val="0"/>
                        </a:spcAft>
                      </a:pPr>
                      <a:r>
                        <a:rPr lang="zh-CN" sz="1800" spc="-10">
                          <a:effectLst/>
                          <a:latin typeface="SimHei" panose="02010609060101010101" pitchFamily="49" charset="-122"/>
                          <a:ea typeface="SimHei" panose="02010609060101010101" pitchFamily="49" charset="-122"/>
                        </a:rPr>
                        <a:t>质量分数</a:t>
                      </a:r>
                      <a:r>
                        <a:rPr lang="en-US" sz="1800" spc="-10">
                          <a:effectLst/>
                          <a:latin typeface="SimHei" panose="02010609060101010101" pitchFamily="49" charset="-122"/>
                          <a:ea typeface="SimHei" panose="02010609060101010101" pitchFamily="49" charset="-122"/>
                        </a:rPr>
                        <a:t>/%</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847060191"/>
                  </a:ext>
                </a:extLst>
              </a:tr>
              <a:tr h="1463675">
                <a:tc rowSpan="2">
                  <a:txBody>
                    <a:bodyPr/>
                    <a:lstStyle/>
                    <a:p>
                      <a:pPr marL="0" marR="0" eaLnBrk="0">
                        <a:lnSpc>
                          <a:spcPct val="115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0" marR="0" eaLnBrk="0">
                        <a:lnSpc>
                          <a:spcPct val="115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0" marR="0" eaLnBrk="0">
                        <a:lnSpc>
                          <a:spcPct val="115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0" marR="0" eaLnBrk="0">
                        <a:lnSpc>
                          <a:spcPct val="116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0" marR="0" eaLnBrk="0">
                        <a:lnSpc>
                          <a:spcPct val="116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0" marR="0" eaLnBrk="0">
                        <a:lnSpc>
                          <a:spcPct val="116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278765" marR="0" eaLnBrk="0">
                        <a:lnSpc>
                          <a:spcPct val="92000"/>
                        </a:lnSpc>
                        <a:spcBef>
                          <a:spcPts val="355"/>
                        </a:spcBef>
                        <a:spcAft>
                          <a:spcPts val="0"/>
                        </a:spcAft>
                      </a:pPr>
                      <a:r>
                        <a:rPr lang="en-US" sz="1800" spc="-5">
                          <a:effectLst/>
                          <a:latin typeface="SimHei" panose="02010609060101010101" pitchFamily="49" charset="-122"/>
                          <a:ea typeface="SimHei" panose="02010609060101010101" pitchFamily="49" charset="-122"/>
                        </a:rPr>
                        <a:t>A</a:t>
                      </a:r>
                      <a:r>
                        <a:rPr lang="zh-CN" sz="1800" spc="-5">
                          <a:effectLst/>
                          <a:latin typeface="SimHei" panose="02010609060101010101" pitchFamily="49" charset="-122"/>
                          <a:ea typeface="SimHei" panose="02010609060101010101" pitchFamily="49" charset="-122"/>
                        </a:rPr>
                        <a:t>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rowSpan="2">
                  <a:txBody>
                    <a:bodyPr/>
                    <a:lstStyle/>
                    <a:p>
                      <a:pPr marL="104775" marR="248285" eaLnBrk="0">
                        <a:lnSpc>
                          <a:spcPct val="164000"/>
                        </a:lnSpc>
                        <a:spcBef>
                          <a:spcPts val="550"/>
                        </a:spcBef>
                        <a:spcAft>
                          <a:spcPts val="0"/>
                        </a:spcAft>
                      </a:pPr>
                      <a:r>
                        <a:rPr lang="zh-CN" sz="1800" spc="5">
                          <a:effectLst/>
                          <a:latin typeface="SimHei" panose="02010609060101010101" pitchFamily="49" charset="-122"/>
                          <a:ea typeface="SimHei" panose="02010609060101010101" pitchFamily="49" charset="-122"/>
                        </a:rPr>
                        <a:t>鲸蜡硬脂醇聚醚</a:t>
                      </a:r>
                      <a:r>
                        <a:rPr lang="en-US" sz="1800" spc="5">
                          <a:effectLst/>
                          <a:latin typeface="SimHei" panose="02010609060101010101" pitchFamily="49" charset="-122"/>
                          <a:ea typeface="SimHei" panose="02010609060101010101" pitchFamily="49" charset="-122"/>
                        </a:rPr>
                        <a:t>-2  </a:t>
                      </a:r>
                      <a:r>
                        <a:rPr lang="zh-CN" sz="1800" spc="10">
                          <a:effectLst/>
                          <a:latin typeface="SimHei" panose="02010609060101010101" pitchFamily="49" charset="-122"/>
                          <a:ea typeface="SimHei" panose="02010609060101010101" pitchFamily="49" charset="-122"/>
                        </a:rPr>
                        <a:t>鲸蜡硬脂醇聚醚</a:t>
                      </a:r>
                      <a:r>
                        <a:rPr lang="en-US" sz="1800" spc="10">
                          <a:effectLst/>
                          <a:latin typeface="SimHei" panose="02010609060101010101" pitchFamily="49" charset="-122"/>
                          <a:ea typeface="SimHei" panose="02010609060101010101" pitchFamily="49" charset="-122"/>
                        </a:rPr>
                        <a:t>-21</a:t>
                      </a:r>
                      <a:endParaRPr lang="en-US" sz="1800">
                        <a:effectLst/>
                        <a:latin typeface="SimHei" panose="02010609060101010101" pitchFamily="49" charset="-122"/>
                        <a:ea typeface="SimHei" panose="02010609060101010101" pitchFamily="49" charset="-122"/>
                      </a:endParaRPr>
                    </a:p>
                    <a:p>
                      <a:pPr marL="104775" marR="0" eaLnBrk="0">
                        <a:lnSpc>
                          <a:spcPct val="91000"/>
                        </a:lnSpc>
                        <a:spcBef>
                          <a:spcPts val="0"/>
                        </a:spcBef>
                        <a:spcAft>
                          <a:spcPts val="0"/>
                        </a:spcAft>
                      </a:pPr>
                      <a:r>
                        <a:rPr lang="zh-CN" sz="1800" spc="-10">
                          <a:effectLst/>
                          <a:latin typeface="SimHei" panose="02010609060101010101" pitchFamily="49" charset="-122"/>
                          <a:ea typeface="SimHei" panose="02010609060101010101" pitchFamily="49" charset="-122"/>
                        </a:rPr>
                        <a:t>硬脂酸</a:t>
                      </a:r>
                      <a:endParaRPr lang="en-US" sz="1800">
                        <a:effectLst/>
                        <a:latin typeface="SimHei" panose="02010609060101010101" pitchFamily="49" charset="-122"/>
                        <a:ea typeface="SimHei" panose="02010609060101010101" pitchFamily="49" charset="-122"/>
                      </a:endParaRPr>
                    </a:p>
                    <a:p>
                      <a:pPr marL="104775" marR="0" eaLnBrk="0">
                        <a:lnSpc>
                          <a:spcPct val="91000"/>
                        </a:lnSpc>
                        <a:spcBef>
                          <a:spcPts val="975"/>
                        </a:spcBef>
                        <a:spcAft>
                          <a:spcPts val="0"/>
                        </a:spcAft>
                      </a:pPr>
                      <a:r>
                        <a:rPr lang="zh-CN" sz="1800" spc="-10">
                          <a:effectLst/>
                          <a:latin typeface="SimHei" panose="02010609060101010101" pitchFamily="49" charset="-122"/>
                          <a:ea typeface="SimHei" panose="02010609060101010101" pitchFamily="49" charset="-122"/>
                        </a:rPr>
                        <a:t>鲸蜡硬脂醇</a:t>
                      </a:r>
                      <a:endParaRPr lang="en-US" sz="1800">
                        <a:effectLst/>
                        <a:latin typeface="SimHei" panose="02010609060101010101" pitchFamily="49" charset="-122"/>
                        <a:ea typeface="SimHei" panose="02010609060101010101" pitchFamily="49" charset="-122"/>
                      </a:endParaRPr>
                    </a:p>
                    <a:p>
                      <a:pPr marL="104775" marR="0" eaLnBrk="0">
                        <a:lnSpc>
                          <a:spcPct val="91000"/>
                        </a:lnSpc>
                        <a:spcBef>
                          <a:spcPts val="995"/>
                        </a:spcBef>
                        <a:spcAft>
                          <a:spcPts val="0"/>
                        </a:spcAft>
                      </a:pPr>
                      <a:r>
                        <a:rPr lang="zh-CN" sz="1800" spc="10">
                          <a:effectLst/>
                          <a:latin typeface="SimHei" panose="02010609060101010101" pitchFamily="49" charset="-122"/>
                          <a:ea typeface="SimHei" panose="02010609060101010101" pitchFamily="49" charset="-122"/>
                        </a:rPr>
                        <a:t>甘油硬脂酸酯</a:t>
                      </a:r>
                      <a:endParaRPr lang="en-US" sz="1800">
                        <a:effectLst/>
                        <a:latin typeface="SimHei" panose="02010609060101010101" pitchFamily="49" charset="-122"/>
                        <a:ea typeface="SimHei" panose="02010609060101010101" pitchFamily="49" charset="-122"/>
                      </a:endParaRPr>
                    </a:p>
                    <a:p>
                      <a:pPr marL="104775" marR="0" eaLnBrk="0">
                        <a:lnSpc>
                          <a:spcPct val="91000"/>
                        </a:lnSpc>
                        <a:spcBef>
                          <a:spcPts val="1085"/>
                        </a:spcBef>
                        <a:spcAft>
                          <a:spcPts val="0"/>
                        </a:spcAft>
                      </a:pPr>
                      <a:r>
                        <a:rPr lang="zh-CN" sz="1800" spc="55">
                          <a:effectLst/>
                          <a:latin typeface="SimHei" panose="02010609060101010101" pitchFamily="49" charset="-122"/>
                          <a:ea typeface="SimHei" panose="02010609060101010101" pitchFamily="49" charset="-122"/>
                        </a:rPr>
                        <a:t>矿油</a:t>
                      </a:r>
                      <a:endParaRPr lang="en-US" sz="1800">
                        <a:effectLst/>
                        <a:latin typeface="SimHei" panose="02010609060101010101" pitchFamily="49" charset="-122"/>
                        <a:ea typeface="SimHei" panose="02010609060101010101" pitchFamily="49" charset="-122"/>
                      </a:endParaRPr>
                    </a:p>
                    <a:p>
                      <a:pPr marL="104775" marR="0" eaLnBrk="0">
                        <a:lnSpc>
                          <a:spcPct val="91000"/>
                        </a:lnSpc>
                        <a:spcBef>
                          <a:spcPts val="900"/>
                        </a:spcBef>
                        <a:spcAft>
                          <a:spcPts val="0"/>
                        </a:spcAft>
                      </a:pPr>
                      <a:r>
                        <a:rPr lang="zh-CN" sz="1800" spc="15">
                          <a:effectLst/>
                          <a:latin typeface="SimHei" panose="02010609060101010101" pitchFamily="49" charset="-122"/>
                          <a:ea typeface="SimHei" panose="02010609060101010101" pitchFamily="49" charset="-122"/>
                        </a:rPr>
                        <a:t>羊毛脂</a:t>
                      </a:r>
                      <a:endParaRPr lang="en-US" sz="1800">
                        <a:effectLst/>
                        <a:latin typeface="SimHei" panose="02010609060101010101" pitchFamily="49" charset="-122"/>
                        <a:ea typeface="SimHei" panose="02010609060101010101" pitchFamily="49" charset="-122"/>
                      </a:endParaRPr>
                    </a:p>
                    <a:p>
                      <a:pPr marL="104775" marR="0" eaLnBrk="0">
                        <a:lnSpc>
                          <a:spcPct val="91000"/>
                        </a:lnSpc>
                        <a:spcBef>
                          <a:spcPts val="1035"/>
                        </a:spcBef>
                        <a:spcAft>
                          <a:spcPts val="0"/>
                        </a:spcAft>
                      </a:pPr>
                      <a:r>
                        <a:rPr lang="zh-CN" sz="1800" spc="5">
                          <a:effectLst/>
                          <a:latin typeface="SimHei" panose="02010609060101010101" pitchFamily="49" charset="-122"/>
                          <a:ea typeface="SimHei" panose="02010609060101010101" pitchFamily="49" charset="-122"/>
                        </a:rPr>
                        <a:t>辛酸</a:t>
                      </a:r>
                      <a:r>
                        <a:rPr lang="en-US" sz="1800" spc="5">
                          <a:effectLst/>
                          <a:latin typeface="SimHei" panose="02010609060101010101" pitchFamily="49" charset="-122"/>
                          <a:ea typeface="SimHei" panose="02010609060101010101" pitchFamily="49" charset="-122"/>
                        </a:rPr>
                        <a:t>/</a:t>
                      </a:r>
                      <a:r>
                        <a:rPr lang="zh-CN" sz="1800" spc="5">
                          <a:effectLst/>
                          <a:latin typeface="SimHei" panose="02010609060101010101" pitchFamily="49" charset="-122"/>
                          <a:ea typeface="SimHei" panose="02010609060101010101" pitchFamily="49" charset="-122"/>
                        </a:rPr>
                        <a:t>癸酸甘油三酯</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rowSpan="2">
                  <a:txBody>
                    <a:bodyPr/>
                    <a:lstStyle/>
                    <a:p>
                      <a:pPr marL="409575" marR="0" eaLnBrk="0">
                        <a:lnSpc>
                          <a:spcPts val="2400"/>
                        </a:lnSpc>
                        <a:spcBef>
                          <a:spcPts val="830"/>
                        </a:spcBef>
                        <a:spcAft>
                          <a:spcPts val="0"/>
                        </a:spcAft>
                      </a:pPr>
                      <a:r>
                        <a:rPr lang="en-US" sz="1800" spc="-15">
                          <a:effectLst/>
                          <a:latin typeface="SimHei" panose="02010609060101010101" pitchFamily="49" charset="-122"/>
                          <a:ea typeface="SimHei" panose="02010609060101010101" pitchFamily="49" charset="-122"/>
                        </a:rPr>
                        <a:t>3.5</a:t>
                      </a:r>
                      <a:endParaRPr lang="en-US" sz="1800">
                        <a:effectLst/>
                        <a:latin typeface="SimHei" panose="02010609060101010101" pitchFamily="49" charset="-122"/>
                        <a:ea typeface="SimHei" panose="02010609060101010101" pitchFamily="49" charset="-122"/>
                      </a:endParaRPr>
                    </a:p>
                    <a:p>
                      <a:pPr marL="409575" marR="0" eaLnBrk="0">
                        <a:lnSpc>
                          <a:spcPct val="76000"/>
                        </a:lnSpc>
                        <a:spcBef>
                          <a:spcPts val="0"/>
                        </a:spcBef>
                        <a:spcAft>
                          <a:spcPts val="0"/>
                        </a:spcAft>
                      </a:pPr>
                      <a:r>
                        <a:rPr lang="en-US" sz="1800" spc="-15">
                          <a:effectLst/>
                          <a:latin typeface="SimHei" panose="02010609060101010101" pitchFamily="49" charset="-122"/>
                          <a:ea typeface="SimHei" panose="02010609060101010101" pitchFamily="49" charset="-122"/>
                        </a:rPr>
                        <a:t>2.0</a:t>
                      </a:r>
                      <a:endParaRPr lang="en-US" sz="1800">
                        <a:effectLst/>
                        <a:latin typeface="SimHei" panose="02010609060101010101" pitchFamily="49" charset="-122"/>
                        <a:ea typeface="SimHei" panose="02010609060101010101" pitchFamily="49" charset="-122"/>
                      </a:endParaRPr>
                    </a:p>
                    <a:p>
                      <a:pPr marL="409575" marR="0" eaLnBrk="0">
                        <a:lnSpc>
                          <a:spcPct val="75000"/>
                        </a:lnSpc>
                        <a:spcBef>
                          <a:spcPts val="1215"/>
                        </a:spcBef>
                        <a:spcAft>
                          <a:spcPts val="0"/>
                        </a:spcAft>
                      </a:pPr>
                      <a:r>
                        <a:rPr lang="en-US" sz="1800" spc="-15">
                          <a:effectLst/>
                          <a:latin typeface="SimHei" panose="02010609060101010101" pitchFamily="49" charset="-122"/>
                          <a:ea typeface="SimHei" panose="02010609060101010101" pitchFamily="49" charset="-122"/>
                        </a:rPr>
                        <a:t>5.5</a:t>
                      </a:r>
                      <a:endParaRPr lang="en-US" sz="1800">
                        <a:effectLst/>
                        <a:latin typeface="SimHei" panose="02010609060101010101" pitchFamily="49" charset="-122"/>
                        <a:ea typeface="SimHei" panose="02010609060101010101" pitchFamily="49" charset="-122"/>
                      </a:endParaRPr>
                    </a:p>
                    <a:p>
                      <a:pPr marL="409575" marR="0" eaLnBrk="0">
                        <a:lnSpc>
                          <a:spcPct val="76000"/>
                        </a:lnSpc>
                        <a:spcBef>
                          <a:spcPts val="1210"/>
                        </a:spcBef>
                        <a:spcAft>
                          <a:spcPts val="0"/>
                        </a:spcAft>
                      </a:pPr>
                      <a:r>
                        <a:rPr lang="en-US" sz="1800" spc="-20">
                          <a:effectLst/>
                          <a:latin typeface="SimHei" panose="02010609060101010101" pitchFamily="49" charset="-122"/>
                          <a:ea typeface="SimHei" panose="02010609060101010101" pitchFamily="49" charset="-122"/>
                        </a:rPr>
                        <a:t>7.0</a:t>
                      </a:r>
                      <a:endParaRPr lang="en-US" sz="1800">
                        <a:effectLst/>
                        <a:latin typeface="SimHei" panose="02010609060101010101" pitchFamily="49" charset="-122"/>
                        <a:ea typeface="SimHei" panose="02010609060101010101" pitchFamily="49" charset="-122"/>
                      </a:endParaRPr>
                    </a:p>
                    <a:p>
                      <a:pPr marL="409575" marR="0" eaLnBrk="0">
                        <a:lnSpc>
                          <a:spcPct val="76000"/>
                        </a:lnSpc>
                        <a:spcBef>
                          <a:spcPts val="1200"/>
                        </a:spcBef>
                        <a:spcAft>
                          <a:spcPts val="0"/>
                        </a:spcAft>
                      </a:pPr>
                      <a:r>
                        <a:rPr lang="en-US" sz="1800" spc="-30">
                          <a:effectLst/>
                          <a:latin typeface="SimHei" panose="02010609060101010101" pitchFamily="49" charset="-122"/>
                          <a:ea typeface="SimHei" panose="02010609060101010101" pitchFamily="49" charset="-122"/>
                        </a:rPr>
                        <a:t>1.2</a:t>
                      </a:r>
                      <a:endParaRPr lang="en-US" sz="1800">
                        <a:effectLst/>
                        <a:latin typeface="SimHei" panose="02010609060101010101" pitchFamily="49" charset="-122"/>
                        <a:ea typeface="SimHei" panose="02010609060101010101" pitchFamily="49" charset="-122"/>
                      </a:endParaRPr>
                    </a:p>
                    <a:p>
                      <a:pPr marL="409575" marR="0" eaLnBrk="0">
                        <a:lnSpc>
                          <a:spcPct val="76000"/>
                        </a:lnSpc>
                        <a:spcBef>
                          <a:spcPts val="1305"/>
                        </a:spcBef>
                        <a:spcAft>
                          <a:spcPts val="0"/>
                        </a:spcAft>
                      </a:pPr>
                      <a:r>
                        <a:rPr lang="en-US" sz="1800" spc="-15">
                          <a:effectLst/>
                          <a:latin typeface="SimHei" panose="02010609060101010101" pitchFamily="49" charset="-122"/>
                          <a:ea typeface="SimHei" panose="02010609060101010101" pitchFamily="49" charset="-122"/>
                        </a:rPr>
                        <a:t>3.0</a:t>
                      </a:r>
                      <a:endParaRPr lang="en-US" sz="1800">
                        <a:effectLst/>
                        <a:latin typeface="SimHei" panose="02010609060101010101" pitchFamily="49" charset="-122"/>
                        <a:ea typeface="SimHei" panose="02010609060101010101" pitchFamily="49" charset="-122"/>
                      </a:endParaRPr>
                    </a:p>
                    <a:p>
                      <a:pPr marL="409575" marR="0" eaLnBrk="0">
                        <a:lnSpc>
                          <a:spcPct val="76000"/>
                        </a:lnSpc>
                        <a:spcBef>
                          <a:spcPts val="1205"/>
                        </a:spcBef>
                        <a:spcAft>
                          <a:spcPts val="0"/>
                        </a:spcAft>
                      </a:pPr>
                      <a:r>
                        <a:rPr lang="en-US" sz="1800" spc="-30">
                          <a:effectLst/>
                          <a:latin typeface="SimHei" panose="02010609060101010101" pitchFamily="49" charset="-122"/>
                          <a:ea typeface="SimHei" panose="02010609060101010101" pitchFamily="49" charset="-122"/>
                        </a:rPr>
                        <a:t>1.0</a:t>
                      </a:r>
                      <a:endParaRPr lang="en-US" sz="1800">
                        <a:effectLst/>
                        <a:latin typeface="SimHei" panose="02010609060101010101" pitchFamily="49" charset="-122"/>
                        <a:ea typeface="SimHei" panose="02010609060101010101" pitchFamily="49" charset="-122"/>
                      </a:endParaRPr>
                    </a:p>
                    <a:p>
                      <a:pPr marL="409575" marR="0" eaLnBrk="0">
                        <a:lnSpc>
                          <a:spcPct val="76000"/>
                        </a:lnSpc>
                        <a:spcBef>
                          <a:spcPts val="1160"/>
                        </a:spcBef>
                        <a:spcAft>
                          <a:spcPts val="0"/>
                        </a:spcAft>
                      </a:pPr>
                      <a:r>
                        <a:rPr lang="en-US" sz="1800" spc="-15">
                          <a:effectLst/>
                          <a:latin typeface="SimHei" panose="02010609060101010101" pitchFamily="49" charset="-122"/>
                          <a:ea typeface="SimHei" panose="02010609060101010101" pitchFamily="49" charset="-122"/>
                        </a:rPr>
                        <a:t>0.5</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0" marR="0" eaLnBrk="0">
                        <a:lnSpc>
                          <a:spcPct val="101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0" marR="0" eaLnBrk="0">
                        <a:lnSpc>
                          <a:spcPct val="101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0" marR="0" eaLnBrk="0">
                        <a:lnSpc>
                          <a:spcPct val="101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0" marR="0" eaLnBrk="0">
                        <a:lnSpc>
                          <a:spcPct val="101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257175" marR="0" eaLnBrk="0">
                        <a:lnSpc>
                          <a:spcPct val="92000"/>
                        </a:lnSpc>
                        <a:spcBef>
                          <a:spcPts val="355"/>
                        </a:spcBef>
                        <a:spcAft>
                          <a:spcPts val="0"/>
                        </a:spcAft>
                      </a:pPr>
                      <a:r>
                        <a:rPr lang="en-US" sz="1800" spc="45">
                          <a:effectLst/>
                          <a:latin typeface="SimHei" panose="02010609060101010101" pitchFamily="49" charset="-122"/>
                          <a:ea typeface="SimHei" panose="02010609060101010101" pitchFamily="49" charset="-122"/>
                        </a:rPr>
                        <a:t>B</a:t>
                      </a:r>
                      <a:r>
                        <a:rPr lang="zh-CN" sz="1800" spc="45">
                          <a:effectLst/>
                          <a:latin typeface="SimHei" panose="02010609060101010101" pitchFamily="49" charset="-122"/>
                          <a:ea typeface="SimHei" panose="02010609060101010101" pitchFamily="49" charset="-122"/>
                        </a:rPr>
                        <a:t>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04775" marR="0" eaLnBrk="0">
                        <a:lnSpc>
                          <a:spcPct val="92000"/>
                        </a:lnSpc>
                        <a:spcBef>
                          <a:spcPts val="555"/>
                        </a:spcBef>
                        <a:spcAft>
                          <a:spcPts val="0"/>
                        </a:spcAft>
                      </a:pPr>
                      <a:r>
                        <a:rPr lang="zh-CN" sz="1800" spc="15" dirty="0">
                          <a:effectLst/>
                          <a:latin typeface="SimHei" panose="02010609060101010101" pitchFamily="49" charset="-122"/>
                          <a:ea typeface="SimHei" panose="02010609060101010101" pitchFamily="49" charset="-122"/>
                        </a:rPr>
                        <a:t>亚硫酸钠</a:t>
                      </a:r>
                      <a:endParaRPr lang="en-US" sz="1800" dirty="0">
                        <a:effectLst/>
                        <a:latin typeface="SimHei" panose="02010609060101010101" pitchFamily="49" charset="-122"/>
                        <a:ea typeface="SimHei" panose="02010609060101010101" pitchFamily="49" charset="-122"/>
                      </a:endParaRPr>
                    </a:p>
                    <a:p>
                      <a:pPr marL="104775" marR="0" eaLnBrk="0">
                        <a:lnSpc>
                          <a:spcPct val="91000"/>
                        </a:lnSpc>
                        <a:spcBef>
                          <a:spcPts val="1030"/>
                        </a:spcBef>
                        <a:spcAft>
                          <a:spcPts val="0"/>
                        </a:spcAft>
                      </a:pPr>
                      <a:r>
                        <a:rPr lang="zh-CN" sz="1800" spc="5" dirty="0">
                          <a:solidFill>
                            <a:srgbClr val="FF0000"/>
                          </a:solidFill>
                          <a:effectLst/>
                          <a:latin typeface="SimHei" panose="02010609060101010101" pitchFamily="49" charset="-122"/>
                          <a:ea typeface="SimHei" panose="02010609060101010101" pitchFamily="49" charset="-122"/>
                        </a:rPr>
                        <a:t>染料中间体</a:t>
                      </a:r>
                      <a:endParaRPr lang="en-US" sz="1800" dirty="0">
                        <a:solidFill>
                          <a:srgbClr val="FF0000"/>
                        </a:solidFill>
                        <a:effectLst/>
                        <a:latin typeface="SimHei" panose="02010609060101010101" pitchFamily="49" charset="-122"/>
                        <a:ea typeface="SimHei" panose="02010609060101010101" pitchFamily="49" charset="-122"/>
                      </a:endParaRPr>
                    </a:p>
                    <a:p>
                      <a:pPr marL="104775" marR="0" eaLnBrk="0">
                        <a:lnSpc>
                          <a:spcPct val="91000"/>
                        </a:lnSpc>
                        <a:spcBef>
                          <a:spcPts val="1035"/>
                        </a:spcBef>
                        <a:spcAft>
                          <a:spcPts val="0"/>
                        </a:spcAft>
                      </a:pPr>
                      <a:r>
                        <a:rPr lang="zh-CN" sz="1800" spc="10" dirty="0">
                          <a:effectLst/>
                          <a:latin typeface="SimHei" panose="02010609060101010101" pitchFamily="49" charset="-122"/>
                          <a:ea typeface="SimHei" panose="02010609060101010101" pitchFamily="49" charset="-122"/>
                        </a:rPr>
                        <a:t>异抗坏血酸钠</a:t>
                      </a:r>
                      <a:endParaRPr lang="en-US" sz="1800" dirty="0">
                        <a:effectLst/>
                        <a:latin typeface="SimHei" panose="02010609060101010101" pitchFamily="49" charset="-122"/>
                        <a:ea typeface="SimHei" panose="02010609060101010101" pitchFamily="49" charset="-122"/>
                      </a:endParaRPr>
                    </a:p>
                    <a:p>
                      <a:pPr marL="104775" marR="0" eaLnBrk="0">
                        <a:lnSpc>
                          <a:spcPts val="2030"/>
                        </a:lnSpc>
                        <a:spcBef>
                          <a:spcPts val="1315"/>
                        </a:spcBef>
                        <a:spcAft>
                          <a:spcPts val="0"/>
                        </a:spcAft>
                      </a:pPr>
                      <a:r>
                        <a:rPr lang="en-US" sz="1800" spc="-5" dirty="0">
                          <a:effectLst/>
                          <a:latin typeface="SimHei" panose="02010609060101010101" pitchFamily="49" charset="-122"/>
                          <a:ea typeface="SimHei" panose="02010609060101010101" pitchFamily="49" charset="-122"/>
                        </a:rPr>
                        <a:t>EDTA-4Na</a:t>
                      </a:r>
                      <a:endParaRPr lang="en-US" sz="1800" dirty="0">
                        <a:effectLst/>
                        <a:latin typeface="SimHei" panose="02010609060101010101" pitchFamily="49" charset="-122"/>
                        <a:ea typeface="SimHei" panose="02010609060101010101" pitchFamily="49" charset="-122"/>
                      </a:endParaRPr>
                    </a:p>
                    <a:p>
                      <a:pPr marL="104775" marR="0" eaLnBrk="0">
                        <a:lnSpc>
                          <a:spcPct val="91000"/>
                        </a:lnSpc>
                        <a:spcBef>
                          <a:spcPts val="0"/>
                        </a:spcBef>
                        <a:spcAft>
                          <a:spcPts val="0"/>
                        </a:spcAft>
                      </a:pPr>
                      <a:r>
                        <a:rPr lang="zh-CN" sz="1800" spc="15" dirty="0">
                          <a:effectLst/>
                          <a:latin typeface="SimHei" panose="02010609060101010101" pitchFamily="49" charset="-122"/>
                          <a:ea typeface="SimHei" panose="02010609060101010101" pitchFamily="49" charset="-122"/>
                        </a:rPr>
                        <a:t>丙二醇</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396875" marR="0" eaLnBrk="0">
                        <a:lnSpc>
                          <a:spcPct val="76000"/>
                        </a:lnSpc>
                        <a:spcBef>
                          <a:spcPts val="830"/>
                        </a:spcBef>
                        <a:spcAft>
                          <a:spcPts val="0"/>
                        </a:spcAft>
                      </a:pPr>
                      <a:r>
                        <a:rPr lang="en-US" sz="1800" spc="-15">
                          <a:effectLst/>
                          <a:latin typeface="SimHei" panose="02010609060101010101" pitchFamily="49" charset="-122"/>
                          <a:ea typeface="SimHei" panose="02010609060101010101" pitchFamily="49" charset="-122"/>
                        </a:rPr>
                        <a:t>0.5</a:t>
                      </a:r>
                      <a:endParaRPr lang="en-US" sz="1800">
                        <a:effectLst/>
                        <a:latin typeface="SimHei" panose="02010609060101010101" pitchFamily="49" charset="-122"/>
                        <a:ea typeface="SimHei" panose="02010609060101010101" pitchFamily="49" charset="-122"/>
                      </a:endParaRPr>
                    </a:p>
                    <a:p>
                      <a:pPr marL="365125" marR="0" eaLnBrk="0">
                        <a:lnSpc>
                          <a:spcPts val="2800"/>
                        </a:lnSpc>
                        <a:spcBef>
                          <a:spcPts val="855"/>
                        </a:spcBef>
                        <a:spcAft>
                          <a:spcPts val="0"/>
                        </a:spcAft>
                      </a:pPr>
                      <a:r>
                        <a:rPr lang="zh-CN" sz="1800" spc="-15">
                          <a:effectLst/>
                          <a:latin typeface="SimHei" panose="02010609060101010101" pitchFamily="49" charset="-122"/>
                          <a:ea typeface="SimHei" panose="02010609060101010101" pitchFamily="49" charset="-122"/>
                        </a:rPr>
                        <a:t>适量</a:t>
                      </a:r>
                      <a:endParaRPr lang="en-US" sz="1800">
                        <a:effectLst/>
                        <a:latin typeface="SimHei" panose="02010609060101010101" pitchFamily="49" charset="-122"/>
                        <a:ea typeface="SimHei" panose="02010609060101010101" pitchFamily="49" charset="-122"/>
                      </a:endParaRPr>
                    </a:p>
                    <a:p>
                      <a:pPr marL="396875" marR="0" eaLnBrk="0">
                        <a:lnSpc>
                          <a:spcPct val="76000"/>
                        </a:lnSpc>
                        <a:spcBef>
                          <a:spcPts val="0"/>
                        </a:spcBef>
                        <a:spcAft>
                          <a:spcPts val="0"/>
                        </a:spcAft>
                      </a:pPr>
                      <a:r>
                        <a:rPr lang="en-US" sz="1800" spc="-15">
                          <a:effectLst/>
                          <a:latin typeface="SimHei" panose="02010609060101010101" pitchFamily="49" charset="-122"/>
                          <a:ea typeface="SimHei" panose="02010609060101010101" pitchFamily="49" charset="-122"/>
                        </a:rPr>
                        <a:t>0.2</a:t>
                      </a:r>
                      <a:endParaRPr lang="en-US" sz="1800">
                        <a:effectLst/>
                        <a:latin typeface="SimHei" panose="02010609060101010101" pitchFamily="49" charset="-122"/>
                        <a:ea typeface="SimHei" panose="02010609060101010101" pitchFamily="49" charset="-122"/>
                      </a:endParaRPr>
                    </a:p>
                    <a:p>
                      <a:pPr marL="396875" marR="0" eaLnBrk="0">
                        <a:lnSpc>
                          <a:spcPct val="76000"/>
                        </a:lnSpc>
                        <a:spcBef>
                          <a:spcPts val="1205"/>
                        </a:spcBef>
                        <a:spcAft>
                          <a:spcPts val="0"/>
                        </a:spcAft>
                      </a:pPr>
                      <a:r>
                        <a:rPr lang="en-US" sz="1800" spc="-15">
                          <a:effectLst/>
                          <a:latin typeface="SimHei" panose="02010609060101010101" pitchFamily="49" charset="-122"/>
                          <a:ea typeface="SimHei" panose="02010609060101010101" pitchFamily="49" charset="-122"/>
                        </a:rPr>
                        <a:t>0.4</a:t>
                      </a:r>
                      <a:endParaRPr lang="en-US" sz="1800">
                        <a:effectLst/>
                        <a:latin typeface="SimHei" panose="02010609060101010101" pitchFamily="49" charset="-122"/>
                        <a:ea typeface="SimHei" panose="02010609060101010101" pitchFamily="49" charset="-122"/>
                      </a:endParaRPr>
                    </a:p>
                    <a:p>
                      <a:pPr marL="396875" marR="0" eaLnBrk="0">
                        <a:lnSpc>
                          <a:spcPct val="76000"/>
                        </a:lnSpc>
                        <a:spcBef>
                          <a:spcPts val="1260"/>
                        </a:spcBef>
                        <a:spcAft>
                          <a:spcPts val="0"/>
                        </a:spcAft>
                      </a:pPr>
                      <a:r>
                        <a:rPr lang="en-US" sz="1800" spc="-15">
                          <a:effectLst/>
                          <a:latin typeface="SimHei" panose="02010609060101010101" pitchFamily="49" charset="-122"/>
                          <a:ea typeface="SimHei" panose="02010609060101010101" pitchFamily="49" charset="-122"/>
                        </a:rPr>
                        <a:t>5.0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2881225191"/>
                  </a:ext>
                </a:extLst>
              </a:tr>
              <a:tr h="88074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eaLnBrk="0">
                        <a:lnSpc>
                          <a:spcPct val="108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0" marR="0" eaLnBrk="0">
                        <a:lnSpc>
                          <a:spcPct val="109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257175" marR="0" eaLnBrk="0">
                        <a:lnSpc>
                          <a:spcPct val="92000"/>
                        </a:lnSpc>
                        <a:spcBef>
                          <a:spcPts val="355"/>
                        </a:spcBef>
                        <a:spcAft>
                          <a:spcPts val="0"/>
                        </a:spcAft>
                      </a:pPr>
                      <a:r>
                        <a:rPr lang="en-US" sz="1800" spc="45">
                          <a:effectLst/>
                          <a:latin typeface="SimHei" panose="02010609060101010101" pitchFamily="49" charset="-122"/>
                          <a:ea typeface="SimHei" panose="02010609060101010101" pitchFamily="49" charset="-122"/>
                        </a:rPr>
                        <a:t>C</a:t>
                      </a:r>
                      <a:r>
                        <a:rPr lang="zh-CN" sz="1800" spc="45">
                          <a:effectLst/>
                          <a:latin typeface="SimHei" panose="02010609060101010101" pitchFamily="49" charset="-122"/>
                          <a:ea typeface="SimHei" panose="02010609060101010101" pitchFamily="49" charset="-122"/>
                        </a:rPr>
                        <a:t>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04775" marR="0" eaLnBrk="0">
                        <a:lnSpc>
                          <a:spcPts val="2250"/>
                        </a:lnSpc>
                        <a:spcBef>
                          <a:spcPts val="670"/>
                        </a:spcBef>
                        <a:spcAft>
                          <a:spcPts val="0"/>
                        </a:spcAft>
                      </a:pPr>
                      <a:r>
                        <a:rPr lang="zh-CN" sz="1800" spc="25">
                          <a:effectLst/>
                          <a:latin typeface="SimHei" panose="02010609060101010101" pitchFamily="49" charset="-122"/>
                          <a:ea typeface="SimHei" panose="02010609060101010101" pitchFamily="49" charset="-122"/>
                        </a:rPr>
                        <a:t>氢氧化铵</a:t>
                      </a:r>
                      <a:r>
                        <a:rPr lang="en-US" sz="1800" spc="25">
                          <a:effectLst/>
                          <a:latin typeface="SimHei" panose="02010609060101010101" pitchFamily="49" charset="-122"/>
                          <a:ea typeface="SimHei" panose="02010609060101010101" pitchFamily="49" charset="-122"/>
                        </a:rPr>
                        <a:t>(25%)</a:t>
                      </a:r>
                      <a:endParaRPr lang="en-US" sz="1800">
                        <a:effectLst/>
                        <a:latin typeface="SimHei" panose="02010609060101010101" pitchFamily="49" charset="-122"/>
                        <a:ea typeface="SimHei" panose="02010609060101010101" pitchFamily="49" charset="-122"/>
                      </a:endParaRPr>
                    </a:p>
                    <a:p>
                      <a:pPr marL="104775" marR="0" eaLnBrk="0">
                        <a:lnSpc>
                          <a:spcPct val="91000"/>
                        </a:lnSpc>
                        <a:spcBef>
                          <a:spcPts val="0"/>
                        </a:spcBef>
                        <a:spcAft>
                          <a:spcPts val="0"/>
                        </a:spcAft>
                      </a:pPr>
                      <a:r>
                        <a:rPr lang="zh-CN" sz="1800" spc="15">
                          <a:effectLst/>
                          <a:latin typeface="SimHei" panose="02010609060101010101" pitchFamily="49" charset="-122"/>
                          <a:ea typeface="SimHei" panose="02010609060101010101" pitchFamily="49" charset="-122"/>
                        </a:rPr>
                        <a:t>聚季铵盐</a:t>
                      </a:r>
                      <a:r>
                        <a:rPr lang="en-US" sz="1800" spc="15">
                          <a:effectLst/>
                          <a:latin typeface="SimHei" panose="02010609060101010101" pitchFamily="49" charset="-122"/>
                          <a:ea typeface="SimHei" panose="02010609060101010101" pitchFamily="49" charset="-122"/>
                        </a:rPr>
                        <a:t>-6</a:t>
                      </a:r>
                      <a:endParaRPr lang="en-US" sz="1800">
                        <a:effectLst/>
                        <a:latin typeface="SimHei" panose="02010609060101010101" pitchFamily="49" charset="-122"/>
                        <a:ea typeface="SimHei" panose="02010609060101010101" pitchFamily="49" charset="-122"/>
                      </a:endParaRPr>
                    </a:p>
                    <a:p>
                      <a:pPr marL="104775" marR="0" eaLnBrk="0">
                        <a:lnSpc>
                          <a:spcPct val="91000"/>
                        </a:lnSpc>
                        <a:spcBef>
                          <a:spcPts val="1045"/>
                        </a:spcBef>
                        <a:spcAft>
                          <a:spcPts val="0"/>
                        </a:spcAft>
                      </a:pPr>
                      <a:r>
                        <a:rPr lang="zh-CN" sz="1800" spc="10">
                          <a:effectLst/>
                          <a:latin typeface="SimHei" panose="02010609060101010101" pitchFamily="49" charset="-122"/>
                          <a:ea typeface="SimHei" panose="02010609060101010101" pitchFamily="49" charset="-122"/>
                        </a:rPr>
                        <a:t>单乙醇胺</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396875" marR="0" eaLnBrk="0">
                        <a:lnSpc>
                          <a:spcPts val="2250"/>
                        </a:lnSpc>
                        <a:spcBef>
                          <a:spcPts val="1005"/>
                        </a:spcBef>
                        <a:spcAft>
                          <a:spcPts val="0"/>
                        </a:spcAft>
                      </a:pPr>
                      <a:r>
                        <a:rPr lang="en-US" sz="1800" spc="-10" dirty="0">
                          <a:effectLst/>
                          <a:latin typeface="SimHei" panose="02010609060101010101" pitchFamily="49" charset="-122"/>
                          <a:ea typeface="SimHei" panose="02010609060101010101" pitchFamily="49" charset="-122"/>
                        </a:rPr>
                        <a:t>4.0</a:t>
                      </a:r>
                      <a:endParaRPr lang="en-US" sz="1800" dirty="0">
                        <a:effectLst/>
                        <a:latin typeface="SimHei" panose="02010609060101010101" pitchFamily="49" charset="-122"/>
                        <a:ea typeface="SimHei" panose="02010609060101010101" pitchFamily="49" charset="-122"/>
                      </a:endParaRPr>
                    </a:p>
                    <a:p>
                      <a:pPr marL="396875" marR="0" eaLnBrk="0">
                        <a:lnSpc>
                          <a:spcPct val="76000"/>
                        </a:lnSpc>
                        <a:spcBef>
                          <a:spcPts val="0"/>
                        </a:spcBef>
                        <a:spcAft>
                          <a:spcPts val="0"/>
                        </a:spcAft>
                      </a:pPr>
                      <a:r>
                        <a:rPr lang="en-US" sz="1800" spc="-15" dirty="0">
                          <a:effectLst/>
                          <a:latin typeface="SimHei" panose="02010609060101010101" pitchFamily="49" charset="-122"/>
                          <a:ea typeface="SimHei" panose="02010609060101010101" pitchFamily="49" charset="-122"/>
                        </a:rPr>
                        <a:t>3.0</a:t>
                      </a:r>
                      <a:endParaRPr lang="en-US" sz="1800" dirty="0">
                        <a:effectLst/>
                        <a:latin typeface="SimHei" panose="02010609060101010101" pitchFamily="49" charset="-122"/>
                        <a:ea typeface="SimHei" panose="02010609060101010101" pitchFamily="49" charset="-122"/>
                      </a:endParaRPr>
                    </a:p>
                    <a:p>
                      <a:pPr marL="396875" marR="0" eaLnBrk="0">
                        <a:lnSpc>
                          <a:spcPct val="76000"/>
                        </a:lnSpc>
                        <a:spcBef>
                          <a:spcPts val="1150"/>
                        </a:spcBef>
                        <a:spcAft>
                          <a:spcPts val="0"/>
                        </a:spcAft>
                      </a:pPr>
                      <a:r>
                        <a:rPr lang="en-US" sz="1800" spc="-30" dirty="0">
                          <a:effectLst/>
                          <a:latin typeface="SimHei" panose="02010609060101010101" pitchFamily="49" charset="-122"/>
                          <a:ea typeface="SimHei" panose="02010609060101010101" pitchFamily="49" charset="-122"/>
                        </a:rPr>
                        <a:t>1.2</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4245503058"/>
                  </a:ext>
                </a:extLst>
              </a:tr>
              <a:tr h="306705">
                <a:tc>
                  <a:txBody>
                    <a:bodyPr/>
                    <a:lstStyle/>
                    <a:p>
                      <a:pPr marL="278765" marR="0" eaLnBrk="0">
                        <a:lnSpc>
                          <a:spcPct val="92000"/>
                        </a:lnSpc>
                        <a:spcBef>
                          <a:spcPts val="705"/>
                        </a:spcBef>
                        <a:spcAft>
                          <a:spcPts val="0"/>
                        </a:spcAft>
                      </a:pPr>
                      <a:r>
                        <a:rPr lang="en-US" sz="1800" spc="45">
                          <a:effectLst/>
                          <a:latin typeface="SimHei" panose="02010609060101010101" pitchFamily="49" charset="-122"/>
                          <a:ea typeface="SimHei" panose="02010609060101010101" pitchFamily="49" charset="-122"/>
                        </a:rPr>
                        <a:t>B</a:t>
                      </a:r>
                      <a:r>
                        <a:rPr lang="zh-CN" sz="1800" spc="45">
                          <a:effectLst/>
                          <a:latin typeface="SimHei" panose="02010609060101010101" pitchFamily="49" charset="-122"/>
                          <a:ea typeface="SimHei" panose="02010609060101010101" pitchFamily="49" charset="-122"/>
                        </a:rPr>
                        <a:t>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04775" marR="0" eaLnBrk="0">
                        <a:lnSpc>
                          <a:spcPct val="91000"/>
                        </a:lnSpc>
                        <a:spcBef>
                          <a:spcPts val="690"/>
                        </a:spcBef>
                        <a:spcAft>
                          <a:spcPts val="0"/>
                        </a:spcAft>
                      </a:pPr>
                      <a:r>
                        <a:rPr lang="zh-CN" sz="1800">
                          <a:effectLst/>
                          <a:latin typeface="SimHei" panose="02010609060101010101" pitchFamily="49" charset="-122"/>
                          <a:ea typeface="SimHei" panose="02010609060101010101" pitchFamily="49" charset="-122"/>
                        </a:rPr>
                        <a:t>水</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69875" marR="0" eaLnBrk="0">
                        <a:lnSpc>
                          <a:spcPct val="92000"/>
                        </a:lnSpc>
                        <a:spcBef>
                          <a:spcPts val="710"/>
                        </a:spcBef>
                        <a:spcAft>
                          <a:spcPts val="0"/>
                        </a:spcAft>
                      </a:pPr>
                      <a:r>
                        <a:rPr lang="zh-CN" sz="1800" spc="-10">
                          <a:effectLst/>
                          <a:latin typeface="SimHei" panose="02010609060101010101" pitchFamily="49" charset="-122"/>
                          <a:ea typeface="SimHei" panose="02010609060101010101" pitchFamily="49" charset="-122"/>
                        </a:rPr>
                        <a:t>加至</a:t>
                      </a:r>
                      <a:r>
                        <a:rPr lang="en-US" sz="1800" spc="-10">
                          <a:effectLst/>
                          <a:latin typeface="SimHei" panose="02010609060101010101" pitchFamily="49" charset="-122"/>
                          <a:ea typeface="SimHei" panose="02010609060101010101" pitchFamily="49" charset="-122"/>
                        </a:rPr>
                        <a:t>100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57175" marR="0" eaLnBrk="0">
                        <a:lnSpc>
                          <a:spcPct val="92000"/>
                        </a:lnSpc>
                        <a:spcBef>
                          <a:spcPts val="705"/>
                        </a:spcBef>
                        <a:spcAft>
                          <a:spcPts val="0"/>
                        </a:spcAft>
                      </a:pPr>
                      <a:r>
                        <a:rPr lang="en-US" sz="1800" spc="45">
                          <a:effectLst/>
                          <a:latin typeface="SimHei" panose="02010609060101010101" pitchFamily="49" charset="-122"/>
                          <a:ea typeface="SimHei" panose="02010609060101010101" pitchFamily="49" charset="-122"/>
                        </a:rPr>
                        <a:t>D</a:t>
                      </a:r>
                      <a:r>
                        <a:rPr lang="zh-CN" sz="1800" spc="45">
                          <a:effectLst/>
                          <a:latin typeface="SimHei" panose="02010609060101010101" pitchFamily="49" charset="-122"/>
                          <a:ea typeface="SimHei" panose="02010609060101010101" pitchFamily="49" charset="-122"/>
                        </a:rPr>
                        <a:t>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04775" marR="0" eaLnBrk="0">
                        <a:lnSpc>
                          <a:spcPct val="91000"/>
                        </a:lnSpc>
                        <a:spcBef>
                          <a:spcPts val="680"/>
                        </a:spcBef>
                        <a:spcAft>
                          <a:spcPts val="0"/>
                        </a:spcAft>
                      </a:pPr>
                      <a:r>
                        <a:rPr lang="zh-CN" sz="1800" spc="25">
                          <a:effectLst/>
                          <a:latin typeface="SimHei" panose="02010609060101010101" pitchFamily="49" charset="-122"/>
                          <a:ea typeface="SimHei" panose="02010609060101010101" pitchFamily="49" charset="-122"/>
                        </a:rPr>
                        <a:t>香精</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396875" marR="0" eaLnBrk="0">
                        <a:lnSpc>
                          <a:spcPct val="76000"/>
                        </a:lnSpc>
                        <a:spcBef>
                          <a:spcPts val="970"/>
                        </a:spcBef>
                        <a:spcAft>
                          <a:spcPts val="0"/>
                        </a:spcAft>
                      </a:pPr>
                      <a:r>
                        <a:rPr lang="en-US" sz="1800" spc="-15" dirty="0">
                          <a:effectLst/>
                          <a:latin typeface="SimHei" panose="02010609060101010101" pitchFamily="49" charset="-122"/>
                          <a:ea typeface="SimHei" panose="02010609060101010101" pitchFamily="49" charset="-122"/>
                        </a:rPr>
                        <a:t>0.6</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990900615"/>
                  </a:ext>
                </a:extLst>
              </a:tr>
            </a:tbl>
          </a:graphicData>
        </a:graphic>
      </p:graphicFrame>
    </p:spTree>
    <p:extLst>
      <p:ext uri="{BB962C8B-B14F-4D97-AF65-F5344CB8AC3E}">
        <p14:creationId xmlns:p14="http://schemas.microsoft.com/office/powerpoint/2010/main" val="19822625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染发膏</a:t>
            </a:r>
            <a:r>
              <a:rPr lang="en-US" altLang="zh-CN" sz="3600" dirty="0">
                <a:latin typeface="Microsoft JhengHei" panose="020B0604030504040204" pitchFamily="34" charset="-120"/>
                <a:ea typeface="Microsoft JhengHei" panose="020B0604030504040204" pitchFamily="34" charset="-120"/>
                <a:cs typeface="Arial" panose="020B0604020202020204" pitchFamily="34" charset="0"/>
              </a:rPr>
              <a:t>Ⅱ</a:t>
            </a: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剂配方</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graphicFrame>
        <p:nvGraphicFramePr>
          <p:cNvPr id="5" name="表格 4">
            <a:extLst>
              <a:ext uri="{FF2B5EF4-FFF2-40B4-BE49-F238E27FC236}">
                <a16:creationId xmlns:a16="http://schemas.microsoft.com/office/drawing/2014/main" id="{0F7761D5-D23C-6A1F-C392-AC3CBA1AAE44}"/>
              </a:ext>
            </a:extLst>
          </p:cNvPr>
          <p:cNvGraphicFramePr>
            <a:graphicFrameLocks noGrp="1"/>
          </p:cNvGraphicFramePr>
          <p:nvPr>
            <p:extLst>
              <p:ext uri="{D42A27DB-BD31-4B8C-83A1-F6EECF244321}">
                <p14:modId xmlns:p14="http://schemas.microsoft.com/office/powerpoint/2010/main" val="2172713731"/>
              </p:ext>
            </p:extLst>
          </p:nvPr>
        </p:nvGraphicFramePr>
        <p:xfrm>
          <a:off x="182880" y="1705546"/>
          <a:ext cx="8778240" cy="3243453"/>
        </p:xfrm>
        <a:graphic>
          <a:graphicData uri="http://schemas.openxmlformats.org/drawingml/2006/table">
            <a:tbl>
              <a:tblPr firstRow="1" firstCol="1" bandRow="1">
                <a:tableStyleId>{72833802-FEF1-4C79-8D5D-14CF1EAF98D9}</a:tableStyleId>
              </a:tblPr>
              <a:tblGrid>
                <a:gridCol w="894218">
                  <a:extLst>
                    <a:ext uri="{9D8B030D-6E8A-4147-A177-3AD203B41FA5}">
                      <a16:colId xmlns:a16="http://schemas.microsoft.com/office/drawing/2014/main" val="3364554962"/>
                    </a:ext>
                  </a:extLst>
                </a:gridCol>
                <a:gridCol w="1818244">
                  <a:extLst>
                    <a:ext uri="{9D8B030D-6E8A-4147-A177-3AD203B41FA5}">
                      <a16:colId xmlns:a16="http://schemas.microsoft.com/office/drawing/2014/main" val="2386749539"/>
                    </a:ext>
                  </a:extLst>
                </a:gridCol>
                <a:gridCol w="1229550">
                  <a:extLst>
                    <a:ext uri="{9D8B030D-6E8A-4147-A177-3AD203B41FA5}">
                      <a16:colId xmlns:a16="http://schemas.microsoft.com/office/drawing/2014/main" val="591802212"/>
                    </a:ext>
                  </a:extLst>
                </a:gridCol>
                <a:gridCol w="1803339">
                  <a:extLst>
                    <a:ext uri="{9D8B030D-6E8A-4147-A177-3AD203B41FA5}">
                      <a16:colId xmlns:a16="http://schemas.microsoft.com/office/drawing/2014/main" val="4248543786"/>
                    </a:ext>
                  </a:extLst>
                </a:gridCol>
                <a:gridCol w="1803339">
                  <a:extLst>
                    <a:ext uri="{9D8B030D-6E8A-4147-A177-3AD203B41FA5}">
                      <a16:colId xmlns:a16="http://schemas.microsoft.com/office/drawing/2014/main" val="1198427894"/>
                    </a:ext>
                  </a:extLst>
                </a:gridCol>
                <a:gridCol w="1229550">
                  <a:extLst>
                    <a:ext uri="{9D8B030D-6E8A-4147-A177-3AD203B41FA5}">
                      <a16:colId xmlns:a16="http://schemas.microsoft.com/office/drawing/2014/main" val="1909408443"/>
                    </a:ext>
                  </a:extLst>
                </a:gridCol>
              </a:tblGrid>
              <a:tr h="288290">
                <a:tc>
                  <a:txBody>
                    <a:bodyPr/>
                    <a:lstStyle/>
                    <a:p>
                      <a:pPr marL="234950" marR="0" eaLnBrk="0">
                        <a:lnSpc>
                          <a:spcPct val="92000"/>
                        </a:lnSpc>
                        <a:spcBef>
                          <a:spcPts val="630"/>
                        </a:spcBef>
                        <a:spcAft>
                          <a:spcPts val="0"/>
                        </a:spcAft>
                      </a:pPr>
                      <a:r>
                        <a:rPr lang="zh-CN" sz="1800" spc="40">
                          <a:effectLst/>
                          <a:latin typeface="SimHei" panose="02010609060101010101" pitchFamily="49" charset="-122"/>
                          <a:ea typeface="SimHei" panose="02010609060101010101" pitchFamily="49" charset="-122"/>
                        </a:rPr>
                        <a:t>组相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485140" marR="0" eaLnBrk="0">
                        <a:lnSpc>
                          <a:spcPct val="91000"/>
                        </a:lnSpc>
                        <a:spcBef>
                          <a:spcPts val="620"/>
                        </a:spcBef>
                        <a:spcAft>
                          <a:spcPts val="0"/>
                        </a:spcAft>
                      </a:pPr>
                      <a:r>
                        <a:rPr lang="zh-CN" sz="1800" spc="-30">
                          <a:effectLst/>
                          <a:latin typeface="SimHei" panose="02010609060101010101" pitchFamily="49" charset="-122"/>
                          <a:ea typeface="SimHei" panose="02010609060101010101" pitchFamily="49" charset="-122"/>
                        </a:rPr>
                        <a:t>组</a:t>
                      </a:r>
                      <a:r>
                        <a:rPr lang="en-US" sz="1800" spc="50">
                          <a:effectLst/>
                          <a:latin typeface="SimHei" panose="02010609060101010101" pitchFamily="49" charset="-122"/>
                          <a:ea typeface="SimHei" panose="02010609060101010101" pitchFamily="49" charset="-122"/>
                        </a:rPr>
                        <a:t>   </a:t>
                      </a:r>
                      <a:r>
                        <a:rPr lang="zh-CN" sz="1800" spc="-30">
                          <a:effectLst/>
                          <a:latin typeface="SimHei" panose="02010609060101010101" pitchFamily="49" charset="-122"/>
                          <a:ea typeface="SimHei" panose="02010609060101010101" pitchFamily="49" charset="-122"/>
                        </a:rPr>
                        <a:t>分</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67640" marR="0" eaLnBrk="0">
                        <a:lnSpc>
                          <a:spcPct val="91000"/>
                        </a:lnSpc>
                        <a:spcBef>
                          <a:spcPts val="620"/>
                        </a:spcBef>
                        <a:spcAft>
                          <a:spcPts val="0"/>
                        </a:spcAft>
                      </a:pPr>
                      <a:r>
                        <a:rPr lang="zh-CN" sz="1800" spc="-10">
                          <a:effectLst/>
                          <a:latin typeface="SimHei" panose="02010609060101010101" pitchFamily="49" charset="-122"/>
                          <a:ea typeface="SimHei" panose="02010609060101010101" pitchFamily="49" charset="-122"/>
                        </a:rPr>
                        <a:t>质量分数</a:t>
                      </a:r>
                      <a:r>
                        <a:rPr lang="en-US" sz="1800" spc="-10">
                          <a:effectLst/>
                          <a:latin typeface="SimHei" panose="02010609060101010101" pitchFamily="49" charset="-122"/>
                          <a:ea typeface="SimHei" panose="02010609060101010101" pitchFamily="49" charset="-122"/>
                        </a:rPr>
                        <a:t>/%</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38125" marR="0" eaLnBrk="0">
                        <a:lnSpc>
                          <a:spcPct val="92000"/>
                        </a:lnSpc>
                        <a:spcBef>
                          <a:spcPts val="630"/>
                        </a:spcBef>
                        <a:spcAft>
                          <a:spcPts val="0"/>
                        </a:spcAft>
                      </a:pPr>
                      <a:r>
                        <a:rPr lang="zh-CN" sz="1800" spc="40">
                          <a:effectLst/>
                          <a:latin typeface="SimHei" panose="02010609060101010101" pitchFamily="49" charset="-122"/>
                          <a:ea typeface="SimHei" panose="02010609060101010101" pitchFamily="49" charset="-122"/>
                        </a:rPr>
                        <a:t>组相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478790" marR="0" eaLnBrk="0">
                        <a:lnSpc>
                          <a:spcPct val="91000"/>
                        </a:lnSpc>
                        <a:spcBef>
                          <a:spcPts val="620"/>
                        </a:spcBef>
                        <a:spcAft>
                          <a:spcPts val="0"/>
                        </a:spcAft>
                      </a:pPr>
                      <a:r>
                        <a:rPr lang="zh-CN" sz="1800" spc="-30">
                          <a:effectLst/>
                          <a:latin typeface="SimHei" panose="02010609060101010101" pitchFamily="49" charset="-122"/>
                          <a:ea typeface="SimHei" panose="02010609060101010101" pitchFamily="49" charset="-122"/>
                        </a:rPr>
                        <a:t>组</a:t>
                      </a:r>
                      <a:r>
                        <a:rPr lang="en-US" sz="1800" spc="50">
                          <a:effectLst/>
                          <a:latin typeface="SimHei" panose="02010609060101010101" pitchFamily="49" charset="-122"/>
                          <a:ea typeface="SimHei" panose="02010609060101010101" pitchFamily="49" charset="-122"/>
                        </a:rPr>
                        <a:t>   </a:t>
                      </a:r>
                      <a:r>
                        <a:rPr lang="zh-CN" sz="1800" spc="-30">
                          <a:effectLst/>
                          <a:latin typeface="SimHei" panose="02010609060101010101" pitchFamily="49" charset="-122"/>
                          <a:ea typeface="SimHei" panose="02010609060101010101" pitchFamily="49" charset="-122"/>
                        </a:rPr>
                        <a:t>分</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67640" marR="0" eaLnBrk="0">
                        <a:lnSpc>
                          <a:spcPct val="91000"/>
                        </a:lnSpc>
                        <a:spcBef>
                          <a:spcPts val="620"/>
                        </a:spcBef>
                        <a:spcAft>
                          <a:spcPts val="0"/>
                        </a:spcAft>
                      </a:pPr>
                      <a:r>
                        <a:rPr lang="zh-CN" sz="1800" spc="-10">
                          <a:effectLst/>
                          <a:latin typeface="SimHei" panose="02010609060101010101" pitchFamily="49" charset="-122"/>
                          <a:ea typeface="SimHei" panose="02010609060101010101" pitchFamily="49" charset="-122"/>
                        </a:rPr>
                        <a:t>质量分数</a:t>
                      </a:r>
                      <a:r>
                        <a:rPr lang="en-US" sz="1800" spc="-10">
                          <a:effectLst/>
                          <a:latin typeface="SimHei" panose="02010609060101010101" pitchFamily="49" charset="-122"/>
                          <a:ea typeface="SimHei" panose="02010609060101010101" pitchFamily="49" charset="-122"/>
                        </a:rPr>
                        <a:t>/%</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1875357777"/>
                  </a:ext>
                </a:extLst>
              </a:tr>
              <a:tr h="1151890">
                <a:tc rowSpan="2">
                  <a:txBody>
                    <a:bodyPr/>
                    <a:lstStyle/>
                    <a:p>
                      <a:pPr marL="0" marR="0" eaLnBrk="0">
                        <a:lnSpc>
                          <a:spcPct val="100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0" marR="0" eaLnBrk="0">
                        <a:lnSpc>
                          <a:spcPct val="100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0" marR="0" eaLnBrk="0">
                        <a:lnSpc>
                          <a:spcPct val="100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0" marR="0" eaLnBrk="0">
                        <a:lnSpc>
                          <a:spcPct val="100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272415" marR="0" eaLnBrk="0">
                        <a:lnSpc>
                          <a:spcPct val="92000"/>
                        </a:lnSpc>
                        <a:spcBef>
                          <a:spcPts val="355"/>
                        </a:spcBef>
                        <a:spcAft>
                          <a:spcPts val="0"/>
                        </a:spcAft>
                      </a:pPr>
                      <a:r>
                        <a:rPr lang="en-US" sz="1800" spc="-5">
                          <a:effectLst/>
                          <a:latin typeface="SimHei" panose="02010609060101010101" pitchFamily="49" charset="-122"/>
                          <a:ea typeface="SimHei" panose="02010609060101010101" pitchFamily="49" charset="-122"/>
                        </a:rPr>
                        <a:t>A</a:t>
                      </a:r>
                      <a:r>
                        <a:rPr lang="zh-CN" sz="1800" spc="-5">
                          <a:effectLst/>
                          <a:latin typeface="SimHei" panose="02010609060101010101" pitchFamily="49" charset="-122"/>
                          <a:ea typeface="SimHei" panose="02010609060101010101" pitchFamily="49" charset="-122"/>
                        </a:rPr>
                        <a:t>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rowSpan="2">
                  <a:txBody>
                    <a:bodyPr/>
                    <a:lstStyle/>
                    <a:p>
                      <a:pPr marL="104140" marR="0" eaLnBrk="0">
                        <a:lnSpc>
                          <a:spcPct val="91000"/>
                        </a:lnSpc>
                        <a:spcBef>
                          <a:spcPts val="600"/>
                        </a:spcBef>
                        <a:spcAft>
                          <a:spcPts val="0"/>
                        </a:spcAft>
                      </a:pPr>
                      <a:r>
                        <a:rPr lang="zh-CN" sz="1800" spc="5">
                          <a:effectLst/>
                          <a:latin typeface="SimHei" panose="02010609060101010101" pitchFamily="49" charset="-122"/>
                          <a:ea typeface="SimHei" panose="02010609060101010101" pitchFamily="49" charset="-122"/>
                        </a:rPr>
                        <a:t>鲸蜡硬脂醇聚醚</a:t>
                      </a:r>
                      <a:r>
                        <a:rPr lang="en-US" sz="1800" spc="5">
                          <a:effectLst/>
                          <a:latin typeface="SimHei" panose="02010609060101010101" pitchFamily="49" charset="-122"/>
                          <a:ea typeface="SimHei" panose="02010609060101010101" pitchFamily="49" charset="-122"/>
                        </a:rPr>
                        <a:t>-2</a:t>
                      </a:r>
                      <a:endParaRPr lang="en-US" sz="1800">
                        <a:effectLst/>
                        <a:latin typeface="SimHei" panose="02010609060101010101" pitchFamily="49" charset="-122"/>
                        <a:ea typeface="SimHei" panose="02010609060101010101" pitchFamily="49" charset="-122"/>
                      </a:endParaRPr>
                    </a:p>
                    <a:p>
                      <a:pPr marL="104140" marR="0" eaLnBrk="0">
                        <a:lnSpc>
                          <a:spcPts val="2240"/>
                        </a:lnSpc>
                        <a:spcBef>
                          <a:spcPts val="1050"/>
                        </a:spcBef>
                        <a:spcAft>
                          <a:spcPts val="0"/>
                        </a:spcAft>
                      </a:pPr>
                      <a:r>
                        <a:rPr lang="zh-CN" sz="1800" spc="-5">
                          <a:effectLst/>
                          <a:latin typeface="SimHei" panose="02010609060101010101" pitchFamily="49" charset="-122"/>
                          <a:ea typeface="SimHei" panose="02010609060101010101" pitchFamily="49" charset="-122"/>
                        </a:rPr>
                        <a:t>硬脂基三甲基氯化铵</a:t>
                      </a:r>
                      <a:endParaRPr lang="en-US" sz="1800">
                        <a:effectLst/>
                        <a:latin typeface="SimHei" panose="02010609060101010101" pitchFamily="49" charset="-122"/>
                        <a:ea typeface="SimHei" panose="02010609060101010101" pitchFamily="49" charset="-122"/>
                      </a:endParaRPr>
                    </a:p>
                    <a:p>
                      <a:pPr marL="104140" marR="0" eaLnBrk="0">
                        <a:lnSpc>
                          <a:spcPct val="91000"/>
                        </a:lnSpc>
                        <a:spcBef>
                          <a:spcPts val="0"/>
                        </a:spcBef>
                        <a:spcAft>
                          <a:spcPts val="0"/>
                        </a:spcAft>
                      </a:pPr>
                      <a:r>
                        <a:rPr lang="zh-CN" sz="1800" spc="-10">
                          <a:effectLst/>
                          <a:latin typeface="SimHei" panose="02010609060101010101" pitchFamily="49" charset="-122"/>
                          <a:ea typeface="SimHei" panose="02010609060101010101" pitchFamily="49" charset="-122"/>
                        </a:rPr>
                        <a:t>鲸蜡硬脂醇</a:t>
                      </a:r>
                      <a:endParaRPr lang="en-US" sz="1800">
                        <a:effectLst/>
                        <a:latin typeface="SimHei" panose="02010609060101010101" pitchFamily="49" charset="-122"/>
                        <a:ea typeface="SimHei" panose="02010609060101010101" pitchFamily="49" charset="-122"/>
                      </a:endParaRPr>
                    </a:p>
                    <a:p>
                      <a:pPr marL="104140" marR="0" eaLnBrk="0">
                        <a:lnSpc>
                          <a:spcPct val="91000"/>
                        </a:lnSpc>
                        <a:spcBef>
                          <a:spcPts val="895"/>
                        </a:spcBef>
                        <a:spcAft>
                          <a:spcPts val="0"/>
                        </a:spcAft>
                      </a:pPr>
                      <a:r>
                        <a:rPr lang="zh-CN" sz="1800" spc="55">
                          <a:effectLst/>
                          <a:latin typeface="SimHei" panose="02010609060101010101" pitchFamily="49" charset="-122"/>
                          <a:ea typeface="SimHei" panose="02010609060101010101" pitchFamily="49" charset="-122"/>
                        </a:rPr>
                        <a:t>矿油</a:t>
                      </a:r>
                      <a:endParaRPr lang="en-US" sz="1800">
                        <a:effectLst/>
                        <a:latin typeface="SimHei" panose="02010609060101010101" pitchFamily="49" charset="-122"/>
                        <a:ea typeface="SimHei" panose="02010609060101010101" pitchFamily="49" charset="-122"/>
                      </a:endParaRPr>
                    </a:p>
                    <a:p>
                      <a:pPr marL="104140" marR="0" eaLnBrk="0">
                        <a:lnSpc>
                          <a:spcPct val="91000"/>
                        </a:lnSpc>
                        <a:spcBef>
                          <a:spcPts val="1045"/>
                        </a:spcBef>
                        <a:spcAft>
                          <a:spcPts val="0"/>
                        </a:spcAft>
                      </a:pPr>
                      <a:r>
                        <a:rPr lang="zh-CN" sz="1800" spc="5">
                          <a:effectLst/>
                          <a:latin typeface="SimHei" panose="02010609060101010101" pitchFamily="49" charset="-122"/>
                          <a:ea typeface="SimHei" panose="02010609060101010101" pitchFamily="49" charset="-122"/>
                        </a:rPr>
                        <a:t>辛酸</a:t>
                      </a:r>
                      <a:r>
                        <a:rPr lang="en-US" sz="1800" spc="5">
                          <a:effectLst/>
                          <a:latin typeface="SimHei" panose="02010609060101010101" pitchFamily="49" charset="-122"/>
                          <a:ea typeface="SimHei" panose="02010609060101010101" pitchFamily="49" charset="-122"/>
                        </a:rPr>
                        <a:t>/</a:t>
                      </a:r>
                      <a:r>
                        <a:rPr lang="zh-CN" sz="1800" spc="5">
                          <a:effectLst/>
                          <a:latin typeface="SimHei" panose="02010609060101010101" pitchFamily="49" charset="-122"/>
                          <a:ea typeface="SimHei" panose="02010609060101010101" pitchFamily="49" charset="-122"/>
                        </a:rPr>
                        <a:t>癸酸甘油三酯</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rowSpan="2">
                  <a:txBody>
                    <a:bodyPr/>
                    <a:lstStyle/>
                    <a:p>
                      <a:pPr marL="415290" marR="0" eaLnBrk="0">
                        <a:lnSpc>
                          <a:spcPts val="2250"/>
                        </a:lnSpc>
                        <a:spcBef>
                          <a:spcPts val="880"/>
                        </a:spcBef>
                        <a:spcAft>
                          <a:spcPts val="0"/>
                        </a:spcAft>
                      </a:pPr>
                      <a:r>
                        <a:rPr lang="en-US" sz="1800" spc="-15">
                          <a:effectLst/>
                          <a:latin typeface="SimHei" panose="02010609060101010101" pitchFamily="49" charset="-122"/>
                          <a:ea typeface="SimHei" panose="02010609060101010101" pitchFamily="49" charset="-122"/>
                        </a:rPr>
                        <a:t>0.2</a:t>
                      </a:r>
                      <a:endParaRPr lang="en-US" sz="1800">
                        <a:effectLst/>
                        <a:latin typeface="SimHei" panose="02010609060101010101" pitchFamily="49" charset="-122"/>
                        <a:ea typeface="SimHei" panose="02010609060101010101" pitchFamily="49" charset="-122"/>
                      </a:endParaRPr>
                    </a:p>
                    <a:p>
                      <a:pPr marL="415290" marR="0" eaLnBrk="0">
                        <a:lnSpc>
                          <a:spcPct val="76000"/>
                        </a:lnSpc>
                        <a:spcBef>
                          <a:spcPts val="0"/>
                        </a:spcBef>
                        <a:spcAft>
                          <a:spcPts val="0"/>
                        </a:spcAft>
                      </a:pPr>
                      <a:r>
                        <a:rPr lang="en-US" sz="1800" spc="-15">
                          <a:effectLst/>
                          <a:latin typeface="SimHei" panose="02010609060101010101" pitchFamily="49" charset="-122"/>
                          <a:ea typeface="SimHei" panose="02010609060101010101" pitchFamily="49" charset="-122"/>
                        </a:rPr>
                        <a:t>0.5</a:t>
                      </a:r>
                      <a:endParaRPr lang="en-US" sz="1800">
                        <a:effectLst/>
                        <a:latin typeface="SimHei" panose="02010609060101010101" pitchFamily="49" charset="-122"/>
                        <a:ea typeface="SimHei" panose="02010609060101010101" pitchFamily="49" charset="-122"/>
                      </a:endParaRPr>
                    </a:p>
                    <a:p>
                      <a:pPr marL="415290" marR="0" eaLnBrk="0">
                        <a:lnSpc>
                          <a:spcPct val="76000"/>
                        </a:lnSpc>
                        <a:spcBef>
                          <a:spcPts val="1205"/>
                        </a:spcBef>
                        <a:spcAft>
                          <a:spcPts val="0"/>
                        </a:spcAft>
                      </a:pPr>
                      <a:r>
                        <a:rPr lang="en-US" sz="1800" spc="-15">
                          <a:effectLst/>
                          <a:latin typeface="SimHei" panose="02010609060101010101" pitchFamily="49" charset="-122"/>
                          <a:ea typeface="SimHei" panose="02010609060101010101" pitchFamily="49" charset="-122"/>
                        </a:rPr>
                        <a:t>5.0</a:t>
                      </a:r>
                      <a:endParaRPr lang="en-US" sz="1800">
                        <a:effectLst/>
                        <a:latin typeface="SimHei" panose="02010609060101010101" pitchFamily="49" charset="-122"/>
                        <a:ea typeface="SimHei" panose="02010609060101010101" pitchFamily="49" charset="-122"/>
                      </a:endParaRPr>
                    </a:p>
                    <a:p>
                      <a:pPr marL="415290" marR="0" eaLnBrk="0">
                        <a:lnSpc>
                          <a:spcPct val="76000"/>
                        </a:lnSpc>
                        <a:spcBef>
                          <a:spcPts val="1250"/>
                        </a:spcBef>
                        <a:spcAft>
                          <a:spcPts val="0"/>
                        </a:spcAft>
                      </a:pPr>
                      <a:r>
                        <a:rPr lang="en-US" sz="1800" spc="-30">
                          <a:effectLst/>
                          <a:latin typeface="SimHei" panose="02010609060101010101" pitchFamily="49" charset="-122"/>
                          <a:ea typeface="SimHei" panose="02010609060101010101" pitchFamily="49" charset="-122"/>
                        </a:rPr>
                        <a:t>1.0</a:t>
                      </a:r>
                      <a:endParaRPr lang="en-US" sz="1800">
                        <a:effectLst/>
                        <a:latin typeface="SimHei" panose="02010609060101010101" pitchFamily="49" charset="-122"/>
                        <a:ea typeface="SimHei" panose="02010609060101010101" pitchFamily="49" charset="-122"/>
                      </a:endParaRPr>
                    </a:p>
                    <a:p>
                      <a:pPr marL="415290" marR="0" eaLnBrk="0">
                        <a:lnSpc>
                          <a:spcPct val="76000"/>
                        </a:lnSpc>
                        <a:spcBef>
                          <a:spcPts val="1260"/>
                        </a:spcBef>
                        <a:spcAft>
                          <a:spcPts val="0"/>
                        </a:spcAft>
                      </a:pPr>
                      <a:r>
                        <a:rPr lang="en-US" sz="1800" spc="-15">
                          <a:effectLst/>
                          <a:latin typeface="SimHei" panose="02010609060101010101" pitchFamily="49" charset="-122"/>
                          <a:ea typeface="SimHei" panose="02010609060101010101" pitchFamily="49" charset="-122"/>
                        </a:rPr>
                        <a:t>0.5</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0" marR="0" eaLnBrk="0">
                        <a:lnSpc>
                          <a:spcPct val="100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0" marR="0" eaLnBrk="0">
                        <a:lnSpc>
                          <a:spcPct val="100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0" marR="0" eaLnBrk="0">
                        <a:lnSpc>
                          <a:spcPct val="100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269240" marR="0" eaLnBrk="0">
                        <a:lnSpc>
                          <a:spcPct val="92000"/>
                        </a:lnSpc>
                        <a:spcBef>
                          <a:spcPts val="360"/>
                        </a:spcBef>
                        <a:spcAft>
                          <a:spcPts val="0"/>
                        </a:spcAft>
                      </a:pPr>
                      <a:r>
                        <a:rPr lang="en-US" sz="1800" spc="45">
                          <a:effectLst/>
                          <a:latin typeface="SimHei" panose="02010609060101010101" pitchFamily="49" charset="-122"/>
                          <a:ea typeface="SimHei" panose="02010609060101010101" pitchFamily="49" charset="-122"/>
                        </a:rPr>
                        <a:t>C</a:t>
                      </a:r>
                      <a:r>
                        <a:rPr lang="zh-CN" sz="1800" spc="45">
                          <a:effectLst/>
                          <a:latin typeface="SimHei" panose="02010609060101010101" pitchFamily="49" charset="-122"/>
                          <a:ea typeface="SimHei" panose="02010609060101010101" pitchFamily="49" charset="-122"/>
                        </a:rPr>
                        <a:t>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04140" marR="0" eaLnBrk="0">
                        <a:lnSpc>
                          <a:spcPct val="91000"/>
                        </a:lnSpc>
                        <a:spcBef>
                          <a:spcPts val="600"/>
                        </a:spcBef>
                        <a:spcAft>
                          <a:spcPts val="0"/>
                        </a:spcAft>
                      </a:pPr>
                      <a:r>
                        <a:rPr lang="zh-CN" sz="1800" spc="-15">
                          <a:effectLst/>
                          <a:latin typeface="SimHei" panose="02010609060101010101" pitchFamily="49" charset="-122"/>
                          <a:ea typeface="SimHei" panose="02010609060101010101" pitchFamily="49" charset="-122"/>
                        </a:rPr>
                        <a:t>磷酸</a:t>
                      </a:r>
                      <a:endParaRPr lang="en-US" sz="1800">
                        <a:effectLst/>
                        <a:latin typeface="SimHei" panose="02010609060101010101" pitchFamily="49" charset="-122"/>
                        <a:ea typeface="SimHei" panose="02010609060101010101" pitchFamily="49" charset="-122"/>
                      </a:endParaRPr>
                    </a:p>
                    <a:p>
                      <a:pPr marL="104140" marR="0" eaLnBrk="0">
                        <a:lnSpc>
                          <a:spcPts val="2250"/>
                        </a:lnSpc>
                        <a:spcBef>
                          <a:spcPts val="1040"/>
                        </a:spcBef>
                        <a:spcAft>
                          <a:spcPts val="0"/>
                        </a:spcAft>
                      </a:pPr>
                      <a:r>
                        <a:rPr lang="zh-CN" sz="1800" spc="15">
                          <a:effectLst/>
                          <a:latin typeface="SimHei" panose="02010609060101010101" pitchFamily="49" charset="-122"/>
                          <a:ea typeface="SimHei" panose="02010609060101010101" pitchFamily="49" charset="-122"/>
                        </a:rPr>
                        <a:t>聚季铵盐</a:t>
                      </a:r>
                      <a:r>
                        <a:rPr lang="en-US" sz="1800" spc="15">
                          <a:effectLst/>
                          <a:latin typeface="SimHei" panose="02010609060101010101" pitchFamily="49" charset="-122"/>
                          <a:ea typeface="SimHei" panose="02010609060101010101" pitchFamily="49" charset="-122"/>
                        </a:rPr>
                        <a:t>-6</a:t>
                      </a:r>
                      <a:endParaRPr lang="en-US" sz="1800">
                        <a:effectLst/>
                        <a:latin typeface="SimHei" panose="02010609060101010101" pitchFamily="49" charset="-122"/>
                        <a:ea typeface="SimHei" panose="02010609060101010101" pitchFamily="49" charset="-122"/>
                      </a:endParaRPr>
                    </a:p>
                    <a:p>
                      <a:pPr marL="104140" marR="0" eaLnBrk="0">
                        <a:lnSpc>
                          <a:spcPct val="91000"/>
                        </a:lnSpc>
                        <a:spcBef>
                          <a:spcPts val="0"/>
                        </a:spcBef>
                        <a:spcAft>
                          <a:spcPts val="0"/>
                        </a:spcAft>
                      </a:pPr>
                      <a:r>
                        <a:rPr lang="zh-CN" sz="1800" spc="-10">
                          <a:effectLst/>
                          <a:latin typeface="SimHei" panose="02010609060101010101" pitchFamily="49" charset="-122"/>
                          <a:ea typeface="SimHei" panose="02010609060101010101" pitchFamily="49" charset="-122"/>
                        </a:rPr>
                        <a:t>羟乙二磷酸</a:t>
                      </a:r>
                      <a:endParaRPr lang="en-US" sz="1800">
                        <a:effectLst/>
                        <a:latin typeface="SimHei" panose="02010609060101010101" pitchFamily="49" charset="-122"/>
                        <a:ea typeface="SimHei" panose="02010609060101010101" pitchFamily="49" charset="-122"/>
                      </a:endParaRPr>
                    </a:p>
                    <a:p>
                      <a:pPr marL="104140" marR="0" eaLnBrk="0">
                        <a:lnSpc>
                          <a:spcPct val="91000"/>
                        </a:lnSpc>
                        <a:spcBef>
                          <a:spcPts val="995"/>
                        </a:spcBef>
                        <a:spcAft>
                          <a:spcPts val="0"/>
                        </a:spcAft>
                      </a:pPr>
                      <a:r>
                        <a:rPr lang="zh-CN" sz="1800">
                          <a:effectLst/>
                          <a:latin typeface="SimHei" panose="02010609060101010101" pitchFamily="49" charset="-122"/>
                          <a:ea typeface="SimHei" panose="02010609060101010101" pitchFamily="49" charset="-122"/>
                        </a:rPr>
                        <a:t>水</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415290" marR="0" eaLnBrk="0">
                        <a:lnSpc>
                          <a:spcPct val="76000"/>
                        </a:lnSpc>
                        <a:spcBef>
                          <a:spcPts val="1080"/>
                        </a:spcBef>
                        <a:spcAft>
                          <a:spcPts val="0"/>
                        </a:spcAft>
                      </a:pPr>
                      <a:r>
                        <a:rPr lang="en-US" sz="1800" spc="-10">
                          <a:effectLst/>
                          <a:latin typeface="SimHei" panose="02010609060101010101" pitchFamily="49" charset="-122"/>
                          <a:ea typeface="SimHei" panose="02010609060101010101" pitchFamily="49" charset="-122"/>
                        </a:rPr>
                        <a:t>4.0</a:t>
                      </a:r>
                      <a:endParaRPr lang="en-US" sz="1800">
                        <a:effectLst/>
                        <a:latin typeface="SimHei" panose="02010609060101010101" pitchFamily="49" charset="-122"/>
                        <a:ea typeface="SimHei" panose="02010609060101010101" pitchFamily="49" charset="-122"/>
                      </a:endParaRPr>
                    </a:p>
                    <a:p>
                      <a:pPr marL="415290" marR="0" eaLnBrk="0">
                        <a:lnSpc>
                          <a:spcPts val="2345"/>
                        </a:lnSpc>
                        <a:spcBef>
                          <a:spcPts val="910"/>
                        </a:spcBef>
                        <a:spcAft>
                          <a:spcPts val="0"/>
                        </a:spcAft>
                      </a:pPr>
                      <a:r>
                        <a:rPr lang="en-US" sz="1800" spc="-15">
                          <a:effectLst/>
                          <a:latin typeface="SimHei" panose="02010609060101010101" pitchFamily="49" charset="-122"/>
                          <a:ea typeface="SimHei" panose="02010609060101010101" pitchFamily="49" charset="-122"/>
                        </a:rPr>
                        <a:t>3.0</a:t>
                      </a:r>
                      <a:endParaRPr lang="en-US" sz="1800">
                        <a:effectLst/>
                        <a:latin typeface="SimHei" panose="02010609060101010101" pitchFamily="49" charset="-122"/>
                        <a:ea typeface="SimHei" panose="02010609060101010101" pitchFamily="49" charset="-122"/>
                      </a:endParaRPr>
                    </a:p>
                    <a:p>
                      <a:pPr marL="415290" marR="0" eaLnBrk="0">
                        <a:lnSpc>
                          <a:spcPct val="76000"/>
                        </a:lnSpc>
                        <a:spcBef>
                          <a:spcPts val="0"/>
                        </a:spcBef>
                        <a:spcAft>
                          <a:spcPts val="0"/>
                        </a:spcAft>
                      </a:pPr>
                      <a:r>
                        <a:rPr lang="en-US" sz="1800" spc="-15">
                          <a:effectLst/>
                          <a:latin typeface="SimHei" panose="02010609060101010101" pitchFamily="49" charset="-122"/>
                          <a:ea typeface="SimHei" panose="02010609060101010101" pitchFamily="49" charset="-122"/>
                        </a:rPr>
                        <a:t>0.3</a:t>
                      </a:r>
                      <a:endParaRPr lang="en-US" sz="1800">
                        <a:effectLst/>
                        <a:latin typeface="SimHei" panose="02010609060101010101" pitchFamily="49" charset="-122"/>
                        <a:ea typeface="SimHei" panose="02010609060101010101" pitchFamily="49" charset="-122"/>
                      </a:endParaRPr>
                    </a:p>
                    <a:p>
                      <a:pPr marL="415290" marR="0" eaLnBrk="0">
                        <a:lnSpc>
                          <a:spcPct val="76000"/>
                        </a:lnSpc>
                        <a:spcBef>
                          <a:spcPts val="1105"/>
                        </a:spcBef>
                        <a:spcAft>
                          <a:spcPts val="0"/>
                        </a:spcAft>
                      </a:pPr>
                      <a:r>
                        <a:rPr lang="en-US" sz="1800" spc="-15">
                          <a:effectLst/>
                          <a:latin typeface="SimHei" panose="02010609060101010101" pitchFamily="49" charset="-122"/>
                          <a:ea typeface="SimHei" panose="02010609060101010101" pitchFamily="49" charset="-122"/>
                        </a:rPr>
                        <a:t>5.0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598516499"/>
                  </a:ext>
                </a:extLst>
              </a:tr>
              <a:tr h="0">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marL="0" marR="0" eaLnBrk="0">
                        <a:lnSpc>
                          <a:spcPct val="127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269240" marR="0" eaLnBrk="0">
                        <a:lnSpc>
                          <a:spcPct val="92000"/>
                        </a:lnSpc>
                        <a:spcBef>
                          <a:spcPts val="360"/>
                        </a:spcBef>
                        <a:spcAft>
                          <a:spcPts val="0"/>
                        </a:spcAft>
                      </a:pPr>
                      <a:r>
                        <a:rPr lang="en-US" sz="1800" spc="45">
                          <a:effectLst/>
                          <a:latin typeface="SimHei" panose="02010609060101010101" pitchFamily="49" charset="-122"/>
                          <a:ea typeface="SimHei" panose="02010609060101010101" pitchFamily="49" charset="-122"/>
                        </a:rPr>
                        <a:t>D</a:t>
                      </a:r>
                      <a:r>
                        <a:rPr lang="zh-CN" sz="1800" spc="45">
                          <a:effectLst/>
                          <a:latin typeface="SimHei" panose="02010609060101010101" pitchFamily="49" charset="-122"/>
                          <a:ea typeface="SimHei" panose="02010609060101010101" pitchFamily="49" charset="-122"/>
                        </a:rPr>
                        <a:t>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rowSpan="2">
                  <a:txBody>
                    <a:bodyPr/>
                    <a:lstStyle/>
                    <a:p>
                      <a:pPr marL="0" marR="0" eaLnBrk="0">
                        <a:lnSpc>
                          <a:spcPct val="125000"/>
                        </a:lnSpc>
                        <a:spcBef>
                          <a:spcPts val="0"/>
                        </a:spcBef>
                        <a:spcAft>
                          <a:spcPts val="0"/>
                        </a:spcAft>
                      </a:pPr>
                      <a:r>
                        <a:rPr lang="en-US" sz="1800" dirty="0">
                          <a:effectLst/>
                          <a:latin typeface="SimHei" panose="02010609060101010101" pitchFamily="49" charset="-122"/>
                          <a:ea typeface="SimHei" panose="02010609060101010101" pitchFamily="49" charset="-122"/>
                        </a:rPr>
                        <a:t> </a:t>
                      </a:r>
                    </a:p>
                    <a:p>
                      <a:pPr marL="104140" marR="0" eaLnBrk="0">
                        <a:lnSpc>
                          <a:spcPct val="91000"/>
                        </a:lnSpc>
                        <a:spcBef>
                          <a:spcPts val="355"/>
                        </a:spcBef>
                        <a:spcAft>
                          <a:spcPts val="0"/>
                        </a:spcAft>
                      </a:pPr>
                      <a:r>
                        <a:rPr lang="zh-CN" sz="1800" spc="30" dirty="0">
                          <a:solidFill>
                            <a:srgbClr val="FF0000"/>
                          </a:solidFill>
                          <a:effectLst/>
                          <a:latin typeface="SimHei" panose="02010609060101010101" pitchFamily="49" charset="-122"/>
                          <a:ea typeface="SimHei" panose="02010609060101010101" pitchFamily="49" charset="-122"/>
                        </a:rPr>
                        <a:t>双氧水</a:t>
                      </a:r>
                      <a:r>
                        <a:rPr lang="en-US" sz="1800" spc="30" dirty="0">
                          <a:solidFill>
                            <a:srgbClr val="FF0000"/>
                          </a:solidFill>
                          <a:effectLst/>
                          <a:latin typeface="SimHei" panose="02010609060101010101" pitchFamily="49" charset="-122"/>
                          <a:ea typeface="SimHei" panose="02010609060101010101" pitchFamily="49" charset="-122"/>
                        </a:rPr>
                        <a:t>(30%)</a:t>
                      </a:r>
                      <a:endParaRPr lang="en-US" sz="1800" dirty="0">
                        <a:solidFill>
                          <a:srgbClr val="FF0000"/>
                        </a:solidFill>
                        <a:effectLst/>
                        <a:latin typeface="SimHei" panose="02010609060101010101" pitchFamily="49" charset="-122"/>
                        <a:ea typeface="SimHei" panose="02010609060101010101" pitchFamily="49" charset="-122"/>
                      </a:endParaRPr>
                    </a:p>
                  </a:txBody>
                  <a:tcPr marL="0" marR="0" marT="0" marB="0"/>
                </a:tc>
                <a:tc rowSpan="2">
                  <a:txBody>
                    <a:bodyPr/>
                    <a:lstStyle/>
                    <a:p>
                      <a:pPr marL="0" marR="0" eaLnBrk="0">
                        <a:lnSpc>
                          <a:spcPct val="149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377190" marR="0" eaLnBrk="0">
                        <a:lnSpc>
                          <a:spcPct val="76000"/>
                        </a:lnSpc>
                        <a:spcBef>
                          <a:spcPts val="355"/>
                        </a:spcBef>
                        <a:spcAft>
                          <a:spcPts val="0"/>
                        </a:spcAft>
                      </a:pPr>
                      <a:r>
                        <a:rPr lang="en-US" sz="1800" spc="-15">
                          <a:effectLst/>
                          <a:latin typeface="SimHei" panose="02010609060101010101" pitchFamily="49" charset="-122"/>
                          <a:ea typeface="SimHei" panose="02010609060101010101" pitchFamily="49" charset="-122"/>
                        </a:rPr>
                        <a:t>20.0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769154242"/>
                  </a:ext>
                </a:extLst>
              </a:tr>
              <a:tr h="306705">
                <a:tc>
                  <a:txBody>
                    <a:bodyPr/>
                    <a:lstStyle/>
                    <a:p>
                      <a:pPr marL="272415" marR="0" eaLnBrk="0">
                        <a:lnSpc>
                          <a:spcPct val="92000"/>
                        </a:lnSpc>
                        <a:spcBef>
                          <a:spcPts val="695"/>
                        </a:spcBef>
                        <a:spcAft>
                          <a:spcPts val="0"/>
                        </a:spcAft>
                      </a:pPr>
                      <a:r>
                        <a:rPr lang="en-US" sz="1800" spc="45">
                          <a:effectLst/>
                          <a:latin typeface="SimHei" panose="02010609060101010101" pitchFamily="49" charset="-122"/>
                          <a:ea typeface="SimHei" panose="02010609060101010101" pitchFamily="49" charset="-122"/>
                        </a:rPr>
                        <a:t>B</a:t>
                      </a:r>
                      <a:r>
                        <a:rPr lang="zh-CN" sz="1800" spc="45">
                          <a:effectLst/>
                          <a:latin typeface="SimHei" panose="02010609060101010101" pitchFamily="49" charset="-122"/>
                          <a:ea typeface="SimHei" panose="02010609060101010101" pitchFamily="49" charset="-122"/>
                        </a:rPr>
                        <a:t>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04140" marR="0" eaLnBrk="0">
                        <a:lnSpc>
                          <a:spcPct val="91000"/>
                        </a:lnSpc>
                        <a:spcBef>
                          <a:spcPts val="685"/>
                        </a:spcBef>
                        <a:spcAft>
                          <a:spcPts val="0"/>
                        </a:spcAft>
                      </a:pPr>
                      <a:r>
                        <a:rPr lang="zh-CN" sz="1800">
                          <a:effectLst/>
                          <a:latin typeface="SimHei" panose="02010609060101010101" pitchFamily="49" charset="-122"/>
                          <a:ea typeface="SimHei" panose="02010609060101010101" pitchFamily="49" charset="-122"/>
                        </a:rPr>
                        <a:t>水</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75590" marR="0" eaLnBrk="0">
                        <a:lnSpc>
                          <a:spcPct val="92000"/>
                        </a:lnSpc>
                        <a:spcBef>
                          <a:spcPts val="705"/>
                        </a:spcBef>
                        <a:spcAft>
                          <a:spcPts val="0"/>
                        </a:spcAft>
                      </a:pPr>
                      <a:r>
                        <a:rPr lang="zh-CN" sz="1800" spc="-10" dirty="0">
                          <a:effectLst/>
                          <a:latin typeface="SimHei" panose="02010609060101010101" pitchFamily="49" charset="-122"/>
                          <a:ea typeface="SimHei" panose="02010609060101010101" pitchFamily="49" charset="-122"/>
                        </a:rPr>
                        <a:t>加至</a:t>
                      </a:r>
                      <a:r>
                        <a:rPr lang="en-US" sz="1800" spc="-10" dirty="0">
                          <a:effectLst/>
                          <a:latin typeface="SimHei" panose="02010609060101010101" pitchFamily="49" charset="-122"/>
                          <a:ea typeface="SimHei" panose="02010609060101010101" pitchFamily="49" charset="-122"/>
                        </a:rPr>
                        <a:t>100</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555097889"/>
                  </a:ext>
                </a:extLst>
              </a:tr>
            </a:tbl>
          </a:graphicData>
        </a:graphic>
      </p:graphicFrame>
    </p:spTree>
    <p:extLst>
      <p:ext uri="{BB962C8B-B14F-4D97-AF65-F5344CB8AC3E}">
        <p14:creationId xmlns:p14="http://schemas.microsoft.com/office/powerpoint/2010/main" val="35680265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标题</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112857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文字</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en-US" altLang="zh-CN" sz="2400" dirty="0">
                <a:latin typeface="+mn-lt"/>
                <a:ea typeface="SimHei" panose="02010609060101010101" pitchFamily="49" charset="-122"/>
              </a:rPr>
              <a:t>Text</a:t>
            </a:r>
          </a:p>
        </p:txBody>
      </p:sp>
      <p:sp>
        <p:nvSpPr>
          <p:cNvPr id="5" name="矩形 4">
            <a:extLst>
              <a:ext uri="{FF2B5EF4-FFF2-40B4-BE49-F238E27FC236}">
                <a16:creationId xmlns:a16="http://schemas.microsoft.com/office/drawing/2014/main" id="{0C22E417-EB5F-FAA1-6FE9-6089C64CC90A}"/>
              </a:ext>
            </a:extLst>
          </p:cNvPr>
          <p:cNvSpPr/>
          <p:nvPr/>
        </p:nvSpPr>
        <p:spPr>
          <a:xfrm>
            <a:off x="5462534" y="2049410"/>
            <a:ext cx="3253588" cy="1194567"/>
          </a:xfrm>
          <a:prstGeom prst="rect">
            <a:avLst/>
          </a:prstGeom>
          <a:solidFill>
            <a:schemeClr val="bg1"/>
          </a:solidFill>
          <a:ln w="25400">
            <a:solidFill>
              <a:schemeClr val="tx1"/>
            </a:solidFill>
          </a:ln>
        </p:spPr>
        <p:txBody>
          <a:bodyPr rtlCol="0" anchor="ctr"/>
          <a:lstStyle/>
          <a:p>
            <a:pPr algn="ctr"/>
            <a:endParaRPr lang="en-US"/>
          </a:p>
        </p:txBody>
      </p:sp>
    </p:spTree>
    <p:extLst>
      <p:ext uri="{BB962C8B-B14F-4D97-AF65-F5344CB8AC3E}">
        <p14:creationId xmlns:p14="http://schemas.microsoft.com/office/powerpoint/2010/main" val="1609549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theme/theme1.xml><?xml version="1.0" encoding="utf-8"?>
<a:theme xmlns:a="http://schemas.openxmlformats.org/drawingml/2006/main" name="默认设计模板_2">
  <a:themeElements>
    <a:clrScheme name="默认设计模板_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_2">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25400">
          <a:solidFill>
            <a:schemeClr val="tx1"/>
          </a:solidFill>
        </a:ln>
      </a:spPr>
      <a:bodyPr rtlCol="0" anchor="ctr"/>
      <a:lstStyle>
        <a:defPPr algn="ctr">
          <a:defRPr/>
        </a:defPPr>
      </a:lstStyle>
    </a:spDef>
    <a:lnDef>
      <a:spPr bwMode="auto">
        <a:solidFill>
          <a:schemeClr val="accent1"/>
        </a:solidFill>
        <a:ln w="25400" cap="flat" cmpd="sng" algn="ctr">
          <a:solidFill>
            <a:schemeClr val="tx1"/>
          </a:solidFill>
          <a:prstDash val="solid"/>
          <a:round/>
          <a:headEnd type="none" w="med" len="med"/>
          <a:tailEnd type="stealth" w="lg" len="lg"/>
        </a:ln>
        <a:effectLst/>
      </a:spPr>
      <a:bodyPr/>
      <a:lstStyle/>
    </a:lnDef>
  </a:objectDefaults>
  <a:extraClrSchemeLst>
    <a:extraClrScheme>
      <a:clrScheme name="默认设计模板_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_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_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_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_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_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_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_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_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_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_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_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57917</TotalTime>
  <Pages>0</Pages>
  <Words>4105</Words>
  <Characters>0</Characters>
  <Application>Microsoft Office PowerPoint</Application>
  <DocSecurity>0</DocSecurity>
  <PresentationFormat>全屏显示(4:3)</PresentationFormat>
  <Lines>0</Lines>
  <Paragraphs>492</Paragraphs>
  <Slides>59</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59</vt:i4>
      </vt:variant>
    </vt:vector>
  </HeadingPairs>
  <TitlesOfParts>
    <vt:vector size="68" baseType="lpstr">
      <vt:lpstr>Adobe 黑体 Std R</vt:lpstr>
      <vt:lpstr>Frutiger LT W01_45 Ligh1475730</vt:lpstr>
      <vt:lpstr>KaiTi</vt:lpstr>
      <vt:lpstr>Microsoft JhengHei</vt:lpstr>
      <vt:lpstr>SimHei</vt:lpstr>
      <vt:lpstr>Arial</vt:lpstr>
      <vt:lpstr>Calibri</vt:lpstr>
      <vt:lpstr>Times New Roman</vt:lpstr>
      <vt:lpstr>默认设计模板_2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Administrator</dc:creator>
  <cp:keywords/>
  <dc:description/>
  <cp:lastModifiedBy>yanqifan@pku.edu.cn</cp:lastModifiedBy>
  <cp:revision>1395</cp:revision>
  <cp:lastPrinted>2020-04-24T02:07:11Z</cp:lastPrinted>
  <dcterms:created xsi:type="dcterms:W3CDTF">2012-03-24T04:10:06Z</dcterms:created>
  <dcterms:modified xsi:type="dcterms:W3CDTF">2025-12-16T00:24:43Z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2052-9.1.0.4517</vt:lpwstr>
  </property>
</Properties>
</file>