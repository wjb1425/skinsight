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77"/>
  </p:notesMasterIdLst>
  <p:sldIdLst>
    <p:sldId id="1127" r:id="rId2"/>
    <p:sldId id="1133" r:id="rId3"/>
    <p:sldId id="1179" r:id="rId4"/>
    <p:sldId id="1180" r:id="rId5"/>
    <p:sldId id="1181" r:id="rId6"/>
    <p:sldId id="1182" r:id="rId7"/>
    <p:sldId id="1183" r:id="rId8"/>
    <p:sldId id="1184" r:id="rId9"/>
    <p:sldId id="1263" r:id="rId10"/>
    <p:sldId id="1185" r:id="rId11"/>
    <p:sldId id="1186" r:id="rId12"/>
    <p:sldId id="1187" r:id="rId13"/>
    <p:sldId id="1188" r:id="rId14"/>
    <p:sldId id="1189" r:id="rId15"/>
    <p:sldId id="1190" r:id="rId16"/>
    <p:sldId id="1191" r:id="rId17"/>
    <p:sldId id="1192" r:id="rId18"/>
    <p:sldId id="1193" r:id="rId19"/>
    <p:sldId id="1194" r:id="rId20"/>
    <p:sldId id="1195" r:id="rId21"/>
    <p:sldId id="1196" r:id="rId22"/>
    <p:sldId id="1197" r:id="rId23"/>
    <p:sldId id="1198" r:id="rId24"/>
    <p:sldId id="1199" r:id="rId25"/>
    <p:sldId id="1200" r:id="rId26"/>
    <p:sldId id="1201" r:id="rId27"/>
    <p:sldId id="1202" r:id="rId28"/>
    <p:sldId id="1203" r:id="rId29"/>
    <p:sldId id="1204" r:id="rId30"/>
    <p:sldId id="1205" r:id="rId31"/>
    <p:sldId id="1206" r:id="rId32"/>
    <p:sldId id="1207" r:id="rId33"/>
    <p:sldId id="1226" r:id="rId34"/>
    <p:sldId id="1208" r:id="rId35"/>
    <p:sldId id="1209" r:id="rId36"/>
    <p:sldId id="1210" r:id="rId37"/>
    <p:sldId id="1211" r:id="rId38"/>
    <p:sldId id="1212" r:id="rId39"/>
    <p:sldId id="1213" r:id="rId40"/>
    <p:sldId id="1214" r:id="rId41"/>
    <p:sldId id="1215" r:id="rId42"/>
    <p:sldId id="1216" r:id="rId43"/>
    <p:sldId id="1217" r:id="rId44"/>
    <p:sldId id="1218" r:id="rId45"/>
    <p:sldId id="1219" r:id="rId46"/>
    <p:sldId id="1220" r:id="rId47"/>
    <p:sldId id="1221" r:id="rId48"/>
    <p:sldId id="1222" r:id="rId49"/>
    <p:sldId id="1227" r:id="rId50"/>
    <p:sldId id="1223" r:id="rId51"/>
    <p:sldId id="1228" r:id="rId52"/>
    <p:sldId id="1229" r:id="rId53"/>
    <p:sldId id="1230" r:id="rId54"/>
    <p:sldId id="1231" r:id="rId55"/>
    <p:sldId id="1232" r:id="rId56"/>
    <p:sldId id="1233" r:id="rId57"/>
    <p:sldId id="1234" r:id="rId58"/>
    <p:sldId id="1235" r:id="rId59"/>
    <p:sldId id="1236" r:id="rId60"/>
    <p:sldId id="1237" r:id="rId61"/>
    <p:sldId id="1260" r:id="rId62"/>
    <p:sldId id="1238" r:id="rId63"/>
    <p:sldId id="1239" r:id="rId64"/>
    <p:sldId id="1240" r:id="rId65"/>
    <p:sldId id="1241" r:id="rId66"/>
    <p:sldId id="1242" r:id="rId67"/>
    <p:sldId id="1243" r:id="rId68"/>
    <p:sldId id="1261" r:id="rId69"/>
    <p:sldId id="1244" r:id="rId70"/>
    <p:sldId id="1245" r:id="rId71"/>
    <p:sldId id="1246" r:id="rId72"/>
    <p:sldId id="1259" r:id="rId73"/>
    <p:sldId id="1262" r:id="rId74"/>
    <p:sldId id="1264" r:id="rId75"/>
    <p:sldId id="1265" r:id="rId76"/>
  </p:sldIdLst>
  <p:sldSz cx="9144000" cy="6858000" type="screen4x3"/>
  <p:notesSz cx="6858000" cy="9947275"/>
  <p:defaultTextStyle>
    <a:defPPr>
      <a:defRPr lang="zh-CN"/>
    </a:defPPr>
    <a:lvl1pPr algn="l" rtl="0" eaLnBrk="0" fontAlgn="base" hangingPunct="0">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S PGothic" panose="020B0600070205080204" pitchFamily="34" charset="-128"/>
        <a:cs typeface="+mn-cs"/>
      </a:defRPr>
    </a:lvl5pPr>
    <a:lvl6pPr marL="22860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6pPr>
    <a:lvl7pPr marL="27432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7pPr>
    <a:lvl8pPr marL="32004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8pPr>
    <a:lvl9pPr marL="3657600" algn="l" defTabSz="914400" rtl="0" eaLnBrk="1" latinLnBrk="0" hangingPunct="1">
      <a:defRPr kern="1200">
        <a:solidFill>
          <a:schemeClr val="tx1"/>
        </a:solidFill>
        <a:latin typeface="Arial" panose="020B0604020202020204" pitchFamily="34" charset="0"/>
        <a:ea typeface="MS PGothic" panose="020B0600070205080204" pitchFamily="34" charset="-128"/>
        <a:cs typeface="+mn-cs"/>
      </a:defRPr>
    </a:lvl9pPr>
  </p:defaultTextStyle>
  <p:extLst>
    <p:ext uri="{EFAFB233-063F-42B5-8137-9DF3F51BA10A}">
      <p15:sldGuideLst xmlns:p15="http://schemas.microsoft.com/office/powerpoint/2012/main">
        <p15:guide id="1" orient="horz" pos="2138">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FF0000"/>
    <a:srgbClr val="008000"/>
    <a:srgbClr val="00FF00"/>
    <a:srgbClr val="FF6600"/>
    <a:srgbClr val="FFFF00"/>
    <a:srgbClr val="99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12C8C85-51F0-491E-9774-3900AFEF0FD7}" styleName="浅色样式 2 - 强调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72833802-FEF1-4C79-8D5D-14CF1EAF98D9}" styleName="浅色样式 2 - 强调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7E9639D4-E3E2-4D34-9284-5A2195B3D0D7}" styleName="浅色样式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20"/>
    <p:restoredTop sz="84473" autoAdjust="0"/>
  </p:normalViewPr>
  <p:slideViewPr>
    <p:cSldViewPr snapToGrid="0">
      <p:cViewPr varScale="1">
        <p:scale>
          <a:sx n="72" d="100"/>
          <a:sy n="72" d="100"/>
        </p:scale>
        <p:origin x="1326" y="72"/>
      </p:cViewPr>
      <p:guideLst>
        <p:guide orient="horz" pos="2138"/>
        <p:guide pos="2880"/>
      </p:guideLst>
    </p:cSldViewPr>
  </p:slideViewPr>
  <p:notesTextViewPr>
    <p:cViewPr>
      <p:scale>
        <a:sx n="1" d="1"/>
        <a:sy n="1" d="1"/>
      </p:scale>
      <p:origin x="0" y="0"/>
    </p:cViewPr>
  </p:notesTextViewPr>
  <p:gridSpacing cx="76198" cy="7619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presProps" Target="presProps.xml"/><Relationship Id="rId8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BE4076EE-FE68-43AE-99C5-A81FDE8C2F83}"/>
              </a:ext>
            </a:extLst>
          </p:cNvPr>
          <p:cNvSpPr>
            <a:spLocks noGrp="1" noChangeArrowheads="1"/>
          </p:cNvSpPr>
          <p:nvPr>
            <p:ph type="hdr" sz="quarter"/>
          </p:nvPr>
        </p:nvSpPr>
        <p:spPr bwMode="auto">
          <a:xfrm>
            <a:off x="1" y="0"/>
            <a:ext cx="2970213" cy="497364"/>
          </a:xfrm>
          <a:prstGeom prst="rect">
            <a:avLst/>
          </a:prstGeom>
          <a:noFill/>
          <a:ln>
            <a:noFill/>
          </a:ln>
          <a:extLst>
            <a:ext uri="{909E8E84-426E-40dd-AFC4-6F175D3DCCD1}"/>
            <a:ext uri="{91240B29-F687-4f45-9708-019B960494DF}"/>
          </a:extLst>
        </p:spPr>
        <p:txBody>
          <a:bodyPr vert="horz" wrap="square" lIns="91440" tIns="45720" rIns="91440" bIns="45720" numCol="1" anchor="t" anchorCtr="0" compatLnSpc="1">
            <a:prstTxWarp prst="textNoShape">
              <a:avLst/>
            </a:prstTxWarp>
          </a:bodyPr>
          <a:lstStyle>
            <a:lvl1pPr eaLnBrk="1" hangingPunct="1">
              <a:buFont typeface="Arial" charset="0"/>
              <a:buNone/>
              <a:defRPr sz="1200">
                <a:latin typeface="Arial" charset="0"/>
                <a:ea typeface="宋体" charset="0"/>
                <a:cs typeface="宋体" charset="0"/>
              </a:defRPr>
            </a:lvl1pPr>
          </a:lstStyle>
          <a:p>
            <a:pPr>
              <a:defRPr/>
            </a:pPr>
            <a:endParaRPr lang="zh-CN" altLang="en-US"/>
          </a:p>
        </p:txBody>
      </p:sp>
      <p:sp>
        <p:nvSpPr>
          <p:cNvPr id="3075" name="Rectangle 3">
            <a:extLst>
              <a:ext uri="{FF2B5EF4-FFF2-40B4-BE49-F238E27FC236}">
                <a16:creationId xmlns:a16="http://schemas.microsoft.com/office/drawing/2014/main" id="{9F48D32A-919E-48D2-B1E8-51EAC1B42BD8}"/>
              </a:ext>
            </a:extLst>
          </p:cNvPr>
          <p:cNvSpPr>
            <a:spLocks noGrp="1" noChangeArrowheads="1"/>
          </p:cNvSpPr>
          <p:nvPr>
            <p:ph type="dt" idx="1"/>
          </p:nvPr>
        </p:nvSpPr>
        <p:spPr bwMode="auto">
          <a:xfrm>
            <a:off x="3883025" y="0"/>
            <a:ext cx="2973388" cy="497364"/>
          </a:xfrm>
          <a:prstGeom prst="rect">
            <a:avLst/>
          </a:prstGeom>
          <a:noFill/>
          <a:ln>
            <a:noFill/>
          </a:ln>
          <a:extLst>
            <a:ext uri="{909E8E84-426E-40dd-AFC4-6F175D3DCCD1}"/>
            <a:ext uri="{91240B29-F687-4f45-9708-019B960494DF}"/>
          </a:extLst>
        </p:spPr>
        <p:txBody>
          <a:bodyPr vert="horz" wrap="square" lIns="91440" tIns="45720" rIns="91440" bIns="45720" numCol="1" anchor="t" anchorCtr="0" compatLnSpc="1">
            <a:prstTxWarp prst="textNoShape">
              <a:avLst/>
            </a:prstTxWarp>
          </a:bodyPr>
          <a:lstStyle>
            <a:lvl1pPr algn="r" eaLnBrk="1" hangingPunct="1">
              <a:buFont typeface="Arial" charset="0"/>
              <a:buNone/>
              <a:defRPr sz="1200">
                <a:latin typeface="Arial" charset="0"/>
                <a:ea typeface="宋体" charset="0"/>
                <a:cs typeface="宋体" charset="0"/>
              </a:defRPr>
            </a:lvl1pPr>
          </a:lstStyle>
          <a:p>
            <a:pPr>
              <a:defRPr/>
            </a:pPr>
            <a:endParaRPr lang="zh-CN" altLang="en-US"/>
          </a:p>
        </p:txBody>
      </p:sp>
      <p:sp>
        <p:nvSpPr>
          <p:cNvPr id="2052" name="Rectangle 4">
            <a:extLst>
              <a:ext uri="{FF2B5EF4-FFF2-40B4-BE49-F238E27FC236}">
                <a16:creationId xmlns:a16="http://schemas.microsoft.com/office/drawing/2014/main" id="{D34AD48D-B12D-4736-AF44-05EE8E9247E8}"/>
              </a:ext>
            </a:extLst>
          </p:cNvPr>
          <p:cNvSpPr>
            <a:spLocks noGrp="1" noRot="1" noChangeAspect="1" noChangeArrowheads="1"/>
          </p:cNvSpPr>
          <p:nvPr>
            <p:ph type="sldImg" idx="2"/>
          </p:nvPr>
        </p:nvSpPr>
        <p:spPr bwMode="auto">
          <a:xfrm>
            <a:off x="942975" y="746125"/>
            <a:ext cx="4972050" cy="373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3077" name="Rectangle 5">
            <a:extLst>
              <a:ext uri="{FF2B5EF4-FFF2-40B4-BE49-F238E27FC236}">
                <a16:creationId xmlns:a16="http://schemas.microsoft.com/office/drawing/2014/main" id="{EC3AA012-CFE6-4520-8A8E-13DDAFFDCFAA}"/>
              </a:ext>
            </a:extLst>
          </p:cNvPr>
          <p:cNvSpPr>
            <a:spLocks noGrp="1" noRot="1" noChangeArrowheads="1"/>
          </p:cNvSpPr>
          <p:nvPr>
            <p:ph type="body" sz="quarter" idx="3"/>
          </p:nvPr>
        </p:nvSpPr>
        <p:spPr bwMode="auto">
          <a:xfrm>
            <a:off x="685800" y="4724956"/>
            <a:ext cx="5486400" cy="4476274"/>
          </a:xfrm>
          <a:prstGeom prst="rect">
            <a:avLst/>
          </a:prstGeom>
          <a:noFill/>
          <a:ln>
            <a:noFill/>
          </a:ln>
          <a:extLst>
            <a:ext uri="{909E8E84-426E-40dd-AFC4-6F175D3DCCD1}"/>
            <a:ext uri="{91240B29-F687-4f45-9708-019B960494DF}"/>
          </a:extLst>
        </p:spPr>
        <p:txBody>
          <a:bodyPr vert="horz" wrap="square" lIns="91440" tIns="45720" rIns="91440" bIns="45720" numCol="1" anchor="ctr" anchorCtr="0" compatLnSpc="1">
            <a:prstTxWarp prst="textNoShape">
              <a:avLst/>
            </a:prstTxWarp>
          </a:bodyPr>
          <a:lstStyle/>
          <a:p>
            <a:pPr lvl="0"/>
            <a:r>
              <a:rPr lang="zh-CN" altLang="en-US" noProof="0"/>
              <a:t>单击此处编辑母版文本样式</a:t>
            </a:r>
            <a:endParaRPr lang="en-US" altLang="zh-CN" noProof="0"/>
          </a:p>
          <a:p>
            <a:pPr lvl="1"/>
            <a:r>
              <a:rPr lang="zh-CN" altLang="en-US" noProof="0"/>
              <a:t>第二级</a:t>
            </a:r>
            <a:endParaRPr lang="en-US" altLang="zh-CN" noProof="0"/>
          </a:p>
          <a:p>
            <a:pPr lvl="2"/>
            <a:r>
              <a:rPr lang="zh-CN" altLang="en-US" noProof="0"/>
              <a:t>第三级</a:t>
            </a:r>
            <a:endParaRPr lang="en-US" altLang="zh-CN" noProof="0"/>
          </a:p>
          <a:p>
            <a:pPr lvl="3"/>
            <a:r>
              <a:rPr lang="zh-CN" altLang="en-US" noProof="0"/>
              <a:t>第四级</a:t>
            </a:r>
            <a:endParaRPr lang="en-US" altLang="zh-CN" noProof="0"/>
          </a:p>
          <a:p>
            <a:pPr lvl="4"/>
            <a:r>
              <a:rPr lang="zh-CN" altLang="en-US" noProof="0"/>
              <a:t>第五级</a:t>
            </a:r>
            <a:endParaRPr lang="en-US" altLang="zh-CN" noProof="0"/>
          </a:p>
        </p:txBody>
      </p:sp>
      <p:sp>
        <p:nvSpPr>
          <p:cNvPr id="3078" name="Rectangle 6">
            <a:extLst>
              <a:ext uri="{FF2B5EF4-FFF2-40B4-BE49-F238E27FC236}">
                <a16:creationId xmlns:a16="http://schemas.microsoft.com/office/drawing/2014/main" id="{900D91B0-938D-43D2-B4A5-04218A09BCE8}"/>
              </a:ext>
            </a:extLst>
          </p:cNvPr>
          <p:cNvSpPr>
            <a:spLocks noGrp="1" noChangeArrowheads="1"/>
          </p:cNvSpPr>
          <p:nvPr>
            <p:ph type="ftr" sz="quarter" idx="4"/>
          </p:nvPr>
        </p:nvSpPr>
        <p:spPr bwMode="auto">
          <a:xfrm>
            <a:off x="1" y="9448185"/>
            <a:ext cx="2970213" cy="497364"/>
          </a:xfrm>
          <a:prstGeom prst="rect">
            <a:avLst/>
          </a:prstGeom>
          <a:noFill/>
          <a:ln>
            <a:noFill/>
          </a:ln>
          <a:extLst>
            <a:ext uri="{909E8E84-426E-40dd-AFC4-6F175D3DCCD1}"/>
            <a:ext uri="{91240B29-F687-4f45-9708-019B960494DF}"/>
          </a:extLst>
        </p:spPr>
        <p:txBody>
          <a:bodyPr vert="horz" wrap="square" lIns="91440" tIns="45720" rIns="91440" bIns="45720" numCol="1" anchor="b" anchorCtr="0" compatLnSpc="1">
            <a:prstTxWarp prst="textNoShape">
              <a:avLst/>
            </a:prstTxWarp>
          </a:bodyPr>
          <a:lstStyle>
            <a:lvl1pPr eaLnBrk="1" hangingPunct="1">
              <a:buFont typeface="Arial" charset="0"/>
              <a:buNone/>
              <a:defRPr sz="1200">
                <a:latin typeface="Arial" charset="0"/>
                <a:ea typeface="宋体" charset="0"/>
                <a:cs typeface="宋体" charset="0"/>
              </a:defRPr>
            </a:lvl1pPr>
          </a:lstStyle>
          <a:p>
            <a:pPr>
              <a:defRPr/>
            </a:pPr>
            <a:endParaRPr lang="zh-CN" altLang="en-US"/>
          </a:p>
        </p:txBody>
      </p:sp>
      <p:sp>
        <p:nvSpPr>
          <p:cNvPr id="3079" name="Rectangle 7">
            <a:extLst>
              <a:ext uri="{FF2B5EF4-FFF2-40B4-BE49-F238E27FC236}">
                <a16:creationId xmlns:a16="http://schemas.microsoft.com/office/drawing/2014/main" id="{460084FF-D1F9-4991-8BEC-52A9C4629F32}"/>
              </a:ext>
            </a:extLst>
          </p:cNvPr>
          <p:cNvSpPr>
            <a:spLocks noGrp="1" noChangeArrowheads="1"/>
          </p:cNvSpPr>
          <p:nvPr>
            <p:ph type="sldNum" sz="quarter" idx="5"/>
          </p:nvPr>
        </p:nvSpPr>
        <p:spPr bwMode="auto">
          <a:xfrm>
            <a:off x="3883025" y="9448185"/>
            <a:ext cx="2973388" cy="497364"/>
          </a:xfrm>
          <a:prstGeom prst="rect">
            <a:avLst/>
          </a:prstGeom>
          <a:noFill/>
          <a:ln>
            <a:noFill/>
          </a:ln>
          <a:extLst>
            <a:ext uri="{909E8E84-426E-40dd-AFC4-6F175D3DCCD1}"/>
            <a:ext uri="{91240B29-F687-4f45-9708-019B960494DF}"/>
          </a:extLst>
        </p:spPr>
        <p:txBody>
          <a:bodyPr vert="horz" wrap="square" lIns="91440" tIns="45720" rIns="91440" bIns="45720" numCol="1" anchor="b" anchorCtr="0" compatLnSpc="1">
            <a:prstTxWarp prst="textNoShape">
              <a:avLst/>
            </a:prstTxWarp>
          </a:bodyPr>
          <a:lstStyle>
            <a:lvl1pPr algn="r" eaLnBrk="1" hangingPunct="1">
              <a:buFont typeface="Arial" panose="020B0604020202020204" pitchFamily="34" charset="0"/>
              <a:buNone/>
              <a:defRPr sz="1200">
                <a:ea typeface="SimSun" panose="02010600030101010101" pitchFamily="2" charset="-122"/>
              </a:defRPr>
            </a:lvl1pPr>
          </a:lstStyle>
          <a:p>
            <a:pPr>
              <a:defRPr/>
            </a:pPr>
            <a:fld id="{778C1415-F545-4EAF-A725-72D26972220F}" type="slidenum">
              <a:rPr lang="zh-CN" altLang="en-US"/>
              <a:pPr>
                <a:defRPr/>
              </a:pPr>
              <a:t>‹#›</a:t>
            </a:fld>
            <a:endParaRPr lang="zh-C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Rectangle 4">
            <a:extLst>
              <a:ext uri="{FF2B5EF4-FFF2-40B4-BE49-F238E27FC236}">
                <a16:creationId xmlns:a16="http://schemas.microsoft.com/office/drawing/2014/main" id="{3258F932-2890-466A-B7FD-D54B5E428C55}"/>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7C6CDF12-C462-4CCB-A356-28A7F58EA67D}"/>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456ABFEF-8D30-40EE-85CE-F956A80A477B}"/>
              </a:ext>
            </a:extLst>
          </p:cNvPr>
          <p:cNvSpPr>
            <a:spLocks noGrp="1" noChangeArrowheads="1"/>
          </p:cNvSpPr>
          <p:nvPr>
            <p:ph type="sldNum" sz="quarter" idx="12"/>
          </p:nvPr>
        </p:nvSpPr>
        <p:spPr>
          <a:ln/>
        </p:spPr>
        <p:txBody>
          <a:bodyPr/>
          <a:lstStyle>
            <a:lvl1pPr>
              <a:defRPr/>
            </a:lvl1pPr>
          </a:lstStyle>
          <a:p>
            <a:pPr>
              <a:defRPr/>
            </a:pPr>
            <a:fld id="{83ACF02D-BD2B-41A3-A43A-08279D48516E}" type="slidenum">
              <a:rPr lang="en-US" altLang="zh-CN"/>
              <a:pPr>
                <a:defRPr/>
              </a:pPr>
              <a:t>‹#›</a:t>
            </a:fld>
            <a:endParaRPr lang="en-US" altLang="zh-CN"/>
          </a:p>
        </p:txBody>
      </p:sp>
    </p:spTree>
    <p:extLst>
      <p:ext uri="{BB962C8B-B14F-4D97-AF65-F5344CB8AC3E}">
        <p14:creationId xmlns:p14="http://schemas.microsoft.com/office/powerpoint/2010/main" val="82121241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8153F3F7-AC56-4FF9-B43F-CF4FBD8658D2}"/>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03031F05-997D-49D6-A3A7-B3CFD738767A}"/>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08907D21-A66F-4D72-8CDD-4E3976303BA1}"/>
              </a:ext>
            </a:extLst>
          </p:cNvPr>
          <p:cNvSpPr>
            <a:spLocks noGrp="1" noChangeArrowheads="1"/>
          </p:cNvSpPr>
          <p:nvPr>
            <p:ph type="sldNum" sz="quarter" idx="12"/>
          </p:nvPr>
        </p:nvSpPr>
        <p:spPr>
          <a:ln/>
        </p:spPr>
        <p:txBody>
          <a:bodyPr/>
          <a:lstStyle>
            <a:lvl1pPr>
              <a:defRPr/>
            </a:lvl1pPr>
          </a:lstStyle>
          <a:p>
            <a:pPr>
              <a:defRPr/>
            </a:pPr>
            <a:fld id="{D1AE9027-F3D1-4C9B-9224-74565BAB0F91}" type="slidenum">
              <a:rPr lang="en-US" altLang="zh-CN"/>
              <a:pPr>
                <a:defRPr/>
              </a:pPr>
              <a:t>‹#›</a:t>
            </a:fld>
            <a:endParaRPr lang="en-US" altLang="zh-CN"/>
          </a:p>
        </p:txBody>
      </p:sp>
    </p:spTree>
    <p:extLst>
      <p:ext uri="{BB962C8B-B14F-4D97-AF65-F5344CB8AC3E}">
        <p14:creationId xmlns:p14="http://schemas.microsoft.com/office/powerpoint/2010/main" val="34719073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a:t>单击此处编辑母版文本样式</a:t>
            </a:r>
          </a:p>
        </p:txBody>
      </p:sp>
      <p:sp>
        <p:nvSpPr>
          <p:cNvPr id="4" name="Rectangle 4">
            <a:extLst>
              <a:ext uri="{FF2B5EF4-FFF2-40B4-BE49-F238E27FC236}">
                <a16:creationId xmlns:a16="http://schemas.microsoft.com/office/drawing/2014/main" id="{07D94C75-0E5B-4C8C-8A85-61C6E7B65023}"/>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C655DBC5-C64C-4A22-B684-D5ED958D0EC3}"/>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CA1FB95A-9604-4FE1-9D3A-7F2FF52535B1}"/>
              </a:ext>
            </a:extLst>
          </p:cNvPr>
          <p:cNvSpPr>
            <a:spLocks noGrp="1" noChangeArrowheads="1"/>
          </p:cNvSpPr>
          <p:nvPr>
            <p:ph type="sldNum" sz="quarter" idx="12"/>
          </p:nvPr>
        </p:nvSpPr>
        <p:spPr>
          <a:ln/>
        </p:spPr>
        <p:txBody>
          <a:bodyPr/>
          <a:lstStyle>
            <a:lvl1pPr>
              <a:defRPr/>
            </a:lvl1pPr>
          </a:lstStyle>
          <a:p>
            <a:pPr>
              <a:defRPr/>
            </a:pPr>
            <a:fld id="{01EA35FE-6C29-4C46-8B53-D31BCACACDA4}" type="slidenum">
              <a:rPr lang="en-US" altLang="zh-CN"/>
              <a:pPr>
                <a:defRPr/>
              </a:pPr>
              <a:t>‹#›</a:t>
            </a:fld>
            <a:endParaRPr lang="en-US" altLang="zh-CN"/>
          </a:p>
        </p:txBody>
      </p:sp>
    </p:spTree>
    <p:extLst>
      <p:ext uri="{BB962C8B-B14F-4D97-AF65-F5344CB8AC3E}">
        <p14:creationId xmlns:p14="http://schemas.microsoft.com/office/powerpoint/2010/main" val="357140075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457200" y="1600200"/>
            <a:ext cx="4038600"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600200"/>
            <a:ext cx="4038600" cy="4525963"/>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a:extLst>
              <a:ext uri="{FF2B5EF4-FFF2-40B4-BE49-F238E27FC236}">
                <a16:creationId xmlns:a16="http://schemas.microsoft.com/office/drawing/2014/main" id="{67C559C9-402E-49B6-972F-BA454CAB79D2}"/>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1CD5592F-244A-426B-AE54-C75B816AAF92}"/>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DB71A969-1188-4E27-94E7-7C97008B70AD}"/>
              </a:ext>
            </a:extLst>
          </p:cNvPr>
          <p:cNvSpPr>
            <a:spLocks noGrp="1" noChangeArrowheads="1"/>
          </p:cNvSpPr>
          <p:nvPr>
            <p:ph type="sldNum" sz="quarter" idx="12"/>
          </p:nvPr>
        </p:nvSpPr>
        <p:spPr>
          <a:ln/>
        </p:spPr>
        <p:txBody>
          <a:bodyPr/>
          <a:lstStyle>
            <a:lvl1pPr>
              <a:defRPr/>
            </a:lvl1pPr>
          </a:lstStyle>
          <a:p>
            <a:pPr>
              <a:defRPr/>
            </a:pPr>
            <a:fld id="{A2BEFB40-825F-4796-972A-72776875975C}" type="slidenum">
              <a:rPr lang="en-US" altLang="zh-CN"/>
              <a:pPr>
                <a:defRPr/>
              </a:pPr>
              <a:t>‹#›</a:t>
            </a:fld>
            <a:endParaRPr lang="en-US" altLang="zh-CN"/>
          </a:p>
        </p:txBody>
      </p:sp>
    </p:spTree>
    <p:extLst>
      <p:ext uri="{BB962C8B-B14F-4D97-AF65-F5344CB8AC3E}">
        <p14:creationId xmlns:p14="http://schemas.microsoft.com/office/powerpoint/2010/main" val="17748530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a:t>单击此处编辑母版标题样式</a:t>
            </a:r>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30238" y="2505075"/>
            <a:ext cx="3868737"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29150" y="2505075"/>
            <a:ext cx="3887788"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a:extLst>
              <a:ext uri="{FF2B5EF4-FFF2-40B4-BE49-F238E27FC236}">
                <a16:creationId xmlns:a16="http://schemas.microsoft.com/office/drawing/2014/main" id="{87852098-092B-4191-91AC-47E76367E5B8}"/>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5">
            <a:extLst>
              <a:ext uri="{FF2B5EF4-FFF2-40B4-BE49-F238E27FC236}">
                <a16:creationId xmlns:a16="http://schemas.microsoft.com/office/drawing/2014/main" id="{62835333-50B1-47AA-8BD8-9180F0B6EF0A}"/>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a:extLst>
              <a:ext uri="{FF2B5EF4-FFF2-40B4-BE49-F238E27FC236}">
                <a16:creationId xmlns:a16="http://schemas.microsoft.com/office/drawing/2014/main" id="{306042E5-AB1C-4E74-A4F2-A3A8A16B765E}"/>
              </a:ext>
            </a:extLst>
          </p:cNvPr>
          <p:cNvSpPr>
            <a:spLocks noGrp="1" noChangeArrowheads="1"/>
          </p:cNvSpPr>
          <p:nvPr>
            <p:ph type="sldNum" sz="quarter" idx="12"/>
          </p:nvPr>
        </p:nvSpPr>
        <p:spPr>
          <a:ln/>
        </p:spPr>
        <p:txBody>
          <a:bodyPr/>
          <a:lstStyle>
            <a:lvl1pPr>
              <a:defRPr/>
            </a:lvl1pPr>
          </a:lstStyle>
          <a:p>
            <a:pPr>
              <a:defRPr/>
            </a:pPr>
            <a:fld id="{FA06A27F-7434-4140-BAD3-3CE749CFA594}" type="slidenum">
              <a:rPr lang="en-US" altLang="zh-CN"/>
              <a:pPr>
                <a:defRPr/>
              </a:pPr>
              <a:t>‹#›</a:t>
            </a:fld>
            <a:endParaRPr lang="en-US" altLang="zh-CN"/>
          </a:p>
        </p:txBody>
      </p:sp>
    </p:spTree>
    <p:extLst>
      <p:ext uri="{BB962C8B-B14F-4D97-AF65-F5344CB8AC3E}">
        <p14:creationId xmlns:p14="http://schemas.microsoft.com/office/powerpoint/2010/main" val="34300431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a:extLst>
              <a:ext uri="{FF2B5EF4-FFF2-40B4-BE49-F238E27FC236}">
                <a16:creationId xmlns:a16="http://schemas.microsoft.com/office/drawing/2014/main" id="{CC065B87-4760-410D-9B8A-0031A9CAF7C5}"/>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a:extLst>
              <a:ext uri="{FF2B5EF4-FFF2-40B4-BE49-F238E27FC236}">
                <a16:creationId xmlns:a16="http://schemas.microsoft.com/office/drawing/2014/main" id="{C54285A1-172E-4738-9540-9201D81FBB3F}"/>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a:extLst>
              <a:ext uri="{FF2B5EF4-FFF2-40B4-BE49-F238E27FC236}">
                <a16:creationId xmlns:a16="http://schemas.microsoft.com/office/drawing/2014/main" id="{9AEB86D3-7468-4211-8791-ECFAAFE185BE}"/>
              </a:ext>
            </a:extLst>
          </p:cNvPr>
          <p:cNvSpPr>
            <a:spLocks noGrp="1" noChangeArrowheads="1"/>
          </p:cNvSpPr>
          <p:nvPr>
            <p:ph type="sldNum" sz="quarter" idx="12"/>
          </p:nvPr>
        </p:nvSpPr>
        <p:spPr>
          <a:ln/>
        </p:spPr>
        <p:txBody>
          <a:bodyPr/>
          <a:lstStyle>
            <a:lvl1pPr>
              <a:defRPr/>
            </a:lvl1pPr>
          </a:lstStyle>
          <a:p>
            <a:pPr>
              <a:defRPr/>
            </a:pPr>
            <a:fld id="{5D94F624-5205-4AAE-AE23-807F393407FA}" type="slidenum">
              <a:rPr lang="en-US" altLang="zh-CN"/>
              <a:pPr>
                <a:defRPr/>
              </a:pPr>
              <a:t>‹#›</a:t>
            </a:fld>
            <a:endParaRPr lang="en-US" altLang="zh-CN"/>
          </a:p>
        </p:txBody>
      </p:sp>
    </p:spTree>
    <p:extLst>
      <p:ext uri="{BB962C8B-B14F-4D97-AF65-F5344CB8AC3E}">
        <p14:creationId xmlns:p14="http://schemas.microsoft.com/office/powerpoint/2010/main" val="1047230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a:extLst>
              <a:ext uri="{FF2B5EF4-FFF2-40B4-BE49-F238E27FC236}">
                <a16:creationId xmlns:a16="http://schemas.microsoft.com/office/drawing/2014/main" id="{5C77E13B-72D9-470A-A1FF-022BA31FDD0E}"/>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5">
            <a:extLst>
              <a:ext uri="{FF2B5EF4-FFF2-40B4-BE49-F238E27FC236}">
                <a16:creationId xmlns:a16="http://schemas.microsoft.com/office/drawing/2014/main" id="{7551F784-F8A4-4306-B383-E8C5305331E1}"/>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a:extLst>
              <a:ext uri="{FF2B5EF4-FFF2-40B4-BE49-F238E27FC236}">
                <a16:creationId xmlns:a16="http://schemas.microsoft.com/office/drawing/2014/main" id="{D5B2EE31-B659-4A2E-A5F7-4B33CE055727}"/>
              </a:ext>
            </a:extLst>
          </p:cNvPr>
          <p:cNvSpPr>
            <a:spLocks noGrp="1" noChangeArrowheads="1"/>
          </p:cNvSpPr>
          <p:nvPr>
            <p:ph type="sldNum" sz="quarter" idx="12"/>
          </p:nvPr>
        </p:nvSpPr>
        <p:spPr>
          <a:ln/>
        </p:spPr>
        <p:txBody>
          <a:bodyPr/>
          <a:lstStyle>
            <a:lvl1pPr>
              <a:defRPr/>
            </a:lvl1pPr>
          </a:lstStyle>
          <a:p>
            <a:pPr>
              <a:defRPr/>
            </a:pPr>
            <a:fld id="{28315612-C62D-4AEB-B509-25ACC8E173B5}" type="slidenum">
              <a:rPr lang="en-US" altLang="zh-CN"/>
              <a:pPr>
                <a:defRPr/>
              </a:pPr>
              <a:t>‹#›</a:t>
            </a:fld>
            <a:endParaRPr lang="en-US" altLang="zh-CN"/>
          </a:p>
        </p:txBody>
      </p:sp>
    </p:spTree>
    <p:extLst>
      <p:ext uri="{BB962C8B-B14F-4D97-AF65-F5344CB8AC3E}">
        <p14:creationId xmlns:p14="http://schemas.microsoft.com/office/powerpoint/2010/main" val="13214041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7330B0F8-9AD5-4FFB-BAA3-1A9121D77479}"/>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5C99C597-8A04-4988-B2BC-BC7245954CD8}"/>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64FA4472-FF9F-4640-A6AA-A22E92CDF4EA}"/>
              </a:ext>
            </a:extLst>
          </p:cNvPr>
          <p:cNvSpPr>
            <a:spLocks noGrp="1" noChangeArrowheads="1"/>
          </p:cNvSpPr>
          <p:nvPr>
            <p:ph type="sldNum" sz="quarter" idx="12"/>
          </p:nvPr>
        </p:nvSpPr>
        <p:spPr>
          <a:ln/>
        </p:spPr>
        <p:txBody>
          <a:bodyPr/>
          <a:lstStyle>
            <a:lvl1pPr>
              <a:defRPr/>
            </a:lvl1pPr>
          </a:lstStyle>
          <a:p>
            <a:pPr>
              <a:defRPr/>
            </a:pPr>
            <a:fld id="{EB68E671-225C-4CFC-9C8F-6FC8794CFFD6}" type="slidenum">
              <a:rPr lang="en-US" altLang="zh-CN"/>
              <a:pPr>
                <a:defRPr/>
              </a:pPr>
              <a:t>‹#›</a:t>
            </a:fld>
            <a:endParaRPr lang="en-US" altLang="zh-CN"/>
          </a:p>
        </p:txBody>
      </p:sp>
    </p:spTree>
    <p:extLst>
      <p:ext uri="{BB962C8B-B14F-4D97-AF65-F5344CB8AC3E}">
        <p14:creationId xmlns:p14="http://schemas.microsoft.com/office/powerpoint/2010/main" val="22429109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30238" y="457200"/>
            <a:ext cx="2949575"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Rectangle 4">
            <a:extLst>
              <a:ext uri="{FF2B5EF4-FFF2-40B4-BE49-F238E27FC236}">
                <a16:creationId xmlns:a16="http://schemas.microsoft.com/office/drawing/2014/main" id="{EC8497F1-318E-4118-8ADB-DC9B25B0626F}"/>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a:extLst>
              <a:ext uri="{FF2B5EF4-FFF2-40B4-BE49-F238E27FC236}">
                <a16:creationId xmlns:a16="http://schemas.microsoft.com/office/drawing/2014/main" id="{C63987DB-7905-42B3-92B5-1E55EC54476C}"/>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a:extLst>
              <a:ext uri="{FF2B5EF4-FFF2-40B4-BE49-F238E27FC236}">
                <a16:creationId xmlns:a16="http://schemas.microsoft.com/office/drawing/2014/main" id="{8F771812-8A9A-4030-9354-C31CAB44A21B}"/>
              </a:ext>
            </a:extLst>
          </p:cNvPr>
          <p:cNvSpPr>
            <a:spLocks noGrp="1" noChangeArrowheads="1"/>
          </p:cNvSpPr>
          <p:nvPr>
            <p:ph type="sldNum" sz="quarter" idx="12"/>
          </p:nvPr>
        </p:nvSpPr>
        <p:spPr>
          <a:ln/>
        </p:spPr>
        <p:txBody>
          <a:bodyPr/>
          <a:lstStyle>
            <a:lvl1pPr>
              <a:defRPr/>
            </a:lvl1pPr>
          </a:lstStyle>
          <a:p>
            <a:pPr>
              <a:defRPr/>
            </a:pPr>
            <a:fld id="{D0C1CC3E-3A36-4EA1-8FDF-FCBC759A9980}" type="slidenum">
              <a:rPr lang="en-US" altLang="zh-CN"/>
              <a:pPr>
                <a:defRPr/>
              </a:pPr>
              <a:t>‹#›</a:t>
            </a:fld>
            <a:endParaRPr lang="en-US" altLang="zh-CN"/>
          </a:p>
        </p:txBody>
      </p:sp>
    </p:spTree>
    <p:extLst>
      <p:ext uri="{BB962C8B-B14F-4D97-AF65-F5344CB8AC3E}">
        <p14:creationId xmlns:p14="http://schemas.microsoft.com/office/powerpoint/2010/main" val="12709318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8A0C0EC6-7BCF-4048-853F-1E8529DAA4B6}"/>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CDA18239-816F-4A76-A6F8-54BB7DC23A42}"/>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E0D12BE1-4C58-4ED6-B698-E499CC12A84B}"/>
              </a:ext>
            </a:extLst>
          </p:cNvPr>
          <p:cNvSpPr>
            <a:spLocks noGrp="1" noChangeArrowheads="1"/>
          </p:cNvSpPr>
          <p:nvPr>
            <p:ph type="sldNum" sz="quarter" idx="12"/>
          </p:nvPr>
        </p:nvSpPr>
        <p:spPr>
          <a:ln/>
        </p:spPr>
        <p:txBody>
          <a:bodyPr/>
          <a:lstStyle>
            <a:lvl1pPr>
              <a:defRPr/>
            </a:lvl1pPr>
          </a:lstStyle>
          <a:p>
            <a:pPr>
              <a:defRPr/>
            </a:pPr>
            <a:fld id="{6179DB30-7045-4D36-B14A-80846535937F}" type="slidenum">
              <a:rPr lang="en-US" altLang="zh-CN"/>
              <a:pPr>
                <a:defRPr/>
              </a:pPr>
              <a:t>‹#›</a:t>
            </a:fld>
            <a:endParaRPr lang="en-US" altLang="zh-CN"/>
          </a:p>
        </p:txBody>
      </p:sp>
    </p:spTree>
    <p:extLst>
      <p:ext uri="{BB962C8B-B14F-4D97-AF65-F5344CB8AC3E}">
        <p14:creationId xmlns:p14="http://schemas.microsoft.com/office/powerpoint/2010/main" val="18563501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a:extLst>
              <a:ext uri="{FF2B5EF4-FFF2-40B4-BE49-F238E27FC236}">
                <a16:creationId xmlns:a16="http://schemas.microsoft.com/office/drawing/2014/main" id="{696751CC-D93A-4811-9EB6-52F2917DE166}"/>
              </a:ext>
            </a:extLst>
          </p:cNvPr>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a:extLst>
              <a:ext uri="{FF2B5EF4-FFF2-40B4-BE49-F238E27FC236}">
                <a16:creationId xmlns:a16="http://schemas.microsoft.com/office/drawing/2014/main" id="{2252C067-7BB3-43EC-89D8-A7FA4AB2AD9B}"/>
              </a:ext>
            </a:extLst>
          </p:cNvPr>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a:extLst>
              <a:ext uri="{FF2B5EF4-FFF2-40B4-BE49-F238E27FC236}">
                <a16:creationId xmlns:a16="http://schemas.microsoft.com/office/drawing/2014/main" id="{3383FF4B-04D2-4813-BCA2-8E3C22F53182}"/>
              </a:ext>
            </a:extLst>
          </p:cNvPr>
          <p:cNvSpPr>
            <a:spLocks noGrp="1" noChangeArrowheads="1"/>
          </p:cNvSpPr>
          <p:nvPr>
            <p:ph type="sldNum" sz="quarter" idx="12"/>
          </p:nvPr>
        </p:nvSpPr>
        <p:spPr>
          <a:ln/>
        </p:spPr>
        <p:txBody>
          <a:bodyPr/>
          <a:lstStyle>
            <a:lvl1pPr>
              <a:defRPr/>
            </a:lvl1pPr>
          </a:lstStyle>
          <a:p>
            <a:pPr>
              <a:defRPr/>
            </a:pPr>
            <a:fld id="{5F5BCAFB-D2B0-4266-B070-58FF8190BD85}" type="slidenum">
              <a:rPr lang="en-US" altLang="zh-CN"/>
              <a:pPr>
                <a:defRPr/>
              </a:pPr>
              <a:t>‹#›</a:t>
            </a:fld>
            <a:endParaRPr lang="en-US" altLang="zh-CN"/>
          </a:p>
        </p:txBody>
      </p:sp>
    </p:spTree>
    <p:extLst>
      <p:ext uri="{BB962C8B-B14F-4D97-AF65-F5344CB8AC3E}">
        <p14:creationId xmlns:p14="http://schemas.microsoft.com/office/powerpoint/2010/main" val="5001210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598ED485-6AA5-423E-A45F-DF87DF13AA7B}"/>
              </a:ext>
            </a:extLst>
          </p:cNvPr>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zh-CN" altLang="en-US"/>
              <a:t>单击此处编辑母版标题样式</a:t>
            </a:r>
            <a:endParaRPr lang="en-US" altLang="zh-CN"/>
          </a:p>
        </p:txBody>
      </p:sp>
      <p:sp>
        <p:nvSpPr>
          <p:cNvPr id="1027" name="Rectangle 3">
            <a:extLst>
              <a:ext uri="{FF2B5EF4-FFF2-40B4-BE49-F238E27FC236}">
                <a16:creationId xmlns:a16="http://schemas.microsoft.com/office/drawing/2014/main" id="{EF87A2F6-7A58-428B-8C9D-135F10D749E2}"/>
              </a:ext>
            </a:extLst>
          </p:cNvPr>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endParaRPr lang="en-US" altLang="zh-CN"/>
          </a:p>
          <a:p>
            <a:pPr lvl="1"/>
            <a:r>
              <a:rPr lang="zh-CN" altLang="en-US"/>
              <a:t>第二级</a:t>
            </a:r>
            <a:endParaRPr lang="en-US" altLang="zh-CN"/>
          </a:p>
          <a:p>
            <a:pPr lvl="2"/>
            <a:r>
              <a:rPr lang="zh-CN" altLang="en-US"/>
              <a:t>第三级</a:t>
            </a:r>
            <a:endParaRPr lang="en-US" altLang="zh-CN"/>
          </a:p>
          <a:p>
            <a:pPr lvl="3"/>
            <a:r>
              <a:rPr lang="zh-CN" altLang="en-US"/>
              <a:t>第四级</a:t>
            </a:r>
            <a:endParaRPr lang="en-US" altLang="zh-CN"/>
          </a:p>
          <a:p>
            <a:pPr lvl="4"/>
            <a:r>
              <a:rPr lang="zh-CN" altLang="en-US"/>
              <a:t>第五级</a:t>
            </a:r>
            <a:endParaRPr lang="en-US" altLang="zh-CN"/>
          </a:p>
        </p:txBody>
      </p:sp>
      <p:sp>
        <p:nvSpPr>
          <p:cNvPr id="2052" name="Rectangle 4">
            <a:extLst>
              <a:ext uri="{FF2B5EF4-FFF2-40B4-BE49-F238E27FC236}">
                <a16:creationId xmlns:a16="http://schemas.microsoft.com/office/drawing/2014/main" id="{54FEE0AA-F66C-44D7-A2CF-E2A7D71EF929}"/>
              </a:ext>
            </a:extLst>
          </p:cNvPr>
          <p:cNvSpPr>
            <a:spLocks noGrp="1" noChangeArrowheads="1"/>
          </p:cNvSpPr>
          <p:nvPr>
            <p:ph type="dt" sz="half" idx="2"/>
          </p:nvPr>
        </p:nvSpPr>
        <p:spPr bwMode="auto">
          <a:xfrm>
            <a:off x="457200" y="6245225"/>
            <a:ext cx="2133600" cy="476250"/>
          </a:xfrm>
          <a:prstGeom prst="rect">
            <a:avLst/>
          </a:prstGeom>
          <a:noFill/>
          <a:ln>
            <a:noFill/>
          </a:ln>
          <a:extLst>
            <a:ext uri="{909E8E84-426E-40dd-AFC4-6F175D3DCCD1}"/>
            <a:ext uri="{91240B29-F687-4f45-9708-019B960494DF}"/>
          </a:extLst>
        </p:spPr>
        <p:txBody>
          <a:bodyPr vert="horz" wrap="square" lIns="91440" tIns="45720" rIns="91440" bIns="45720" numCol="1" anchor="t" anchorCtr="0" compatLnSpc="1">
            <a:prstTxWarp prst="textNoShape">
              <a:avLst/>
            </a:prstTxWarp>
          </a:bodyPr>
          <a:lstStyle>
            <a:lvl1pPr eaLnBrk="1" hangingPunct="1">
              <a:buFont typeface="Arial" charset="0"/>
              <a:buNone/>
              <a:defRPr sz="1400">
                <a:latin typeface="Arial" charset="0"/>
                <a:ea typeface="宋体" charset="0"/>
                <a:cs typeface="宋体" charset="0"/>
              </a:defRPr>
            </a:lvl1pPr>
          </a:lstStyle>
          <a:p>
            <a:pPr>
              <a:defRPr/>
            </a:pPr>
            <a:endParaRPr lang="en-US" altLang="zh-CN"/>
          </a:p>
        </p:txBody>
      </p:sp>
      <p:sp>
        <p:nvSpPr>
          <p:cNvPr id="2053" name="Rectangle 5">
            <a:extLst>
              <a:ext uri="{FF2B5EF4-FFF2-40B4-BE49-F238E27FC236}">
                <a16:creationId xmlns:a16="http://schemas.microsoft.com/office/drawing/2014/main" id="{02B35E2B-65B8-403C-BFDA-3A5BA16A2D38}"/>
              </a:ext>
            </a:extLst>
          </p:cNvPr>
          <p:cNvSpPr>
            <a:spLocks noGrp="1" noChangeArrowheads="1"/>
          </p:cNvSpPr>
          <p:nvPr>
            <p:ph type="ftr" sz="quarter" idx="3"/>
          </p:nvPr>
        </p:nvSpPr>
        <p:spPr bwMode="auto">
          <a:xfrm>
            <a:off x="3124200" y="6245225"/>
            <a:ext cx="2895600" cy="476250"/>
          </a:xfrm>
          <a:prstGeom prst="rect">
            <a:avLst/>
          </a:prstGeom>
          <a:noFill/>
          <a:ln>
            <a:noFill/>
          </a:ln>
          <a:extLst>
            <a:ext uri="{909E8E84-426E-40dd-AFC4-6F175D3DCCD1}"/>
            <a:ext uri="{91240B29-F687-4f45-9708-019B960494DF}"/>
          </a:extLst>
        </p:spPr>
        <p:txBody>
          <a:bodyPr vert="horz" wrap="square" lIns="91440" tIns="45720" rIns="91440" bIns="45720" numCol="1" anchor="t" anchorCtr="0" compatLnSpc="1">
            <a:prstTxWarp prst="textNoShape">
              <a:avLst/>
            </a:prstTxWarp>
          </a:bodyPr>
          <a:lstStyle>
            <a:lvl1pPr algn="ctr" eaLnBrk="1" hangingPunct="1">
              <a:buFont typeface="Arial" charset="0"/>
              <a:buNone/>
              <a:defRPr sz="1400">
                <a:latin typeface="Arial" charset="0"/>
                <a:ea typeface="宋体" charset="0"/>
                <a:cs typeface="宋体" charset="0"/>
              </a:defRPr>
            </a:lvl1pPr>
          </a:lstStyle>
          <a:p>
            <a:pPr>
              <a:defRPr/>
            </a:pPr>
            <a:endParaRPr lang="en-US" altLang="zh-CN"/>
          </a:p>
        </p:txBody>
      </p:sp>
      <p:sp>
        <p:nvSpPr>
          <p:cNvPr id="2054" name="Rectangle 6">
            <a:extLst>
              <a:ext uri="{FF2B5EF4-FFF2-40B4-BE49-F238E27FC236}">
                <a16:creationId xmlns:a16="http://schemas.microsoft.com/office/drawing/2014/main" id="{844184CE-A564-44F9-A27E-2DDE5988ED99}"/>
              </a:ext>
            </a:extLst>
          </p:cNvPr>
          <p:cNvSpPr>
            <a:spLocks noGrp="1" noChangeArrowheads="1"/>
          </p:cNvSpPr>
          <p:nvPr>
            <p:ph type="sldNum" sz="quarter" idx="4"/>
          </p:nvPr>
        </p:nvSpPr>
        <p:spPr bwMode="auto">
          <a:xfrm>
            <a:off x="6553200" y="6245225"/>
            <a:ext cx="2133600" cy="476250"/>
          </a:xfrm>
          <a:prstGeom prst="rect">
            <a:avLst/>
          </a:prstGeom>
          <a:noFill/>
          <a:ln>
            <a:noFill/>
          </a:ln>
          <a:extLst>
            <a:ext uri="{909E8E84-426E-40dd-AFC4-6F175D3DCCD1}"/>
            <a:ext uri="{91240B29-F687-4f45-9708-019B960494DF}"/>
          </a:extLst>
        </p:spPr>
        <p:txBody>
          <a:bodyPr vert="horz" wrap="square" lIns="91440" tIns="45720" rIns="91440" bIns="45720" numCol="1" anchor="t" anchorCtr="0" compatLnSpc="1">
            <a:prstTxWarp prst="textNoShape">
              <a:avLst/>
            </a:prstTxWarp>
          </a:bodyPr>
          <a:lstStyle>
            <a:lvl1pPr algn="r" eaLnBrk="1" hangingPunct="1">
              <a:buFont typeface="Arial" panose="020B0604020202020204" pitchFamily="34" charset="0"/>
              <a:buNone/>
              <a:defRPr sz="1400">
                <a:ea typeface="SimSun" panose="02010600030101010101" pitchFamily="2" charset="-122"/>
              </a:defRPr>
            </a:lvl1pPr>
          </a:lstStyle>
          <a:p>
            <a:pPr>
              <a:defRPr/>
            </a:pPr>
            <a:fld id="{F5F2B2FA-3BF5-48AF-AA11-EF51B337F4ED}"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Lst>
  <p:txStyles>
    <p:titleStyle>
      <a:lvl1pPr algn="ctr" rtl="0" eaLnBrk="0" fontAlgn="base" hangingPunct="0">
        <a:spcBef>
          <a:spcPct val="0"/>
        </a:spcBef>
        <a:spcAft>
          <a:spcPct val="0"/>
        </a:spcAft>
        <a:defRPr sz="4400" kern="1200">
          <a:solidFill>
            <a:schemeClr val="tx2"/>
          </a:solidFill>
          <a:latin typeface="+mj-lt"/>
          <a:ea typeface="MS PGothic" panose="020B0600070205080204" pitchFamily="34" charset="-128"/>
          <a:cs typeface="SimSun" panose="02010600030101010101" pitchFamily="2" charset="-122"/>
        </a:defRPr>
      </a:lvl1pPr>
      <a:lvl2pPr algn="ctr" rtl="0" eaLnBrk="0" fontAlgn="base" hangingPunct="0">
        <a:spcBef>
          <a:spcPct val="0"/>
        </a:spcBef>
        <a:spcAft>
          <a:spcPct val="0"/>
        </a:spcAft>
        <a:defRPr sz="4400">
          <a:solidFill>
            <a:schemeClr val="tx2"/>
          </a:solidFill>
          <a:latin typeface="Arial" panose="020B0604020202020204" pitchFamily="34" charset="0"/>
          <a:ea typeface="MS PGothic" panose="020B0600070205080204" pitchFamily="34" charset="-128"/>
          <a:cs typeface="SimSun" panose="02010600030101010101" pitchFamily="2" charset="-122"/>
        </a:defRPr>
      </a:lvl2pPr>
      <a:lvl3pPr algn="ctr" rtl="0" eaLnBrk="0" fontAlgn="base" hangingPunct="0">
        <a:spcBef>
          <a:spcPct val="0"/>
        </a:spcBef>
        <a:spcAft>
          <a:spcPct val="0"/>
        </a:spcAft>
        <a:defRPr sz="4400">
          <a:solidFill>
            <a:schemeClr val="tx2"/>
          </a:solidFill>
          <a:latin typeface="Arial" panose="020B0604020202020204" pitchFamily="34" charset="0"/>
          <a:ea typeface="MS PGothic" panose="020B0600070205080204" pitchFamily="34" charset="-128"/>
          <a:cs typeface="SimSun" panose="02010600030101010101" pitchFamily="2" charset="-122"/>
        </a:defRPr>
      </a:lvl3pPr>
      <a:lvl4pPr algn="ctr" rtl="0" eaLnBrk="0" fontAlgn="base" hangingPunct="0">
        <a:spcBef>
          <a:spcPct val="0"/>
        </a:spcBef>
        <a:spcAft>
          <a:spcPct val="0"/>
        </a:spcAft>
        <a:defRPr sz="4400">
          <a:solidFill>
            <a:schemeClr val="tx2"/>
          </a:solidFill>
          <a:latin typeface="Arial" panose="020B0604020202020204" pitchFamily="34" charset="0"/>
          <a:ea typeface="MS PGothic" panose="020B0600070205080204" pitchFamily="34" charset="-128"/>
          <a:cs typeface="SimSun" panose="02010600030101010101" pitchFamily="2" charset="-122"/>
        </a:defRPr>
      </a:lvl4pPr>
      <a:lvl5pPr algn="ctr" rtl="0" eaLnBrk="0" fontAlgn="base" hangingPunct="0">
        <a:spcBef>
          <a:spcPct val="0"/>
        </a:spcBef>
        <a:spcAft>
          <a:spcPct val="0"/>
        </a:spcAft>
        <a:defRPr sz="4400">
          <a:solidFill>
            <a:schemeClr val="tx2"/>
          </a:solidFill>
          <a:latin typeface="Arial" panose="020B0604020202020204" pitchFamily="34" charset="0"/>
          <a:ea typeface="MS PGothic" panose="020B0600070205080204" pitchFamily="34" charset="-128"/>
          <a:cs typeface="SimSun" panose="02010600030101010101" pitchFamily="2" charset="-122"/>
        </a:defRPr>
      </a:lvl5pPr>
      <a:lvl6pPr marL="457200"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6pPr>
      <a:lvl7pPr marL="914400"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7pPr>
      <a:lvl8pPr marL="1371600"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8pPr>
      <a:lvl9pPr marL="1828800" algn="ctr" rtl="0" eaLnBrk="0" fontAlgn="base" hangingPunct="0">
        <a:spcBef>
          <a:spcPct val="0"/>
        </a:spcBef>
        <a:spcAft>
          <a:spcPct val="0"/>
        </a:spcAft>
        <a:defRPr sz="4400">
          <a:solidFill>
            <a:schemeClr val="tx2"/>
          </a:solidFill>
          <a:latin typeface="Arial" panose="020B0604020202020204" pitchFamily="34" charset="0"/>
          <a:ea typeface="宋体" panose="02010600030101010101" pitchFamily="2" charset="-122"/>
        </a:defRPr>
      </a:lvl9pPr>
    </p:titleStyle>
    <p:bodyStyle>
      <a:lvl1pPr marL="342900" indent="-342900" algn="l" rtl="0" eaLnBrk="0" fontAlgn="base" hangingPunct="0">
        <a:spcBef>
          <a:spcPct val="20000"/>
        </a:spcBef>
        <a:spcAft>
          <a:spcPct val="0"/>
        </a:spcAft>
        <a:buChar char="•"/>
        <a:defRPr sz="3200" kern="1200">
          <a:solidFill>
            <a:schemeClr val="tx1"/>
          </a:solidFill>
          <a:latin typeface="+mn-lt"/>
          <a:ea typeface="MS PGothic" panose="020B0600070205080204" pitchFamily="34" charset="-128"/>
          <a:cs typeface="SimSun" panose="02010600030101010101" pitchFamily="2" charset="-122"/>
        </a:defRPr>
      </a:lvl1pPr>
      <a:lvl2pPr marL="742950" indent="-285750" algn="l" rtl="0" eaLnBrk="0" fontAlgn="base" hangingPunct="0">
        <a:spcBef>
          <a:spcPct val="20000"/>
        </a:spcBef>
        <a:spcAft>
          <a:spcPct val="0"/>
        </a:spcAft>
        <a:buChar char="–"/>
        <a:defRPr sz="2800" kern="1200">
          <a:solidFill>
            <a:schemeClr val="tx1"/>
          </a:solidFill>
          <a:latin typeface="+mn-lt"/>
          <a:ea typeface="SimSun" panose="02010600030101010101" pitchFamily="2" charset="-122"/>
          <a:cs typeface="SimSun" panose="02010600030101010101" pitchFamily="2" charset="-122"/>
        </a:defRPr>
      </a:lvl2pPr>
      <a:lvl3pPr marL="1143000" indent="-228600" algn="l" rtl="0" eaLnBrk="0" fontAlgn="base" hangingPunct="0">
        <a:spcBef>
          <a:spcPct val="20000"/>
        </a:spcBef>
        <a:spcAft>
          <a:spcPct val="0"/>
        </a:spcAft>
        <a:buChar char="•"/>
        <a:defRPr sz="2400" kern="1200">
          <a:solidFill>
            <a:schemeClr val="tx1"/>
          </a:solidFill>
          <a:latin typeface="+mn-lt"/>
          <a:ea typeface="SimSun" panose="02010600030101010101" pitchFamily="2" charset="-122"/>
          <a:cs typeface="SimSun" panose="02010600030101010101" pitchFamily="2" charset="-122"/>
        </a:defRPr>
      </a:lvl3pPr>
      <a:lvl4pPr marL="1600200" indent="-228600" algn="l" rtl="0" eaLnBrk="0" fontAlgn="base" hangingPunct="0">
        <a:spcBef>
          <a:spcPct val="20000"/>
        </a:spcBef>
        <a:spcAft>
          <a:spcPct val="0"/>
        </a:spcAft>
        <a:buChar char="–"/>
        <a:defRPr sz="2000" kern="1200">
          <a:solidFill>
            <a:schemeClr val="tx1"/>
          </a:solidFill>
          <a:latin typeface="+mn-lt"/>
          <a:ea typeface="SimSun" panose="02010600030101010101" pitchFamily="2" charset="-122"/>
          <a:cs typeface="SimSun" panose="02010600030101010101" pitchFamily="2" charset="-122"/>
        </a:defRPr>
      </a:lvl4pPr>
      <a:lvl5pPr marL="2057400" indent="-228600" algn="l" rtl="0" eaLnBrk="0" fontAlgn="base" hangingPunct="0">
        <a:spcBef>
          <a:spcPct val="20000"/>
        </a:spcBef>
        <a:spcAft>
          <a:spcPct val="0"/>
        </a:spcAft>
        <a:buChar char="»"/>
        <a:defRPr sz="2000" kern="1200">
          <a:solidFill>
            <a:schemeClr val="tx1"/>
          </a:solidFill>
          <a:latin typeface="+mn-lt"/>
          <a:ea typeface="SimSun" panose="02010600030101010101" pitchFamily="2" charset="-122"/>
          <a:cs typeface="SimSun" panose="02010600030101010101" pitchFamily="2"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oleObject" Target="../embeddings/oleObject1.bin"/><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image" Target="../media/image3.emf"/><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image" Target="../media/image6.emf"/><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8.jpg"/><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image" Target="../media/image12.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5">
            <a:extLst>
              <a:ext uri="{FF2B5EF4-FFF2-40B4-BE49-F238E27FC236}">
                <a16:creationId xmlns:a16="http://schemas.microsoft.com/office/drawing/2014/main" id="{C8A27B77-DB4B-42EA-A92A-73A776DB8004}"/>
              </a:ext>
            </a:extLst>
          </p:cNvPr>
          <p:cNvSpPr txBox="1">
            <a:spLocks noChangeArrowheads="1"/>
          </p:cNvSpPr>
          <p:nvPr/>
        </p:nvSpPr>
        <p:spPr bwMode="auto">
          <a:xfrm>
            <a:off x="914400" y="2413337"/>
            <a:ext cx="7315200" cy="1015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6000" dirty="0">
                <a:latin typeface="SimHei" panose="02010609060101010101" pitchFamily="49" charset="-122"/>
                <a:ea typeface="SimHei" panose="02010609060101010101" pitchFamily="49" charset="-122"/>
                <a:cs typeface="Adobe 黑体 Std R" charset="-122"/>
              </a:rPr>
              <a:t>皮肤清洁类化妆品</a:t>
            </a:r>
            <a:endParaRPr lang="en-US" altLang="zh-CN" sz="6000" dirty="0">
              <a:latin typeface="SimHei" panose="02010609060101010101" pitchFamily="49" charset="-122"/>
              <a:ea typeface="SimHei" panose="02010609060101010101" pitchFamily="49" charset="-122"/>
              <a:cs typeface="Adobe 黑体 Std R" charset="-122"/>
            </a:endParaRPr>
          </a:p>
        </p:txBody>
      </p:sp>
    </p:spTree>
    <p:extLst>
      <p:ext uri="{BB962C8B-B14F-4D97-AF65-F5344CB8AC3E}">
        <p14:creationId xmlns:p14="http://schemas.microsoft.com/office/powerpoint/2010/main" val="22771655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2</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概要</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606610" y="1597191"/>
            <a:ext cx="7461065" cy="2593980"/>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800" dirty="0">
                <a:latin typeface="+mn-lt"/>
                <a:ea typeface="SimHei" panose="02010609060101010101" pitchFamily="49" charset="-122"/>
              </a:rPr>
              <a:t>皮肤基础理论</a:t>
            </a:r>
            <a:endParaRPr lang="en-US" altLang="zh-CN" sz="2800" dirty="0">
              <a:latin typeface="+mn-lt"/>
              <a:ea typeface="SimHei" panose="02010609060101010101" pitchFamily="49" charset="-122"/>
            </a:endParaRPr>
          </a:p>
          <a:p>
            <a:pPr marL="342900" indent="-342900">
              <a:lnSpc>
                <a:spcPct val="150000"/>
              </a:lnSpc>
              <a:buFont typeface="Arial" panose="020B0604020202020204" pitchFamily="34" charset="0"/>
              <a:buChar char="•"/>
            </a:pPr>
            <a:r>
              <a:rPr lang="zh-CN" altLang="en-US" sz="2800" dirty="0">
                <a:latin typeface="+mn-lt"/>
                <a:ea typeface="SimHei" panose="02010609060101010101" pitchFamily="49" charset="-122"/>
              </a:rPr>
              <a:t>皂基洁肤产品</a:t>
            </a:r>
            <a:endParaRPr lang="en-US" altLang="zh-CN" sz="2800" dirty="0">
              <a:latin typeface="+mn-lt"/>
              <a:ea typeface="SimHei" panose="02010609060101010101" pitchFamily="49" charset="-122"/>
            </a:endParaRPr>
          </a:p>
          <a:p>
            <a:pPr marL="342900" indent="-342900">
              <a:lnSpc>
                <a:spcPct val="150000"/>
              </a:lnSpc>
              <a:buFont typeface="Arial" panose="020B0604020202020204" pitchFamily="34" charset="0"/>
              <a:buChar char="•"/>
            </a:pPr>
            <a:r>
              <a:rPr lang="zh-CN" altLang="en-US" sz="2800" dirty="0">
                <a:latin typeface="+mn-lt"/>
                <a:ea typeface="SimHei" panose="02010609060101010101" pitchFamily="49" charset="-122"/>
              </a:rPr>
              <a:t>其他表明活性剂洁肤产品</a:t>
            </a:r>
            <a:endParaRPr lang="en-US" altLang="zh-CN" sz="2800" dirty="0">
              <a:latin typeface="+mn-lt"/>
              <a:ea typeface="SimHei" panose="02010609060101010101" pitchFamily="49" charset="-122"/>
            </a:endParaRPr>
          </a:p>
          <a:p>
            <a:pPr marL="342900" indent="-342900">
              <a:lnSpc>
                <a:spcPct val="150000"/>
              </a:lnSpc>
              <a:buFont typeface="Arial" panose="020B0604020202020204" pitchFamily="34" charset="0"/>
              <a:buChar char="•"/>
            </a:pPr>
            <a:r>
              <a:rPr lang="zh-CN" altLang="en-US" sz="2800" dirty="0">
                <a:latin typeface="+mn-lt"/>
                <a:ea typeface="SimHei" panose="02010609060101010101" pitchFamily="49" charset="-122"/>
              </a:rPr>
              <a:t>卸妆产品</a:t>
            </a:r>
            <a:endParaRPr lang="en-US" altLang="zh-CN" sz="2800" dirty="0">
              <a:latin typeface="+mn-lt"/>
              <a:ea typeface="SimHei" panose="02010609060101010101" pitchFamily="49" charset="-122"/>
            </a:endParaRPr>
          </a:p>
        </p:txBody>
      </p:sp>
    </p:spTree>
    <p:extLst>
      <p:ext uri="{BB962C8B-B14F-4D97-AF65-F5344CB8AC3E}">
        <p14:creationId xmlns:p14="http://schemas.microsoft.com/office/powerpoint/2010/main" val="1422005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3</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皮肤是人体最大的器官</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836704" y="1227619"/>
            <a:ext cx="7461065" cy="5009833"/>
          </a:xfrm>
          <a:prstGeom prst="rect">
            <a:avLst/>
          </a:prstGeom>
          <a:noFill/>
        </p:spPr>
        <p:txBody>
          <a:bodyPr wrap="square" rtlCol="0">
            <a:spAutoFit/>
          </a:bodyPr>
          <a:lstStyle/>
          <a:p>
            <a:pPr>
              <a:lnSpc>
                <a:spcPct val="150000"/>
              </a:lnSpc>
            </a:pPr>
            <a:r>
              <a:rPr lang="zh-CN" altLang="en-US" sz="2400" dirty="0">
                <a:latin typeface="+mn-lt"/>
                <a:ea typeface="SimHei" panose="02010609060101010101" pitchFamily="49" charset="-122"/>
              </a:rPr>
              <a:t>皮肤覆盖在人体表面，是人体最大的器官。</a:t>
            </a:r>
            <a:endParaRPr lang="en-US" altLang="zh-CN" sz="2400" dirty="0">
              <a:latin typeface="+mn-lt"/>
              <a:ea typeface="SimHei" panose="02010609060101010101" pitchFamily="49" charset="-122"/>
            </a:endParaRPr>
          </a:p>
          <a:p>
            <a:pPr>
              <a:lnSpc>
                <a:spcPct val="150000"/>
              </a:lnSpc>
            </a:pPr>
            <a:r>
              <a:rPr lang="en-US" altLang="zh-CN" sz="2400" dirty="0">
                <a:latin typeface="+mn-lt"/>
                <a:ea typeface="SimHei" panose="02010609060101010101" pitchFamily="49" charset="-122"/>
              </a:rPr>
              <a:t>	</a:t>
            </a:r>
            <a:r>
              <a:rPr lang="zh-CN" altLang="en-US" sz="2400" dirty="0">
                <a:latin typeface="+mn-lt"/>
                <a:ea typeface="SimHei" panose="02010609060101010101" pitchFamily="49" charset="-122"/>
              </a:rPr>
              <a:t>成年人的皮肤表面积达到</a:t>
            </a:r>
            <a:r>
              <a:rPr lang="en-US" altLang="zh-CN" sz="2400" dirty="0">
                <a:latin typeface="+mn-lt"/>
                <a:ea typeface="SimHei" panose="02010609060101010101" pitchFamily="49" charset="-122"/>
              </a:rPr>
              <a:t>1.5</a:t>
            </a:r>
            <a:r>
              <a:rPr lang="zh-CN" altLang="en-US" sz="2400" dirty="0">
                <a:latin typeface="+mn-lt"/>
                <a:ea typeface="SimHei" panose="02010609060101010101" pitchFamily="49" charset="-122"/>
              </a:rPr>
              <a:t>～</a:t>
            </a:r>
            <a:r>
              <a:rPr lang="en-US" altLang="zh-CN" sz="2400" dirty="0">
                <a:latin typeface="+mn-lt"/>
                <a:ea typeface="SimHei" panose="02010609060101010101" pitchFamily="49" charset="-122"/>
              </a:rPr>
              <a:t>2.0 m², </a:t>
            </a:r>
            <a:r>
              <a:rPr lang="zh-CN" altLang="en-US" sz="2400" dirty="0">
                <a:latin typeface="+mn-lt"/>
                <a:ea typeface="SimHei" panose="02010609060101010101" pitchFamily="49" charset="-122"/>
              </a:rPr>
              <a:t>质量大约达到体重的 </a:t>
            </a:r>
            <a:r>
              <a:rPr lang="en-US" altLang="zh-CN" sz="2400" dirty="0">
                <a:latin typeface="+mn-lt"/>
                <a:ea typeface="SimHei" panose="02010609060101010101" pitchFamily="49" charset="-122"/>
              </a:rPr>
              <a:t>5%</a:t>
            </a:r>
            <a:r>
              <a:rPr lang="zh-CN" altLang="en-US" sz="2400" dirty="0">
                <a:latin typeface="+mn-lt"/>
                <a:ea typeface="SimHei" panose="02010609060101010101" pitchFamily="49" charset="-122"/>
              </a:rPr>
              <a:t>。</a:t>
            </a:r>
            <a:endParaRPr lang="en-US" altLang="zh-CN" sz="2400" dirty="0">
              <a:latin typeface="+mn-lt"/>
              <a:ea typeface="SimHei" panose="02010609060101010101" pitchFamily="49" charset="-122"/>
            </a:endParaRPr>
          </a:p>
          <a:p>
            <a:pPr>
              <a:lnSpc>
                <a:spcPct val="150000"/>
              </a:lnSpc>
            </a:pPr>
            <a:endParaRPr lang="en-US" altLang="zh-CN" sz="2400" dirty="0">
              <a:latin typeface="+mn-lt"/>
              <a:ea typeface="SimHei" panose="02010609060101010101" pitchFamily="49" charset="-122"/>
            </a:endParaRPr>
          </a:p>
          <a:p>
            <a:pPr>
              <a:lnSpc>
                <a:spcPct val="150000"/>
              </a:lnSpc>
            </a:pPr>
            <a:r>
              <a:rPr lang="zh-CN" altLang="en-US" sz="2400" dirty="0">
                <a:latin typeface="+mn-lt"/>
                <a:ea typeface="SimHei" panose="02010609060101010101" pitchFamily="49" charset="-122"/>
              </a:rPr>
              <a:t>皮肤厚度依年龄、性别、部位的不同而不同</a:t>
            </a:r>
            <a:endParaRPr lang="en-US" altLang="zh-CN" sz="2400" dirty="0">
              <a:latin typeface="+mn-lt"/>
              <a:ea typeface="SimHei" panose="02010609060101010101" pitchFamily="49" charset="-122"/>
            </a:endParaRPr>
          </a:p>
          <a:p>
            <a:pPr>
              <a:lnSpc>
                <a:spcPct val="150000"/>
              </a:lnSpc>
            </a:pPr>
            <a:r>
              <a:rPr lang="en-US" altLang="zh-CN" sz="2400" dirty="0">
                <a:latin typeface="+mn-lt"/>
                <a:ea typeface="SimHei" panose="02010609060101010101" pitchFamily="49" charset="-122"/>
              </a:rPr>
              <a:t>	</a:t>
            </a:r>
            <a:r>
              <a:rPr lang="zh-CN" altLang="en-US" sz="2400" dirty="0">
                <a:latin typeface="+mn-lt"/>
                <a:ea typeface="SimHei" panose="02010609060101010101" pitchFamily="49" charset="-122"/>
              </a:rPr>
              <a:t>一般来讲：</a:t>
            </a:r>
            <a:r>
              <a:rPr lang="zh-CN" altLang="en-US" sz="2400" dirty="0">
                <a:solidFill>
                  <a:srgbClr val="0000FF"/>
                </a:solidFill>
                <a:latin typeface="+mn-lt"/>
                <a:ea typeface="SimHei" panose="02010609060101010101" pitchFamily="49" charset="-122"/>
              </a:rPr>
              <a:t>男人皮肤比女人厚，老年人皮肤比年轻人厚，眼睑处皮肤最薄，手掌和足根等部位皮肤最厚。</a:t>
            </a:r>
          </a:p>
          <a:p>
            <a:pPr marL="342900" indent="-342900">
              <a:lnSpc>
                <a:spcPct val="150000"/>
              </a:lnSpc>
              <a:buFont typeface="Arial" panose="020B0604020202020204" pitchFamily="34" charset="0"/>
              <a:buChar char="•"/>
            </a:pPr>
            <a:endParaRPr lang="en-US" altLang="zh-CN" sz="2400" dirty="0">
              <a:latin typeface="+mn-lt"/>
              <a:ea typeface="SimHei" panose="02010609060101010101" pitchFamily="49" charset="-122"/>
            </a:endParaRPr>
          </a:p>
        </p:txBody>
      </p:sp>
    </p:spTree>
    <p:extLst>
      <p:ext uri="{BB962C8B-B14F-4D97-AF65-F5344CB8AC3E}">
        <p14:creationId xmlns:p14="http://schemas.microsoft.com/office/powerpoint/2010/main" val="38844670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4</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皮肤是人体健康的第一道防线</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479716"/>
            <a:ext cx="8778240" cy="3898568"/>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皮肤是容颜靓丽的主要体现者，更是人体健康的第一道防线。</a:t>
            </a:r>
            <a:endParaRPr lang="en-US" altLang="zh-CN" sz="2400" dirty="0">
              <a:latin typeface="+mn-lt"/>
              <a:ea typeface="SimHei" panose="02010609060101010101" pitchFamily="49" charset="-122"/>
            </a:endParaRPr>
          </a:p>
          <a:p>
            <a:pPr>
              <a:lnSpc>
                <a:spcPct val="150000"/>
              </a:lnSpc>
            </a:pPr>
            <a:r>
              <a:rPr lang="en-US" altLang="zh-CN" sz="2400" dirty="0">
                <a:latin typeface="+mn-lt"/>
                <a:ea typeface="SimHei" panose="02010609060101010101" pitchFamily="49" charset="-122"/>
              </a:rPr>
              <a:t>	</a:t>
            </a:r>
            <a:r>
              <a:rPr lang="zh-CN" altLang="en-US" sz="2400" dirty="0">
                <a:latin typeface="+mn-lt"/>
                <a:ea typeface="SimHei" panose="02010609060101010101" pitchFamily="49" charset="-122"/>
              </a:rPr>
              <a:t>皮肤不仅保护人体内部器官和组织，而且它还担负着调节体温、</a:t>
            </a:r>
            <a:r>
              <a:rPr lang="zh-CN" altLang="en-US" sz="2400" b="1" dirty="0">
                <a:solidFill>
                  <a:srgbClr val="0000FF"/>
                </a:solidFill>
                <a:latin typeface="+mn-lt"/>
                <a:ea typeface="SimHei" panose="02010609060101010101" pitchFamily="49" charset="-122"/>
              </a:rPr>
              <a:t>吸收、分泌和排泄</a:t>
            </a:r>
            <a:r>
              <a:rPr lang="zh-CN" altLang="en-US" sz="2400" dirty="0">
                <a:latin typeface="+mn-lt"/>
                <a:ea typeface="SimHei" panose="02010609060101010101" pitchFamily="49" charset="-122"/>
              </a:rPr>
              <a:t>以及感受、代谢、免疫等生理功能。</a:t>
            </a:r>
            <a:endParaRPr lang="en-US" altLang="zh-CN" sz="2400" dirty="0">
              <a:latin typeface="+mn-lt"/>
              <a:ea typeface="SimHei" panose="02010609060101010101" pitchFamily="49" charset="-122"/>
            </a:endParaRPr>
          </a:p>
          <a:p>
            <a:pPr>
              <a:lnSpc>
                <a:spcPct val="150000"/>
              </a:lnSpc>
            </a:pPr>
            <a:endParaRPr lang="en-US" altLang="zh-CN" sz="2400" dirty="0">
              <a:latin typeface="+mn-lt"/>
              <a:ea typeface="SimHei" panose="02010609060101010101" pitchFamily="49" charset="-122"/>
            </a:endParaRPr>
          </a:p>
          <a:p>
            <a:pPr marL="342900" indent="-342900">
              <a:lnSpc>
                <a:spcPct val="150000"/>
              </a:lnSpc>
              <a:buFont typeface="Arial" panose="020B0604020202020204" pitchFamily="34" charset="0"/>
              <a:buChar char="•"/>
            </a:pPr>
            <a:r>
              <a:rPr lang="zh-CN" altLang="en-US" sz="2400" dirty="0">
                <a:solidFill>
                  <a:srgbClr val="0000FF"/>
                </a:solidFill>
                <a:latin typeface="+mn-lt"/>
                <a:ea typeface="SimHei" panose="02010609060101010101" pitchFamily="49" charset="-122"/>
              </a:rPr>
              <a:t>化妆品与皮肤直接接触</a:t>
            </a:r>
            <a:r>
              <a:rPr lang="zh-CN" altLang="en-US" sz="2400" dirty="0">
                <a:latin typeface="+mn-lt"/>
                <a:ea typeface="SimHei" panose="02010609060101010101" pitchFamily="49" charset="-122"/>
              </a:rPr>
              <a:t>，保护和修饰皮肤是其最主要的功能。</a:t>
            </a:r>
            <a:endParaRPr lang="en-US" altLang="zh-CN" sz="2400" dirty="0">
              <a:latin typeface="+mn-lt"/>
              <a:ea typeface="SimHei" panose="02010609060101010101" pitchFamily="49" charset="-122"/>
            </a:endParaRPr>
          </a:p>
          <a:p>
            <a:pPr>
              <a:lnSpc>
                <a:spcPct val="150000"/>
              </a:lnSpc>
            </a:pPr>
            <a:r>
              <a:rPr lang="en-US" altLang="zh-CN" sz="2400" dirty="0">
                <a:latin typeface="+mn-lt"/>
                <a:ea typeface="SimHei" panose="02010609060101010101" pitchFamily="49" charset="-122"/>
              </a:rPr>
              <a:t>	</a:t>
            </a:r>
            <a:r>
              <a:rPr lang="zh-CN" altLang="en-US" sz="2400" dirty="0">
                <a:latin typeface="+mn-lt"/>
                <a:ea typeface="SimHei" panose="02010609060101010101" pitchFamily="49" charset="-122"/>
              </a:rPr>
              <a:t>在论述化妆品的内容之前，有必要对皮肤的基本结构及生理功能进行介绍。</a:t>
            </a:r>
            <a:endParaRPr lang="en-US" altLang="zh-CN" sz="2400" dirty="0">
              <a:latin typeface="+mn-lt"/>
              <a:ea typeface="SimHei" panose="02010609060101010101" pitchFamily="49" charset="-122"/>
            </a:endParaRPr>
          </a:p>
        </p:txBody>
      </p:sp>
    </p:spTree>
    <p:extLst>
      <p:ext uri="{BB962C8B-B14F-4D97-AF65-F5344CB8AC3E}">
        <p14:creationId xmlns:p14="http://schemas.microsoft.com/office/powerpoint/2010/main" val="83264631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5</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皮肤的结构</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038324"/>
            <a:ext cx="8778240" cy="1128579"/>
          </a:xfrm>
          <a:prstGeom prst="rect">
            <a:avLst/>
          </a:prstGeom>
          <a:noFill/>
        </p:spPr>
        <p:txBody>
          <a:bodyPr wrap="square" rtlCol="0">
            <a:spAutoFit/>
          </a:bodyPr>
          <a:lstStyle/>
          <a:p>
            <a:pPr>
              <a:lnSpc>
                <a:spcPct val="150000"/>
              </a:lnSpc>
            </a:pPr>
            <a:r>
              <a:rPr lang="zh-CN" altLang="en-US" sz="2400" dirty="0">
                <a:latin typeface="+mn-lt"/>
                <a:ea typeface="SimHei" panose="02010609060101010101" pitchFamily="49" charset="-122"/>
              </a:rPr>
              <a:t>皮肤由</a:t>
            </a:r>
            <a:r>
              <a:rPr lang="zh-CN" altLang="en-US" sz="2400" b="1" dirty="0">
                <a:solidFill>
                  <a:srgbClr val="0000FF"/>
                </a:solidFill>
                <a:latin typeface="+mn-lt"/>
                <a:ea typeface="SimHei" panose="02010609060101010101" pitchFamily="49" charset="-122"/>
              </a:rPr>
              <a:t>表皮、真皮和皮下组织</a:t>
            </a:r>
            <a:r>
              <a:rPr lang="zh-CN" altLang="en-US" sz="2400" dirty="0">
                <a:latin typeface="+mn-lt"/>
                <a:ea typeface="SimHei" panose="02010609060101010101" pitchFamily="49" charset="-122"/>
              </a:rPr>
              <a:t>三个部分组成：皮肤的最外层叫表皮，中间一层叫真皮，最里面的一层叫皮下组织。</a:t>
            </a:r>
            <a:endParaRPr lang="en-US" altLang="zh-CN" sz="2400" dirty="0">
              <a:latin typeface="+mn-lt"/>
              <a:ea typeface="SimHei" panose="02010609060101010101" pitchFamily="49" charset="-122"/>
            </a:endParaRPr>
          </a:p>
        </p:txBody>
      </p:sp>
      <p:pic>
        <p:nvPicPr>
          <p:cNvPr id="6" name="IM 33">
            <a:extLst>
              <a:ext uri="{FF2B5EF4-FFF2-40B4-BE49-F238E27FC236}">
                <a16:creationId xmlns:a16="http://schemas.microsoft.com/office/drawing/2014/main" id="{4AE1B76B-BD5D-BBDF-A661-CDABC5BFBBAB}"/>
              </a:ext>
            </a:extLst>
          </p:cNvPr>
          <p:cNvPicPr/>
          <p:nvPr/>
        </p:nvPicPr>
        <p:blipFill>
          <a:blip r:embed="rId2"/>
          <a:stretch>
            <a:fillRect/>
          </a:stretch>
        </p:blipFill>
        <p:spPr>
          <a:xfrm>
            <a:off x="1776088" y="2166903"/>
            <a:ext cx="5591824" cy="4496938"/>
          </a:xfrm>
          <a:prstGeom prst="rect">
            <a:avLst/>
          </a:prstGeom>
        </p:spPr>
      </p:pic>
    </p:spTree>
    <p:extLst>
      <p:ext uri="{BB962C8B-B14F-4D97-AF65-F5344CB8AC3E}">
        <p14:creationId xmlns:p14="http://schemas.microsoft.com/office/powerpoint/2010/main" val="27372167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6</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表皮</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165614"/>
            <a:ext cx="8778240" cy="3898568"/>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表皮是皮肤的浅层，由角化的复层扁平上皮构成。表皮由两类细胞组成：</a:t>
            </a:r>
            <a:endParaRPr lang="en-US" altLang="zh-CN" sz="2400" dirty="0">
              <a:latin typeface="+mn-lt"/>
              <a:ea typeface="SimHei" panose="02010609060101010101" pitchFamily="49" charset="-122"/>
            </a:endParaRPr>
          </a:p>
          <a:p>
            <a:pPr>
              <a:lnSpc>
                <a:spcPct val="150000"/>
              </a:lnSpc>
            </a:pPr>
            <a:r>
              <a:rPr lang="en-US" altLang="zh-CN" sz="2400" dirty="0">
                <a:latin typeface="+mn-lt"/>
                <a:ea typeface="SimHei" panose="02010609060101010101" pitchFamily="49" charset="-122"/>
              </a:rPr>
              <a:t>	</a:t>
            </a:r>
            <a:r>
              <a:rPr lang="zh-CN" altLang="en-US" sz="2400" dirty="0">
                <a:latin typeface="+mn-lt"/>
                <a:ea typeface="SimHei" panose="02010609060101010101" pitchFamily="49" charset="-122"/>
              </a:rPr>
              <a:t>一类是</a:t>
            </a:r>
            <a:r>
              <a:rPr lang="zh-CN" altLang="en-US" sz="2400" dirty="0">
                <a:solidFill>
                  <a:srgbClr val="0000FF"/>
                </a:solidFill>
                <a:latin typeface="+mn-lt"/>
                <a:ea typeface="SimHei" panose="02010609060101010101" pitchFamily="49" charset="-122"/>
              </a:rPr>
              <a:t>角朊</a:t>
            </a:r>
            <a:r>
              <a:rPr lang="en-US" altLang="zh-CN" sz="2400" dirty="0">
                <a:solidFill>
                  <a:srgbClr val="0000FF"/>
                </a:solidFill>
                <a:latin typeface="+mn-lt"/>
                <a:ea typeface="SimHei" panose="02010609060101010101" pitchFamily="49" charset="-122"/>
              </a:rPr>
              <a:t>(ruan</a:t>
            </a:r>
            <a:r>
              <a:rPr lang="zh-CN" altLang="en-US" sz="2400" dirty="0">
                <a:solidFill>
                  <a:srgbClr val="0000FF"/>
                </a:solidFill>
                <a:latin typeface="+mn-lt"/>
                <a:ea typeface="SimHei" panose="02010609060101010101" pitchFamily="49" charset="-122"/>
              </a:rPr>
              <a:t>，三声</a:t>
            </a:r>
            <a:r>
              <a:rPr lang="en-US" altLang="zh-CN" sz="2400" dirty="0">
                <a:solidFill>
                  <a:srgbClr val="0000FF"/>
                </a:solidFill>
                <a:latin typeface="+mn-lt"/>
                <a:ea typeface="SimHei" panose="02010609060101010101" pitchFamily="49" charset="-122"/>
              </a:rPr>
              <a:t>)</a:t>
            </a:r>
            <a:r>
              <a:rPr lang="zh-CN" altLang="en-US" sz="2400" dirty="0">
                <a:solidFill>
                  <a:srgbClr val="0000FF"/>
                </a:solidFill>
                <a:latin typeface="+mn-lt"/>
                <a:ea typeface="SimHei" panose="02010609060101010101" pitchFamily="49" charset="-122"/>
              </a:rPr>
              <a:t>细胞</a:t>
            </a:r>
            <a:r>
              <a:rPr lang="zh-CN" altLang="en-US" sz="2400" dirty="0">
                <a:latin typeface="+mn-lt"/>
                <a:ea typeface="SimHei" panose="02010609060101010101" pitchFamily="49" charset="-122"/>
              </a:rPr>
              <a:t>，占表皮细胞的绝大多数，它们在分化中合成大量角蛋白，使细胞角化并脱落；</a:t>
            </a:r>
            <a:endParaRPr lang="en-US" altLang="zh-CN" sz="2400" dirty="0">
              <a:latin typeface="+mn-lt"/>
              <a:ea typeface="SimHei" panose="02010609060101010101" pitchFamily="49" charset="-122"/>
            </a:endParaRPr>
          </a:p>
          <a:p>
            <a:pPr>
              <a:lnSpc>
                <a:spcPct val="150000"/>
              </a:lnSpc>
            </a:pPr>
            <a:r>
              <a:rPr lang="en-US" altLang="zh-CN" sz="2400" dirty="0">
                <a:latin typeface="+mn-lt"/>
                <a:ea typeface="SimHei" panose="02010609060101010101" pitchFamily="49" charset="-122"/>
              </a:rPr>
              <a:t>	</a:t>
            </a:r>
            <a:r>
              <a:rPr lang="zh-CN" altLang="en-US" sz="2400" dirty="0">
                <a:latin typeface="+mn-lt"/>
                <a:ea typeface="SimHei" panose="02010609060101010101" pitchFamily="49" charset="-122"/>
              </a:rPr>
              <a:t>另一类细胞为</a:t>
            </a:r>
            <a:r>
              <a:rPr lang="zh-CN" altLang="en-US" sz="2400" dirty="0">
                <a:solidFill>
                  <a:srgbClr val="0000FF"/>
                </a:solidFill>
                <a:latin typeface="+mn-lt"/>
                <a:ea typeface="SimHei" panose="02010609060101010101" pitchFamily="49" charset="-122"/>
              </a:rPr>
              <a:t>树枝状细胞</a:t>
            </a:r>
            <a:r>
              <a:rPr lang="zh-CN" altLang="en-US" sz="2400" dirty="0">
                <a:latin typeface="+mn-lt"/>
                <a:ea typeface="SimHei" panose="02010609060101010101" pitchFamily="49" charset="-122"/>
              </a:rPr>
              <a:t>，数量少，分散存在于角蛋白形成细胞之间，包括黑</a:t>
            </a:r>
            <a:r>
              <a:rPr lang="en-US" altLang="zh-CN" sz="2400" dirty="0">
                <a:latin typeface="+mn-lt"/>
                <a:ea typeface="SimHei" panose="02010609060101010101" pitchFamily="49" charset="-122"/>
              </a:rPr>
              <a:t>(</a:t>
            </a:r>
            <a:r>
              <a:rPr lang="zh-CN" altLang="en-US" sz="2400" dirty="0">
                <a:latin typeface="+mn-lt"/>
                <a:ea typeface="SimHei" panose="02010609060101010101" pitchFamily="49" charset="-122"/>
              </a:rPr>
              <a:t>色</a:t>
            </a:r>
            <a:r>
              <a:rPr lang="en-US" altLang="zh-CN" sz="2400" dirty="0">
                <a:latin typeface="+mn-lt"/>
                <a:ea typeface="SimHei" panose="02010609060101010101" pitchFamily="49" charset="-122"/>
              </a:rPr>
              <a:t>)</a:t>
            </a:r>
            <a:r>
              <a:rPr lang="zh-CN" altLang="en-US" sz="2400" dirty="0">
                <a:latin typeface="+mn-lt"/>
                <a:ea typeface="SimHei" panose="02010609060101010101" pitchFamily="49" charset="-122"/>
              </a:rPr>
              <a:t>素细胞、郎格汉斯细胞、未定型细胞和梅克尔细胞， 该类细胞与表皮角化无直接关系。</a:t>
            </a:r>
            <a:endParaRPr lang="en-US" altLang="zh-CN" sz="2400" dirty="0">
              <a:latin typeface="+mn-lt"/>
              <a:ea typeface="SimHei" panose="02010609060101010101" pitchFamily="49" charset="-122"/>
            </a:endParaRPr>
          </a:p>
        </p:txBody>
      </p:sp>
    </p:spTree>
    <p:extLst>
      <p:ext uri="{BB962C8B-B14F-4D97-AF65-F5344CB8AC3E}">
        <p14:creationId xmlns:p14="http://schemas.microsoft.com/office/powerpoint/2010/main" val="42001773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7</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表皮从基底到表面可分为五层</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014093"/>
            <a:ext cx="8778240" cy="4452566"/>
          </a:xfrm>
          <a:prstGeom prst="rect">
            <a:avLst/>
          </a:prstGeom>
          <a:noFill/>
        </p:spPr>
        <p:txBody>
          <a:bodyPr wrap="square" rtlCol="0">
            <a:spAutoFit/>
          </a:bodyPr>
          <a:lstStyle/>
          <a:p>
            <a:pPr marR="0" indent="-342900" eaLnBrk="0">
              <a:lnSpc>
                <a:spcPct val="150000"/>
              </a:lnSpc>
              <a:spcBef>
                <a:spcPts val="0"/>
              </a:spcBef>
              <a:spcAft>
                <a:spcPts val="0"/>
              </a:spcAft>
              <a:buFont typeface="Arial" panose="020B0604020202020204" pitchFamily="34" charset="0"/>
              <a:buChar char="•"/>
            </a:pPr>
            <a:r>
              <a:rPr lang="zh-CN" sz="2400" spc="-25" dirty="0">
                <a:solidFill>
                  <a:srgbClr val="0000FF"/>
                </a:solidFill>
                <a:effectLst/>
                <a:latin typeface="+mn-lt"/>
                <a:ea typeface="SimHei" panose="02010609060101010101" pitchFamily="49" charset="-122"/>
                <a:cs typeface="SimSun" panose="02010600030101010101" pitchFamily="2" charset="-122"/>
              </a:rPr>
              <a:t>根据角朊细胞的不同分化过程及细胞形态</a:t>
            </a:r>
            <a:r>
              <a:rPr lang="zh-CN" sz="2400" spc="-25" dirty="0">
                <a:solidFill>
                  <a:srgbClr val="000000"/>
                </a:solidFill>
                <a:effectLst/>
                <a:latin typeface="+mn-lt"/>
                <a:ea typeface="SimHei" panose="02010609060101010101" pitchFamily="49" charset="-122"/>
                <a:cs typeface="SimSun" panose="02010600030101010101" pitchFamily="2" charset="-122"/>
              </a:rPr>
              <a:t>，表皮从基底到表面可分为五层，即</a:t>
            </a:r>
            <a:r>
              <a:rPr lang="zh-CN" sz="2400" spc="-45" dirty="0">
                <a:solidFill>
                  <a:srgbClr val="0000FF"/>
                </a:solidFill>
                <a:effectLst/>
                <a:latin typeface="+mn-lt"/>
                <a:ea typeface="SimHei" panose="02010609060101010101" pitchFamily="49" charset="-122"/>
                <a:cs typeface="SimSun" panose="02010600030101010101" pitchFamily="2" charset="-122"/>
              </a:rPr>
              <a:t>底层、棘层、颗粒层、透明层及角质层。</a:t>
            </a:r>
            <a:r>
              <a:rPr lang="zh-CN" sz="2400" spc="20" dirty="0">
                <a:solidFill>
                  <a:srgbClr val="0000FF"/>
                </a:solidFill>
                <a:effectLst/>
                <a:latin typeface="+mn-lt"/>
                <a:ea typeface="SimHei" panose="02010609060101010101" pitchFamily="49" charset="-122"/>
                <a:cs typeface="SimSun" panose="02010600030101010101" pitchFamily="2" charset="-122"/>
              </a:rPr>
              <a:t> </a:t>
            </a:r>
            <a:endParaRPr lang="en-US" altLang="zh-CN" sz="2400" spc="20" dirty="0">
              <a:solidFill>
                <a:srgbClr val="0000FF"/>
              </a:solidFill>
              <a:effectLst/>
              <a:latin typeface="+mn-lt"/>
              <a:ea typeface="SimHei" panose="02010609060101010101" pitchFamily="49" charset="-122"/>
              <a:cs typeface="SimSun" panose="02010600030101010101" pitchFamily="2" charset="-122"/>
            </a:endParaRPr>
          </a:p>
          <a:p>
            <a:pPr marR="0" indent="-342900" eaLnBrk="0">
              <a:lnSpc>
                <a:spcPct val="150000"/>
              </a:lnSpc>
              <a:spcBef>
                <a:spcPts val="0"/>
              </a:spcBef>
              <a:spcAft>
                <a:spcPts val="0"/>
              </a:spcAft>
              <a:buFont typeface="Arial" panose="020B0604020202020204" pitchFamily="34" charset="0"/>
              <a:buChar char="•"/>
            </a:pPr>
            <a:endParaRPr lang="en-US" altLang="zh-CN" sz="2400" spc="-45" dirty="0">
              <a:solidFill>
                <a:srgbClr val="000000"/>
              </a:solidFill>
              <a:effectLst/>
              <a:latin typeface="+mn-lt"/>
              <a:ea typeface="SimHei" panose="02010609060101010101" pitchFamily="49" charset="-122"/>
              <a:cs typeface="SimSun" panose="02010600030101010101" pitchFamily="2" charset="-122"/>
            </a:endParaRPr>
          </a:p>
          <a:p>
            <a:pPr marR="0" indent="-342900" eaLnBrk="0">
              <a:lnSpc>
                <a:spcPct val="150000"/>
              </a:lnSpc>
              <a:spcBef>
                <a:spcPts val="0"/>
              </a:spcBef>
              <a:spcAft>
                <a:spcPts val="0"/>
              </a:spcAft>
              <a:buFont typeface="Arial" panose="020B0604020202020204" pitchFamily="34" charset="0"/>
              <a:buChar char="•"/>
            </a:pPr>
            <a:r>
              <a:rPr lang="zh-CN" sz="2400" spc="-45" dirty="0">
                <a:solidFill>
                  <a:srgbClr val="000000"/>
                </a:solidFill>
                <a:effectLst/>
                <a:latin typeface="+mn-lt"/>
                <a:ea typeface="SimHei" panose="02010609060101010101" pitchFamily="49" charset="-122"/>
                <a:cs typeface="SimSun" panose="02010600030101010101" pitchFamily="2" charset="-122"/>
              </a:rPr>
              <a:t>人体各部位的表皮厚薄不等，</a:t>
            </a:r>
            <a:r>
              <a:rPr lang="zh-CN" sz="2400" spc="415" dirty="0">
                <a:solidFill>
                  <a:srgbClr val="000000"/>
                </a:solidFill>
                <a:effectLst/>
                <a:latin typeface="+mn-lt"/>
                <a:ea typeface="SimHei" panose="02010609060101010101" pitchFamily="49" charset="-122"/>
                <a:cs typeface="SimSun" panose="02010600030101010101" pitchFamily="2" charset="-122"/>
              </a:rPr>
              <a:t> </a:t>
            </a:r>
            <a:r>
              <a:rPr lang="zh-CN" sz="2400" spc="-45" dirty="0">
                <a:solidFill>
                  <a:srgbClr val="000000"/>
                </a:solidFill>
                <a:effectLst/>
                <a:latin typeface="+mn-lt"/>
                <a:ea typeface="SimHei" panose="02010609060101010101" pitchFamily="49" charset="-122"/>
                <a:cs typeface="SimSun" panose="02010600030101010101" pitchFamily="2" charset="-122"/>
              </a:rPr>
              <a:t>一般厚度为</a:t>
            </a:r>
            <a:r>
              <a:rPr lang="zh-CN" sz="2400" dirty="0">
                <a:solidFill>
                  <a:srgbClr val="000000"/>
                </a:solidFill>
                <a:effectLst/>
                <a:latin typeface="+mn-lt"/>
                <a:ea typeface="SimHei" panose="02010609060101010101" pitchFamily="49" charset="-122"/>
                <a:cs typeface="SimSun" panose="02010600030101010101" pitchFamily="2" charset="-122"/>
              </a:rPr>
              <a:t> </a:t>
            </a:r>
            <a:r>
              <a:rPr lang="en-US" sz="2400" spc="-15" dirty="0">
                <a:solidFill>
                  <a:srgbClr val="000000"/>
                </a:solidFill>
                <a:effectLst/>
                <a:latin typeface="+mn-lt"/>
                <a:ea typeface="SimHei" panose="02010609060101010101" pitchFamily="49" charset="-122"/>
                <a:cs typeface="SimSun" panose="02010600030101010101" pitchFamily="2" charset="-122"/>
              </a:rPr>
              <a:t>0.07</a:t>
            </a:r>
            <a:r>
              <a:rPr lang="zh-CN" sz="2400" spc="-15" dirty="0">
                <a:solidFill>
                  <a:srgbClr val="000000"/>
                </a:solidFill>
                <a:effectLst/>
                <a:latin typeface="+mn-lt"/>
                <a:ea typeface="SimHei" panose="02010609060101010101" pitchFamily="49" charset="-122"/>
                <a:cs typeface="SimSun" panose="02010600030101010101" pitchFamily="2" charset="-122"/>
              </a:rPr>
              <a:t>～</a:t>
            </a:r>
            <a:r>
              <a:rPr lang="en-US" sz="2400" spc="-15" dirty="0">
                <a:solidFill>
                  <a:srgbClr val="000000"/>
                </a:solidFill>
                <a:effectLst/>
                <a:latin typeface="+mn-lt"/>
                <a:ea typeface="SimHei" panose="02010609060101010101" pitchFamily="49" charset="-122"/>
                <a:cs typeface="SimSun" panose="02010600030101010101" pitchFamily="2" charset="-122"/>
              </a:rPr>
              <a:t>0.12 mm</a:t>
            </a:r>
            <a:r>
              <a:rPr lang="zh-CN" altLang="en-US" sz="2400" spc="-15" dirty="0">
                <a:solidFill>
                  <a:srgbClr val="000000"/>
                </a:solidFill>
                <a:effectLst/>
                <a:latin typeface="+mn-lt"/>
                <a:ea typeface="SimHei" panose="02010609060101010101" pitchFamily="49" charset="-122"/>
                <a:cs typeface="SimSun" panose="02010600030101010101" pitchFamily="2" charset="-122"/>
              </a:rPr>
              <a:t>，</a:t>
            </a:r>
            <a:r>
              <a:rPr lang="zh-CN" sz="2400" spc="-15" dirty="0">
                <a:solidFill>
                  <a:srgbClr val="0000FF"/>
                </a:solidFill>
                <a:effectLst/>
                <a:latin typeface="+mn-lt"/>
                <a:ea typeface="SimHei" panose="02010609060101010101" pitchFamily="49" charset="-122"/>
                <a:cs typeface="SimSun" panose="02010600030101010101" pitchFamily="2" charset="-122"/>
              </a:rPr>
              <a:t>手掌和足</a:t>
            </a:r>
            <a:r>
              <a:rPr lang="zh-CN" altLang="en-US" sz="2400" spc="-15" dirty="0">
                <a:solidFill>
                  <a:srgbClr val="0000FF"/>
                </a:solidFill>
                <a:effectLst/>
                <a:latin typeface="+mn-lt"/>
                <a:ea typeface="SimHei" panose="02010609060101010101" pitchFamily="49" charset="-122"/>
                <a:cs typeface="SimSun" panose="02010600030101010101" pitchFamily="2" charset="-122"/>
              </a:rPr>
              <a:t>底</a:t>
            </a:r>
            <a:r>
              <a:rPr lang="zh-CN" sz="2400" spc="-15" dirty="0">
                <a:solidFill>
                  <a:srgbClr val="0000FF"/>
                </a:solidFill>
                <a:effectLst/>
                <a:latin typeface="+mn-lt"/>
                <a:ea typeface="SimHei" panose="02010609060101010101" pitchFamily="49" charset="-122"/>
                <a:cs typeface="SimSun" panose="02010600030101010101" pitchFamily="2" charset="-122"/>
              </a:rPr>
              <a:t>最厚，约为</a:t>
            </a:r>
            <a:r>
              <a:rPr lang="en-US" sz="2400" spc="-15" dirty="0">
                <a:solidFill>
                  <a:srgbClr val="0000FF"/>
                </a:solidFill>
                <a:effectLst/>
                <a:latin typeface="+mn-lt"/>
                <a:ea typeface="SimHei" panose="02010609060101010101" pitchFamily="49" charset="-122"/>
                <a:cs typeface="SimSun" panose="02010600030101010101" pitchFamily="2" charset="-122"/>
              </a:rPr>
              <a:t>0.8</a:t>
            </a:r>
            <a:r>
              <a:rPr lang="zh-CN" sz="2400" spc="-15" dirty="0">
                <a:solidFill>
                  <a:srgbClr val="0000FF"/>
                </a:solidFill>
                <a:effectLst/>
                <a:latin typeface="+mn-lt"/>
                <a:ea typeface="SimHei" panose="02010609060101010101" pitchFamily="49" charset="-122"/>
                <a:cs typeface="SimSun" panose="02010600030101010101" pitchFamily="2" charset="-122"/>
              </a:rPr>
              <a:t>～</a:t>
            </a:r>
            <a:r>
              <a:rPr lang="en-US" sz="2400" spc="-15" dirty="0">
                <a:solidFill>
                  <a:srgbClr val="0000FF"/>
                </a:solidFill>
                <a:effectLst/>
                <a:latin typeface="+mn-lt"/>
                <a:ea typeface="SimHei" panose="02010609060101010101" pitchFamily="49" charset="-122"/>
                <a:cs typeface="SimSun" panose="02010600030101010101" pitchFamily="2" charset="-122"/>
              </a:rPr>
              <a:t>1.5 mm</a:t>
            </a:r>
            <a:r>
              <a:rPr lang="zh-CN" sz="2400" spc="-15" dirty="0">
                <a:solidFill>
                  <a:srgbClr val="000000"/>
                </a:solidFill>
                <a:effectLst/>
                <a:latin typeface="+mn-lt"/>
                <a:ea typeface="SimHei" panose="02010609060101010101" pitchFamily="49" charset="-122"/>
                <a:cs typeface="SimSun" panose="02010600030101010101" pitchFamily="2" charset="-122"/>
              </a:rPr>
              <a:t>。对于</a:t>
            </a:r>
            <a:r>
              <a:rPr lang="zh-CN" sz="2400" spc="-15" dirty="0">
                <a:solidFill>
                  <a:srgbClr val="0000FF"/>
                </a:solidFill>
                <a:effectLst/>
                <a:latin typeface="+mn-lt"/>
                <a:ea typeface="SimHei" panose="02010609060101010101" pitchFamily="49" charset="-122"/>
                <a:cs typeface="SimSun" panose="02010600030101010101" pitchFamily="2" charset="-122"/>
              </a:rPr>
              <a:t>薄的表皮</a:t>
            </a:r>
            <a:r>
              <a:rPr lang="zh-CN" sz="2400" spc="-15" dirty="0">
                <a:solidFill>
                  <a:srgbClr val="000000"/>
                </a:solidFill>
                <a:effectLst/>
                <a:latin typeface="+mn-lt"/>
                <a:ea typeface="SimHei" panose="02010609060101010101" pitchFamily="49" charset="-122"/>
                <a:cs typeface="SimSun" panose="02010600030101010101" pitchFamily="2" charset="-122"/>
              </a:rPr>
              <a:t>，其与厚表皮的</a:t>
            </a:r>
            <a:r>
              <a:rPr lang="zh-CN" sz="2400" spc="155" dirty="0">
                <a:solidFill>
                  <a:srgbClr val="000000"/>
                </a:solidFill>
                <a:effectLst/>
                <a:latin typeface="+mn-lt"/>
                <a:ea typeface="SimHei" panose="02010609060101010101" pitchFamily="49" charset="-122"/>
                <a:cs typeface="SimSun" panose="02010600030101010101" pitchFamily="2" charset="-122"/>
              </a:rPr>
              <a:t>分层略有差别：基底层与厚表皮的相同，</a:t>
            </a:r>
            <a:r>
              <a:rPr lang="zh-CN" sz="2400" spc="155" dirty="0">
                <a:solidFill>
                  <a:srgbClr val="0000FF"/>
                </a:solidFill>
                <a:effectLst/>
                <a:latin typeface="+mn-lt"/>
                <a:ea typeface="SimHei" panose="02010609060101010101" pitchFamily="49" charset="-122"/>
                <a:cs typeface="SimSun" panose="02010600030101010101" pitchFamily="2" charset="-122"/>
              </a:rPr>
              <a:t>棘层的细胞层数少</a:t>
            </a:r>
            <a:r>
              <a:rPr lang="zh-CN" sz="2400" spc="155" dirty="0">
                <a:solidFill>
                  <a:srgbClr val="000000"/>
                </a:solidFill>
                <a:effectLst/>
                <a:latin typeface="+mn-lt"/>
                <a:ea typeface="SimHei" panose="02010609060101010101" pitchFamily="49" charset="-122"/>
                <a:cs typeface="SimSun" panose="02010600030101010101" pitchFamily="2" charset="-122"/>
              </a:rPr>
              <a:t>，颗粒层只有</a:t>
            </a:r>
            <a:r>
              <a:rPr lang="en-US" sz="2400" spc="155" dirty="0">
                <a:solidFill>
                  <a:srgbClr val="000000"/>
                </a:solidFill>
                <a:effectLst/>
                <a:latin typeface="+mn-lt"/>
                <a:ea typeface="SimHei" panose="02010609060101010101" pitchFamily="49" charset="-122"/>
                <a:cs typeface="SimSun" panose="02010600030101010101" pitchFamily="2" charset="-122"/>
              </a:rPr>
              <a:t>2</a:t>
            </a:r>
            <a:r>
              <a:rPr lang="zh-CN" sz="2400" spc="155" dirty="0">
                <a:solidFill>
                  <a:srgbClr val="000000"/>
                </a:solidFill>
                <a:effectLst/>
                <a:latin typeface="+mn-lt"/>
                <a:ea typeface="SimHei" panose="02010609060101010101" pitchFamily="49" charset="-122"/>
                <a:cs typeface="SimSun" panose="02010600030101010101" pitchFamily="2" charset="-122"/>
              </a:rPr>
              <a:t>～</a:t>
            </a:r>
            <a:r>
              <a:rPr lang="en-US" sz="2400" spc="155" dirty="0">
                <a:solidFill>
                  <a:srgbClr val="000000"/>
                </a:solidFill>
                <a:effectLst/>
                <a:latin typeface="+mn-lt"/>
                <a:ea typeface="SimHei" panose="02010609060101010101" pitchFamily="49" charset="-122"/>
                <a:cs typeface="SimSun" panose="02010600030101010101" pitchFamily="2" charset="-122"/>
              </a:rPr>
              <a:t>3</a:t>
            </a:r>
            <a:r>
              <a:rPr lang="zh-CN" sz="2400" spc="155" dirty="0">
                <a:solidFill>
                  <a:srgbClr val="000000"/>
                </a:solidFill>
                <a:effectLst/>
                <a:latin typeface="+mn-lt"/>
                <a:ea typeface="SimHei" panose="02010609060101010101" pitchFamily="49" charset="-122"/>
                <a:cs typeface="SimSun" panose="02010600030101010101" pitchFamily="2" charset="-122"/>
              </a:rPr>
              <a:t>层细</a:t>
            </a:r>
            <a:r>
              <a:rPr lang="zh-CN" sz="2400" spc="120" dirty="0">
                <a:solidFill>
                  <a:srgbClr val="000000"/>
                </a:solidFill>
                <a:effectLst/>
                <a:latin typeface="+mn-lt"/>
                <a:ea typeface="SimHei" panose="02010609060101010101" pitchFamily="49" charset="-122"/>
                <a:cs typeface="SimSun" panose="02010600030101010101" pitchFamily="2" charset="-122"/>
              </a:rPr>
              <a:t>胞，</a:t>
            </a:r>
            <a:r>
              <a:rPr lang="zh-CN" sz="2400" spc="120" dirty="0">
                <a:solidFill>
                  <a:srgbClr val="0000FF"/>
                </a:solidFill>
                <a:effectLst/>
                <a:latin typeface="+mn-lt"/>
                <a:ea typeface="SimHei" panose="02010609060101010101" pitchFamily="49" charset="-122"/>
                <a:cs typeface="SimSun" panose="02010600030101010101" pitchFamily="2" charset="-122"/>
              </a:rPr>
              <a:t>没有透明层，角质层</a:t>
            </a:r>
            <a:r>
              <a:rPr lang="zh-CN" sz="2400" spc="120" dirty="0">
                <a:solidFill>
                  <a:srgbClr val="000000"/>
                </a:solidFill>
                <a:effectLst/>
                <a:latin typeface="+mn-lt"/>
                <a:ea typeface="SimHei" panose="02010609060101010101" pitchFamily="49" charset="-122"/>
                <a:cs typeface="SimSun" panose="02010600030101010101" pitchFamily="2" charset="-122"/>
              </a:rPr>
              <a:t>也薄，只有几层细胞。</a:t>
            </a:r>
            <a:endParaRPr lang="en-US" sz="2400" dirty="0">
              <a:solidFill>
                <a:srgbClr val="000000"/>
              </a:solidFill>
              <a:effectLst/>
              <a:latin typeface="+mn-lt"/>
              <a:ea typeface="SimHei" panose="02010609060101010101" pitchFamily="49" charset="-122"/>
            </a:endParaRPr>
          </a:p>
        </p:txBody>
      </p:sp>
    </p:spTree>
    <p:extLst>
      <p:ext uri="{BB962C8B-B14F-4D97-AF65-F5344CB8AC3E}">
        <p14:creationId xmlns:p14="http://schemas.microsoft.com/office/powerpoint/2010/main" val="12636540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8</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角质层</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046346"/>
            <a:ext cx="8778240" cy="2236574"/>
          </a:xfrm>
          <a:prstGeom prst="rect">
            <a:avLst/>
          </a:prstGeom>
          <a:noFill/>
        </p:spPr>
        <p:txBody>
          <a:bodyPr wrap="square" rtlCol="0">
            <a:spAutoFit/>
          </a:bodyPr>
          <a:lstStyle/>
          <a:p>
            <a:pPr>
              <a:lnSpc>
                <a:spcPct val="150000"/>
              </a:lnSpc>
            </a:pPr>
            <a:r>
              <a:rPr lang="zh-CN" altLang="en-US" sz="2400" dirty="0">
                <a:solidFill>
                  <a:srgbClr val="0000FF"/>
                </a:solidFill>
                <a:latin typeface="+mn-lt"/>
                <a:ea typeface="SimHei" panose="02010609060101010101" pitchFamily="49" charset="-122"/>
              </a:rPr>
              <a:t>角质层</a:t>
            </a:r>
            <a:r>
              <a:rPr lang="zh-CN" altLang="en-US" sz="2400" dirty="0">
                <a:latin typeface="+mn-lt"/>
                <a:ea typeface="SimHei" panose="02010609060101010101" pitchFamily="49" charset="-122"/>
              </a:rPr>
              <a:t>为表皮的表层，由多层扁平、无核的角化细胞组成。这些细胞干硬，已无胞核和细胞器，是已完全角化的</a:t>
            </a:r>
            <a:r>
              <a:rPr lang="zh-CN" altLang="en-US" sz="2400" dirty="0">
                <a:solidFill>
                  <a:srgbClr val="0000FF"/>
                </a:solidFill>
                <a:latin typeface="+mn-lt"/>
                <a:ea typeface="SimHei" panose="02010609060101010101" pitchFamily="49" charset="-122"/>
              </a:rPr>
              <a:t>死细胞</a:t>
            </a:r>
            <a:r>
              <a:rPr lang="zh-CN" altLang="en-US" sz="2400" dirty="0">
                <a:latin typeface="+mn-lt"/>
                <a:ea typeface="SimHei" panose="02010609060101010101" pitchFamily="49" charset="-122"/>
              </a:rPr>
              <a:t>。在电镜下，可见胞质中充满密集平行的角蛋白丝，浸埋在均质状的物质中，其中主要为透明角质颗粒所含</a:t>
            </a:r>
            <a:r>
              <a:rPr lang="zh-CN" altLang="en-US" sz="2400" dirty="0">
                <a:solidFill>
                  <a:srgbClr val="0000FF"/>
                </a:solidFill>
                <a:latin typeface="+mn-lt"/>
                <a:ea typeface="SimHei" panose="02010609060101010101" pitchFamily="49" charset="-122"/>
              </a:rPr>
              <a:t>富有组氨酸的蛋白质</a:t>
            </a:r>
            <a:r>
              <a:rPr lang="zh-CN" altLang="en-US" sz="2400" dirty="0">
                <a:latin typeface="+mn-lt"/>
                <a:ea typeface="SimHei" panose="02010609060101010101" pitchFamily="49" charset="-122"/>
              </a:rPr>
              <a:t>。</a:t>
            </a:r>
          </a:p>
        </p:txBody>
      </p:sp>
      <p:graphicFrame>
        <p:nvGraphicFramePr>
          <p:cNvPr id="5" name="对象 4">
            <a:extLst>
              <a:ext uri="{FF2B5EF4-FFF2-40B4-BE49-F238E27FC236}">
                <a16:creationId xmlns:a16="http://schemas.microsoft.com/office/drawing/2014/main" id="{94A3D23C-F1D6-15AE-FE9D-F0BDB5CF9CB5}"/>
              </a:ext>
            </a:extLst>
          </p:cNvPr>
          <p:cNvGraphicFramePr>
            <a:graphicFrameLocks noChangeAspect="1"/>
          </p:cNvGraphicFramePr>
          <p:nvPr>
            <p:extLst>
              <p:ext uri="{D42A27DB-BD31-4B8C-83A1-F6EECF244321}">
                <p14:modId xmlns:p14="http://schemas.microsoft.com/office/powerpoint/2010/main" val="487368591"/>
              </p:ext>
            </p:extLst>
          </p:nvPr>
        </p:nvGraphicFramePr>
        <p:xfrm>
          <a:off x="3400996" y="3813658"/>
          <a:ext cx="2342007" cy="1809180"/>
        </p:xfrm>
        <a:graphic>
          <a:graphicData uri="http://schemas.openxmlformats.org/presentationml/2006/ole">
            <mc:AlternateContent xmlns:mc="http://schemas.openxmlformats.org/markup-compatibility/2006">
              <mc:Choice xmlns:v="urn:schemas-microsoft-com:vml" Requires="v">
                <p:oleObj name="CS ChemDraw Drawing" r:id="rId2" imgW="1301115" imgH="1005100" progId="ChemDraw.Document.6.0">
                  <p:embed/>
                </p:oleObj>
              </mc:Choice>
              <mc:Fallback>
                <p:oleObj name="CS ChemDraw Drawing" r:id="rId2" imgW="1301115" imgH="1005100" progId="ChemDraw.Document.6.0">
                  <p:embed/>
                  <p:pic>
                    <p:nvPicPr>
                      <p:cNvPr id="0" name=""/>
                      <p:cNvPicPr/>
                      <p:nvPr/>
                    </p:nvPicPr>
                    <p:blipFill>
                      <a:blip r:embed="rId3"/>
                      <a:stretch>
                        <a:fillRect/>
                      </a:stretch>
                    </p:blipFill>
                    <p:spPr>
                      <a:xfrm>
                        <a:off x="3400996" y="3813658"/>
                        <a:ext cx="2342007" cy="1809180"/>
                      </a:xfrm>
                      <a:prstGeom prst="rect">
                        <a:avLst/>
                      </a:prstGeom>
                    </p:spPr>
                  </p:pic>
                </p:oleObj>
              </mc:Fallback>
            </mc:AlternateContent>
          </a:graphicData>
        </a:graphic>
      </p:graphicFrame>
    </p:spTree>
    <p:extLst>
      <p:ext uri="{BB962C8B-B14F-4D97-AF65-F5344CB8AC3E}">
        <p14:creationId xmlns:p14="http://schemas.microsoft.com/office/powerpoint/2010/main" val="129618300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AE5AEE-8EFB-928F-2375-78CEDA80F4BB}"/>
            </a:ext>
          </a:extLst>
        </p:cNvPr>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4BC03FD7-A3EB-2462-370D-0A55E5E6B660}"/>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9</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67207ED2-01C8-BA04-349A-7CD6C4AA84AC}"/>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E7BEECA7-6A3C-6AE3-1CB8-12ACD75D4C0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角质层</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74D8B000-2E46-6B9E-DFFC-96865AA31D11}"/>
              </a:ext>
            </a:extLst>
          </p:cNvPr>
          <p:cNvSpPr txBox="1"/>
          <p:nvPr/>
        </p:nvSpPr>
        <p:spPr>
          <a:xfrm>
            <a:off x="182880" y="1046346"/>
            <a:ext cx="8778240" cy="3344570"/>
          </a:xfrm>
          <a:prstGeom prst="rect">
            <a:avLst/>
          </a:prstGeom>
          <a:noFill/>
        </p:spPr>
        <p:txBody>
          <a:bodyPr wrap="square" rtlCol="0">
            <a:spAutoFit/>
          </a:bodyPr>
          <a:lstStyle/>
          <a:p>
            <a:pPr>
              <a:lnSpc>
                <a:spcPct val="150000"/>
              </a:lnSpc>
            </a:pPr>
            <a:r>
              <a:rPr lang="zh-CN" altLang="en-US" sz="2400" dirty="0">
                <a:latin typeface="+mn-lt"/>
                <a:ea typeface="SimHei" panose="02010609060101010101" pitchFamily="49" charset="-122"/>
              </a:rPr>
              <a:t>角质层对维持皮肤正常的生理功能有极其重要的作用：</a:t>
            </a:r>
            <a:endParaRPr lang="en-US" altLang="zh-CN" sz="2400" dirty="0">
              <a:latin typeface="+mn-lt"/>
              <a:ea typeface="SimHei" panose="02010609060101010101" pitchFamily="49" charset="-122"/>
            </a:endParaRPr>
          </a:p>
          <a:p>
            <a:pPr>
              <a:lnSpc>
                <a:spcPct val="150000"/>
              </a:lnSpc>
            </a:pPr>
            <a:r>
              <a:rPr lang="en-US" altLang="zh-CN" sz="2400" dirty="0">
                <a:solidFill>
                  <a:srgbClr val="0000FF"/>
                </a:solidFill>
                <a:latin typeface="+mn-lt"/>
                <a:ea typeface="SimHei" panose="02010609060101010101" pitchFamily="49" charset="-122"/>
              </a:rPr>
              <a:t>	</a:t>
            </a:r>
            <a:r>
              <a:rPr lang="zh-CN" altLang="en-US" sz="2400" dirty="0">
                <a:solidFill>
                  <a:srgbClr val="0000FF"/>
                </a:solidFill>
                <a:latin typeface="+mn-lt"/>
                <a:ea typeface="SimHei" panose="02010609060101010101" pitchFamily="49" charset="-122"/>
              </a:rPr>
              <a:t>随着年龄增加</a:t>
            </a:r>
            <a:r>
              <a:rPr lang="zh-CN" altLang="en-US" sz="2400" dirty="0">
                <a:latin typeface="+mn-lt"/>
                <a:ea typeface="SimHei" panose="02010609060101010101" pitchFamily="49" charset="-122"/>
              </a:rPr>
              <a:t>，表皮角质层中的自然保湿因子不断减少，</a:t>
            </a:r>
            <a:r>
              <a:rPr lang="zh-CN" altLang="en-US" sz="2400" dirty="0">
                <a:solidFill>
                  <a:srgbClr val="0000FF"/>
                </a:solidFill>
                <a:latin typeface="+mn-lt"/>
                <a:ea typeface="SimHei" panose="02010609060101010101" pitchFamily="49" charset="-122"/>
              </a:rPr>
              <a:t>皮肤的水合能力不断下降</a:t>
            </a:r>
            <a:r>
              <a:rPr lang="zh-CN" altLang="en-US" sz="2400" dirty="0">
                <a:latin typeface="+mn-lt"/>
                <a:ea typeface="SimHei" panose="02010609060101010101" pitchFamily="49" charset="-122"/>
              </a:rPr>
              <a:t>，导致皮肤组织细胞的水分减少，</a:t>
            </a:r>
            <a:r>
              <a:rPr lang="zh-CN" altLang="en-US" sz="2400" dirty="0">
                <a:solidFill>
                  <a:srgbClr val="FF0000"/>
                </a:solidFill>
                <a:latin typeface="+mn-lt"/>
                <a:ea typeface="SimHei" panose="02010609060101010101" pitchFamily="49" charset="-122"/>
              </a:rPr>
              <a:t>细胞皱缩、老化，导致皮肤出现细小皱纹</a:t>
            </a:r>
            <a:r>
              <a:rPr lang="zh-CN" altLang="en-US" sz="2400" dirty="0">
                <a:latin typeface="+mn-lt"/>
                <a:ea typeface="SimHei" panose="02010609060101010101" pitchFamily="49" charset="-122"/>
              </a:rPr>
              <a:t>。</a:t>
            </a:r>
            <a:endParaRPr lang="en-US" altLang="zh-CN" sz="2400" dirty="0">
              <a:latin typeface="+mn-lt"/>
              <a:ea typeface="SimHei" panose="02010609060101010101" pitchFamily="49" charset="-122"/>
            </a:endParaRPr>
          </a:p>
          <a:p>
            <a:pPr>
              <a:lnSpc>
                <a:spcPct val="150000"/>
              </a:lnSpc>
            </a:pPr>
            <a:r>
              <a:rPr lang="en-US" altLang="zh-CN" sz="2400" dirty="0">
                <a:solidFill>
                  <a:srgbClr val="0000FF"/>
                </a:solidFill>
                <a:latin typeface="+mn-lt"/>
                <a:ea typeface="SimHei" panose="02010609060101010101" pitchFamily="49" charset="-122"/>
              </a:rPr>
              <a:t>	</a:t>
            </a:r>
            <a:r>
              <a:rPr lang="zh-CN" altLang="en-US" sz="2400" dirty="0">
                <a:solidFill>
                  <a:srgbClr val="0000FF"/>
                </a:solidFill>
                <a:latin typeface="+mn-lt"/>
                <a:ea typeface="SimHei" panose="02010609060101010101" pitchFamily="49" charset="-122"/>
              </a:rPr>
              <a:t>适当的角质层含水量有利于延缓皮肤老化、防治某些皮肤病以及充分发挥皮肤的屏障功能</a:t>
            </a:r>
            <a:r>
              <a:rPr lang="zh-CN" altLang="en-US" sz="2400" dirty="0">
                <a:latin typeface="+mn-lt"/>
                <a:ea typeface="SimHei" panose="02010609060101010101" pitchFamily="49" charset="-122"/>
              </a:rPr>
              <a:t>。</a:t>
            </a:r>
          </a:p>
        </p:txBody>
      </p:sp>
    </p:spTree>
    <p:extLst>
      <p:ext uri="{BB962C8B-B14F-4D97-AF65-F5344CB8AC3E}">
        <p14:creationId xmlns:p14="http://schemas.microsoft.com/office/powerpoint/2010/main" val="18561609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10</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真皮</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815008" y="1610113"/>
            <a:ext cx="7513983" cy="3901837"/>
          </a:xfrm>
          <a:prstGeom prst="rect">
            <a:avLst/>
          </a:prstGeom>
          <a:noFill/>
        </p:spPr>
        <p:txBody>
          <a:bodyPr wrap="square" rtlCol="0">
            <a:spAutoFit/>
          </a:bodyPr>
          <a:lstStyle/>
          <a:p>
            <a:pPr>
              <a:lnSpc>
                <a:spcPct val="150000"/>
              </a:lnSpc>
            </a:pPr>
            <a:r>
              <a:rPr lang="zh-CN" altLang="en-US" sz="2400" dirty="0">
                <a:latin typeface="+mn-lt"/>
                <a:ea typeface="SimHei" panose="02010609060101010101" pitchFamily="49" charset="-122"/>
              </a:rPr>
              <a:t>真皮与皮肤外表弹性息息相关，在各种因素的作用下真皮内纤维细胞数量减少，真皮乳头层和网状层弹性纤维减少及退化，胶原纤维和弹性纤维的排列紊乱，导致皱纹产生。</a:t>
            </a:r>
            <a:r>
              <a:rPr lang="zh-CN" altLang="en-US" sz="2400" dirty="0">
                <a:solidFill>
                  <a:srgbClr val="0000FF"/>
                </a:solidFill>
                <a:latin typeface="+mn-lt"/>
                <a:ea typeface="SimHei" panose="02010609060101010101" pitchFamily="49" charset="-122"/>
              </a:rPr>
              <a:t>防抗皮肤老化的关键是保护网状层弹性纤维和胶原纤维的完整性，并提供这类组织所需的生理活性物质。</a:t>
            </a:r>
          </a:p>
          <a:p>
            <a:pPr marL="342900" indent="-342900">
              <a:lnSpc>
                <a:spcPct val="150000"/>
              </a:lnSpc>
              <a:buFont typeface="Arial" panose="020B0604020202020204" pitchFamily="34" charset="0"/>
              <a:buChar char="•"/>
            </a:pPr>
            <a:endParaRPr lang="en-US" altLang="zh-CN" sz="2400" dirty="0">
              <a:latin typeface="+mn-lt"/>
              <a:ea typeface="SimHei" panose="02010609060101010101" pitchFamily="49" charset="-122"/>
            </a:endParaRPr>
          </a:p>
        </p:txBody>
      </p:sp>
    </p:spTree>
    <p:extLst>
      <p:ext uri="{BB962C8B-B14F-4D97-AF65-F5344CB8AC3E}">
        <p14:creationId xmlns:p14="http://schemas.microsoft.com/office/powerpoint/2010/main" val="28892050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11</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皮下组织</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606610" y="1597191"/>
            <a:ext cx="7461065" cy="2793842"/>
          </a:xfrm>
          <a:prstGeom prst="rect">
            <a:avLst/>
          </a:prstGeom>
          <a:noFill/>
        </p:spPr>
        <p:txBody>
          <a:bodyPr wrap="square" rtlCol="0">
            <a:spAutoFit/>
          </a:bodyPr>
          <a:lstStyle/>
          <a:p>
            <a:pPr>
              <a:lnSpc>
                <a:spcPct val="150000"/>
              </a:lnSpc>
            </a:pPr>
            <a:r>
              <a:rPr lang="zh-CN" altLang="en-US" sz="2400" dirty="0">
                <a:latin typeface="+mn-lt"/>
                <a:ea typeface="SimHei" panose="02010609060101010101" pitchFamily="49" charset="-122"/>
              </a:rPr>
              <a:t>皮下组织为真皮、表皮输送营养成分，促进表皮细胞的新陈代谢。在</a:t>
            </a:r>
            <a:r>
              <a:rPr lang="zh-CN" altLang="en-US" sz="2400" dirty="0">
                <a:solidFill>
                  <a:srgbClr val="0000FF"/>
                </a:solidFill>
                <a:latin typeface="+mn-lt"/>
                <a:ea typeface="SimHei" panose="02010609060101010101" pitchFamily="49" charset="-122"/>
              </a:rPr>
              <a:t>皮下组织丰富的部位，皮肤不容易产生皱纹</a:t>
            </a:r>
            <a:r>
              <a:rPr lang="zh-CN" altLang="en-US" sz="2400" dirty="0">
                <a:latin typeface="+mn-lt"/>
                <a:ea typeface="SimHei" panose="02010609060101010101" pitchFamily="49" charset="-122"/>
              </a:rPr>
              <a:t>，比如腮部，就是因为有充分的营养提供。而</a:t>
            </a:r>
            <a:r>
              <a:rPr lang="zh-CN" altLang="en-US" sz="2400" dirty="0">
                <a:solidFill>
                  <a:srgbClr val="FF0000"/>
                </a:solidFill>
                <a:latin typeface="+mn-lt"/>
                <a:ea typeface="SimHei" panose="02010609060101010101" pitchFamily="49" charset="-122"/>
              </a:rPr>
              <a:t>皮下组织较薄的部位，极容易产生皱纹</a:t>
            </a:r>
            <a:r>
              <a:rPr lang="zh-CN" altLang="en-US" sz="2400" dirty="0">
                <a:latin typeface="+mn-lt"/>
                <a:ea typeface="SimHei" panose="02010609060101010101" pitchFamily="49" charset="-122"/>
              </a:rPr>
              <a:t>，比如眼部。</a:t>
            </a:r>
          </a:p>
          <a:p>
            <a:pPr marL="342900" indent="-342900">
              <a:lnSpc>
                <a:spcPct val="150000"/>
              </a:lnSpc>
              <a:buFont typeface="Arial" panose="020B0604020202020204" pitchFamily="34" charset="0"/>
              <a:buChar char="•"/>
            </a:pPr>
            <a:endParaRPr lang="en-US" altLang="zh-CN" sz="2400" dirty="0">
              <a:latin typeface="+mn-lt"/>
              <a:ea typeface="SimHei" panose="02010609060101010101" pitchFamily="49" charset="-122"/>
            </a:endParaRPr>
          </a:p>
        </p:txBody>
      </p:sp>
    </p:spTree>
    <p:extLst>
      <p:ext uri="{BB962C8B-B14F-4D97-AF65-F5344CB8AC3E}">
        <p14:creationId xmlns:p14="http://schemas.microsoft.com/office/powerpoint/2010/main" val="33960535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12</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皮脂</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836704" y="1346495"/>
            <a:ext cx="7461065" cy="3344570"/>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皮脂腺大多位于毛囊和立毛肌之间，为泡状腺</a:t>
            </a:r>
            <a:r>
              <a:rPr lang="en-US" altLang="zh-CN" sz="2400" dirty="0">
                <a:latin typeface="+mn-lt"/>
                <a:ea typeface="SimHei" panose="02010609060101010101" pitchFamily="49" charset="-122"/>
              </a:rPr>
              <a:t>—— </a:t>
            </a:r>
            <a:r>
              <a:rPr lang="zh-CN" altLang="en-US" sz="2400" dirty="0">
                <a:latin typeface="+mn-lt"/>
                <a:ea typeface="SimHei" panose="02010609060101010101" pitchFamily="49" charset="-122"/>
              </a:rPr>
              <a:t>由一个或几个囊状的腺泡与一 个共同的短导管构成。导管为复层扁平上皮，大多开口于毛囊上段，少数皮脂腺与毛囊无关，直接开口于皮肤或黏膜的表面。</a:t>
            </a:r>
            <a:r>
              <a:rPr lang="zh-CN" altLang="en-US" sz="2400" dirty="0">
                <a:solidFill>
                  <a:srgbClr val="0000FF"/>
                </a:solidFill>
                <a:latin typeface="+mn-lt"/>
                <a:ea typeface="SimHei" panose="02010609060101010101" pitchFamily="49" charset="-122"/>
              </a:rPr>
              <a:t>腺泡中心的细胞胞质内含脂滴，当腺细胞解体时，连同脂滴一起排出，即为皮脂。</a:t>
            </a:r>
            <a:endParaRPr lang="en-US" altLang="zh-CN" sz="2400" dirty="0">
              <a:solidFill>
                <a:srgbClr val="0000FF"/>
              </a:solidFill>
              <a:latin typeface="+mn-lt"/>
              <a:ea typeface="SimHei" panose="02010609060101010101" pitchFamily="49" charset="-122"/>
            </a:endParaRPr>
          </a:p>
        </p:txBody>
      </p:sp>
    </p:spTree>
    <p:extLst>
      <p:ext uri="{BB962C8B-B14F-4D97-AF65-F5344CB8AC3E}">
        <p14:creationId xmlns:p14="http://schemas.microsoft.com/office/powerpoint/2010/main" val="36232866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13</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皮脂</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165614"/>
            <a:ext cx="8778240" cy="3898568"/>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皮脂腺的发育及分泌活动主要受</a:t>
            </a:r>
            <a:r>
              <a:rPr lang="zh-CN" altLang="en-US" sz="2400" dirty="0">
                <a:solidFill>
                  <a:srgbClr val="0000FF"/>
                </a:solidFill>
                <a:latin typeface="+mn-lt"/>
                <a:ea typeface="SimHei" panose="02010609060101010101" pitchFamily="49" charset="-122"/>
              </a:rPr>
              <a:t>雄性激素</a:t>
            </a:r>
            <a:r>
              <a:rPr lang="zh-CN" altLang="en-US" sz="2400" dirty="0">
                <a:latin typeface="+mn-lt"/>
                <a:ea typeface="SimHei" panose="02010609060101010101" pitchFamily="49" charset="-122"/>
              </a:rPr>
              <a:t>的影响，因性别、年龄和部位不同而皮脂分泌量也不同： 一般男性多于女性；青春期开始分泌旺盛，到老年时开始下降；头部、面部、胸部等部位皮脂分泌较多。</a:t>
            </a:r>
            <a:endParaRPr lang="en-US" altLang="zh-CN" sz="2400" dirty="0">
              <a:latin typeface="+mn-lt"/>
              <a:ea typeface="SimHei" panose="02010609060101010101" pitchFamily="49" charset="-122"/>
            </a:endParaRPr>
          </a:p>
          <a:p>
            <a:pPr marL="342900" indent="-342900">
              <a:lnSpc>
                <a:spcPct val="150000"/>
              </a:lnSpc>
              <a:buFont typeface="Arial" panose="020B0604020202020204" pitchFamily="34" charset="0"/>
              <a:buChar char="•"/>
            </a:pPr>
            <a:endParaRPr lang="en-US" altLang="zh-CN" sz="2400" dirty="0">
              <a:latin typeface="+mn-lt"/>
              <a:ea typeface="SimHei" panose="02010609060101010101" pitchFamily="49" charset="-122"/>
            </a:endParaRPr>
          </a:p>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如果</a:t>
            </a:r>
            <a:r>
              <a:rPr lang="zh-CN" altLang="en-US" sz="2400" dirty="0">
                <a:solidFill>
                  <a:srgbClr val="FF0000"/>
                </a:solidFill>
                <a:latin typeface="+mn-lt"/>
                <a:ea typeface="SimHei" panose="02010609060101010101" pitchFamily="49" charset="-122"/>
              </a:rPr>
              <a:t>皮脂分泌过多，阻塞毛囊孔，易发生毛囊炎症，即生成粉刺或痤疮等</a:t>
            </a:r>
            <a:r>
              <a:rPr lang="zh-CN" altLang="en-US" sz="2400" dirty="0">
                <a:latin typeface="+mn-lt"/>
                <a:ea typeface="SimHei" panose="02010609060101010101" pitchFamily="49" charset="-122"/>
              </a:rPr>
              <a:t>。</a:t>
            </a:r>
            <a:endParaRPr lang="en-US" altLang="zh-CN" sz="2400" dirty="0">
              <a:latin typeface="+mn-lt"/>
              <a:ea typeface="SimHei" panose="02010609060101010101" pitchFamily="49" charset="-122"/>
            </a:endParaRPr>
          </a:p>
        </p:txBody>
      </p:sp>
    </p:spTree>
    <p:extLst>
      <p:ext uri="{BB962C8B-B14F-4D97-AF65-F5344CB8AC3E}">
        <p14:creationId xmlns:p14="http://schemas.microsoft.com/office/powerpoint/2010/main" val="31293724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14</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皮脂的组成</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964001"/>
            <a:ext cx="8778240" cy="1938992"/>
          </a:xfrm>
          <a:prstGeom prst="rect">
            <a:avLst/>
          </a:prstGeom>
          <a:noFill/>
        </p:spPr>
        <p:txBody>
          <a:bodyPr wrap="square" rtlCol="0">
            <a:spAutoFit/>
          </a:bodyPr>
          <a:lstStyle/>
          <a:p>
            <a:pPr marL="342900" indent="-342900">
              <a:buFont typeface="Arial" panose="020B0604020202020204" pitchFamily="34" charset="0"/>
              <a:buChar char="•"/>
            </a:pPr>
            <a:r>
              <a:rPr lang="zh-CN" altLang="en-US" sz="2400" dirty="0">
                <a:latin typeface="+mn-lt"/>
                <a:ea typeface="SimHei" panose="02010609060101010101" pitchFamily="49" charset="-122"/>
              </a:rPr>
              <a:t>皮脂是几种脂类的混合物，组成见表。皮脂具有柔润皮肤和杀菌作用，</a:t>
            </a:r>
            <a:r>
              <a:rPr lang="zh-CN" altLang="en-US" sz="2400" dirty="0">
                <a:solidFill>
                  <a:srgbClr val="0000FF"/>
                </a:solidFill>
                <a:latin typeface="+mn-lt"/>
                <a:ea typeface="SimHei" panose="02010609060101010101" pitchFamily="49" charset="-122"/>
              </a:rPr>
              <a:t>脂质成分中最多的是三甘油酯</a:t>
            </a:r>
            <a:r>
              <a:rPr lang="zh-CN" altLang="en-US" sz="2400" dirty="0">
                <a:latin typeface="+mn-lt"/>
                <a:ea typeface="SimHei" panose="02010609060101010101" pitchFamily="49" charset="-122"/>
              </a:rPr>
              <a:t>，该成分经过皮脂腺导管向表皮排泄过程中分解为双甘油酯和单甘油酯。</a:t>
            </a:r>
            <a:endParaRPr lang="en-US" altLang="zh-CN" sz="2400" dirty="0">
              <a:latin typeface="+mn-lt"/>
              <a:ea typeface="SimHei" panose="02010609060101010101" pitchFamily="49" charset="-122"/>
            </a:endParaRPr>
          </a:p>
          <a:p>
            <a:pPr marL="342900" indent="-342900">
              <a:buFont typeface="Arial" panose="020B0604020202020204" pitchFamily="34" charset="0"/>
              <a:buChar char="•"/>
            </a:pPr>
            <a:r>
              <a:rPr lang="zh-CN" altLang="en-US" sz="2400" dirty="0">
                <a:latin typeface="+mn-lt"/>
                <a:ea typeface="SimHei" panose="02010609060101010101" pitchFamily="49" charset="-122"/>
              </a:rPr>
              <a:t>在</a:t>
            </a:r>
            <a:r>
              <a:rPr lang="zh-CN" altLang="en-US" sz="2400" dirty="0">
                <a:solidFill>
                  <a:srgbClr val="FF0000"/>
                </a:solidFill>
                <a:latin typeface="+mn-lt"/>
                <a:ea typeface="SimHei" panose="02010609060101010101" pitchFamily="49" charset="-122"/>
              </a:rPr>
              <a:t>游离脂肪酸中含有</a:t>
            </a:r>
            <a:r>
              <a:rPr lang="en-US" altLang="zh-CN" sz="2400" dirty="0">
                <a:solidFill>
                  <a:srgbClr val="FF0000"/>
                </a:solidFill>
                <a:latin typeface="+mn-lt"/>
                <a:ea typeface="SimHei" panose="02010609060101010101" pitchFamily="49" charset="-122"/>
              </a:rPr>
              <a:t>C</a:t>
            </a:r>
            <a:r>
              <a:rPr lang="en-US" altLang="zh-CN" sz="2400" baseline="-25000" dirty="0">
                <a:solidFill>
                  <a:srgbClr val="FF0000"/>
                </a:solidFill>
                <a:latin typeface="+mn-lt"/>
                <a:ea typeface="SimHei" panose="02010609060101010101" pitchFamily="49" charset="-122"/>
              </a:rPr>
              <a:t>12</a:t>
            </a:r>
            <a:r>
              <a:rPr lang="en-US" altLang="zh-CN" sz="2400" dirty="0">
                <a:solidFill>
                  <a:srgbClr val="FF0000"/>
                </a:solidFill>
                <a:latin typeface="+mn-lt"/>
                <a:ea typeface="SimHei" panose="02010609060101010101" pitchFamily="49" charset="-122"/>
              </a:rPr>
              <a:t>~C</a:t>
            </a:r>
            <a:r>
              <a:rPr lang="en-US" altLang="zh-CN" sz="2400" baseline="-25000" dirty="0">
                <a:solidFill>
                  <a:srgbClr val="FF0000"/>
                </a:solidFill>
                <a:latin typeface="+mn-lt"/>
                <a:ea typeface="SimHei" panose="02010609060101010101" pitchFamily="49" charset="-122"/>
              </a:rPr>
              <a:t>16</a:t>
            </a:r>
            <a:r>
              <a:rPr lang="zh-CN" altLang="en-US" sz="2400" dirty="0">
                <a:solidFill>
                  <a:srgbClr val="FF0000"/>
                </a:solidFill>
                <a:latin typeface="+mn-lt"/>
                <a:ea typeface="SimHei" panose="02010609060101010101" pitchFamily="49" charset="-122"/>
              </a:rPr>
              <a:t>酸者发炎性最强，有 </a:t>
            </a:r>
            <a:r>
              <a:rPr lang="en-US" altLang="zh-CN" sz="2400" dirty="0">
                <a:solidFill>
                  <a:srgbClr val="FF0000"/>
                </a:solidFill>
                <a:latin typeface="+mn-lt"/>
                <a:ea typeface="SimHei" panose="02010609060101010101" pitchFamily="49" charset="-122"/>
              </a:rPr>
              <a:t>C</a:t>
            </a:r>
            <a:r>
              <a:rPr lang="en-US" altLang="zh-CN" sz="2400" baseline="-25000" dirty="0">
                <a:solidFill>
                  <a:srgbClr val="FF0000"/>
                </a:solidFill>
                <a:latin typeface="+mn-lt"/>
                <a:ea typeface="SimHei" panose="02010609060101010101" pitchFamily="49" charset="-122"/>
              </a:rPr>
              <a:t>16</a:t>
            </a:r>
            <a:r>
              <a:rPr lang="en-US" altLang="zh-CN" sz="2400" dirty="0">
                <a:solidFill>
                  <a:srgbClr val="FF0000"/>
                </a:solidFill>
                <a:latin typeface="+mn-lt"/>
                <a:ea typeface="SimHei" panose="02010609060101010101" pitchFamily="49" charset="-122"/>
              </a:rPr>
              <a:t> ~C</a:t>
            </a:r>
            <a:r>
              <a:rPr lang="en-US" altLang="zh-CN" sz="2400" baseline="-25000" dirty="0">
                <a:solidFill>
                  <a:srgbClr val="FF0000"/>
                </a:solidFill>
                <a:latin typeface="+mn-lt"/>
                <a:ea typeface="SimHei" panose="02010609060101010101" pitchFamily="49" charset="-122"/>
              </a:rPr>
              <a:t>18</a:t>
            </a:r>
            <a:r>
              <a:rPr lang="en-US" altLang="zh-CN" sz="2400" dirty="0">
                <a:solidFill>
                  <a:srgbClr val="FF0000"/>
                </a:solidFill>
                <a:latin typeface="+mn-lt"/>
                <a:ea typeface="SimHei" panose="02010609060101010101" pitchFamily="49" charset="-122"/>
              </a:rPr>
              <a:t> </a:t>
            </a:r>
            <a:r>
              <a:rPr lang="zh-CN" altLang="en-US" sz="2400" dirty="0">
                <a:solidFill>
                  <a:srgbClr val="FF0000"/>
                </a:solidFill>
                <a:latin typeface="+mn-lt"/>
                <a:ea typeface="SimHei" panose="02010609060101010101" pitchFamily="49" charset="-122"/>
              </a:rPr>
              <a:t>酸者形成粉刺的作用最明显</a:t>
            </a:r>
            <a:r>
              <a:rPr lang="zh-CN" altLang="en-US" sz="2400" dirty="0">
                <a:latin typeface="+mn-lt"/>
                <a:ea typeface="SimHei" panose="02010609060101010101" pitchFamily="49" charset="-122"/>
              </a:rPr>
              <a:t>。</a:t>
            </a:r>
            <a:endParaRPr lang="en-US" altLang="zh-CN" sz="2400" dirty="0">
              <a:latin typeface="+mn-lt"/>
              <a:ea typeface="SimHei" panose="02010609060101010101" pitchFamily="49" charset="-122"/>
            </a:endParaRPr>
          </a:p>
        </p:txBody>
      </p:sp>
      <p:graphicFrame>
        <p:nvGraphicFramePr>
          <p:cNvPr id="5" name="表格 4">
            <a:extLst>
              <a:ext uri="{FF2B5EF4-FFF2-40B4-BE49-F238E27FC236}">
                <a16:creationId xmlns:a16="http://schemas.microsoft.com/office/drawing/2014/main" id="{138D26F6-BECF-AA80-3DE5-2B9F95827B86}"/>
              </a:ext>
            </a:extLst>
          </p:cNvPr>
          <p:cNvGraphicFramePr>
            <a:graphicFrameLocks noGrp="1"/>
          </p:cNvGraphicFramePr>
          <p:nvPr>
            <p:extLst>
              <p:ext uri="{D42A27DB-BD31-4B8C-83A1-F6EECF244321}">
                <p14:modId xmlns:p14="http://schemas.microsoft.com/office/powerpoint/2010/main" val="586025892"/>
              </p:ext>
            </p:extLst>
          </p:nvPr>
        </p:nvGraphicFramePr>
        <p:xfrm>
          <a:off x="182880" y="2902993"/>
          <a:ext cx="8778240" cy="3293804"/>
        </p:xfrm>
        <a:graphic>
          <a:graphicData uri="http://schemas.openxmlformats.org/drawingml/2006/table">
            <a:tbl>
              <a:tblPr firstRow="1" firstCol="1" bandRow="1">
                <a:tableStyleId>{912C8C85-51F0-491E-9774-3900AFEF0FD7}</a:tableStyleId>
              </a:tblPr>
              <a:tblGrid>
                <a:gridCol w="2178079">
                  <a:extLst>
                    <a:ext uri="{9D8B030D-6E8A-4147-A177-3AD203B41FA5}">
                      <a16:colId xmlns:a16="http://schemas.microsoft.com/office/drawing/2014/main" val="2696790101"/>
                    </a:ext>
                  </a:extLst>
                </a:gridCol>
                <a:gridCol w="1168318">
                  <a:extLst>
                    <a:ext uri="{9D8B030D-6E8A-4147-A177-3AD203B41FA5}">
                      <a16:colId xmlns:a16="http://schemas.microsoft.com/office/drawing/2014/main" val="1720306441"/>
                    </a:ext>
                  </a:extLst>
                </a:gridCol>
                <a:gridCol w="984725">
                  <a:extLst>
                    <a:ext uri="{9D8B030D-6E8A-4147-A177-3AD203B41FA5}">
                      <a16:colId xmlns:a16="http://schemas.microsoft.com/office/drawing/2014/main" val="2275436006"/>
                    </a:ext>
                  </a:extLst>
                </a:gridCol>
                <a:gridCol w="2369181">
                  <a:extLst>
                    <a:ext uri="{9D8B030D-6E8A-4147-A177-3AD203B41FA5}">
                      <a16:colId xmlns:a16="http://schemas.microsoft.com/office/drawing/2014/main" val="3055743252"/>
                    </a:ext>
                  </a:extLst>
                </a:gridCol>
                <a:gridCol w="1051486">
                  <a:extLst>
                    <a:ext uri="{9D8B030D-6E8A-4147-A177-3AD203B41FA5}">
                      <a16:colId xmlns:a16="http://schemas.microsoft.com/office/drawing/2014/main" val="351313180"/>
                    </a:ext>
                  </a:extLst>
                </a:gridCol>
                <a:gridCol w="1026451">
                  <a:extLst>
                    <a:ext uri="{9D8B030D-6E8A-4147-A177-3AD203B41FA5}">
                      <a16:colId xmlns:a16="http://schemas.microsoft.com/office/drawing/2014/main" val="3308411393"/>
                    </a:ext>
                  </a:extLst>
                </a:gridCol>
              </a:tblGrid>
              <a:tr h="903586">
                <a:tc>
                  <a:txBody>
                    <a:bodyPr/>
                    <a:lstStyle/>
                    <a:p>
                      <a:pPr marL="615950" marR="0" eaLnBrk="0">
                        <a:lnSpc>
                          <a:spcPct val="91000"/>
                        </a:lnSpc>
                        <a:spcBef>
                          <a:spcPts val="1320"/>
                        </a:spcBef>
                        <a:spcAft>
                          <a:spcPts val="0"/>
                        </a:spcAft>
                      </a:pPr>
                      <a:r>
                        <a:rPr lang="zh-CN" altLang="en-US" sz="1800" b="1" kern="1200" spc="-25" dirty="0">
                          <a:solidFill>
                            <a:schemeClr val="bg1"/>
                          </a:solidFill>
                          <a:effectLst/>
                          <a:latin typeface="SimHei" panose="02010609060101010101" pitchFamily="49" charset="-122"/>
                          <a:ea typeface="SimHei" panose="02010609060101010101" pitchFamily="49" charset="-122"/>
                          <a:cs typeface="+mn-cs"/>
                        </a:rPr>
                        <a:t>成</a:t>
                      </a:r>
                      <a:r>
                        <a:rPr lang="en-US" sz="1800" b="1" kern="1200" spc="-25" dirty="0">
                          <a:solidFill>
                            <a:schemeClr val="bg1"/>
                          </a:solidFill>
                          <a:effectLst/>
                          <a:latin typeface="SimHei" panose="02010609060101010101" pitchFamily="49" charset="-122"/>
                          <a:ea typeface="SimHei" panose="02010609060101010101" pitchFamily="49" charset="-122"/>
                          <a:cs typeface="+mn-cs"/>
                        </a:rPr>
                        <a:t>  </a:t>
                      </a:r>
                      <a:r>
                        <a:rPr lang="zh-CN" altLang="en-US" sz="1800" b="1" kern="1200" spc="-25" dirty="0">
                          <a:solidFill>
                            <a:schemeClr val="bg1"/>
                          </a:solidFill>
                          <a:effectLst/>
                          <a:latin typeface="SimHei" panose="02010609060101010101" pitchFamily="49" charset="-122"/>
                          <a:ea typeface="SimHei" panose="02010609060101010101" pitchFamily="49" charset="-122"/>
                          <a:cs typeface="+mn-cs"/>
                        </a:rPr>
                        <a:t>分</a:t>
                      </a:r>
                      <a:endParaRPr lang="en-US" sz="1800" b="1" kern="1200" spc="-25" dirty="0">
                        <a:solidFill>
                          <a:schemeClr val="bg1"/>
                        </a:solidFill>
                        <a:effectLst/>
                        <a:latin typeface="SimHei" panose="02010609060101010101" pitchFamily="49" charset="-122"/>
                        <a:ea typeface="SimHei" panose="02010609060101010101" pitchFamily="49" charset="-122"/>
                        <a:cs typeface="+mn-cs"/>
                      </a:endParaRPr>
                    </a:p>
                  </a:txBody>
                  <a:tcPr marL="0" marR="0" marT="0" marB="0"/>
                </a:tc>
                <a:tc>
                  <a:txBody>
                    <a:bodyPr/>
                    <a:lstStyle/>
                    <a:p>
                      <a:pPr marL="173990" marR="0" eaLnBrk="0">
                        <a:lnSpc>
                          <a:spcPts val="1530"/>
                        </a:lnSpc>
                        <a:spcBef>
                          <a:spcPts val="615"/>
                        </a:spcBef>
                        <a:spcAft>
                          <a:spcPts val="0"/>
                        </a:spcAft>
                      </a:pPr>
                      <a:r>
                        <a:rPr lang="zh-CN" altLang="en-US" sz="1800" b="1" kern="1200" spc="-25" dirty="0">
                          <a:solidFill>
                            <a:schemeClr val="bg1"/>
                          </a:solidFill>
                          <a:effectLst/>
                          <a:latin typeface="SimHei" panose="02010609060101010101" pitchFamily="49" charset="-122"/>
                          <a:ea typeface="SimHei" panose="02010609060101010101" pitchFamily="49" charset="-122"/>
                          <a:cs typeface="+mn-cs"/>
                        </a:rPr>
                        <a:t>质量分数</a:t>
                      </a:r>
                    </a:p>
                    <a:p>
                      <a:pPr marL="173990" marR="0" eaLnBrk="0">
                        <a:lnSpc>
                          <a:spcPts val="1530"/>
                        </a:lnSpc>
                        <a:spcBef>
                          <a:spcPts val="615"/>
                        </a:spcBef>
                        <a:spcAft>
                          <a:spcPts val="0"/>
                        </a:spcAft>
                      </a:pPr>
                      <a:r>
                        <a:rPr lang="en-US" altLang="zh-CN" sz="1800" b="1" kern="1200" spc="-25" dirty="0">
                          <a:solidFill>
                            <a:schemeClr val="bg1"/>
                          </a:solidFill>
                          <a:effectLst/>
                          <a:latin typeface="SimHei" panose="02010609060101010101" pitchFamily="49" charset="-122"/>
                          <a:ea typeface="SimHei" panose="02010609060101010101" pitchFamily="49" charset="-122"/>
                          <a:cs typeface="+mn-cs"/>
                        </a:rPr>
                        <a:t>/%</a:t>
                      </a:r>
                      <a:endParaRPr lang="en-US" sz="1800" b="1" kern="1200" spc="-25" dirty="0">
                        <a:solidFill>
                          <a:schemeClr val="bg1"/>
                        </a:solidFill>
                        <a:effectLst/>
                        <a:latin typeface="SimHei" panose="02010609060101010101" pitchFamily="49" charset="-122"/>
                        <a:ea typeface="SimHei" panose="02010609060101010101" pitchFamily="49" charset="-122"/>
                        <a:cs typeface="+mn-cs"/>
                      </a:endParaRPr>
                    </a:p>
                  </a:txBody>
                  <a:tcPr marL="0" marR="0" marT="0" marB="0"/>
                </a:tc>
                <a:tc>
                  <a:txBody>
                    <a:bodyPr/>
                    <a:lstStyle/>
                    <a:p>
                      <a:pPr marL="167640" marR="109220" indent="-63500" eaLnBrk="0">
                        <a:lnSpc>
                          <a:spcPct val="96000"/>
                        </a:lnSpc>
                        <a:spcBef>
                          <a:spcPts val="625"/>
                        </a:spcBef>
                        <a:spcAft>
                          <a:spcPts val="0"/>
                        </a:spcAft>
                      </a:pPr>
                      <a:r>
                        <a:rPr lang="zh-CN" sz="1800" spc="-10">
                          <a:effectLst/>
                          <a:latin typeface="SimHei" panose="02010609060101010101" pitchFamily="49" charset="-122"/>
                          <a:ea typeface="SimHei" panose="02010609060101010101" pitchFamily="49" charset="-122"/>
                        </a:rPr>
                        <a:t>平均质量</a:t>
                      </a:r>
                      <a:r>
                        <a:rPr lang="zh-CN" sz="1800">
                          <a:effectLst/>
                          <a:latin typeface="SimHei" panose="02010609060101010101" pitchFamily="49" charset="-122"/>
                          <a:ea typeface="SimHei" panose="02010609060101010101" pitchFamily="49" charset="-122"/>
                        </a:rPr>
                        <a:t> </a:t>
                      </a:r>
                      <a:r>
                        <a:rPr lang="zh-CN" sz="1800" spc="-15">
                          <a:effectLst/>
                          <a:latin typeface="SimHei" panose="02010609060101010101" pitchFamily="49" charset="-122"/>
                          <a:ea typeface="SimHei" panose="02010609060101010101" pitchFamily="49" charset="-122"/>
                        </a:rPr>
                        <a:t>分数</a:t>
                      </a:r>
                      <a:r>
                        <a:rPr lang="en-US" sz="1800" spc="-15">
                          <a:effectLst/>
                          <a:latin typeface="SimHei" panose="02010609060101010101" pitchFamily="49" charset="-122"/>
                          <a:ea typeface="SimHei" panose="02010609060101010101" pitchFamily="49" charset="-122"/>
                        </a:rPr>
                        <a:t>/%</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695325" marR="0" eaLnBrk="0">
                        <a:lnSpc>
                          <a:spcPct val="91000"/>
                        </a:lnSpc>
                        <a:spcBef>
                          <a:spcPts val="1320"/>
                        </a:spcBef>
                        <a:spcAft>
                          <a:spcPts val="0"/>
                        </a:spcAft>
                      </a:pPr>
                      <a:r>
                        <a:rPr lang="zh-CN" sz="1800" spc="-25">
                          <a:effectLst/>
                          <a:latin typeface="SimHei" panose="02010609060101010101" pitchFamily="49" charset="-122"/>
                          <a:ea typeface="SimHei" panose="02010609060101010101" pitchFamily="49" charset="-122"/>
                        </a:rPr>
                        <a:t>成</a:t>
                      </a:r>
                      <a:r>
                        <a:rPr lang="en-US" sz="1800" spc="25">
                          <a:effectLst/>
                          <a:latin typeface="SimHei" panose="02010609060101010101" pitchFamily="49" charset="-122"/>
                          <a:ea typeface="SimHei" panose="02010609060101010101" pitchFamily="49" charset="-122"/>
                        </a:rPr>
                        <a:t>  </a:t>
                      </a:r>
                      <a:r>
                        <a:rPr lang="zh-CN" sz="1800" spc="-25">
                          <a:effectLst/>
                          <a:latin typeface="SimHei" panose="02010609060101010101" pitchFamily="49" charset="-122"/>
                          <a:ea typeface="SimHei" panose="02010609060101010101" pitchFamily="49" charset="-122"/>
                        </a:rPr>
                        <a:t>分</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327025" marR="135255" indent="-196850" eaLnBrk="0">
                        <a:lnSpc>
                          <a:spcPct val="99000"/>
                        </a:lnSpc>
                        <a:spcBef>
                          <a:spcPts val="615"/>
                        </a:spcBef>
                        <a:spcAft>
                          <a:spcPts val="0"/>
                        </a:spcAft>
                      </a:pPr>
                      <a:r>
                        <a:rPr lang="zh-CN" sz="1800" spc="-15">
                          <a:effectLst/>
                          <a:latin typeface="SimHei" panose="02010609060101010101" pitchFamily="49" charset="-122"/>
                          <a:ea typeface="SimHei" panose="02010609060101010101" pitchFamily="49" charset="-122"/>
                        </a:rPr>
                        <a:t>质量分数</a:t>
                      </a:r>
                      <a:r>
                        <a:rPr lang="zh-CN" sz="1800" spc="5">
                          <a:effectLst/>
                          <a:latin typeface="SimHei" panose="02010609060101010101" pitchFamily="49" charset="-122"/>
                          <a:ea typeface="SimHei" panose="02010609060101010101" pitchFamily="49" charset="-122"/>
                        </a:rPr>
                        <a:t> </a:t>
                      </a:r>
                      <a:r>
                        <a:rPr lang="en-US" sz="1800" spc="-10">
                          <a:effectLst/>
                          <a:latin typeface="SimHei" panose="02010609060101010101" pitchFamily="49" charset="-122"/>
                          <a:ea typeface="SimHei" panose="02010609060101010101" pitchFamily="49" charset="-122"/>
                        </a:rPr>
                        <a:t>/%</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118110" marR="0" eaLnBrk="0">
                        <a:lnSpc>
                          <a:spcPct val="91000"/>
                        </a:lnSpc>
                        <a:spcBef>
                          <a:spcPts val="670"/>
                        </a:spcBef>
                        <a:spcAft>
                          <a:spcPts val="0"/>
                        </a:spcAft>
                      </a:pPr>
                      <a:r>
                        <a:rPr lang="zh-CN" sz="1800" spc="-10">
                          <a:effectLst/>
                          <a:latin typeface="SimHei" panose="02010609060101010101" pitchFamily="49" charset="-122"/>
                          <a:ea typeface="SimHei" panose="02010609060101010101" pitchFamily="49" charset="-122"/>
                        </a:rPr>
                        <a:t>平均质量</a:t>
                      </a:r>
                      <a:endParaRPr lang="en-US" sz="1800">
                        <a:effectLst/>
                        <a:latin typeface="SimHei" panose="02010609060101010101" pitchFamily="49" charset="-122"/>
                        <a:ea typeface="SimHei" panose="02010609060101010101" pitchFamily="49" charset="-122"/>
                      </a:endParaRPr>
                    </a:p>
                    <a:p>
                      <a:pPr marL="187325" marR="0" eaLnBrk="0">
                        <a:lnSpc>
                          <a:spcPct val="91000"/>
                        </a:lnSpc>
                        <a:spcBef>
                          <a:spcPts val="95"/>
                        </a:spcBef>
                        <a:spcAft>
                          <a:spcPts val="0"/>
                        </a:spcAft>
                      </a:pPr>
                      <a:r>
                        <a:rPr lang="zh-CN" sz="1800" spc="-15">
                          <a:effectLst/>
                          <a:latin typeface="SimHei" panose="02010609060101010101" pitchFamily="49" charset="-122"/>
                          <a:ea typeface="SimHei" panose="02010609060101010101" pitchFamily="49" charset="-122"/>
                        </a:rPr>
                        <a:t>分数</a:t>
                      </a:r>
                      <a:r>
                        <a:rPr lang="en-US" sz="1800" spc="-15">
                          <a:effectLst/>
                          <a:latin typeface="SimHei" panose="02010609060101010101" pitchFamily="49" charset="-122"/>
                          <a:ea typeface="SimHei" panose="02010609060101010101" pitchFamily="49" charset="-122"/>
                        </a:rPr>
                        <a:t>/%</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extLst>
                  <a:ext uri="{0D108BD9-81ED-4DB2-BD59-A6C34878D82A}">
                    <a16:rowId xmlns:a16="http://schemas.microsoft.com/office/drawing/2014/main" val="3544637198"/>
                  </a:ext>
                </a:extLst>
              </a:tr>
              <a:tr h="476886">
                <a:tc>
                  <a:txBody>
                    <a:bodyPr/>
                    <a:lstStyle/>
                    <a:p>
                      <a:pPr marL="100965" marR="0" eaLnBrk="0">
                        <a:lnSpc>
                          <a:spcPct val="91000"/>
                        </a:lnSpc>
                        <a:spcBef>
                          <a:spcPts val="655"/>
                        </a:spcBef>
                        <a:spcAft>
                          <a:spcPts val="0"/>
                        </a:spcAft>
                      </a:pPr>
                      <a:r>
                        <a:rPr lang="zh-CN" sz="1800" spc="-10">
                          <a:effectLst/>
                          <a:latin typeface="SimHei" panose="02010609060101010101" pitchFamily="49" charset="-122"/>
                          <a:ea typeface="SimHei" panose="02010609060101010101" pitchFamily="49" charset="-122"/>
                        </a:rPr>
                        <a:t>游离脂肪酸</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136525" marR="0" eaLnBrk="0">
                        <a:lnSpc>
                          <a:spcPct val="76000"/>
                        </a:lnSpc>
                        <a:spcBef>
                          <a:spcPts val="920"/>
                        </a:spcBef>
                        <a:spcAft>
                          <a:spcPts val="0"/>
                        </a:spcAft>
                      </a:pPr>
                      <a:r>
                        <a:rPr lang="en-US" sz="1800" spc="-10">
                          <a:effectLst/>
                          <a:latin typeface="SimHei" panose="02010609060101010101" pitchFamily="49" charset="-122"/>
                          <a:ea typeface="SimHei" panose="02010609060101010101" pitchFamily="49" charset="-122"/>
                        </a:rPr>
                        <a:t>2.2</a:t>
                      </a:r>
                      <a:r>
                        <a:rPr lang="zh-CN" sz="1800" spc="-10">
                          <a:effectLst/>
                          <a:latin typeface="SimHei" panose="02010609060101010101" pitchFamily="49" charset="-122"/>
                          <a:ea typeface="SimHei" panose="02010609060101010101" pitchFamily="49" charset="-122"/>
                        </a:rPr>
                        <a:t>～</a:t>
                      </a:r>
                      <a:r>
                        <a:rPr lang="en-US" sz="1800" spc="-10">
                          <a:effectLst/>
                          <a:latin typeface="SimHei" panose="02010609060101010101" pitchFamily="49" charset="-122"/>
                          <a:ea typeface="SimHei" panose="02010609060101010101" pitchFamily="49" charset="-122"/>
                        </a:rPr>
                        <a:t>56.0</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237490" marR="0" eaLnBrk="0">
                        <a:lnSpc>
                          <a:spcPct val="76000"/>
                        </a:lnSpc>
                        <a:spcBef>
                          <a:spcPts val="920"/>
                        </a:spcBef>
                        <a:spcAft>
                          <a:spcPts val="0"/>
                        </a:spcAft>
                      </a:pPr>
                      <a:r>
                        <a:rPr lang="en-US" sz="1800" spc="-15">
                          <a:effectLst/>
                          <a:latin typeface="SimHei" panose="02010609060101010101" pitchFamily="49" charset="-122"/>
                          <a:ea typeface="SimHei" panose="02010609060101010101" pitchFamily="49" charset="-122"/>
                        </a:rPr>
                        <a:t>25.0</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104775" marR="0" eaLnBrk="0">
                        <a:lnSpc>
                          <a:spcPct val="91000"/>
                        </a:lnSpc>
                        <a:spcBef>
                          <a:spcPts val="650"/>
                        </a:spcBef>
                        <a:spcAft>
                          <a:spcPts val="0"/>
                        </a:spcAft>
                      </a:pPr>
                      <a:r>
                        <a:rPr lang="zh-CN" sz="1800" b="1" spc="-10" dirty="0">
                          <a:effectLst/>
                          <a:latin typeface="SimHei" panose="02010609060101010101" pitchFamily="49" charset="-122"/>
                          <a:ea typeface="SimHei" panose="02010609060101010101" pitchFamily="49" charset="-122"/>
                        </a:rPr>
                        <a:t>游离硬脂酸类</a:t>
                      </a:r>
                      <a:endParaRPr lang="en-US" sz="1800" b="1" dirty="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92075" marR="0" eaLnBrk="0">
                        <a:lnSpc>
                          <a:spcPct val="76000"/>
                        </a:lnSpc>
                        <a:spcBef>
                          <a:spcPts val="920"/>
                        </a:spcBef>
                        <a:spcAft>
                          <a:spcPts val="0"/>
                        </a:spcAft>
                      </a:pPr>
                      <a:r>
                        <a:rPr lang="en-US" sz="1800" spc="-10">
                          <a:effectLst/>
                          <a:latin typeface="SimHei" panose="02010609060101010101" pitchFamily="49" charset="-122"/>
                          <a:ea typeface="SimHei" panose="02010609060101010101" pitchFamily="49" charset="-122"/>
                        </a:rPr>
                        <a:t>0.7</a:t>
                      </a:r>
                      <a:r>
                        <a:rPr lang="zh-CN" sz="1800" spc="-10">
                          <a:effectLst/>
                          <a:latin typeface="SimHei" panose="02010609060101010101" pitchFamily="49" charset="-122"/>
                          <a:ea typeface="SimHei" panose="02010609060101010101" pitchFamily="49" charset="-122"/>
                        </a:rPr>
                        <a:t>～</a:t>
                      </a:r>
                      <a:r>
                        <a:rPr lang="en-US" sz="1800" spc="-10">
                          <a:effectLst/>
                          <a:latin typeface="SimHei" panose="02010609060101010101" pitchFamily="49" charset="-122"/>
                          <a:ea typeface="SimHei" panose="02010609060101010101" pitchFamily="49" charset="-122"/>
                        </a:rPr>
                        <a:t>20.0</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282575" marR="0" eaLnBrk="0">
                        <a:lnSpc>
                          <a:spcPct val="76000"/>
                        </a:lnSpc>
                        <a:spcBef>
                          <a:spcPts val="915"/>
                        </a:spcBef>
                        <a:spcAft>
                          <a:spcPts val="0"/>
                        </a:spcAft>
                      </a:pPr>
                      <a:r>
                        <a:rPr lang="en-US" sz="1800" spc="-30">
                          <a:effectLst/>
                          <a:latin typeface="SimHei" panose="02010609060101010101" pitchFamily="49" charset="-122"/>
                          <a:ea typeface="SimHei" panose="02010609060101010101" pitchFamily="49" charset="-122"/>
                        </a:rPr>
                        <a:t>1.5</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extLst>
                  <a:ext uri="{0D108BD9-81ED-4DB2-BD59-A6C34878D82A}">
                    <a16:rowId xmlns:a16="http://schemas.microsoft.com/office/drawing/2014/main" val="1324053534"/>
                  </a:ext>
                </a:extLst>
              </a:tr>
              <a:tr h="476886">
                <a:tc>
                  <a:txBody>
                    <a:bodyPr/>
                    <a:lstStyle/>
                    <a:p>
                      <a:pPr marL="100965" marR="0" eaLnBrk="0">
                        <a:lnSpc>
                          <a:spcPct val="91000"/>
                        </a:lnSpc>
                        <a:spcBef>
                          <a:spcPts val="605"/>
                        </a:spcBef>
                        <a:spcAft>
                          <a:spcPts val="0"/>
                        </a:spcAft>
                      </a:pPr>
                      <a:r>
                        <a:rPr lang="zh-CN" sz="1800" spc="15">
                          <a:effectLst/>
                          <a:latin typeface="SimHei" panose="02010609060101010101" pitchFamily="49" charset="-122"/>
                          <a:ea typeface="SimHei" panose="02010609060101010101" pitchFamily="49" charset="-122"/>
                        </a:rPr>
                        <a:t>角鲨烯</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136525" marR="0" eaLnBrk="0">
                        <a:lnSpc>
                          <a:spcPct val="76000"/>
                        </a:lnSpc>
                        <a:spcBef>
                          <a:spcPts val="875"/>
                        </a:spcBef>
                        <a:spcAft>
                          <a:spcPts val="0"/>
                        </a:spcAft>
                      </a:pPr>
                      <a:r>
                        <a:rPr lang="en-US" sz="1800" spc="-15">
                          <a:effectLst/>
                          <a:latin typeface="SimHei" panose="02010609060101010101" pitchFamily="49" charset="-122"/>
                          <a:ea typeface="SimHei" panose="02010609060101010101" pitchFamily="49" charset="-122"/>
                        </a:rPr>
                        <a:t>1.3</a:t>
                      </a:r>
                      <a:r>
                        <a:rPr lang="zh-CN" sz="1800" spc="-15">
                          <a:effectLst/>
                          <a:latin typeface="SimHei" panose="02010609060101010101" pitchFamily="49" charset="-122"/>
                          <a:ea typeface="SimHei" panose="02010609060101010101" pitchFamily="49" charset="-122"/>
                        </a:rPr>
                        <a:t>～</a:t>
                      </a:r>
                      <a:r>
                        <a:rPr lang="en-US" sz="1800" spc="-15">
                          <a:effectLst/>
                          <a:latin typeface="SimHei" panose="02010609060101010101" pitchFamily="49" charset="-122"/>
                          <a:ea typeface="SimHei" panose="02010609060101010101" pitchFamily="49" charset="-122"/>
                        </a:rPr>
                        <a:t>17.3</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269240" marR="0" eaLnBrk="0">
                        <a:lnSpc>
                          <a:spcPct val="76000"/>
                        </a:lnSpc>
                        <a:spcBef>
                          <a:spcPts val="880"/>
                        </a:spcBef>
                        <a:spcAft>
                          <a:spcPts val="0"/>
                        </a:spcAft>
                      </a:pPr>
                      <a:r>
                        <a:rPr lang="en-US" sz="1800" spc="-15">
                          <a:effectLst/>
                          <a:latin typeface="SimHei" panose="02010609060101010101" pitchFamily="49" charset="-122"/>
                          <a:ea typeface="SimHei" panose="02010609060101010101" pitchFamily="49" charset="-122"/>
                        </a:rPr>
                        <a:t>5.0</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104775" marR="0" eaLnBrk="0">
                        <a:lnSpc>
                          <a:spcPct val="91000"/>
                        </a:lnSpc>
                        <a:spcBef>
                          <a:spcPts val="615"/>
                        </a:spcBef>
                        <a:spcAft>
                          <a:spcPts val="0"/>
                        </a:spcAft>
                      </a:pPr>
                      <a:r>
                        <a:rPr lang="zh-CN" sz="1800" b="1" spc="15" dirty="0">
                          <a:effectLst/>
                          <a:latin typeface="SimHei" panose="02010609060101010101" pitchFamily="49" charset="-122"/>
                          <a:ea typeface="SimHei" panose="02010609060101010101" pitchFamily="49" charset="-122"/>
                        </a:rPr>
                        <a:t>甘油三酯</a:t>
                      </a:r>
                      <a:endParaRPr lang="en-US" sz="1800" b="1" dirty="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92075" marR="0" eaLnBrk="0">
                        <a:lnSpc>
                          <a:spcPct val="76000"/>
                        </a:lnSpc>
                        <a:spcBef>
                          <a:spcPts val="880"/>
                        </a:spcBef>
                        <a:spcAft>
                          <a:spcPts val="0"/>
                        </a:spcAft>
                      </a:pPr>
                      <a:r>
                        <a:rPr lang="en-US" sz="1800" spc="-10">
                          <a:effectLst/>
                          <a:latin typeface="SimHei" panose="02010609060101010101" pitchFamily="49" charset="-122"/>
                          <a:ea typeface="SimHei" panose="02010609060101010101" pitchFamily="49" charset="-122"/>
                        </a:rPr>
                        <a:t>5.5</a:t>
                      </a:r>
                      <a:r>
                        <a:rPr lang="zh-CN" sz="1800" spc="-10">
                          <a:effectLst/>
                          <a:latin typeface="SimHei" panose="02010609060101010101" pitchFamily="49" charset="-122"/>
                          <a:ea typeface="SimHei" panose="02010609060101010101" pitchFamily="49" charset="-122"/>
                        </a:rPr>
                        <a:t>～</a:t>
                      </a:r>
                      <a:r>
                        <a:rPr lang="en-US" sz="1800" spc="-10">
                          <a:effectLst/>
                          <a:latin typeface="SimHei" panose="02010609060101010101" pitchFamily="49" charset="-122"/>
                          <a:ea typeface="SimHei" panose="02010609060101010101" pitchFamily="49" charset="-122"/>
                        </a:rPr>
                        <a:t>37.5</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250825" marR="0" eaLnBrk="0">
                        <a:lnSpc>
                          <a:spcPct val="76000"/>
                        </a:lnSpc>
                        <a:spcBef>
                          <a:spcPts val="880"/>
                        </a:spcBef>
                        <a:spcAft>
                          <a:spcPts val="0"/>
                        </a:spcAft>
                      </a:pPr>
                      <a:r>
                        <a:rPr lang="en-US" sz="1800" spc="-15">
                          <a:effectLst/>
                          <a:latin typeface="SimHei" panose="02010609060101010101" pitchFamily="49" charset="-122"/>
                          <a:ea typeface="SimHei" panose="02010609060101010101" pitchFamily="49" charset="-122"/>
                        </a:rPr>
                        <a:t>25.0</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extLst>
                  <a:ext uri="{0D108BD9-81ED-4DB2-BD59-A6C34878D82A}">
                    <a16:rowId xmlns:a16="http://schemas.microsoft.com/office/drawing/2014/main" val="4256204667"/>
                  </a:ext>
                </a:extLst>
              </a:tr>
              <a:tr h="476886">
                <a:tc>
                  <a:txBody>
                    <a:bodyPr/>
                    <a:lstStyle/>
                    <a:p>
                      <a:pPr marL="100965" marR="0" eaLnBrk="0">
                        <a:lnSpc>
                          <a:spcPct val="91000"/>
                        </a:lnSpc>
                        <a:spcBef>
                          <a:spcPts val="670"/>
                        </a:spcBef>
                        <a:spcAft>
                          <a:spcPts val="0"/>
                        </a:spcAft>
                      </a:pPr>
                      <a:r>
                        <a:rPr lang="zh-CN" sz="1800" spc="-10">
                          <a:effectLst/>
                          <a:latin typeface="SimHei" panose="02010609060101010101" pitchFamily="49" charset="-122"/>
                          <a:ea typeface="SimHei" panose="02010609060101010101" pitchFamily="49" charset="-122"/>
                        </a:rPr>
                        <a:t>其他烃类</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136525" marR="0" eaLnBrk="0">
                        <a:lnSpc>
                          <a:spcPct val="76000"/>
                        </a:lnSpc>
                        <a:spcBef>
                          <a:spcPts val="935"/>
                        </a:spcBef>
                        <a:spcAft>
                          <a:spcPts val="0"/>
                        </a:spcAft>
                      </a:pPr>
                      <a:r>
                        <a:rPr lang="en-US" sz="1800" spc="-10">
                          <a:effectLst/>
                          <a:latin typeface="SimHei" panose="02010609060101010101" pitchFamily="49" charset="-122"/>
                          <a:ea typeface="SimHei" panose="02010609060101010101" pitchFamily="49" charset="-122"/>
                        </a:rPr>
                        <a:t>0.5</a:t>
                      </a:r>
                      <a:r>
                        <a:rPr lang="zh-CN" sz="1800" spc="-10">
                          <a:effectLst/>
                          <a:latin typeface="SimHei" panose="02010609060101010101" pitchFamily="49" charset="-122"/>
                          <a:ea typeface="SimHei" panose="02010609060101010101" pitchFamily="49" charset="-122"/>
                        </a:rPr>
                        <a:t>～</a:t>
                      </a:r>
                      <a:r>
                        <a:rPr lang="en-US" sz="1800" spc="-10">
                          <a:effectLst/>
                          <a:latin typeface="SimHei" panose="02010609060101010101" pitchFamily="49" charset="-122"/>
                          <a:ea typeface="SimHei" panose="02010609060101010101" pitchFamily="49" charset="-122"/>
                        </a:rPr>
                        <a:t>10.0</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269240" marR="0" eaLnBrk="0">
                        <a:lnSpc>
                          <a:spcPct val="76000"/>
                        </a:lnSpc>
                        <a:spcBef>
                          <a:spcPts val="940"/>
                        </a:spcBef>
                        <a:spcAft>
                          <a:spcPts val="0"/>
                        </a:spcAft>
                      </a:pPr>
                      <a:r>
                        <a:rPr lang="en-US" sz="1800" spc="-15">
                          <a:effectLst/>
                          <a:latin typeface="SimHei" panose="02010609060101010101" pitchFamily="49" charset="-122"/>
                          <a:ea typeface="SimHei" panose="02010609060101010101" pitchFamily="49" charset="-122"/>
                        </a:rPr>
                        <a:t>2.0</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104775" marR="0" eaLnBrk="0">
                        <a:lnSpc>
                          <a:spcPct val="91000"/>
                        </a:lnSpc>
                        <a:spcBef>
                          <a:spcPts val="675"/>
                        </a:spcBef>
                        <a:spcAft>
                          <a:spcPts val="0"/>
                        </a:spcAft>
                      </a:pPr>
                      <a:r>
                        <a:rPr lang="zh-CN" sz="1800" b="1" spc="5" dirty="0">
                          <a:effectLst/>
                          <a:latin typeface="SimHei" panose="02010609060101010101" pitchFamily="49" charset="-122"/>
                          <a:ea typeface="SimHei" panose="02010609060101010101" pitchFamily="49" charset="-122"/>
                        </a:rPr>
                        <a:t>单甘油酯和双甘油酯</a:t>
                      </a:r>
                      <a:endParaRPr lang="en-US" sz="1800" b="1" dirty="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92075" marR="0" eaLnBrk="0">
                        <a:lnSpc>
                          <a:spcPct val="76000"/>
                        </a:lnSpc>
                        <a:spcBef>
                          <a:spcPts val="935"/>
                        </a:spcBef>
                        <a:spcAft>
                          <a:spcPts val="0"/>
                        </a:spcAft>
                      </a:pPr>
                      <a:r>
                        <a:rPr lang="en-US" sz="1800" spc="-10">
                          <a:effectLst/>
                          <a:latin typeface="SimHei" panose="02010609060101010101" pitchFamily="49" charset="-122"/>
                          <a:ea typeface="SimHei" panose="02010609060101010101" pitchFamily="49" charset="-122"/>
                        </a:rPr>
                        <a:t>3.0</a:t>
                      </a:r>
                      <a:r>
                        <a:rPr lang="zh-CN" sz="1800" spc="-10">
                          <a:effectLst/>
                          <a:latin typeface="SimHei" panose="02010609060101010101" pitchFamily="49" charset="-122"/>
                          <a:ea typeface="SimHei" panose="02010609060101010101" pitchFamily="49" charset="-122"/>
                        </a:rPr>
                        <a:t>～</a:t>
                      </a:r>
                      <a:r>
                        <a:rPr lang="en-US" sz="1800" spc="-10">
                          <a:effectLst/>
                          <a:latin typeface="SimHei" panose="02010609060101010101" pitchFamily="49" charset="-122"/>
                          <a:ea typeface="SimHei" panose="02010609060101010101" pitchFamily="49" charset="-122"/>
                        </a:rPr>
                        <a:t>13.5</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250825" marR="0" eaLnBrk="0">
                        <a:lnSpc>
                          <a:spcPct val="76000"/>
                        </a:lnSpc>
                        <a:spcBef>
                          <a:spcPts val="935"/>
                        </a:spcBef>
                        <a:spcAft>
                          <a:spcPts val="0"/>
                        </a:spcAft>
                      </a:pPr>
                      <a:r>
                        <a:rPr lang="en-US" sz="1800" spc="-25">
                          <a:effectLst/>
                          <a:latin typeface="SimHei" panose="02010609060101010101" pitchFamily="49" charset="-122"/>
                          <a:ea typeface="SimHei" panose="02010609060101010101" pitchFamily="49" charset="-122"/>
                        </a:rPr>
                        <a:t>10.5</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extLst>
                  <a:ext uri="{0D108BD9-81ED-4DB2-BD59-A6C34878D82A}">
                    <a16:rowId xmlns:a16="http://schemas.microsoft.com/office/drawing/2014/main" val="592741117"/>
                  </a:ext>
                </a:extLst>
              </a:tr>
              <a:tr h="571014">
                <a:tc>
                  <a:txBody>
                    <a:bodyPr/>
                    <a:lstStyle/>
                    <a:p>
                      <a:pPr marL="100965" marR="0" eaLnBrk="0">
                        <a:lnSpc>
                          <a:spcPct val="91000"/>
                        </a:lnSpc>
                        <a:spcBef>
                          <a:spcPts val="675"/>
                        </a:spcBef>
                        <a:spcAft>
                          <a:spcPts val="0"/>
                        </a:spcAft>
                      </a:pPr>
                      <a:r>
                        <a:rPr lang="zh-CN" sz="1800" spc="20">
                          <a:effectLst/>
                          <a:latin typeface="SimHei" panose="02010609060101010101" pitchFamily="49" charset="-122"/>
                          <a:ea typeface="SimHei" panose="02010609060101010101" pitchFamily="49" charset="-122"/>
                        </a:rPr>
                        <a:t>蜡类</a:t>
                      </a:r>
                      <a:r>
                        <a:rPr lang="en-US" sz="1800" spc="20">
                          <a:effectLst/>
                          <a:latin typeface="SimHei" panose="02010609060101010101" pitchFamily="49" charset="-122"/>
                          <a:ea typeface="SimHei" panose="02010609060101010101" pitchFamily="49" charset="-122"/>
                        </a:rPr>
                        <a:t>(</a:t>
                      </a:r>
                      <a:r>
                        <a:rPr lang="zh-CN" sz="1800" spc="20">
                          <a:effectLst/>
                          <a:latin typeface="SimHei" panose="02010609060101010101" pitchFamily="49" charset="-122"/>
                          <a:ea typeface="SimHei" panose="02010609060101010101" pitchFamily="49" charset="-122"/>
                        </a:rPr>
                        <a:t>硬脂酸酯以外的</a:t>
                      </a:r>
                      <a:r>
                        <a:rPr lang="en-US" sz="1800" spc="20">
                          <a:effectLst/>
                          <a:latin typeface="SimHei" panose="02010609060101010101" pitchFamily="49" charset="-122"/>
                          <a:ea typeface="SimHei" panose="02010609060101010101" pitchFamily="49" charset="-122"/>
                        </a:rPr>
                        <a:t>)</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104140" marR="0" eaLnBrk="0">
                        <a:lnSpc>
                          <a:spcPct val="76000"/>
                        </a:lnSpc>
                        <a:spcBef>
                          <a:spcPts val="940"/>
                        </a:spcBef>
                        <a:spcAft>
                          <a:spcPts val="0"/>
                        </a:spcAft>
                      </a:pPr>
                      <a:r>
                        <a:rPr lang="en-US" sz="1800" spc="-15">
                          <a:effectLst/>
                          <a:latin typeface="SimHei" panose="02010609060101010101" pitchFamily="49" charset="-122"/>
                          <a:ea typeface="SimHei" panose="02010609060101010101" pitchFamily="49" charset="-122"/>
                        </a:rPr>
                        <a:t>12.3</a:t>
                      </a:r>
                      <a:r>
                        <a:rPr lang="zh-CN" sz="1800" spc="-15">
                          <a:effectLst/>
                          <a:latin typeface="SimHei" panose="02010609060101010101" pitchFamily="49" charset="-122"/>
                          <a:ea typeface="SimHei" panose="02010609060101010101" pitchFamily="49" charset="-122"/>
                        </a:rPr>
                        <a:t>～</a:t>
                      </a:r>
                      <a:r>
                        <a:rPr lang="en-US" sz="1800" spc="-15">
                          <a:effectLst/>
                          <a:latin typeface="SimHei" panose="02010609060101010101" pitchFamily="49" charset="-122"/>
                          <a:ea typeface="SimHei" panose="02010609060101010101" pitchFamily="49" charset="-122"/>
                        </a:rPr>
                        <a:t>25.0</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237490" marR="0" eaLnBrk="0">
                        <a:lnSpc>
                          <a:spcPct val="76000"/>
                        </a:lnSpc>
                        <a:spcBef>
                          <a:spcPts val="945"/>
                        </a:spcBef>
                        <a:spcAft>
                          <a:spcPts val="0"/>
                        </a:spcAft>
                      </a:pPr>
                      <a:r>
                        <a:rPr lang="en-US" sz="1800" spc="-15">
                          <a:effectLst/>
                          <a:latin typeface="SimHei" panose="02010609060101010101" pitchFamily="49" charset="-122"/>
                          <a:ea typeface="SimHei" panose="02010609060101010101" pitchFamily="49" charset="-122"/>
                        </a:rPr>
                        <a:t>20.0</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104775" marR="0" eaLnBrk="0">
                        <a:lnSpc>
                          <a:spcPct val="91000"/>
                        </a:lnSpc>
                        <a:spcBef>
                          <a:spcPts val="675"/>
                        </a:spcBef>
                        <a:spcAft>
                          <a:spcPts val="0"/>
                        </a:spcAft>
                      </a:pPr>
                      <a:r>
                        <a:rPr lang="zh-CN" sz="1800" b="1" dirty="0">
                          <a:effectLst/>
                          <a:latin typeface="SimHei" panose="02010609060101010101" pitchFamily="49" charset="-122"/>
                          <a:ea typeface="SimHei" panose="02010609060101010101" pitchFamily="49" charset="-122"/>
                        </a:rPr>
                        <a:t>未确定成分和微量成分</a:t>
                      </a:r>
                      <a:endParaRPr lang="en-US" sz="1800" b="1" dirty="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92075" marR="0" eaLnBrk="0">
                        <a:lnSpc>
                          <a:spcPct val="76000"/>
                        </a:lnSpc>
                        <a:spcBef>
                          <a:spcPts val="940"/>
                        </a:spcBef>
                        <a:spcAft>
                          <a:spcPts val="0"/>
                        </a:spcAft>
                      </a:pPr>
                      <a:r>
                        <a:rPr lang="en-US" sz="1800" spc="-10">
                          <a:effectLst/>
                          <a:latin typeface="SimHei" panose="02010609060101010101" pitchFamily="49" charset="-122"/>
                          <a:ea typeface="SimHei" panose="02010609060101010101" pitchFamily="49" charset="-122"/>
                        </a:rPr>
                        <a:t>5.0</a:t>
                      </a:r>
                      <a:r>
                        <a:rPr lang="zh-CN" sz="1800" spc="-10">
                          <a:effectLst/>
                          <a:latin typeface="SimHei" panose="02010609060101010101" pitchFamily="49" charset="-122"/>
                          <a:ea typeface="SimHei" panose="02010609060101010101" pitchFamily="49" charset="-122"/>
                        </a:rPr>
                        <a:t>～</a:t>
                      </a:r>
                      <a:r>
                        <a:rPr lang="en-US" sz="1800" spc="-10">
                          <a:effectLst/>
                          <a:latin typeface="SimHei" panose="02010609060101010101" pitchFamily="49" charset="-122"/>
                          <a:ea typeface="SimHei" panose="02010609060101010101" pitchFamily="49" charset="-122"/>
                        </a:rPr>
                        <a:t>12.0</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282575" marR="0" eaLnBrk="0">
                        <a:lnSpc>
                          <a:spcPct val="76000"/>
                        </a:lnSpc>
                        <a:spcBef>
                          <a:spcPts val="945"/>
                        </a:spcBef>
                        <a:spcAft>
                          <a:spcPts val="0"/>
                        </a:spcAft>
                      </a:pPr>
                      <a:r>
                        <a:rPr lang="en-US" sz="1800" spc="-15">
                          <a:effectLst/>
                          <a:latin typeface="SimHei" panose="02010609060101010101" pitchFamily="49" charset="-122"/>
                          <a:ea typeface="SimHei" panose="02010609060101010101" pitchFamily="49" charset="-122"/>
                        </a:rPr>
                        <a:t>8.0</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extLst>
                  <a:ext uri="{0D108BD9-81ED-4DB2-BD59-A6C34878D82A}">
                    <a16:rowId xmlns:a16="http://schemas.microsoft.com/office/drawing/2014/main" val="4048586285"/>
                  </a:ext>
                </a:extLst>
              </a:tr>
              <a:tr h="388546">
                <a:tc>
                  <a:txBody>
                    <a:bodyPr/>
                    <a:lstStyle/>
                    <a:p>
                      <a:pPr marL="100965" marR="0" eaLnBrk="0">
                        <a:lnSpc>
                          <a:spcPct val="92000"/>
                        </a:lnSpc>
                        <a:spcBef>
                          <a:spcPts val="690"/>
                        </a:spcBef>
                        <a:spcAft>
                          <a:spcPts val="0"/>
                        </a:spcAft>
                      </a:pPr>
                      <a:r>
                        <a:rPr lang="zh-CN" sz="1800" spc="15" dirty="0">
                          <a:effectLst/>
                          <a:latin typeface="SimHei" panose="02010609060101010101" pitchFamily="49" charset="-122"/>
                          <a:ea typeface="SimHei" panose="02010609060101010101" pitchFamily="49" charset="-122"/>
                        </a:rPr>
                        <a:t>硬脂酸酯</a:t>
                      </a:r>
                      <a:endParaRPr lang="en-US" sz="1800" dirty="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173990" marR="0" eaLnBrk="0">
                        <a:lnSpc>
                          <a:spcPct val="76000"/>
                        </a:lnSpc>
                        <a:spcBef>
                          <a:spcPts val="950"/>
                        </a:spcBef>
                        <a:spcAft>
                          <a:spcPts val="0"/>
                        </a:spcAft>
                      </a:pPr>
                      <a:r>
                        <a:rPr lang="en-US" sz="1800" spc="-20">
                          <a:effectLst/>
                          <a:latin typeface="SimHei" panose="02010609060101010101" pitchFamily="49" charset="-122"/>
                          <a:ea typeface="SimHei" panose="02010609060101010101" pitchFamily="49" charset="-122"/>
                        </a:rPr>
                        <a:t>1.5</a:t>
                      </a:r>
                      <a:r>
                        <a:rPr lang="zh-CN" sz="1800" spc="-20">
                          <a:effectLst/>
                          <a:latin typeface="SimHei" panose="02010609060101010101" pitchFamily="49" charset="-122"/>
                          <a:ea typeface="SimHei" panose="02010609060101010101" pitchFamily="49" charset="-122"/>
                        </a:rPr>
                        <a:t>～</a:t>
                      </a:r>
                      <a:r>
                        <a:rPr lang="en-US" sz="1800" spc="-20">
                          <a:effectLst/>
                          <a:latin typeface="SimHei" panose="02010609060101010101" pitchFamily="49" charset="-122"/>
                          <a:ea typeface="SimHei" panose="02010609060101010101" pitchFamily="49" charset="-122"/>
                        </a:rPr>
                        <a:t>4.5</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269240" marR="0" eaLnBrk="0">
                        <a:lnSpc>
                          <a:spcPct val="76000"/>
                        </a:lnSpc>
                        <a:spcBef>
                          <a:spcPts val="955"/>
                        </a:spcBef>
                        <a:spcAft>
                          <a:spcPts val="0"/>
                        </a:spcAft>
                      </a:pPr>
                      <a:r>
                        <a:rPr lang="en-US" sz="1800" spc="-15">
                          <a:effectLst/>
                          <a:latin typeface="SimHei" panose="02010609060101010101" pitchFamily="49" charset="-122"/>
                          <a:ea typeface="SimHei" panose="02010609060101010101" pitchFamily="49" charset="-122"/>
                        </a:rPr>
                        <a:t>3.0</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0" marR="0" eaLnBrk="0">
                        <a:spcBef>
                          <a:spcPts val="0"/>
                        </a:spcBef>
                        <a:spcAft>
                          <a:spcPts val="0"/>
                        </a:spcAft>
                      </a:pPr>
                      <a:r>
                        <a:rPr lang="en-US" sz="1800">
                          <a:effectLst/>
                          <a:latin typeface="SimHei" panose="02010609060101010101" pitchFamily="49" charset="-122"/>
                          <a:ea typeface="SimHei" panose="02010609060101010101" pitchFamily="49" charset="-122"/>
                        </a:rPr>
                        <a:t> </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0" marR="0" eaLnBrk="0">
                        <a:spcBef>
                          <a:spcPts val="0"/>
                        </a:spcBef>
                        <a:spcAft>
                          <a:spcPts val="0"/>
                        </a:spcAft>
                      </a:pPr>
                      <a:r>
                        <a:rPr lang="en-US" sz="1800" dirty="0">
                          <a:effectLst/>
                          <a:latin typeface="SimHei" panose="02010609060101010101" pitchFamily="49" charset="-122"/>
                          <a:ea typeface="SimHei" panose="02010609060101010101" pitchFamily="49" charset="-122"/>
                        </a:rPr>
                        <a:t> </a:t>
                      </a:r>
                      <a:endParaRPr lang="en-US" sz="1800" dirty="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0" marR="0" eaLnBrk="0">
                        <a:spcBef>
                          <a:spcPts val="0"/>
                        </a:spcBef>
                        <a:spcAft>
                          <a:spcPts val="0"/>
                        </a:spcAft>
                      </a:pPr>
                      <a:r>
                        <a:rPr lang="en-US" sz="1800" dirty="0">
                          <a:effectLst/>
                          <a:latin typeface="SimHei" panose="02010609060101010101" pitchFamily="49" charset="-122"/>
                          <a:ea typeface="SimHei" panose="02010609060101010101" pitchFamily="49" charset="-122"/>
                        </a:rPr>
                        <a:t> </a:t>
                      </a:r>
                      <a:endParaRPr lang="en-US" sz="1800" dirty="0">
                        <a:solidFill>
                          <a:srgbClr val="000000"/>
                        </a:solidFill>
                        <a:effectLst/>
                        <a:latin typeface="SimHei" panose="02010609060101010101" pitchFamily="49" charset="-122"/>
                        <a:ea typeface="SimHei" panose="02010609060101010101" pitchFamily="49" charset="-122"/>
                      </a:endParaRPr>
                    </a:p>
                  </a:txBody>
                  <a:tcPr marL="0" marR="0" marT="0" marB="0"/>
                </a:tc>
                <a:extLst>
                  <a:ext uri="{0D108BD9-81ED-4DB2-BD59-A6C34878D82A}">
                    <a16:rowId xmlns:a16="http://schemas.microsoft.com/office/drawing/2014/main" val="3269470183"/>
                  </a:ext>
                </a:extLst>
              </a:tr>
            </a:tbl>
          </a:graphicData>
        </a:graphic>
      </p:graphicFrame>
    </p:spTree>
    <p:extLst>
      <p:ext uri="{BB962C8B-B14F-4D97-AF65-F5344CB8AC3E}">
        <p14:creationId xmlns:p14="http://schemas.microsoft.com/office/powerpoint/2010/main" val="10139303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15</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皮脂膜有重要的生理功能</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009721"/>
            <a:ext cx="8778240" cy="4893647"/>
          </a:xfrm>
          <a:prstGeom prst="rect">
            <a:avLst/>
          </a:prstGeom>
          <a:noFill/>
        </p:spPr>
        <p:txBody>
          <a:bodyPr wrap="square" rtlCol="0">
            <a:spAutoFit/>
          </a:bodyPr>
          <a:lstStyle/>
          <a:p>
            <a:pPr marL="342900" indent="-342900">
              <a:buFont typeface="Arial" panose="020B0604020202020204" pitchFamily="34" charset="0"/>
              <a:buChar char="•"/>
            </a:pPr>
            <a:r>
              <a:rPr lang="zh-CN" altLang="en-US" sz="2400" dirty="0">
                <a:latin typeface="+mn-lt"/>
                <a:ea typeface="SimHei" panose="02010609060101010101" pitchFamily="49" charset="-122"/>
              </a:rPr>
              <a:t>皮脂膜是由</a:t>
            </a:r>
            <a:r>
              <a:rPr lang="zh-CN" altLang="en-US" sz="2400" dirty="0">
                <a:solidFill>
                  <a:srgbClr val="0000FF"/>
                </a:solidFill>
                <a:latin typeface="+mn-lt"/>
                <a:ea typeface="SimHei" panose="02010609060101010101" pitchFamily="49" charset="-122"/>
              </a:rPr>
              <a:t>皮脂腺分泌的皮脂和水分乳化形成的薄膜</a:t>
            </a:r>
            <a:r>
              <a:rPr lang="zh-CN" altLang="en-US" sz="2400" dirty="0">
                <a:latin typeface="+mn-lt"/>
                <a:ea typeface="SimHei" panose="02010609060101010101" pitchFamily="49" charset="-122"/>
              </a:rPr>
              <a:t>，对皮肤乃至整个机体都有着重要的生理功能：</a:t>
            </a:r>
            <a:endParaRPr lang="en-US" altLang="zh-CN" sz="2400" dirty="0">
              <a:latin typeface="+mn-lt"/>
              <a:ea typeface="SimHei" panose="02010609060101010101" pitchFamily="49" charset="-122"/>
            </a:endParaRPr>
          </a:p>
          <a:p>
            <a:pPr marL="342900" indent="-342900">
              <a:buFont typeface="Arial" panose="020B0604020202020204" pitchFamily="34" charset="0"/>
              <a:buChar char="•"/>
            </a:pPr>
            <a:r>
              <a:rPr lang="zh-CN" altLang="en-US" sz="2400" b="1" dirty="0">
                <a:solidFill>
                  <a:srgbClr val="0000FF"/>
                </a:solidFill>
                <a:latin typeface="KaiTi" panose="02010609060101010101" pitchFamily="49" charset="-122"/>
                <a:ea typeface="KaiTi" panose="02010609060101010101" pitchFamily="49" charset="-122"/>
              </a:rPr>
              <a:t>屏障作用</a:t>
            </a:r>
            <a:r>
              <a:rPr lang="zh-CN" altLang="en-US" sz="2400" dirty="0">
                <a:latin typeface="KaiTi" panose="02010609060101010101" pitchFamily="49" charset="-122"/>
                <a:ea typeface="KaiTi" panose="02010609060101010101" pitchFamily="49" charset="-122"/>
              </a:rPr>
              <a:t>：皮脂膜是皮肤锁水最重要的一层，能有效锁住水分，防止皮肤水分的过度蒸发，并能防止外界水分及某些物质大量透入，其结果是皮肤的含水量保持正常状态。</a:t>
            </a:r>
            <a:endParaRPr lang="en-US" altLang="zh-CN" sz="2400" dirty="0">
              <a:latin typeface="KaiTi" panose="02010609060101010101" pitchFamily="49" charset="-122"/>
              <a:ea typeface="KaiTi" panose="02010609060101010101" pitchFamily="49" charset="-122"/>
            </a:endParaRPr>
          </a:p>
          <a:p>
            <a:pPr marL="342900" indent="-342900">
              <a:buFont typeface="Arial" panose="020B0604020202020204" pitchFamily="34" charset="0"/>
              <a:buChar char="•"/>
            </a:pPr>
            <a:r>
              <a:rPr lang="zh-CN" altLang="en-US" sz="2400" b="1" dirty="0">
                <a:solidFill>
                  <a:srgbClr val="0000FF"/>
                </a:solidFill>
                <a:latin typeface="KaiTi" panose="02010609060101010101" pitchFamily="49" charset="-122"/>
                <a:ea typeface="KaiTi" panose="02010609060101010101" pitchFamily="49" charset="-122"/>
              </a:rPr>
              <a:t>滋润作用</a:t>
            </a:r>
            <a:r>
              <a:rPr lang="zh-CN" altLang="en-US" sz="2400" dirty="0">
                <a:latin typeface="KaiTi" panose="02010609060101010101" pitchFamily="49" charset="-122"/>
                <a:ea typeface="KaiTi" panose="02010609060101010101" pitchFamily="49" charset="-122"/>
              </a:rPr>
              <a:t>：皮脂膜是由皮脂与水乳化而成，其脂质部分有效滋润皮肤，让皮肤保持润滑和滋养，而使皮肤柔韧、滑润、富有光泽；皮脂膜中的水分可使皮肤保持一定的湿润，防止干裂。</a:t>
            </a:r>
          </a:p>
          <a:p>
            <a:pPr marL="342900" indent="-342900">
              <a:buFont typeface="Arial" panose="020B0604020202020204" pitchFamily="34" charset="0"/>
              <a:buChar char="•"/>
            </a:pPr>
            <a:r>
              <a:rPr lang="zh-CN" altLang="en-US" sz="2400" b="1" dirty="0">
                <a:solidFill>
                  <a:srgbClr val="0000FF"/>
                </a:solidFill>
                <a:latin typeface="KaiTi" panose="02010609060101010101" pitchFamily="49" charset="-122"/>
                <a:ea typeface="KaiTi" panose="02010609060101010101" pitchFamily="49" charset="-122"/>
              </a:rPr>
              <a:t>抑菌作用</a:t>
            </a:r>
            <a:r>
              <a:rPr lang="zh-CN" altLang="en-US" sz="2400" dirty="0">
                <a:latin typeface="KaiTi" panose="02010609060101010101" pitchFamily="49" charset="-122"/>
                <a:ea typeface="KaiTi" panose="02010609060101010101" pitchFamily="49" charset="-122"/>
              </a:rPr>
              <a:t>：皮脂膜上生活着成千上万的细菌生物，这些细菌生物形成一层独特的生物屏障，不但能够防止微生物的感染，还可以分解脱落的角质细胞和多余的皮脂，维护正常的角质层厚度和皮脂膜的完整。由于皮脂膜的这一特性，被称为皮肤的第一层免疫层。</a:t>
            </a:r>
          </a:p>
        </p:txBody>
      </p:sp>
    </p:spTree>
    <p:extLst>
      <p:ext uri="{BB962C8B-B14F-4D97-AF65-F5344CB8AC3E}">
        <p14:creationId xmlns:p14="http://schemas.microsoft.com/office/powerpoint/2010/main" val="23334189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16</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皮肤的生理功能：屏障保护</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019842"/>
            <a:ext cx="8778240" cy="4814588"/>
          </a:xfrm>
          <a:prstGeom prst="rect">
            <a:avLst/>
          </a:prstGeom>
          <a:noFill/>
        </p:spPr>
        <p:txBody>
          <a:bodyPr wrap="square" rtlCol="0">
            <a:spAutoFit/>
          </a:bodyPr>
          <a:lstStyle/>
          <a:p>
            <a:pPr marL="342900" indent="-342900">
              <a:buFont typeface="Arial" panose="020B0604020202020204" pitchFamily="34" charset="0"/>
              <a:buChar char="•"/>
            </a:pPr>
            <a:r>
              <a:rPr lang="zh-CN" altLang="en-US" sz="2400" dirty="0">
                <a:latin typeface="+mn-lt"/>
                <a:ea typeface="SimHei" panose="02010609060101010101" pitchFamily="49" charset="-122"/>
              </a:rPr>
              <a:t>机械性损伤的防护</a:t>
            </a:r>
            <a:endParaRPr lang="en-US" altLang="zh-CN" sz="2400" dirty="0">
              <a:latin typeface="+mn-lt"/>
              <a:ea typeface="SimHei" panose="02010609060101010101" pitchFamily="49" charset="-122"/>
            </a:endParaRPr>
          </a:p>
          <a:p>
            <a:pPr marL="342900" indent="-342900">
              <a:buFont typeface="Arial" panose="020B0604020202020204" pitchFamily="34" charset="0"/>
              <a:buChar char="•"/>
            </a:pPr>
            <a:r>
              <a:rPr lang="zh-CN" altLang="en-US" sz="2400" dirty="0">
                <a:latin typeface="+mn-lt"/>
                <a:ea typeface="SimHei" panose="02010609060101010101" pitchFamily="49" charset="-122"/>
              </a:rPr>
              <a:t>对低电压、电流的防护</a:t>
            </a:r>
            <a:endParaRPr lang="en-US" altLang="zh-CN" sz="2400" dirty="0">
              <a:latin typeface="+mn-lt"/>
              <a:ea typeface="SimHei" panose="02010609060101010101" pitchFamily="49" charset="-122"/>
            </a:endParaRPr>
          </a:p>
          <a:p>
            <a:pPr marL="342900" indent="-342900">
              <a:buFont typeface="Arial" panose="020B0604020202020204" pitchFamily="34" charset="0"/>
              <a:buChar char="•"/>
            </a:pPr>
            <a:r>
              <a:rPr lang="zh-CN" altLang="en-US" sz="2400" dirty="0">
                <a:latin typeface="+mn-lt"/>
                <a:ea typeface="SimHei" panose="02010609060101010101" pitchFamily="49" charset="-122"/>
              </a:rPr>
              <a:t>对紫外线损伤的防护</a:t>
            </a:r>
            <a:endParaRPr lang="en-US" altLang="zh-CN" sz="2400" dirty="0">
              <a:latin typeface="+mn-lt"/>
              <a:ea typeface="SimHei" panose="02010609060101010101" pitchFamily="49" charset="-122"/>
            </a:endParaRPr>
          </a:p>
          <a:p>
            <a:pPr marR="71755" indent="393700" eaLnBrk="0">
              <a:lnSpc>
                <a:spcPct val="119000"/>
              </a:lnSpc>
              <a:spcBef>
                <a:spcPts val="0"/>
              </a:spcBef>
              <a:spcAft>
                <a:spcPts val="0"/>
              </a:spcAft>
            </a:pPr>
            <a:r>
              <a:rPr lang="zh-CN" sz="2000" b="1" spc="-30" dirty="0">
                <a:solidFill>
                  <a:srgbClr val="0000FF"/>
                </a:solidFill>
                <a:effectLst/>
                <a:latin typeface="KaiTi" panose="02010609060101010101" pitchFamily="49" charset="-122"/>
                <a:ea typeface="KaiTi" panose="02010609060101010101" pitchFamily="49" charset="-122"/>
                <a:cs typeface="SimSun" panose="02010600030101010101" pitchFamily="2" charset="-122"/>
              </a:rPr>
              <a:t>角质层可将大部分日光反射回去，又可过滤大部分透</a:t>
            </a:r>
            <a:r>
              <a:rPr lang="zh-CN" sz="2000" b="1" spc="-25" dirty="0">
                <a:solidFill>
                  <a:srgbClr val="0000FF"/>
                </a:solidFill>
                <a:effectLst/>
                <a:latin typeface="KaiTi" panose="02010609060101010101" pitchFamily="49" charset="-122"/>
                <a:ea typeface="KaiTi" panose="02010609060101010101" pitchFamily="49" charset="-122"/>
                <a:cs typeface="SimSun" panose="02010600030101010101" pitchFamily="2" charset="-122"/>
              </a:rPr>
              <a:t>入表皮的紫外线，以保护机体内的器官和组织免受光的损伤。</a:t>
            </a:r>
            <a:r>
              <a:rPr lang="zh-CN" sz="2000" spc="-25" dirty="0">
                <a:solidFill>
                  <a:srgbClr val="000000"/>
                </a:solidFill>
                <a:effectLst/>
                <a:latin typeface="KaiTi" panose="02010609060101010101" pitchFamily="49" charset="-122"/>
                <a:ea typeface="KaiTi" panose="02010609060101010101" pitchFamily="49" charset="-122"/>
                <a:cs typeface="SimSun" panose="02010600030101010101" pitchFamily="2" charset="-122"/>
              </a:rPr>
              <a:t>皮肤防护光的能力与其</a:t>
            </a:r>
            <a:r>
              <a:rPr lang="zh-CN" sz="2000" dirty="0">
                <a:solidFill>
                  <a:srgbClr val="000000"/>
                </a:solidFill>
                <a:effectLst/>
                <a:latin typeface="KaiTi" panose="02010609060101010101" pitchFamily="49" charset="-122"/>
                <a:ea typeface="KaiTi" panose="02010609060101010101" pitchFamily="49" charset="-122"/>
                <a:cs typeface="SimSun" panose="02010600030101010101" pitchFamily="2" charset="-122"/>
              </a:rPr>
              <a:t>组织结构有密切关系。如角质层的角化细胞交错排</a:t>
            </a:r>
            <a:r>
              <a:rPr lang="zh-CN" sz="2000" spc="-5" dirty="0">
                <a:solidFill>
                  <a:srgbClr val="000000"/>
                </a:solidFill>
                <a:effectLst/>
                <a:latin typeface="KaiTi" panose="02010609060101010101" pitchFamily="49" charset="-122"/>
                <a:ea typeface="KaiTi" panose="02010609060101010101" pitchFamily="49" charset="-122"/>
                <a:cs typeface="SimSun" panose="02010600030101010101" pitchFamily="2" charset="-122"/>
              </a:rPr>
              <a:t>列，可吸收大量的短波紫外线</a:t>
            </a:r>
            <a:r>
              <a:rPr lang="en-US" sz="2000" spc="-5" dirty="0">
                <a:solidFill>
                  <a:srgbClr val="000000"/>
                </a:solidFill>
                <a:effectLst/>
                <a:latin typeface="KaiTi" panose="02010609060101010101" pitchFamily="49" charset="-122"/>
                <a:ea typeface="KaiTi" panose="02010609060101010101" pitchFamily="49" charset="-122"/>
                <a:cs typeface="SimSun" panose="02010600030101010101" pitchFamily="2" charset="-122"/>
              </a:rPr>
              <a:t>(</a:t>
            </a:r>
            <a:r>
              <a:rPr lang="zh-CN" sz="2000" spc="-5" dirty="0">
                <a:solidFill>
                  <a:srgbClr val="000000"/>
                </a:solidFill>
                <a:effectLst/>
                <a:latin typeface="KaiTi" panose="02010609060101010101" pitchFamily="49" charset="-122"/>
                <a:ea typeface="KaiTi" panose="02010609060101010101" pitchFamily="49" charset="-122"/>
                <a:cs typeface="SimSun" panose="02010600030101010101" pitchFamily="2" charset="-122"/>
              </a:rPr>
              <a:t>波</a:t>
            </a:r>
            <a:r>
              <a:rPr lang="zh-CN" sz="2000" spc="-10" dirty="0">
                <a:solidFill>
                  <a:srgbClr val="000000"/>
                </a:solidFill>
                <a:effectLst/>
                <a:latin typeface="KaiTi" panose="02010609060101010101" pitchFamily="49" charset="-122"/>
                <a:ea typeface="KaiTi" panose="02010609060101010101" pitchFamily="49" charset="-122"/>
                <a:cs typeface="SimSun" panose="02010600030101010101" pitchFamily="2" charset="-122"/>
              </a:rPr>
              <a:t>长为</a:t>
            </a:r>
            <a:r>
              <a:rPr lang="en-US" sz="2000" spc="-10" dirty="0">
                <a:solidFill>
                  <a:srgbClr val="000000"/>
                </a:solidFill>
                <a:effectLst/>
                <a:latin typeface="KaiTi" panose="02010609060101010101" pitchFamily="49" charset="-122"/>
                <a:ea typeface="KaiTi" panose="02010609060101010101" pitchFamily="49" charset="-122"/>
                <a:cs typeface="SimSun" panose="02010600030101010101" pitchFamily="2" charset="-122"/>
              </a:rPr>
              <a:t>180</a:t>
            </a:r>
            <a:r>
              <a:rPr lang="zh-CN" sz="2000" spc="-10" dirty="0">
                <a:solidFill>
                  <a:srgbClr val="000000"/>
                </a:solidFill>
                <a:effectLst/>
                <a:latin typeface="KaiTi" panose="02010609060101010101" pitchFamily="49" charset="-122"/>
                <a:ea typeface="KaiTi" panose="02010609060101010101" pitchFamily="49" charset="-122"/>
                <a:cs typeface="SimSun" panose="02010600030101010101" pitchFamily="2" charset="-122"/>
              </a:rPr>
              <a:t>～</a:t>
            </a:r>
            <a:r>
              <a:rPr lang="en-US" sz="2000" spc="-10" dirty="0">
                <a:solidFill>
                  <a:srgbClr val="000000"/>
                </a:solidFill>
                <a:effectLst/>
                <a:latin typeface="KaiTi" panose="02010609060101010101" pitchFamily="49" charset="-122"/>
                <a:ea typeface="KaiTi" panose="02010609060101010101" pitchFamily="49" charset="-122"/>
                <a:cs typeface="SimSun" panose="02010600030101010101" pitchFamily="2" charset="-122"/>
              </a:rPr>
              <a:t>280 nm),</a:t>
            </a:r>
            <a:r>
              <a:rPr lang="zh-CN" sz="2000" spc="-10" dirty="0">
                <a:solidFill>
                  <a:srgbClr val="000000"/>
                </a:solidFill>
                <a:effectLst/>
                <a:latin typeface="KaiTi" panose="02010609060101010101" pitchFamily="49" charset="-122"/>
                <a:ea typeface="KaiTi" panose="02010609060101010101" pitchFamily="49" charset="-122"/>
                <a:cs typeface="SimSun" panose="02010600030101010101" pitchFamily="2" charset="-122"/>
              </a:rPr>
              <a:t>使透入表皮的紫外线发生散射，减轻直接照射的作用。基底层中</a:t>
            </a:r>
            <a:r>
              <a:rPr lang="zh-CN" sz="2000" spc="-30" dirty="0">
                <a:solidFill>
                  <a:srgbClr val="000000"/>
                </a:solidFill>
                <a:effectLst/>
                <a:latin typeface="KaiTi" panose="02010609060101010101" pitchFamily="49" charset="-122"/>
                <a:ea typeface="KaiTi" panose="02010609060101010101" pitchFamily="49" charset="-122"/>
                <a:cs typeface="SimSun" panose="02010600030101010101" pitchFamily="2" charset="-122"/>
              </a:rPr>
              <a:t>的黑素细胞对防止紫外线损伤有重要的作用，黑素细胞产生的黑素颗粒输送到角朊细</a:t>
            </a:r>
            <a:r>
              <a:rPr lang="zh-CN" sz="2000" spc="-25" dirty="0">
                <a:solidFill>
                  <a:srgbClr val="000000"/>
                </a:solidFill>
                <a:effectLst/>
                <a:latin typeface="KaiTi" panose="02010609060101010101" pitchFamily="49" charset="-122"/>
                <a:ea typeface="KaiTi" panose="02010609060101010101" pitchFamily="49" charset="-122"/>
                <a:cs typeface="SimSun" panose="02010600030101010101" pitchFamily="2" charset="-122"/>
              </a:rPr>
              <a:t>胞中，</a:t>
            </a:r>
            <a:r>
              <a:rPr lang="zh-CN" sz="2000" b="1" spc="-25" dirty="0">
                <a:solidFill>
                  <a:srgbClr val="0000FF"/>
                </a:solidFill>
                <a:effectLst/>
                <a:latin typeface="KaiTi" panose="02010609060101010101" pitchFamily="49" charset="-122"/>
                <a:ea typeface="KaiTi" panose="02010609060101010101" pitchFamily="49" charset="-122"/>
                <a:cs typeface="SimSun" panose="02010600030101010101" pitchFamily="2" charset="-122"/>
              </a:rPr>
              <a:t>黑素能吸收较多的紫外线以及一些可见光和近红</a:t>
            </a:r>
            <a:r>
              <a:rPr lang="zh-CN" sz="2000" b="1" spc="-30" dirty="0">
                <a:solidFill>
                  <a:srgbClr val="0000FF"/>
                </a:solidFill>
                <a:effectLst/>
                <a:latin typeface="KaiTi" panose="02010609060101010101" pitchFamily="49" charset="-122"/>
                <a:ea typeface="KaiTi" panose="02010609060101010101" pitchFamily="49" charset="-122"/>
                <a:cs typeface="SimSun" panose="02010600030101010101" pitchFamily="2" charset="-122"/>
              </a:rPr>
              <a:t>外线等，是防止紫外线透入真</a:t>
            </a:r>
            <a:r>
              <a:rPr lang="zh-CN" sz="2000" b="1" spc="-35" dirty="0">
                <a:solidFill>
                  <a:srgbClr val="0000FF"/>
                </a:solidFill>
                <a:effectLst/>
                <a:latin typeface="KaiTi" panose="02010609060101010101" pitchFamily="49" charset="-122"/>
                <a:ea typeface="KaiTi" panose="02010609060101010101" pitchFamily="49" charset="-122"/>
                <a:cs typeface="SimSun" panose="02010600030101010101" pitchFamily="2" charset="-122"/>
              </a:rPr>
              <a:t>皮的重要屏障。</a:t>
            </a:r>
            <a:r>
              <a:rPr lang="zh-CN" sz="2000" spc="-35" dirty="0">
                <a:solidFill>
                  <a:srgbClr val="000000"/>
                </a:solidFill>
                <a:effectLst/>
                <a:latin typeface="KaiTi" panose="02010609060101010101" pitchFamily="49" charset="-122"/>
                <a:ea typeface="KaiTi" panose="02010609060101010101" pitchFamily="49" charset="-122"/>
                <a:cs typeface="SimSun" panose="02010600030101010101" pitchFamily="2" charset="-122"/>
              </a:rPr>
              <a:t>进入真皮的光线，可被真皮黑素、血红蛋白及胆红素等</a:t>
            </a:r>
            <a:r>
              <a:rPr lang="zh-CN" sz="2000" spc="-40" dirty="0">
                <a:solidFill>
                  <a:srgbClr val="000000"/>
                </a:solidFill>
                <a:effectLst/>
                <a:latin typeface="KaiTi" panose="02010609060101010101" pitchFamily="49" charset="-122"/>
                <a:ea typeface="KaiTi" panose="02010609060101010101" pitchFamily="49" charset="-122"/>
                <a:cs typeface="SimSun" panose="02010600030101010101" pitchFamily="2" charset="-122"/>
              </a:rPr>
              <a:t>吸收。因此，</a:t>
            </a:r>
            <a:r>
              <a:rPr lang="zh-CN" sz="2000" spc="-25" dirty="0">
                <a:solidFill>
                  <a:srgbClr val="000000"/>
                </a:solidFill>
                <a:effectLst/>
                <a:latin typeface="KaiTi" panose="02010609060101010101" pitchFamily="49" charset="-122"/>
                <a:ea typeface="KaiTi" panose="02010609060101010101" pitchFamily="49" charset="-122"/>
                <a:cs typeface="SimSun" panose="02010600030101010101" pitchFamily="2" charset="-122"/>
              </a:rPr>
              <a:t>皮肤对光线有多种防御机制。</a:t>
            </a:r>
            <a:endParaRPr lang="en-US" altLang="zh-CN" sz="2000" spc="-25" dirty="0">
              <a:solidFill>
                <a:srgbClr val="000000"/>
              </a:solidFill>
              <a:effectLst/>
              <a:latin typeface="KaiTi" panose="02010609060101010101" pitchFamily="49" charset="-122"/>
              <a:ea typeface="KaiTi" panose="02010609060101010101" pitchFamily="49" charset="-122"/>
              <a:cs typeface="SimSun" panose="02010600030101010101" pitchFamily="2" charset="-122"/>
            </a:endParaRPr>
          </a:p>
          <a:p>
            <a:pPr marR="71755" indent="393700" eaLnBrk="0">
              <a:lnSpc>
                <a:spcPct val="119000"/>
              </a:lnSpc>
              <a:spcBef>
                <a:spcPts val="0"/>
              </a:spcBef>
              <a:spcAft>
                <a:spcPts val="0"/>
              </a:spcAft>
            </a:pPr>
            <a:r>
              <a:rPr lang="zh-CN" sz="2000" spc="-25" dirty="0">
                <a:solidFill>
                  <a:srgbClr val="000000"/>
                </a:solidFill>
                <a:effectLst/>
                <a:latin typeface="KaiTi" panose="02010609060101010101" pitchFamily="49" charset="-122"/>
                <a:ea typeface="KaiTi" panose="02010609060101010101" pitchFamily="49" charset="-122"/>
                <a:cs typeface="SimSun" panose="02010600030101010101" pitchFamily="2" charset="-122"/>
              </a:rPr>
              <a:t>故在正常情况下，皮肤能接受一定量的紫外线照</a:t>
            </a:r>
            <a:r>
              <a:rPr lang="zh-CN" sz="2000" spc="-30" dirty="0">
                <a:solidFill>
                  <a:srgbClr val="000000"/>
                </a:solidFill>
                <a:effectLst/>
                <a:latin typeface="KaiTi" panose="02010609060101010101" pitchFamily="49" charset="-122"/>
                <a:ea typeface="KaiTi" panose="02010609060101010101" pitchFamily="49" charset="-122"/>
                <a:cs typeface="SimSun" panose="02010600030101010101" pitchFamily="2" charset="-122"/>
              </a:rPr>
              <a:t>射而不</a:t>
            </a:r>
            <a:r>
              <a:rPr lang="zh-CN" sz="2000" spc="-45" dirty="0">
                <a:solidFill>
                  <a:srgbClr val="000000"/>
                </a:solidFill>
                <a:effectLst/>
                <a:latin typeface="KaiTi" panose="02010609060101010101" pitchFamily="49" charset="-122"/>
                <a:ea typeface="KaiTi" panose="02010609060101010101" pitchFamily="49" charset="-122"/>
                <a:cs typeface="SimSun" panose="02010600030101010101" pitchFamily="2" charset="-122"/>
              </a:rPr>
              <a:t>致有任何反应，而</a:t>
            </a:r>
            <a:r>
              <a:rPr lang="zh-CN" sz="2000" b="1" spc="-45" dirty="0">
                <a:solidFill>
                  <a:srgbClr val="0000FF"/>
                </a:solidFill>
                <a:effectLst/>
                <a:latin typeface="KaiTi" panose="02010609060101010101" pitchFamily="49" charset="-122"/>
                <a:ea typeface="KaiTi" panose="02010609060101010101" pitchFamily="49" charset="-122"/>
                <a:cs typeface="SimSun" panose="02010600030101010101" pitchFamily="2" charset="-122"/>
              </a:rPr>
              <a:t>肤色较深的皮肤比肤色较浅的皮肤对紫外线和日光有较好的耐受性</a:t>
            </a:r>
            <a:r>
              <a:rPr lang="zh-CN" sz="2000" spc="-45" dirty="0">
                <a:solidFill>
                  <a:srgbClr val="000000"/>
                </a:solidFill>
                <a:effectLst/>
                <a:latin typeface="KaiTi" panose="02010609060101010101" pitchFamily="49" charset="-122"/>
                <a:ea typeface="KaiTi" panose="02010609060101010101" pitchFamily="49" charset="-122"/>
                <a:cs typeface="SimSun" panose="02010600030101010101" pitchFamily="2" charset="-122"/>
              </a:rPr>
              <a:t>。</a:t>
            </a:r>
            <a:endParaRPr lang="en-US" altLang="zh-CN" sz="2800" dirty="0">
              <a:latin typeface="KaiTi" panose="02010609060101010101" pitchFamily="49" charset="-122"/>
              <a:ea typeface="KaiTi" panose="02010609060101010101" pitchFamily="49" charset="-122"/>
            </a:endParaRPr>
          </a:p>
        </p:txBody>
      </p:sp>
    </p:spTree>
    <p:extLst>
      <p:ext uri="{BB962C8B-B14F-4D97-AF65-F5344CB8AC3E}">
        <p14:creationId xmlns:p14="http://schemas.microsoft.com/office/powerpoint/2010/main" val="356153349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17</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皮肤的生理功能：屏障保护</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030114"/>
            <a:ext cx="8778240" cy="4991751"/>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对微生物的防疫作用</a:t>
            </a:r>
            <a:endParaRPr lang="en-US" altLang="zh-CN" sz="2400" dirty="0">
              <a:latin typeface="+mn-lt"/>
              <a:ea typeface="SimHei" panose="02010609060101010101" pitchFamily="49" charset="-122"/>
            </a:endParaRPr>
          </a:p>
          <a:p>
            <a:pPr>
              <a:lnSpc>
                <a:spcPct val="150000"/>
              </a:lnSpc>
            </a:pPr>
            <a:r>
              <a:rPr lang="en-US" altLang="zh-CN" sz="2400" dirty="0">
                <a:latin typeface="+mn-lt"/>
                <a:ea typeface="SimHei" panose="02010609060101010101" pitchFamily="49" charset="-122"/>
              </a:rPr>
              <a:t>	</a:t>
            </a:r>
            <a:r>
              <a:rPr lang="zh-CN" sz="2400" spc="-75" dirty="0">
                <a:solidFill>
                  <a:srgbClr val="000000"/>
                </a:solidFill>
                <a:effectLst/>
                <a:latin typeface="KaiTi" panose="02010609060101010101" pitchFamily="49" charset="-122"/>
                <a:ea typeface="KaiTi" panose="02010609060101010101" pitchFamily="49" charset="-122"/>
                <a:cs typeface="SimSun" panose="02010600030101010101" pitchFamily="2" charset="-122"/>
              </a:rPr>
              <a:t>皮肤有防御微生物侵犯的能力。首先，这与皮肤表面具有的酸性油脂膜有密</a:t>
            </a:r>
            <a:r>
              <a:rPr lang="zh-CN" sz="2400" spc="-45" dirty="0">
                <a:solidFill>
                  <a:srgbClr val="000000"/>
                </a:solidFill>
                <a:effectLst/>
                <a:latin typeface="KaiTi" panose="02010609060101010101" pitchFamily="49" charset="-122"/>
                <a:ea typeface="KaiTi" panose="02010609060101010101" pitchFamily="49" charset="-122"/>
                <a:cs typeface="SimSun" panose="02010600030101010101" pitchFamily="2" charset="-122"/>
              </a:rPr>
              <a:t>切关系，其</a:t>
            </a:r>
            <a:r>
              <a:rPr lang="en-US" sz="2400" b="1" spc="-45" dirty="0">
                <a:solidFill>
                  <a:srgbClr val="0000FF"/>
                </a:solidFill>
                <a:effectLst/>
                <a:latin typeface="KaiTi" panose="02010609060101010101" pitchFamily="49" charset="-122"/>
                <a:ea typeface="KaiTi" panose="02010609060101010101" pitchFamily="49" charset="-122"/>
                <a:cs typeface="SimSun" panose="02010600030101010101" pitchFamily="2" charset="-122"/>
              </a:rPr>
              <a:t>pH</a:t>
            </a:r>
            <a:r>
              <a:rPr lang="zh-CN" sz="2400" b="1" spc="-45" dirty="0">
                <a:solidFill>
                  <a:srgbClr val="0000FF"/>
                </a:solidFill>
                <a:effectLst/>
                <a:latin typeface="KaiTi" panose="02010609060101010101" pitchFamily="49" charset="-122"/>
                <a:ea typeface="KaiTi" panose="02010609060101010101" pitchFamily="49" charset="-122"/>
                <a:cs typeface="SimSun" panose="02010600030101010101" pitchFamily="2" charset="-122"/>
              </a:rPr>
              <a:t>在</a:t>
            </a:r>
            <a:r>
              <a:rPr lang="en-US" sz="2400" b="1" spc="-45" dirty="0">
                <a:solidFill>
                  <a:srgbClr val="0000FF"/>
                </a:solidFill>
                <a:effectLst/>
                <a:latin typeface="KaiTi" panose="02010609060101010101" pitchFamily="49" charset="-122"/>
                <a:ea typeface="KaiTi" panose="02010609060101010101" pitchFamily="49" charset="-122"/>
                <a:cs typeface="SimSun" panose="02010600030101010101" pitchFamily="2" charset="-122"/>
              </a:rPr>
              <a:t>4.5</a:t>
            </a:r>
            <a:r>
              <a:rPr lang="zh-CN" sz="2400" b="1" spc="-45" dirty="0">
                <a:solidFill>
                  <a:srgbClr val="0000FF"/>
                </a:solidFill>
                <a:effectLst/>
                <a:latin typeface="KaiTi" panose="02010609060101010101" pitchFamily="49" charset="-122"/>
                <a:ea typeface="KaiTi" panose="02010609060101010101" pitchFamily="49" charset="-122"/>
                <a:cs typeface="SimSun" panose="02010600030101010101" pitchFamily="2" charset="-122"/>
              </a:rPr>
              <a:t>～</a:t>
            </a:r>
            <a:r>
              <a:rPr lang="en-US" sz="2400" b="1" spc="-45" dirty="0">
                <a:solidFill>
                  <a:srgbClr val="0000FF"/>
                </a:solidFill>
                <a:effectLst/>
                <a:latin typeface="KaiTi" panose="02010609060101010101" pitchFamily="49" charset="-122"/>
                <a:ea typeface="KaiTi" panose="02010609060101010101" pitchFamily="49" charset="-122"/>
                <a:cs typeface="SimSun" panose="02010600030101010101" pitchFamily="2" charset="-122"/>
              </a:rPr>
              <a:t>6.5</a:t>
            </a:r>
            <a:r>
              <a:rPr lang="zh-CN" sz="2400" spc="-45" dirty="0">
                <a:solidFill>
                  <a:srgbClr val="000000"/>
                </a:solidFill>
                <a:effectLst/>
                <a:latin typeface="KaiTi" panose="02010609060101010101" pitchFamily="49" charset="-122"/>
                <a:ea typeface="KaiTi" panose="02010609060101010101" pitchFamily="49" charset="-122"/>
                <a:cs typeface="SimSun" panose="02010600030101010101" pitchFamily="2" charset="-122"/>
              </a:rPr>
              <a:t>左右，干燥皮肤表面和弱酸性的</a:t>
            </a:r>
            <a:r>
              <a:rPr lang="en-US" sz="2400" spc="-45" dirty="0">
                <a:solidFill>
                  <a:srgbClr val="000000"/>
                </a:solidFill>
                <a:effectLst/>
                <a:latin typeface="KaiTi" panose="02010609060101010101" pitchFamily="49" charset="-122"/>
                <a:ea typeface="KaiTi" panose="02010609060101010101" pitchFamily="49" charset="-122"/>
                <a:cs typeface="SimSun" panose="02010600030101010101" pitchFamily="2" charset="-122"/>
              </a:rPr>
              <a:t>pH</a:t>
            </a:r>
            <a:r>
              <a:rPr lang="zh-CN" sz="2400" spc="-45" dirty="0">
                <a:solidFill>
                  <a:srgbClr val="000000"/>
                </a:solidFill>
                <a:effectLst/>
                <a:latin typeface="KaiTi" panose="02010609060101010101" pitchFamily="49" charset="-122"/>
                <a:ea typeface="KaiTi" panose="02010609060101010101" pitchFamily="49" charset="-122"/>
                <a:cs typeface="SimSun" panose="02010600030101010101" pitchFamily="2" charset="-122"/>
              </a:rPr>
              <a:t>不利于</a:t>
            </a:r>
            <a:r>
              <a:rPr lang="zh-CN" sz="2400" spc="-50" dirty="0">
                <a:solidFill>
                  <a:srgbClr val="000000"/>
                </a:solidFill>
                <a:effectLst/>
                <a:latin typeface="KaiTi" panose="02010609060101010101" pitchFamily="49" charset="-122"/>
                <a:ea typeface="KaiTi" panose="02010609060101010101" pitchFamily="49" charset="-122"/>
                <a:cs typeface="SimSun" panose="02010600030101010101" pitchFamily="2" charset="-122"/>
              </a:rPr>
              <a:t>多数病菌的生</a:t>
            </a:r>
            <a:r>
              <a:rPr lang="zh-CN" sz="2400" spc="-75" dirty="0">
                <a:solidFill>
                  <a:srgbClr val="000000"/>
                </a:solidFill>
                <a:effectLst/>
                <a:latin typeface="KaiTi" panose="02010609060101010101" pitchFamily="49" charset="-122"/>
                <a:ea typeface="KaiTi" panose="02010609060101010101" pitchFamily="49" charset="-122"/>
                <a:cs typeface="SimSun" panose="02010600030101010101" pitchFamily="2" charset="-122"/>
              </a:rPr>
              <a:t>存和繁殖。</a:t>
            </a:r>
            <a:endParaRPr lang="en-US" altLang="zh-CN" sz="2400" dirty="0">
              <a:latin typeface="KaiTi" panose="02010609060101010101" pitchFamily="49" charset="-122"/>
              <a:ea typeface="KaiTi" panose="02010609060101010101" pitchFamily="49" charset="-122"/>
            </a:endParaRPr>
          </a:p>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防止体液丢失</a:t>
            </a:r>
            <a:endParaRPr lang="en-US" altLang="zh-CN" sz="2400" dirty="0">
              <a:latin typeface="+mn-lt"/>
              <a:ea typeface="SimHei" panose="02010609060101010101" pitchFamily="49" charset="-122"/>
            </a:endParaRPr>
          </a:p>
          <a:p>
            <a:pPr>
              <a:lnSpc>
                <a:spcPct val="150000"/>
              </a:lnSpc>
            </a:pPr>
            <a:r>
              <a:rPr lang="en-US" altLang="zh-CN" sz="2400" dirty="0">
                <a:latin typeface="+mn-lt"/>
                <a:ea typeface="SimHei" panose="02010609060101010101" pitchFamily="49" charset="-122"/>
              </a:rPr>
              <a:t>	</a:t>
            </a:r>
            <a:r>
              <a:rPr lang="zh-CN" sz="2400" b="1" spc="-35" dirty="0">
                <a:solidFill>
                  <a:srgbClr val="0000FF"/>
                </a:solidFill>
                <a:effectLst/>
                <a:latin typeface="KaiTi" panose="02010609060101010101" pitchFamily="49" charset="-122"/>
                <a:ea typeface="KaiTi" panose="02010609060101010101" pitchFamily="49" charset="-122"/>
                <a:cs typeface="SimSun" panose="02010600030101010101" pitchFamily="2" charset="-122"/>
              </a:rPr>
              <a:t>全身水分主要储存在皮肤中，皮肤储水量占全身的</a:t>
            </a:r>
            <a:r>
              <a:rPr lang="en-US" sz="2400" b="1" spc="-35" dirty="0">
                <a:solidFill>
                  <a:srgbClr val="0000FF"/>
                </a:solidFill>
                <a:effectLst/>
                <a:latin typeface="KaiTi" panose="02010609060101010101" pitchFamily="49" charset="-122"/>
                <a:ea typeface="KaiTi" panose="02010609060101010101" pitchFamily="49" charset="-122"/>
                <a:cs typeface="SimSun" panose="02010600030101010101" pitchFamily="2" charset="-122"/>
              </a:rPr>
              <a:t>18%</a:t>
            </a:r>
            <a:r>
              <a:rPr lang="zh-CN" sz="2400" b="1" spc="-35" dirty="0">
                <a:solidFill>
                  <a:srgbClr val="0000FF"/>
                </a:solidFill>
                <a:effectLst/>
                <a:latin typeface="KaiTi" panose="02010609060101010101" pitchFamily="49" charset="-122"/>
                <a:ea typeface="KaiTi" panose="02010609060101010101" pitchFamily="49" charset="-122"/>
                <a:cs typeface="SimSun" panose="02010600030101010101" pitchFamily="2" charset="-122"/>
              </a:rPr>
              <a:t>～</a:t>
            </a:r>
            <a:r>
              <a:rPr lang="en-US" sz="2400" b="1" spc="-35" dirty="0">
                <a:solidFill>
                  <a:srgbClr val="0000FF"/>
                </a:solidFill>
                <a:effectLst/>
                <a:latin typeface="KaiTi" panose="02010609060101010101" pitchFamily="49" charset="-122"/>
                <a:ea typeface="KaiTi" panose="02010609060101010101" pitchFamily="49" charset="-122"/>
                <a:cs typeface="SimSun" panose="02010600030101010101" pitchFamily="2" charset="-122"/>
              </a:rPr>
              <a:t>20%</a:t>
            </a:r>
            <a:r>
              <a:rPr lang="zh-CN" sz="2400" spc="-35" dirty="0">
                <a:solidFill>
                  <a:srgbClr val="000000"/>
                </a:solidFill>
                <a:effectLst/>
                <a:latin typeface="KaiTi" panose="02010609060101010101" pitchFamily="49" charset="-122"/>
                <a:ea typeface="KaiTi" panose="02010609060101010101" pitchFamily="49" charset="-122"/>
                <a:cs typeface="SimSun" panose="02010600030101010101" pitchFamily="2" charset="-122"/>
              </a:rPr>
              <a:t>。致密的角质层细</a:t>
            </a:r>
            <a:r>
              <a:rPr lang="zh-CN" sz="2400" spc="-75" dirty="0">
                <a:solidFill>
                  <a:srgbClr val="000000"/>
                </a:solidFill>
                <a:effectLst/>
                <a:latin typeface="KaiTi" panose="02010609060101010101" pitchFamily="49" charset="-122"/>
                <a:ea typeface="KaiTi" panose="02010609060101010101" pitchFamily="49" charset="-122"/>
                <a:cs typeface="SimSun" panose="02010600030101010101" pitchFamily="2" charset="-122"/>
              </a:rPr>
              <a:t>胞有抵抗弱酸、弱碱等化学物质的能力，对水分及一些化学物质有屏障作用，</a:t>
            </a:r>
            <a:r>
              <a:rPr lang="zh-CN" sz="2400" spc="-80" dirty="0">
                <a:solidFill>
                  <a:srgbClr val="000000"/>
                </a:solidFill>
                <a:effectLst/>
                <a:latin typeface="KaiTi" panose="02010609060101010101" pitchFamily="49" charset="-122"/>
                <a:ea typeface="KaiTi" panose="02010609060101010101" pitchFamily="49" charset="-122"/>
                <a:cs typeface="SimSun" panose="02010600030101010101" pitchFamily="2" charset="-122"/>
              </a:rPr>
              <a:t>因而可</a:t>
            </a:r>
            <a:r>
              <a:rPr lang="zh-CN" sz="2400" spc="-75" dirty="0">
                <a:solidFill>
                  <a:srgbClr val="000000"/>
                </a:solidFill>
                <a:effectLst/>
                <a:latin typeface="KaiTi" panose="02010609060101010101" pitchFamily="49" charset="-122"/>
                <a:ea typeface="KaiTi" panose="02010609060101010101" pitchFamily="49" charset="-122"/>
                <a:cs typeface="SimSun" panose="02010600030101010101" pitchFamily="2" charset="-122"/>
              </a:rPr>
              <a:t>以阻止体内液体的外渗和化学物质的内渗作用。</a:t>
            </a:r>
            <a:endParaRPr lang="en-US" altLang="zh-CN" sz="2400" dirty="0">
              <a:latin typeface="KaiTi" panose="02010609060101010101" pitchFamily="49" charset="-122"/>
              <a:ea typeface="KaiTi" panose="02010609060101010101" pitchFamily="49" charset="-122"/>
            </a:endParaRPr>
          </a:p>
        </p:txBody>
      </p:sp>
    </p:spTree>
    <p:extLst>
      <p:ext uri="{BB962C8B-B14F-4D97-AF65-F5344CB8AC3E}">
        <p14:creationId xmlns:p14="http://schemas.microsoft.com/office/powerpoint/2010/main" val="42692070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18</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皮肤的生理功能：分泌和排泄</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009721"/>
            <a:ext cx="8778240" cy="4991751"/>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solidFill>
                  <a:srgbClr val="0000FF"/>
                </a:solidFill>
                <a:latin typeface="+mn-lt"/>
                <a:ea typeface="SimHei" panose="02010609060101010101" pitchFamily="49" charset="-122"/>
              </a:rPr>
              <a:t>汗</a:t>
            </a:r>
            <a:r>
              <a:rPr lang="zh-CN" altLang="en-US" sz="2400" dirty="0">
                <a:latin typeface="+mn-lt"/>
                <a:ea typeface="SimHei" panose="02010609060101010101" pitchFamily="49" charset="-122"/>
              </a:rPr>
              <a:t>是皮脂的</a:t>
            </a:r>
            <a:r>
              <a:rPr lang="zh-CN" altLang="en-US" sz="2400" dirty="0">
                <a:solidFill>
                  <a:srgbClr val="0000FF"/>
                </a:solidFill>
                <a:latin typeface="+mn-lt"/>
                <a:ea typeface="SimHei" panose="02010609060101010101" pitchFamily="49" charset="-122"/>
              </a:rPr>
              <a:t>排泄</a:t>
            </a:r>
            <a:r>
              <a:rPr lang="zh-CN" altLang="en-US" sz="2400" dirty="0">
                <a:latin typeface="+mn-lt"/>
                <a:ea typeface="SimHei" panose="02010609060101010101" pitchFamily="49" charset="-122"/>
              </a:rPr>
              <a:t>作用，而</a:t>
            </a:r>
            <a:r>
              <a:rPr lang="zh-CN" altLang="en-US" sz="2400" dirty="0">
                <a:solidFill>
                  <a:srgbClr val="0000FF"/>
                </a:solidFill>
                <a:latin typeface="+mn-lt"/>
                <a:ea typeface="SimHei" panose="02010609060101010101" pitchFamily="49" charset="-122"/>
              </a:rPr>
              <a:t>皮脂</a:t>
            </a:r>
            <a:r>
              <a:rPr lang="zh-CN" altLang="en-US" sz="2400" dirty="0">
                <a:latin typeface="+mn-lt"/>
                <a:ea typeface="SimHei" panose="02010609060101010101" pitchFamily="49" charset="-122"/>
              </a:rPr>
              <a:t>则是皮肤的</a:t>
            </a:r>
            <a:r>
              <a:rPr lang="zh-CN" altLang="en-US" sz="2400" dirty="0">
                <a:solidFill>
                  <a:srgbClr val="0000FF"/>
                </a:solidFill>
                <a:latin typeface="+mn-lt"/>
                <a:ea typeface="SimHei" panose="02010609060101010101" pitchFamily="49" charset="-122"/>
              </a:rPr>
              <a:t>分泌</a:t>
            </a:r>
            <a:r>
              <a:rPr lang="zh-CN" altLang="en-US" sz="2400" dirty="0">
                <a:latin typeface="+mn-lt"/>
                <a:ea typeface="SimHei" panose="02010609060101010101" pitchFamily="49" charset="-122"/>
              </a:rPr>
              <a:t>作用</a:t>
            </a:r>
            <a:endParaRPr lang="en-US" altLang="zh-CN" sz="2400" dirty="0">
              <a:latin typeface="+mn-lt"/>
              <a:ea typeface="SimHei" panose="02010609060101010101" pitchFamily="49" charset="-122"/>
            </a:endParaRPr>
          </a:p>
          <a:p>
            <a:pPr>
              <a:lnSpc>
                <a:spcPct val="150000"/>
              </a:lnSpc>
            </a:pPr>
            <a:r>
              <a:rPr lang="en-US" altLang="zh-CN" sz="2400" dirty="0">
                <a:latin typeface="+mn-lt"/>
                <a:ea typeface="SimHei" panose="02010609060101010101" pitchFamily="49" charset="-122"/>
              </a:rPr>
              <a:t>	</a:t>
            </a:r>
            <a:r>
              <a:rPr lang="zh-CN" altLang="en-US" sz="2400" dirty="0">
                <a:latin typeface="KaiTi" panose="02010609060101010101" pitchFamily="49" charset="-122"/>
                <a:ea typeface="KaiTi" panose="02010609060101010101" pitchFamily="49" charset="-122"/>
              </a:rPr>
              <a:t>汗液主要由小汗腺分泌，小汗腺分布于全身，近</a:t>
            </a:r>
            <a:r>
              <a:rPr lang="en-US" altLang="zh-CN" sz="2400" dirty="0">
                <a:latin typeface="KaiTi" panose="02010609060101010101" pitchFamily="49" charset="-122"/>
                <a:ea typeface="KaiTi" panose="02010609060101010101" pitchFamily="49" charset="-122"/>
              </a:rPr>
              <a:t>200</a:t>
            </a:r>
            <a:r>
              <a:rPr lang="zh-CN" altLang="en-US" sz="2400" dirty="0">
                <a:latin typeface="KaiTi" panose="02010609060101010101" pitchFamily="49" charset="-122"/>
                <a:ea typeface="KaiTi" panose="02010609060101010101" pitchFamily="49" charset="-122"/>
              </a:rPr>
              <a:t>万个。汗液分泌量会影响汗液成分。小汗腺的汗液中含有</a:t>
            </a:r>
            <a:r>
              <a:rPr lang="en-US" altLang="zh-CN" sz="2400" dirty="0">
                <a:latin typeface="KaiTi" panose="02010609060101010101" pitchFamily="49" charset="-122"/>
                <a:ea typeface="KaiTi" panose="02010609060101010101" pitchFamily="49" charset="-122"/>
              </a:rPr>
              <a:t>99.0%</a:t>
            </a:r>
            <a:r>
              <a:rPr lang="zh-CN" altLang="en-US" sz="2400" dirty="0">
                <a:latin typeface="KaiTi" panose="02010609060101010101" pitchFamily="49" charset="-122"/>
                <a:ea typeface="KaiTi" panose="02010609060101010101" pitchFamily="49" charset="-122"/>
              </a:rPr>
              <a:t>～</a:t>
            </a:r>
            <a:r>
              <a:rPr lang="en-US" altLang="zh-CN" sz="2400" dirty="0">
                <a:latin typeface="KaiTi" panose="02010609060101010101" pitchFamily="49" charset="-122"/>
                <a:ea typeface="KaiTi" panose="02010609060101010101" pitchFamily="49" charset="-122"/>
              </a:rPr>
              <a:t>99.5%</a:t>
            </a:r>
            <a:r>
              <a:rPr lang="zh-CN" altLang="en-US" sz="2400" dirty="0">
                <a:latin typeface="KaiTi" panose="02010609060101010101" pitchFamily="49" charset="-122"/>
                <a:ea typeface="KaiTi" panose="02010609060101010101" pitchFamily="49" charset="-122"/>
              </a:rPr>
              <a:t>的水，以及</a:t>
            </a:r>
            <a:r>
              <a:rPr lang="en-US" altLang="zh-CN" sz="2400" dirty="0">
                <a:latin typeface="KaiTi" panose="02010609060101010101" pitchFamily="49" charset="-122"/>
                <a:ea typeface="KaiTi" panose="02010609060101010101" pitchFamily="49" charset="-122"/>
              </a:rPr>
              <a:t>0.5%</a:t>
            </a:r>
            <a:r>
              <a:rPr lang="zh-CN" altLang="en-US" sz="2400" dirty="0">
                <a:latin typeface="KaiTi" panose="02010609060101010101" pitchFamily="49" charset="-122"/>
                <a:ea typeface="KaiTi" panose="02010609060101010101" pitchFamily="49" charset="-122"/>
              </a:rPr>
              <a:t>～</a:t>
            </a:r>
            <a:r>
              <a:rPr lang="en-US" altLang="zh-CN" sz="2400" dirty="0">
                <a:latin typeface="KaiTi" panose="02010609060101010101" pitchFamily="49" charset="-122"/>
                <a:ea typeface="KaiTi" panose="02010609060101010101" pitchFamily="49" charset="-122"/>
              </a:rPr>
              <a:t>1.0%</a:t>
            </a:r>
            <a:r>
              <a:rPr lang="zh-CN" altLang="en-US" sz="2400" dirty="0">
                <a:latin typeface="KaiTi" panose="02010609060101010101" pitchFamily="49" charset="-122"/>
                <a:ea typeface="KaiTi" panose="02010609060101010101" pitchFamily="49" charset="-122"/>
              </a:rPr>
              <a:t>的无机盐及有机物质。</a:t>
            </a:r>
            <a:endParaRPr lang="en-US" altLang="zh-CN" sz="2400" dirty="0">
              <a:latin typeface="KaiTi" panose="02010609060101010101" pitchFamily="49" charset="-122"/>
              <a:ea typeface="KaiTi" panose="02010609060101010101" pitchFamily="49" charset="-122"/>
            </a:endParaRPr>
          </a:p>
          <a:p>
            <a:pPr>
              <a:lnSpc>
                <a:spcPct val="150000"/>
              </a:lnSpc>
            </a:pPr>
            <a:r>
              <a:rPr lang="en-US" altLang="zh-CN" sz="2400" spc="-75" dirty="0">
                <a:solidFill>
                  <a:srgbClr val="000000"/>
                </a:solidFill>
                <a:effectLst/>
                <a:latin typeface="KaiTi" panose="02010609060101010101" pitchFamily="49" charset="-122"/>
                <a:ea typeface="KaiTi" panose="02010609060101010101" pitchFamily="49" charset="-122"/>
                <a:cs typeface="SimSun" panose="02010600030101010101" pitchFamily="2" charset="-122"/>
              </a:rPr>
              <a:t>	</a:t>
            </a:r>
            <a:r>
              <a:rPr lang="zh-CN" sz="2400" spc="-75" dirty="0">
                <a:solidFill>
                  <a:srgbClr val="000000"/>
                </a:solidFill>
                <a:effectLst/>
                <a:latin typeface="KaiTi" panose="02010609060101010101" pitchFamily="49" charset="-122"/>
                <a:ea typeface="KaiTi" panose="02010609060101010101" pitchFamily="49" charset="-122"/>
                <a:cs typeface="SimSun" panose="02010600030101010101" pitchFamily="2" charset="-122"/>
              </a:rPr>
              <a:t>皮脂主要通过皮脂腺体分泌产生，成为覆盖皮肤和头皮的脂质膜。人体皮脂的组</a:t>
            </a:r>
            <a:r>
              <a:rPr lang="zh-CN" sz="2400" spc="90" dirty="0">
                <a:solidFill>
                  <a:srgbClr val="000000"/>
                </a:solidFill>
                <a:effectLst/>
                <a:latin typeface="KaiTi" panose="02010609060101010101" pitchFamily="49" charset="-122"/>
                <a:ea typeface="KaiTi" panose="02010609060101010101" pitchFamily="49" charset="-122"/>
                <a:cs typeface="SimSun" panose="02010600030101010101" pitchFamily="2" charset="-122"/>
              </a:rPr>
              <a:t>成</a:t>
            </a:r>
            <a:r>
              <a:rPr lang="en-US" sz="2400" spc="90" dirty="0">
                <a:solidFill>
                  <a:srgbClr val="000000"/>
                </a:solidFill>
                <a:effectLst/>
                <a:latin typeface="KaiTi" panose="02010609060101010101" pitchFamily="49" charset="-122"/>
                <a:ea typeface="KaiTi" panose="02010609060101010101" pitchFamily="49" charset="-122"/>
                <a:cs typeface="SimSun" panose="02010600030101010101" pitchFamily="2" charset="-122"/>
              </a:rPr>
              <a:t>(</a:t>
            </a:r>
            <a:r>
              <a:rPr lang="zh-CN" sz="2400" spc="90" dirty="0">
                <a:solidFill>
                  <a:srgbClr val="000000"/>
                </a:solidFill>
                <a:effectLst/>
                <a:latin typeface="KaiTi" panose="02010609060101010101" pitchFamily="49" charset="-122"/>
                <a:ea typeface="KaiTi" panose="02010609060101010101" pitchFamily="49" charset="-122"/>
                <a:cs typeface="SimSun" panose="02010600030101010101" pitchFamily="2" charset="-122"/>
              </a:rPr>
              <a:t>以质量分数计算</a:t>
            </a:r>
            <a:r>
              <a:rPr lang="en-US" sz="2400" spc="90" dirty="0">
                <a:solidFill>
                  <a:srgbClr val="000000"/>
                </a:solidFill>
                <a:effectLst/>
                <a:latin typeface="KaiTi" panose="02010609060101010101" pitchFamily="49" charset="-122"/>
                <a:ea typeface="KaiTi" panose="02010609060101010101" pitchFamily="49" charset="-122"/>
                <a:cs typeface="SimSun" panose="02010600030101010101" pitchFamily="2" charset="-122"/>
              </a:rPr>
              <a:t>)</a:t>
            </a:r>
            <a:r>
              <a:rPr lang="zh-CN" sz="2400" spc="90" dirty="0">
                <a:solidFill>
                  <a:srgbClr val="000000"/>
                </a:solidFill>
                <a:effectLst/>
                <a:latin typeface="KaiTi" panose="02010609060101010101" pitchFamily="49" charset="-122"/>
                <a:ea typeface="KaiTi" panose="02010609060101010101" pitchFamily="49" charset="-122"/>
                <a:cs typeface="SimSun" panose="02010600030101010101" pitchFamily="2" charset="-122"/>
              </a:rPr>
              <a:t>包括：角鲨烯</a:t>
            </a:r>
            <a:r>
              <a:rPr lang="en-US" sz="2400" spc="90" dirty="0">
                <a:solidFill>
                  <a:srgbClr val="000000"/>
                </a:solidFill>
                <a:effectLst/>
                <a:latin typeface="KaiTi" panose="02010609060101010101" pitchFamily="49" charset="-122"/>
                <a:ea typeface="KaiTi" panose="02010609060101010101" pitchFamily="49" charset="-122"/>
                <a:cs typeface="SimSun" panose="02010600030101010101" pitchFamily="2" charset="-122"/>
              </a:rPr>
              <a:t>(12%</a:t>
            </a:r>
            <a:r>
              <a:rPr lang="zh-CN" sz="2400" spc="90" dirty="0">
                <a:solidFill>
                  <a:srgbClr val="000000"/>
                </a:solidFill>
                <a:effectLst/>
                <a:latin typeface="KaiTi" panose="02010609060101010101" pitchFamily="49" charset="-122"/>
                <a:ea typeface="KaiTi" panose="02010609060101010101" pitchFamily="49" charset="-122"/>
                <a:cs typeface="SimSun" panose="02010600030101010101" pitchFamily="2" charset="-122"/>
              </a:rPr>
              <a:t>～</a:t>
            </a:r>
            <a:r>
              <a:rPr lang="en-US" sz="2400" spc="90" dirty="0">
                <a:solidFill>
                  <a:srgbClr val="000000"/>
                </a:solidFill>
                <a:effectLst/>
                <a:latin typeface="KaiTi" panose="02010609060101010101" pitchFamily="49" charset="-122"/>
                <a:ea typeface="KaiTi" panose="02010609060101010101" pitchFamily="49" charset="-122"/>
                <a:cs typeface="SimSun" panose="02010600030101010101" pitchFamily="2" charset="-122"/>
              </a:rPr>
              <a:t>14%)</a:t>
            </a:r>
            <a:r>
              <a:rPr lang="zh-CN" sz="2400" spc="90" dirty="0">
                <a:solidFill>
                  <a:srgbClr val="000000"/>
                </a:solidFill>
                <a:effectLst/>
                <a:latin typeface="KaiTi" panose="02010609060101010101" pitchFamily="49" charset="-122"/>
                <a:ea typeface="KaiTi" panose="02010609060101010101" pitchFamily="49" charset="-122"/>
                <a:cs typeface="SimSun" panose="02010600030101010101" pitchFamily="2" charset="-122"/>
              </a:rPr>
              <a:t>、</a:t>
            </a:r>
            <a:r>
              <a:rPr lang="zh-CN" sz="2400" spc="85" dirty="0">
                <a:solidFill>
                  <a:srgbClr val="000000"/>
                </a:solidFill>
                <a:effectLst/>
                <a:latin typeface="KaiTi" panose="02010609060101010101" pitchFamily="49" charset="-122"/>
                <a:ea typeface="KaiTi" panose="02010609060101010101" pitchFamily="49" charset="-122"/>
                <a:cs typeface="SimSun" panose="02010600030101010101" pitchFamily="2" charset="-122"/>
              </a:rPr>
              <a:t>胆甾醇</a:t>
            </a:r>
            <a:r>
              <a:rPr lang="en-US" sz="2400" spc="85" dirty="0">
                <a:solidFill>
                  <a:srgbClr val="000000"/>
                </a:solidFill>
                <a:effectLst/>
                <a:latin typeface="KaiTi" panose="02010609060101010101" pitchFamily="49" charset="-122"/>
                <a:ea typeface="KaiTi" panose="02010609060101010101" pitchFamily="49" charset="-122"/>
                <a:cs typeface="SimSun" panose="02010600030101010101" pitchFamily="2" charset="-122"/>
              </a:rPr>
              <a:t>(2%)</a:t>
            </a:r>
            <a:r>
              <a:rPr lang="zh-CN" sz="2400" spc="85" dirty="0">
                <a:solidFill>
                  <a:srgbClr val="000000"/>
                </a:solidFill>
                <a:effectLst/>
                <a:latin typeface="KaiTi" panose="02010609060101010101" pitchFamily="49" charset="-122"/>
                <a:ea typeface="KaiTi" panose="02010609060101010101" pitchFamily="49" charset="-122"/>
                <a:cs typeface="SimSun" panose="02010600030101010101" pitchFamily="2" charset="-122"/>
              </a:rPr>
              <a:t>、蜡脂</a:t>
            </a:r>
            <a:r>
              <a:rPr lang="en-US" sz="2400" spc="85" dirty="0">
                <a:solidFill>
                  <a:srgbClr val="000000"/>
                </a:solidFill>
                <a:effectLst/>
                <a:latin typeface="KaiTi" panose="02010609060101010101" pitchFamily="49" charset="-122"/>
                <a:ea typeface="KaiTi" panose="02010609060101010101" pitchFamily="49" charset="-122"/>
                <a:cs typeface="SimSun" panose="02010600030101010101" pitchFamily="2" charset="-122"/>
              </a:rPr>
              <a:t>(26%)</a:t>
            </a:r>
            <a:r>
              <a:rPr lang="zh-CN" sz="2400" spc="85" dirty="0">
                <a:solidFill>
                  <a:srgbClr val="000000"/>
                </a:solidFill>
                <a:effectLst/>
                <a:latin typeface="KaiTi" panose="02010609060101010101" pitchFamily="49" charset="-122"/>
                <a:ea typeface="KaiTi" panose="02010609060101010101" pitchFamily="49" charset="-122"/>
                <a:cs typeface="SimSun" panose="02010600030101010101" pitchFamily="2" charset="-122"/>
              </a:rPr>
              <a:t>、</a:t>
            </a:r>
            <a:r>
              <a:rPr lang="zh-CN" sz="2400" spc="40" dirty="0">
                <a:solidFill>
                  <a:srgbClr val="000000"/>
                </a:solidFill>
                <a:effectLst/>
                <a:latin typeface="KaiTi" panose="02010609060101010101" pitchFamily="49" charset="-122"/>
                <a:ea typeface="KaiTi" panose="02010609060101010101" pitchFamily="49" charset="-122"/>
                <a:cs typeface="SimSun" panose="02010600030101010101" pitchFamily="2" charset="-122"/>
              </a:rPr>
              <a:t>甾醇脂</a:t>
            </a:r>
            <a:r>
              <a:rPr lang="en-US" sz="2400" spc="40" dirty="0">
                <a:solidFill>
                  <a:srgbClr val="000000"/>
                </a:solidFill>
                <a:effectLst/>
                <a:latin typeface="KaiTi" panose="02010609060101010101" pitchFamily="49" charset="-122"/>
                <a:ea typeface="KaiTi" panose="02010609060101010101" pitchFamily="49" charset="-122"/>
                <a:cs typeface="SimSun" panose="02010600030101010101" pitchFamily="2" charset="-122"/>
              </a:rPr>
              <a:t>(3%)</a:t>
            </a:r>
            <a:r>
              <a:rPr lang="zh-CN" sz="2400" spc="40" dirty="0">
                <a:solidFill>
                  <a:srgbClr val="000000"/>
                </a:solidFill>
                <a:effectLst/>
                <a:latin typeface="KaiTi" panose="02010609060101010101" pitchFamily="49" charset="-122"/>
                <a:ea typeface="KaiTi" panose="02010609060101010101" pitchFamily="49" charset="-122"/>
                <a:cs typeface="SimSun" panose="02010600030101010101" pitchFamily="2" charset="-122"/>
              </a:rPr>
              <a:t>、三甘油酯</a:t>
            </a:r>
            <a:r>
              <a:rPr lang="en-US" sz="2400" spc="40" dirty="0">
                <a:solidFill>
                  <a:srgbClr val="000000"/>
                </a:solidFill>
                <a:effectLst/>
                <a:latin typeface="KaiTi" panose="02010609060101010101" pitchFamily="49" charset="-122"/>
                <a:ea typeface="KaiTi" panose="02010609060101010101" pitchFamily="49" charset="-122"/>
                <a:cs typeface="SimSun" panose="02010600030101010101" pitchFamily="2" charset="-122"/>
              </a:rPr>
              <a:t>(50%</a:t>
            </a:r>
            <a:r>
              <a:rPr lang="zh-CN" sz="2400" spc="40" dirty="0">
                <a:solidFill>
                  <a:srgbClr val="000000"/>
                </a:solidFill>
                <a:effectLst/>
                <a:latin typeface="KaiTi" panose="02010609060101010101" pitchFamily="49" charset="-122"/>
                <a:ea typeface="KaiTi" panose="02010609060101010101" pitchFamily="49" charset="-122"/>
                <a:cs typeface="SimSun" panose="02010600030101010101" pitchFamily="2" charset="-122"/>
              </a:rPr>
              <a:t>～</a:t>
            </a:r>
            <a:r>
              <a:rPr lang="en-US" sz="2400" spc="40" dirty="0">
                <a:solidFill>
                  <a:srgbClr val="000000"/>
                </a:solidFill>
                <a:effectLst/>
                <a:latin typeface="KaiTi" panose="02010609060101010101" pitchFamily="49" charset="-122"/>
                <a:ea typeface="KaiTi" panose="02010609060101010101" pitchFamily="49" charset="-122"/>
                <a:cs typeface="SimSun" panose="02010600030101010101" pitchFamily="2" charset="-122"/>
              </a:rPr>
              <a:t>60%)</a:t>
            </a:r>
            <a:r>
              <a:rPr lang="zh-CN" sz="2400" spc="40" dirty="0">
                <a:solidFill>
                  <a:srgbClr val="000000"/>
                </a:solidFill>
                <a:effectLst/>
                <a:latin typeface="KaiTi" panose="02010609060101010101" pitchFamily="49" charset="-122"/>
                <a:ea typeface="KaiTi" panose="02010609060101010101" pitchFamily="49" charset="-122"/>
                <a:cs typeface="SimSun" panose="02010600030101010101" pitchFamily="2" charset="-122"/>
              </a:rPr>
              <a:t>等。不同部位的皮肤其皮脂分泌的量略有差</a:t>
            </a:r>
            <a:r>
              <a:rPr lang="zh-CN" sz="2400" spc="-75" dirty="0">
                <a:solidFill>
                  <a:srgbClr val="000000"/>
                </a:solidFill>
                <a:effectLst/>
                <a:latin typeface="KaiTi" panose="02010609060101010101" pitchFamily="49" charset="-122"/>
                <a:ea typeface="KaiTi" panose="02010609060101010101" pitchFamily="49" charset="-122"/>
                <a:cs typeface="SimSun" panose="02010600030101010101" pitchFamily="2" charset="-122"/>
              </a:rPr>
              <a:t>异，其中小部分皮脂是表皮细胞角化过程中角质层细胞供给的角质脂肪。</a:t>
            </a:r>
            <a:endParaRPr lang="en-US" altLang="zh-CN" sz="2400" dirty="0">
              <a:latin typeface="KaiTi" panose="02010609060101010101" pitchFamily="49" charset="-122"/>
              <a:ea typeface="KaiTi" panose="02010609060101010101" pitchFamily="49" charset="-122"/>
            </a:endParaRPr>
          </a:p>
        </p:txBody>
      </p:sp>
    </p:spTree>
    <p:extLst>
      <p:ext uri="{BB962C8B-B14F-4D97-AF65-F5344CB8AC3E}">
        <p14:creationId xmlns:p14="http://schemas.microsoft.com/office/powerpoint/2010/main" val="4563630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19</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皮肤的生理功能：渗透和吸收</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072850"/>
            <a:ext cx="8778240" cy="3883755"/>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有些物质可以通过表皮渗透入真皮，被真皮吸收，影响全身。皮肤对外界物质的渗透是皮肤吸收小分子物质的主要渠道，主要是通过三种途径进行：角质层、毛囊皮脂腺以及汗管口。</a:t>
            </a:r>
            <a:endParaRPr lang="en-US" altLang="zh-CN" sz="2400" dirty="0">
              <a:latin typeface="+mn-lt"/>
              <a:ea typeface="SimHei" panose="02010609060101010101" pitchFamily="49" charset="-122"/>
            </a:endParaRPr>
          </a:p>
          <a:p>
            <a:pPr>
              <a:lnSpc>
                <a:spcPct val="150000"/>
              </a:lnSpc>
            </a:pPr>
            <a:r>
              <a:rPr lang="en-US" altLang="zh-CN" sz="2400" dirty="0">
                <a:latin typeface="KaiTi" panose="02010609060101010101" pitchFamily="49" charset="-122"/>
                <a:ea typeface="KaiTi" panose="02010609060101010101" pitchFamily="49" charset="-122"/>
              </a:rPr>
              <a:t>	</a:t>
            </a:r>
          </a:p>
          <a:p>
            <a:pPr>
              <a:lnSpc>
                <a:spcPct val="150000"/>
              </a:lnSpc>
            </a:pPr>
            <a:r>
              <a:rPr lang="en-US" altLang="zh-CN" sz="2400" dirty="0">
                <a:latin typeface="KaiTi" panose="02010609060101010101" pitchFamily="49" charset="-122"/>
                <a:ea typeface="KaiTi" panose="02010609060101010101" pitchFamily="49" charset="-122"/>
              </a:rPr>
              <a:t>	</a:t>
            </a:r>
            <a:r>
              <a:rPr lang="zh-CN" altLang="en-US" sz="2400" dirty="0">
                <a:latin typeface="KaiTi" panose="02010609060101010101" pitchFamily="49" charset="-122"/>
                <a:ea typeface="KaiTi" panose="02010609060101010101" pitchFamily="49" charset="-122"/>
              </a:rPr>
              <a:t>在一定条件下</a:t>
            </a:r>
            <a:r>
              <a:rPr lang="zh-CN" altLang="en-US" sz="2400" dirty="0">
                <a:solidFill>
                  <a:srgbClr val="0000FF"/>
                </a:solidFill>
                <a:latin typeface="KaiTi" panose="02010609060101010101" pitchFamily="49" charset="-122"/>
                <a:ea typeface="KaiTi" panose="02010609060101010101" pitchFamily="49" charset="-122"/>
              </a:rPr>
              <a:t>水分</a:t>
            </a:r>
            <a:r>
              <a:rPr lang="zh-CN" altLang="en-US" sz="2400" dirty="0">
                <a:latin typeface="KaiTi" panose="02010609060101010101" pitchFamily="49" charset="-122"/>
                <a:ea typeface="KaiTi" panose="02010609060101010101" pitchFamily="49" charset="-122"/>
              </a:rPr>
              <a:t>可以自由通过，通过细胞膜进入细胞内</a:t>
            </a:r>
            <a:endParaRPr lang="en-US" altLang="zh-CN" sz="2400" dirty="0">
              <a:latin typeface="KaiTi" panose="02010609060101010101" pitchFamily="49" charset="-122"/>
              <a:ea typeface="KaiTi" panose="02010609060101010101" pitchFamily="49" charset="-122"/>
            </a:endParaRPr>
          </a:p>
          <a:p>
            <a:pPr>
              <a:lnSpc>
                <a:spcPct val="150000"/>
              </a:lnSpc>
            </a:pPr>
            <a:r>
              <a:rPr lang="en-US" altLang="zh-CN" sz="2400" dirty="0">
                <a:latin typeface="KaiTi" panose="02010609060101010101" pitchFamily="49" charset="-122"/>
                <a:ea typeface="KaiTi" panose="02010609060101010101" pitchFamily="49" charset="-122"/>
              </a:rPr>
              <a:t>	</a:t>
            </a:r>
            <a:r>
              <a:rPr lang="zh-CN" altLang="en-US" sz="2400" dirty="0">
                <a:latin typeface="KaiTi" panose="02010609060101010101" pitchFamily="49" charset="-122"/>
                <a:ea typeface="KaiTi" panose="02010609060101010101" pitchFamily="49" charset="-122"/>
              </a:rPr>
              <a:t>研究表明，还有</a:t>
            </a:r>
            <a:r>
              <a:rPr lang="zh-CN" altLang="en-US" sz="2400" dirty="0">
                <a:solidFill>
                  <a:srgbClr val="FF0000"/>
                </a:solidFill>
                <a:latin typeface="KaiTi" panose="02010609060101010101" pitchFamily="49" charset="-122"/>
                <a:ea typeface="KaiTi" panose="02010609060101010101" pitchFamily="49" charset="-122"/>
              </a:rPr>
              <a:t>少数重金属及其化学物质是通过毛囊皮脂腺和汗腺管侧壁渗透到真皮中去</a:t>
            </a:r>
            <a:r>
              <a:rPr lang="zh-CN" altLang="en-US" sz="2400" dirty="0">
                <a:latin typeface="KaiTi" panose="02010609060101010101" pitchFamily="49" charset="-122"/>
                <a:ea typeface="KaiTi" panose="02010609060101010101" pitchFamily="49" charset="-122"/>
              </a:rPr>
              <a:t>的。</a:t>
            </a:r>
            <a:endParaRPr lang="en-US" altLang="zh-CN" sz="2400" dirty="0">
              <a:latin typeface="KaiTi" panose="02010609060101010101" pitchFamily="49" charset="-122"/>
              <a:ea typeface="KaiTi" panose="02010609060101010101" pitchFamily="49" charset="-122"/>
            </a:endParaRPr>
          </a:p>
        </p:txBody>
      </p:sp>
    </p:spTree>
    <p:extLst>
      <p:ext uri="{BB962C8B-B14F-4D97-AF65-F5344CB8AC3E}">
        <p14:creationId xmlns:p14="http://schemas.microsoft.com/office/powerpoint/2010/main" val="119680112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20</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皮肤的生理功能：渗透和吸收</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009721"/>
            <a:ext cx="8778240" cy="5262979"/>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角质层的生物学特征直接关系到皮肤的吸收性能。总体来说，</a:t>
            </a:r>
            <a:r>
              <a:rPr lang="zh-CN" altLang="en-US" sz="2400" dirty="0">
                <a:solidFill>
                  <a:srgbClr val="0000FF"/>
                </a:solidFill>
                <a:latin typeface="+mn-lt"/>
                <a:ea typeface="SimHei" panose="02010609060101010101" pitchFamily="49" charset="-122"/>
              </a:rPr>
              <a:t>薄的皮肤比厚的皮肤更容易渗透</a:t>
            </a:r>
            <a:r>
              <a:rPr lang="zh-CN" altLang="en-US" sz="2400" dirty="0">
                <a:latin typeface="+mn-lt"/>
                <a:ea typeface="SimHei" panose="02010609060101010101" pitchFamily="49" charset="-122"/>
              </a:rPr>
              <a:t>。</a:t>
            </a:r>
            <a:endParaRPr lang="en-US" altLang="zh-CN" sz="2400" dirty="0">
              <a:latin typeface="+mn-lt"/>
              <a:ea typeface="SimHei" panose="02010609060101010101" pitchFamily="49" charset="-122"/>
            </a:endParaRPr>
          </a:p>
          <a:p>
            <a:r>
              <a:rPr lang="en-US" altLang="zh-CN" sz="2400" dirty="0">
                <a:latin typeface="KaiTi" panose="02010609060101010101" pitchFamily="49" charset="-122"/>
                <a:ea typeface="KaiTi" panose="02010609060101010101" pitchFamily="49" charset="-122"/>
              </a:rPr>
              <a:t>	</a:t>
            </a:r>
            <a:r>
              <a:rPr lang="zh-CN" altLang="en-US" sz="2400" dirty="0">
                <a:latin typeface="KaiTi" panose="02010609060101010101" pitchFamily="49" charset="-122"/>
                <a:ea typeface="KaiTi" panose="02010609060101010101" pitchFamily="49" charset="-122"/>
              </a:rPr>
              <a:t>如掌趾部位角质层较厚，吸收作用弱；</a:t>
            </a:r>
            <a:endParaRPr lang="en-US" altLang="zh-CN" sz="2400" dirty="0">
              <a:latin typeface="KaiTi" panose="02010609060101010101" pitchFamily="49" charset="-122"/>
              <a:ea typeface="KaiTi" panose="02010609060101010101" pitchFamily="49" charset="-122"/>
            </a:endParaRPr>
          </a:p>
          <a:p>
            <a:r>
              <a:rPr lang="en-US" altLang="zh-CN" sz="2400" dirty="0">
                <a:latin typeface="KaiTi" panose="02010609060101010101" pitchFamily="49" charset="-122"/>
                <a:ea typeface="KaiTi" panose="02010609060101010101" pitchFamily="49" charset="-122"/>
              </a:rPr>
              <a:t>	</a:t>
            </a:r>
            <a:r>
              <a:rPr lang="zh-CN" altLang="en-US" sz="2400" dirty="0">
                <a:latin typeface="KaiTi" panose="02010609060101010101" pitchFamily="49" charset="-122"/>
                <a:ea typeface="KaiTi" panose="02010609060101010101" pitchFamily="49" charset="-122"/>
              </a:rPr>
              <a:t>婴幼儿和儿童皮肤的角质层较薄，吸收作用比成人强；</a:t>
            </a:r>
            <a:endParaRPr lang="en-US" altLang="zh-CN" sz="2400" dirty="0">
              <a:latin typeface="KaiTi" panose="02010609060101010101" pitchFamily="49" charset="-122"/>
              <a:ea typeface="KaiTi" panose="02010609060101010101" pitchFamily="49" charset="-122"/>
            </a:endParaRPr>
          </a:p>
          <a:p>
            <a:r>
              <a:rPr lang="en-US" altLang="zh-CN" sz="2400" dirty="0">
                <a:latin typeface="KaiTi" panose="02010609060101010101" pitchFamily="49" charset="-122"/>
                <a:ea typeface="KaiTi" panose="02010609060101010101" pitchFamily="49" charset="-122"/>
              </a:rPr>
              <a:t>	</a:t>
            </a:r>
            <a:r>
              <a:rPr lang="zh-CN" altLang="en-US" sz="2400" dirty="0">
                <a:latin typeface="KaiTi" panose="02010609060101010101" pitchFamily="49" charset="-122"/>
                <a:ea typeface="KaiTi" panose="02010609060101010101" pitchFamily="49" charset="-122"/>
              </a:rPr>
              <a:t>黏膜组织无角质层，则吸收作用较强；</a:t>
            </a:r>
            <a:endParaRPr lang="en-US" altLang="zh-CN" sz="2400" dirty="0">
              <a:latin typeface="KaiTi" panose="02010609060101010101" pitchFamily="49" charset="-122"/>
              <a:ea typeface="KaiTi" panose="02010609060101010101" pitchFamily="49" charset="-122"/>
            </a:endParaRPr>
          </a:p>
          <a:p>
            <a:r>
              <a:rPr lang="en-US" altLang="zh-CN" sz="2400" dirty="0">
                <a:latin typeface="KaiTi" panose="02010609060101010101" pitchFamily="49" charset="-122"/>
                <a:ea typeface="KaiTi" panose="02010609060101010101" pitchFamily="49" charset="-122"/>
              </a:rPr>
              <a:t>	</a:t>
            </a:r>
            <a:r>
              <a:rPr lang="zh-CN" altLang="en-US" sz="2400" dirty="0">
                <a:latin typeface="KaiTi" panose="02010609060101010101" pitchFamily="49" charset="-122"/>
                <a:ea typeface="KaiTi" panose="02010609060101010101" pitchFamily="49" charset="-122"/>
              </a:rPr>
              <a:t>软化的皮肤可以增加渗透吸收，这是因为角质层可以吸收较多的水分。</a:t>
            </a:r>
            <a:r>
              <a:rPr lang="zh-CN" altLang="en-US" sz="2400" dirty="0">
                <a:solidFill>
                  <a:srgbClr val="0000FF"/>
                </a:solidFill>
                <a:latin typeface="KaiTi" panose="02010609060101010101" pitchFamily="49" charset="-122"/>
                <a:ea typeface="KaiTi" panose="02010609060101010101" pitchFamily="49" charset="-122"/>
              </a:rPr>
              <a:t>因此包敷的方法可以增加渗透吸收，减少汗液蒸发，增加皮肤水分，提高皮肤的吸收作用。</a:t>
            </a:r>
            <a:endParaRPr lang="en-US" altLang="zh-CN" sz="2400" dirty="0">
              <a:solidFill>
                <a:srgbClr val="0000FF"/>
              </a:solidFill>
              <a:latin typeface="KaiTi" panose="02010609060101010101" pitchFamily="49" charset="-122"/>
              <a:ea typeface="KaiTi" panose="02010609060101010101" pitchFamily="49" charset="-122"/>
            </a:endParaRPr>
          </a:p>
          <a:p>
            <a:r>
              <a:rPr lang="en-US" altLang="zh-CN" sz="2400" dirty="0">
                <a:latin typeface="KaiTi" panose="02010609060101010101" pitchFamily="49" charset="-122"/>
                <a:ea typeface="KaiTi" panose="02010609060101010101" pitchFamily="49" charset="-122"/>
              </a:rPr>
              <a:t>	</a:t>
            </a:r>
            <a:r>
              <a:rPr lang="zh-CN" altLang="en-US" sz="2400" dirty="0">
                <a:latin typeface="KaiTi" panose="02010609060101010101" pitchFamily="49" charset="-122"/>
                <a:ea typeface="KaiTi" panose="02010609060101010101" pitchFamily="49" charset="-122"/>
              </a:rPr>
              <a:t>受损伤或有病变的皮肤吸收较多：如皮肤充血损害处吸收较多，湿疹等皮肤病会增强吸收。</a:t>
            </a:r>
            <a:endParaRPr lang="en-US" altLang="zh-CN" sz="2400" dirty="0">
              <a:latin typeface="KaiTi" panose="02010609060101010101" pitchFamily="49" charset="-122"/>
              <a:ea typeface="KaiTi" panose="02010609060101010101" pitchFamily="49" charset="-122"/>
            </a:endParaRPr>
          </a:p>
          <a:p>
            <a:r>
              <a:rPr lang="en-US" altLang="zh-CN" sz="2400" dirty="0">
                <a:latin typeface="KaiTi" panose="02010609060101010101" pitchFamily="49" charset="-122"/>
                <a:ea typeface="KaiTi" panose="02010609060101010101" pitchFamily="49" charset="-122"/>
              </a:rPr>
              <a:t>	</a:t>
            </a:r>
            <a:r>
              <a:rPr lang="zh-CN" altLang="en-US" sz="2400" dirty="0">
                <a:latin typeface="KaiTi" panose="02010609060101010101" pitchFamily="49" charset="-122"/>
                <a:ea typeface="KaiTi" panose="02010609060101010101" pitchFamily="49" charset="-122"/>
              </a:rPr>
              <a:t>不同基质影响皮肤吸收：粉剂、水溶液和悬浮体系的吸收一般较差；</a:t>
            </a:r>
            <a:r>
              <a:rPr lang="zh-CN" altLang="en-US" sz="2400" dirty="0">
                <a:solidFill>
                  <a:srgbClr val="0000FF"/>
                </a:solidFill>
                <a:latin typeface="KaiTi" panose="02010609060101010101" pitchFamily="49" charset="-122"/>
                <a:ea typeface="KaiTi" panose="02010609060101010101" pitchFamily="49" charset="-122"/>
              </a:rPr>
              <a:t>软膏可以浸软皮肤，阻止水分挥发，因而能够增大吸收</a:t>
            </a:r>
            <a:r>
              <a:rPr lang="zh-CN" altLang="en-US" sz="2400" dirty="0">
                <a:latin typeface="KaiTi" panose="02010609060101010101" pitchFamily="49" charset="-122"/>
                <a:ea typeface="KaiTi" panose="02010609060101010101" pitchFamily="49" charset="-122"/>
              </a:rPr>
              <a:t>；</a:t>
            </a:r>
            <a:r>
              <a:rPr lang="zh-CN" altLang="en-US" sz="2400" dirty="0">
                <a:solidFill>
                  <a:srgbClr val="FF0000"/>
                </a:solidFill>
                <a:latin typeface="KaiTi" panose="02010609060101010101" pitchFamily="49" charset="-122"/>
                <a:ea typeface="KaiTi" panose="02010609060101010101" pitchFamily="49" charset="-122"/>
              </a:rPr>
              <a:t>有机溶剂由于对皮肤渗透性强，也可以促进吸收</a:t>
            </a:r>
            <a:r>
              <a:rPr lang="zh-CN" altLang="en-US" sz="2400" dirty="0">
                <a:latin typeface="KaiTi" panose="02010609060101010101" pitchFamily="49" charset="-122"/>
                <a:ea typeface="KaiTi" panose="02010609060101010101" pitchFamily="49" charset="-122"/>
              </a:rPr>
              <a:t>。</a:t>
            </a:r>
          </a:p>
        </p:txBody>
      </p:sp>
    </p:spTree>
    <p:extLst>
      <p:ext uri="{BB962C8B-B14F-4D97-AF65-F5344CB8AC3E}">
        <p14:creationId xmlns:p14="http://schemas.microsoft.com/office/powerpoint/2010/main" val="30805643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21</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皮肤的生理功能：渗透和吸收</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019842"/>
            <a:ext cx="8778240" cy="3344570"/>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动物脂肪、酸类化合物、激素等，比较容易被皮肤吸收；</a:t>
            </a:r>
            <a:endParaRPr lang="en-US" altLang="zh-CN" sz="2400" dirty="0">
              <a:latin typeface="+mn-lt"/>
              <a:ea typeface="SimHei" panose="02010609060101010101" pitchFamily="49" charset="-122"/>
            </a:endParaRPr>
          </a:p>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植物油较动物油难被吸收；</a:t>
            </a:r>
            <a:endParaRPr lang="en-US" altLang="zh-CN" sz="2400" dirty="0">
              <a:latin typeface="+mn-lt"/>
              <a:ea typeface="SimHei" panose="02010609060101010101" pitchFamily="49" charset="-122"/>
            </a:endParaRPr>
          </a:p>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矿物油、水和固体物质不易被吸收；</a:t>
            </a:r>
            <a:endParaRPr lang="en-US" altLang="zh-CN" sz="2400" dirty="0">
              <a:latin typeface="+mn-lt"/>
              <a:ea typeface="SimHei" panose="02010609060101010101" pitchFamily="49" charset="-122"/>
            </a:endParaRPr>
          </a:p>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而气体则可以进入皮肤内部；</a:t>
            </a:r>
            <a:endParaRPr lang="en-US" altLang="zh-CN" sz="2400" dirty="0">
              <a:latin typeface="+mn-lt"/>
              <a:ea typeface="SimHei" panose="02010609060101010101" pitchFamily="49" charset="-122"/>
            </a:endParaRPr>
          </a:p>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有些物质浓度高时反而吸收减少，如酸类物质浓度大时，会和皮肤蛋白结合形成薄膜，阻止皮肤吸收。</a:t>
            </a:r>
            <a:endParaRPr lang="en-US" altLang="zh-CN" sz="2400" dirty="0">
              <a:latin typeface="+mn-lt"/>
              <a:ea typeface="SimHei" panose="02010609060101010101" pitchFamily="49" charset="-122"/>
            </a:endParaRPr>
          </a:p>
        </p:txBody>
      </p:sp>
    </p:spTree>
    <p:extLst>
      <p:ext uri="{BB962C8B-B14F-4D97-AF65-F5344CB8AC3E}">
        <p14:creationId xmlns:p14="http://schemas.microsoft.com/office/powerpoint/2010/main" val="41641110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22</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皮肤的生理功能：渗透和吸收</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986861"/>
            <a:ext cx="8778240" cy="3883755"/>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皮肤对有效成分的吸收与物质的分子量、溶解性、极性以及皮肤自身的条件有关。 </a:t>
            </a:r>
            <a:endParaRPr lang="en-US" altLang="zh-CN" sz="2400" dirty="0">
              <a:latin typeface="+mn-lt"/>
              <a:ea typeface="SimHei" panose="02010609060101010101" pitchFamily="49" charset="-122"/>
            </a:endParaRPr>
          </a:p>
          <a:p>
            <a:pPr>
              <a:lnSpc>
                <a:spcPct val="150000"/>
              </a:lnSpc>
            </a:pPr>
            <a:endParaRPr lang="en-US" altLang="zh-CN" sz="2400" dirty="0">
              <a:latin typeface="KaiTi" panose="02010609060101010101" pitchFamily="49" charset="-122"/>
              <a:ea typeface="KaiTi" panose="02010609060101010101" pitchFamily="49" charset="-122"/>
            </a:endParaRPr>
          </a:p>
          <a:p>
            <a:pPr>
              <a:lnSpc>
                <a:spcPct val="150000"/>
              </a:lnSpc>
            </a:pPr>
            <a:r>
              <a:rPr lang="en-US" altLang="zh-CN" sz="2400" dirty="0">
                <a:latin typeface="KaiTi" panose="02010609060101010101" pitchFamily="49" charset="-122"/>
                <a:ea typeface="KaiTi" panose="02010609060101010101" pitchFamily="49" charset="-122"/>
              </a:rPr>
              <a:t>	</a:t>
            </a:r>
            <a:r>
              <a:rPr lang="zh-CN" altLang="en-US" sz="2400" dirty="0">
                <a:latin typeface="KaiTi" panose="02010609060101010101" pitchFamily="49" charset="-122"/>
                <a:ea typeface="KaiTi" panose="02010609060101010101" pitchFamily="49" charset="-122"/>
              </a:rPr>
              <a:t>分子量小于 </a:t>
            </a:r>
            <a:r>
              <a:rPr lang="en-US" altLang="zh-CN" sz="2400" dirty="0">
                <a:latin typeface="KaiTi" panose="02010609060101010101" pitchFamily="49" charset="-122"/>
                <a:ea typeface="KaiTi" panose="02010609060101010101" pitchFamily="49" charset="-122"/>
              </a:rPr>
              <a:t>500 Da </a:t>
            </a:r>
            <a:r>
              <a:rPr lang="zh-CN" altLang="en-US" sz="2400" dirty="0">
                <a:latin typeface="KaiTi" panose="02010609060101010101" pitchFamily="49" charset="-122"/>
                <a:ea typeface="KaiTi" panose="02010609060101010101" pitchFamily="49" charset="-122"/>
              </a:rPr>
              <a:t>的物质都可以渗透皮肤</a:t>
            </a:r>
            <a:endParaRPr lang="en-US" altLang="zh-CN" sz="2400" dirty="0">
              <a:latin typeface="KaiTi" panose="02010609060101010101" pitchFamily="49" charset="-122"/>
              <a:ea typeface="KaiTi" panose="02010609060101010101" pitchFamily="49" charset="-122"/>
            </a:endParaRPr>
          </a:p>
          <a:p>
            <a:pPr>
              <a:lnSpc>
                <a:spcPct val="150000"/>
              </a:lnSpc>
            </a:pPr>
            <a:r>
              <a:rPr lang="en-US" altLang="zh-CN" sz="2400" dirty="0">
                <a:latin typeface="KaiTi" panose="02010609060101010101" pitchFamily="49" charset="-122"/>
                <a:ea typeface="KaiTi" panose="02010609060101010101" pitchFamily="49" charset="-122"/>
              </a:rPr>
              <a:t>	</a:t>
            </a:r>
            <a:r>
              <a:rPr lang="zh-CN" altLang="en-US" sz="2400" dirty="0">
                <a:latin typeface="KaiTi" panose="02010609060101010101" pitchFamily="49" charset="-122"/>
                <a:ea typeface="KaiTi" panose="02010609060101010101" pitchFamily="49" charset="-122"/>
              </a:rPr>
              <a:t>而大于 </a:t>
            </a:r>
            <a:r>
              <a:rPr lang="en-US" altLang="zh-CN" sz="2400" dirty="0">
                <a:latin typeface="KaiTi" panose="02010609060101010101" pitchFamily="49" charset="-122"/>
                <a:ea typeface="KaiTi" panose="02010609060101010101" pitchFamily="49" charset="-122"/>
              </a:rPr>
              <a:t>500 Da </a:t>
            </a:r>
            <a:r>
              <a:rPr lang="zh-CN" altLang="en-US" sz="2400" dirty="0">
                <a:latin typeface="KaiTi" panose="02010609060101010101" pitchFamily="49" charset="-122"/>
                <a:ea typeface="KaiTi" panose="02010609060101010101" pitchFamily="49" charset="-122"/>
              </a:rPr>
              <a:t>的则不能； </a:t>
            </a:r>
            <a:endParaRPr lang="en-US" altLang="zh-CN" sz="2400" dirty="0">
              <a:latin typeface="KaiTi" panose="02010609060101010101" pitchFamily="49" charset="-122"/>
              <a:ea typeface="KaiTi" panose="02010609060101010101" pitchFamily="49" charset="-122"/>
            </a:endParaRPr>
          </a:p>
          <a:p>
            <a:pPr>
              <a:lnSpc>
                <a:spcPct val="150000"/>
              </a:lnSpc>
            </a:pPr>
            <a:r>
              <a:rPr lang="en-US" altLang="zh-CN" sz="2400" dirty="0">
                <a:latin typeface="KaiTi" panose="02010609060101010101" pitchFamily="49" charset="-122"/>
                <a:ea typeface="KaiTi" panose="02010609060101010101" pitchFamily="49" charset="-122"/>
              </a:rPr>
              <a:t>	</a:t>
            </a:r>
            <a:r>
              <a:rPr lang="zh-CN" altLang="en-US" sz="2400" dirty="0">
                <a:latin typeface="KaiTi" panose="02010609060101010101" pitchFamily="49" charset="-122"/>
                <a:ea typeface="KaiTi" panose="02010609060101010101" pitchFamily="49" charset="-122"/>
              </a:rPr>
              <a:t>油溶性成分的渗透性比水溶性成分要好得多；</a:t>
            </a:r>
            <a:endParaRPr lang="en-US" altLang="zh-CN" sz="2400" dirty="0">
              <a:latin typeface="KaiTi" panose="02010609060101010101" pitchFamily="49" charset="-122"/>
              <a:ea typeface="KaiTi" panose="02010609060101010101" pitchFamily="49" charset="-122"/>
            </a:endParaRPr>
          </a:p>
          <a:p>
            <a:pPr>
              <a:lnSpc>
                <a:spcPct val="150000"/>
              </a:lnSpc>
            </a:pPr>
            <a:r>
              <a:rPr lang="en-US" altLang="zh-CN" sz="2400" dirty="0">
                <a:latin typeface="KaiTi" panose="02010609060101010101" pitchFamily="49" charset="-122"/>
                <a:ea typeface="KaiTi" panose="02010609060101010101" pitchFamily="49" charset="-122"/>
              </a:rPr>
              <a:t>	</a:t>
            </a:r>
            <a:r>
              <a:rPr lang="zh-CN" altLang="en-US" sz="2400" dirty="0">
                <a:latin typeface="KaiTi" panose="02010609060101010101" pitchFamily="49" charset="-122"/>
                <a:ea typeface="KaiTi" panose="02010609060101010101" pitchFamily="49" charset="-122"/>
              </a:rPr>
              <a:t>分子的极性或电荷也很重要</a:t>
            </a:r>
            <a:endParaRPr lang="en-US" altLang="zh-CN" sz="2400" dirty="0">
              <a:latin typeface="KaiTi" panose="02010609060101010101" pitchFamily="49" charset="-122"/>
              <a:ea typeface="KaiTi" panose="02010609060101010101" pitchFamily="49" charset="-122"/>
            </a:endParaRPr>
          </a:p>
        </p:txBody>
      </p:sp>
    </p:spTree>
    <p:extLst>
      <p:ext uri="{BB962C8B-B14F-4D97-AF65-F5344CB8AC3E}">
        <p14:creationId xmlns:p14="http://schemas.microsoft.com/office/powerpoint/2010/main" val="34223243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23</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皮肤的分类和特点</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964001"/>
            <a:ext cx="8778240" cy="4452566"/>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solidFill>
                  <a:srgbClr val="FF0000"/>
                </a:solidFill>
                <a:latin typeface="+mn-lt"/>
                <a:ea typeface="SimHei" panose="02010609060101010101" pitchFamily="49" charset="-122"/>
              </a:rPr>
              <a:t>以往皮肤状态通常只根据角质层含水情况</a:t>
            </a:r>
            <a:r>
              <a:rPr lang="zh-CN" altLang="en-US" sz="2400" dirty="0">
                <a:latin typeface="+mn-lt"/>
                <a:ea typeface="SimHei" panose="02010609060101010101" pitchFamily="49" charset="-122"/>
              </a:rPr>
              <a:t>，被分为</a:t>
            </a:r>
            <a:r>
              <a:rPr lang="zh-CN" altLang="en-US" sz="2400" dirty="0">
                <a:solidFill>
                  <a:srgbClr val="0000FF"/>
                </a:solidFill>
                <a:latin typeface="+mn-lt"/>
                <a:ea typeface="SimHei" panose="02010609060101010101" pitchFamily="49" charset="-122"/>
              </a:rPr>
              <a:t>干性皮肤、中性皮肤和油性皮肤</a:t>
            </a:r>
            <a:r>
              <a:rPr lang="zh-CN" altLang="en-US" sz="2400" dirty="0">
                <a:latin typeface="+mn-lt"/>
                <a:ea typeface="SimHei" panose="02010609060101010101" pitchFamily="49" charset="-122"/>
              </a:rPr>
              <a:t>三类。</a:t>
            </a:r>
            <a:endParaRPr lang="en-US" altLang="zh-CN" sz="2400" dirty="0">
              <a:latin typeface="+mn-lt"/>
              <a:ea typeface="SimHei" panose="02010609060101010101" pitchFamily="49" charset="-122"/>
            </a:endParaRPr>
          </a:p>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皮肤的</a:t>
            </a:r>
            <a:r>
              <a:rPr lang="zh-CN" altLang="en-US" sz="2400" dirty="0">
                <a:solidFill>
                  <a:srgbClr val="0000FF"/>
                </a:solidFill>
                <a:latin typeface="+mn-lt"/>
                <a:ea typeface="SimHei" panose="02010609060101010101" pitchFamily="49" charset="-122"/>
              </a:rPr>
              <a:t>湿度和油腻程度是独立存在</a:t>
            </a:r>
            <a:r>
              <a:rPr lang="zh-CN" altLang="en-US" sz="2400" dirty="0">
                <a:latin typeface="+mn-lt"/>
                <a:ea typeface="SimHei" panose="02010609060101010101" pitchFamily="49" charset="-122"/>
              </a:rPr>
              <a:t>的，角质层中足够的水分含量是角质层健康和正常角质化的结果，皮肤的油腻程度由分泌的皮脂决定。</a:t>
            </a:r>
            <a:endParaRPr lang="en-US" altLang="zh-CN" sz="2400" dirty="0">
              <a:latin typeface="+mn-lt"/>
              <a:ea typeface="SimHei" panose="02010609060101010101" pitchFamily="49" charset="-122"/>
            </a:endParaRPr>
          </a:p>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新的分类方法根据</a:t>
            </a:r>
            <a:r>
              <a:rPr lang="zh-CN" altLang="en-US" sz="2400" dirty="0">
                <a:solidFill>
                  <a:srgbClr val="FF0000"/>
                </a:solidFill>
                <a:latin typeface="+mn-lt"/>
                <a:ea typeface="SimHei" panose="02010609060101010101" pitchFamily="49" charset="-122"/>
              </a:rPr>
              <a:t>皮肤皮脂量、水分含量以及与人的年龄、季节、生活方式相关的皮肤性质的不同</a:t>
            </a:r>
            <a:r>
              <a:rPr lang="zh-CN" altLang="en-US" sz="2400" dirty="0">
                <a:latin typeface="+mn-lt"/>
                <a:ea typeface="SimHei" panose="02010609060101010101" pitchFamily="49" charset="-122"/>
              </a:rPr>
              <a:t>，可将其分为</a:t>
            </a:r>
            <a:r>
              <a:rPr lang="zh-CN" altLang="en-US" sz="2400" dirty="0">
                <a:solidFill>
                  <a:srgbClr val="0000FF"/>
                </a:solidFill>
                <a:latin typeface="+mn-lt"/>
                <a:ea typeface="SimHei" panose="02010609060101010101" pitchFamily="49" charset="-122"/>
              </a:rPr>
              <a:t>中性肌肤、油性肌肤、干性肌肤、混合性肌肤和敏感性肌肤</a:t>
            </a:r>
            <a:r>
              <a:rPr lang="zh-CN" altLang="en-US" sz="2400" dirty="0">
                <a:latin typeface="+mn-lt"/>
                <a:ea typeface="SimHei" panose="02010609060101010101" pitchFamily="49" charset="-122"/>
              </a:rPr>
              <a:t>五种类型。</a:t>
            </a:r>
            <a:endParaRPr lang="en-US" altLang="zh-CN" sz="2400" dirty="0">
              <a:latin typeface="+mn-lt"/>
              <a:ea typeface="SimHei" panose="02010609060101010101" pitchFamily="49" charset="-122"/>
            </a:endParaRPr>
          </a:p>
        </p:txBody>
      </p:sp>
    </p:spTree>
    <p:extLst>
      <p:ext uri="{BB962C8B-B14F-4D97-AF65-F5344CB8AC3E}">
        <p14:creationId xmlns:p14="http://schemas.microsoft.com/office/powerpoint/2010/main" val="97177569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24</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中性肌肤</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009721"/>
            <a:ext cx="8778240" cy="5006563"/>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solidFill>
                  <a:srgbClr val="0000FF"/>
                </a:solidFill>
                <a:latin typeface="+mn-lt"/>
                <a:ea typeface="SimHei" panose="02010609060101010101" pitchFamily="49" charset="-122"/>
              </a:rPr>
              <a:t>中性肌肤</a:t>
            </a:r>
            <a:r>
              <a:rPr lang="zh-CN" altLang="en-US" sz="2400" dirty="0">
                <a:latin typeface="+mn-lt"/>
                <a:ea typeface="SimHei" panose="02010609060101010101" pitchFamily="49" charset="-122"/>
              </a:rPr>
              <a:t>的皮脂、汗腺的分泌量适中，是水分、油分平衡良好的理想肌肤；肌肤纹路平整，不粗不细，皮质柔滑，不干燥也不油腻，皮肤光滑细嫩而富有弹性；皮脂分泌顺畅，肌肤健康有光泽；皮肤表面瑕疵少， </a:t>
            </a:r>
            <a:r>
              <a:rPr lang="en-US" altLang="zh-CN" sz="2400" dirty="0">
                <a:latin typeface="+mn-lt"/>
                <a:ea typeface="SimHei" panose="02010609060101010101" pitchFamily="49" charset="-122"/>
              </a:rPr>
              <a:t>pH </a:t>
            </a:r>
            <a:r>
              <a:rPr lang="zh-CN" altLang="en-US" sz="2400" dirty="0">
                <a:latin typeface="+mn-lt"/>
                <a:ea typeface="SimHei" panose="02010609060101010101" pitchFamily="49" charset="-122"/>
              </a:rPr>
              <a:t>值在</a:t>
            </a:r>
            <a:r>
              <a:rPr lang="en-US" altLang="zh-CN" sz="2400" dirty="0">
                <a:latin typeface="+mn-lt"/>
                <a:ea typeface="SimHei" panose="02010609060101010101" pitchFamily="49" charset="-122"/>
              </a:rPr>
              <a:t>5</a:t>
            </a:r>
            <a:r>
              <a:rPr lang="zh-CN" altLang="en-US" sz="2400" dirty="0">
                <a:latin typeface="+mn-lt"/>
                <a:ea typeface="SimHei" panose="02010609060101010101" pitchFamily="49" charset="-122"/>
              </a:rPr>
              <a:t>～</a:t>
            </a:r>
            <a:r>
              <a:rPr lang="en-US" altLang="zh-CN" sz="2400" dirty="0">
                <a:latin typeface="+mn-lt"/>
                <a:ea typeface="SimHei" panose="02010609060101010101" pitchFamily="49" charset="-122"/>
              </a:rPr>
              <a:t>5.6</a:t>
            </a:r>
            <a:r>
              <a:rPr lang="zh-CN" altLang="en-US" sz="2400" dirty="0">
                <a:latin typeface="+mn-lt"/>
                <a:ea typeface="SimHei" panose="02010609060101010101" pitchFamily="49" charset="-122"/>
              </a:rPr>
              <a:t>之间，易上妆，不易脱妆；依照季节、环境、食物与体内荷尔蒙分泌的因素，肌肤状态有些变化</a:t>
            </a:r>
            <a:r>
              <a:rPr lang="en-US" altLang="zh-CN" sz="2400" dirty="0">
                <a:latin typeface="+mn-lt"/>
                <a:ea typeface="SimHei" panose="02010609060101010101" pitchFamily="49" charset="-122"/>
              </a:rPr>
              <a:t>(</a:t>
            </a:r>
            <a:r>
              <a:rPr lang="zh-CN" altLang="en-US" sz="2400" dirty="0">
                <a:latin typeface="+mn-lt"/>
                <a:ea typeface="SimHei" panose="02010609060101010101" pitchFamily="49" charset="-122"/>
              </a:rPr>
              <a:t>冷时肌肤偏干，热时肌肤偏油</a:t>
            </a:r>
            <a:r>
              <a:rPr lang="en-US" altLang="zh-CN" sz="2400" dirty="0">
                <a:latin typeface="+mn-lt"/>
                <a:ea typeface="SimHei" panose="02010609060101010101" pitchFamily="49" charset="-122"/>
              </a:rPr>
              <a:t>)</a:t>
            </a:r>
            <a:r>
              <a:rPr lang="zh-CN" altLang="en-US" sz="2400" dirty="0">
                <a:latin typeface="+mn-lt"/>
                <a:ea typeface="SimHei" panose="02010609060101010101" pitchFamily="49" charset="-122"/>
              </a:rPr>
              <a:t>；对外界刺激不太敏感。</a:t>
            </a:r>
          </a:p>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该类皮肤</a:t>
            </a:r>
            <a:r>
              <a:rPr lang="zh-CN" altLang="en-US" sz="2400" dirty="0">
                <a:solidFill>
                  <a:srgbClr val="0000FF"/>
                </a:solidFill>
                <a:latin typeface="+mn-lt"/>
                <a:ea typeface="SimHei" panose="02010609060101010101" pitchFamily="49" charset="-122"/>
              </a:rPr>
              <a:t>夏季应注意补水，冬季则注意补充油脂，如保养不当易变成混合性肌肤。</a:t>
            </a:r>
            <a:endParaRPr lang="en-US" altLang="zh-CN" sz="2400" dirty="0">
              <a:solidFill>
                <a:srgbClr val="0000FF"/>
              </a:solidFill>
              <a:latin typeface="+mn-lt"/>
              <a:ea typeface="SimHei" panose="02010609060101010101" pitchFamily="49" charset="-122"/>
            </a:endParaRPr>
          </a:p>
        </p:txBody>
      </p:sp>
    </p:spTree>
    <p:extLst>
      <p:ext uri="{BB962C8B-B14F-4D97-AF65-F5344CB8AC3E}">
        <p14:creationId xmlns:p14="http://schemas.microsoft.com/office/powerpoint/2010/main" val="273613072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25</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油性肌肤</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009721"/>
            <a:ext cx="8778240" cy="5563831"/>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solidFill>
                  <a:srgbClr val="0000FF"/>
                </a:solidFill>
                <a:latin typeface="+mn-lt"/>
                <a:ea typeface="SimHei" panose="02010609060101010101" pitchFamily="49" charset="-122"/>
              </a:rPr>
              <a:t>油性肌肤</a:t>
            </a:r>
            <a:r>
              <a:rPr lang="zh-CN" altLang="en-US" sz="2400" dirty="0">
                <a:latin typeface="+mn-lt"/>
                <a:ea typeface="SimHei" panose="02010609060101010101" pitchFamily="49" charset="-122"/>
              </a:rPr>
              <a:t>的皮脂腺分泌旺盛，皮脂的分泌量较多，同时含有较高的皮脂和水分，外观油腻光亮，皮肤纹理较粗，毛孔粗大，肤色较深，不易起皱和衰老；但因油脂分泌过多，积于毛囊内不能顺利排出，易吸收空气中的灰尘，使毛孔污染，对细菌抵抗力减弱，生长粉刺或痤疮；皮肤的</a:t>
            </a:r>
            <a:r>
              <a:rPr lang="en-US" altLang="zh-CN" sz="2400" dirty="0">
                <a:latin typeface="+mn-lt"/>
                <a:ea typeface="SimHei" panose="02010609060101010101" pitchFamily="49" charset="-122"/>
              </a:rPr>
              <a:t>pH </a:t>
            </a:r>
            <a:r>
              <a:rPr lang="zh-CN" altLang="en-US" sz="2400" dirty="0">
                <a:latin typeface="+mn-lt"/>
                <a:ea typeface="SimHei" panose="02010609060101010101" pitchFamily="49" charset="-122"/>
              </a:rPr>
              <a:t>值在</a:t>
            </a:r>
            <a:r>
              <a:rPr lang="en-US" altLang="zh-CN" sz="2400" dirty="0">
                <a:latin typeface="+mn-lt"/>
                <a:ea typeface="SimHei" panose="02010609060101010101" pitchFamily="49" charset="-122"/>
              </a:rPr>
              <a:t>5.6</a:t>
            </a:r>
            <a:r>
              <a:rPr lang="zh-CN" altLang="en-US" sz="2400" dirty="0">
                <a:latin typeface="+mn-lt"/>
                <a:ea typeface="SimHei" panose="02010609060101010101" pitchFamily="49" charset="-122"/>
              </a:rPr>
              <a:t>～</a:t>
            </a:r>
            <a:r>
              <a:rPr lang="en-US" altLang="zh-CN" sz="2400" dirty="0">
                <a:latin typeface="+mn-lt"/>
                <a:ea typeface="SimHei" panose="02010609060101010101" pitchFamily="49" charset="-122"/>
              </a:rPr>
              <a:t>6.6</a:t>
            </a:r>
            <a:r>
              <a:rPr lang="zh-CN" altLang="en-US" sz="2400" dirty="0">
                <a:latin typeface="+mn-lt"/>
                <a:ea typeface="SimHei" panose="02010609060101010101" pitchFamily="49" charset="-122"/>
              </a:rPr>
              <a:t>之间，上妆易脱妆。</a:t>
            </a:r>
          </a:p>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护理过程中应特别</a:t>
            </a:r>
            <a:r>
              <a:rPr lang="zh-CN" altLang="en-US" sz="2400" dirty="0">
                <a:solidFill>
                  <a:srgbClr val="0000FF"/>
                </a:solidFill>
                <a:latin typeface="+mn-lt"/>
                <a:ea typeface="SimHei" panose="02010609060101010101" pitchFamily="49" charset="-122"/>
              </a:rPr>
              <a:t>注意皮肤的清洁，可选用去污力较强的清洁用品，并且选用含油脂少的护肤用品</a:t>
            </a:r>
            <a:r>
              <a:rPr lang="zh-CN" altLang="en-US" sz="2400" dirty="0">
                <a:latin typeface="+mn-lt"/>
                <a:ea typeface="SimHei" panose="02010609060101010101" pitchFamily="49" charset="-122"/>
              </a:rPr>
              <a:t>，以防止堵塞毛孔、诱发粉刺和毛囊炎症，促进囊皮角化使皮脂的分泌正常。</a:t>
            </a:r>
          </a:p>
          <a:p>
            <a:pPr marL="342900" indent="-342900">
              <a:lnSpc>
                <a:spcPct val="150000"/>
              </a:lnSpc>
              <a:buFont typeface="Arial" panose="020B0604020202020204" pitchFamily="34" charset="0"/>
              <a:buChar char="•"/>
            </a:pPr>
            <a:endParaRPr lang="en-US" altLang="zh-CN" sz="2400" dirty="0">
              <a:latin typeface="+mn-lt"/>
              <a:ea typeface="SimHei" panose="02010609060101010101" pitchFamily="49" charset="-122"/>
            </a:endParaRPr>
          </a:p>
        </p:txBody>
      </p:sp>
    </p:spTree>
    <p:extLst>
      <p:ext uri="{BB962C8B-B14F-4D97-AF65-F5344CB8AC3E}">
        <p14:creationId xmlns:p14="http://schemas.microsoft.com/office/powerpoint/2010/main" val="156228490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26</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干性肌肤</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019842"/>
            <a:ext cx="8778240" cy="5006563"/>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solidFill>
                  <a:srgbClr val="0000FF"/>
                </a:solidFill>
                <a:latin typeface="+mn-lt"/>
                <a:ea typeface="SimHei" panose="02010609060101010101" pitchFamily="49" charset="-122"/>
              </a:rPr>
              <a:t>干性肌肤</a:t>
            </a:r>
            <a:r>
              <a:rPr lang="zh-CN" altLang="en-US" sz="2400" dirty="0">
                <a:latin typeface="+mn-lt"/>
                <a:ea typeface="SimHei" panose="02010609060101010101" pitchFamily="49" charset="-122"/>
              </a:rPr>
              <a:t>的特征是皮脂分泌量少，角质层含水量少，皮肤表面无油腻感，肌肤无光泽，紧绷缺乏弹性，毛孔细小，皮肤白皙、细嫩，眼部和唇四周常干燥起皱；洗脸后肌 肤有紧绷感及刺痛，肌肤易受外界环境影响，易生红斑，皮肤毛细血管较明显，易破裂。</a:t>
            </a:r>
            <a:r>
              <a:rPr lang="zh-CN" altLang="en-US" sz="2400" dirty="0">
                <a:solidFill>
                  <a:srgbClr val="0000FF"/>
                </a:solidFill>
                <a:latin typeface="+mn-lt"/>
                <a:ea typeface="SimHei" panose="02010609060101010101" pitchFamily="49" charset="-122"/>
              </a:rPr>
              <a:t>干性皮肤又根据缺水、缺油程度的不同分为干性缺水皮肤和干性缺油皮肤两种</a:t>
            </a:r>
            <a:r>
              <a:rPr lang="zh-CN" altLang="en-US" sz="2400" dirty="0">
                <a:latin typeface="+mn-lt"/>
                <a:ea typeface="SimHei" panose="02010609060101010101" pitchFamily="49" charset="-122"/>
              </a:rPr>
              <a:t>。</a:t>
            </a:r>
          </a:p>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这类肌肤容易出现过敏反应，如保护不好容易出现早期衰老。该类肌肤宜</a:t>
            </a:r>
            <a:r>
              <a:rPr lang="zh-CN" altLang="en-US" sz="2400" dirty="0">
                <a:solidFill>
                  <a:srgbClr val="0000FF"/>
                </a:solidFill>
                <a:latin typeface="+mn-lt"/>
                <a:ea typeface="SimHei" panose="02010609060101010101" pitchFamily="49" charset="-122"/>
              </a:rPr>
              <a:t>选用碱性弱、刺激性小的清洁用品和含油脂高的护肤用品</a:t>
            </a:r>
            <a:r>
              <a:rPr lang="zh-CN" altLang="en-US" sz="2400" dirty="0">
                <a:latin typeface="+mn-lt"/>
                <a:ea typeface="SimHei" panose="02010609060101010101" pitchFamily="49" charset="-122"/>
              </a:rPr>
              <a:t>。</a:t>
            </a:r>
          </a:p>
        </p:txBody>
      </p:sp>
    </p:spTree>
    <p:extLst>
      <p:ext uri="{BB962C8B-B14F-4D97-AF65-F5344CB8AC3E}">
        <p14:creationId xmlns:p14="http://schemas.microsoft.com/office/powerpoint/2010/main" val="258451664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27</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混合性肌肤</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033094"/>
            <a:ext cx="8778240" cy="4452566"/>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兼有油性皮肤和干性皮肤的特征，不同部位其皮肤类型可能 不同。</a:t>
            </a:r>
            <a:r>
              <a:rPr lang="en-US" altLang="zh-CN" sz="2400" dirty="0">
                <a:latin typeface="+mn-lt"/>
                <a:ea typeface="SimHei" panose="02010609060101010101" pitchFamily="49" charset="-122"/>
              </a:rPr>
              <a:t>80%</a:t>
            </a:r>
            <a:r>
              <a:rPr lang="zh-CN" altLang="en-US" sz="2400" dirty="0">
                <a:latin typeface="+mn-lt"/>
                <a:ea typeface="SimHei" panose="02010609060101010101" pitchFamily="49" charset="-122"/>
              </a:rPr>
              <a:t>女性属此类肌肤，如面颊为中性或干性皮肤，而面部</a:t>
            </a:r>
            <a:r>
              <a:rPr lang="en-US" altLang="zh-CN" sz="2400" dirty="0">
                <a:latin typeface="+mn-lt"/>
                <a:ea typeface="SimHei" panose="02010609060101010101" pitchFamily="49" charset="-122"/>
              </a:rPr>
              <a:t>T </a:t>
            </a:r>
            <a:r>
              <a:rPr lang="zh-CN" altLang="en-US" sz="2400" dirty="0">
                <a:latin typeface="+mn-lt"/>
                <a:ea typeface="SimHei" panose="02010609060101010101" pitchFamily="49" charset="-122"/>
              </a:rPr>
              <a:t>形区</a:t>
            </a:r>
            <a:r>
              <a:rPr lang="en-US" altLang="zh-CN" sz="2400" dirty="0">
                <a:latin typeface="+mn-lt"/>
                <a:ea typeface="SimHei" panose="02010609060101010101" pitchFamily="49" charset="-122"/>
              </a:rPr>
              <a:t>(</a:t>
            </a:r>
            <a:r>
              <a:rPr lang="zh-CN" altLang="en-US" sz="2400" dirty="0">
                <a:latin typeface="+mn-lt"/>
                <a:ea typeface="SimHei" panose="02010609060101010101" pitchFamily="49" charset="-122"/>
              </a:rPr>
              <a:t>前额、鼻翼、 下额</a:t>
            </a:r>
            <a:r>
              <a:rPr lang="en-US" altLang="zh-CN" sz="2400" dirty="0">
                <a:latin typeface="+mn-lt"/>
                <a:ea typeface="SimHei" panose="02010609060101010101" pitchFamily="49" charset="-122"/>
              </a:rPr>
              <a:t>)</a:t>
            </a:r>
            <a:r>
              <a:rPr lang="zh-CN" altLang="en-US" sz="2400" dirty="0">
                <a:latin typeface="+mn-lt"/>
                <a:ea typeface="SimHei" panose="02010609060101010101" pitchFamily="49" charset="-122"/>
              </a:rPr>
              <a:t>等部位可能是油性皮肤。</a:t>
            </a:r>
            <a:endParaRPr lang="en-US" altLang="zh-CN" sz="2400" dirty="0">
              <a:latin typeface="+mn-lt"/>
              <a:ea typeface="SimHei" panose="02010609060101010101" pitchFamily="49" charset="-122"/>
            </a:endParaRPr>
          </a:p>
          <a:p>
            <a:pPr marL="342900" indent="-342900">
              <a:lnSpc>
                <a:spcPct val="150000"/>
              </a:lnSpc>
              <a:buFont typeface="Arial" panose="020B0604020202020204" pitchFamily="34" charset="0"/>
              <a:buChar char="•"/>
            </a:pPr>
            <a:endParaRPr lang="en-US" altLang="zh-CN" sz="2400" dirty="0">
              <a:latin typeface="+mn-lt"/>
              <a:ea typeface="SimHei" panose="02010609060101010101" pitchFamily="49" charset="-122"/>
            </a:endParaRPr>
          </a:p>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混合型肌肤护理起来比较困难，可以进行</a:t>
            </a:r>
            <a:r>
              <a:rPr lang="zh-CN" altLang="en-US" sz="2400" dirty="0">
                <a:solidFill>
                  <a:srgbClr val="0000FF"/>
                </a:solidFill>
                <a:latin typeface="+mn-lt"/>
                <a:ea typeface="SimHei" panose="02010609060101010101" pitchFamily="49" charset="-122"/>
              </a:rPr>
              <a:t>分区保养</a:t>
            </a:r>
            <a:r>
              <a:rPr lang="zh-CN" altLang="en-US" sz="2400" dirty="0">
                <a:latin typeface="+mn-lt"/>
                <a:ea typeface="SimHei" panose="02010609060101010101" pitchFamily="49" charset="-122"/>
              </a:rPr>
              <a:t>，如</a:t>
            </a:r>
            <a:r>
              <a:rPr lang="en-US" altLang="zh-CN" sz="2400" dirty="0">
                <a:latin typeface="+mn-lt"/>
                <a:ea typeface="SimHei" panose="02010609060101010101" pitchFamily="49" charset="-122"/>
              </a:rPr>
              <a:t>T </a:t>
            </a:r>
            <a:r>
              <a:rPr lang="zh-CN" altLang="en-US" sz="2400" dirty="0">
                <a:latin typeface="+mn-lt"/>
                <a:ea typeface="SimHei" panose="02010609060101010101" pitchFamily="49" charset="-122"/>
              </a:rPr>
              <a:t>形区以油性皮肤保养法， </a:t>
            </a:r>
            <a:r>
              <a:rPr lang="en-US" altLang="zh-CN" sz="2400" dirty="0">
                <a:latin typeface="+mn-lt"/>
                <a:ea typeface="SimHei" panose="02010609060101010101" pitchFamily="49" charset="-122"/>
              </a:rPr>
              <a:t>V </a:t>
            </a:r>
            <a:r>
              <a:rPr lang="zh-CN" altLang="en-US" sz="2400" dirty="0">
                <a:latin typeface="+mn-lt"/>
                <a:ea typeface="SimHei" panose="02010609060101010101" pitchFamily="49" charset="-122"/>
              </a:rPr>
              <a:t>形区以干性肌肤保养法。也可以采用油性皮肤的护理方法进行护理，护理以水性滋养剂为主。在饮食上注意</a:t>
            </a:r>
            <a:r>
              <a:rPr lang="zh-CN" altLang="en-US" sz="2400" dirty="0">
                <a:solidFill>
                  <a:srgbClr val="0000FF"/>
                </a:solidFill>
                <a:latin typeface="+mn-lt"/>
                <a:ea typeface="SimHei" panose="02010609060101010101" pitchFamily="49" charset="-122"/>
              </a:rPr>
              <a:t>少吃肥肉及含脂肪多的食品</a:t>
            </a:r>
            <a:r>
              <a:rPr lang="zh-CN" altLang="en-US" sz="2400" dirty="0">
                <a:latin typeface="+mn-lt"/>
                <a:ea typeface="SimHei" panose="02010609060101010101" pitchFamily="49" charset="-122"/>
              </a:rPr>
              <a:t>。</a:t>
            </a:r>
            <a:endParaRPr lang="en-US" altLang="zh-CN" sz="2400" dirty="0">
              <a:latin typeface="+mn-lt"/>
              <a:ea typeface="SimHei" panose="02010609060101010101" pitchFamily="49" charset="-122"/>
            </a:endParaRPr>
          </a:p>
        </p:txBody>
      </p:sp>
    </p:spTree>
    <p:extLst>
      <p:ext uri="{BB962C8B-B14F-4D97-AF65-F5344CB8AC3E}">
        <p14:creationId xmlns:p14="http://schemas.microsoft.com/office/powerpoint/2010/main" val="137107118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28</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敏感性肌肤</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998926"/>
            <a:ext cx="8778240" cy="5563831"/>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solidFill>
                  <a:srgbClr val="0000FF"/>
                </a:solidFill>
                <a:latin typeface="+mn-lt"/>
                <a:ea typeface="SimHei" panose="02010609060101010101" pitchFamily="49" charset="-122"/>
              </a:rPr>
              <a:t>敏感性皮肤</a:t>
            </a:r>
            <a:r>
              <a:rPr lang="zh-CN" altLang="en-US" sz="2400" dirty="0">
                <a:latin typeface="+mn-lt"/>
                <a:ea typeface="SimHei" panose="02010609060101010101" pitchFamily="49" charset="-122"/>
              </a:rPr>
              <a:t>是一种问题性皮肤，任何肤质中都可能有敏感性肌肤。敏感性皮肤看 上去皮肤较薄，</a:t>
            </a:r>
            <a:r>
              <a:rPr lang="zh-CN" altLang="en-US" sz="2400" dirty="0">
                <a:solidFill>
                  <a:srgbClr val="FF0000"/>
                </a:solidFill>
                <a:latin typeface="+mn-lt"/>
                <a:ea typeface="SimHei" panose="02010609060101010101" pitchFamily="49" charset="-122"/>
              </a:rPr>
              <a:t>容易过敏</a:t>
            </a:r>
            <a:r>
              <a:rPr lang="zh-CN" altLang="en-US" sz="2400" dirty="0">
                <a:latin typeface="+mn-lt"/>
                <a:ea typeface="SimHei" panose="02010609060101010101" pitchFamily="49" charset="-122"/>
              </a:rPr>
              <a:t>，脸上的红血丝明显</a:t>
            </a:r>
            <a:r>
              <a:rPr lang="en-US" altLang="zh-CN" sz="2400" dirty="0">
                <a:latin typeface="+mn-lt"/>
                <a:ea typeface="SimHei" panose="02010609060101010101" pitchFamily="49" charset="-122"/>
              </a:rPr>
              <a:t>(</a:t>
            </a:r>
            <a:r>
              <a:rPr lang="zh-CN" altLang="en-US" sz="2400" dirty="0">
                <a:latin typeface="+mn-lt"/>
                <a:ea typeface="SimHei" panose="02010609060101010101" pitchFamily="49" charset="-122"/>
              </a:rPr>
              <a:t>扩张的毛细血管</a:t>
            </a:r>
            <a:r>
              <a:rPr lang="en-US" altLang="zh-CN" sz="2400" dirty="0">
                <a:latin typeface="+mn-lt"/>
                <a:ea typeface="SimHei" panose="02010609060101010101" pitchFamily="49" charset="-122"/>
              </a:rPr>
              <a:t>);</a:t>
            </a:r>
            <a:r>
              <a:rPr lang="zh-CN" altLang="en-US" sz="2400" dirty="0">
                <a:latin typeface="+mn-lt"/>
                <a:ea typeface="SimHei" panose="02010609060101010101" pitchFamily="49" charset="-122"/>
              </a:rPr>
              <a:t>皮肤容易泛红， 一般温度变化，过冷或过热，皮肤都容易泛红、发热；容易受环境因素、季节变化及面部保养品刺激。</a:t>
            </a:r>
            <a:r>
              <a:rPr lang="zh-CN" altLang="en-US" sz="2400" dirty="0">
                <a:solidFill>
                  <a:srgbClr val="FF0000"/>
                </a:solidFill>
                <a:latin typeface="+mn-lt"/>
                <a:ea typeface="SimHei" panose="02010609060101010101" pitchFamily="49" charset="-122"/>
              </a:rPr>
              <a:t>敏感性皮肤通常归咎于遗传因素，但更多的是由于使用了激素类的化妆品导致成为敏感肌肤，并可能伴有全身的皮肤敏感</a:t>
            </a:r>
            <a:r>
              <a:rPr lang="zh-CN" altLang="en-US" sz="2400" dirty="0">
                <a:latin typeface="+mn-lt"/>
                <a:ea typeface="SimHei" panose="02010609060101010101" pitchFamily="49" charset="-122"/>
              </a:rPr>
              <a:t>。</a:t>
            </a:r>
          </a:p>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对于这类肌肤宜</a:t>
            </a:r>
            <a:r>
              <a:rPr lang="zh-CN" altLang="en-US" sz="2400" dirty="0">
                <a:solidFill>
                  <a:srgbClr val="0000FF"/>
                </a:solidFill>
                <a:latin typeface="+mn-lt"/>
                <a:ea typeface="SimHei" panose="02010609060101010101" pitchFamily="49" charset="-122"/>
              </a:rPr>
              <a:t>选用天然、不含香料及刺激内分泌的护肤品，不宜使用含药物成分或营养成分的化妆品。</a:t>
            </a:r>
          </a:p>
          <a:p>
            <a:pPr marL="342900" indent="-342900">
              <a:lnSpc>
                <a:spcPct val="150000"/>
              </a:lnSpc>
              <a:buFont typeface="Arial" panose="020B0604020202020204" pitchFamily="34" charset="0"/>
              <a:buChar char="•"/>
            </a:pPr>
            <a:endParaRPr lang="en-US" altLang="zh-CN" sz="2400" dirty="0">
              <a:latin typeface="+mn-lt"/>
              <a:ea typeface="SimHei" panose="02010609060101010101" pitchFamily="49" charset="-122"/>
            </a:endParaRPr>
          </a:p>
        </p:txBody>
      </p:sp>
    </p:spTree>
    <p:extLst>
      <p:ext uri="{BB962C8B-B14F-4D97-AF65-F5344CB8AC3E}">
        <p14:creationId xmlns:p14="http://schemas.microsoft.com/office/powerpoint/2010/main" val="171504308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29</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皮肤的分类</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606610" y="1597191"/>
            <a:ext cx="7461065" cy="2793842"/>
          </a:xfrm>
          <a:prstGeom prst="rect">
            <a:avLst/>
          </a:prstGeom>
          <a:noFill/>
        </p:spPr>
        <p:txBody>
          <a:bodyPr wrap="square" rtlCol="0">
            <a:spAutoFit/>
          </a:bodyPr>
          <a:lstStyle/>
          <a:p>
            <a:pPr>
              <a:lnSpc>
                <a:spcPct val="150000"/>
              </a:lnSpc>
            </a:pPr>
            <a:r>
              <a:rPr lang="zh-CN" altLang="en-US" sz="2400" dirty="0">
                <a:latin typeface="+mn-lt"/>
                <a:ea typeface="SimHei" panose="02010609060101010101" pitchFamily="49" charset="-122"/>
              </a:rPr>
              <a:t>判断皮肤状态对进行正确的皮肤护理是十分重要的。</a:t>
            </a:r>
            <a:r>
              <a:rPr lang="zh-CN" altLang="en-US" sz="2400" dirty="0">
                <a:solidFill>
                  <a:srgbClr val="0000FF"/>
                </a:solidFill>
                <a:latin typeface="+mn-lt"/>
                <a:ea typeface="SimHei" panose="02010609060101010101" pitchFamily="49" charset="-122"/>
              </a:rPr>
              <a:t>皮肤的类型并不是终生不变</a:t>
            </a:r>
            <a:r>
              <a:rPr lang="zh-CN" altLang="en-US" sz="2400" dirty="0">
                <a:latin typeface="+mn-lt"/>
                <a:ea typeface="SimHei" panose="02010609060101010101" pitchFamily="49" charset="-122"/>
              </a:rPr>
              <a:t>的，它随着人的体质因素及自然环境变化而在不断地改变着，但一般的规律是</a:t>
            </a:r>
            <a:r>
              <a:rPr lang="zh-CN" altLang="en-US" sz="2400" dirty="0">
                <a:solidFill>
                  <a:srgbClr val="0000FF"/>
                </a:solidFill>
                <a:latin typeface="+mn-lt"/>
                <a:ea typeface="SimHei" panose="02010609060101010101" pitchFamily="49" charset="-122"/>
              </a:rPr>
              <a:t>各类皮肤容易向干性肌肤转化</a:t>
            </a:r>
            <a:r>
              <a:rPr lang="zh-CN" altLang="en-US" sz="2400" dirty="0">
                <a:latin typeface="+mn-lt"/>
                <a:ea typeface="SimHei" panose="02010609060101010101" pitchFamily="49" charset="-122"/>
              </a:rPr>
              <a:t>。</a:t>
            </a:r>
          </a:p>
          <a:p>
            <a:pPr marL="342900" indent="-342900">
              <a:lnSpc>
                <a:spcPct val="150000"/>
              </a:lnSpc>
              <a:buFont typeface="Arial" panose="020B0604020202020204" pitchFamily="34" charset="0"/>
              <a:buChar char="•"/>
            </a:pPr>
            <a:endParaRPr lang="en-US" altLang="zh-CN" sz="2400" dirty="0">
              <a:latin typeface="+mn-lt"/>
              <a:ea typeface="SimHei" panose="02010609060101010101" pitchFamily="49" charset="-122"/>
            </a:endParaRPr>
          </a:p>
        </p:txBody>
      </p:sp>
    </p:spTree>
    <p:extLst>
      <p:ext uri="{BB962C8B-B14F-4D97-AF65-F5344CB8AC3E}">
        <p14:creationId xmlns:p14="http://schemas.microsoft.com/office/powerpoint/2010/main" val="76330087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30</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皮肤清洁类化妆品</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606610" y="1597191"/>
            <a:ext cx="7461065" cy="3901837"/>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分类</a:t>
            </a:r>
            <a:endParaRPr lang="en-US" altLang="zh-CN" sz="2400" dirty="0">
              <a:latin typeface="+mn-lt"/>
              <a:ea typeface="SimHei" panose="02010609060101010101" pitchFamily="49" charset="-122"/>
            </a:endParaRPr>
          </a:p>
          <a:p>
            <a:pPr>
              <a:lnSpc>
                <a:spcPct val="150000"/>
              </a:lnSpc>
            </a:pPr>
            <a:r>
              <a:rPr lang="zh-CN" altLang="en-US" sz="2400" dirty="0">
                <a:latin typeface="+mn-lt"/>
                <a:ea typeface="SimHei" panose="02010609060101010101" pitchFamily="49" charset="-122"/>
              </a:rPr>
              <a:t>① 以皂基或其他表面活性剂为主体的泡沫型；</a:t>
            </a:r>
            <a:endParaRPr lang="en-US" altLang="zh-CN" sz="2400" dirty="0">
              <a:latin typeface="+mn-lt"/>
              <a:ea typeface="SimHei" panose="02010609060101010101" pitchFamily="49" charset="-122"/>
            </a:endParaRPr>
          </a:p>
          <a:p>
            <a:pPr>
              <a:lnSpc>
                <a:spcPct val="150000"/>
              </a:lnSpc>
            </a:pPr>
            <a:r>
              <a:rPr lang="zh-CN" altLang="en-US" sz="2400" dirty="0">
                <a:latin typeface="+mn-lt"/>
                <a:ea typeface="SimHei" panose="02010609060101010101" pitchFamily="49" charset="-122"/>
              </a:rPr>
              <a:t>② 以乳化体系为主，复配少量的清洁型表面活性剂，形成的乳化型清洁产品；</a:t>
            </a:r>
            <a:endParaRPr lang="en-US" altLang="zh-CN" sz="2400" dirty="0">
              <a:latin typeface="+mn-lt"/>
              <a:ea typeface="SimHei" panose="02010609060101010101" pitchFamily="49" charset="-122"/>
            </a:endParaRPr>
          </a:p>
          <a:p>
            <a:pPr>
              <a:lnSpc>
                <a:spcPct val="150000"/>
              </a:lnSpc>
            </a:pPr>
            <a:r>
              <a:rPr lang="zh-CN" altLang="en-US" sz="2400" dirty="0">
                <a:latin typeface="+mn-lt"/>
                <a:ea typeface="SimHei" panose="02010609060101010101" pitchFamily="49" charset="-122"/>
              </a:rPr>
              <a:t>③ 以油性成分为主，添加保湿剂、酒精或其他溶剂等清洁作用产品。</a:t>
            </a:r>
          </a:p>
          <a:p>
            <a:pPr marL="342900" indent="-342900">
              <a:lnSpc>
                <a:spcPct val="150000"/>
              </a:lnSpc>
              <a:buFont typeface="Arial" panose="020B0604020202020204" pitchFamily="34" charset="0"/>
              <a:buChar char="•"/>
            </a:pPr>
            <a:endParaRPr lang="en-US" altLang="zh-CN" sz="2400" dirty="0">
              <a:latin typeface="+mn-lt"/>
              <a:ea typeface="SimHei" panose="02010609060101010101" pitchFamily="49" charset="-122"/>
            </a:endParaRPr>
          </a:p>
        </p:txBody>
      </p:sp>
    </p:spTree>
    <p:extLst>
      <p:ext uri="{BB962C8B-B14F-4D97-AF65-F5344CB8AC3E}">
        <p14:creationId xmlns:p14="http://schemas.microsoft.com/office/powerpoint/2010/main" val="119491938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31</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皮肤清洁类化妆品</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009721"/>
            <a:ext cx="8778240" cy="4991751"/>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泡沫型洁面产品的基本要求是必须具有一定的去污能力和起泡能力，并具有良好的洗后肤感。对清洁作用过程的概括如下</a:t>
            </a:r>
            <a:endParaRPr lang="en-US" altLang="zh-CN" sz="2400" dirty="0">
              <a:latin typeface="+mn-lt"/>
              <a:ea typeface="SimHei" panose="02010609060101010101" pitchFamily="49" charset="-122"/>
            </a:endParaRPr>
          </a:p>
          <a:p>
            <a:pPr>
              <a:lnSpc>
                <a:spcPct val="150000"/>
              </a:lnSpc>
            </a:pPr>
            <a:r>
              <a:rPr lang="zh-CN" altLang="en-US" sz="2400" dirty="0">
                <a:latin typeface="+mn-lt"/>
                <a:ea typeface="SimHei" panose="02010609060101010101" pitchFamily="49" charset="-122"/>
              </a:rPr>
              <a:t>①去污作用</a:t>
            </a:r>
            <a:endParaRPr lang="en-US" altLang="zh-CN" sz="2400" dirty="0">
              <a:latin typeface="+mn-lt"/>
              <a:ea typeface="SimHei" panose="02010609060101010101" pitchFamily="49" charset="-122"/>
            </a:endParaRPr>
          </a:p>
          <a:p>
            <a:pPr>
              <a:lnSpc>
                <a:spcPct val="150000"/>
              </a:lnSpc>
            </a:pPr>
            <a:r>
              <a:rPr lang="en-US" altLang="zh-CN" sz="2400" dirty="0">
                <a:latin typeface="KaiTi" panose="02010609060101010101" pitchFamily="49" charset="-122"/>
                <a:ea typeface="KaiTi" panose="02010609060101010101" pitchFamily="49" charset="-122"/>
              </a:rPr>
              <a:t>	</a:t>
            </a:r>
            <a:r>
              <a:rPr lang="zh-CN" altLang="en-US" sz="2400" dirty="0">
                <a:latin typeface="KaiTi" panose="02010609060101010101" pitchFamily="49" charset="-122"/>
                <a:ea typeface="KaiTi" panose="02010609060101010101" pitchFamily="49" charset="-122"/>
              </a:rPr>
              <a:t>表面活性剂与污垢接触，吸附于污垢表面，表面活性剂改变污垢表面的亲水性，使污垢脱离载体可以分散到溶液中，表面活性剂对进入溶液的污垢进行乳化增溶，稳定分散于溶液中，经清水反复漂洗而达到洗涤效果。</a:t>
            </a:r>
            <a:endParaRPr lang="en-US" altLang="zh-CN" sz="2400" dirty="0">
              <a:latin typeface="KaiTi" panose="02010609060101010101" pitchFamily="49" charset="-122"/>
              <a:ea typeface="KaiTi" panose="02010609060101010101" pitchFamily="49" charset="-122"/>
            </a:endParaRPr>
          </a:p>
          <a:p>
            <a:pPr>
              <a:lnSpc>
                <a:spcPct val="150000"/>
              </a:lnSpc>
            </a:pPr>
            <a:r>
              <a:rPr lang="en-US" altLang="zh-CN" sz="2400" dirty="0">
                <a:latin typeface="KaiTi" panose="02010609060101010101" pitchFamily="49" charset="-122"/>
                <a:ea typeface="KaiTi" panose="02010609060101010101" pitchFamily="49" charset="-122"/>
              </a:rPr>
              <a:t>	</a:t>
            </a:r>
            <a:r>
              <a:rPr lang="zh-CN" altLang="en-US" sz="2400" dirty="0">
                <a:solidFill>
                  <a:srgbClr val="0000FF"/>
                </a:solidFill>
                <a:latin typeface="KaiTi" panose="02010609060101010101" pitchFamily="49" charset="-122"/>
                <a:ea typeface="KaiTi" panose="02010609060101010101" pitchFamily="49" charset="-122"/>
              </a:rPr>
              <a:t>去污力比较强的表面活性剂是阴离子表面活性剂和非离子表面活性剂，两性表面活性剂具有中等强度的去污力。</a:t>
            </a:r>
            <a:endParaRPr lang="en-US" altLang="zh-CN" sz="2400" dirty="0">
              <a:solidFill>
                <a:srgbClr val="0000FF"/>
              </a:solidFill>
              <a:latin typeface="KaiTi" panose="02010609060101010101" pitchFamily="49" charset="-122"/>
              <a:ea typeface="KaiTi" panose="02010609060101010101" pitchFamily="49" charset="-122"/>
            </a:endParaRPr>
          </a:p>
        </p:txBody>
      </p:sp>
    </p:spTree>
    <p:extLst>
      <p:ext uri="{BB962C8B-B14F-4D97-AF65-F5344CB8AC3E}">
        <p14:creationId xmlns:p14="http://schemas.microsoft.com/office/powerpoint/2010/main" val="236212843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32</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皮肤清洁类化妆品</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5" name="文本框 4">
            <a:extLst>
              <a:ext uri="{FF2B5EF4-FFF2-40B4-BE49-F238E27FC236}">
                <a16:creationId xmlns:a16="http://schemas.microsoft.com/office/drawing/2014/main" id="{991F65B2-C0FC-33C4-5CE9-55AA1061F52F}"/>
              </a:ext>
            </a:extLst>
          </p:cNvPr>
          <p:cNvSpPr txBox="1"/>
          <p:nvPr/>
        </p:nvSpPr>
        <p:spPr>
          <a:xfrm>
            <a:off x="182880" y="1009721"/>
            <a:ext cx="8778240" cy="5545749"/>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泡沫型洁面产品的基本要求是必须具有一定的去污能力和起泡能力，并具有良好的洗后肤感。对清洁作用过程的概括如下</a:t>
            </a:r>
            <a:endParaRPr lang="en-US" altLang="zh-CN" sz="2400" dirty="0">
              <a:latin typeface="+mn-lt"/>
              <a:ea typeface="SimHei" panose="02010609060101010101" pitchFamily="49" charset="-122"/>
            </a:endParaRPr>
          </a:p>
          <a:p>
            <a:pPr>
              <a:lnSpc>
                <a:spcPct val="150000"/>
              </a:lnSpc>
            </a:pPr>
            <a:r>
              <a:rPr lang="zh-CN" altLang="en-US" sz="2400" dirty="0">
                <a:latin typeface="+mn-lt"/>
                <a:ea typeface="SimHei" panose="02010609060101010101" pitchFamily="49" charset="-122"/>
              </a:rPr>
              <a:t>②起泡作用</a:t>
            </a:r>
            <a:endParaRPr lang="en-US" altLang="zh-CN" sz="2400" dirty="0">
              <a:latin typeface="+mn-lt"/>
              <a:ea typeface="SimHei" panose="02010609060101010101" pitchFamily="49" charset="-122"/>
            </a:endParaRPr>
          </a:p>
          <a:p>
            <a:pPr>
              <a:lnSpc>
                <a:spcPct val="150000"/>
              </a:lnSpc>
            </a:pPr>
            <a:r>
              <a:rPr lang="en-US" altLang="zh-CN" sz="2400" dirty="0">
                <a:latin typeface="KaiTi" panose="02010609060101010101" pitchFamily="49" charset="-122"/>
                <a:ea typeface="KaiTi" panose="02010609060101010101" pitchFamily="49" charset="-122"/>
              </a:rPr>
              <a:t>	</a:t>
            </a:r>
            <a:r>
              <a:rPr lang="zh-CN" altLang="en-US" sz="2400" dirty="0">
                <a:solidFill>
                  <a:srgbClr val="0000FF"/>
                </a:solidFill>
                <a:latin typeface="KaiTi" panose="02010609060101010101" pitchFamily="49" charset="-122"/>
                <a:ea typeface="KaiTi" panose="02010609060101010101" pitchFamily="49" charset="-122"/>
              </a:rPr>
              <a:t>泡沫丰富与否与去污能力并没有直接的联系，但消费者已将泡沫型洁面产品与泡沫紧密地联系在一起</a:t>
            </a:r>
            <a:r>
              <a:rPr lang="zh-CN" altLang="en-US" sz="2400" dirty="0">
                <a:latin typeface="KaiTi" panose="02010609060101010101" pitchFamily="49" charset="-122"/>
                <a:ea typeface="KaiTi" panose="02010609060101010101" pitchFamily="49" charset="-122"/>
              </a:rPr>
              <a:t>，在化妆品广告中 经常出现一些形容泡沫的词语，如“丰富细腻的泡沫</a:t>
            </a:r>
            <a:r>
              <a:rPr lang="en-US" altLang="zh-CN" sz="2400" dirty="0">
                <a:latin typeface="KaiTi" panose="02010609060101010101" pitchFamily="49" charset="-122"/>
                <a:ea typeface="KaiTi" panose="02010609060101010101" pitchFamily="49" charset="-122"/>
              </a:rPr>
              <a:t>"“</a:t>
            </a:r>
            <a:r>
              <a:rPr lang="zh-CN" altLang="en-US" sz="2400" dirty="0">
                <a:latin typeface="KaiTi" panose="02010609060101010101" pitchFamily="49" charset="-122"/>
                <a:ea typeface="KaiTi" panose="02010609060101010101" pitchFamily="49" charset="-122"/>
              </a:rPr>
              <a:t>奶油状的泡沫”等。</a:t>
            </a:r>
            <a:endParaRPr lang="en-US" altLang="zh-CN" sz="2400" dirty="0">
              <a:latin typeface="KaiTi" panose="02010609060101010101" pitchFamily="49" charset="-122"/>
              <a:ea typeface="KaiTi" panose="02010609060101010101" pitchFamily="49" charset="-122"/>
            </a:endParaRPr>
          </a:p>
          <a:p>
            <a:pPr>
              <a:lnSpc>
                <a:spcPct val="150000"/>
              </a:lnSpc>
            </a:pPr>
            <a:r>
              <a:rPr lang="en-US" altLang="zh-CN" sz="2400" dirty="0">
                <a:latin typeface="KaiTi" panose="02010609060101010101" pitchFamily="49" charset="-122"/>
                <a:ea typeface="KaiTi" panose="02010609060101010101" pitchFamily="49" charset="-122"/>
              </a:rPr>
              <a:t>	</a:t>
            </a:r>
            <a:r>
              <a:rPr lang="zh-CN" altLang="en-US" sz="2400" dirty="0">
                <a:latin typeface="KaiTi" panose="02010609060101010101" pitchFamily="49" charset="-122"/>
                <a:ea typeface="KaiTi" panose="02010609060101010101" pitchFamily="49" charset="-122"/>
              </a:rPr>
              <a:t>当然，</a:t>
            </a:r>
            <a:r>
              <a:rPr lang="zh-CN" altLang="en-US" sz="2400" dirty="0">
                <a:solidFill>
                  <a:srgbClr val="0000FF"/>
                </a:solidFill>
                <a:latin typeface="KaiTi" panose="02010609060101010101" pitchFamily="49" charset="-122"/>
                <a:ea typeface="KaiTi" panose="02010609060101010101" pitchFamily="49" charset="-122"/>
              </a:rPr>
              <a:t>泡沫也具有一定的携带污垢作用和润滑作用，选择发泡性好的表面活性剂对于改善洁面类产品的洗涤效果</a:t>
            </a:r>
            <a:r>
              <a:rPr lang="zh-CN" altLang="en-US" sz="2400" dirty="0">
                <a:latin typeface="KaiTi" panose="02010609060101010101" pitchFamily="49" charset="-122"/>
                <a:ea typeface="KaiTi" panose="02010609060101010101" pitchFamily="49" charset="-122"/>
              </a:rPr>
              <a:t>是有一定帮助的。</a:t>
            </a:r>
            <a:endParaRPr lang="en-US" altLang="zh-CN" sz="2400" dirty="0">
              <a:latin typeface="KaiTi" panose="02010609060101010101" pitchFamily="49" charset="-122"/>
              <a:ea typeface="KaiTi" panose="02010609060101010101" pitchFamily="49" charset="-122"/>
            </a:endParaRPr>
          </a:p>
        </p:txBody>
      </p:sp>
    </p:spTree>
    <p:extLst>
      <p:ext uri="{BB962C8B-B14F-4D97-AF65-F5344CB8AC3E}">
        <p14:creationId xmlns:p14="http://schemas.microsoft.com/office/powerpoint/2010/main" val="315040016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33</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皮肤清洁类化妆品</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5" name="文本框 4">
            <a:extLst>
              <a:ext uri="{FF2B5EF4-FFF2-40B4-BE49-F238E27FC236}">
                <a16:creationId xmlns:a16="http://schemas.microsoft.com/office/drawing/2014/main" id="{991F65B2-C0FC-33C4-5CE9-55AA1061F52F}"/>
              </a:ext>
            </a:extLst>
          </p:cNvPr>
          <p:cNvSpPr txBox="1"/>
          <p:nvPr/>
        </p:nvSpPr>
        <p:spPr>
          <a:xfrm>
            <a:off x="182880" y="1009721"/>
            <a:ext cx="8778240" cy="4437753"/>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泡沫型洁面产品的基本要求是必须具有一定的去污能力和起泡能力，并具有良好的洗后肤感。对清洁作用过程的概括如</a:t>
            </a:r>
            <a:endParaRPr lang="en-US" altLang="zh-CN" sz="2400" dirty="0">
              <a:latin typeface="+mn-lt"/>
              <a:ea typeface="SimHei" panose="02010609060101010101" pitchFamily="49" charset="-122"/>
            </a:endParaRPr>
          </a:p>
          <a:p>
            <a:pPr>
              <a:lnSpc>
                <a:spcPct val="150000"/>
              </a:lnSpc>
            </a:pPr>
            <a:r>
              <a:rPr lang="en-US" sz="2400" spc="70" dirty="0">
                <a:solidFill>
                  <a:srgbClr val="000000"/>
                </a:solidFill>
                <a:effectLst/>
                <a:latin typeface="SimHei" panose="02010609060101010101" pitchFamily="49" charset="-122"/>
                <a:ea typeface="SimHei" panose="02010609060101010101" pitchFamily="49" charset="-122"/>
                <a:cs typeface="SimSun" panose="02010600030101010101" pitchFamily="2" charset="-122"/>
              </a:rPr>
              <a:t>③</a:t>
            </a:r>
            <a:r>
              <a:rPr lang="zh-CN" sz="2400" spc="70" dirty="0">
                <a:solidFill>
                  <a:srgbClr val="000000"/>
                </a:solidFill>
                <a:effectLst/>
                <a:latin typeface="SimHei" panose="02010609060101010101" pitchFamily="49" charset="-122"/>
                <a:ea typeface="SimHei" panose="02010609060101010101" pitchFamily="49" charset="-122"/>
                <a:cs typeface="SimSun" panose="02010600030101010101" pitchFamily="2" charset="-122"/>
              </a:rPr>
              <a:t>洗后肤感</a:t>
            </a:r>
            <a:endParaRPr lang="en-US" altLang="zh-CN" sz="2400" spc="70" dirty="0">
              <a:solidFill>
                <a:srgbClr val="000000"/>
              </a:solidFill>
              <a:effectLst/>
              <a:latin typeface="SimHei" panose="02010609060101010101" pitchFamily="49" charset="-122"/>
              <a:ea typeface="SimHei" panose="02010609060101010101" pitchFamily="49" charset="-122"/>
              <a:cs typeface="SimSun" panose="02010600030101010101" pitchFamily="2" charset="-122"/>
            </a:endParaRPr>
          </a:p>
          <a:p>
            <a:pPr>
              <a:lnSpc>
                <a:spcPct val="150000"/>
              </a:lnSpc>
            </a:pPr>
            <a:r>
              <a:rPr lang="en-US" altLang="zh-CN" sz="2400" spc="70" dirty="0">
                <a:solidFill>
                  <a:srgbClr val="000000"/>
                </a:solidFill>
                <a:effectLst/>
                <a:latin typeface="KaiTi" panose="02010609060101010101" pitchFamily="49" charset="-122"/>
                <a:ea typeface="KaiTi" panose="02010609060101010101" pitchFamily="49" charset="-122"/>
                <a:cs typeface="SimSun" panose="02010600030101010101" pitchFamily="2" charset="-122"/>
              </a:rPr>
              <a:t>	</a:t>
            </a:r>
            <a:r>
              <a:rPr lang="zh-CN" sz="2400" spc="70" dirty="0">
                <a:solidFill>
                  <a:srgbClr val="000000"/>
                </a:solidFill>
                <a:effectLst/>
                <a:latin typeface="KaiTi" panose="02010609060101010101" pitchFamily="49" charset="-122"/>
                <a:ea typeface="KaiTi" panose="02010609060101010101" pitchFamily="49" charset="-122"/>
                <a:cs typeface="SimSun" panose="02010600030101010101" pitchFamily="2" charset="-122"/>
              </a:rPr>
              <a:t>越来越多的洁面类产品配方设计</a:t>
            </a:r>
            <a:r>
              <a:rPr lang="zh-CN" sz="2400" spc="75" dirty="0">
                <a:solidFill>
                  <a:srgbClr val="000000"/>
                </a:solidFill>
                <a:effectLst/>
                <a:latin typeface="KaiTi" panose="02010609060101010101" pitchFamily="49" charset="-122"/>
                <a:ea typeface="KaiTi" panose="02010609060101010101" pitchFamily="49" charset="-122"/>
                <a:cs typeface="SimSun" panose="02010600030101010101" pitchFamily="2" charset="-122"/>
              </a:rPr>
              <a:t>考虑到皮肤表面的平衡和健康，更加温和、复配增效等表面</a:t>
            </a:r>
            <a:r>
              <a:rPr lang="zh-CN" sz="2400" spc="70" dirty="0">
                <a:solidFill>
                  <a:srgbClr val="000000"/>
                </a:solidFill>
                <a:effectLst/>
                <a:latin typeface="KaiTi" panose="02010609060101010101" pitchFamily="49" charset="-122"/>
                <a:ea typeface="KaiTi" panose="02010609060101010101" pitchFamily="49" charset="-122"/>
                <a:cs typeface="SimSun" panose="02010600030101010101" pitchFamily="2" charset="-122"/>
              </a:rPr>
              <a:t>活性剂组分运用的同</a:t>
            </a:r>
            <a:r>
              <a:rPr lang="zh-CN" altLang="en-US" sz="2400" spc="70" dirty="0">
                <a:solidFill>
                  <a:srgbClr val="000000"/>
                </a:solidFill>
                <a:latin typeface="KaiTi" panose="02010609060101010101" pitchFamily="49" charset="-122"/>
                <a:ea typeface="KaiTi" panose="02010609060101010101" pitchFamily="49" charset="-122"/>
                <a:cs typeface="SimSun" panose="02010600030101010101" pitchFamily="2" charset="-122"/>
              </a:rPr>
              <a:t>时</a:t>
            </a:r>
            <a:endParaRPr lang="en-US" altLang="zh-CN" sz="2400" spc="70" dirty="0">
              <a:solidFill>
                <a:srgbClr val="000000"/>
              </a:solidFill>
              <a:effectLst/>
              <a:latin typeface="KaiTi" panose="02010609060101010101" pitchFamily="49" charset="-122"/>
              <a:ea typeface="KaiTi" panose="02010609060101010101" pitchFamily="49" charset="-122"/>
              <a:cs typeface="SimSun" panose="02010600030101010101" pitchFamily="2" charset="-122"/>
            </a:endParaRPr>
          </a:p>
          <a:p>
            <a:pPr>
              <a:lnSpc>
                <a:spcPct val="150000"/>
              </a:lnSpc>
            </a:pPr>
            <a:r>
              <a:rPr lang="en-US" altLang="zh-CN" sz="2400" spc="70" dirty="0">
                <a:solidFill>
                  <a:srgbClr val="000000"/>
                </a:solidFill>
                <a:latin typeface="KaiTi" panose="02010609060101010101" pitchFamily="49" charset="-122"/>
                <a:ea typeface="KaiTi" panose="02010609060101010101" pitchFamily="49" charset="-122"/>
                <a:cs typeface="SimSun" panose="02010600030101010101" pitchFamily="2" charset="-122"/>
              </a:rPr>
              <a:t>	</a:t>
            </a:r>
            <a:r>
              <a:rPr lang="zh-CN" sz="2400" spc="70" dirty="0">
                <a:solidFill>
                  <a:srgbClr val="0000FF"/>
                </a:solidFill>
                <a:effectLst/>
                <a:latin typeface="KaiTi" panose="02010609060101010101" pitchFamily="49" charset="-122"/>
                <a:ea typeface="KaiTi" panose="02010609060101010101" pitchFamily="49" charset="-122"/>
                <a:cs typeface="SimSun" panose="02010600030101010101" pitchFamily="2" charset="-122"/>
              </a:rPr>
              <a:t>添加一定量的油分以降低产品对肌肤的刺激</a:t>
            </a:r>
            <a:r>
              <a:rPr lang="zh-CN" sz="2400" spc="70" dirty="0">
                <a:solidFill>
                  <a:srgbClr val="000000"/>
                </a:solidFill>
                <a:effectLst/>
                <a:latin typeface="KaiTi" panose="02010609060101010101" pitchFamily="49" charset="-122"/>
                <a:ea typeface="KaiTi" panose="02010609060101010101" pitchFamily="49" charset="-122"/>
                <a:cs typeface="SimSun" panose="02010600030101010101" pitchFamily="2" charset="-122"/>
              </a:rPr>
              <a:t>，并提升护肤效果、滋润度等，从而改善洁肤产品的洗后肤感。</a:t>
            </a:r>
            <a:endParaRPr lang="en-US" altLang="zh-CN" sz="2400" spc="70" dirty="0">
              <a:solidFill>
                <a:srgbClr val="000000"/>
              </a:solidFill>
              <a:effectLst/>
              <a:latin typeface="KaiTi" panose="02010609060101010101" pitchFamily="49" charset="-122"/>
              <a:ea typeface="KaiTi" panose="02010609060101010101" pitchFamily="49" charset="-122"/>
              <a:cs typeface="SimSun" panose="02010600030101010101" pitchFamily="2" charset="-122"/>
            </a:endParaRPr>
          </a:p>
          <a:p>
            <a:pPr>
              <a:lnSpc>
                <a:spcPct val="150000"/>
              </a:lnSpc>
            </a:pPr>
            <a:r>
              <a:rPr lang="en-US" altLang="zh-CN" sz="2400" spc="70" dirty="0">
                <a:solidFill>
                  <a:srgbClr val="000000"/>
                </a:solidFill>
                <a:latin typeface="KaiTi" panose="02010609060101010101" pitchFamily="49" charset="-122"/>
                <a:ea typeface="KaiTi" panose="02010609060101010101" pitchFamily="49" charset="-122"/>
                <a:cs typeface="SimSun" panose="02010600030101010101" pitchFamily="2" charset="-122"/>
              </a:rPr>
              <a:t>	</a:t>
            </a:r>
            <a:r>
              <a:rPr lang="zh-CN" sz="2400" spc="70" dirty="0">
                <a:solidFill>
                  <a:srgbClr val="0000FF"/>
                </a:solidFill>
                <a:effectLst/>
                <a:latin typeface="KaiTi" panose="02010609060101010101" pitchFamily="49" charset="-122"/>
                <a:ea typeface="KaiTi" panose="02010609060101010101" pitchFamily="49" charset="-122"/>
                <a:cs typeface="SimSun" panose="02010600030101010101" pitchFamily="2" charset="-122"/>
              </a:rPr>
              <a:t>添加一定的保湿成分改善使用后的紧绷</a:t>
            </a:r>
            <a:r>
              <a:rPr lang="zh-CN" sz="2400" spc="70" dirty="0">
                <a:solidFill>
                  <a:srgbClr val="000000"/>
                </a:solidFill>
                <a:effectLst/>
                <a:latin typeface="KaiTi" panose="02010609060101010101" pitchFamily="49" charset="-122"/>
                <a:ea typeface="KaiTi" panose="02010609060101010101" pitchFamily="49" charset="-122"/>
                <a:cs typeface="SimSun" panose="02010600030101010101" pitchFamily="2" charset="-122"/>
              </a:rPr>
              <a:t>，提高舒适度</a:t>
            </a:r>
            <a:r>
              <a:rPr lang="en-US" altLang="zh-CN" sz="2400" spc="70" dirty="0">
                <a:solidFill>
                  <a:srgbClr val="000000"/>
                </a:solidFill>
                <a:effectLst/>
                <a:latin typeface="KaiTi" panose="02010609060101010101" pitchFamily="49" charset="-122"/>
                <a:ea typeface="KaiTi" panose="02010609060101010101" pitchFamily="49" charset="-122"/>
                <a:cs typeface="SimSun" panose="02010600030101010101" pitchFamily="2" charset="-122"/>
              </a:rPr>
              <a:t>.</a:t>
            </a:r>
            <a:endParaRPr lang="en-US" altLang="zh-CN" sz="3200" dirty="0">
              <a:latin typeface="KaiTi" panose="02010609060101010101" pitchFamily="49" charset="-122"/>
              <a:ea typeface="KaiTi" panose="02010609060101010101" pitchFamily="49" charset="-122"/>
            </a:endParaRPr>
          </a:p>
        </p:txBody>
      </p:sp>
    </p:spTree>
    <p:extLst>
      <p:ext uri="{BB962C8B-B14F-4D97-AF65-F5344CB8AC3E}">
        <p14:creationId xmlns:p14="http://schemas.microsoft.com/office/powerpoint/2010/main" val="199505786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34</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液态表面活性剂型洁肤产品</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054984"/>
            <a:ext cx="8778240" cy="2793842"/>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皂基型 </a:t>
            </a:r>
            <a:endParaRPr lang="en-US" altLang="zh-CN" sz="2400" dirty="0">
              <a:latin typeface="+mn-lt"/>
              <a:ea typeface="SimHei" panose="02010609060101010101" pitchFamily="49" charset="-122"/>
            </a:endParaRPr>
          </a:p>
          <a:p>
            <a:pPr>
              <a:lnSpc>
                <a:spcPct val="150000"/>
              </a:lnSpc>
            </a:pPr>
            <a:r>
              <a:rPr lang="en-US" altLang="zh-CN" sz="2400" dirty="0">
                <a:latin typeface="KaiTi" panose="02010609060101010101" pitchFamily="49" charset="-122"/>
                <a:ea typeface="KaiTi" panose="02010609060101010101" pitchFamily="49" charset="-122"/>
              </a:rPr>
              <a:t>	</a:t>
            </a:r>
            <a:r>
              <a:rPr lang="zh-CN" altLang="en-US" sz="2400" dirty="0">
                <a:latin typeface="KaiTi" panose="02010609060101010101" pitchFamily="49" charset="-122"/>
                <a:ea typeface="KaiTi" panose="02010609060101010101" pitchFamily="49" charset="-122"/>
              </a:rPr>
              <a:t>通过脂肪酸和碱经过皂化反应后得到脂肪酸皂，具有容易增稠、</a:t>
            </a:r>
            <a:r>
              <a:rPr lang="zh-CN" altLang="en-US" sz="2400" dirty="0">
                <a:solidFill>
                  <a:srgbClr val="0000FF"/>
                </a:solidFill>
                <a:latin typeface="KaiTi" panose="02010609060101010101" pitchFamily="49" charset="-122"/>
                <a:ea typeface="KaiTi" panose="02010609060101010101" pitchFamily="49" charset="-122"/>
              </a:rPr>
              <a:t>泡沫丰富细腻、去污力好、易冲洗、用后干爽</a:t>
            </a:r>
            <a:r>
              <a:rPr lang="zh-CN" altLang="en-US" sz="2400" dirty="0">
                <a:latin typeface="KaiTi" panose="02010609060101010101" pitchFamily="49" charset="-122"/>
                <a:ea typeface="KaiTi" panose="02010609060101010101" pitchFamily="49" charset="-122"/>
              </a:rPr>
              <a:t>等特点。</a:t>
            </a:r>
            <a:r>
              <a:rPr lang="en-US" altLang="zh-CN" sz="2400" dirty="0">
                <a:latin typeface="KaiTi" panose="02010609060101010101" pitchFamily="49" charset="-122"/>
                <a:ea typeface="KaiTi" panose="02010609060101010101" pitchFamily="49" charset="-122"/>
              </a:rPr>
              <a:t>	</a:t>
            </a:r>
            <a:r>
              <a:rPr lang="zh-CN" altLang="en-US" sz="2400" dirty="0">
                <a:latin typeface="KaiTi" panose="02010609060101010101" pitchFamily="49" charset="-122"/>
                <a:ea typeface="KaiTi" panose="02010609060101010101" pitchFamily="49" charset="-122"/>
              </a:rPr>
              <a:t>皂基体系</a:t>
            </a:r>
            <a:r>
              <a:rPr lang="en-US" altLang="zh-CN" sz="2400" dirty="0">
                <a:solidFill>
                  <a:srgbClr val="FF0000"/>
                </a:solidFill>
                <a:latin typeface="KaiTi" panose="02010609060101010101" pitchFamily="49" charset="-122"/>
                <a:ea typeface="KaiTi" panose="02010609060101010101" pitchFamily="49" charset="-122"/>
              </a:rPr>
              <a:t>pH</a:t>
            </a:r>
            <a:r>
              <a:rPr lang="zh-CN" altLang="en-US" sz="2400" dirty="0">
                <a:solidFill>
                  <a:srgbClr val="FF0000"/>
                </a:solidFill>
                <a:latin typeface="KaiTi" panose="02010609060101010101" pitchFamily="49" charset="-122"/>
                <a:ea typeface="KaiTi" panose="02010609060101010101" pitchFamily="49" charset="-122"/>
              </a:rPr>
              <a:t>值一般较高，脱脂力比较大，洗后有紧绷感</a:t>
            </a:r>
            <a:r>
              <a:rPr lang="zh-CN" altLang="en-US" sz="2400" dirty="0">
                <a:latin typeface="KaiTi" panose="02010609060101010101" pitchFamily="49" charset="-122"/>
                <a:ea typeface="KaiTi" panose="02010609060101010101" pitchFamily="49" charset="-122"/>
              </a:rPr>
              <a:t>。</a:t>
            </a:r>
            <a:endParaRPr lang="en-US" altLang="zh-CN" sz="2400" dirty="0">
              <a:latin typeface="KaiTi" panose="02010609060101010101" pitchFamily="49" charset="-122"/>
              <a:ea typeface="KaiTi" panose="02010609060101010101" pitchFamily="49" charset="-122"/>
            </a:endParaRPr>
          </a:p>
          <a:p>
            <a:pPr marL="342900" indent="-342900">
              <a:lnSpc>
                <a:spcPct val="150000"/>
              </a:lnSpc>
              <a:buFont typeface="Arial" panose="020B0604020202020204" pitchFamily="34" charset="0"/>
              <a:buChar char="•"/>
            </a:pPr>
            <a:endParaRPr lang="en-US" altLang="zh-CN" sz="2400" dirty="0">
              <a:latin typeface="+mn-lt"/>
              <a:ea typeface="SimHei" panose="02010609060101010101" pitchFamily="49" charset="-122"/>
            </a:endParaRPr>
          </a:p>
        </p:txBody>
      </p:sp>
    </p:spTree>
    <p:extLst>
      <p:ext uri="{BB962C8B-B14F-4D97-AF65-F5344CB8AC3E}">
        <p14:creationId xmlns:p14="http://schemas.microsoft.com/office/powerpoint/2010/main" val="241787089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35</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液态表面活性剂型洁肤产品</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165614"/>
            <a:ext cx="8778240" cy="3344570"/>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其他表面活性剂体系 </a:t>
            </a:r>
            <a:endParaRPr lang="en-US" altLang="zh-CN" sz="2400" dirty="0">
              <a:latin typeface="+mn-lt"/>
              <a:ea typeface="SimHei" panose="02010609060101010101" pitchFamily="49" charset="-122"/>
            </a:endParaRPr>
          </a:p>
          <a:p>
            <a:pPr>
              <a:lnSpc>
                <a:spcPct val="150000"/>
              </a:lnSpc>
            </a:pPr>
            <a:r>
              <a:rPr lang="en-US" altLang="zh-CN" sz="2400" dirty="0">
                <a:latin typeface="+mn-lt"/>
                <a:ea typeface="SimHei" panose="02010609060101010101" pitchFamily="49" charset="-122"/>
              </a:rPr>
              <a:t>	</a:t>
            </a:r>
            <a:r>
              <a:rPr lang="zh-CN" altLang="en-US" sz="2400" dirty="0">
                <a:latin typeface="KaiTi" panose="02010609060101010101" pitchFamily="49" charset="-122"/>
                <a:ea typeface="KaiTi" panose="02010609060101010101" pitchFamily="49" charset="-122"/>
              </a:rPr>
              <a:t>以脂肪醇聚氧乙烯醚硫酸钠 </a:t>
            </a:r>
            <a:r>
              <a:rPr lang="en-US" altLang="zh-CN" sz="2400" dirty="0">
                <a:latin typeface="KaiTi" panose="02010609060101010101" pitchFamily="49" charset="-122"/>
                <a:ea typeface="KaiTi" panose="02010609060101010101" pitchFamily="49" charset="-122"/>
              </a:rPr>
              <a:t>(AES)</a:t>
            </a:r>
            <a:r>
              <a:rPr lang="zh-CN" altLang="en-US" sz="2400" dirty="0">
                <a:latin typeface="KaiTi" panose="02010609060101010101" pitchFamily="49" charset="-122"/>
                <a:ea typeface="KaiTi" panose="02010609060101010101" pitchFamily="49" charset="-122"/>
              </a:rPr>
              <a:t>、烷基磷酸酯及其盐类 </a:t>
            </a:r>
            <a:r>
              <a:rPr lang="en-US" altLang="zh-CN" sz="2400" dirty="0">
                <a:latin typeface="KaiTi" panose="02010609060101010101" pitchFamily="49" charset="-122"/>
                <a:ea typeface="KaiTi" panose="02010609060101010101" pitchFamily="49" charset="-122"/>
              </a:rPr>
              <a:t>(MAP)</a:t>
            </a:r>
            <a:r>
              <a:rPr lang="zh-CN" altLang="en-US" sz="2400" dirty="0">
                <a:latin typeface="KaiTi" panose="02010609060101010101" pitchFamily="49" charset="-122"/>
                <a:ea typeface="KaiTi" panose="02010609060101010101" pitchFamily="49" charset="-122"/>
              </a:rPr>
              <a:t>、烷基聚氧乙烯醚磷酸单酯</a:t>
            </a:r>
            <a:r>
              <a:rPr lang="en-US" altLang="zh-CN" sz="2400" dirty="0">
                <a:latin typeface="KaiTi" panose="02010609060101010101" pitchFamily="49" charset="-122"/>
                <a:ea typeface="KaiTi" panose="02010609060101010101" pitchFamily="49" charset="-122"/>
              </a:rPr>
              <a:t>(MAPL)</a:t>
            </a:r>
            <a:r>
              <a:rPr lang="zh-CN" altLang="en-US" sz="2400" dirty="0">
                <a:latin typeface="KaiTi" panose="02010609060101010101" pitchFamily="49" charset="-122"/>
                <a:ea typeface="KaiTi" panose="02010609060101010101" pitchFamily="49" charset="-122"/>
              </a:rPr>
              <a:t>及其钾盐</a:t>
            </a:r>
            <a:r>
              <a:rPr lang="en-US" altLang="zh-CN" sz="2400" dirty="0">
                <a:latin typeface="KaiTi" panose="02010609060101010101" pitchFamily="49" charset="-122"/>
                <a:ea typeface="KaiTi" panose="02010609060101010101" pitchFamily="49" charset="-122"/>
              </a:rPr>
              <a:t>(MAPK)</a:t>
            </a:r>
            <a:r>
              <a:rPr lang="zh-CN" altLang="en-US" sz="2400" dirty="0">
                <a:latin typeface="KaiTi" panose="02010609060101010101" pitchFamily="49" charset="-122"/>
                <a:ea typeface="KaiTi" panose="02010609060101010101" pitchFamily="49" charset="-122"/>
              </a:rPr>
              <a:t>等表面活性剂为主的洁肤产品</a:t>
            </a:r>
            <a:r>
              <a:rPr lang="en-US" altLang="zh-CN" sz="2400" dirty="0">
                <a:latin typeface="KaiTi" panose="02010609060101010101" pitchFamily="49" charset="-122"/>
                <a:ea typeface="KaiTi" panose="02010609060101010101" pitchFamily="49" charset="-122"/>
              </a:rPr>
              <a:t>.</a:t>
            </a:r>
          </a:p>
          <a:p>
            <a:pPr>
              <a:lnSpc>
                <a:spcPct val="150000"/>
              </a:lnSpc>
            </a:pPr>
            <a:r>
              <a:rPr lang="en-US" altLang="zh-CN" sz="2400" dirty="0">
                <a:latin typeface="KaiTi" panose="02010609060101010101" pitchFamily="49" charset="-122"/>
                <a:ea typeface="KaiTi" panose="02010609060101010101" pitchFamily="49" charset="-122"/>
              </a:rPr>
              <a:t>	</a:t>
            </a:r>
            <a:r>
              <a:rPr lang="zh-CN" altLang="en-US" sz="2400" dirty="0">
                <a:latin typeface="KaiTi" panose="02010609060101010101" pitchFamily="49" charset="-122"/>
                <a:ea typeface="KaiTi" panose="02010609060101010101" pitchFamily="49" charset="-122"/>
              </a:rPr>
              <a:t>具有</a:t>
            </a:r>
            <a:r>
              <a:rPr lang="zh-CN" altLang="en-US" sz="2400" dirty="0">
                <a:solidFill>
                  <a:srgbClr val="0000FF"/>
                </a:solidFill>
                <a:latin typeface="KaiTi" panose="02010609060101010101" pitchFamily="49" charset="-122"/>
                <a:ea typeface="KaiTi" panose="02010609060101010101" pitchFamily="49" charset="-122"/>
              </a:rPr>
              <a:t>适度的去污洗涤性和较丰富的奶状泡沫，性能稳定。使用后皮肤不紧绷</a:t>
            </a:r>
            <a:r>
              <a:rPr lang="zh-CN" altLang="en-US" sz="2400" dirty="0">
                <a:latin typeface="KaiTi" panose="02010609060101010101" pitchFamily="49" charset="-122"/>
                <a:ea typeface="KaiTi" panose="02010609060101010101" pitchFamily="49" charset="-122"/>
              </a:rPr>
              <a:t>，但其中</a:t>
            </a:r>
            <a:r>
              <a:rPr lang="en-US" altLang="zh-CN" sz="2400" dirty="0">
                <a:solidFill>
                  <a:srgbClr val="FF0000"/>
                </a:solidFill>
                <a:latin typeface="KaiTi" panose="02010609060101010101" pitchFamily="49" charset="-122"/>
                <a:ea typeface="KaiTi" panose="02010609060101010101" pitchFamily="49" charset="-122"/>
              </a:rPr>
              <a:t>AES</a:t>
            </a:r>
            <a:r>
              <a:rPr lang="zh-CN" altLang="en-US" sz="2400" dirty="0">
                <a:solidFill>
                  <a:srgbClr val="FF0000"/>
                </a:solidFill>
                <a:latin typeface="KaiTi" panose="02010609060101010101" pitchFamily="49" charset="-122"/>
                <a:ea typeface="KaiTi" panose="02010609060101010101" pitchFamily="49" charset="-122"/>
              </a:rPr>
              <a:t>体系不易冲洗干净</a:t>
            </a:r>
            <a:r>
              <a:rPr lang="zh-CN" altLang="en-US" sz="2400" dirty="0">
                <a:latin typeface="KaiTi" panose="02010609060101010101" pitchFamily="49" charset="-122"/>
                <a:ea typeface="KaiTi" panose="02010609060101010101" pitchFamily="49" charset="-122"/>
              </a:rPr>
              <a:t>。</a:t>
            </a:r>
            <a:endParaRPr lang="en-US" altLang="zh-CN" sz="2400" dirty="0">
              <a:latin typeface="KaiTi" panose="02010609060101010101" pitchFamily="49" charset="-122"/>
              <a:ea typeface="KaiTi" panose="02010609060101010101" pitchFamily="49" charset="-122"/>
            </a:endParaRPr>
          </a:p>
        </p:txBody>
      </p:sp>
    </p:spTree>
    <p:extLst>
      <p:ext uri="{BB962C8B-B14F-4D97-AF65-F5344CB8AC3E}">
        <p14:creationId xmlns:p14="http://schemas.microsoft.com/office/powerpoint/2010/main" val="285137033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36</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液态表面活性剂型洁肤产品</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343087"/>
            <a:ext cx="8778240" cy="3347840"/>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含氨基酸表面活性剂的洁面类产品</a:t>
            </a:r>
            <a:endParaRPr lang="en-US" altLang="zh-CN" sz="2400" dirty="0">
              <a:latin typeface="+mn-lt"/>
              <a:ea typeface="SimHei" panose="02010609060101010101" pitchFamily="49" charset="-122"/>
            </a:endParaRPr>
          </a:p>
          <a:p>
            <a:pPr>
              <a:lnSpc>
                <a:spcPct val="150000"/>
              </a:lnSpc>
            </a:pPr>
            <a:r>
              <a:rPr lang="en-US" altLang="zh-CN" sz="2400" dirty="0">
                <a:latin typeface="KaiTi" panose="02010609060101010101" pitchFamily="49" charset="-122"/>
                <a:ea typeface="KaiTi" panose="02010609060101010101" pitchFamily="49" charset="-122"/>
              </a:rPr>
              <a:t>	</a:t>
            </a:r>
            <a:r>
              <a:rPr lang="zh-CN" altLang="en-US" sz="2400" dirty="0">
                <a:latin typeface="KaiTi" panose="02010609060101010101" pitchFamily="49" charset="-122"/>
                <a:ea typeface="KaiTi" panose="02010609060101010101" pitchFamily="49" charset="-122"/>
              </a:rPr>
              <a:t>是性能非常温和的表面活性剂，具有</a:t>
            </a:r>
            <a:r>
              <a:rPr lang="zh-CN" altLang="en-US" sz="2400" dirty="0">
                <a:solidFill>
                  <a:srgbClr val="0000FF"/>
                </a:solidFill>
                <a:latin typeface="KaiTi" panose="02010609060101010101" pitchFamily="49" charset="-122"/>
                <a:ea typeface="KaiTi" panose="02010609060101010101" pitchFamily="49" charset="-122"/>
              </a:rPr>
              <a:t>良好洗涤力和发泡、稳泡力，对皮肤和毛发有很好的亲和作用及修复、保护作用，性能稳定</a:t>
            </a:r>
            <a:r>
              <a:rPr lang="zh-CN" altLang="en-US" sz="2400" dirty="0">
                <a:latin typeface="KaiTi" panose="02010609060101010101" pitchFamily="49" charset="-122"/>
                <a:ea typeface="KaiTi" panose="02010609060101010101" pitchFamily="49" charset="-122"/>
              </a:rPr>
              <a:t>，常用于洁面、洗发产品中。常用的有</a:t>
            </a:r>
            <a:r>
              <a:rPr lang="zh-CN" altLang="en-US" sz="2400" dirty="0">
                <a:solidFill>
                  <a:srgbClr val="0000FF"/>
                </a:solidFill>
                <a:latin typeface="KaiTi" panose="02010609060101010101" pitchFamily="49" charset="-122"/>
                <a:ea typeface="KaiTi" panose="02010609060101010101" pitchFamily="49" charset="-122"/>
              </a:rPr>
              <a:t>椰油酰基谷氨酸盐和月桂酰基肌氨酸盐</a:t>
            </a:r>
            <a:r>
              <a:rPr lang="zh-CN" altLang="en-US" sz="2400" dirty="0">
                <a:latin typeface="KaiTi" panose="02010609060101010101" pitchFamily="49" charset="-122"/>
                <a:ea typeface="KaiTi" panose="02010609060101010101" pitchFamily="49" charset="-122"/>
              </a:rPr>
              <a:t>等。</a:t>
            </a:r>
          </a:p>
          <a:p>
            <a:pPr>
              <a:lnSpc>
                <a:spcPct val="150000"/>
              </a:lnSpc>
            </a:pPr>
            <a:endParaRPr lang="en-US" altLang="zh-CN" sz="2400" dirty="0">
              <a:latin typeface="+mn-lt"/>
              <a:ea typeface="SimHei" panose="02010609060101010101" pitchFamily="49" charset="-122"/>
            </a:endParaRPr>
          </a:p>
        </p:txBody>
      </p:sp>
    </p:spTree>
    <p:extLst>
      <p:ext uri="{BB962C8B-B14F-4D97-AF65-F5344CB8AC3E}">
        <p14:creationId xmlns:p14="http://schemas.microsoft.com/office/powerpoint/2010/main" val="1862925797"/>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37</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3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液态表面活性剂型洁肤产品</a:t>
            </a: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357290"/>
            <a:ext cx="8778240" cy="3898568"/>
          </a:xfrm>
          <a:prstGeom prst="rect">
            <a:avLst/>
          </a:prstGeom>
          <a:noFill/>
        </p:spPr>
        <p:txBody>
          <a:bodyPr wrap="square" rtlCol="0">
            <a:spAutoFit/>
          </a:bodyPr>
          <a:lstStyle/>
          <a:p>
            <a:pPr>
              <a:lnSpc>
                <a:spcPct val="150000"/>
              </a:lnSpc>
            </a:pPr>
            <a:r>
              <a:rPr lang="zh-CN" altLang="en-US" sz="2400" dirty="0">
                <a:latin typeface="+mn-lt"/>
                <a:ea typeface="SimHei" panose="02010609060101010101" pitchFamily="49" charset="-122"/>
              </a:rPr>
              <a:t>随着原料技术的发展，椰油基羟乙基磺酸盐 </a:t>
            </a:r>
            <a:r>
              <a:rPr lang="en-US" altLang="zh-CN" sz="2400" dirty="0">
                <a:latin typeface="+mn-lt"/>
                <a:ea typeface="SimHei" panose="02010609060101010101" pitchFamily="49" charset="-122"/>
              </a:rPr>
              <a:t>(CI)</a:t>
            </a:r>
            <a:r>
              <a:rPr lang="zh-CN" altLang="en-US" sz="2400" dirty="0">
                <a:latin typeface="+mn-lt"/>
                <a:ea typeface="SimHei" panose="02010609060101010101" pitchFamily="49" charset="-122"/>
              </a:rPr>
              <a:t>、 烷基糖苷 </a:t>
            </a:r>
            <a:r>
              <a:rPr lang="en-US" altLang="zh-CN" sz="2400" dirty="0">
                <a:latin typeface="+mn-lt"/>
                <a:ea typeface="SimHei" panose="02010609060101010101" pitchFamily="49" charset="-122"/>
              </a:rPr>
              <a:t>(APG)</a:t>
            </a:r>
            <a:r>
              <a:rPr lang="zh-CN" altLang="en-US" sz="2400" dirty="0">
                <a:latin typeface="+mn-lt"/>
                <a:ea typeface="SimHei" panose="02010609060101010101" pitchFamily="49" charset="-122"/>
              </a:rPr>
              <a:t>、 醇醚磺基琥珀酸酯二钠盐 </a:t>
            </a:r>
            <a:r>
              <a:rPr lang="en-US" altLang="zh-CN" sz="2400" dirty="0">
                <a:latin typeface="+mn-lt"/>
                <a:ea typeface="SimHei" panose="02010609060101010101" pitchFamily="49" charset="-122"/>
              </a:rPr>
              <a:t>(MES)  </a:t>
            </a:r>
            <a:r>
              <a:rPr lang="zh-CN" altLang="en-US" sz="2400" dirty="0">
                <a:latin typeface="+mn-lt"/>
                <a:ea typeface="SimHei" panose="02010609060101010101" pitchFamily="49" charset="-122"/>
              </a:rPr>
              <a:t>和烷基磺基琥珀酸酯二钠盐 </a:t>
            </a:r>
            <a:r>
              <a:rPr lang="en-US" altLang="zh-CN" sz="2400" dirty="0">
                <a:latin typeface="+mn-lt"/>
                <a:ea typeface="SimHei" panose="02010609060101010101" pitchFamily="49" charset="-122"/>
              </a:rPr>
              <a:t>(LT-50) </a:t>
            </a:r>
            <a:r>
              <a:rPr lang="zh-CN" altLang="en-US" sz="2400" dirty="0">
                <a:latin typeface="+mn-lt"/>
                <a:ea typeface="SimHei" panose="02010609060101010101" pitchFamily="49" charset="-122"/>
              </a:rPr>
              <a:t>等不断地被应用到高端洁面产品或者婴幼儿产品中，它们是</a:t>
            </a:r>
            <a:r>
              <a:rPr lang="zh-CN" altLang="en-US" sz="2400" dirty="0">
                <a:solidFill>
                  <a:srgbClr val="0000FF"/>
                </a:solidFill>
                <a:latin typeface="+mn-lt"/>
                <a:ea typeface="SimHei" panose="02010609060101010101" pitchFamily="49" charset="-122"/>
              </a:rPr>
              <a:t>性能非常温和的阴离子表面活性剂，对眼睛和皮肤刺激小</a:t>
            </a:r>
            <a:r>
              <a:rPr lang="zh-CN" altLang="en-US" sz="2400" dirty="0">
                <a:latin typeface="+mn-lt"/>
                <a:ea typeface="SimHei" panose="02010609060101010101" pitchFamily="49" charset="-122"/>
              </a:rPr>
              <a:t>，具有良好洗涤性能和发泡能力，在硬水中也可得到丰富、细腻和稳定的泡沫，洗后皮肤具有柔软、光滑、湿润的感觉，能保持皮肤水分。</a:t>
            </a:r>
            <a:endParaRPr lang="en-US" altLang="zh-CN" sz="2400" dirty="0">
              <a:latin typeface="+mn-lt"/>
              <a:ea typeface="SimHei" panose="02010609060101010101" pitchFamily="49" charset="-122"/>
            </a:endParaRPr>
          </a:p>
        </p:txBody>
      </p:sp>
    </p:spTree>
    <p:extLst>
      <p:ext uri="{BB962C8B-B14F-4D97-AF65-F5344CB8AC3E}">
        <p14:creationId xmlns:p14="http://schemas.microsoft.com/office/powerpoint/2010/main" val="276787552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38</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皂基洁肤产品</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836704" y="1441433"/>
            <a:ext cx="7461065" cy="4452566"/>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肥皂经历了生活用皂、洗衣皂、普通香皂、功能皂和液体皂等发展阶段。</a:t>
            </a:r>
            <a:endParaRPr lang="en-US" altLang="zh-CN" sz="2400" dirty="0">
              <a:latin typeface="+mn-lt"/>
              <a:ea typeface="SimHei" panose="02010609060101010101" pitchFamily="49" charset="-122"/>
            </a:endParaRPr>
          </a:p>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液体皂的最初研究出现在</a:t>
            </a:r>
            <a:r>
              <a:rPr lang="en-US" altLang="zh-CN" sz="2400" dirty="0">
                <a:latin typeface="+mn-lt"/>
                <a:ea typeface="SimHei" panose="02010609060101010101" pitchFamily="49" charset="-122"/>
              </a:rPr>
              <a:t>20</a:t>
            </a:r>
            <a:r>
              <a:rPr lang="zh-CN" altLang="en-US" sz="2400" dirty="0">
                <a:latin typeface="+mn-lt"/>
                <a:ea typeface="SimHei" panose="02010609060101010101" pitchFamily="49" charset="-122"/>
              </a:rPr>
              <a:t>世纪初，由棕榈油和橄榄油制备的 “</a:t>
            </a:r>
            <a:r>
              <a:rPr lang="en-US" altLang="zh-CN" sz="2400" dirty="0">
                <a:latin typeface="+mn-lt"/>
                <a:ea typeface="SimHei" panose="02010609060101010101" pitchFamily="49" charset="-122"/>
              </a:rPr>
              <a:t>Palmolive</a:t>
            </a:r>
            <a:r>
              <a:rPr lang="zh-CN" altLang="en-US" sz="2400" dirty="0">
                <a:latin typeface="+mn-lt"/>
                <a:ea typeface="SimHei" panose="02010609060101010101" pitchFamily="49" charset="-122"/>
              </a:rPr>
              <a:t>”品牌液体皂出现并且开始流行。液体皂与表面活性剂进行复配形成的体系不仅具有清洁能力，还具有泡沫性佳、刺激性低、使用便捷等特性，使液体皂基体系更加广泛地应用于个人和家庭护理产品领域。</a:t>
            </a:r>
            <a:endParaRPr lang="en-US" altLang="zh-CN" sz="2400" dirty="0">
              <a:latin typeface="+mn-lt"/>
              <a:ea typeface="SimHei" panose="02010609060101010101" pitchFamily="49" charset="-122"/>
            </a:endParaRPr>
          </a:p>
        </p:txBody>
      </p:sp>
    </p:spTree>
    <p:extLst>
      <p:ext uri="{BB962C8B-B14F-4D97-AF65-F5344CB8AC3E}">
        <p14:creationId xmlns:p14="http://schemas.microsoft.com/office/powerpoint/2010/main" val="137607596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39</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皂基洁肤产品</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463826" y="1597191"/>
            <a:ext cx="8070574" cy="3898568"/>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皂基洁肤产品的特点是具有</a:t>
            </a:r>
            <a:r>
              <a:rPr lang="zh-CN" altLang="en-US" sz="2400" dirty="0">
                <a:solidFill>
                  <a:srgbClr val="0000FF"/>
                </a:solidFill>
                <a:latin typeface="+mn-lt"/>
                <a:ea typeface="SimHei" panose="02010609060101010101" pitchFamily="49" charset="-122"/>
              </a:rPr>
              <a:t>丰富的泡沫，优良的洗涤力</a:t>
            </a:r>
            <a:r>
              <a:rPr lang="zh-CN" altLang="en-US" sz="2400" dirty="0">
                <a:latin typeface="+mn-lt"/>
                <a:ea typeface="SimHei" panose="02010609060101010101" pitchFamily="49" charset="-122"/>
              </a:rPr>
              <a:t>，在配方中</a:t>
            </a:r>
            <a:r>
              <a:rPr lang="zh-CN" altLang="en-US" sz="2400" i="1" dirty="0">
                <a:latin typeface="+mn-lt"/>
                <a:ea typeface="SimHei" panose="02010609060101010101" pitchFamily="49" charset="-122"/>
              </a:rPr>
              <a:t>加入适量软化剂和保湿剂 </a:t>
            </a:r>
            <a:r>
              <a:rPr lang="zh-CN" altLang="en-US" sz="2400" dirty="0">
                <a:latin typeface="+mn-lt"/>
                <a:ea typeface="SimHei" panose="02010609060101010101" pitchFamily="49" charset="-122"/>
              </a:rPr>
              <a:t>后，使用起来没有肥皂的“绷紧感”，而具有良好的润湿感。</a:t>
            </a:r>
            <a:endParaRPr lang="en-US" altLang="zh-CN" sz="2400" dirty="0">
              <a:latin typeface="+mn-lt"/>
              <a:ea typeface="SimHei" panose="02010609060101010101" pitchFamily="49" charset="-122"/>
            </a:endParaRPr>
          </a:p>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分类</a:t>
            </a:r>
            <a:endParaRPr lang="en-US" altLang="zh-CN" sz="2400" dirty="0">
              <a:latin typeface="+mn-lt"/>
              <a:ea typeface="SimHei" panose="02010609060101010101" pitchFamily="49" charset="-122"/>
            </a:endParaRPr>
          </a:p>
          <a:p>
            <a:pPr>
              <a:lnSpc>
                <a:spcPct val="150000"/>
              </a:lnSpc>
            </a:pPr>
            <a:r>
              <a:rPr lang="en-US" altLang="zh-CN" sz="2400" dirty="0">
                <a:latin typeface="+mn-lt"/>
                <a:ea typeface="SimHei" panose="02010609060101010101" pitchFamily="49" charset="-122"/>
              </a:rPr>
              <a:t>	</a:t>
            </a:r>
            <a:r>
              <a:rPr lang="zh-CN" altLang="en-US" sz="2400" dirty="0">
                <a:latin typeface="KaiTi" panose="02010609060101010101" pitchFamily="49" charset="-122"/>
                <a:ea typeface="KaiTi" panose="02010609060101010101" pitchFamily="49" charset="-122"/>
              </a:rPr>
              <a:t>皂基型产品按照清洁部位可以分为</a:t>
            </a:r>
            <a:r>
              <a:rPr lang="zh-CN" altLang="en-US" sz="2400" dirty="0">
                <a:solidFill>
                  <a:srgbClr val="0000FF"/>
                </a:solidFill>
                <a:latin typeface="KaiTi" panose="02010609060101010101" pitchFamily="49" charset="-122"/>
                <a:ea typeface="KaiTi" panose="02010609060101010101" pitchFamily="49" charset="-122"/>
              </a:rPr>
              <a:t>洁面乳、沐浴露及洗手液</a:t>
            </a:r>
            <a:r>
              <a:rPr lang="zh-CN" altLang="en-US" sz="2400" dirty="0">
                <a:latin typeface="KaiTi" panose="02010609060101010101" pitchFamily="49" charset="-122"/>
                <a:ea typeface="KaiTi" panose="02010609060101010101" pitchFamily="49" charset="-122"/>
              </a:rPr>
              <a:t>；</a:t>
            </a:r>
            <a:endParaRPr lang="en-US" altLang="zh-CN" sz="2400" dirty="0">
              <a:latin typeface="KaiTi" panose="02010609060101010101" pitchFamily="49" charset="-122"/>
              <a:ea typeface="KaiTi" panose="02010609060101010101" pitchFamily="49" charset="-122"/>
            </a:endParaRPr>
          </a:p>
          <a:p>
            <a:pPr>
              <a:lnSpc>
                <a:spcPct val="150000"/>
              </a:lnSpc>
            </a:pPr>
            <a:r>
              <a:rPr lang="en-US" altLang="zh-CN" sz="2400" dirty="0">
                <a:latin typeface="KaiTi" panose="02010609060101010101" pitchFamily="49" charset="-122"/>
                <a:ea typeface="KaiTi" panose="02010609060101010101" pitchFamily="49" charset="-122"/>
              </a:rPr>
              <a:t>	</a:t>
            </a:r>
            <a:r>
              <a:rPr lang="zh-CN" altLang="en-US" sz="2400" dirty="0">
                <a:latin typeface="KaiTi" panose="02010609060101010101" pitchFamily="49" charset="-122"/>
                <a:ea typeface="KaiTi" panose="02010609060101010101" pitchFamily="49" charset="-122"/>
              </a:rPr>
              <a:t>按照流动性可分为液与膏。</a:t>
            </a:r>
          </a:p>
        </p:txBody>
      </p:sp>
    </p:spTree>
    <p:extLst>
      <p:ext uri="{BB962C8B-B14F-4D97-AF65-F5344CB8AC3E}">
        <p14:creationId xmlns:p14="http://schemas.microsoft.com/office/powerpoint/2010/main" val="415597611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40</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皂基洁肤产品配方</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027207"/>
            <a:ext cx="8778240" cy="1200329"/>
          </a:xfrm>
          <a:prstGeom prst="rect">
            <a:avLst/>
          </a:prstGeom>
          <a:noFill/>
        </p:spPr>
        <p:txBody>
          <a:bodyPr wrap="square" rtlCol="0">
            <a:spAutoFit/>
          </a:bodyPr>
          <a:lstStyle/>
          <a:p>
            <a:pPr marL="342900" indent="-342900">
              <a:buFont typeface="Arial" panose="020B0604020202020204" pitchFamily="34" charset="0"/>
              <a:buChar char="•"/>
            </a:pPr>
            <a:r>
              <a:rPr lang="zh-CN" altLang="en-US" sz="2400" dirty="0">
                <a:latin typeface="+mn-lt"/>
                <a:ea typeface="SimHei" panose="02010609060101010101" pitchFamily="49" charset="-122"/>
              </a:rPr>
              <a:t>皂基类清洁产品是</a:t>
            </a:r>
            <a:r>
              <a:rPr lang="zh-CN" altLang="en-US" sz="2400" dirty="0">
                <a:solidFill>
                  <a:srgbClr val="0000FF"/>
                </a:solidFill>
                <a:latin typeface="+mn-lt"/>
                <a:ea typeface="SimHei" panose="02010609060101010101" pitchFamily="49" charset="-122"/>
              </a:rPr>
              <a:t>脂肪酸与碱皂化之后形成的阴离子表面活性剂</a:t>
            </a:r>
            <a:r>
              <a:rPr lang="zh-CN" altLang="en-US" sz="2400" dirty="0">
                <a:latin typeface="+mn-lt"/>
                <a:ea typeface="SimHei" panose="02010609060101010101" pitchFamily="49" charset="-122"/>
              </a:rPr>
              <a:t>作为主表面活性剂，再复配辅助表面活性剂及其他成分形成的配方体系。</a:t>
            </a:r>
            <a:endParaRPr lang="en-US" altLang="zh-CN" sz="2400" dirty="0">
              <a:latin typeface="+mn-lt"/>
              <a:ea typeface="SimHei" panose="02010609060101010101" pitchFamily="49" charset="-122"/>
            </a:endParaRPr>
          </a:p>
        </p:txBody>
      </p:sp>
      <p:graphicFrame>
        <p:nvGraphicFramePr>
          <p:cNvPr id="16" name="表格 15">
            <a:extLst>
              <a:ext uri="{FF2B5EF4-FFF2-40B4-BE49-F238E27FC236}">
                <a16:creationId xmlns:a16="http://schemas.microsoft.com/office/drawing/2014/main" id="{8657779B-AD6F-43A9-9BCE-ECAF56895002}"/>
              </a:ext>
            </a:extLst>
          </p:cNvPr>
          <p:cNvGraphicFramePr>
            <a:graphicFrameLocks noGrp="1"/>
          </p:cNvGraphicFramePr>
          <p:nvPr>
            <p:extLst>
              <p:ext uri="{D42A27DB-BD31-4B8C-83A1-F6EECF244321}">
                <p14:modId xmlns:p14="http://schemas.microsoft.com/office/powerpoint/2010/main" val="3491949966"/>
              </p:ext>
            </p:extLst>
          </p:nvPr>
        </p:nvGraphicFramePr>
        <p:xfrm>
          <a:off x="2650248" y="1967792"/>
          <a:ext cx="6310871" cy="4318815"/>
        </p:xfrm>
        <a:graphic>
          <a:graphicData uri="http://schemas.openxmlformats.org/drawingml/2006/table">
            <a:tbl>
              <a:tblPr firstRow="1" firstCol="1" bandRow="1">
                <a:tableStyleId>{72833802-FEF1-4C79-8D5D-14CF1EAF98D9}</a:tableStyleId>
              </a:tblPr>
              <a:tblGrid>
                <a:gridCol w="2355193">
                  <a:extLst>
                    <a:ext uri="{9D8B030D-6E8A-4147-A177-3AD203B41FA5}">
                      <a16:colId xmlns:a16="http://schemas.microsoft.com/office/drawing/2014/main" val="911904586"/>
                    </a:ext>
                  </a:extLst>
                </a:gridCol>
                <a:gridCol w="3955678">
                  <a:extLst>
                    <a:ext uri="{9D8B030D-6E8A-4147-A177-3AD203B41FA5}">
                      <a16:colId xmlns:a16="http://schemas.microsoft.com/office/drawing/2014/main" val="1958384572"/>
                    </a:ext>
                  </a:extLst>
                </a:gridCol>
              </a:tblGrid>
              <a:tr h="312858">
                <a:tc>
                  <a:txBody>
                    <a:bodyPr/>
                    <a:lstStyle/>
                    <a:p>
                      <a:pPr marL="349250" marR="0" eaLnBrk="0">
                        <a:lnSpc>
                          <a:spcPct val="91000"/>
                        </a:lnSpc>
                        <a:spcBef>
                          <a:spcPts val="570"/>
                        </a:spcBef>
                        <a:spcAft>
                          <a:spcPts val="0"/>
                        </a:spcAft>
                      </a:pPr>
                      <a:r>
                        <a:rPr lang="zh-CN" sz="2000" spc="-30">
                          <a:effectLst/>
                        </a:rPr>
                        <a:t>组</a:t>
                      </a:r>
                      <a:r>
                        <a:rPr lang="en-US" sz="2000" spc="25">
                          <a:effectLst/>
                        </a:rPr>
                        <a:t>  </a:t>
                      </a:r>
                      <a:r>
                        <a:rPr lang="zh-CN" sz="2000" spc="-30">
                          <a:effectLst/>
                        </a:rPr>
                        <a:t>分</a:t>
                      </a:r>
                      <a:endParaRPr lang="en-US" sz="2000">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739775" marR="0" eaLnBrk="0">
                        <a:lnSpc>
                          <a:spcPct val="92000"/>
                        </a:lnSpc>
                        <a:spcBef>
                          <a:spcPts val="570"/>
                        </a:spcBef>
                        <a:spcAft>
                          <a:spcPts val="0"/>
                        </a:spcAft>
                      </a:pPr>
                      <a:r>
                        <a:rPr lang="zh-CN" sz="2000" spc="-30">
                          <a:effectLst/>
                        </a:rPr>
                        <a:t>功</a:t>
                      </a:r>
                      <a:r>
                        <a:rPr lang="en-US" sz="2000" spc="95">
                          <a:effectLst/>
                        </a:rPr>
                        <a:t>  </a:t>
                      </a:r>
                      <a:r>
                        <a:rPr lang="zh-CN" sz="2000" spc="-30">
                          <a:effectLst/>
                        </a:rPr>
                        <a:t>能</a:t>
                      </a:r>
                      <a:endParaRPr lang="en-US" sz="2000">
                        <a:solidFill>
                          <a:srgbClr val="000000"/>
                        </a:solidFill>
                        <a:effectLst/>
                        <a:latin typeface="Arial" panose="020B0604020202020204" pitchFamily="34" charset="0"/>
                        <a:ea typeface="Arial" panose="020B0604020202020204" pitchFamily="34" charset="0"/>
                      </a:endParaRPr>
                    </a:p>
                  </a:txBody>
                  <a:tcPr marL="0" marR="0" marT="0" marB="0"/>
                </a:tc>
                <a:extLst>
                  <a:ext uri="{0D108BD9-81ED-4DB2-BD59-A6C34878D82A}">
                    <a16:rowId xmlns:a16="http://schemas.microsoft.com/office/drawing/2014/main" val="91825207"/>
                  </a:ext>
                </a:extLst>
              </a:tr>
              <a:tr h="301790">
                <a:tc>
                  <a:txBody>
                    <a:bodyPr/>
                    <a:lstStyle/>
                    <a:p>
                      <a:pPr marL="95250" marR="0" eaLnBrk="0">
                        <a:lnSpc>
                          <a:spcPct val="91000"/>
                        </a:lnSpc>
                        <a:spcBef>
                          <a:spcPts val="495"/>
                        </a:spcBef>
                        <a:spcAft>
                          <a:spcPts val="0"/>
                        </a:spcAft>
                      </a:pPr>
                      <a:r>
                        <a:rPr lang="zh-CN" sz="2000" spc="5">
                          <a:effectLst/>
                        </a:rPr>
                        <a:t>高级脂肪酸</a:t>
                      </a:r>
                      <a:endParaRPr lang="en-US" sz="2000">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98425" marR="0" eaLnBrk="0">
                        <a:lnSpc>
                          <a:spcPct val="91000"/>
                        </a:lnSpc>
                        <a:spcBef>
                          <a:spcPts val="490"/>
                        </a:spcBef>
                        <a:spcAft>
                          <a:spcPts val="0"/>
                        </a:spcAft>
                      </a:pPr>
                      <a:r>
                        <a:rPr lang="zh-CN" sz="2000" spc="5">
                          <a:effectLst/>
                        </a:rPr>
                        <a:t>用碱皂化后为主表面活性剂</a:t>
                      </a:r>
                      <a:endParaRPr lang="en-US" sz="2000">
                        <a:solidFill>
                          <a:srgbClr val="000000"/>
                        </a:solidFill>
                        <a:effectLst/>
                        <a:latin typeface="Arial" panose="020B0604020202020204" pitchFamily="34" charset="0"/>
                        <a:ea typeface="Arial" panose="020B0604020202020204" pitchFamily="34" charset="0"/>
                      </a:endParaRPr>
                    </a:p>
                  </a:txBody>
                  <a:tcPr marL="0" marR="0" marT="0" marB="0"/>
                </a:tc>
                <a:extLst>
                  <a:ext uri="{0D108BD9-81ED-4DB2-BD59-A6C34878D82A}">
                    <a16:rowId xmlns:a16="http://schemas.microsoft.com/office/drawing/2014/main" val="912660574"/>
                  </a:ext>
                </a:extLst>
              </a:tr>
              <a:tr h="309168">
                <a:tc>
                  <a:txBody>
                    <a:bodyPr/>
                    <a:lstStyle/>
                    <a:p>
                      <a:pPr marL="95250" marR="0" eaLnBrk="0">
                        <a:lnSpc>
                          <a:spcPct val="91000"/>
                        </a:lnSpc>
                        <a:spcBef>
                          <a:spcPts val="545"/>
                        </a:spcBef>
                        <a:spcAft>
                          <a:spcPts val="0"/>
                        </a:spcAft>
                      </a:pPr>
                      <a:r>
                        <a:rPr lang="zh-CN" sz="2000" spc="-10" dirty="0">
                          <a:effectLst/>
                        </a:rPr>
                        <a:t>碱剂</a:t>
                      </a:r>
                      <a:endParaRPr lang="en-US" sz="2000" dirty="0">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98425" marR="0" eaLnBrk="0">
                        <a:lnSpc>
                          <a:spcPct val="91000"/>
                        </a:lnSpc>
                        <a:spcBef>
                          <a:spcPts val="555"/>
                        </a:spcBef>
                        <a:spcAft>
                          <a:spcPts val="0"/>
                        </a:spcAft>
                      </a:pPr>
                      <a:r>
                        <a:rPr lang="zh-CN" sz="2000" spc="5" dirty="0">
                          <a:effectLst/>
                        </a:rPr>
                        <a:t>中和、皂化</a:t>
                      </a:r>
                      <a:endParaRPr lang="en-US" sz="2000" dirty="0">
                        <a:solidFill>
                          <a:srgbClr val="000000"/>
                        </a:solidFill>
                        <a:effectLst/>
                        <a:latin typeface="Arial" panose="020B0604020202020204" pitchFamily="34" charset="0"/>
                        <a:ea typeface="Arial" panose="020B0604020202020204" pitchFamily="34" charset="0"/>
                      </a:endParaRPr>
                    </a:p>
                  </a:txBody>
                  <a:tcPr marL="0" marR="0" marT="0" marB="0"/>
                </a:tc>
                <a:extLst>
                  <a:ext uri="{0D108BD9-81ED-4DB2-BD59-A6C34878D82A}">
                    <a16:rowId xmlns:a16="http://schemas.microsoft.com/office/drawing/2014/main" val="3021165387"/>
                  </a:ext>
                </a:extLst>
              </a:tr>
              <a:tr h="567209">
                <a:tc>
                  <a:txBody>
                    <a:bodyPr/>
                    <a:lstStyle/>
                    <a:p>
                      <a:pPr marL="0" marR="0" eaLnBrk="0">
                        <a:lnSpc>
                          <a:spcPct val="129000"/>
                        </a:lnSpc>
                        <a:spcBef>
                          <a:spcPts val="0"/>
                        </a:spcBef>
                        <a:spcAft>
                          <a:spcPts val="0"/>
                        </a:spcAft>
                      </a:pPr>
                      <a:r>
                        <a:rPr lang="en-US" sz="2000" dirty="0">
                          <a:effectLst/>
                        </a:rPr>
                        <a:t> </a:t>
                      </a:r>
                      <a:r>
                        <a:rPr lang="zh-CN" sz="2000" spc="5" dirty="0">
                          <a:effectLst/>
                        </a:rPr>
                        <a:t>辅助表面活性剂</a:t>
                      </a:r>
                      <a:endParaRPr lang="en-US" sz="2000" dirty="0">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0" marR="0" eaLnBrk="0">
                        <a:lnSpc>
                          <a:spcPct val="129000"/>
                        </a:lnSpc>
                        <a:spcBef>
                          <a:spcPts val="0"/>
                        </a:spcBef>
                        <a:spcAft>
                          <a:spcPts val="0"/>
                        </a:spcAft>
                      </a:pPr>
                      <a:r>
                        <a:rPr lang="en-US" sz="2000" dirty="0">
                          <a:effectLst/>
                        </a:rPr>
                        <a:t> </a:t>
                      </a:r>
                      <a:r>
                        <a:rPr lang="zh-CN" sz="2000" dirty="0">
                          <a:effectLst/>
                        </a:rPr>
                        <a:t>稳泡、降低刺激性、改善黏度</a:t>
                      </a:r>
                      <a:endParaRPr lang="en-US" sz="2000" dirty="0">
                        <a:solidFill>
                          <a:srgbClr val="000000"/>
                        </a:solidFill>
                        <a:effectLst/>
                        <a:latin typeface="Arial" panose="020B0604020202020204" pitchFamily="34" charset="0"/>
                        <a:ea typeface="Arial" panose="020B0604020202020204" pitchFamily="34" charset="0"/>
                      </a:endParaRPr>
                    </a:p>
                  </a:txBody>
                  <a:tcPr marL="0" marR="0" marT="0" marB="0"/>
                </a:tc>
                <a:extLst>
                  <a:ext uri="{0D108BD9-81ED-4DB2-BD59-A6C34878D82A}">
                    <a16:rowId xmlns:a16="http://schemas.microsoft.com/office/drawing/2014/main" val="3016364138"/>
                  </a:ext>
                </a:extLst>
              </a:tr>
              <a:tr h="508394">
                <a:tc>
                  <a:txBody>
                    <a:bodyPr/>
                    <a:lstStyle/>
                    <a:p>
                      <a:pPr marL="95250" marR="0" eaLnBrk="0">
                        <a:lnSpc>
                          <a:spcPct val="92000"/>
                        </a:lnSpc>
                        <a:spcBef>
                          <a:spcPts val="1220"/>
                        </a:spcBef>
                        <a:spcAft>
                          <a:spcPts val="0"/>
                        </a:spcAft>
                      </a:pPr>
                      <a:r>
                        <a:rPr lang="zh-CN" sz="2000" spc="25">
                          <a:effectLst/>
                        </a:rPr>
                        <a:t>油脂</a:t>
                      </a:r>
                      <a:endParaRPr lang="en-US" sz="2000">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98425" marR="0" eaLnBrk="0">
                        <a:lnSpc>
                          <a:spcPct val="91000"/>
                        </a:lnSpc>
                        <a:spcBef>
                          <a:spcPts val="1215"/>
                        </a:spcBef>
                        <a:spcAft>
                          <a:spcPts val="0"/>
                        </a:spcAft>
                      </a:pPr>
                      <a:r>
                        <a:rPr lang="zh-CN" sz="2000" spc="5">
                          <a:effectLst/>
                        </a:rPr>
                        <a:t>使皮肤感觉光滑、滋润</a:t>
                      </a:r>
                      <a:endParaRPr lang="en-US" sz="2000">
                        <a:solidFill>
                          <a:srgbClr val="000000"/>
                        </a:solidFill>
                        <a:effectLst/>
                        <a:latin typeface="Arial" panose="020B0604020202020204" pitchFamily="34" charset="0"/>
                        <a:ea typeface="Arial" panose="020B0604020202020204" pitchFamily="34" charset="0"/>
                      </a:endParaRPr>
                    </a:p>
                  </a:txBody>
                  <a:tcPr marL="0" marR="0" marT="0" marB="0"/>
                </a:tc>
                <a:extLst>
                  <a:ext uri="{0D108BD9-81ED-4DB2-BD59-A6C34878D82A}">
                    <a16:rowId xmlns:a16="http://schemas.microsoft.com/office/drawing/2014/main" val="4132326374"/>
                  </a:ext>
                </a:extLst>
              </a:tr>
              <a:tr h="508394">
                <a:tc>
                  <a:txBody>
                    <a:bodyPr/>
                    <a:lstStyle/>
                    <a:p>
                      <a:pPr marL="95250" marR="0" eaLnBrk="0">
                        <a:lnSpc>
                          <a:spcPct val="91000"/>
                        </a:lnSpc>
                        <a:spcBef>
                          <a:spcPts val="1215"/>
                        </a:spcBef>
                        <a:spcAft>
                          <a:spcPts val="0"/>
                        </a:spcAft>
                      </a:pPr>
                      <a:r>
                        <a:rPr lang="zh-CN" sz="2000" spc="20">
                          <a:effectLst/>
                        </a:rPr>
                        <a:t>保湿剂</a:t>
                      </a:r>
                      <a:endParaRPr lang="en-US" sz="2000">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98425" marR="0" eaLnBrk="0">
                        <a:lnSpc>
                          <a:spcPct val="91000"/>
                        </a:lnSpc>
                        <a:spcBef>
                          <a:spcPts val="1220"/>
                        </a:spcBef>
                        <a:spcAft>
                          <a:spcPts val="0"/>
                        </a:spcAft>
                      </a:pPr>
                      <a:r>
                        <a:rPr lang="zh-CN" sz="2000" spc="-10">
                          <a:effectLst/>
                        </a:rPr>
                        <a:t>保持水分</a:t>
                      </a:r>
                      <a:endParaRPr lang="en-US" sz="2000">
                        <a:solidFill>
                          <a:srgbClr val="000000"/>
                        </a:solidFill>
                        <a:effectLst/>
                        <a:latin typeface="Arial" panose="020B0604020202020204" pitchFamily="34" charset="0"/>
                        <a:ea typeface="Arial" panose="020B0604020202020204" pitchFamily="34" charset="0"/>
                      </a:endParaRPr>
                    </a:p>
                  </a:txBody>
                  <a:tcPr marL="0" marR="0" marT="0" marB="0"/>
                </a:tc>
                <a:extLst>
                  <a:ext uri="{0D108BD9-81ED-4DB2-BD59-A6C34878D82A}">
                    <a16:rowId xmlns:a16="http://schemas.microsoft.com/office/drawing/2014/main" val="194882298"/>
                  </a:ext>
                </a:extLst>
              </a:tr>
              <a:tr h="295149">
                <a:tc>
                  <a:txBody>
                    <a:bodyPr/>
                    <a:lstStyle/>
                    <a:p>
                      <a:pPr marL="95250" marR="0" eaLnBrk="0">
                        <a:lnSpc>
                          <a:spcPct val="91000"/>
                        </a:lnSpc>
                        <a:spcBef>
                          <a:spcPts val="520"/>
                        </a:spcBef>
                        <a:spcAft>
                          <a:spcPts val="0"/>
                        </a:spcAft>
                      </a:pPr>
                      <a:r>
                        <a:rPr lang="zh-CN" sz="2000" spc="25">
                          <a:effectLst/>
                        </a:rPr>
                        <a:t>香精</a:t>
                      </a:r>
                      <a:endParaRPr lang="en-US" sz="2000">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98425" marR="0" eaLnBrk="0">
                        <a:lnSpc>
                          <a:spcPct val="92000"/>
                        </a:lnSpc>
                        <a:spcBef>
                          <a:spcPts val="530"/>
                        </a:spcBef>
                        <a:spcAft>
                          <a:spcPts val="0"/>
                        </a:spcAft>
                      </a:pPr>
                      <a:r>
                        <a:rPr lang="zh-CN" sz="2000" spc="-15">
                          <a:effectLst/>
                        </a:rPr>
                        <a:t>赋香</a:t>
                      </a:r>
                      <a:endParaRPr lang="en-US" sz="2000">
                        <a:solidFill>
                          <a:srgbClr val="000000"/>
                        </a:solidFill>
                        <a:effectLst/>
                        <a:latin typeface="Arial" panose="020B0604020202020204" pitchFamily="34" charset="0"/>
                        <a:ea typeface="Arial" panose="020B0604020202020204" pitchFamily="34" charset="0"/>
                      </a:endParaRPr>
                    </a:p>
                  </a:txBody>
                  <a:tcPr marL="0" marR="0" marT="0" marB="0"/>
                </a:tc>
                <a:extLst>
                  <a:ext uri="{0D108BD9-81ED-4DB2-BD59-A6C34878D82A}">
                    <a16:rowId xmlns:a16="http://schemas.microsoft.com/office/drawing/2014/main" val="525565254"/>
                  </a:ext>
                </a:extLst>
              </a:tr>
              <a:tr h="508394">
                <a:tc>
                  <a:txBody>
                    <a:bodyPr/>
                    <a:lstStyle/>
                    <a:p>
                      <a:pPr marL="95250" marR="0" eaLnBrk="0">
                        <a:lnSpc>
                          <a:spcPct val="91000"/>
                        </a:lnSpc>
                        <a:spcBef>
                          <a:spcPts val="1220"/>
                        </a:spcBef>
                        <a:spcAft>
                          <a:spcPts val="0"/>
                        </a:spcAft>
                      </a:pPr>
                      <a:r>
                        <a:rPr lang="zh-CN" sz="2000" spc="20">
                          <a:effectLst/>
                        </a:rPr>
                        <a:t>防腐剂</a:t>
                      </a:r>
                      <a:endParaRPr lang="en-US" sz="2000">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98425" marR="0" eaLnBrk="0">
                        <a:lnSpc>
                          <a:spcPct val="91000"/>
                        </a:lnSpc>
                        <a:spcBef>
                          <a:spcPts val="1225"/>
                        </a:spcBef>
                        <a:spcAft>
                          <a:spcPts val="0"/>
                        </a:spcAft>
                      </a:pPr>
                      <a:r>
                        <a:rPr lang="zh-CN" sz="2000" spc="5">
                          <a:effectLst/>
                        </a:rPr>
                        <a:t>防止微生物生长</a:t>
                      </a:r>
                      <a:endParaRPr lang="en-US" sz="2000">
                        <a:solidFill>
                          <a:srgbClr val="000000"/>
                        </a:solidFill>
                        <a:effectLst/>
                        <a:latin typeface="Arial" panose="020B0604020202020204" pitchFamily="34" charset="0"/>
                        <a:ea typeface="Arial" panose="020B0604020202020204" pitchFamily="34" charset="0"/>
                      </a:endParaRPr>
                    </a:p>
                  </a:txBody>
                  <a:tcPr marL="0" marR="0" marT="0" marB="0"/>
                </a:tc>
                <a:extLst>
                  <a:ext uri="{0D108BD9-81ED-4DB2-BD59-A6C34878D82A}">
                    <a16:rowId xmlns:a16="http://schemas.microsoft.com/office/drawing/2014/main" val="3170513149"/>
                  </a:ext>
                </a:extLst>
              </a:tr>
              <a:tr h="379530">
                <a:tc>
                  <a:txBody>
                    <a:bodyPr/>
                    <a:lstStyle/>
                    <a:p>
                      <a:pPr marL="95250" marR="0" eaLnBrk="0">
                        <a:lnSpc>
                          <a:spcPct val="91000"/>
                        </a:lnSpc>
                        <a:spcBef>
                          <a:spcPts val="1225"/>
                        </a:spcBef>
                        <a:spcAft>
                          <a:spcPts val="0"/>
                        </a:spcAft>
                      </a:pPr>
                      <a:r>
                        <a:rPr lang="zh-CN" sz="2000" spc="20">
                          <a:effectLst/>
                        </a:rPr>
                        <a:t>螯合剂</a:t>
                      </a:r>
                      <a:endParaRPr lang="en-US" sz="2000">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98425" marR="0" eaLnBrk="0">
                        <a:lnSpc>
                          <a:spcPct val="92000"/>
                        </a:lnSpc>
                        <a:spcBef>
                          <a:spcPts val="1195"/>
                        </a:spcBef>
                        <a:spcAft>
                          <a:spcPts val="0"/>
                        </a:spcAft>
                      </a:pPr>
                      <a:r>
                        <a:rPr lang="zh-CN" sz="2000" spc="105" dirty="0">
                          <a:effectLst/>
                        </a:rPr>
                        <a:t>螯合</a:t>
                      </a:r>
                      <a:r>
                        <a:rPr lang="en-US" sz="2000" dirty="0">
                          <a:effectLst/>
                        </a:rPr>
                        <a:t>Ca</a:t>
                      </a:r>
                      <a:r>
                        <a:rPr lang="en-US" sz="2000" spc="105" dirty="0">
                          <a:effectLst/>
                        </a:rPr>
                        <a:t>²</a:t>
                      </a:r>
                      <a:r>
                        <a:rPr lang="en-US" sz="2000" spc="105" baseline="30000" dirty="0">
                          <a:effectLst/>
                        </a:rPr>
                        <a:t>+</a:t>
                      </a:r>
                      <a:r>
                        <a:rPr lang="zh-CN" sz="2000" spc="105" dirty="0">
                          <a:effectLst/>
                        </a:rPr>
                        <a:t>、</a:t>
                      </a:r>
                      <a:r>
                        <a:rPr lang="en-US" sz="2000" dirty="0">
                          <a:effectLst/>
                        </a:rPr>
                        <a:t>Mg</a:t>
                      </a:r>
                      <a:r>
                        <a:rPr lang="en-US" sz="2000" spc="105" dirty="0">
                          <a:effectLst/>
                        </a:rPr>
                        <a:t>²</a:t>
                      </a:r>
                      <a:r>
                        <a:rPr lang="en-US" sz="2000" spc="105" baseline="30000" dirty="0">
                          <a:effectLst/>
                        </a:rPr>
                        <a:t>+</a:t>
                      </a:r>
                      <a:r>
                        <a:rPr lang="zh-CN" sz="2000" spc="105" dirty="0">
                          <a:effectLst/>
                        </a:rPr>
                        <a:t>及重金属离子</a:t>
                      </a:r>
                      <a:endParaRPr lang="en-US" sz="2000" dirty="0">
                        <a:solidFill>
                          <a:srgbClr val="000000"/>
                        </a:solidFill>
                        <a:effectLst/>
                        <a:latin typeface="Arial" panose="020B0604020202020204" pitchFamily="34" charset="0"/>
                        <a:ea typeface="Arial" panose="020B0604020202020204" pitchFamily="34" charset="0"/>
                      </a:endParaRPr>
                    </a:p>
                  </a:txBody>
                  <a:tcPr marL="0" marR="0" marT="0" marB="0"/>
                </a:tc>
                <a:extLst>
                  <a:ext uri="{0D108BD9-81ED-4DB2-BD59-A6C34878D82A}">
                    <a16:rowId xmlns:a16="http://schemas.microsoft.com/office/drawing/2014/main" val="3321905642"/>
                  </a:ext>
                </a:extLst>
              </a:tr>
              <a:tr h="309168">
                <a:tc>
                  <a:txBody>
                    <a:bodyPr/>
                    <a:lstStyle/>
                    <a:p>
                      <a:pPr marL="95250" marR="0" eaLnBrk="0">
                        <a:lnSpc>
                          <a:spcPct val="91000"/>
                        </a:lnSpc>
                        <a:spcBef>
                          <a:spcPts val="580"/>
                        </a:spcBef>
                        <a:spcAft>
                          <a:spcPts val="0"/>
                        </a:spcAft>
                      </a:pPr>
                      <a:r>
                        <a:rPr lang="zh-CN" sz="2000" spc="20">
                          <a:effectLst/>
                        </a:rPr>
                        <a:t>抗氧剂</a:t>
                      </a:r>
                      <a:endParaRPr lang="en-US" sz="2000">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98425" marR="0" eaLnBrk="0">
                        <a:lnSpc>
                          <a:spcPct val="91000"/>
                        </a:lnSpc>
                        <a:spcBef>
                          <a:spcPts val="580"/>
                        </a:spcBef>
                        <a:spcAft>
                          <a:spcPts val="0"/>
                        </a:spcAft>
                      </a:pPr>
                      <a:r>
                        <a:rPr lang="zh-CN" sz="2000" spc="10">
                          <a:effectLst/>
                        </a:rPr>
                        <a:t>防止氧化</a:t>
                      </a:r>
                      <a:endParaRPr lang="en-US" sz="2000">
                        <a:solidFill>
                          <a:srgbClr val="000000"/>
                        </a:solidFill>
                        <a:effectLst/>
                        <a:latin typeface="Arial" panose="020B0604020202020204" pitchFamily="34" charset="0"/>
                        <a:ea typeface="Arial" panose="020B0604020202020204" pitchFamily="34" charset="0"/>
                      </a:endParaRPr>
                    </a:p>
                  </a:txBody>
                  <a:tcPr marL="0" marR="0" marT="0" marB="0"/>
                </a:tc>
                <a:extLst>
                  <a:ext uri="{0D108BD9-81ED-4DB2-BD59-A6C34878D82A}">
                    <a16:rowId xmlns:a16="http://schemas.microsoft.com/office/drawing/2014/main" val="3023766143"/>
                  </a:ext>
                </a:extLst>
              </a:tr>
              <a:tr h="318761">
                <a:tc>
                  <a:txBody>
                    <a:bodyPr/>
                    <a:lstStyle/>
                    <a:p>
                      <a:pPr marL="0" marR="0" eaLnBrk="0">
                        <a:spcBef>
                          <a:spcPts val="0"/>
                        </a:spcBef>
                        <a:spcAft>
                          <a:spcPts val="0"/>
                        </a:spcAft>
                      </a:pPr>
                      <a:r>
                        <a:rPr lang="en-US" sz="2000" dirty="0">
                          <a:effectLst/>
                        </a:rPr>
                        <a:t> </a:t>
                      </a:r>
                      <a:endParaRPr lang="en-US" sz="2000" dirty="0">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0" marR="0" eaLnBrk="0">
                        <a:spcBef>
                          <a:spcPts val="0"/>
                        </a:spcBef>
                        <a:spcAft>
                          <a:spcPts val="0"/>
                        </a:spcAft>
                      </a:pPr>
                      <a:endParaRPr lang="en-US" sz="2000" dirty="0">
                        <a:solidFill>
                          <a:srgbClr val="000000"/>
                        </a:solidFill>
                        <a:effectLst/>
                        <a:latin typeface="Arial" panose="020B0604020202020204" pitchFamily="34" charset="0"/>
                        <a:ea typeface="Arial" panose="020B0604020202020204" pitchFamily="34" charset="0"/>
                      </a:endParaRPr>
                    </a:p>
                  </a:txBody>
                  <a:tcPr marL="0" marR="0" marT="0" marB="0"/>
                </a:tc>
                <a:extLst>
                  <a:ext uri="{0D108BD9-81ED-4DB2-BD59-A6C34878D82A}">
                    <a16:rowId xmlns:a16="http://schemas.microsoft.com/office/drawing/2014/main" val="1160301358"/>
                  </a:ext>
                </a:extLst>
              </a:tr>
            </a:tbl>
          </a:graphicData>
        </a:graphic>
      </p:graphicFrame>
    </p:spTree>
    <p:extLst>
      <p:ext uri="{BB962C8B-B14F-4D97-AF65-F5344CB8AC3E}">
        <p14:creationId xmlns:p14="http://schemas.microsoft.com/office/powerpoint/2010/main" val="352746649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41</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皂基洁肤产品配方</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034689"/>
            <a:ext cx="8778240" cy="3970318"/>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皂化度的确定</a:t>
            </a:r>
          </a:p>
          <a:p>
            <a:r>
              <a:rPr lang="en-US" altLang="zh-CN" sz="2400" dirty="0">
                <a:latin typeface="KaiTi" panose="02010609060101010101" pitchFamily="49" charset="-122"/>
                <a:ea typeface="KaiTi" panose="02010609060101010101" pitchFamily="49" charset="-122"/>
              </a:rPr>
              <a:t>	</a:t>
            </a:r>
            <a:r>
              <a:rPr lang="zh-CN" altLang="en-US" sz="2400" dirty="0">
                <a:latin typeface="KaiTi" panose="02010609060101010101" pitchFamily="49" charset="-122"/>
                <a:ea typeface="KaiTi" panose="02010609060101010101" pitchFamily="49" charset="-122"/>
              </a:rPr>
              <a:t>对于皂基类清洁产品，脂肪酸的皂化度是一个非常关键的技术指标。</a:t>
            </a:r>
            <a:r>
              <a:rPr lang="zh-CN" altLang="en-US" sz="2400" dirty="0">
                <a:solidFill>
                  <a:srgbClr val="0000FF"/>
                </a:solidFill>
                <a:latin typeface="KaiTi" panose="02010609060101010101" pitchFamily="49" charset="-122"/>
                <a:ea typeface="KaiTi" panose="02010609060101010101" pitchFamily="49" charset="-122"/>
              </a:rPr>
              <a:t>由于脂肪酸盐属于强碱弱酸盐，皂化后体系呈一定的弱碱性，皂化度越高，其碱性越强。而皮肤属于弱酸性，使用碱性的清洁产品，会有因脱脂力强而导致干燥的现象。</a:t>
            </a:r>
            <a:endParaRPr lang="en-US" altLang="zh-CN" sz="2400" dirty="0">
              <a:solidFill>
                <a:srgbClr val="0000FF"/>
              </a:solidFill>
              <a:latin typeface="KaiTi" panose="02010609060101010101" pitchFamily="49" charset="-122"/>
              <a:ea typeface="KaiTi" panose="02010609060101010101" pitchFamily="49" charset="-122"/>
            </a:endParaRPr>
          </a:p>
          <a:p>
            <a:r>
              <a:rPr lang="en-US" altLang="zh-CN" sz="2400" dirty="0">
                <a:solidFill>
                  <a:srgbClr val="0000FF"/>
                </a:solidFill>
                <a:latin typeface="KaiTi" panose="02010609060101010101" pitchFamily="49" charset="-122"/>
                <a:ea typeface="KaiTi" panose="02010609060101010101" pitchFamily="49" charset="-122"/>
              </a:rPr>
              <a:t>	</a:t>
            </a:r>
            <a:r>
              <a:rPr lang="zh-CN" altLang="en-US" sz="2400" dirty="0">
                <a:latin typeface="KaiTi" panose="02010609060101010101" pitchFamily="49" charset="-122"/>
                <a:ea typeface="KaiTi" panose="02010609060101010101" pitchFamily="49" charset="-122"/>
              </a:rPr>
              <a:t>目前市面上的皂基产品的皂化度一般在</a:t>
            </a:r>
            <a:r>
              <a:rPr lang="en-US" altLang="zh-CN" sz="2400" dirty="0">
                <a:latin typeface="KaiTi" panose="02010609060101010101" pitchFamily="49" charset="-122"/>
                <a:ea typeface="KaiTi" panose="02010609060101010101" pitchFamily="49" charset="-122"/>
              </a:rPr>
              <a:t>80%</a:t>
            </a:r>
            <a:r>
              <a:rPr lang="zh-CN" altLang="en-US" sz="2400" dirty="0">
                <a:latin typeface="KaiTi" panose="02010609060101010101" pitchFamily="49" charset="-122"/>
                <a:ea typeface="KaiTi" panose="02010609060101010101" pitchFamily="49" charset="-122"/>
              </a:rPr>
              <a:t>以上，残留的脂肪酸作为护肤油脂，起到一定的润肤作用。</a:t>
            </a:r>
            <a:endParaRPr lang="en-US" altLang="zh-CN" sz="2400" dirty="0">
              <a:latin typeface="KaiTi" panose="02010609060101010101" pitchFamily="49" charset="-122"/>
              <a:ea typeface="KaiTi" panose="02010609060101010101" pitchFamily="49" charset="-122"/>
            </a:endParaRPr>
          </a:p>
          <a:p>
            <a:r>
              <a:rPr lang="en-US" altLang="zh-CN" sz="2400" dirty="0">
                <a:latin typeface="KaiTi" panose="02010609060101010101" pitchFamily="49" charset="-122"/>
                <a:ea typeface="KaiTi" panose="02010609060101010101" pitchFamily="49" charset="-122"/>
              </a:rPr>
              <a:t>	</a:t>
            </a:r>
            <a:r>
              <a:rPr lang="zh-CN" altLang="en-US" sz="2400" dirty="0">
                <a:latin typeface="KaiTi" panose="02010609060101010101" pitchFamily="49" charset="-122"/>
                <a:ea typeface="KaiTi" panose="02010609060101010101" pitchFamily="49" charset="-122"/>
              </a:rPr>
              <a:t>随着市场产品的细分化，也有少量的完全皂化产品，完全皂化产品有较高的</a:t>
            </a:r>
            <a:r>
              <a:rPr lang="en-US" altLang="zh-CN" sz="2400" dirty="0">
                <a:latin typeface="KaiTi" panose="02010609060101010101" pitchFamily="49" charset="-122"/>
                <a:ea typeface="KaiTi" panose="02010609060101010101" pitchFamily="49" charset="-122"/>
              </a:rPr>
              <a:t>pH</a:t>
            </a:r>
            <a:r>
              <a:rPr lang="zh-CN" altLang="en-US" sz="2400" dirty="0">
                <a:latin typeface="KaiTi" panose="02010609060101010101" pitchFamily="49" charset="-122"/>
                <a:ea typeface="KaiTi" panose="02010609060101010101" pitchFamily="49" charset="-122"/>
              </a:rPr>
              <a:t>值。这类体系通过复配其他类型的表面活性剂，以降低其脱脂力、刺激性。</a:t>
            </a:r>
          </a:p>
        </p:txBody>
      </p:sp>
    </p:spTree>
    <p:extLst>
      <p:ext uri="{BB962C8B-B14F-4D97-AF65-F5344CB8AC3E}">
        <p14:creationId xmlns:p14="http://schemas.microsoft.com/office/powerpoint/2010/main" val="2064729480"/>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42</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皂基洁肤产品配方</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035532"/>
            <a:ext cx="8778240" cy="3901837"/>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皂化反应</a:t>
            </a:r>
            <a:endParaRPr lang="en-US" altLang="zh-CN" sz="2400" dirty="0">
              <a:latin typeface="+mn-lt"/>
              <a:ea typeface="SimHei" panose="02010609060101010101" pitchFamily="49" charset="-122"/>
            </a:endParaRPr>
          </a:p>
          <a:p>
            <a:pPr marL="800100" lvl="1" indent="-342900">
              <a:lnSpc>
                <a:spcPct val="150000"/>
              </a:lnSpc>
              <a:buFont typeface="Arial" panose="020B0604020202020204" pitchFamily="34" charset="0"/>
              <a:buChar char="•"/>
            </a:pPr>
            <a:r>
              <a:rPr lang="zh-CN" altLang="en-US" sz="2400" dirty="0">
                <a:latin typeface="+mn-lt"/>
                <a:ea typeface="SimHei" panose="02010609060101010101" pitchFamily="49" charset="-122"/>
              </a:rPr>
              <a:t>油脂的皂化反应放热，但动力学慢，搅拌高温下进行</a:t>
            </a:r>
            <a:endParaRPr lang="en-US" altLang="zh-CN" sz="2400" dirty="0">
              <a:latin typeface="+mn-lt"/>
              <a:ea typeface="SimHei" panose="02010609060101010101" pitchFamily="49" charset="-122"/>
            </a:endParaRPr>
          </a:p>
          <a:p>
            <a:pPr marL="800100" lvl="1" indent="-342900">
              <a:lnSpc>
                <a:spcPct val="150000"/>
              </a:lnSpc>
              <a:buFont typeface="Arial" panose="020B0604020202020204" pitchFamily="34" charset="0"/>
              <a:buChar char="•"/>
            </a:pPr>
            <a:endParaRPr lang="en-US" altLang="zh-CN" sz="2400" dirty="0">
              <a:latin typeface="+mn-lt"/>
              <a:ea typeface="SimHei" panose="02010609060101010101" pitchFamily="49" charset="-122"/>
            </a:endParaRPr>
          </a:p>
          <a:p>
            <a:pPr marL="800100" lvl="1" indent="-342900">
              <a:lnSpc>
                <a:spcPct val="150000"/>
              </a:lnSpc>
              <a:buFont typeface="Arial" panose="020B0604020202020204" pitchFamily="34" charset="0"/>
              <a:buChar char="•"/>
            </a:pPr>
            <a:endParaRPr lang="en-US" altLang="zh-CN" sz="2400" dirty="0">
              <a:latin typeface="+mn-lt"/>
              <a:ea typeface="SimHei" panose="02010609060101010101" pitchFamily="49" charset="-122"/>
            </a:endParaRPr>
          </a:p>
          <a:p>
            <a:pPr marL="800100" lvl="1" indent="-342900">
              <a:lnSpc>
                <a:spcPct val="150000"/>
              </a:lnSpc>
              <a:buFont typeface="Arial" panose="020B0604020202020204" pitchFamily="34" charset="0"/>
              <a:buChar char="•"/>
            </a:pPr>
            <a:endParaRPr lang="en-US" altLang="zh-CN" sz="2400" dirty="0">
              <a:latin typeface="+mn-lt"/>
              <a:ea typeface="SimHei" panose="02010609060101010101" pitchFamily="49" charset="-122"/>
            </a:endParaRPr>
          </a:p>
          <a:p>
            <a:pPr marL="800100" lvl="1" indent="-342900">
              <a:lnSpc>
                <a:spcPct val="150000"/>
              </a:lnSpc>
              <a:buFont typeface="Arial" panose="020B0604020202020204" pitchFamily="34" charset="0"/>
              <a:buChar char="•"/>
            </a:pPr>
            <a:endParaRPr lang="en-US" altLang="zh-CN" sz="2400" dirty="0">
              <a:latin typeface="+mn-lt"/>
              <a:ea typeface="SimHei" panose="02010609060101010101" pitchFamily="49" charset="-122"/>
            </a:endParaRPr>
          </a:p>
          <a:p>
            <a:pPr marL="800100" lvl="1" indent="-342900">
              <a:lnSpc>
                <a:spcPct val="150000"/>
              </a:lnSpc>
              <a:buFont typeface="Arial" panose="020B0604020202020204" pitchFamily="34" charset="0"/>
              <a:buChar char="•"/>
            </a:pPr>
            <a:r>
              <a:rPr lang="zh-CN" altLang="en-US" sz="2400" dirty="0">
                <a:latin typeface="+mn-lt"/>
                <a:ea typeface="SimHei" panose="02010609060101010101" pitchFamily="49" charset="-122"/>
              </a:rPr>
              <a:t>应用于洁肤产品制备过程中的皂化反应</a:t>
            </a:r>
            <a:endParaRPr lang="en-US" altLang="zh-CN" sz="2400" dirty="0">
              <a:latin typeface="+mn-lt"/>
              <a:ea typeface="SimHei" panose="02010609060101010101" pitchFamily="49" charset="-122"/>
            </a:endParaRPr>
          </a:p>
        </p:txBody>
      </p:sp>
      <p:pic>
        <p:nvPicPr>
          <p:cNvPr id="6" name="图片 5">
            <a:extLst>
              <a:ext uri="{FF2B5EF4-FFF2-40B4-BE49-F238E27FC236}">
                <a16:creationId xmlns:a16="http://schemas.microsoft.com/office/drawing/2014/main" id="{C997B238-4DB6-0834-C026-B0996C4C7E12}"/>
              </a:ext>
            </a:extLst>
          </p:cNvPr>
          <p:cNvPicPr>
            <a:picLocks noChangeAspect="1"/>
          </p:cNvPicPr>
          <p:nvPr/>
        </p:nvPicPr>
        <p:blipFill>
          <a:blip r:embed="rId2"/>
          <a:stretch>
            <a:fillRect/>
          </a:stretch>
        </p:blipFill>
        <p:spPr>
          <a:xfrm>
            <a:off x="1159328" y="2349711"/>
            <a:ext cx="6825343" cy="1893536"/>
          </a:xfrm>
          <a:prstGeom prst="rect">
            <a:avLst/>
          </a:prstGeom>
        </p:spPr>
      </p:pic>
      <p:pic>
        <p:nvPicPr>
          <p:cNvPr id="9" name="图片 8">
            <a:extLst>
              <a:ext uri="{FF2B5EF4-FFF2-40B4-BE49-F238E27FC236}">
                <a16:creationId xmlns:a16="http://schemas.microsoft.com/office/drawing/2014/main" id="{46096387-F283-B9C1-F37D-AA7C8DBC4AD5}"/>
              </a:ext>
            </a:extLst>
          </p:cNvPr>
          <p:cNvPicPr>
            <a:picLocks noChangeAspect="1"/>
          </p:cNvPicPr>
          <p:nvPr/>
        </p:nvPicPr>
        <p:blipFill>
          <a:blip r:embed="rId3"/>
          <a:stretch>
            <a:fillRect/>
          </a:stretch>
        </p:blipFill>
        <p:spPr>
          <a:xfrm>
            <a:off x="1518556" y="5312992"/>
            <a:ext cx="6106886" cy="453154"/>
          </a:xfrm>
          <a:prstGeom prst="rect">
            <a:avLst/>
          </a:prstGeom>
        </p:spPr>
      </p:pic>
    </p:spTree>
    <p:extLst>
      <p:ext uri="{BB962C8B-B14F-4D97-AF65-F5344CB8AC3E}">
        <p14:creationId xmlns:p14="http://schemas.microsoft.com/office/powerpoint/2010/main" val="414906490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43</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皂基洁肤产品配方</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540349" y="1346495"/>
            <a:ext cx="7461065" cy="4455835"/>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脂肪酸盐是阴离子型表明活性剂</a:t>
            </a:r>
            <a:endParaRPr lang="en-US" altLang="zh-CN" sz="2400" dirty="0">
              <a:latin typeface="+mn-lt"/>
              <a:ea typeface="SimHei" panose="02010609060101010101" pitchFamily="49" charset="-122"/>
            </a:endParaRPr>
          </a:p>
          <a:p>
            <a:pPr marL="800100" lvl="1" indent="-342900">
              <a:lnSpc>
                <a:spcPct val="150000"/>
              </a:lnSpc>
              <a:buFont typeface="Arial" panose="020B0604020202020204" pitchFamily="34" charset="0"/>
              <a:buChar char="•"/>
            </a:pPr>
            <a:r>
              <a:rPr lang="en-US" altLang="zh-CN" sz="2400" dirty="0" err="1">
                <a:latin typeface="+mn-lt"/>
                <a:ea typeface="SimHei" panose="02010609060101010101" pitchFamily="49" charset="-122"/>
              </a:rPr>
              <a:t>Kraftt</a:t>
            </a:r>
            <a:r>
              <a:rPr lang="en-US" altLang="zh-CN" sz="2400" dirty="0">
                <a:latin typeface="+mn-lt"/>
                <a:ea typeface="SimHei" panose="02010609060101010101" pitchFamily="49" charset="-122"/>
              </a:rPr>
              <a:t> point &amp; CMC</a:t>
            </a:r>
          </a:p>
          <a:p>
            <a:pPr marL="800100" lvl="1" indent="-342900">
              <a:lnSpc>
                <a:spcPct val="150000"/>
              </a:lnSpc>
              <a:buFont typeface="Arial" panose="020B0604020202020204" pitchFamily="34" charset="0"/>
              <a:buChar char="•"/>
            </a:pPr>
            <a:r>
              <a:rPr lang="zh-CN" altLang="en-US" sz="2400" dirty="0">
                <a:latin typeface="+mn-lt"/>
                <a:ea typeface="SimHei" panose="02010609060101010101" pitchFamily="49" charset="-122"/>
              </a:rPr>
              <a:t>脂肪酸盐的</a:t>
            </a:r>
            <a:r>
              <a:rPr lang="en-US" altLang="zh-CN" sz="2400" dirty="0" err="1">
                <a:latin typeface="+mn-lt"/>
                <a:ea typeface="SimHei" panose="02010609060101010101" pitchFamily="49" charset="-122"/>
              </a:rPr>
              <a:t>Krafft</a:t>
            </a:r>
            <a:r>
              <a:rPr lang="zh-CN" altLang="en-US" sz="2400" dirty="0">
                <a:latin typeface="+mn-lt"/>
                <a:ea typeface="SimHei" panose="02010609060101010101" pitchFamily="49" charset="-122"/>
              </a:rPr>
              <a:t>点均高于室温，也即：</a:t>
            </a:r>
            <a:r>
              <a:rPr lang="zh-CN" altLang="en-US" sz="2400" dirty="0">
                <a:solidFill>
                  <a:srgbClr val="0000FF"/>
                </a:solidFill>
                <a:latin typeface="+mn-lt"/>
                <a:ea typeface="SimHei" panose="02010609060101010101" pitchFamily="49" charset="-122"/>
              </a:rPr>
              <a:t>产品的储存温度一般在</a:t>
            </a:r>
            <a:r>
              <a:rPr lang="en-US" altLang="zh-CN" sz="2400" dirty="0" err="1">
                <a:solidFill>
                  <a:srgbClr val="0000FF"/>
                </a:solidFill>
                <a:latin typeface="+mn-lt"/>
                <a:ea typeface="SimHei" panose="02010609060101010101" pitchFamily="49" charset="-122"/>
              </a:rPr>
              <a:t>Krafft</a:t>
            </a:r>
            <a:r>
              <a:rPr lang="zh-CN" altLang="en-US" sz="2400" dirty="0">
                <a:solidFill>
                  <a:srgbClr val="0000FF"/>
                </a:solidFill>
                <a:latin typeface="+mn-lt"/>
                <a:ea typeface="SimHei" panose="02010609060101010101" pitchFamily="49" charset="-122"/>
              </a:rPr>
              <a:t>点之下，脂肪酸盐极易以水合固体物析出</a:t>
            </a:r>
            <a:r>
              <a:rPr lang="zh-CN" altLang="en-US" sz="2400" dirty="0">
                <a:latin typeface="+mn-lt"/>
                <a:ea typeface="SimHei" panose="02010609060101010101" pitchFamily="49" charset="-122"/>
              </a:rPr>
              <a:t>，这也是皂基体系容易出水的原因。在配方开发过程中，可以通过添加其他成分，</a:t>
            </a:r>
            <a:r>
              <a:rPr lang="zh-CN" altLang="en-US" sz="2400" dirty="0">
                <a:solidFill>
                  <a:srgbClr val="0000FF"/>
                </a:solidFill>
                <a:latin typeface="+mn-lt"/>
                <a:ea typeface="SimHei" panose="02010609060101010101" pitchFamily="49" charset="-122"/>
              </a:rPr>
              <a:t>提升脂肪酸盐水合固体物的溶解性</a:t>
            </a:r>
            <a:r>
              <a:rPr lang="zh-CN" altLang="en-US" sz="2400" dirty="0">
                <a:latin typeface="+mn-lt"/>
                <a:ea typeface="SimHei" panose="02010609060101010101" pitchFamily="49" charset="-122"/>
              </a:rPr>
              <a:t>。</a:t>
            </a:r>
          </a:p>
          <a:p>
            <a:pPr marL="800100" lvl="1" indent="-342900">
              <a:lnSpc>
                <a:spcPct val="150000"/>
              </a:lnSpc>
              <a:buFont typeface="Arial" panose="020B0604020202020204" pitchFamily="34" charset="0"/>
              <a:buChar char="•"/>
            </a:pPr>
            <a:endParaRPr lang="en-US" altLang="zh-CN" sz="2400" dirty="0">
              <a:latin typeface="+mn-lt"/>
              <a:ea typeface="SimHei" panose="02010609060101010101" pitchFamily="49" charset="-122"/>
            </a:endParaRPr>
          </a:p>
        </p:txBody>
      </p:sp>
    </p:spTree>
    <p:extLst>
      <p:ext uri="{BB962C8B-B14F-4D97-AF65-F5344CB8AC3E}">
        <p14:creationId xmlns:p14="http://schemas.microsoft.com/office/powerpoint/2010/main" val="315143372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44</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皂基洁肤产品配方</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016862"/>
            <a:ext cx="8778240" cy="2775760"/>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脂肪酸盐</a:t>
            </a:r>
            <a:endParaRPr lang="en-US" altLang="zh-CN" sz="2400" dirty="0">
              <a:latin typeface="+mn-lt"/>
              <a:ea typeface="SimHei" panose="02010609060101010101" pitchFamily="49" charset="-122"/>
            </a:endParaRPr>
          </a:p>
          <a:p>
            <a:r>
              <a:rPr lang="en-US" altLang="zh-CN" sz="2400" dirty="0">
                <a:latin typeface="+mn-lt"/>
                <a:ea typeface="SimHei" panose="02010609060101010101" pitchFamily="49" charset="-122"/>
              </a:rPr>
              <a:t>	</a:t>
            </a:r>
            <a:r>
              <a:rPr lang="zh-CN" altLang="en-US" sz="2400" dirty="0">
                <a:latin typeface="KaiTi" panose="02010609060101010101" pitchFamily="49" charset="-122"/>
                <a:ea typeface="KaiTi" panose="02010609060101010101" pitchFamily="49" charset="-122"/>
              </a:rPr>
              <a:t>高级脂肪酸的钠盐、钾盐、铵盐、有机胺盐、锌盐、钙盐和铝盐等统称为高级脂肪酸盐，也称为皂，是皂基型洁面产品的主要组分。</a:t>
            </a:r>
            <a:endParaRPr lang="en-US" altLang="zh-CN" sz="2400" dirty="0">
              <a:latin typeface="KaiTi" panose="02010609060101010101" pitchFamily="49" charset="-122"/>
              <a:ea typeface="KaiTi" panose="02010609060101010101" pitchFamily="49" charset="-122"/>
            </a:endParaRPr>
          </a:p>
          <a:p>
            <a:pPr>
              <a:lnSpc>
                <a:spcPct val="150000"/>
              </a:lnSpc>
            </a:pPr>
            <a:r>
              <a:rPr lang="en-US" altLang="zh-CN" sz="2400" dirty="0">
                <a:latin typeface="KaiTi" panose="02010609060101010101" pitchFamily="49" charset="-122"/>
                <a:ea typeface="KaiTi" panose="02010609060101010101" pitchFamily="49" charset="-122"/>
              </a:rPr>
              <a:t>	</a:t>
            </a:r>
            <a:r>
              <a:rPr lang="zh-CN" altLang="en-US" sz="2400" dirty="0">
                <a:solidFill>
                  <a:srgbClr val="0000FF"/>
                </a:solidFill>
                <a:latin typeface="KaiTi" panose="02010609060101010101" pitchFamily="49" charset="-122"/>
                <a:ea typeface="KaiTi" panose="02010609060101010101" pitchFamily="49" charset="-122"/>
              </a:rPr>
              <a:t>随着碳链数目的增加，脂肪酸盐的脱脂力和清洁力会减弱，干涩和紧绷的肤感也减弱。</a:t>
            </a:r>
            <a:endParaRPr lang="en-US" altLang="zh-CN" sz="2400" dirty="0">
              <a:solidFill>
                <a:srgbClr val="0000FF"/>
              </a:solidFill>
              <a:latin typeface="KaiTi" panose="02010609060101010101" pitchFamily="49" charset="-122"/>
              <a:ea typeface="KaiTi" panose="02010609060101010101" pitchFamily="49" charset="-122"/>
            </a:endParaRPr>
          </a:p>
        </p:txBody>
      </p:sp>
      <p:graphicFrame>
        <p:nvGraphicFramePr>
          <p:cNvPr id="5" name="表格 4">
            <a:extLst>
              <a:ext uri="{FF2B5EF4-FFF2-40B4-BE49-F238E27FC236}">
                <a16:creationId xmlns:a16="http://schemas.microsoft.com/office/drawing/2014/main" id="{B6400E8B-1225-2619-73BA-AE1015E94B1C}"/>
              </a:ext>
            </a:extLst>
          </p:cNvPr>
          <p:cNvGraphicFramePr>
            <a:graphicFrameLocks noGrp="1"/>
          </p:cNvGraphicFramePr>
          <p:nvPr>
            <p:extLst>
              <p:ext uri="{D42A27DB-BD31-4B8C-83A1-F6EECF244321}">
                <p14:modId xmlns:p14="http://schemas.microsoft.com/office/powerpoint/2010/main" val="792799512"/>
              </p:ext>
            </p:extLst>
          </p:nvPr>
        </p:nvGraphicFramePr>
        <p:xfrm>
          <a:off x="182880" y="3799763"/>
          <a:ext cx="8778240" cy="2775759"/>
        </p:xfrm>
        <a:graphic>
          <a:graphicData uri="http://schemas.openxmlformats.org/drawingml/2006/table">
            <a:tbl>
              <a:tblPr firstRow="1" firstCol="1" bandRow="1">
                <a:tableStyleId>{72833802-FEF1-4C79-8D5D-14CF1EAF98D9}</a:tableStyleId>
              </a:tblPr>
              <a:tblGrid>
                <a:gridCol w="2384936">
                  <a:extLst>
                    <a:ext uri="{9D8B030D-6E8A-4147-A177-3AD203B41FA5}">
                      <a16:colId xmlns:a16="http://schemas.microsoft.com/office/drawing/2014/main" val="147132252"/>
                    </a:ext>
                  </a:extLst>
                </a:gridCol>
                <a:gridCol w="2652719">
                  <a:extLst>
                    <a:ext uri="{9D8B030D-6E8A-4147-A177-3AD203B41FA5}">
                      <a16:colId xmlns:a16="http://schemas.microsoft.com/office/drawing/2014/main" val="2883463887"/>
                    </a:ext>
                  </a:extLst>
                </a:gridCol>
                <a:gridCol w="2192468">
                  <a:extLst>
                    <a:ext uri="{9D8B030D-6E8A-4147-A177-3AD203B41FA5}">
                      <a16:colId xmlns:a16="http://schemas.microsoft.com/office/drawing/2014/main" val="163045636"/>
                    </a:ext>
                  </a:extLst>
                </a:gridCol>
                <a:gridCol w="1548117">
                  <a:extLst>
                    <a:ext uri="{9D8B030D-6E8A-4147-A177-3AD203B41FA5}">
                      <a16:colId xmlns:a16="http://schemas.microsoft.com/office/drawing/2014/main" val="3835683859"/>
                    </a:ext>
                  </a:extLst>
                </a:gridCol>
              </a:tblGrid>
              <a:tr h="570342">
                <a:tc>
                  <a:txBody>
                    <a:bodyPr/>
                    <a:lstStyle/>
                    <a:p>
                      <a:pPr marL="774700" marR="0" eaLnBrk="0">
                        <a:lnSpc>
                          <a:spcPct val="92000"/>
                        </a:lnSpc>
                        <a:spcBef>
                          <a:spcPts val="530"/>
                        </a:spcBef>
                        <a:spcAft>
                          <a:spcPts val="0"/>
                        </a:spcAft>
                      </a:pPr>
                      <a:r>
                        <a:rPr lang="zh-CN" sz="1600" spc="25">
                          <a:effectLst/>
                        </a:rPr>
                        <a:t>名称</a:t>
                      </a:r>
                      <a:endParaRPr lang="en-US" sz="1600">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803275" marR="0" eaLnBrk="0">
                        <a:lnSpc>
                          <a:spcPct val="91000"/>
                        </a:lnSpc>
                        <a:spcBef>
                          <a:spcPts val="520"/>
                        </a:spcBef>
                        <a:spcAft>
                          <a:spcPts val="0"/>
                        </a:spcAft>
                      </a:pPr>
                      <a:r>
                        <a:rPr lang="zh-CN" sz="1600" spc="10">
                          <a:effectLst/>
                        </a:rPr>
                        <a:t>结构式</a:t>
                      </a:r>
                      <a:endParaRPr lang="en-US" sz="1600">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358775" marR="0" eaLnBrk="0">
                        <a:lnSpc>
                          <a:spcPct val="89000"/>
                        </a:lnSpc>
                        <a:spcBef>
                          <a:spcPts val="480"/>
                        </a:spcBef>
                        <a:spcAft>
                          <a:spcPts val="0"/>
                        </a:spcAft>
                      </a:pPr>
                      <a:r>
                        <a:rPr lang="zh-CN" sz="1600" spc="30">
                          <a:effectLst/>
                        </a:rPr>
                        <a:t>酸值</a:t>
                      </a:r>
                      <a:r>
                        <a:rPr lang="en-US" sz="1600" spc="30">
                          <a:effectLst/>
                        </a:rPr>
                        <a:t>/(</a:t>
                      </a:r>
                      <a:r>
                        <a:rPr lang="en-US" sz="1600">
                          <a:effectLst/>
                        </a:rPr>
                        <a:t>mgKOH</a:t>
                      </a:r>
                      <a:r>
                        <a:rPr lang="en-US" sz="1600" spc="30">
                          <a:effectLst/>
                        </a:rPr>
                        <a:t>/g)</a:t>
                      </a:r>
                      <a:endParaRPr lang="en-US" sz="1600">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346075" marR="0" eaLnBrk="0">
                        <a:lnSpc>
                          <a:spcPct val="91000"/>
                        </a:lnSpc>
                        <a:spcBef>
                          <a:spcPts val="520"/>
                        </a:spcBef>
                        <a:spcAft>
                          <a:spcPts val="0"/>
                        </a:spcAft>
                      </a:pPr>
                      <a:r>
                        <a:rPr lang="zh-CN" sz="1600" spc="40">
                          <a:effectLst/>
                        </a:rPr>
                        <a:t>熔点</a:t>
                      </a:r>
                      <a:r>
                        <a:rPr lang="en-US" sz="1600" spc="40">
                          <a:effectLst/>
                        </a:rPr>
                        <a:t>/℃</a:t>
                      </a:r>
                      <a:endParaRPr lang="en-US" sz="1600">
                        <a:solidFill>
                          <a:srgbClr val="000000"/>
                        </a:solidFill>
                        <a:effectLst/>
                        <a:latin typeface="Arial" panose="020B0604020202020204" pitchFamily="34" charset="0"/>
                        <a:ea typeface="Arial" panose="020B0604020202020204" pitchFamily="34" charset="0"/>
                      </a:endParaRPr>
                    </a:p>
                  </a:txBody>
                  <a:tcPr marL="0" marR="0" marT="0" marB="0"/>
                </a:tc>
                <a:extLst>
                  <a:ext uri="{0D108BD9-81ED-4DB2-BD59-A6C34878D82A}">
                    <a16:rowId xmlns:a16="http://schemas.microsoft.com/office/drawing/2014/main" val="3333321107"/>
                  </a:ext>
                </a:extLst>
              </a:tr>
              <a:tr h="545485">
                <a:tc>
                  <a:txBody>
                    <a:bodyPr/>
                    <a:lstStyle/>
                    <a:p>
                      <a:pPr marL="107950" marR="0" eaLnBrk="0">
                        <a:lnSpc>
                          <a:spcPct val="91000"/>
                        </a:lnSpc>
                        <a:spcBef>
                          <a:spcPts val="400"/>
                        </a:spcBef>
                        <a:spcAft>
                          <a:spcPts val="0"/>
                        </a:spcAft>
                      </a:pPr>
                      <a:r>
                        <a:rPr lang="zh-CN" sz="1600" spc="20">
                          <a:effectLst/>
                        </a:rPr>
                        <a:t>月桂酸</a:t>
                      </a:r>
                      <a:r>
                        <a:rPr lang="en-US" sz="1600" spc="20">
                          <a:effectLst/>
                        </a:rPr>
                        <a:t>(</a:t>
                      </a:r>
                      <a:r>
                        <a:rPr lang="zh-CN" sz="1600" spc="20">
                          <a:effectLst/>
                        </a:rPr>
                        <a:t>以十二酸为主</a:t>
                      </a:r>
                      <a:r>
                        <a:rPr lang="en-US" sz="1600" spc="20">
                          <a:effectLst/>
                        </a:rPr>
                        <a:t>)</a:t>
                      </a:r>
                      <a:endParaRPr lang="en-US" sz="1600">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434975" marR="0" eaLnBrk="0">
                        <a:lnSpc>
                          <a:spcPct val="91000"/>
                        </a:lnSpc>
                        <a:spcBef>
                          <a:spcPts val="495"/>
                        </a:spcBef>
                        <a:spcAft>
                          <a:spcPts val="0"/>
                        </a:spcAft>
                      </a:pPr>
                      <a:r>
                        <a:rPr lang="en-US" sz="1600" spc="-20" dirty="0">
                          <a:effectLst/>
                        </a:rPr>
                        <a:t>CH₃</a:t>
                      </a:r>
                      <a:r>
                        <a:rPr lang="en-US" sz="1600" dirty="0">
                          <a:effectLst/>
                        </a:rPr>
                        <a:t> </a:t>
                      </a:r>
                      <a:r>
                        <a:rPr lang="en-US" sz="1600" spc="-20" dirty="0">
                          <a:effectLst/>
                        </a:rPr>
                        <a:t>(CH₂)</a:t>
                      </a:r>
                      <a:r>
                        <a:rPr lang="en-US" sz="1600" spc="-20" baseline="-25000" dirty="0">
                          <a:effectLst/>
                        </a:rPr>
                        <a:t>1</a:t>
                      </a:r>
                      <a:r>
                        <a:rPr lang="en-US" sz="1600" spc="-20" dirty="0">
                          <a:effectLst/>
                        </a:rPr>
                        <a:t>₀COOH</a:t>
                      </a:r>
                      <a:endParaRPr lang="en-US" sz="1600" dirty="0">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561975" marR="0" eaLnBrk="0">
                        <a:lnSpc>
                          <a:spcPct val="76000"/>
                        </a:lnSpc>
                        <a:spcBef>
                          <a:spcPts val="770"/>
                        </a:spcBef>
                        <a:spcAft>
                          <a:spcPts val="0"/>
                        </a:spcAft>
                      </a:pPr>
                      <a:r>
                        <a:rPr lang="en-US" sz="1600" spc="-10">
                          <a:effectLst/>
                        </a:rPr>
                        <a:t>278</a:t>
                      </a:r>
                      <a:r>
                        <a:rPr lang="zh-CN" sz="1600" spc="-10">
                          <a:effectLst/>
                        </a:rPr>
                        <a:t>～</a:t>
                      </a:r>
                      <a:r>
                        <a:rPr lang="en-US" sz="1600" spc="-10">
                          <a:effectLst/>
                        </a:rPr>
                        <a:t>282</a:t>
                      </a:r>
                      <a:endParaRPr lang="en-US" sz="1600">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447675" marR="0" eaLnBrk="0">
                        <a:lnSpc>
                          <a:spcPct val="76000"/>
                        </a:lnSpc>
                        <a:spcBef>
                          <a:spcPts val="770"/>
                        </a:spcBef>
                        <a:spcAft>
                          <a:spcPts val="0"/>
                        </a:spcAft>
                      </a:pPr>
                      <a:r>
                        <a:rPr lang="en-US" sz="1600" spc="-10">
                          <a:effectLst/>
                        </a:rPr>
                        <a:t>43.8</a:t>
                      </a:r>
                      <a:endParaRPr lang="en-US" sz="1600">
                        <a:solidFill>
                          <a:srgbClr val="000000"/>
                        </a:solidFill>
                        <a:effectLst/>
                        <a:latin typeface="Arial" panose="020B0604020202020204" pitchFamily="34" charset="0"/>
                        <a:ea typeface="Arial" panose="020B0604020202020204" pitchFamily="34" charset="0"/>
                      </a:endParaRPr>
                    </a:p>
                  </a:txBody>
                  <a:tcPr marL="0" marR="0" marT="0" marB="0"/>
                </a:tc>
                <a:extLst>
                  <a:ext uri="{0D108BD9-81ED-4DB2-BD59-A6C34878D82A}">
                    <a16:rowId xmlns:a16="http://schemas.microsoft.com/office/drawing/2014/main" val="938787378"/>
                  </a:ext>
                </a:extLst>
              </a:tr>
              <a:tr h="562057">
                <a:tc>
                  <a:txBody>
                    <a:bodyPr/>
                    <a:lstStyle/>
                    <a:p>
                      <a:pPr marL="107950" marR="0" eaLnBrk="0">
                        <a:lnSpc>
                          <a:spcPct val="91000"/>
                        </a:lnSpc>
                        <a:spcBef>
                          <a:spcPts val="475"/>
                        </a:spcBef>
                        <a:spcAft>
                          <a:spcPts val="0"/>
                        </a:spcAft>
                      </a:pPr>
                      <a:r>
                        <a:rPr lang="zh-CN" sz="1600" spc="15">
                          <a:effectLst/>
                        </a:rPr>
                        <a:t>肉豆蔻酸</a:t>
                      </a:r>
                      <a:r>
                        <a:rPr lang="en-US" sz="1600" spc="15">
                          <a:effectLst/>
                        </a:rPr>
                        <a:t>(</a:t>
                      </a:r>
                      <a:r>
                        <a:rPr lang="zh-CN" sz="1600" spc="15">
                          <a:effectLst/>
                        </a:rPr>
                        <a:t>以十四酸为主</a:t>
                      </a:r>
                      <a:r>
                        <a:rPr lang="en-US" sz="1600" spc="15">
                          <a:effectLst/>
                        </a:rPr>
                        <a:t>)</a:t>
                      </a:r>
                      <a:endParaRPr lang="en-US" sz="1600">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434975" marR="0" eaLnBrk="0">
                        <a:lnSpc>
                          <a:spcPct val="91000"/>
                        </a:lnSpc>
                        <a:spcBef>
                          <a:spcPts val="470"/>
                        </a:spcBef>
                        <a:spcAft>
                          <a:spcPts val="0"/>
                        </a:spcAft>
                      </a:pPr>
                      <a:r>
                        <a:rPr lang="en-US" sz="1600" spc="-20" dirty="0">
                          <a:effectLst/>
                        </a:rPr>
                        <a:t>CH₃</a:t>
                      </a:r>
                      <a:r>
                        <a:rPr lang="en-US" sz="1600" dirty="0">
                          <a:effectLst/>
                        </a:rPr>
                        <a:t> </a:t>
                      </a:r>
                      <a:r>
                        <a:rPr lang="en-US" sz="1600" spc="-20" dirty="0">
                          <a:effectLst/>
                        </a:rPr>
                        <a:t>(CH₂)</a:t>
                      </a:r>
                      <a:r>
                        <a:rPr lang="en-US" sz="1600" spc="-20" baseline="-25000" dirty="0">
                          <a:effectLst/>
                        </a:rPr>
                        <a:t>1</a:t>
                      </a:r>
                      <a:r>
                        <a:rPr lang="en-US" sz="1600" spc="-20" dirty="0">
                          <a:effectLst/>
                        </a:rPr>
                        <a:t>₂COOH</a:t>
                      </a:r>
                      <a:endParaRPr lang="en-US" sz="1600" dirty="0">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561975" marR="0" eaLnBrk="0">
                        <a:lnSpc>
                          <a:spcPct val="76000"/>
                        </a:lnSpc>
                        <a:spcBef>
                          <a:spcPts val="895"/>
                        </a:spcBef>
                        <a:spcAft>
                          <a:spcPts val="0"/>
                        </a:spcAft>
                      </a:pPr>
                      <a:r>
                        <a:rPr lang="en-US" sz="1600" spc="-10">
                          <a:effectLst/>
                        </a:rPr>
                        <a:t>244</a:t>
                      </a:r>
                      <a:r>
                        <a:rPr lang="zh-CN" sz="1600" spc="-10">
                          <a:effectLst/>
                        </a:rPr>
                        <a:t>～</a:t>
                      </a:r>
                      <a:r>
                        <a:rPr lang="en-US" sz="1600" spc="-10">
                          <a:effectLst/>
                        </a:rPr>
                        <a:t>248</a:t>
                      </a:r>
                      <a:endParaRPr lang="en-US" sz="1600">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447675" marR="0" eaLnBrk="0">
                        <a:lnSpc>
                          <a:spcPct val="76000"/>
                        </a:lnSpc>
                        <a:spcBef>
                          <a:spcPts val="695"/>
                        </a:spcBef>
                        <a:spcAft>
                          <a:spcPts val="0"/>
                        </a:spcAft>
                      </a:pPr>
                      <a:r>
                        <a:rPr lang="en-US" sz="1600" spc="-15">
                          <a:effectLst/>
                        </a:rPr>
                        <a:t>54.4</a:t>
                      </a:r>
                      <a:endParaRPr lang="en-US" sz="1600">
                        <a:solidFill>
                          <a:srgbClr val="000000"/>
                        </a:solidFill>
                        <a:effectLst/>
                        <a:latin typeface="Arial" panose="020B0604020202020204" pitchFamily="34" charset="0"/>
                        <a:ea typeface="Arial" panose="020B0604020202020204" pitchFamily="34" charset="0"/>
                      </a:endParaRPr>
                    </a:p>
                  </a:txBody>
                  <a:tcPr marL="0" marR="0" marT="0" marB="0"/>
                </a:tc>
                <a:extLst>
                  <a:ext uri="{0D108BD9-81ED-4DB2-BD59-A6C34878D82A}">
                    <a16:rowId xmlns:a16="http://schemas.microsoft.com/office/drawing/2014/main" val="4224415771"/>
                  </a:ext>
                </a:extLst>
              </a:tr>
              <a:tr h="537199">
                <a:tc>
                  <a:txBody>
                    <a:bodyPr/>
                    <a:lstStyle/>
                    <a:p>
                      <a:pPr marL="107950" marR="0" eaLnBrk="0">
                        <a:lnSpc>
                          <a:spcPct val="91000"/>
                        </a:lnSpc>
                        <a:spcBef>
                          <a:spcPts val="440"/>
                        </a:spcBef>
                        <a:spcAft>
                          <a:spcPts val="0"/>
                        </a:spcAft>
                      </a:pPr>
                      <a:r>
                        <a:rPr lang="zh-CN" sz="1600" spc="20">
                          <a:effectLst/>
                        </a:rPr>
                        <a:t>棕榈酸</a:t>
                      </a:r>
                      <a:r>
                        <a:rPr lang="en-US" sz="1600" spc="20">
                          <a:effectLst/>
                        </a:rPr>
                        <a:t>(</a:t>
                      </a:r>
                      <a:r>
                        <a:rPr lang="zh-CN" sz="1600" spc="20">
                          <a:effectLst/>
                        </a:rPr>
                        <a:t>以十六酸为主</a:t>
                      </a:r>
                      <a:r>
                        <a:rPr lang="en-US" sz="1600" spc="20">
                          <a:effectLst/>
                        </a:rPr>
                        <a:t>)</a:t>
                      </a:r>
                      <a:endParaRPr lang="en-US" sz="1600">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485775" marR="0" eaLnBrk="0">
                        <a:lnSpc>
                          <a:spcPct val="91000"/>
                        </a:lnSpc>
                        <a:spcBef>
                          <a:spcPts val="435"/>
                        </a:spcBef>
                        <a:spcAft>
                          <a:spcPts val="0"/>
                        </a:spcAft>
                      </a:pPr>
                      <a:r>
                        <a:rPr lang="en-US" sz="1600" spc="-20">
                          <a:effectLst/>
                        </a:rPr>
                        <a:t>CH₃</a:t>
                      </a:r>
                      <a:r>
                        <a:rPr lang="en-US" sz="1600">
                          <a:effectLst/>
                        </a:rPr>
                        <a:t> </a:t>
                      </a:r>
                      <a:r>
                        <a:rPr lang="en-US" sz="1600" spc="-20">
                          <a:effectLst/>
                        </a:rPr>
                        <a:t>(CH₂)₁₄COOH</a:t>
                      </a:r>
                      <a:endParaRPr lang="en-US" sz="1600">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561975" marR="0" eaLnBrk="0">
                        <a:lnSpc>
                          <a:spcPct val="76000"/>
                        </a:lnSpc>
                        <a:spcBef>
                          <a:spcPts val="705"/>
                        </a:spcBef>
                        <a:spcAft>
                          <a:spcPts val="0"/>
                        </a:spcAft>
                      </a:pPr>
                      <a:r>
                        <a:rPr lang="en-US" sz="1600" spc="-10">
                          <a:effectLst/>
                        </a:rPr>
                        <a:t>218</a:t>
                      </a:r>
                      <a:r>
                        <a:rPr lang="zh-CN" sz="1600" spc="-10">
                          <a:effectLst/>
                        </a:rPr>
                        <a:t>～</a:t>
                      </a:r>
                      <a:r>
                        <a:rPr lang="en-US" sz="1600" spc="-10">
                          <a:effectLst/>
                        </a:rPr>
                        <a:t>220</a:t>
                      </a:r>
                      <a:endParaRPr lang="en-US" sz="1600">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447675" marR="0" eaLnBrk="0">
                        <a:lnSpc>
                          <a:spcPct val="76000"/>
                        </a:lnSpc>
                        <a:spcBef>
                          <a:spcPts val="710"/>
                        </a:spcBef>
                        <a:spcAft>
                          <a:spcPts val="0"/>
                        </a:spcAft>
                      </a:pPr>
                      <a:r>
                        <a:rPr lang="en-US" sz="1600" spc="-10">
                          <a:effectLst/>
                        </a:rPr>
                        <a:t>62.9</a:t>
                      </a:r>
                      <a:endParaRPr lang="en-US" sz="1600">
                        <a:solidFill>
                          <a:srgbClr val="000000"/>
                        </a:solidFill>
                        <a:effectLst/>
                        <a:latin typeface="Arial" panose="020B0604020202020204" pitchFamily="34" charset="0"/>
                        <a:ea typeface="Arial" panose="020B0604020202020204" pitchFamily="34" charset="0"/>
                      </a:endParaRPr>
                    </a:p>
                  </a:txBody>
                  <a:tcPr marL="0" marR="0" marT="0" marB="0"/>
                </a:tc>
                <a:extLst>
                  <a:ext uri="{0D108BD9-81ED-4DB2-BD59-A6C34878D82A}">
                    <a16:rowId xmlns:a16="http://schemas.microsoft.com/office/drawing/2014/main" val="2694187998"/>
                  </a:ext>
                </a:extLst>
              </a:tr>
              <a:tr h="560676">
                <a:tc>
                  <a:txBody>
                    <a:bodyPr/>
                    <a:lstStyle/>
                    <a:p>
                      <a:pPr marL="107950" marR="0" eaLnBrk="0">
                        <a:lnSpc>
                          <a:spcPct val="91000"/>
                        </a:lnSpc>
                        <a:spcBef>
                          <a:spcPts val="550"/>
                        </a:spcBef>
                        <a:spcAft>
                          <a:spcPts val="0"/>
                        </a:spcAft>
                      </a:pPr>
                      <a:r>
                        <a:rPr lang="zh-CN" sz="1600" spc="20">
                          <a:effectLst/>
                        </a:rPr>
                        <a:t>硬脂酸</a:t>
                      </a:r>
                      <a:r>
                        <a:rPr lang="en-US" sz="1600" spc="20">
                          <a:effectLst/>
                        </a:rPr>
                        <a:t>(</a:t>
                      </a:r>
                      <a:r>
                        <a:rPr lang="zh-CN" sz="1600" spc="20">
                          <a:effectLst/>
                        </a:rPr>
                        <a:t>以十八酸为主</a:t>
                      </a:r>
                      <a:r>
                        <a:rPr lang="en-US" sz="1600" spc="20">
                          <a:effectLst/>
                        </a:rPr>
                        <a:t>)</a:t>
                      </a:r>
                      <a:endParaRPr lang="en-US" sz="1600">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485775" marR="0" eaLnBrk="0">
                        <a:lnSpc>
                          <a:spcPct val="91000"/>
                        </a:lnSpc>
                        <a:spcBef>
                          <a:spcPts val="540"/>
                        </a:spcBef>
                        <a:spcAft>
                          <a:spcPts val="0"/>
                        </a:spcAft>
                      </a:pPr>
                      <a:r>
                        <a:rPr lang="en-US" sz="1600" spc="-20">
                          <a:effectLst/>
                        </a:rPr>
                        <a:t>CH₃</a:t>
                      </a:r>
                      <a:r>
                        <a:rPr lang="en-US" sz="1600">
                          <a:effectLst/>
                        </a:rPr>
                        <a:t> </a:t>
                      </a:r>
                      <a:r>
                        <a:rPr lang="en-US" sz="1600" spc="-20">
                          <a:effectLst/>
                        </a:rPr>
                        <a:t>(CH₂)₁₆COOH</a:t>
                      </a:r>
                      <a:endParaRPr lang="en-US" sz="1600">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561975" marR="0" eaLnBrk="0">
                        <a:lnSpc>
                          <a:spcPct val="76000"/>
                        </a:lnSpc>
                        <a:spcBef>
                          <a:spcPts val="810"/>
                        </a:spcBef>
                        <a:spcAft>
                          <a:spcPts val="0"/>
                        </a:spcAft>
                      </a:pPr>
                      <a:r>
                        <a:rPr lang="en-US" sz="1600" spc="-15">
                          <a:effectLst/>
                        </a:rPr>
                        <a:t>193</a:t>
                      </a:r>
                      <a:r>
                        <a:rPr lang="zh-CN" sz="1600" spc="-15">
                          <a:effectLst/>
                        </a:rPr>
                        <a:t>～</a:t>
                      </a:r>
                      <a:r>
                        <a:rPr lang="en-US" sz="1600" spc="-15">
                          <a:effectLst/>
                        </a:rPr>
                        <a:t>199</a:t>
                      </a:r>
                      <a:endParaRPr lang="en-US" sz="1600">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447675" marR="0" eaLnBrk="0">
                        <a:lnSpc>
                          <a:spcPct val="76000"/>
                        </a:lnSpc>
                        <a:spcBef>
                          <a:spcPts val="815"/>
                        </a:spcBef>
                        <a:spcAft>
                          <a:spcPts val="0"/>
                        </a:spcAft>
                      </a:pPr>
                      <a:r>
                        <a:rPr lang="en-US" sz="1600" spc="-10" dirty="0">
                          <a:effectLst/>
                        </a:rPr>
                        <a:t>69.3</a:t>
                      </a:r>
                      <a:endParaRPr lang="en-US" sz="1600" dirty="0">
                        <a:solidFill>
                          <a:srgbClr val="000000"/>
                        </a:solidFill>
                        <a:effectLst/>
                        <a:latin typeface="Arial" panose="020B0604020202020204" pitchFamily="34" charset="0"/>
                        <a:ea typeface="Arial" panose="020B0604020202020204" pitchFamily="34" charset="0"/>
                      </a:endParaRPr>
                    </a:p>
                  </a:txBody>
                  <a:tcPr marL="0" marR="0" marT="0" marB="0"/>
                </a:tc>
                <a:extLst>
                  <a:ext uri="{0D108BD9-81ED-4DB2-BD59-A6C34878D82A}">
                    <a16:rowId xmlns:a16="http://schemas.microsoft.com/office/drawing/2014/main" val="3997637992"/>
                  </a:ext>
                </a:extLst>
              </a:tr>
            </a:tbl>
          </a:graphicData>
        </a:graphic>
      </p:graphicFrame>
    </p:spTree>
    <p:extLst>
      <p:ext uri="{BB962C8B-B14F-4D97-AF65-F5344CB8AC3E}">
        <p14:creationId xmlns:p14="http://schemas.microsoft.com/office/powerpoint/2010/main" val="3962206787"/>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45</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皂基洁肤产品配方</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009721"/>
            <a:ext cx="8778240" cy="4991751"/>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碱</a:t>
            </a:r>
          </a:p>
          <a:p>
            <a:pPr>
              <a:lnSpc>
                <a:spcPct val="150000"/>
              </a:lnSpc>
            </a:pPr>
            <a:r>
              <a:rPr lang="en-US" altLang="zh-CN" sz="2400" dirty="0">
                <a:latin typeface="+mn-lt"/>
                <a:ea typeface="SimHei" panose="02010609060101010101" pitchFamily="49" charset="-122"/>
              </a:rPr>
              <a:t>	</a:t>
            </a:r>
            <a:r>
              <a:rPr lang="zh-CN" altLang="en-US" sz="2400" dirty="0">
                <a:latin typeface="KaiTi" panose="02010609060101010101" pitchFamily="49" charset="-122"/>
                <a:ea typeface="KaiTi" panose="02010609060101010101" pitchFamily="49" charset="-122"/>
              </a:rPr>
              <a:t>碱是形成皂基体系脂肪酸盐的另一个主要原料，可以用于清洁用品的碱种类比较少，一般有</a:t>
            </a:r>
            <a:r>
              <a:rPr lang="zh-CN" altLang="en-US" sz="2400" dirty="0">
                <a:solidFill>
                  <a:srgbClr val="0000FF"/>
                </a:solidFill>
                <a:latin typeface="KaiTi" panose="02010609060101010101" pitchFamily="49" charset="-122"/>
                <a:ea typeface="KaiTi" panose="02010609060101010101" pitchFamily="49" charset="-122"/>
              </a:rPr>
              <a:t>氢氧化钠、氢氧化钾、三乙醇胺、碳酸钠和碳酸钾</a:t>
            </a:r>
            <a:r>
              <a:rPr lang="zh-CN" altLang="en-US" sz="2400" dirty="0">
                <a:latin typeface="KaiTi" panose="02010609060101010101" pitchFamily="49" charset="-122"/>
                <a:ea typeface="KaiTi" panose="02010609060101010101" pitchFamily="49" charset="-122"/>
              </a:rPr>
              <a:t>。 </a:t>
            </a:r>
            <a:endParaRPr lang="en-US" altLang="zh-CN" sz="2400" dirty="0">
              <a:latin typeface="KaiTi" panose="02010609060101010101" pitchFamily="49" charset="-122"/>
              <a:ea typeface="KaiTi" panose="02010609060101010101" pitchFamily="49" charset="-122"/>
            </a:endParaRPr>
          </a:p>
          <a:p>
            <a:pPr>
              <a:lnSpc>
                <a:spcPct val="150000"/>
              </a:lnSpc>
            </a:pPr>
            <a:r>
              <a:rPr lang="en-US" altLang="zh-CN" sz="2400" dirty="0">
                <a:latin typeface="KaiTi" panose="02010609060101010101" pitchFamily="49" charset="-122"/>
                <a:ea typeface="KaiTi" panose="02010609060101010101" pitchFamily="49" charset="-122"/>
              </a:rPr>
              <a:t>	</a:t>
            </a:r>
            <a:r>
              <a:rPr lang="zh-CN" altLang="en-US" sz="2400" dirty="0">
                <a:latin typeface="KaiTi" panose="02010609060101010101" pitchFamily="49" charset="-122"/>
                <a:ea typeface="KaiTi" panose="02010609060101010101" pitchFamily="49" charset="-122"/>
              </a:rPr>
              <a:t>不同的碱形成的皂基体系的性能也不同，氢氧化钠中和脂肪酸形成的皂比较硬，一般用于固体皂的制备；三乙醇胺中和脂肪酸形成的皂软，但皂基在存储过程中容易变色，影响了产品的美观，而且在大量生产的时候难以控制；</a:t>
            </a:r>
            <a:r>
              <a:rPr lang="zh-CN" altLang="en-US" sz="2400" dirty="0">
                <a:solidFill>
                  <a:srgbClr val="0000FF"/>
                </a:solidFill>
                <a:latin typeface="KaiTi" panose="02010609060101010101" pitchFamily="49" charset="-122"/>
                <a:ea typeface="KaiTi" panose="02010609060101010101" pitchFamily="49" charset="-122"/>
              </a:rPr>
              <a:t>用氢氧化钾中和脂肪酸形成的皂基比较软，多用于化妆品中，特别适用于液体皂中</a:t>
            </a:r>
            <a:r>
              <a:rPr lang="zh-CN" altLang="en-US" sz="2400" dirty="0">
                <a:latin typeface="KaiTi" panose="02010609060101010101" pitchFamily="49" charset="-122"/>
                <a:ea typeface="KaiTi" panose="02010609060101010101" pitchFamily="49" charset="-122"/>
              </a:rPr>
              <a:t>。</a:t>
            </a:r>
          </a:p>
        </p:txBody>
      </p:sp>
    </p:spTree>
    <p:extLst>
      <p:ext uri="{BB962C8B-B14F-4D97-AF65-F5344CB8AC3E}">
        <p14:creationId xmlns:p14="http://schemas.microsoft.com/office/powerpoint/2010/main" val="103307556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46</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皂基洁肤产品配方</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165614"/>
            <a:ext cx="8778240" cy="4452566"/>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辅助表明活性剂：可用于皂基体系的辅助表 面活性剂主要有三种：阴离子表面活性剂、两性离子表面活性剂和非离子表面活性剂。表面活性剂加入到皂基体系中主要起到以下作用：</a:t>
            </a:r>
          </a:p>
          <a:p>
            <a:pPr>
              <a:lnSpc>
                <a:spcPct val="150000"/>
              </a:lnSpc>
            </a:pPr>
            <a:r>
              <a:rPr lang="en-US" altLang="zh-CN" sz="2400" dirty="0">
                <a:latin typeface="+mn-lt"/>
                <a:ea typeface="SimHei" panose="02010609060101010101" pitchFamily="49" charset="-122"/>
              </a:rPr>
              <a:t>	</a:t>
            </a:r>
            <a:r>
              <a:rPr lang="en-US" altLang="zh-CN" sz="2400" dirty="0">
                <a:latin typeface="KaiTi" panose="02010609060101010101" pitchFamily="49" charset="-122"/>
                <a:ea typeface="KaiTi" panose="02010609060101010101" pitchFamily="49" charset="-122"/>
              </a:rPr>
              <a:t>1</a:t>
            </a:r>
            <a:r>
              <a:rPr lang="zh-CN" altLang="en-US" sz="2400" dirty="0">
                <a:latin typeface="KaiTi" panose="02010609060101010101" pitchFamily="49" charset="-122"/>
                <a:ea typeface="KaiTi" panose="02010609060101010101" pitchFamily="49" charset="-122"/>
              </a:rPr>
              <a:t>，能够对水溶液中的脂肪酸盐起到部分增溶作用；</a:t>
            </a:r>
          </a:p>
          <a:p>
            <a:pPr>
              <a:lnSpc>
                <a:spcPct val="150000"/>
              </a:lnSpc>
            </a:pPr>
            <a:r>
              <a:rPr lang="en-US" altLang="zh-CN" sz="2400" dirty="0">
                <a:latin typeface="KaiTi" panose="02010609060101010101" pitchFamily="49" charset="-122"/>
                <a:ea typeface="KaiTi" panose="02010609060101010101" pitchFamily="49" charset="-122"/>
              </a:rPr>
              <a:t>	2</a:t>
            </a:r>
            <a:r>
              <a:rPr lang="zh-CN" altLang="en-US" sz="2400" dirty="0">
                <a:latin typeface="KaiTi" panose="02010609060101010101" pitchFamily="49" charset="-122"/>
                <a:ea typeface="KaiTi" panose="02010609060101010101" pitchFamily="49" charset="-122"/>
              </a:rPr>
              <a:t>，能够缓冲降低皂基体系产品较高的</a:t>
            </a:r>
            <a:r>
              <a:rPr lang="en-US" altLang="zh-CN" sz="2400" dirty="0">
                <a:latin typeface="KaiTi" panose="02010609060101010101" pitchFamily="49" charset="-122"/>
                <a:ea typeface="KaiTi" panose="02010609060101010101" pitchFamily="49" charset="-122"/>
              </a:rPr>
              <a:t>pH</a:t>
            </a:r>
            <a:r>
              <a:rPr lang="zh-CN" altLang="en-US" sz="2400" dirty="0">
                <a:latin typeface="KaiTi" panose="02010609060101010101" pitchFamily="49" charset="-122"/>
                <a:ea typeface="KaiTi" panose="02010609060101010101" pitchFamily="49" charset="-122"/>
              </a:rPr>
              <a:t>值，相对降低皂基体系的刺激性；</a:t>
            </a:r>
            <a:endParaRPr lang="en-US" altLang="zh-CN" sz="2400" dirty="0">
              <a:latin typeface="KaiTi" panose="02010609060101010101" pitchFamily="49" charset="-122"/>
              <a:ea typeface="KaiTi" panose="02010609060101010101" pitchFamily="49" charset="-122"/>
            </a:endParaRPr>
          </a:p>
          <a:p>
            <a:pPr>
              <a:lnSpc>
                <a:spcPct val="150000"/>
              </a:lnSpc>
            </a:pPr>
            <a:r>
              <a:rPr lang="en-US" altLang="zh-CN" sz="2400" dirty="0">
                <a:latin typeface="KaiTi" panose="02010609060101010101" pitchFamily="49" charset="-122"/>
                <a:ea typeface="KaiTi" panose="02010609060101010101" pitchFamily="49" charset="-122"/>
              </a:rPr>
              <a:t>	3</a:t>
            </a:r>
            <a:r>
              <a:rPr lang="zh-CN" altLang="en-US" sz="2400" dirty="0">
                <a:latin typeface="KaiTi" panose="02010609060101010101" pitchFamily="49" charset="-122"/>
                <a:ea typeface="KaiTi" panose="02010609060101010101" pitchFamily="49" charset="-122"/>
              </a:rPr>
              <a:t>，可以改善皂基体系的泡沫性质；</a:t>
            </a:r>
          </a:p>
          <a:p>
            <a:pPr>
              <a:lnSpc>
                <a:spcPct val="150000"/>
              </a:lnSpc>
            </a:pPr>
            <a:r>
              <a:rPr lang="en-US" altLang="zh-CN" sz="2400" dirty="0">
                <a:latin typeface="KaiTi" panose="02010609060101010101" pitchFamily="49" charset="-122"/>
                <a:ea typeface="KaiTi" panose="02010609060101010101" pitchFamily="49" charset="-122"/>
              </a:rPr>
              <a:t>	4</a:t>
            </a:r>
            <a:r>
              <a:rPr lang="zh-CN" altLang="en-US" sz="2400" dirty="0">
                <a:latin typeface="KaiTi" panose="02010609060101010101" pitchFamily="49" charset="-122"/>
                <a:ea typeface="KaiTi" panose="02010609060101010101" pitchFamily="49" charset="-122"/>
              </a:rPr>
              <a:t>，可以降低皂基产品带来的干涩肤感，使皮肤不紧绷。</a:t>
            </a:r>
          </a:p>
        </p:txBody>
      </p:sp>
    </p:spTree>
    <p:extLst>
      <p:ext uri="{BB962C8B-B14F-4D97-AF65-F5344CB8AC3E}">
        <p14:creationId xmlns:p14="http://schemas.microsoft.com/office/powerpoint/2010/main" val="251664558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47</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皂基洁肤产品配方</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015921"/>
            <a:ext cx="8778240" cy="3883755"/>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乳化剂</a:t>
            </a:r>
            <a:endParaRPr lang="en-US" altLang="zh-CN" sz="2400" dirty="0">
              <a:latin typeface="+mn-lt"/>
              <a:ea typeface="SimHei" panose="02010609060101010101" pitchFamily="49" charset="-122"/>
            </a:endParaRPr>
          </a:p>
          <a:p>
            <a:pPr>
              <a:lnSpc>
                <a:spcPct val="150000"/>
              </a:lnSpc>
            </a:pPr>
            <a:r>
              <a:rPr lang="en-US" altLang="zh-CN" sz="2400" dirty="0">
                <a:latin typeface="+mn-lt"/>
                <a:ea typeface="SimHei" panose="02010609060101010101" pitchFamily="49" charset="-122"/>
              </a:rPr>
              <a:t>	</a:t>
            </a:r>
            <a:r>
              <a:rPr lang="zh-CN" altLang="en-US" sz="2400" dirty="0">
                <a:latin typeface="KaiTi" panose="02010609060101010101" pitchFamily="49" charset="-122"/>
                <a:ea typeface="KaiTi" panose="02010609060101010101" pitchFamily="49" charset="-122"/>
              </a:rPr>
              <a:t>皂基体系产品会出现出水、高温分层以及高温恢复室温后料体泛粗等不稳定问题。加入乳化剂可起到辅助稳定的作用，适量的乳化剂能够改善皂基产品的高温稳定性。</a:t>
            </a:r>
            <a:endParaRPr lang="en-US" altLang="zh-CN" sz="2400" dirty="0">
              <a:latin typeface="KaiTi" panose="02010609060101010101" pitchFamily="49" charset="-122"/>
              <a:ea typeface="KaiTi" panose="02010609060101010101" pitchFamily="49" charset="-122"/>
            </a:endParaRPr>
          </a:p>
          <a:p>
            <a:pPr>
              <a:lnSpc>
                <a:spcPct val="150000"/>
              </a:lnSpc>
            </a:pPr>
            <a:r>
              <a:rPr lang="en-US" altLang="zh-CN" sz="2400" dirty="0">
                <a:latin typeface="KaiTi" panose="02010609060101010101" pitchFamily="49" charset="-122"/>
                <a:ea typeface="KaiTi" panose="02010609060101010101" pitchFamily="49" charset="-122"/>
              </a:rPr>
              <a:t>	</a:t>
            </a:r>
            <a:r>
              <a:rPr lang="zh-CN" altLang="en-US" sz="2400" dirty="0">
                <a:latin typeface="KaiTi" panose="02010609060101010101" pitchFamily="49" charset="-122"/>
                <a:ea typeface="KaiTi" panose="02010609060101010101" pitchFamily="49" charset="-122"/>
              </a:rPr>
              <a:t>皂基体系中常用的乳化剂有单硬脂酸甘油酯、脂肪醇聚氧乙烯醚、蔗糖脂肪酸酯 </a:t>
            </a:r>
            <a:r>
              <a:rPr lang="en-US" altLang="zh-CN" sz="2400" dirty="0">
                <a:latin typeface="KaiTi" panose="02010609060101010101" pitchFamily="49" charset="-122"/>
                <a:ea typeface="KaiTi" panose="02010609060101010101" pitchFamily="49" charset="-122"/>
              </a:rPr>
              <a:t>(</a:t>
            </a:r>
            <a:r>
              <a:rPr lang="zh-CN" altLang="en-US" sz="2400" dirty="0">
                <a:latin typeface="KaiTi" panose="02010609060101010101" pitchFamily="49" charset="-122"/>
                <a:ea typeface="KaiTi" panose="02010609060101010101" pitchFamily="49" charset="-122"/>
              </a:rPr>
              <a:t>甲基糖苷倍半硬脂酸酯</a:t>
            </a:r>
            <a:r>
              <a:rPr lang="en-US" altLang="zh-CN" sz="2400" dirty="0">
                <a:latin typeface="KaiTi" panose="02010609060101010101" pitchFamily="49" charset="-122"/>
                <a:ea typeface="KaiTi" panose="02010609060101010101" pitchFamily="49" charset="-122"/>
              </a:rPr>
              <a:t>/</a:t>
            </a:r>
            <a:r>
              <a:rPr lang="zh-CN" altLang="en-US" sz="2400" dirty="0">
                <a:latin typeface="KaiTi" panose="02010609060101010101" pitchFamily="49" charset="-122"/>
                <a:ea typeface="KaiTi" panose="02010609060101010101" pitchFamily="49" charset="-122"/>
              </a:rPr>
              <a:t>甲基糖苷 </a:t>
            </a:r>
            <a:r>
              <a:rPr lang="en-US" altLang="zh-CN" sz="2400" dirty="0">
                <a:latin typeface="KaiTi" panose="02010609060101010101" pitchFamily="49" charset="-122"/>
                <a:ea typeface="KaiTi" panose="02010609060101010101" pitchFamily="49" charset="-122"/>
              </a:rPr>
              <a:t>PEG-20</a:t>
            </a:r>
            <a:r>
              <a:rPr lang="zh-CN" altLang="en-US" sz="2400" dirty="0">
                <a:latin typeface="KaiTi" panose="02010609060101010101" pitchFamily="49" charset="-122"/>
                <a:ea typeface="KaiTi" panose="02010609060101010101" pitchFamily="49" charset="-122"/>
              </a:rPr>
              <a:t>倍半硬脂酸酯</a:t>
            </a:r>
            <a:r>
              <a:rPr lang="en-US" altLang="zh-CN" sz="2400" dirty="0">
                <a:latin typeface="KaiTi" panose="02010609060101010101" pitchFamily="49" charset="-122"/>
                <a:ea typeface="KaiTi" panose="02010609060101010101" pitchFamily="49" charset="-122"/>
              </a:rPr>
              <a:t>)</a:t>
            </a:r>
            <a:r>
              <a:rPr lang="zh-CN" altLang="en-US" sz="2400" dirty="0">
                <a:latin typeface="KaiTi" panose="02010609060101010101" pitchFamily="49" charset="-122"/>
                <a:ea typeface="KaiTi" panose="02010609060101010101" pitchFamily="49" charset="-122"/>
              </a:rPr>
              <a:t>、硬脂酸甘油酯</a:t>
            </a:r>
            <a:r>
              <a:rPr lang="en-US" altLang="zh-CN" sz="2400" dirty="0">
                <a:latin typeface="KaiTi" panose="02010609060101010101" pitchFamily="49" charset="-122"/>
                <a:ea typeface="KaiTi" panose="02010609060101010101" pitchFamily="49" charset="-122"/>
              </a:rPr>
              <a:t>/PEG-100 </a:t>
            </a:r>
            <a:r>
              <a:rPr lang="zh-CN" altLang="en-US" sz="2400" dirty="0">
                <a:latin typeface="KaiTi" panose="02010609060101010101" pitchFamily="49" charset="-122"/>
                <a:ea typeface="KaiTi" panose="02010609060101010101" pitchFamily="49" charset="-122"/>
              </a:rPr>
              <a:t>硬脂酸酯。</a:t>
            </a:r>
            <a:endParaRPr lang="en-US" altLang="zh-CN" sz="2400" dirty="0">
              <a:latin typeface="KaiTi" panose="02010609060101010101" pitchFamily="49" charset="-122"/>
              <a:ea typeface="KaiTi" panose="02010609060101010101" pitchFamily="49" charset="-122"/>
            </a:endParaRPr>
          </a:p>
        </p:txBody>
      </p:sp>
    </p:spTree>
    <p:extLst>
      <p:ext uri="{BB962C8B-B14F-4D97-AF65-F5344CB8AC3E}">
        <p14:creationId xmlns:p14="http://schemas.microsoft.com/office/powerpoint/2010/main" val="63854247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48</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皂基洁肤产品配方</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056618"/>
            <a:ext cx="8778240" cy="5009833"/>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润肤剂</a:t>
            </a:r>
            <a:endParaRPr lang="en-US" altLang="zh-CN" sz="2400" dirty="0">
              <a:latin typeface="+mn-lt"/>
              <a:ea typeface="SimHei" panose="02010609060101010101" pitchFamily="49" charset="-122"/>
            </a:endParaRPr>
          </a:p>
          <a:p>
            <a:pPr>
              <a:lnSpc>
                <a:spcPct val="150000"/>
              </a:lnSpc>
            </a:pPr>
            <a:r>
              <a:rPr lang="en-US" altLang="zh-CN" sz="2400" dirty="0">
                <a:latin typeface="+mn-lt"/>
                <a:ea typeface="SimHei" panose="02010609060101010101" pitchFamily="49" charset="-122"/>
              </a:rPr>
              <a:t>	</a:t>
            </a:r>
            <a:r>
              <a:rPr lang="zh-CN" altLang="en-US" sz="2400" dirty="0">
                <a:latin typeface="KaiTi" panose="02010609060101010101" pitchFamily="49" charset="-122"/>
                <a:ea typeface="KaiTi" panose="02010609060101010101" pitchFamily="49" charset="-122"/>
              </a:rPr>
              <a:t>润肤剂加入到皂基体系中一方面可以减少皮肤清洁之后的紧绷感，使皮肤滋润，产生润肤的效果；另一方面也可以降低皂基产品对皮肤的刺激性。</a:t>
            </a:r>
          </a:p>
          <a:p>
            <a:pPr>
              <a:lnSpc>
                <a:spcPct val="150000"/>
              </a:lnSpc>
            </a:pPr>
            <a:r>
              <a:rPr lang="en-US" altLang="zh-CN" sz="2400" dirty="0">
                <a:latin typeface="KaiTi" panose="02010609060101010101" pitchFamily="49" charset="-122"/>
                <a:ea typeface="KaiTi" panose="02010609060101010101" pitchFamily="49" charset="-122"/>
              </a:rPr>
              <a:t>	</a:t>
            </a:r>
            <a:r>
              <a:rPr lang="zh-CN" altLang="en-US" sz="2400" dirty="0">
                <a:latin typeface="KaiTi" panose="02010609060101010101" pitchFamily="49" charset="-122"/>
                <a:ea typeface="KaiTi" panose="02010609060101010101" pitchFamily="49" charset="-122"/>
              </a:rPr>
              <a:t>皂基体系中常用的润肤剂有：固体油脂十六十八醇</a:t>
            </a:r>
            <a:r>
              <a:rPr lang="en-US" altLang="zh-CN" sz="2400" dirty="0">
                <a:latin typeface="KaiTi" panose="02010609060101010101" pitchFamily="49" charset="-122"/>
                <a:ea typeface="KaiTi" panose="02010609060101010101" pitchFamily="49" charset="-122"/>
              </a:rPr>
              <a:t>(</a:t>
            </a:r>
            <a:r>
              <a:rPr lang="zh-CN" altLang="en-US" sz="2400" dirty="0">
                <a:latin typeface="KaiTi" panose="02010609060101010101" pitchFamily="49" charset="-122"/>
                <a:ea typeface="KaiTi" panose="02010609060101010101" pitchFamily="49" charset="-122"/>
              </a:rPr>
              <a:t>鲸蜡硬脂醇</a:t>
            </a:r>
            <a:r>
              <a:rPr lang="en-US" altLang="zh-CN" sz="2400" dirty="0">
                <a:latin typeface="KaiTi" panose="02010609060101010101" pitchFamily="49" charset="-122"/>
                <a:ea typeface="KaiTi" panose="02010609060101010101" pitchFamily="49" charset="-122"/>
              </a:rPr>
              <a:t>)</a:t>
            </a:r>
            <a:r>
              <a:rPr lang="zh-CN" altLang="en-US" sz="2400" dirty="0">
                <a:latin typeface="KaiTi" panose="02010609060101010101" pitchFamily="49" charset="-122"/>
                <a:ea typeface="KaiTi" panose="02010609060101010101" pitchFamily="49" charset="-122"/>
              </a:rPr>
              <a:t>、十八醇</a:t>
            </a:r>
            <a:r>
              <a:rPr lang="en-US" altLang="zh-CN" sz="2400" dirty="0">
                <a:latin typeface="KaiTi" panose="02010609060101010101" pitchFamily="49" charset="-122"/>
                <a:ea typeface="KaiTi" panose="02010609060101010101" pitchFamily="49" charset="-122"/>
              </a:rPr>
              <a:t>(</a:t>
            </a:r>
            <a:r>
              <a:rPr lang="zh-CN" altLang="en-US" sz="2400" dirty="0">
                <a:latin typeface="KaiTi" panose="02010609060101010101" pitchFamily="49" charset="-122"/>
                <a:ea typeface="KaiTi" panose="02010609060101010101" pitchFamily="49" charset="-122"/>
              </a:rPr>
              <a:t>硬脂醇</a:t>
            </a:r>
            <a:r>
              <a:rPr lang="en-US" altLang="zh-CN" sz="2400" dirty="0">
                <a:latin typeface="KaiTi" panose="02010609060101010101" pitchFamily="49" charset="-122"/>
                <a:ea typeface="KaiTi" panose="02010609060101010101" pitchFamily="49" charset="-122"/>
              </a:rPr>
              <a:t>)</a:t>
            </a:r>
            <a:r>
              <a:rPr lang="zh-CN" altLang="en-US" sz="2400" dirty="0">
                <a:latin typeface="KaiTi" panose="02010609060101010101" pitchFamily="49" charset="-122"/>
                <a:ea typeface="KaiTi" panose="02010609060101010101" pitchFamily="49" charset="-122"/>
              </a:rPr>
              <a:t>、十六醇</a:t>
            </a:r>
            <a:r>
              <a:rPr lang="en-US" altLang="zh-CN" sz="2400" dirty="0">
                <a:latin typeface="KaiTi" panose="02010609060101010101" pitchFamily="49" charset="-122"/>
                <a:ea typeface="KaiTi" panose="02010609060101010101" pitchFamily="49" charset="-122"/>
              </a:rPr>
              <a:t>(</a:t>
            </a:r>
            <a:r>
              <a:rPr lang="zh-CN" altLang="en-US" sz="2400" dirty="0">
                <a:latin typeface="KaiTi" panose="02010609060101010101" pitchFamily="49" charset="-122"/>
                <a:ea typeface="KaiTi" panose="02010609060101010101" pitchFamily="49" charset="-122"/>
              </a:rPr>
              <a:t>鲸蜡醇</a:t>
            </a:r>
            <a:r>
              <a:rPr lang="en-US" altLang="zh-CN" sz="2400" dirty="0">
                <a:latin typeface="KaiTi" panose="02010609060101010101" pitchFamily="49" charset="-122"/>
                <a:ea typeface="KaiTi" panose="02010609060101010101" pitchFamily="49" charset="-122"/>
              </a:rPr>
              <a:t>)</a:t>
            </a:r>
            <a:r>
              <a:rPr lang="zh-CN" altLang="en-US" sz="2400" dirty="0">
                <a:latin typeface="KaiTi" panose="02010609060101010101" pitchFamily="49" charset="-122"/>
                <a:ea typeface="KaiTi" panose="02010609060101010101" pitchFamily="49" charset="-122"/>
              </a:rPr>
              <a:t>、十八酸</a:t>
            </a:r>
            <a:r>
              <a:rPr lang="en-US" altLang="zh-CN" sz="2400" dirty="0">
                <a:latin typeface="KaiTi" panose="02010609060101010101" pitchFamily="49" charset="-122"/>
                <a:ea typeface="KaiTi" panose="02010609060101010101" pitchFamily="49" charset="-122"/>
              </a:rPr>
              <a:t>(</a:t>
            </a:r>
            <a:r>
              <a:rPr lang="zh-CN" altLang="en-US" sz="2400" dirty="0">
                <a:latin typeface="KaiTi" panose="02010609060101010101" pitchFamily="49" charset="-122"/>
                <a:ea typeface="KaiTi" panose="02010609060101010101" pitchFamily="49" charset="-122"/>
              </a:rPr>
              <a:t>硬脂酸</a:t>
            </a:r>
            <a:r>
              <a:rPr lang="en-US" altLang="zh-CN" sz="2400" dirty="0">
                <a:latin typeface="KaiTi" panose="02010609060101010101" pitchFamily="49" charset="-122"/>
                <a:ea typeface="KaiTi" panose="02010609060101010101" pitchFamily="49" charset="-122"/>
              </a:rPr>
              <a:t>)</a:t>
            </a:r>
            <a:r>
              <a:rPr lang="zh-CN" altLang="en-US" sz="2400" dirty="0">
                <a:latin typeface="KaiTi" panose="02010609060101010101" pitchFamily="49" charset="-122"/>
                <a:ea typeface="KaiTi" panose="02010609060101010101" pitchFamily="49" charset="-122"/>
              </a:rPr>
              <a:t>等；液体油脂肉豆蔻酸异丙酯、白油等；水溶性油脂聚乙二醇</a:t>
            </a:r>
            <a:r>
              <a:rPr lang="en-US" altLang="zh-CN" sz="2400" dirty="0">
                <a:latin typeface="KaiTi" panose="02010609060101010101" pitchFamily="49" charset="-122"/>
                <a:ea typeface="KaiTi" panose="02010609060101010101" pitchFamily="49" charset="-122"/>
              </a:rPr>
              <a:t>-7-</a:t>
            </a:r>
            <a:r>
              <a:rPr lang="zh-CN" altLang="en-US" sz="2400" dirty="0">
                <a:latin typeface="KaiTi" panose="02010609060101010101" pitchFamily="49" charset="-122"/>
                <a:ea typeface="KaiTi" panose="02010609060101010101" pitchFamily="49" charset="-122"/>
              </a:rPr>
              <a:t>椰油酸甘油酯等。</a:t>
            </a:r>
          </a:p>
          <a:p>
            <a:pPr>
              <a:lnSpc>
                <a:spcPct val="150000"/>
              </a:lnSpc>
            </a:pPr>
            <a:endParaRPr lang="en-US" altLang="zh-CN" sz="2400" dirty="0">
              <a:latin typeface="+mn-lt"/>
              <a:ea typeface="SimHei" panose="02010609060101010101" pitchFamily="49" charset="-122"/>
            </a:endParaRPr>
          </a:p>
        </p:txBody>
      </p:sp>
    </p:spTree>
    <p:extLst>
      <p:ext uri="{BB962C8B-B14F-4D97-AF65-F5344CB8AC3E}">
        <p14:creationId xmlns:p14="http://schemas.microsoft.com/office/powerpoint/2010/main" val="43715480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49</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皂基洁肤产品配方</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056618"/>
            <a:ext cx="8778240" cy="2790572"/>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多元醇添加剂</a:t>
            </a:r>
            <a:endParaRPr lang="en-US" altLang="zh-CN" sz="2400" dirty="0">
              <a:latin typeface="+mn-lt"/>
              <a:ea typeface="SimHei" panose="02010609060101010101" pitchFamily="49" charset="-122"/>
            </a:endParaRPr>
          </a:p>
          <a:p>
            <a:pPr>
              <a:lnSpc>
                <a:spcPct val="150000"/>
              </a:lnSpc>
            </a:pPr>
            <a:r>
              <a:rPr lang="en-US" altLang="zh-CN" sz="2400" dirty="0">
                <a:latin typeface="+mn-lt"/>
                <a:ea typeface="SimHei" panose="02010609060101010101" pitchFamily="49" charset="-122"/>
              </a:rPr>
              <a:t>	</a:t>
            </a:r>
            <a:r>
              <a:rPr lang="zh-CN" altLang="en-US" sz="2400" dirty="0">
                <a:latin typeface="KaiTi" panose="02010609060101010101" pitchFamily="49" charset="-122"/>
                <a:ea typeface="KaiTi" panose="02010609060101010101" pitchFamily="49" charset="-122"/>
              </a:rPr>
              <a:t>皂基体系中常用的多元醇有甘油、双甘油、</a:t>
            </a:r>
            <a:r>
              <a:rPr lang="en-US" altLang="zh-CN" sz="2400" dirty="0">
                <a:latin typeface="KaiTi" panose="02010609060101010101" pitchFamily="49" charset="-122"/>
                <a:ea typeface="KaiTi" panose="02010609060101010101" pitchFamily="49" charset="-122"/>
              </a:rPr>
              <a:t>1,2-</a:t>
            </a:r>
            <a:r>
              <a:rPr lang="zh-CN" altLang="en-US" sz="2400" dirty="0">
                <a:latin typeface="KaiTi" panose="02010609060101010101" pitchFamily="49" charset="-122"/>
                <a:ea typeface="KaiTi" panose="02010609060101010101" pitchFamily="49" charset="-122"/>
              </a:rPr>
              <a:t>丙二醇、</a:t>
            </a:r>
            <a:r>
              <a:rPr lang="en-US" altLang="zh-CN" sz="2400" dirty="0">
                <a:latin typeface="KaiTi" panose="02010609060101010101" pitchFamily="49" charset="-122"/>
                <a:ea typeface="KaiTi" panose="02010609060101010101" pitchFamily="49" charset="-122"/>
              </a:rPr>
              <a:t>1,3-</a:t>
            </a:r>
            <a:r>
              <a:rPr lang="zh-CN" altLang="en-US" sz="2400" dirty="0">
                <a:latin typeface="KaiTi" panose="02010609060101010101" pitchFamily="49" charset="-122"/>
                <a:ea typeface="KaiTi" panose="02010609060101010101" pitchFamily="49" charset="-122"/>
              </a:rPr>
              <a:t>丁二醇等，这些多元醇因含有多个羟基而具有</a:t>
            </a:r>
            <a:r>
              <a:rPr lang="zh-CN" altLang="en-US" sz="2400" dirty="0">
                <a:solidFill>
                  <a:srgbClr val="0000FF"/>
                </a:solidFill>
                <a:latin typeface="KaiTi" panose="02010609060101010101" pitchFamily="49" charset="-122"/>
                <a:ea typeface="KaiTi" panose="02010609060101010101" pitchFamily="49" charset="-122"/>
              </a:rPr>
              <a:t>保湿</a:t>
            </a:r>
            <a:r>
              <a:rPr lang="zh-CN" altLang="en-US" sz="2400" dirty="0">
                <a:latin typeface="KaiTi" panose="02010609060101010101" pitchFamily="49" charset="-122"/>
                <a:ea typeface="KaiTi" panose="02010609060101010101" pitchFamily="49" charset="-122"/>
              </a:rPr>
              <a:t>性能，可以减少皂基体系清洁皮肤时带来的干涩感。</a:t>
            </a:r>
            <a:endParaRPr lang="en-US" altLang="zh-CN" sz="2400" dirty="0">
              <a:latin typeface="KaiTi" panose="02010609060101010101" pitchFamily="49" charset="-122"/>
              <a:ea typeface="KaiTi" panose="02010609060101010101" pitchFamily="49" charset="-122"/>
            </a:endParaRPr>
          </a:p>
          <a:p>
            <a:pPr>
              <a:lnSpc>
                <a:spcPct val="150000"/>
              </a:lnSpc>
            </a:pPr>
            <a:r>
              <a:rPr lang="en-US" altLang="zh-CN" sz="2400" dirty="0">
                <a:latin typeface="KaiTi" panose="02010609060101010101" pitchFamily="49" charset="-122"/>
                <a:ea typeface="KaiTi" panose="02010609060101010101" pitchFamily="49" charset="-122"/>
              </a:rPr>
              <a:t>	</a:t>
            </a:r>
            <a:endParaRPr lang="en-US" altLang="zh-CN" sz="2400" dirty="0">
              <a:latin typeface="+mn-lt"/>
              <a:ea typeface="SimHei" panose="02010609060101010101" pitchFamily="49" charset="-122"/>
            </a:endParaRPr>
          </a:p>
        </p:txBody>
      </p:sp>
    </p:spTree>
    <p:extLst>
      <p:ext uri="{BB962C8B-B14F-4D97-AF65-F5344CB8AC3E}">
        <p14:creationId xmlns:p14="http://schemas.microsoft.com/office/powerpoint/2010/main" val="288368514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50</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皂基洁肤产品配方</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032498"/>
            <a:ext cx="7461065" cy="574581"/>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洁面膏：配方示例与工艺</a:t>
            </a:r>
            <a:endParaRPr lang="en-US" altLang="zh-CN" sz="2400" dirty="0">
              <a:latin typeface="+mn-lt"/>
              <a:ea typeface="SimHei" panose="02010609060101010101" pitchFamily="49" charset="-122"/>
            </a:endParaRPr>
          </a:p>
        </p:txBody>
      </p:sp>
      <p:graphicFrame>
        <p:nvGraphicFramePr>
          <p:cNvPr id="5" name="表格 4">
            <a:extLst>
              <a:ext uri="{FF2B5EF4-FFF2-40B4-BE49-F238E27FC236}">
                <a16:creationId xmlns:a16="http://schemas.microsoft.com/office/drawing/2014/main" id="{993C2427-A104-EDA6-9119-DA64F0CBE7DC}"/>
              </a:ext>
            </a:extLst>
          </p:cNvPr>
          <p:cNvGraphicFramePr>
            <a:graphicFrameLocks noGrp="1"/>
          </p:cNvGraphicFramePr>
          <p:nvPr>
            <p:extLst>
              <p:ext uri="{D42A27DB-BD31-4B8C-83A1-F6EECF244321}">
                <p14:modId xmlns:p14="http://schemas.microsoft.com/office/powerpoint/2010/main" val="3419337975"/>
              </p:ext>
            </p:extLst>
          </p:nvPr>
        </p:nvGraphicFramePr>
        <p:xfrm>
          <a:off x="182880" y="1680961"/>
          <a:ext cx="8778240" cy="2609660"/>
        </p:xfrm>
        <a:graphic>
          <a:graphicData uri="http://schemas.openxmlformats.org/drawingml/2006/table">
            <a:tbl>
              <a:tblPr firstRow="1" firstCol="1" bandRow="1">
                <a:tableStyleId>{72833802-FEF1-4C79-8D5D-14CF1EAF98D9}</a:tableStyleId>
              </a:tblPr>
              <a:tblGrid>
                <a:gridCol w="924421">
                  <a:extLst>
                    <a:ext uri="{9D8B030D-6E8A-4147-A177-3AD203B41FA5}">
                      <a16:colId xmlns:a16="http://schemas.microsoft.com/office/drawing/2014/main" val="3278918679"/>
                    </a:ext>
                  </a:extLst>
                </a:gridCol>
                <a:gridCol w="1796232">
                  <a:extLst>
                    <a:ext uri="{9D8B030D-6E8A-4147-A177-3AD203B41FA5}">
                      <a16:colId xmlns:a16="http://schemas.microsoft.com/office/drawing/2014/main" val="2465712781"/>
                    </a:ext>
                  </a:extLst>
                </a:gridCol>
                <a:gridCol w="1337779">
                  <a:extLst>
                    <a:ext uri="{9D8B030D-6E8A-4147-A177-3AD203B41FA5}">
                      <a16:colId xmlns:a16="http://schemas.microsoft.com/office/drawing/2014/main" val="2864005285"/>
                    </a:ext>
                  </a:extLst>
                </a:gridCol>
                <a:gridCol w="1766170">
                  <a:extLst>
                    <a:ext uri="{9D8B030D-6E8A-4147-A177-3AD203B41FA5}">
                      <a16:colId xmlns:a16="http://schemas.microsoft.com/office/drawing/2014/main" val="1646521158"/>
                    </a:ext>
                  </a:extLst>
                </a:gridCol>
                <a:gridCol w="1766170">
                  <a:extLst>
                    <a:ext uri="{9D8B030D-6E8A-4147-A177-3AD203B41FA5}">
                      <a16:colId xmlns:a16="http://schemas.microsoft.com/office/drawing/2014/main" val="3122137042"/>
                    </a:ext>
                  </a:extLst>
                </a:gridCol>
                <a:gridCol w="1187468">
                  <a:extLst>
                    <a:ext uri="{9D8B030D-6E8A-4147-A177-3AD203B41FA5}">
                      <a16:colId xmlns:a16="http://schemas.microsoft.com/office/drawing/2014/main" val="1479031332"/>
                    </a:ext>
                  </a:extLst>
                </a:gridCol>
              </a:tblGrid>
              <a:tr h="274955">
                <a:tc>
                  <a:txBody>
                    <a:bodyPr/>
                    <a:lstStyle/>
                    <a:p>
                      <a:pPr marL="247650" marR="0" eaLnBrk="0">
                        <a:lnSpc>
                          <a:spcPct val="92000"/>
                        </a:lnSpc>
                        <a:spcBef>
                          <a:spcPts val="585"/>
                        </a:spcBef>
                        <a:spcAft>
                          <a:spcPts val="0"/>
                        </a:spcAft>
                      </a:pPr>
                      <a:r>
                        <a:rPr lang="zh-CN" sz="1600" b="1" spc="40">
                          <a:effectLst/>
                        </a:rPr>
                        <a:t>组相</a:t>
                      </a:r>
                      <a:endParaRPr lang="en-US" sz="1600" b="1">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473075" marR="0" eaLnBrk="0">
                        <a:lnSpc>
                          <a:spcPct val="91000"/>
                        </a:lnSpc>
                        <a:spcBef>
                          <a:spcPts val="570"/>
                        </a:spcBef>
                        <a:spcAft>
                          <a:spcPts val="0"/>
                        </a:spcAft>
                      </a:pPr>
                      <a:r>
                        <a:rPr lang="zh-CN" sz="1600" b="1" spc="10" dirty="0">
                          <a:effectLst/>
                        </a:rPr>
                        <a:t>原料名称</a:t>
                      </a:r>
                      <a:endParaRPr lang="en-US" sz="1600" b="1" dirty="0">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212725" marR="0" eaLnBrk="0">
                        <a:lnSpc>
                          <a:spcPct val="91000"/>
                        </a:lnSpc>
                        <a:spcBef>
                          <a:spcPts val="570"/>
                        </a:spcBef>
                        <a:spcAft>
                          <a:spcPts val="0"/>
                        </a:spcAft>
                      </a:pPr>
                      <a:r>
                        <a:rPr lang="zh-CN" sz="1600" b="1" spc="-10">
                          <a:effectLst/>
                        </a:rPr>
                        <a:t>质量分数</a:t>
                      </a:r>
                      <a:r>
                        <a:rPr lang="en-US" sz="1600" b="1" spc="-10">
                          <a:effectLst/>
                        </a:rPr>
                        <a:t>/%</a:t>
                      </a:r>
                      <a:endParaRPr lang="en-US" sz="1600" b="1">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244475" marR="0" eaLnBrk="0">
                        <a:lnSpc>
                          <a:spcPct val="92000"/>
                        </a:lnSpc>
                        <a:spcBef>
                          <a:spcPts val="585"/>
                        </a:spcBef>
                        <a:spcAft>
                          <a:spcPts val="0"/>
                        </a:spcAft>
                      </a:pPr>
                      <a:r>
                        <a:rPr lang="zh-CN" sz="1600" b="1" spc="40">
                          <a:effectLst/>
                        </a:rPr>
                        <a:t>组相</a:t>
                      </a:r>
                      <a:endParaRPr lang="en-US" sz="1600" b="1">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459740" marR="0" eaLnBrk="0">
                        <a:lnSpc>
                          <a:spcPct val="91000"/>
                        </a:lnSpc>
                        <a:spcBef>
                          <a:spcPts val="570"/>
                        </a:spcBef>
                        <a:spcAft>
                          <a:spcPts val="0"/>
                        </a:spcAft>
                      </a:pPr>
                      <a:r>
                        <a:rPr lang="zh-CN" sz="1600" b="1" spc="10">
                          <a:effectLst/>
                        </a:rPr>
                        <a:t>原料名称</a:t>
                      </a:r>
                      <a:endParaRPr lang="en-US" sz="1600" b="1">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148590" marR="0" eaLnBrk="0">
                        <a:lnSpc>
                          <a:spcPct val="91000"/>
                        </a:lnSpc>
                        <a:spcBef>
                          <a:spcPts val="570"/>
                        </a:spcBef>
                        <a:spcAft>
                          <a:spcPts val="0"/>
                        </a:spcAft>
                      </a:pPr>
                      <a:r>
                        <a:rPr lang="zh-CN" sz="1600" b="1" spc="-10">
                          <a:effectLst/>
                        </a:rPr>
                        <a:t>质量分数</a:t>
                      </a:r>
                      <a:r>
                        <a:rPr lang="en-US" sz="1600" b="1" spc="-10">
                          <a:effectLst/>
                        </a:rPr>
                        <a:t>/%</a:t>
                      </a:r>
                      <a:endParaRPr lang="en-US" sz="1600" b="1">
                        <a:solidFill>
                          <a:srgbClr val="000000"/>
                        </a:solidFill>
                        <a:effectLst/>
                        <a:latin typeface="Arial" panose="020B0604020202020204" pitchFamily="34" charset="0"/>
                        <a:ea typeface="Arial" panose="020B0604020202020204" pitchFamily="34" charset="0"/>
                      </a:endParaRPr>
                    </a:p>
                  </a:txBody>
                  <a:tcPr marL="0" marR="0" marT="0" marB="0"/>
                </a:tc>
                <a:extLst>
                  <a:ext uri="{0D108BD9-81ED-4DB2-BD59-A6C34878D82A}">
                    <a16:rowId xmlns:a16="http://schemas.microsoft.com/office/drawing/2014/main" val="3057297092"/>
                  </a:ext>
                </a:extLst>
              </a:tr>
              <a:tr h="506730">
                <a:tc rowSpan="3">
                  <a:txBody>
                    <a:bodyPr/>
                    <a:lstStyle/>
                    <a:p>
                      <a:pPr marL="0" marR="0" eaLnBrk="0">
                        <a:lnSpc>
                          <a:spcPct val="116000"/>
                        </a:lnSpc>
                        <a:spcBef>
                          <a:spcPts val="0"/>
                        </a:spcBef>
                        <a:spcAft>
                          <a:spcPts val="0"/>
                        </a:spcAft>
                      </a:pPr>
                      <a:r>
                        <a:rPr lang="en-US" sz="1600" b="1">
                          <a:effectLst/>
                        </a:rPr>
                        <a:t> </a:t>
                      </a:r>
                    </a:p>
                    <a:p>
                      <a:pPr marL="0" marR="0" eaLnBrk="0">
                        <a:lnSpc>
                          <a:spcPct val="116000"/>
                        </a:lnSpc>
                        <a:spcBef>
                          <a:spcPts val="0"/>
                        </a:spcBef>
                        <a:spcAft>
                          <a:spcPts val="0"/>
                        </a:spcAft>
                      </a:pPr>
                      <a:r>
                        <a:rPr lang="en-US" sz="1600" b="1">
                          <a:effectLst/>
                        </a:rPr>
                        <a:t> </a:t>
                      </a:r>
                    </a:p>
                    <a:p>
                      <a:pPr marL="0" marR="0" eaLnBrk="0">
                        <a:lnSpc>
                          <a:spcPct val="116000"/>
                        </a:lnSpc>
                        <a:spcBef>
                          <a:spcPts val="0"/>
                        </a:spcBef>
                        <a:spcAft>
                          <a:spcPts val="0"/>
                        </a:spcAft>
                      </a:pPr>
                      <a:r>
                        <a:rPr lang="en-US" sz="1600" b="1">
                          <a:effectLst/>
                        </a:rPr>
                        <a:t> </a:t>
                      </a:r>
                    </a:p>
                    <a:p>
                      <a:pPr marL="279400" marR="0" eaLnBrk="0">
                        <a:lnSpc>
                          <a:spcPct val="92000"/>
                        </a:lnSpc>
                        <a:spcBef>
                          <a:spcPts val="355"/>
                        </a:spcBef>
                        <a:spcAft>
                          <a:spcPts val="0"/>
                        </a:spcAft>
                      </a:pPr>
                      <a:r>
                        <a:rPr lang="en-US" sz="1600" b="1" spc="-5">
                          <a:effectLst/>
                        </a:rPr>
                        <a:t>A</a:t>
                      </a:r>
                      <a:r>
                        <a:rPr lang="zh-CN" sz="1600" b="1" spc="-5">
                          <a:effectLst/>
                        </a:rPr>
                        <a:t>相</a:t>
                      </a:r>
                      <a:endParaRPr lang="en-US" sz="1600" b="1">
                        <a:solidFill>
                          <a:srgbClr val="000000"/>
                        </a:solidFill>
                        <a:effectLst/>
                        <a:latin typeface="Arial" panose="020B0604020202020204" pitchFamily="34" charset="0"/>
                        <a:ea typeface="Arial" panose="020B0604020202020204" pitchFamily="34" charset="0"/>
                      </a:endParaRPr>
                    </a:p>
                  </a:txBody>
                  <a:tcPr marL="0" marR="0" marT="0" marB="0"/>
                </a:tc>
                <a:tc rowSpan="3">
                  <a:txBody>
                    <a:bodyPr/>
                    <a:lstStyle/>
                    <a:p>
                      <a:pPr marL="92075" marR="0" eaLnBrk="0">
                        <a:lnSpc>
                          <a:spcPct val="92000"/>
                        </a:lnSpc>
                        <a:spcBef>
                          <a:spcPts val="510"/>
                        </a:spcBef>
                        <a:spcAft>
                          <a:spcPts val="0"/>
                        </a:spcAft>
                      </a:pPr>
                      <a:r>
                        <a:rPr lang="zh-CN" sz="1600" b="1" spc="-10">
                          <a:effectLst/>
                        </a:rPr>
                        <a:t>硬脂酸</a:t>
                      </a:r>
                      <a:endParaRPr lang="en-US" sz="1600" b="1">
                        <a:effectLst/>
                      </a:endParaRPr>
                    </a:p>
                    <a:p>
                      <a:pPr marL="92075" marR="0" eaLnBrk="0">
                        <a:lnSpc>
                          <a:spcPts val="2000"/>
                        </a:lnSpc>
                        <a:spcBef>
                          <a:spcPts val="725"/>
                        </a:spcBef>
                        <a:spcAft>
                          <a:spcPts val="0"/>
                        </a:spcAft>
                      </a:pPr>
                      <a:r>
                        <a:rPr lang="zh-CN" sz="1600" b="1" spc="10">
                          <a:effectLst/>
                        </a:rPr>
                        <a:t>肉豆蔻酸</a:t>
                      </a:r>
                      <a:endParaRPr lang="en-US" sz="1600" b="1">
                        <a:effectLst/>
                      </a:endParaRPr>
                    </a:p>
                    <a:p>
                      <a:pPr marL="92075" marR="0" eaLnBrk="0">
                        <a:lnSpc>
                          <a:spcPct val="91000"/>
                        </a:lnSpc>
                        <a:spcBef>
                          <a:spcPts val="0"/>
                        </a:spcBef>
                        <a:spcAft>
                          <a:spcPts val="0"/>
                        </a:spcAft>
                      </a:pPr>
                      <a:r>
                        <a:rPr lang="zh-CN" sz="1600" b="1" spc="15">
                          <a:effectLst/>
                        </a:rPr>
                        <a:t>月桂酸</a:t>
                      </a:r>
                      <a:endParaRPr lang="en-US" sz="1600" b="1">
                        <a:effectLst/>
                      </a:endParaRPr>
                    </a:p>
                    <a:p>
                      <a:pPr marL="92075" marR="0" eaLnBrk="0">
                        <a:lnSpc>
                          <a:spcPts val="1950"/>
                        </a:lnSpc>
                        <a:spcBef>
                          <a:spcPts val="840"/>
                        </a:spcBef>
                        <a:spcAft>
                          <a:spcPts val="0"/>
                        </a:spcAft>
                      </a:pPr>
                      <a:r>
                        <a:rPr lang="zh-CN" sz="1600" b="1" spc="10">
                          <a:effectLst/>
                        </a:rPr>
                        <a:t>鲸蜡硬脂醇聚醚</a:t>
                      </a:r>
                      <a:r>
                        <a:rPr lang="en-US" sz="1600" b="1" spc="10">
                          <a:effectLst/>
                        </a:rPr>
                        <a:t>-10</a:t>
                      </a:r>
                      <a:endParaRPr lang="en-US" sz="1600" b="1">
                        <a:effectLst/>
                      </a:endParaRPr>
                    </a:p>
                    <a:p>
                      <a:pPr marL="92075" marR="0" eaLnBrk="0">
                        <a:lnSpc>
                          <a:spcPct val="91000"/>
                        </a:lnSpc>
                        <a:spcBef>
                          <a:spcPts val="0"/>
                        </a:spcBef>
                        <a:spcAft>
                          <a:spcPts val="0"/>
                        </a:spcAft>
                      </a:pPr>
                      <a:r>
                        <a:rPr lang="zh-CN" sz="1600" b="1" spc="10">
                          <a:effectLst/>
                        </a:rPr>
                        <a:t>牛油果树果酯</a:t>
                      </a:r>
                      <a:endParaRPr lang="en-US" sz="1600" b="1">
                        <a:solidFill>
                          <a:srgbClr val="000000"/>
                        </a:solidFill>
                        <a:effectLst/>
                        <a:latin typeface="Arial" panose="020B0604020202020204" pitchFamily="34" charset="0"/>
                        <a:ea typeface="Arial" panose="020B0604020202020204" pitchFamily="34" charset="0"/>
                      </a:endParaRPr>
                    </a:p>
                  </a:txBody>
                  <a:tcPr marL="0" marR="0" marT="0" marB="0"/>
                </a:tc>
                <a:tc rowSpan="3">
                  <a:txBody>
                    <a:bodyPr/>
                    <a:lstStyle/>
                    <a:p>
                      <a:pPr marL="422275" marR="0" eaLnBrk="0">
                        <a:lnSpc>
                          <a:spcPts val="2105"/>
                        </a:lnSpc>
                        <a:spcBef>
                          <a:spcPts val="780"/>
                        </a:spcBef>
                        <a:spcAft>
                          <a:spcPts val="0"/>
                        </a:spcAft>
                      </a:pPr>
                      <a:r>
                        <a:rPr lang="en-US" sz="1600" b="1" spc="-25">
                          <a:effectLst/>
                        </a:rPr>
                        <a:t>18.0</a:t>
                      </a:r>
                      <a:endParaRPr lang="en-US" sz="1600" b="1">
                        <a:effectLst/>
                      </a:endParaRPr>
                    </a:p>
                    <a:p>
                      <a:pPr marL="454025" marR="0" eaLnBrk="0">
                        <a:lnSpc>
                          <a:spcPct val="76000"/>
                        </a:lnSpc>
                        <a:spcBef>
                          <a:spcPts val="0"/>
                        </a:spcBef>
                        <a:spcAft>
                          <a:spcPts val="0"/>
                        </a:spcAft>
                      </a:pPr>
                      <a:r>
                        <a:rPr lang="en-US" sz="1600" b="1" spc="-15">
                          <a:effectLst/>
                        </a:rPr>
                        <a:t>8.0</a:t>
                      </a:r>
                      <a:endParaRPr lang="en-US" sz="1600" b="1">
                        <a:effectLst/>
                      </a:endParaRPr>
                    </a:p>
                    <a:p>
                      <a:pPr marL="454025" marR="0" eaLnBrk="0">
                        <a:lnSpc>
                          <a:spcPct val="76000"/>
                        </a:lnSpc>
                        <a:spcBef>
                          <a:spcPts val="805"/>
                        </a:spcBef>
                        <a:spcAft>
                          <a:spcPts val="0"/>
                        </a:spcAft>
                      </a:pPr>
                      <a:r>
                        <a:rPr lang="en-US" sz="1600" b="1" spc="-15">
                          <a:effectLst/>
                        </a:rPr>
                        <a:t>6.0</a:t>
                      </a:r>
                      <a:endParaRPr lang="en-US" sz="1600" b="1">
                        <a:effectLst/>
                      </a:endParaRPr>
                    </a:p>
                    <a:p>
                      <a:pPr marL="454025" marR="0" eaLnBrk="0">
                        <a:lnSpc>
                          <a:spcPct val="76000"/>
                        </a:lnSpc>
                        <a:spcBef>
                          <a:spcPts val="1055"/>
                        </a:spcBef>
                        <a:spcAft>
                          <a:spcPts val="0"/>
                        </a:spcAft>
                      </a:pPr>
                      <a:r>
                        <a:rPr lang="en-US" sz="1600" b="1" spc="-15">
                          <a:effectLst/>
                        </a:rPr>
                        <a:t>2.0</a:t>
                      </a:r>
                      <a:endParaRPr lang="en-US" sz="1600" b="1">
                        <a:effectLst/>
                      </a:endParaRPr>
                    </a:p>
                    <a:p>
                      <a:pPr marL="454025" marR="0" eaLnBrk="0">
                        <a:lnSpc>
                          <a:spcPct val="76000"/>
                        </a:lnSpc>
                        <a:spcBef>
                          <a:spcPts val="910"/>
                        </a:spcBef>
                        <a:spcAft>
                          <a:spcPts val="0"/>
                        </a:spcAft>
                      </a:pPr>
                      <a:r>
                        <a:rPr lang="en-US" sz="1600" b="1" spc="-15">
                          <a:effectLst/>
                        </a:rPr>
                        <a:t>0.5</a:t>
                      </a:r>
                      <a:endParaRPr lang="en-US" sz="1600" b="1">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282575" marR="0" eaLnBrk="0">
                        <a:lnSpc>
                          <a:spcPct val="92000"/>
                        </a:lnSpc>
                        <a:spcBef>
                          <a:spcPts val="1465"/>
                        </a:spcBef>
                        <a:spcAft>
                          <a:spcPts val="0"/>
                        </a:spcAft>
                      </a:pPr>
                      <a:r>
                        <a:rPr lang="en-US" sz="1600" b="1" spc="45">
                          <a:effectLst/>
                        </a:rPr>
                        <a:t>B</a:t>
                      </a:r>
                      <a:r>
                        <a:rPr lang="zh-CN" sz="1600" b="1" spc="45">
                          <a:effectLst/>
                        </a:rPr>
                        <a:t>相</a:t>
                      </a:r>
                      <a:endParaRPr lang="en-US" sz="1600" b="1">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98425" marR="0" eaLnBrk="0">
                        <a:lnSpc>
                          <a:spcPts val="1900"/>
                        </a:lnSpc>
                        <a:spcBef>
                          <a:spcPts val="455"/>
                        </a:spcBef>
                        <a:spcAft>
                          <a:spcPts val="0"/>
                        </a:spcAft>
                      </a:pPr>
                      <a:r>
                        <a:rPr lang="zh-CN" sz="1600" b="1" spc="15">
                          <a:effectLst/>
                        </a:rPr>
                        <a:t>丁二醇</a:t>
                      </a:r>
                      <a:endParaRPr lang="en-US" sz="1600" b="1">
                        <a:effectLst/>
                      </a:endParaRPr>
                    </a:p>
                    <a:p>
                      <a:pPr marL="98425" marR="0" eaLnBrk="0">
                        <a:lnSpc>
                          <a:spcPct val="91000"/>
                        </a:lnSpc>
                        <a:spcBef>
                          <a:spcPts val="0"/>
                        </a:spcBef>
                        <a:spcAft>
                          <a:spcPts val="0"/>
                        </a:spcAft>
                      </a:pPr>
                      <a:r>
                        <a:rPr lang="zh-CN" sz="1600" b="1" spc="55">
                          <a:effectLst/>
                        </a:rPr>
                        <a:t>甘油</a:t>
                      </a:r>
                      <a:endParaRPr lang="en-US" sz="1600" b="1">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390525" marR="0" eaLnBrk="0">
                        <a:lnSpc>
                          <a:spcPts val="2050"/>
                        </a:lnSpc>
                        <a:spcBef>
                          <a:spcPts val="785"/>
                        </a:spcBef>
                        <a:spcAft>
                          <a:spcPts val="0"/>
                        </a:spcAft>
                      </a:pPr>
                      <a:r>
                        <a:rPr lang="en-US" sz="1600" b="1" spc="-15">
                          <a:effectLst/>
                        </a:rPr>
                        <a:t>6.0</a:t>
                      </a:r>
                      <a:endParaRPr lang="en-US" sz="1600" b="1">
                        <a:effectLst/>
                      </a:endParaRPr>
                    </a:p>
                    <a:p>
                      <a:pPr marL="390525" marR="0" eaLnBrk="0">
                        <a:lnSpc>
                          <a:spcPct val="76000"/>
                        </a:lnSpc>
                        <a:spcBef>
                          <a:spcPts val="0"/>
                        </a:spcBef>
                        <a:spcAft>
                          <a:spcPts val="0"/>
                        </a:spcAft>
                      </a:pPr>
                      <a:r>
                        <a:rPr lang="en-US" sz="1600" b="1" spc="-15">
                          <a:effectLst/>
                        </a:rPr>
                        <a:t>8.0</a:t>
                      </a:r>
                      <a:endParaRPr lang="en-US" sz="1600" b="1">
                        <a:solidFill>
                          <a:srgbClr val="000000"/>
                        </a:solidFill>
                        <a:effectLst/>
                        <a:latin typeface="Arial" panose="020B0604020202020204" pitchFamily="34" charset="0"/>
                        <a:ea typeface="Arial" panose="020B0604020202020204" pitchFamily="34" charset="0"/>
                      </a:endParaRPr>
                    </a:p>
                  </a:txBody>
                  <a:tcPr marL="0" marR="0" marT="0" marB="0"/>
                </a:tc>
                <a:extLst>
                  <a:ext uri="{0D108BD9-81ED-4DB2-BD59-A6C34878D82A}">
                    <a16:rowId xmlns:a16="http://schemas.microsoft.com/office/drawing/2014/main" val="2208939401"/>
                  </a:ext>
                </a:extLst>
              </a:tr>
              <a:tr h="259715">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282575" marR="0" eaLnBrk="0">
                        <a:lnSpc>
                          <a:spcPct val="92000"/>
                        </a:lnSpc>
                        <a:spcBef>
                          <a:spcPts val="525"/>
                        </a:spcBef>
                        <a:spcAft>
                          <a:spcPts val="0"/>
                        </a:spcAft>
                      </a:pPr>
                      <a:r>
                        <a:rPr lang="en-US" sz="1600" b="1" spc="45">
                          <a:effectLst/>
                        </a:rPr>
                        <a:t>C</a:t>
                      </a:r>
                      <a:r>
                        <a:rPr lang="zh-CN" sz="1600" b="1" spc="45">
                          <a:effectLst/>
                        </a:rPr>
                        <a:t>相</a:t>
                      </a:r>
                      <a:endParaRPr lang="en-US" sz="1600" b="1">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98425" marR="0" eaLnBrk="0">
                        <a:lnSpc>
                          <a:spcPct val="91000"/>
                        </a:lnSpc>
                        <a:spcBef>
                          <a:spcPts val="515"/>
                        </a:spcBef>
                        <a:spcAft>
                          <a:spcPts val="0"/>
                        </a:spcAft>
                      </a:pPr>
                      <a:r>
                        <a:rPr lang="zh-CN" sz="1600" b="1" spc="-10">
                          <a:effectLst/>
                        </a:rPr>
                        <a:t>癸基葡糖苷</a:t>
                      </a:r>
                      <a:endParaRPr lang="en-US" sz="1600" b="1">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390525" marR="0" eaLnBrk="0">
                        <a:lnSpc>
                          <a:spcPct val="76000"/>
                        </a:lnSpc>
                        <a:spcBef>
                          <a:spcPts val="795"/>
                        </a:spcBef>
                        <a:spcAft>
                          <a:spcPts val="0"/>
                        </a:spcAft>
                      </a:pPr>
                      <a:r>
                        <a:rPr lang="en-US" sz="1600" b="1" spc="-15">
                          <a:effectLst/>
                        </a:rPr>
                        <a:t>3.0</a:t>
                      </a:r>
                      <a:endParaRPr lang="en-US" sz="1600" b="1">
                        <a:solidFill>
                          <a:srgbClr val="000000"/>
                        </a:solidFill>
                        <a:effectLst/>
                        <a:latin typeface="Arial" panose="020B0604020202020204" pitchFamily="34" charset="0"/>
                        <a:ea typeface="Arial" panose="020B0604020202020204" pitchFamily="34" charset="0"/>
                      </a:endParaRPr>
                    </a:p>
                  </a:txBody>
                  <a:tcPr marL="0" marR="0" marT="0" marB="0"/>
                </a:tc>
                <a:extLst>
                  <a:ext uri="{0D108BD9-81ED-4DB2-BD59-A6C34878D82A}">
                    <a16:rowId xmlns:a16="http://schemas.microsoft.com/office/drawing/2014/main" val="1771404537"/>
                  </a:ext>
                </a:extLst>
              </a:tr>
              <a:tr h="0">
                <a:tc vMerge="1">
                  <a:txBody>
                    <a:bodyPr/>
                    <a:lstStyle/>
                    <a:p>
                      <a:endParaRPr lang="en-US"/>
                    </a:p>
                  </a:txBody>
                  <a:tcPr/>
                </a:tc>
                <a:tc vMerge="1">
                  <a:txBody>
                    <a:bodyPr/>
                    <a:lstStyle/>
                    <a:p>
                      <a:endParaRPr lang="en-US"/>
                    </a:p>
                  </a:txBody>
                  <a:tcPr/>
                </a:tc>
                <a:tc vMerge="1">
                  <a:txBody>
                    <a:bodyPr/>
                    <a:lstStyle/>
                    <a:p>
                      <a:endParaRPr lang="en-US"/>
                    </a:p>
                  </a:txBody>
                  <a:tcPr/>
                </a:tc>
                <a:tc rowSpan="2">
                  <a:txBody>
                    <a:bodyPr/>
                    <a:lstStyle/>
                    <a:p>
                      <a:pPr marL="0" marR="0" eaLnBrk="0">
                        <a:lnSpc>
                          <a:spcPct val="131000"/>
                        </a:lnSpc>
                        <a:spcBef>
                          <a:spcPts val="0"/>
                        </a:spcBef>
                        <a:spcAft>
                          <a:spcPts val="0"/>
                        </a:spcAft>
                      </a:pPr>
                      <a:r>
                        <a:rPr lang="en-US" sz="1600" b="1">
                          <a:effectLst/>
                        </a:rPr>
                        <a:t> </a:t>
                      </a:r>
                    </a:p>
                    <a:p>
                      <a:pPr marL="0" marR="0" eaLnBrk="0">
                        <a:lnSpc>
                          <a:spcPct val="131000"/>
                        </a:lnSpc>
                        <a:spcBef>
                          <a:spcPts val="0"/>
                        </a:spcBef>
                        <a:spcAft>
                          <a:spcPts val="0"/>
                        </a:spcAft>
                      </a:pPr>
                      <a:r>
                        <a:rPr lang="en-US" sz="1600" b="1">
                          <a:effectLst/>
                        </a:rPr>
                        <a:t> </a:t>
                      </a:r>
                    </a:p>
                    <a:p>
                      <a:pPr marL="282575" marR="0" eaLnBrk="0">
                        <a:lnSpc>
                          <a:spcPct val="92000"/>
                        </a:lnSpc>
                        <a:spcBef>
                          <a:spcPts val="360"/>
                        </a:spcBef>
                        <a:spcAft>
                          <a:spcPts val="0"/>
                        </a:spcAft>
                      </a:pPr>
                      <a:r>
                        <a:rPr lang="en-US" sz="1600" b="1" spc="45">
                          <a:effectLst/>
                        </a:rPr>
                        <a:t>D</a:t>
                      </a:r>
                      <a:r>
                        <a:rPr lang="zh-CN" sz="1600" b="1" spc="45">
                          <a:effectLst/>
                        </a:rPr>
                        <a:t>相</a:t>
                      </a:r>
                      <a:endParaRPr lang="en-US" sz="1600" b="1">
                        <a:solidFill>
                          <a:srgbClr val="000000"/>
                        </a:solidFill>
                        <a:effectLst/>
                        <a:latin typeface="Arial" panose="020B0604020202020204" pitchFamily="34" charset="0"/>
                        <a:ea typeface="Arial" panose="020B0604020202020204" pitchFamily="34" charset="0"/>
                      </a:endParaRPr>
                    </a:p>
                  </a:txBody>
                  <a:tcPr marL="0" marR="0" marT="0" marB="0"/>
                </a:tc>
                <a:tc rowSpan="2">
                  <a:txBody>
                    <a:bodyPr/>
                    <a:lstStyle/>
                    <a:p>
                      <a:pPr marL="98425" marR="0" eaLnBrk="0">
                        <a:lnSpc>
                          <a:spcPts val="2050"/>
                        </a:lnSpc>
                        <a:spcBef>
                          <a:spcPts val="1415"/>
                        </a:spcBef>
                        <a:spcAft>
                          <a:spcPts val="0"/>
                        </a:spcAft>
                      </a:pPr>
                      <a:r>
                        <a:rPr lang="zh-CN" sz="1600" b="1" spc="5">
                          <a:effectLst/>
                        </a:rPr>
                        <a:t>异硬脂酰乳酰乳酸钠</a:t>
                      </a:r>
                      <a:endParaRPr lang="en-US" sz="1600" b="1">
                        <a:effectLst/>
                      </a:endParaRPr>
                    </a:p>
                    <a:p>
                      <a:pPr marL="98425" marR="0" eaLnBrk="0">
                        <a:lnSpc>
                          <a:spcPct val="90000"/>
                        </a:lnSpc>
                        <a:spcBef>
                          <a:spcPts val="0"/>
                        </a:spcBef>
                        <a:spcAft>
                          <a:spcPts val="0"/>
                        </a:spcAft>
                      </a:pPr>
                      <a:r>
                        <a:rPr lang="zh-CN" sz="1600" b="1" spc="25">
                          <a:effectLst/>
                        </a:rPr>
                        <a:t>香精</a:t>
                      </a:r>
                      <a:endParaRPr lang="en-US" sz="1600" b="1">
                        <a:effectLst/>
                      </a:endParaRPr>
                    </a:p>
                    <a:p>
                      <a:pPr marL="98425" marR="0" eaLnBrk="0">
                        <a:lnSpc>
                          <a:spcPct val="91000"/>
                        </a:lnSpc>
                        <a:spcBef>
                          <a:spcPts val="695"/>
                        </a:spcBef>
                        <a:spcAft>
                          <a:spcPts val="0"/>
                        </a:spcAft>
                      </a:pPr>
                      <a:r>
                        <a:rPr lang="zh-CN" sz="1600" b="1" spc="20">
                          <a:effectLst/>
                        </a:rPr>
                        <a:t>防腐剂</a:t>
                      </a:r>
                      <a:endParaRPr lang="en-US" sz="1600" b="1">
                        <a:solidFill>
                          <a:srgbClr val="000000"/>
                        </a:solidFill>
                        <a:effectLst/>
                        <a:latin typeface="Arial" panose="020B0604020202020204" pitchFamily="34" charset="0"/>
                        <a:ea typeface="Arial" panose="020B0604020202020204" pitchFamily="34" charset="0"/>
                      </a:endParaRPr>
                    </a:p>
                  </a:txBody>
                  <a:tcPr marL="0" marR="0" marT="0" marB="0"/>
                </a:tc>
                <a:tc rowSpan="2">
                  <a:txBody>
                    <a:bodyPr/>
                    <a:lstStyle/>
                    <a:p>
                      <a:pPr marL="0" marR="0" eaLnBrk="0">
                        <a:lnSpc>
                          <a:spcPct val="102000"/>
                        </a:lnSpc>
                        <a:spcBef>
                          <a:spcPts val="0"/>
                        </a:spcBef>
                        <a:spcAft>
                          <a:spcPts val="0"/>
                        </a:spcAft>
                      </a:pPr>
                      <a:r>
                        <a:rPr lang="en-US" sz="1600" b="1">
                          <a:effectLst/>
                        </a:rPr>
                        <a:t> </a:t>
                      </a:r>
                    </a:p>
                    <a:p>
                      <a:pPr marL="390525" marR="0" eaLnBrk="0">
                        <a:lnSpc>
                          <a:spcPts val="1700"/>
                        </a:lnSpc>
                        <a:spcBef>
                          <a:spcPts val="360"/>
                        </a:spcBef>
                        <a:spcAft>
                          <a:spcPts val="0"/>
                        </a:spcAft>
                      </a:pPr>
                      <a:r>
                        <a:rPr lang="en-US" sz="1600" b="1" spc="-15">
                          <a:effectLst/>
                        </a:rPr>
                        <a:t>0.5</a:t>
                      </a:r>
                      <a:endParaRPr lang="en-US" sz="1600" b="1">
                        <a:effectLst/>
                      </a:endParaRPr>
                    </a:p>
                    <a:p>
                      <a:pPr marL="358775" marR="0" eaLnBrk="0">
                        <a:lnSpc>
                          <a:spcPct val="93000"/>
                        </a:lnSpc>
                        <a:spcBef>
                          <a:spcPts val="0"/>
                        </a:spcBef>
                        <a:spcAft>
                          <a:spcPts val="0"/>
                        </a:spcAft>
                      </a:pPr>
                      <a:r>
                        <a:rPr lang="zh-CN" sz="1600" b="1" spc="-15">
                          <a:effectLst/>
                        </a:rPr>
                        <a:t>适量</a:t>
                      </a:r>
                      <a:endParaRPr lang="en-US" sz="1600" b="1">
                        <a:effectLst/>
                      </a:endParaRPr>
                    </a:p>
                    <a:p>
                      <a:pPr marL="358775" marR="0" eaLnBrk="0">
                        <a:lnSpc>
                          <a:spcPct val="93000"/>
                        </a:lnSpc>
                        <a:spcBef>
                          <a:spcPts val="705"/>
                        </a:spcBef>
                        <a:spcAft>
                          <a:spcPts val="0"/>
                        </a:spcAft>
                      </a:pPr>
                      <a:r>
                        <a:rPr lang="zh-CN" sz="1600" b="1" spc="-15">
                          <a:effectLst/>
                        </a:rPr>
                        <a:t>适量</a:t>
                      </a:r>
                      <a:endParaRPr lang="en-US" sz="1600" b="1">
                        <a:solidFill>
                          <a:srgbClr val="000000"/>
                        </a:solidFill>
                        <a:effectLst/>
                        <a:latin typeface="Arial" panose="020B0604020202020204" pitchFamily="34" charset="0"/>
                        <a:ea typeface="Arial" panose="020B0604020202020204" pitchFamily="34" charset="0"/>
                      </a:endParaRPr>
                    </a:p>
                  </a:txBody>
                  <a:tcPr marL="0" marR="0" marT="0" marB="0"/>
                </a:tc>
                <a:extLst>
                  <a:ext uri="{0D108BD9-81ED-4DB2-BD59-A6C34878D82A}">
                    <a16:rowId xmlns:a16="http://schemas.microsoft.com/office/drawing/2014/main" val="3279088327"/>
                  </a:ext>
                </a:extLst>
              </a:tr>
              <a:tr h="509270">
                <a:tc>
                  <a:txBody>
                    <a:bodyPr/>
                    <a:lstStyle/>
                    <a:p>
                      <a:pPr marL="279400" marR="0" eaLnBrk="0">
                        <a:lnSpc>
                          <a:spcPct val="92000"/>
                        </a:lnSpc>
                        <a:spcBef>
                          <a:spcPts val="1495"/>
                        </a:spcBef>
                        <a:spcAft>
                          <a:spcPts val="0"/>
                        </a:spcAft>
                      </a:pPr>
                      <a:r>
                        <a:rPr lang="en-US" sz="1600" b="1" spc="45">
                          <a:effectLst/>
                        </a:rPr>
                        <a:t>B</a:t>
                      </a:r>
                      <a:r>
                        <a:rPr lang="zh-CN" sz="1600" b="1" spc="45">
                          <a:effectLst/>
                        </a:rPr>
                        <a:t>相</a:t>
                      </a:r>
                      <a:endParaRPr lang="en-US" sz="1600" b="1">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92075" marR="0" eaLnBrk="0">
                        <a:lnSpc>
                          <a:spcPct val="91000"/>
                        </a:lnSpc>
                        <a:spcBef>
                          <a:spcPts val="385"/>
                        </a:spcBef>
                        <a:spcAft>
                          <a:spcPts val="0"/>
                        </a:spcAft>
                      </a:pPr>
                      <a:r>
                        <a:rPr lang="zh-CN" sz="1600" b="1" dirty="0">
                          <a:effectLst/>
                        </a:rPr>
                        <a:t>水</a:t>
                      </a:r>
                      <a:endParaRPr lang="en-US" sz="1600" b="1" dirty="0">
                        <a:effectLst/>
                      </a:endParaRPr>
                    </a:p>
                    <a:p>
                      <a:pPr marL="92075" marR="0" eaLnBrk="0">
                        <a:lnSpc>
                          <a:spcPct val="91000"/>
                        </a:lnSpc>
                        <a:spcBef>
                          <a:spcPts val="785"/>
                        </a:spcBef>
                        <a:spcAft>
                          <a:spcPts val="0"/>
                        </a:spcAft>
                      </a:pPr>
                      <a:r>
                        <a:rPr lang="zh-CN" sz="1600" b="1" spc="20" dirty="0">
                          <a:effectLst/>
                        </a:rPr>
                        <a:t>氢氧化钾</a:t>
                      </a:r>
                      <a:endParaRPr lang="en-US" sz="1600" b="1" dirty="0">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314325" marR="0" eaLnBrk="0">
                        <a:lnSpc>
                          <a:spcPts val="2260"/>
                        </a:lnSpc>
                        <a:spcBef>
                          <a:spcPts val="455"/>
                        </a:spcBef>
                        <a:spcAft>
                          <a:spcPts val="0"/>
                        </a:spcAft>
                      </a:pPr>
                      <a:r>
                        <a:rPr lang="zh-CN" sz="1600" b="1" spc="-10" dirty="0">
                          <a:effectLst/>
                        </a:rPr>
                        <a:t>加至</a:t>
                      </a:r>
                      <a:r>
                        <a:rPr lang="en-US" sz="1600" b="1" spc="-10" dirty="0">
                          <a:effectLst/>
                        </a:rPr>
                        <a:t>100</a:t>
                      </a:r>
                      <a:endParaRPr lang="en-US" sz="1600" b="1" dirty="0">
                        <a:effectLst/>
                      </a:endParaRPr>
                    </a:p>
                    <a:p>
                      <a:pPr marL="454025" marR="0" eaLnBrk="0">
                        <a:lnSpc>
                          <a:spcPct val="76000"/>
                        </a:lnSpc>
                        <a:spcBef>
                          <a:spcPts val="0"/>
                        </a:spcBef>
                        <a:spcAft>
                          <a:spcPts val="0"/>
                        </a:spcAft>
                      </a:pPr>
                      <a:r>
                        <a:rPr lang="en-US" sz="1600" b="1" spc="-15" dirty="0">
                          <a:effectLst/>
                        </a:rPr>
                        <a:t>6.7</a:t>
                      </a:r>
                      <a:endParaRPr lang="en-US" sz="1600" b="1" dirty="0">
                        <a:solidFill>
                          <a:srgbClr val="000000"/>
                        </a:solidFill>
                        <a:effectLst/>
                        <a:latin typeface="Arial" panose="020B0604020202020204" pitchFamily="34" charset="0"/>
                        <a:ea typeface="Arial" panose="020B0604020202020204" pitchFamily="34" charset="0"/>
                      </a:endParaRPr>
                    </a:p>
                  </a:txBody>
                  <a:tcPr marL="0" marR="0" marT="0" marB="0"/>
                </a:tc>
                <a:tc vMerge="1">
                  <a:txBody>
                    <a:bodyPr/>
                    <a:lstStyle/>
                    <a:p>
                      <a:endParaRPr lang="en-US"/>
                    </a:p>
                  </a:txBody>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153634390"/>
                  </a:ext>
                </a:extLst>
              </a:tr>
            </a:tbl>
          </a:graphicData>
        </a:graphic>
      </p:graphicFrame>
      <p:sp>
        <p:nvSpPr>
          <p:cNvPr id="10" name="文本框 9">
            <a:extLst>
              <a:ext uri="{FF2B5EF4-FFF2-40B4-BE49-F238E27FC236}">
                <a16:creationId xmlns:a16="http://schemas.microsoft.com/office/drawing/2014/main" id="{16F20BA4-A7A0-722B-C5D6-1328C7706D53}"/>
              </a:ext>
            </a:extLst>
          </p:cNvPr>
          <p:cNvSpPr txBox="1"/>
          <p:nvPr/>
        </p:nvSpPr>
        <p:spPr>
          <a:xfrm>
            <a:off x="182880" y="4444017"/>
            <a:ext cx="8778240" cy="2246769"/>
          </a:xfrm>
          <a:prstGeom prst="rect">
            <a:avLst/>
          </a:prstGeom>
          <a:noFill/>
        </p:spPr>
        <p:txBody>
          <a:bodyPr wrap="square">
            <a:spAutoFit/>
          </a:bodyPr>
          <a:lstStyle/>
          <a:p>
            <a:r>
              <a:rPr lang="zh-CN" altLang="en-US" sz="2000" dirty="0">
                <a:latin typeface="KaiTi" panose="02010609060101010101" pitchFamily="49" charset="-122"/>
                <a:ea typeface="KaiTi" panose="02010609060101010101" pitchFamily="49" charset="-122"/>
              </a:rPr>
              <a:t>① 将 </a:t>
            </a:r>
            <a:r>
              <a:rPr lang="en-US" altLang="zh-CN" sz="2000" dirty="0">
                <a:latin typeface="KaiTi" panose="02010609060101010101" pitchFamily="49" charset="-122"/>
                <a:ea typeface="KaiTi" panose="02010609060101010101" pitchFamily="49" charset="-122"/>
              </a:rPr>
              <a:t>A </a:t>
            </a:r>
            <a:r>
              <a:rPr lang="zh-CN" altLang="en-US" sz="2000" dirty="0">
                <a:latin typeface="KaiTi" panose="02010609060101010101" pitchFamily="49" charset="-122"/>
                <a:ea typeface="KaiTi" panose="02010609060101010101" pitchFamily="49" charset="-122"/>
              </a:rPr>
              <a:t>相和 </a:t>
            </a:r>
            <a:r>
              <a:rPr lang="en-US" altLang="zh-CN" sz="2000" dirty="0">
                <a:latin typeface="KaiTi" panose="02010609060101010101" pitchFamily="49" charset="-122"/>
                <a:ea typeface="KaiTi" panose="02010609060101010101" pitchFamily="49" charset="-122"/>
              </a:rPr>
              <a:t>B </a:t>
            </a:r>
            <a:r>
              <a:rPr lang="zh-CN" altLang="en-US" sz="2000" dirty="0">
                <a:latin typeface="KaiTi" panose="02010609060101010101" pitchFamily="49" charset="-122"/>
                <a:ea typeface="KaiTi" panose="02010609060101010101" pitchFamily="49" charset="-122"/>
              </a:rPr>
              <a:t>相各原料混合均匀，分别加热至</a:t>
            </a:r>
            <a:r>
              <a:rPr lang="en-US" altLang="zh-CN" sz="2000" dirty="0">
                <a:latin typeface="KaiTi" panose="02010609060101010101" pitchFamily="49" charset="-122"/>
                <a:ea typeface="KaiTi" panose="02010609060101010101" pitchFamily="49" charset="-122"/>
              </a:rPr>
              <a:t>80 ℃</a:t>
            </a:r>
            <a:r>
              <a:rPr lang="zh-CN" altLang="en-US" sz="2000" dirty="0">
                <a:latin typeface="KaiTi" panose="02010609060101010101" pitchFamily="49" charset="-122"/>
                <a:ea typeface="KaiTi" panose="02010609060101010101" pitchFamily="49" charset="-122"/>
              </a:rPr>
              <a:t>左右；</a:t>
            </a:r>
          </a:p>
          <a:p>
            <a:r>
              <a:rPr lang="zh-CN" altLang="en-US" sz="2000" dirty="0">
                <a:latin typeface="KaiTi" panose="02010609060101010101" pitchFamily="49" charset="-122"/>
                <a:ea typeface="KaiTi" panose="02010609060101010101" pitchFamily="49" charset="-122"/>
              </a:rPr>
              <a:t>② 均质 </a:t>
            </a:r>
            <a:r>
              <a:rPr lang="en-US" altLang="zh-CN" sz="2000" dirty="0">
                <a:latin typeface="KaiTi" panose="02010609060101010101" pitchFamily="49" charset="-122"/>
                <a:ea typeface="KaiTi" panose="02010609060101010101" pitchFamily="49" charset="-122"/>
              </a:rPr>
              <a:t>A </a:t>
            </a:r>
            <a:r>
              <a:rPr lang="zh-CN" altLang="en-US" sz="2000" dirty="0">
                <a:latin typeface="KaiTi" panose="02010609060101010101" pitchFamily="49" charset="-122"/>
                <a:ea typeface="KaiTi" panose="02010609060101010101" pitchFamily="49" charset="-122"/>
              </a:rPr>
              <a:t>相，然后缓慢加入 </a:t>
            </a:r>
            <a:r>
              <a:rPr lang="en-US" altLang="zh-CN" sz="2000" dirty="0">
                <a:latin typeface="KaiTi" panose="02010609060101010101" pitchFamily="49" charset="-122"/>
                <a:ea typeface="KaiTi" panose="02010609060101010101" pitchFamily="49" charset="-122"/>
              </a:rPr>
              <a:t>B </a:t>
            </a:r>
            <a:r>
              <a:rPr lang="zh-CN" altLang="en-US" sz="2000" dirty="0">
                <a:latin typeface="KaiTi" panose="02010609060101010101" pitchFamily="49" charset="-122"/>
                <a:ea typeface="KaiTi" panose="02010609060101010101" pitchFamily="49" charset="-122"/>
              </a:rPr>
              <a:t>相，加完后均质</a:t>
            </a:r>
            <a:r>
              <a:rPr lang="en-US" altLang="zh-CN" sz="2000" dirty="0">
                <a:latin typeface="KaiTi" panose="02010609060101010101" pitchFamily="49" charset="-122"/>
                <a:ea typeface="KaiTi" panose="02010609060101010101" pitchFamily="49" charset="-122"/>
              </a:rPr>
              <a:t>5 min,</a:t>
            </a:r>
            <a:r>
              <a:rPr lang="zh-CN" altLang="en-US" sz="2000" dirty="0">
                <a:latin typeface="KaiTi" panose="02010609060101010101" pitchFamily="49" charset="-122"/>
                <a:ea typeface="KaiTi" panose="02010609060101010101" pitchFamily="49" charset="-122"/>
              </a:rPr>
              <a:t>保温搅拌</a:t>
            </a:r>
            <a:r>
              <a:rPr lang="en-US" altLang="zh-CN" sz="2000" dirty="0">
                <a:latin typeface="KaiTi" panose="02010609060101010101" pitchFamily="49" charset="-122"/>
                <a:ea typeface="KaiTi" panose="02010609060101010101" pitchFamily="49" charset="-122"/>
              </a:rPr>
              <a:t>30 min,</a:t>
            </a:r>
            <a:r>
              <a:rPr lang="zh-CN" altLang="en-US" sz="2000" dirty="0">
                <a:latin typeface="KaiTi" panose="02010609060101010101" pitchFamily="49" charset="-122"/>
                <a:ea typeface="KaiTi" panose="02010609060101010101" pitchFamily="49" charset="-122"/>
              </a:rPr>
              <a:t>然后开始冷却；</a:t>
            </a:r>
          </a:p>
          <a:p>
            <a:r>
              <a:rPr lang="zh-CN" altLang="en-US" sz="2000" dirty="0">
                <a:latin typeface="KaiTi" panose="02010609060101010101" pitchFamily="49" charset="-122"/>
                <a:ea typeface="KaiTi" panose="02010609060101010101" pitchFamily="49" charset="-122"/>
              </a:rPr>
              <a:t>③ 搅拌冷却至</a:t>
            </a:r>
            <a:r>
              <a:rPr lang="en-US" altLang="zh-CN" sz="2000" dirty="0">
                <a:latin typeface="KaiTi" panose="02010609060101010101" pitchFamily="49" charset="-122"/>
                <a:ea typeface="KaiTi" panose="02010609060101010101" pitchFamily="49" charset="-122"/>
              </a:rPr>
              <a:t>60 ℃,</a:t>
            </a:r>
            <a:r>
              <a:rPr lang="zh-CN" altLang="en-US" sz="2000" dirty="0">
                <a:latin typeface="KaiTi" panose="02010609060101010101" pitchFamily="49" charset="-122"/>
                <a:ea typeface="KaiTi" panose="02010609060101010101" pitchFamily="49" charset="-122"/>
              </a:rPr>
              <a:t>缓慢加入 </a:t>
            </a:r>
            <a:r>
              <a:rPr lang="en-US" altLang="zh-CN" sz="2000" dirty="0">
                <a:latin typeface="KaiTi" panose="02010609060101010101" pitchFamily="49" charset="-122"/>
                <a:ea typeface="KaiTi" panose="02010609060101010101" pitchFamily="49" charset="-122"/>
              </a:rPr>
              <a:t>C </a:t>
            </a:r>
            <a:r>
              <a:rPr lang="zh-CN" altLang="en-US" sz="2000" dirty="0">
                <a:latin typeface="KaiTi" panose="02010609060101010101" pitchFamily="49" charset="-122"/>
                <a:ea typeface="KaiTi" panose="02010609060101010101" pitchFamily="49" charset="-122"/>
              </a:rPr>
              <a:t>相中各组分，降低搅拌速度至完全混合均匀；</a:t>
            </a:r>
          </a:p>
          <a:p>
            <a:r>
              <a:rPr lang="zh-CN" altLang="en-US" sz="2000" dirty="0">
                <a:latin typeface="KaiTi" panose="02010609060101010101" pitchFamily="49" charset="-122"/>
                <a:ea typeface="KaiTi" panose="02010609060101010101" pitchFamily="49" charset="-122"/>
              </a:rPr>
              <a:t>④ 搅拌冷却至</a:t>
            </a:r>
            <a:r>
              <a:rPr lang="en-US" altLang="zh-CN" sz="2000" dirty="0">
                <a:latin typeface="KaiTi" panose="02010609060101010101" pitchFamily="49" charset="-122"/>
                <a:ea typeface="KaiTi" panose="02010609060101010101" pitchFamily="49" charset="-122"/>
              </a:rPr>
              <a:t>45 ℃,</a:t>
            </a:r>
            <a:r>
              <a:rPr lang="zh-CN" altLang="en-US" sz="2000" dirty="0">
                <a:latin typeface="KaiTi" panose="02010609060101010101" pitchFamily="49" charset="-122"/>
                <a:ea typeface="KaiTi" panose="02010609060101010101" pitchFamily="49" charset="-122"/>
              </a:rPr>
              <a:t>加入 </a:t>
            </a:r>
            <a:r>
              <a:rPr lang="en-US" altLang="zh-CN" sz="2000" dirty="0">
                <a:latin typeface="KaiTi" panose="02010609060101010101" pitchFamily="49" charset="-122"/>
                <a:ea typeface="KaiTi" panose="02010609060101010101" pitchFamily="49" charset="-122"/>
              </a:rPr>
              <a:t>D </a:t>
            </a:r>
            <a:r>
              <a:rPr lang="zh-CN" altLang="en-US" sz="2000" dirty="0">
                <a:latin typeface="KaiTi" panose="02010609060101010101" pitchFamily="49" charset="-122"/>
                <a:ea typeface="KaiTi" panose="02010609060101010101" pitchFamily="49" charset="-122"/>
              </a:rPr>
              <a:t>相中各组分，搅拌均匀，继续搅拌冷却至室温结束</a:t>
            </a:r>
          </a:p>
        </p:txBody>
      </p:sp>
    </p:spTree>
    <p:extLst>
      <p:ext uri="{BB962C8B-B14F-4D97-AF65-F5344CB8AC3E}">
        <p14:creationId xmlns:p14="http://schemas.microsoft.com/office/powerpoint/2010/main" val="213750401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51</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皂基洁肤产品配方</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030057"/>
            <a:ext cx="8778240" cy="7074501"/>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沐浴露一般用泵头的瓶装，其黏度不宜太高。在配方设计过程中，以</a:t>
            </a:r>
            <a:r>
              <a:rPr lang="en-US" altLang="zh-CN" sz="2400" dirty="0">
                <a:latin typeface="+mn-lt"/>
                <a:ea typeface="SimHei" panose="02010609060101010101" pitchFamily="49" charset="-122"/>
              </a:rPr>
              <a:t>C12</a:t>
            </a:r>
            <a:r>
              <a:rPr lang="zh-CN" altLang="en-US" sz="2400" dirty="0">
                <a:latin typeface="+mn-lt"/>
                <a:ea typeface="SimHei" panose="02010609060101010101" pitchFamily="49" charset="-122"/>
              </a:rPr>
              <a:t>、 </a:t>
            </a:r>
            <a:r>
              <a:rPr lang="en-US" altLang="zh-CN" sz="2400" dirty="0">
                <a:latin typeface="+mn-lt"/>
                <a:ea typeface="SimHei" panose="02010609060101010101" pitchFamily="49" charset="-122"/>
              </a:rPr>
              <a:t>C14</a:t>
            </a:r>
            <a:r>
              <a:rPr lang="zh-CN" altLang="en-US" sz="2400" dirty="0">
                <a:latin typeface="+mn-lt"/>
                <a:ea typeface="SimHei" panose="02010609060101010101" pitchFamily="49" charset="-122"/>
              </a:rPr>
              <a:t>酸为主，这类体系相对而言，比较温和。低黏度皂基体系的产品其稳定性比较难控制。一般其皂化度为</a:t>
            </a:r>
            <a:r>
              <a:rPr lang="en-US" altLang="zh-CN" sz="2400" dirty="0">
                <a:latin typeface="+mn-lt"/>
                <a:ea typeface="SimHei" panose="02010609060101010101" pitchFamily="49" charset="-122"/>
              </a:rPr>
              <a:t>90%</a:t>
            </a:r>
            <a:r>
              <a:rPr lang="zh-CN" altLang="en-US" sz="2400" dirty="0">
                <a:latin typeface="+mn-lt"/>
                <a:ea typeface="SimHei" panose="02010609060101010101" pitchFamily="49" charset="-122"/>
              </a:rPr>
              <a:t>～</a:t>
            </a:r>
            <a:r>
              <a:rPr lang="en-US" altLang="zh-CN" sz="2400" dirty="0">
                <a:latin typeface="+mn-lt"/>
                <a:ea typeface="SimHei" panose="02010609060101010101" pitchFamily="49" charset="-122"/>
              </a:rPr>
              <a:t>100%</a:t>
            </a:r>
            <a:r>
              <a:rPr lang="zh-CN" altLang="en-US" sz="2400" dirty="0">
                <a:latin typeface="+mn-lt"/>
                <a:ea typeface="SimHei" panose="02010609060101010101" pitchFamily="49" charset="-122"/>
              </a:rPr>
              <a:t>，大部分产品属于不完全皂化体系。</a:t>
            </a:r>
            <a:endParaRPr lang="en-US" altLang="zh-CN" sz="2400" dirty="0">
              <a:latin typeface="+mn-lt"/>
              <a:ea typeface="SimHei" panose="02010609060101010101" pitchFamily="49" charset="-122"/>
            </a:endParaRPr>
          </a:p>
          <a:p>
            <a:pPr marL="342900" indent="-342900">
              <a:lnSpc>
                <a:spcPct val="150000"/>
              </a:lnSpc>
              <a:buFont typeface="Arial" panose="020B0604020202020204" pitchFamily="34" charset="0"/>
              <a:buChar char="•"/>
            </a:pPr>
            <a:endParaRPr lang="en-US" altLang="zh-CN" sz="2400" dirty="0">
              <a:latin typeface="+mn-lt"/>
              <a:ea typeface="SimHei" panose="02010609060101010101" pitchFamily="49" charset="-122"/>
            </a:endParaRPr>
          </a:p>
          <a:p>
            <a:pPr marL="342900" indent="-342900">
              <a:lnSpc>
                <a:spcPct val="150000"/>
              </a:lnSpc>
              <a:buFont typeface="Arial" panose="020B0604020202020204" pitchFamily="34" charset="0"/>
              <a:buChar char="•"/>
            </a:pPr>
            <a:endParaRPr lang="en-US" altLang="zh-CN" sz="2400" dirty="0">
              <a:latin typeface="+mn-lt"/>
              <a:ea typeface="SimHei" panose="02010609060101010101" pitchFamily="49" charset="-122"/>
            </a:endParaRPr>
          </a:p>
          <a:p>
            <a:pPr marL="342900" indent="-342900">
              <a:lnSpc>
                <a:spcPct val="150000"/>
              </a:lnSpc>
              <a:buFont typeface="Arial" panose="020B0604020202020204" pitchFamily="34" charset="0"/>
              <a:buChar char="•"/>
            </a:pPr>
            <a:endParaRPr lang="en-US" altLang="zh-CN" sz="2400" dirty="0">
              <a:latin typeface="+mn-lt"/>
              <a:ea typeface="SimHei" panose="02010609060101010101" pitchFamily="49" charset="-122"/>
            </a:endParaRPr>
          </a:p>
          <a:p>
            <a:pPr marL="342900" indent="-342900">
              <a:lnSpc>
                <a:spcPct val="150000"/>
              </a:lnSpc>
              <a:buFont typeface="Arial" panose="020B0604020202020204" pitchFamily="34" charset="0"/>
              <a:buChar char="•"/>
            </a:pPr>
            <a:endParaRPr lang="en-US" altLang="zh-CN" sz="2400" dirty="0">
              <a:latin typeface="+mn-lt"/>
              <a:ea typeface="SimHei" panose="02010609060101010101" pitchFamily="49" charset="-122"/>
            </a:endParaRPr>
          </a:p>
          <a:p>
            <a:pPr marL="342900" indent="-342900">
              <a:lnSpc>
                <a:spcPct val="150000"/>
              </a:lnSpc>
              <a:buFont typeface="Arial" panose="020B0604020202020204" pitchFamily="34" charset="0"/>
              <a:buChar char="•"/>
            </a:pPr>
            <a:endParaRPr lang="en-US" altLang="zh-CN" sz="2400" dirty="0">
              <a:latin typeface="+mn-lt"/>
              <a:ea typeface="SimHei" panose="02010609060101010101" pitchFamily="49" charset="-122"/>
            </a:endParaRPr>
          </a:p>
          <a:p>
            <a:pPr marL="354965" marR="0" eaLnBrk="0">
              <a:spcBef>
                <a:spcPts val="460"/>
              </a:spcBef>
              <a:spcAft>
                <a:spcPts val="0"/>
              </a:spcAft>
            </a:pPr>
            <a:endParaRPr lang="en-US" altLang="zh-CN" sz="2400" dirty="0">
              <a:latin typeface="+mn-lt"/>
              <a:ea typeface="SimHei" panose="02010609060101010101" pitchFamily="49" charset="-122"/>
            </a:endParaRPr>
          </a:p>
          <a:p>
            <a:pPr marL="354965" marR="0" eaLnBrk="0">
              <a:lnSpc>
                <a:spcPts val="2270"/>
              </a:lnSpc>
              <a:spcBef>
                <a:spcPts val="460"/>
              </a:spcBef>
              <a:spcAft>
                <a:spcPts val="0"/>
              </a:spcAft>
            </a:pPr>
            <a:endParaRPr lang="en-US" sz="1800" spc="30" dirty="0">
              <a:solidFill>
                <a:srgbClr val="000000"/>
              </a:solidFill>
              <a:effectLst/>
              <a:latin typeface="KaiTi" panose="02010609060101010101" pitchFamily="49" charset="-122"/>
              <a:ea typeface="KaiTi" panose="02010609060101010101" pitchFamily="49" charset="-122"/>
              <a:cs typeface="SimSun" panose="02010600030101010101" pitchFamily="2" charset="-122"/>
            </a:endParaRPr>
          </a:p>
          <a:p>
            <a:pPr marL="354965" marR="0" eaLnBrk="0">
              <a:lnSpc>
                <a:spcPts val="2270"/>
              </a:lnSpc>
              <a:spcBef>
                <a:spcPts val="460"/>
              </a:spcBef>
              <a:spcAft>
                <a:spcPts val="0"/>
              </a:spcAft>
            </a:pPr>
            <a:endParaRPr lang="en-US" spc="30" dirty="0">
              <a:solidFill>
                <a:srgbClr val="000000"/>
              </a:solidFill>
              <a:latin typeface="KaiTi" panose="02010609060101010101" pitchFamily="49" charset="-122"/>
              <a:ea typeface="KaiTi" panose="02010609060101010101" pitchFamily="49" charset="-122"/>
              <a:cs typeface="SimSun" panose="02010600030101010101" pitchFamily="2" charset="-122"/>
            </a:endParaRPr>
          </a:p>
          <a:p>
            <a:pPr marL="354965" marR="0" eaLnBrk="0">
              <a:lnSpc>
                <a:spcPts val="2270"/>
              </a:lnSpc>
              <a:spcBef>
                <a:spcPts val="460"/>
              </a:spcBef>
              <a:spcAft>
                <a:spcPts val="0"/>
              </a:spcAft>
            </a:pPr>
            <a:endParaRPr lang="en-US" sz="1800" dirty="0">
              <a:solidFill>
                <a:srgbClr val="000000"/>
              </a:solidFill>
              <a:effectLst/>
              <a:latin typeface="KaiTi" panose="02010609060101010101" pitchFamily="49" charset="-122"/>
              <a:ea typeface="KaiTi" panose="02010609060101010101" pitchFamily="49" charset="-122"/>
            </a:endParaRPr>
          </a:p>
          <a:p>
            <a:pPr marL="342900" indent="-342900">
              <a:lnSpc>
                <a:spcPct val="150000"/>
              </a:lnSpc>
              <a:buFont typeface="Arial" panose="020B0604020202020204" pitchFamily="34" charset="0"/>
              <a:buChar char="•"/>
            </a:pPr>
            <a:endParaRPr lang="en-US" altLang="zh-CN" sz="2400" dirty="0">
              <a:latin typeface="+mn-lt"/>
              <a:ea typeface="SimHei" panose="02010609060101010101" pitchFamily="49" charset="-122"/>
            </a:endParaRPr>
          </a:p>
        </p:txBody>
      </p:sp>
      <p:graphicFrame>
        <p:nvGraphicFramePr>
          <p:cNvPr id="5" name="表格 4">
            <a:extLst>
              <a:ext uri="{FF2B5EF4-FFF2-40B4-BE49-F238E27FC236}">
                <a16:creationId xmlns:a16="http://schemas.microsoft.com/office/drawing/2014/main" id="{673C243E-BE52-49E5-BDAA-FF294BEDA2F7}"/>
              </a:ext>
            </a:extLst>
          </p:cNvPr>
          <p:cNvGraphicFramePr>
            <a:graphicFrameLocks noGrp="1"/>
          </p:cNvGraphicFramePr>
          <p:nvPr>
            <p:extLst>
              <p:ext uri="{D42A27DB-BD31-4B8C-83A1-F6EECF244321}">
                <p14:modId xmlns:p14="http://schemas.microsoft.com/office/powerpoint/2010/main" val="1990948379"/>
              </p:ext>
            </p:extLst>
          </p:nvPr>
        </p:nvGraphicFramePr>
        <p:xfrm>
          <a:off x="182880" y="3497707"/>
          <a:ext cx="8778240" cy="2795447"/>
        </p:xfrm>
        <a:graphic>
          <a:graphicData uri="http://schemas.openxmlformats.org/drawingml/2006/table">
            <a:tbl>
              <a:tblPr firstRow="1" firstCol="1" bandRow="1">
                <a:tableStyleId>{72833802-FEF1-4C79-8D5D-14CF1EAF98D9}</a:tableStyleId>
              </a:tblPr>
              <a:tblGrid>
                <a:gridCol w="866552">
                  <a:extLst>
                    <a:ext uri="{9D8B030D-6E8A-4147-A177-3AD203B41FA5}">
                      <a16:colId xmlns:a16="http://schemas.microsoft.com/office/drawing/2014/main" val="36247379"/>
                    </a:ext>
                  </a:extLst>
                </a:gridCol>
                <a:gridCol w="1711968">
                  <a:extLst>
                    <a:ext uri="{9D8B030D-6E8A-4147-A177-3AD203B41FA5}">
                      <a16:colId xmlns:a16="http://schemas.microsoft.com/office/drawing/2014/main" val="2821075965"/>
                    </a:ext>
                  </a:extLst>
                </a:gridCol>
                <a:gridCol w="1049725">
                  <a:extLst>
                    <a:ext uri="{9D8B030D-6E8A-4147-A177-3AD203B41FA5}">
                      <a16:colId xmlns:a16="http://schemas.microsoft.com/office/drawing/2014/main" val="73079364"/>
                    </a:ext>
                  </a:extLst>
                </a:gridCol>
                <a:gridCol w="2064225">
                  <a:extLst>
                    <a:ext uri="{9D8B030D-6E8A-4147-A177-3AD203B41FA5}">
                      <a16:colId xmlns:a16="http://schemas.microsoft.com/office/drawing/2014/main" val="402178560"/>
                    </a:ext>
                  </a:extLst>
                </a:gridCol>
                <a:gridCol w="2064225">
                  <a:extLst>
                    <a:ext uri="{9D8B030D-6E8A-4147-A177-3AD203B41FA5}">
                      <a16:colId xmlns:a16="http://schemas.microsoft.com/office/drawing/2014/main" val="689049641"/>
                    </a:ext>
                  </a:extLst>
                </a:gridCol>
                <a:gridCol w="1021545">
                  <a:extLst>
                    <a:ext uri="{9D8B030D-6E8A-4147-A177-3AD203B41FA5}">
                      <a16:colId xmlns:a16="http://schemas.microsoft.com/office/drawing/2014/main" val="3403099411"/>
                    </a:ext>
                  </a:extLst>
                </a:gridCol>
              </a:tblGrid>
              <a:tr h="326478">
                <a:tc>
                  <a:txBody>
                    <a:bodyPr/>
                    <a:lstStyle/>
                    <a:p>
                      <a:pPr marL="177800" marR="0" eaLnBrk="0">
                        <a:lnSpc>
                          <a:spcPct val="92000"/>
                        </a:lnSpc>
                        <a:spcBef>
                          <a:spcPts val="635"/>
                        </a:spcBef>
                        <a:spcAft>
                          <a:spcPts val="0"/>
                        </a:spcAft>
                      </a:pPr>
                      <a:r>
                        <a:rPr lang="zh-CN" sz="1600" spc="45" dirty="0">
                          <a:effectLst/>
                        </a:rPr>
                        <a:t>组相</a:t>
                      </a:r>
                      <a:endParaRPr lang="en-US" sz="1600" dirty="0">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498475" marR="0" eaLnBrk="0">
                        <a:lnSpc>
                          <a:spcPct val="91000"/>
                        </a:lnSpc>
                        <a:spcBef>
                          <a:spcPts val="620"/>
                        </a:spcBef>
                        <a:spcAft>
                          <a:spcPts val="0"/>
                        </a:spcAft>
                      </a:pPr>
                      <a:r>
                        <a:rPr lang="zh-CN" sz="1600" spc="10">
                          <a:effectLst/>
                        </a:rPr>
                        <a:t>原料名称</a:t>
                      </a:r>
                      <a:endParaRPr lang="en-US" sz="1600">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117475" marR="0" eaLnBrk="0">
                        <a:lnSpc>
                          <a:spcPct val="91000"/>
                        </a:lnSpc>
                        <a:spcBef>
                          <a:spcPts val="620"/>
                        </a:spcBef>
                        <a:spcAft>
                          <a:spcPts val="0"/>
                        </a:spcAft>
                      </a:pPr>
                      <a:r>
                        <a:rPr lang="zh-CN" sz="1600" spc="-10">
                          <a:effectLst/>
                        </a:rPr>
                        <a:t>质量分数</a:t>
                      </a:r>
                      <a:r>
                        <a:rPr lang="en-US" sz="1600" spc="-10">
                          <a:effectLst/>
                        </a:rPr>
                        <a:t>/%</a:t>
                      </a:r>
                      <a:endParaRPr lang="en-US" sz="1600">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244475" marR="0" eaLnBrk="0">
                        <a:lnSpc>
                          <a:spcPct val="92000"/>
                        </a:lnSpc>
                        <a:spcBef>
                          <a:spcPts val="635"/>
                        </a:spcBef>
                        <a:spcAft>
                          <a:spcPts val="0"/>
                        </a:spcAft>
                      </a:pPr>
                      <a:r>
                        <a:rPr lang="zh-CN" sz="1600" spc="45">
                          <a:effectLst/>
                        </a:rPr>
                        <a:t>组相</a:t>
                      </a:r>
                      <a:endParaRPr lang="en-US" sz="1600">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650875" marR="0" eaLnBrk="0">
                        <a:lnSpc>
                          <a:spcPct val="91000"/>
                        </a:lnSpc>
                        <a:spcBef>
                          <a:spcPts val="620"/>
                        </a:spcBef>
                        <a:spcAft>
                          <a:spcPts val="0"/>
                        </a:spcAft>
                      </a:pPr>
                      <a:r>
                        <a:rPr lang="zh-CN" sz="1600" spc="10">
                          <a:effectLst/>
                        </a:rPr>
                        <a:t>原料名称</a:t>
                      </a:r>
                      <a:endParaRPr lang="en-US" sz="1600">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104775" marR="0" eaLnBrk="0">
                        <a:lnSpc>
                          <a:spcPct val="91000"/>
                        </a:lnSpc>
                        <a:spcBef>
                          <a:spcPts val="620"/>
                        </a:spcBef>
                        <a:spcAft>
                          <a:spcPts val="0"/>
                        </a:spcAft>
                      </a:pPr>
                      <a:r>
                        <a:rPr lang="zh-CN" sz="1600" spc="-10">
                          <a:effectLst/>
                        </a:rPr>
                        <a:t>质量分数</a:t>
                      </a:r>
                      <a:r>
                        <a:rPr lang="en-US" sz="1600" spc="-10">
                          <a:effectLst/>
                        </a:rPr>
                        <a:t>/%</a:t>
                      </a:r>
                      <a:endParaRPr lang="en-US" sz="1600">
                        <a:solidFill>
                          <a:srgbClr val="000000"/>
                        </a:solidFill>
                        <a:effectLst/>
                        <a:latin typeface="Arial" panose="020B0604020202020204" pitchFamily="34" charset="0"/>
                        <a:ea typeface="Arial" panose="020B0604020202020204" pitchFamily="34" charset="0"/>
                      </a:endParaRPr>
                    </a:p>
                  </a:txBody>
                  <a:tcPr marL="0" marR="0" marT="0" marB="0"/>
                </a:tc>
                <a:extLst>
                  <a:ext uri="{0D108BD9-81ED-4DB2-BD59-A6C34878D82A}">
                    <a16:rowId xmlns:a16="http://schemas.microsoft.com/office/drawing/2014/main" val="1175064236"/>
                  </a:ext>
                </a:extLst>
              </a:tr>
              <a:tr h="609597">
                <a:tc rowSpan="2">
                  <a:txBody>
                    <a:bodyPr/>
                    <a:lstStyle/>
                    <a:p>
                      <a:pPr marL="0" marR="0" eaLnBrk="0">
                        <a:lnSpc>
                          <a:spcPct val="149000"/>
                        </a:lnSpc>
                        <a:spcBef>
                          <a:spcPts val="0"/>
                        </a:spcBef>
                        <a:spcAft>
                          <a:spcPts val="0"/>
                        </a:spcAft>
                      </a:pPr>
                      <a:r>
                        <a:rPr lang="en-US" sz="1600" dirty="0">
                          <a:effectLst/>
                        </a:rPr>
                        <a:t> </a:t>
                      </a:r>
                    </a:p>
                    <a:p>
                      <a:pPr marL="0" marR="0" eaLnBrk="0">
                        <a:lnSpc>
                          <a:spcPct val="149000"/>
                        </a:lnSpc>
                        <a:spcBef>
                          <a:spcPts val="0"/>
                        </a:spcBef>
                        <a:spcAft>
                          <a:spcPts val="0"/>
                        </a:spcAft>
                      </a:pPr>
                      <a:r>
                        <a:rPr lang="en-US" sz="1600" dirty="0">
                          <a:effectLst/>
                        </a:rPr>
                        <a:t> </a:t>
                      </a:r>
                    </a:p>
                    <a:p>
                      <a:pPr marL="209550" marR="0" eaLnBrk="0">
                        <a:lnSpc>
                          <a:spcPct val="92000"/>
                        </a:lnSpc>
                        <a:spcBef>
                          <a:spcPts val="355"/>
                        </a:spcBef>
                        <a:spcAft>
                          <a:spcPts val="0"/>
                        </a:spcAft>
                      </a:pPr>
                      <a:r>
                        <a:rPr lang="en-US" sz="1600" spc="-5" dirty="0">
                          <a:effectLst/>
                        </a:rPr>
                        <a:t>A</a:t>
                      </a:r>
                      <a:r>
                        <a:rPr lang="zh-CN" sz="1600" spc="-5" dirty="0">
                          <a:effectLst/>
                        </a:rPr>
                        <a:t>相</a:t>
                      </a:r>
                      <a:endParaRPr lang="en-US" sz="1600" dirty="0">
                        <a:solidFill>
                          <a:srgbClr val="000000"/>
                        </a:solidFill>
                        <a:effectLst/>
                        <a:latin typeface="Arial" panose="020B0604020202020204" pitchFamily="34" charset="0"/>
                        <a:ea typeface="Arial" panose="020B0604020202020204" pitchFamily="34" charset="0"/>
                      </a:endParaRPr>
                    </a:p>
                  </a:txBody>
                  <a:tcPr marL="0" marR="0" marT="0" marB="0"/>
                </a:tc>
                <a:tc rowSpan="2">
                  <a:txBody>
                    <a:bodyPr/>
                    <a:lstStyle/>
                    <a:p>
                      <a:pPr marL="104775" marR="0" eaLnBrk="0">
                        <a:lnSpc>
                          <a:spcPct val="91000"/>
                        </a:lnSpc>
                        <a:spcBef>
                          <a:spcPts val="450"/>
                        </a:spcBef>
                        <a:spcAft>
                          <a:spcPts val="0"/>
                        </a:spcAft>
                      </a:pPr>
                      <a:r>
                        <a:rPr lang="zh-CN" sz="1600" spc="-10">
                          <a:effectLst/>
                        </a:rPr>
                        <a:t>棕榈酸</a:t>
                      </a:r>
                      <a:endParaRPr lang="en-US" sz="1600">
                        <a:effectLst/>
                      </a:endParaRPr>
                    </a:p>
                    <a:p>
                      <a:pPr marL="104775" marR="0" eaLnBrk="0">
                        <a:lnSpc>
                          <a:spcPts val="2150"/>
                        </a:lnSpc>
                        <a:spcBef>
                          <a:spcPts val="1090"/>
                        </a:spcBef>
                        <a:spcAft>
                          <a:spcPts val="0"/>
                        </a:spcAft>
                      </a:pPr>
                      <a:r>
                        <a:rPr lang="zh-CN" sz="1600" spc="10">
                          <a:effectLst/>
                        </a:rPr>
                        <a:t>肉豆蔻酸</a:t>
                      </a:r>
                      <a:endParaRPr lang="en-US" sz="1600">
                        <a:effectLst/>
                      </a:endParaRPr>
                    </a:p>
                    <a:p>
                      <a:pPr marL="104775" marR="0" eaLnBrk="0">
                        <a:lnSpc>
                          <a:spcPct val="91000"/>
                        </a:lnSpc>
                        <a:spcBef>
                          <a:spcPts val="0"/>
                        </a:spcBef>
                        <a:spcAft>
                          <a:spcPts val="0"/>
                        </a:spcAft>
                      </a:pPr>
                      <a:r>
                        <a:rPr lang="zh-CN" sz="1600" spc="15">
                          <a:effectLst/>
                        </a:rPr>
                        <a:t>月桂酸</a:t>
                      </a:r>
                      <a:endParaRPr lang="en-US" sz="1600">
                        <a:effectLst/>
                      </a:endParaRPr>
                    </a:p>
                    <a:p>
                      <a:pPr marL="104775" marR="0" eaLnBrk="0">
                        <a:lnSpc>
                          <a:spcPct val="91000"/>
                        </a:lnSpc>
                        <a:spcBef>
                          <a:spcPts val="995"/>
                        </a:spcBef>
                        <a:spcAft>
                          <a:spcPts val="0"/>
                        </a:spcAft>
                      </a:pPr>
                      <a:r>
                        <a:rPr lang="zh-CN" sz="1600" spc="5">
                          <a:effectLst/>
                        </a:rPr>
                        <a:t>乙二醇二硬脂酸酯</a:t>
                      </a:r>
                      <a:endParaRPr lang="en-US" sz="1600">
                        <a:solidFill>
                          <a:srgbClr val="000000"/>
                        </a:solidFill>
                        <a:effectLst/>
                        <a:latin typeface="Arial" panose="020B0604020202020204" pitchFamily="34" charset="0"/>
                        <a:ea typeface="Arial" panose="020B0604020202020204" pitchFamily="34" charset="0"/>
                      </a:endParaRPr>
                    </a:p>
                  </a:txBody>
                  <a:tcPr marL="0" marR="0" marT="0" marB="0"/>
                </a:tc>
                <a:tc rowSpan="2">
                  <a:txBody>
                    <a:bodyPr/>
                    <a:lstStyle/>
                    <a:p>
                      <a:pPr marL="365125" marR="0" eaLnBrk="0">
                        <a:lnSpc>
                          <a:spcPts val="2400"/>
                        </a:lnSpc>
                        <a:spcBef>
                          <a:spcPts val="775"/>
                        </a:spcBef>
                        <a:spcAft>
                          <a:spcPts val="0"/>
                        </a:spcAft>
                      </a:pPr>
                      <a:r>
                        <a:rPr lang="en-US" sz="1600" spc="-30">
                          <a:effectLst/>
                        </a:rPr>
                        <a:t>1.0</a:t>
                      </a:r>
                      <a:endParaRPr lang="en-US" sz="1600">
                        <a:effectLst/>
                      </a:endParaRPr>
                    </a:p>
                    <a:p>
                      <a:pPr marL="327025" marR="0" eaLnBrk="0">
                        <a:lnSpc>
                          <a:spcPct val="76000"/>
                        </a:lnSpc>
                        <a:spcBef>
                          <a:spcPts val="0"/>
                        </a:spcBef>
                        <a:spcAft>
                          <a:spcPts val="0"/>
                        </a:spcAft>
                      </a:pPr>
                      <a:r>
                        <a:rPr lang="en-US" sz="1600" spc="-25">
                          <a:effectLst/>
                        </a:rPr>
                        <a:t>10.0</a:t>
                      </a:r>
                      <a:endParaRPr lang="en-US" sz="1600">
                        <a:effectLst/>
                      </a:endParaRPr>
                    </a:p>
                    <a:p>
                      <a:pPr marL="365125" marR="0" eaLnBrk="0">
                        <a:lnSpc>
                          <a:spcPct val="76000"/>
                        </a:lnSpc>
                        <a:spcBef>
                          <a:spcPts val="1005"/>
                        </a:spcBef>
                        <a:spcAft>
                          <a:spcPts val="0"/>
                        </a:spcAft>
                      </a:pPr>
                      <a:r>
                        <a:rPr lang="en-US" sz="1600" spc="-15">
                          <a:effectLst/>
                        </a:rPr>
                        <a:t>9.0</a:t>
                      </a:r>
                      <a:endParaRPr lang="en-US" sz="1600">
                        <a:effectLst/>
                      </a:endParaRPr>
                    </a:p>
                    <a:p>
                      <a:pPr marL="365125" marR="0" eaLnBrk="0">
                        <a:lnSpc>
                          <a:spcPct val="76000"/>
                        </a:lnSpc>
                        <a:spcBef>
                          <a:spcPts val="1160"/>
                        </a:spcBef>
                        <a:spcAft>
                          <a:spcPts val="0"/>
                        </a:spcAft>
                      </a:pPr>
                      <a:r>
                        <a:rPr lang="en-US" sz="1600" spc="-15">
                          <a:effectLst/>
                        </a:rPr>
                        <a:t>2.0</a:t>
                      </a:r>
                      <a:endParaRPr lang="en-US" sz="1600">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0" marR="0" eaLnBrk="0">
                        <a:lnSpc>
                          <a:spcPct val="112000"/>
                        </a:lnSpc>
                        <a:spcBef>
                          <a:spcPts val="0"/>
                        </a:spcBef>
                        <a:spcAft>
                          <a:spcPts val="0"/>
                        </a:spcAft>
                      </a:pPr>
                      <a:r>
                        <a:rPr lang="en-US" sz="1600" b="1" dirty="0">
                          <a:effectLst/>
                        </a:rPr>
                        <a:t> </a:t>
                      </a:r>
                    </a:p>
                    <a:p>
                      <a:pPr marL="282575" marR="0" eaLnBrk="0">
                        <a:lnSpc>
                          <a:spcPct val="92000"/>
                        </a:lnSpc>
                        <a:spcBef>
                          <a:spcPts val="360"/>
                        </a:spcBef>
                        <a:spcAft>
                          <a:spcPts val="0"/>
                        </a:spcAft>
                      </a:pPr>
                      <a:r>
                        <a:rPr lang="en-US" sz="1600" b="1" spc="45" dirty="0">
                          <a:effectLst/>
                        </a:rPr>
                        <a:t>B</a:t>
                      </a:r>
                      <a:r>
                        <a:rPr lang="zh-CN" sz="1600" b="1" spc="45" dirty="0">
                          <a:effectLst/>
                        </a:rPr>
                        <a:t>相</a:t>
                      </a:r>
                      <a:endParaRPr lang="en-US" sz="1600" b="1" dirty="0">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111125" marR="0" eaLnBrk="0">
                        <a:lnSpc>
                          <a:spcPts val="2255"/>
                        </a:lnSpc>
                        <a:spcBef>
                          <a:spcPts val="545"/>
                        </a:spcBef>
                        <a:spcAft>
                          <a:spcPts val="0"/>
                        </a:spcAft>
                      </a:pPr>
                      <a:r>
                        <a:rPr lang="zh-CN" sz="1600" spc="-5">
                          <a:effectLst/>
                        </a:rPr>
                        <a:t>羟丙基甲基纤维素</a:t>
                      </a:r>
                      <a:endParaRPr lang="en-US" sz="1600">
                        <a:effectLst/>
                      </a:endParaRPr>
                    </a:p>
                    <a:p>
                      <a:pPr marL="111125" marR="0" eaLnBrk="0">
                        <a:lnSpc>
                          <a:spcPct val="91000"/>
                        </a:lnSpc>
                        <a:spcBef>
                          <a:spcPts val="0"/>
                        </a:spcBef>
                        <a:spcAft>
                          <a:spcPts val="0"/>
                        </a:spcAft>
                      </a:pPr>
                      <a:r>
                        <a:rPr lang="zh-CN" sz="1600" spc="55">
                          <a:effectLst/>
                        </a:rPr>
                        <a:t>甘油</a:t>
                      </a:r>
                      <a:endParaRPr lang="en-US" sz="1600">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352425" marR="0" eaLnBrk="0">
                        <a:lnSpc>
                          <a:spcPts val="2100"/>
                        </a:lnSpc>
                        <a:spcBef>
                          <a:spcPts val="980"/>
                        </a:spcBef>
                        <a:spcAft>
                          <a:spcPts val="0"/>
                        </a:spcAft>
                      </a:pPr>
                      <a:r>
                        <a:rPr lang="en-US" sz="1600" spc="-15">
                          <a:effectLst/>
                        </a:rPr>
                        <a:t>0.2</a:t>
                      </a:r>
                      <a:endParaRPr lang="en-US" sz="1600">
                        <a:effectLst/>
                      </a:endParaRPr>
                    </a:p>
                    <a:p>
                      <a:pPr marL="352425" marR="0" eaLnBrk="0">
                        <a:lnSpc>
                          <a:spcPct val="76000"/>
                        </a:lnSpc>
                        <a:spcBef>
                          <a:spcPts val="0"/>
                        </a:spcBef>
                        <a:spcAft>
                          <a:spcPts val="0"/>
                        </a:spcAft>
                      </a:pPr>
                      <a:r>
                        <a:rPr lang="en-US" sz="1600" spc="-15">
                          <a:effectLst/>
                        </a:rPr>
                        <a:t>2.0</a:t>
                      </a:r>
                      <a:endParaRPr lang="en-US" sz="1600">
                        <a:solidFill>
                          <a:srgbClr val="000000"/>
                        </a:solidFill>
                        <a:effectLst/>
                        <a:latin typeface="Arial" panose="020B0604020202020204" pitchFamily="34" charset="0"/>
                        <a:ea typeface="Arial" panose="020B0604020202020204" pitchFamily="34" charset="0"/>
                      </a:endParaRPr>
                    </a:p>
                  </a:txBody>
                  <a:tcPr marL="0" marR="0" marT="0" marB="0"/>
                </a:tc>
                <a:extLst>
                  <a:ext uri="{0D108BD9-81ED-4DB2-BD59-A6C34878D82A}">
                    <a16:rowId xmlns:a16="http://schemas.microsoft.com/office/drawing/2014/main" val="638855710"/>
                  </a:ext>
                </a:extLst>
              </a:tr>
              <a:tr h="788466">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eaLnBrk="0">
                        <a:lnSpc>
                          <a:spcPct val="113000"/>
                        </a:lnSpc>
                        <a:spcBef>
                          <a:spcPts val="0"/>
                        </a:spcBef>
                        <a:spcAft>
                          <a:spcPts val="0"/>
                        </a:spcAft>
                      </a:pPr>
                      <a:r>
                        <a:rPr lang="en-US" sz="1600" b="1" dirty="0">
                          <a:effectLst/>
                        </a:rPr>
                        <a:t> </a:t>
                      </a:r>
                    </a:p>
                    <a:p>
                      <a:pPr marL="282575" marR="0" eaLnBrk="0">
                        <a:lnSpc>
                          <a:spcPct val="92000"/>
                        </a:lnSpc>
                        <a:spcBef>
                          <a:spcPts val="360"/>
                        </a:spcBef>
                        <a:spcAft>
                          <a:spcPts val="0"/>
                        </a:spcAft>
                      </a:pPr>
                      <a:r>
                        <a:rPr lang="en-US" sz="1600" b="1" spc="45" dirty="0">
                          <a:effectLst/>
                        </a:rPr>
                        <a:t>C</a:t>
                      </a:r>
                      <a:r>
                        <a:rPr lang="zh-CN" sz="1600" b="1" spc="45" dirty="0">
                          <a:effectLst/>
                        </a:rPr>
                        <a:t>相</a:t>
                      </a:r>
                      <a:endParaRPr lang="en-US" sz="1600" b="1" dirty="0">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111125" marR="0" eaLnBrk="0">
                        <a:lnSpc>
                          <a:spcPts val="2250"/>
                        </a:lnSpc>
                        <a:spcBef>
                          <a:spcPts val="560"/>
                        </a:spcBef>
                        <a:spcAft>
                          <a:spcPts val="0"/>
                        </a:spcAft>
                      </a:pPr>
                      <a:r>
                        <a:rPr lang="zh-CN" sz="1600" spc="15">
                          <a:effectLst/>
                        </a:rPr>
                        <a:t>月桂基聚醚硫酸酯钠</a:t>
                      </a:r>
                      <a:r>
                        <a:rPr lang="en-US" sz="1600" spc="15">
                          <a:effectLst/>
                        </a:rPr>
                        <a:t>(70%)</a:t>
                      </a:r>
                      <a:endParaRPr lang="en-US" sz="1600">
                        <a:effectLst/>
                      </a:endParaRPr>
                    </a:p>
                    <a:p>
                      <a:pPr marL="111125" marR="0" eaLnBrk="0">
                        <a:lnSpc>
                          <a:spcPct val="91000"/>
                        </a:lnSpc>
                        <a:spcBef>
                          <a:spcPts val="0"/>
                        </a:spcBef>
                        <a:spcAft>
                          <a:spcPts val="0"/>
                        </a:spcAft>
                      </a:pPr>
                      <a:r>
                        <a:rPr lang="zh-CN" sz="1600" spc="-5">
                          <a:effectLst/>
                        </a:rPr>
                        <a:t>椰油酰胺丙基甜菜碱</a:t>
                      </a:r>
                      <a:endParaRPr lang="en-US" sz="1600">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352425" marR="0" eaLnBrk="0">
                        <a:lnSpc>
                          <a:spcPts val="2290"/>
                        </a:lnSpc>
                        <a:spcBef>
                          <a:spcPts val="805"/>
                        </a:spcBef>
                        <a:spcAft>
                          <a:spcPts val="0"/>
                        </a:spcAft>
                      </a:pPr>
                      <a:r>
                        <a:rPr lang="en-US" sz="1600" spc="-20">
                          <a:effectLst/>
                        </a:rPr>
                        <a:t>7.5</a:t>
                      </a:r>
                      <a:endParaRPr lang="en-US" sz="1600">
                        <a:effectLst/>
                      </a:endParaRPr>
                    </a:p>
                    <a:p>
                      <a:pPr marL="352425" marR="0" eaLnBrk="0">
                        <a:lnSpc>
                          <a:spcPct val="76000"/>
                        </a:lnSpc>
                        <a:spcBef>
                          <a:spcPts val="0"/>
                        </a:spcBef>
                        <a:spcAft>
                          <a:spcPts val="0"/>
                        </a:spcAft>
                      </a:pPr>
                      <a:r>
                        <a:rPr lang="en-US" sz="1600" spc="-15">
                          <a:effectLst/>
                        </a:rPr>
                        <a:t>2.5</a:t>
                      </a:r>
                      <a:endParaRPr lang="en-US" sz="1600">
                        <a:solidFill>
                          <a:srgbClr val="000000"/>
                        </a:solidFill>
                        <a:effectLst/>
                        <a:latin typeface="Arial" panose="020B0604020202020204" pitchFamily="34" charset="0"/>
                        <a:ea typeface="Arial" panose="020B0604020202020204" pitchFamily="34" charset="0"/>
                      </a:endParaRPr>
                    </a:p>
                  </a:txBody>
                  <a:tcPr marL="0" marR="0" marT="0" marB="0"/>
                </a:tc>
                <a:extLst>
                  <a:ext uri="{0D108BD9-81ED-4DB2-BD59-A6C34878D82A}">
                    <a16:rowId xmlns:a16="http://schemas.microsoft.com/office/drawing/2014/main" val="2340462290"/>
                  </a:ext>
                </a:extLst>
              </a:tr>
              <a:tr h="918133">
                <a:tc>
                  <a:txBody>
                    <a:bodyPr/>
                    <a:lstStyle/>
                    <a:p>
                      <a:pPr marL="0" marR="0" eaLnBrk="0">
                        <a:lnSpc>
                          <a:spcPct val="105000"/>
                        </a:lnSpc>
                        <a:spcBef>
                          <a:spcPts val="0"/>
                        </a:spcBef>
                        <a:spcAft>
                          <a:spcPts val="0"/>
                        </a:spcAft>
                      </a:pPr>
                      <a:r>
                        <a:rPr lang="en-US" sz="1600" dirty="0">
                          <a:effectLst/>
                        </a:rPr>
                        <a:t> </a:t>
                      </a:r>
                    </a:p>
                    <a:p>
                      <a:pPr marL="0" marR="0" eaLnBrk="0">
                        <a:lnSpc>
                          <a:spcPct val="105000"/>
                        </a:lnSpc>
                        <a:spcBef>
                          <a:spcPts val="0"/>
                        </a:spcBef>
                        <a:spcAft>
                          <a:spcPts val="0"/>
                        </a:spcAft>
                      </a:pPr>
                      <a:r>
                        <a:rPr lang="en-US" sz="1600" dirty="0">
                          <a:effectLst/>
                        </a:rPr>
                        <a:t> </a:t>
                      </a:r>
                    </a:p>
                    <a:p>
                      <a:pPr marL="209550" marR="0" eaLnBrk="0">
                        <a:lnSpc>
                          <a:spcPct val="92000"/>
                        </a:lnSpc>
                        <a:spcBef>
                          <a:spcPts val="355"/>
                        </a:spcBef>
                        <a:spcAft>
                          <a:spcPts val="0"/>
                        </a:spcAft>
                      </a:pPr>
                      <a:r>
                        <a:rPr lang="en-US" sz="1600" spc="45" dirty="0">
                          <a:effectLst/>
                        </a:rPr>
                        <a:t>B</a:t>
                      </a:r>
                      <a:r>
                        <a:rPr lang="zh-CN" sz="1600" spc="45" dirty="0">
                          <a:effectLst/>
                        </a:rPr>
                        <a:t>相</a:t>
                      </a:r>
                      <a:endParaRPr lang="en-US" sz="1600" dirty="0">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104775" marR="0" eaLnBrk="0">
                        <a:lnSpc>
                          <a:spcPct val="91000"/>
                        </a:lnSpc>
                        <a:spcBef>
                          <a:spcPts val="530"/>
                        </a:spcBef>
                        <a:spcAft>
                          <a:spcPts val="0"/>
                        </a:spcAft>
                      </a:pPr>
                      <a:r>
                        <a:rPr lang="zh-CN" sz="1600" dirty="0">
                          <a:effectLst/>
                        </a:rPr>
                        <a:t>水</a:t>
                      </a:r>
                      <a:endParaRPr lang="en-US" sz="1600" dirty="0">
                        <a:effectLst/>
                      </a:endParaRPr>
                    </a:p>
                    <a:p>
                      <a:pPr marL="104775" marR="0" eaLnBrk="0">
                        <a:lnSpc>
                          <a:spcPts val="2310"/>
                        </a:lnSpc>
                        <a:spcBef>
                          <a:spcPts val="935"/>
                        </a:spcBef>
                        <a:spcAft>
                          <a:spcPts val="0"/>
                        </a:spcAft>
                      </a:pPr>
                      <a:r>
                        <a:rPr lang="zh-CN" sz="1600" spc="20" dirty="0">
                          <a:effectLst/>
                        </a:rPr>
                        <a:t>氢氧化钾</a:t>
                      </a:r>
                      <a:endParaRPr lang="en-US" sz="1600" dirty="0">
                        <a:effectLst/>
                      </a:endParaRPr>
                    </a:p>
                    <a:p>
                      <a:pPr marL="104775" marR="0" eaLnBrk="0">
                        <a:lnSpc>
                          <a:spcPct val="91000"/>
                        </a:lnSpc>
                        <a:spcBef>
                          <a:spcPts val="0"/>
                        </a:spcBef>
                        <a:spcAft>
                          <a:spcPts val="0"/>
                        </a:spcAft>
                      </a:pPr>
                      <a:r>
                        <a:rPr lang="zh-CN" sz="1600" spc="15" dirty="0">
                          <a:effectLst/>
                        </a:rPr>
                        <a:t>丙二醇</a:t>
                      </a:r>
                      <a:endParaRPr lang="en-US" sz="1600" dirty="0">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225425" marR="0" eaLnBrk="0">
                        <a:lnSpc>
                          <a:spcPts val="2560"/>
                        </a:lnSpc>
                        <a:spcBef>
                          <a:spcPts val="550"/>
                        </a:spcBef>
                        <a:spcAft>
                          <a:spcPts val="0"/>
                        </a:spcAft>
                      </a:pPr>
                      <a:r>
                        <a:rPr lang="zh-CN" sz="1600" spc="-10" dirty="0">
                          <a:effectLst/>
                        </a:rPr>
                        <a:t>加至</a:t>
                      </a:r>
                      <a:r>
                        <a:rPr lang="en-US" sz="1600" spc="-10" dirty="0">
                          <a:effectLst/>
                        </a:rPr>
                        <a:t>100</a:t>
                      </a:r>
                      <a:endParaRPr lang="en-US" sz="1600" dirty="0">
                        <a:effectLst/>
                      </a:endParaRPr>
                    </a:p>
                    <a:p>
                      <a:pPr marL="365125" marR="0" eaLnBrk="0">
                        <a:lnSpc>
                          <a:spcPct val="76000"/>
                        </a:lnSpc>
                        <a:spcBef>
                          <a:spcPts val="0"/>
                        </a:spcBef>
                        <a:spcAft>
                          <a:spcPts val="0"/>
                        </a:spcAft>
                      </a:pPr>
                      <a:r>
                        <a:rPr lang="en-US" sz="1600" spc="-15" dirty="0">
                          <a:effectLst/>
                        </a:rPr>
                        <a:t>6.0</a:t>
                      </a:r>
                      <a:endParaRPr lang="en-US" sz="1600" dirty="0">
                        <a:effectLst/>
                      </a:endParaRPr>
                    </a:p>
                    <a:p>
                      <a:pPr marL="365125" marR="0" eaLnBrk="0">
                        <a:lnSpc>
                          <a:spcPct val="76000"/>
                        </a:lnSpc>
                        <a:spcBef>
                          <a:spcPts val="1055"/>
                        </a:spcBef>
                        <a:spcAft>
                          <a:spcPts val="0"/>
                        </a:spcAft>
                      </a:pPr>
                      <a:r>
                        <a:rPr lang="en-US" sz="1600" spc="-15" dirty="0">
                          <a:effectLst/>
                        </a:rPr>
                        <a:t>2.0</a:t>
                      </a:r>
                      <a:endParaRPr lang="en-US" sz="1600" dirty="0">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0" marR="0" eaLnBrk="0">
                        <a:lnSpc>
                          <a:spcPct val="105000"/>
                        </a:lnSpc>
                        <a:spcBef>
                          <a:spcPts val="0"/>
                        </a:spcBef>
                        <a:spcAft>
                          <a:spcPts val="0"/>
                        </a:spcAft>
                      </a:pPr>
                      <a:r>
                        <a:rPr lang="en-US" sz="1600" b="1" dirty="0">
                          <a:effectLst/>
                        </a:rPr>
                        <a:t> </a:t>
                      </a:r>
                    </a:p>
                    <a:p>
                      <a:pPr marL="0" marR="0" eaLnBrk="0">
                        <a:lnSpc>
                          <a:spcPct val="105000"/>
                        </a:lnSpc>
                        <a:spcBef>
                          <a:spcPts val="0"/>
                        </a:spcBef>
                        <a:spcAft>
                          <a:spcPts val="0"/>
                        </a:spcAft>
                      </a:pPr>
                      <a:r>
                        <a:rPr lang="en-US" sz="1600" b="1" dirty="0">
                          <a:effectLst/>
                        </a:rPr>
                        <a:t> </a:t>
                      </a:r>
                    </a:p>
                    <a:p>
                      <a:pPr marL="282575" marR="0" eaLnBrk="0">
                        <a:lnSpc>
                          <a:spcPct val="92000"/>
                        </a:lnSpc>
                        <a:spcBef>
                          <a:spcPts val="355"/>
                        </a:spcBef>
                        <a:spcAft>
                          <a:spcPts val="0"/>
                        </a:spcAft>
                      </a:pPr>
                      <a:r>
                        <a:rPr lang="en-US" sz="1600" b="1" spc="45" dirty="0">
                          <a:effectLst/>
                        </a:rPr>
                        <a:t>D</a:t>
                      </a:r>
                      <a:r>
                        <a:rPr lang="zh-CN" sz="1600" b="1" spc="45" dirty="0">
                          <a:effectLst/>
                        </a:rPr>
                        <a:t>相</a:t>
                      </a:r>
                      <a:endParaRPr lang="en-US" sz="1600" b="1" dirty="0">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111125" marR="0" eaLnBrk="0">
                        <a:lnSpc>
                          <a:spcPts val="2240"/>
                        </a:lnSpc>
                        <a:spcBef>
                          <a:spcPts val="530"/>
                        </a:spcBef>
                        <a:spcAft>
                          <a:spcPts val="0"/>
                        </a:spcAft>
                      </a:pPr>
                      <a:r>
                        <a:rPr lang="zh-CN" sz="1600" spc="25" dirty="0">
                          <a:effectLst/>
                        </a:rPr>
                        <a:t>氯化钾</a:t>
                      </a:r>
                      <a:endParaRPr lang="en-US" sz="1600" dirty="0">
                        <a:effectLst/>
                      </a:endParaRPr>
                    </a:p>
                    <a:p>
                      <a:pPr marL="111125" marR="0" eaLnBrk="0">
                        <a:lnSpc>
                          <a:spcPct val="90000"/>
                        </a:lnSpc>
                        <a:spcBef>
                          <a:spcPts val="0"/>
                        </a:spcBef>
                        <a:spcAft>
                          <a:spcPts val="0"/>
                        </a:spcAft>
                      </a:pPr>
                      <a:r>
                        <a:rPr lang="zh-CN" sz="1600" spc="25" dirty="0">
                          <a:effectLst/>
                        </a:rPr>
                        <a:t>香精</a:t>
                      </a:r>
                      <a:endParaRPr lang="en-US" sz="1600" dirty="0">
                        <a:effectLst/>
                      </a:endParaRPr>
                    </a:p>
                    <a:p>
                      <a:pPr marL="111125" marR="0" eaLnBrk="0">
                        <a:lnSpc>
                          <a:spcPct val="91000"/>
                        </a:lnSpc>
                        <a:spcBef>
                          <a:spcPts val="945"/>
                        </a:spcBef>
                        <a:spcAft>
                          <a:spcPts val="0"/>
                        </a:spcAft>
                      </a:pPr>
                      <a:r>
                        <a:rPr lang="zh-CN" sz="1600" spc="20" dirty="0">
                          <a:effectLst/>
                        </a:rPr>
                        <a:t>防腐剂</a:t>
                      </a:r>
                      <a:endParaRPr lang="en-US" sz="1600" dirty="0">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352425" marR="0" eaLnBrk="0">
                        <a:lnSpc>
                          <a:spcPts val="2000"/>
                        </a:lnSpc>
                        <a:spcBef>
                          <a:spcPts val="860"/>
                        </a:spcBef>
                        <a:spcAft>
                          <a:spcPts val="0"/>
                        </a:spcAft>
                      </a:pPr>
                      <a:r>
                        <a:rPr lang="en-US" sz="1600" spc="-15" dirty="0">
                          <a:effectLst/>
                        </a:rPr>
                        <a:t>2.5</a:t>
                      </a:r>
                      <a:endParaRPr lang="en-US" sz="1600" dirty="0">
                        <a:effectLst/>
                      </a:endParaRPr>
                    </a:p>
                    <a:p>
                      <a:pPr marL="314325" marR="0" eaLnBrk="0">
                        <a:lnSpc>
                          <a:spcPct val="93000"/>
                        </a:lnSpc>
                        <a:spcBef>
                          <a:spcPts val="0"/>
                        </a:spcBef>
                        <a:spcAft>
                          <a:spcPts val="0"/>
                        </a:spcAft>
                      </a:pPr>
                      <a:r>
                        <a:rPr lang="zh-CN" sz="1600" spc="-15" dirty="0">
                          <a:effectLst/>
                        </a:rPr>
                        <a:t>适量</a:t>
                      </a:r>
                      <a:endParaRPr lang="en-US" sz="1600" dirty="0">
                        <a:effectLst/>
                      </a:endParaRPr>
                    </a:p>
                    <a:p>
                      <a:pPr marL="314325" marR="0" eaLnBrk="0">
                        <a:lnSpc>
                          <a:spcPct val="93000"/>
                        </a:lnSpc>
                        <a:spcBef>
                          <a:spcPts val="855"/>
                        </a:spcBef>
                        <a:spcAft>
                          <a:spcPts val="0"/>
                        </a:spcAft>
                      </a:pPr>
                      <a:r>
                        <a:rPr lang="zh-CN" sz="1600" spc="-15" dirty="0">
                          <a:effectLst/>
                        </a:rPr>
                        <a:t>适量</a:t>
                      </a:r>
                      <a:endParaRPr lang="en-US" sz="1600" dirty="0">
                        <a:solidFill>
                          <a:srgbClr val="000000"/>
                        </a:solidFill>
                        <a:effectLst/>
                        <a:latin typeface="Arial" panose="020B0604020202020204" pitchFamily="34" charset="0"/>
                        <a:ea typeface="Arial" panose="020B0604020202020204" pitchFamily="34" charset="0"/>
                      </a:endParaRPr>
                    </a:p>
                  </a:txBody>
                  <a:tcPr marL="0" marR="0" marT="0" marB="0"/>
                </a:tc>
                <a:extLst>
                  <a:ext uri="{0D108BD9-81ED-4DB2-BD59-A6C34878D82A}">
                    <a16:rowId xmlns:a16="http://schemas.microsoft.com/office/drawing/2014/main" val="2967896873"/>
                  </a:ext>
                </a:extLst>
              </a:tr>
            </a:tbl>
          </a:graphicData>
        </a:graphic>
      </p:graphicFrame>
    </p:spTree>
    <p:extLst>
      <p:ext uri="{BB962C8B-B14F-4D97-AF65-F5344CB8AC3E}">
        <p14:creationId xmlns:p14="http://schemas.microsoft.com/office/powerpoint/2010/main" val="301549881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52</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皂基洁肤产品工艺</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030057"/>
            <a:ext cx="8778240" cy="4991751"/>
          </a:xfrm>
          <a:prstGeom prst="rect">
            <a:avLst/>
          </a:prstGeom>
          <a:noFill/>
        </p:spPr>
        <p:txBody>
          <a:bodyPr wrap="square" rtlCol="0">
            <a:spAutoFit/>
          </a:bodyPr>
          <a:lstStyle/>
          <a:p>
            <a:pPr>
              <a:lnSpc>
                <a:spcPct val="150000"/>
              </a:lnSpc>
            </a:pPr>
            <a:r>
              <a:rPr lang="en-US" altLang="zh-CN" sz="2400" dirty="0">
                <a:latin typeface="KaiTi" panose="02010609060101010101" pitchFamily="49" charset="-122"/>
                <a:ea typeface="KaiTi" panose="02010609060101010101" pitchFamily="49" charset="-122"/>
              </a:rPr>
              <a:t>	</a:t>
            </a:r>
            <a:r>
              <a:rPr lang="zh-CN" altLang="en-US" sz="2400" dirty="0">
                <a:latin typeface="KaiTi" panose="02010609060101010101" pitchFamily="49" charset="-122"/>
                <a:ea typeface="KaiTi" panose="02010609060101010101" pitchFamily="49" charset="-122"/>
              </a:rPr>
              <a:t>① 将 </a:t>
            </a:r>
            <a:r>
              <a:rPr lang="en-US" altLang="zh-CN" sz="2400" dirty="0">
                <a:latin typeface="KaiTi" panose="02010609060101010101" pitchFamily="49" charset="-122"/>
                <a:ea typeface="KaiTi" panose="02010609060101010101" pitchFamily="49" charset="-122"/>
              </a:rPr>
              <a:t>A </a:t>
            </a:r>
            <a:r>
              <a:rPr lang="zh-CN" altLang="en-US" sz="2400" dirty="0">
                <a:latin typeface="KaiTi" panose="02010609060101010101" pitchFamily="49" charset="-122"/>
                <a:ea typeface="KaiTi" panose="02010609060101010101" pitchFamily="49" charset="-122"/>
              </a:rPr>
              <a:t>相和 </a:t>
            </a:r>
            <a:r>
              <a:rPr lang="en-US" altLang="zh-CN" sz="2400" dirty="0">
                <a:latin typeface="KaiTi" panose="02010609060101010101" pitchFamily="49" charset="-122"/>
                <a:ea typeface="KaiTi" panose="02010609060101010101" pitchFamily="49" charset="-122"/>
              </a:rPr>
              <a:t>B </a:t>
            </a:r>
            <a:r>
              <a:rPr lang="zh-CN" altLang="en-US" sz="2400" dirty="0">
                <a:latin typeface="KaiTi" panose="02010609060101010101" pitchFamily="49" charset="-122"/>
                <a:ea typeface="KaiTi" panose="02010609060101010101" pitchFamily="49" charset="-122"/>
              </a:rPr>
              <a:t>相各原料混合均匀，羟丙基甲基纤维素先在丙二醇中预先分散均匀，再与 </a:t>
            </a:r>
            <a:r>
              <a:rPr lang="en-US" altLang="zh-CN" sz="2400" dirty="0">
                <a:latin typeface="KaiTi" panose="02010609060101010101" pitchFamily="49" charset="-122"/>
                <a:ea typeface="KaiTi" panose="02010609060101010101" pitchFamily="49" charset="-122"/>
              </a:rPr>
              <a:t>B </a:t>
            </a:r>
            <a:r>
              <a:rPr lang="zh-CN" altLang="en-US" sz="2400" dirty="0">
                <a:latin typeface="KaiTi" panose="02010609060101010101" pitchFamily="49" charset="-122"/>
                <a:ea typeface="KaiTi" panose="02010609060101010101" pitchFamily="49" charset="-122"/>
              </a:rPr>
              <a:t>相其他组分混合。混合均匀后分别加热至</a:t>
            </a:r>
            <a:r>
              <a:rPr lang="en-US" altLang="zh-CN" sz="2400" dirty="0">
                <a:latin typeface="KaiTi" panose="02010609060101010101" pitchFamily="49" charset="-122"/>
                <a:ea typeface="KaiTi" panose="02010609060101010101" pitchFamily="49" charset="-122"/>
              </a:rPr>
              <a:t>80 ℃</a:t>
            </a:r>
            <a:r>
              <a:rPr lang="zh-CN" altLang="en-US" sz="2400" dirty="0">
                <a:latin typeface="KaiTi" panose="02010609060101010101" pitchFamily="49" charset="-122"/>
                <a:ea typeface="KaiTi" panose="02010609060101010101" pitchFamily="49" charset="-122"/>
              </a:rPr>
              <a:t>左右；</a:t>
            </a:r>
          </a:p>
          <a:p>
            <a:pPr>
              <a:lnSpc>
                <a:spcPct val="150000"/>
              </a:lnSpc>
            </a:pPr>
            <a:r>
              <a:rPr lang="en-US" altLang="zh-CN" sz="2400" dirty="0">
                <a:latin typeface="KaiTi" panose="02010609060101010101" pitchFamily="49" charset="-122"/>
                <a:ea typeface="KaiTi" panose="02010609060101010101" pitchFamily="49" charset="-122"/>
              </a:rPr>
              <a:t>	</a:t>
            </a:r>
            <a:r>
              <a:rPr lang="zh-CN" altLang="en-US" sz="2400" dirty="0">
                <a:latin typeface="KaiTi" panose="02010609060101010101" pitchFamily="49" charset="-122"/>
                <a:ea typeface="KaiTi" panose="02010609060101010101" pitchFamily="49" charset="-122"/>
              </a:rPr>
              <a:t>② 均质 </a:t>
            </a:r>
            <a:r>
              <a:rPr lang="en-US" altLang="zh-CN" sz="2400" dirty="0">
                <a:latin typeface="KaiTi" panose="02010609060101010101" pitchFamily="49" charset="-122"/>
                <a:ea typeface="KaiTi" panose="02010609060101010101" pitchFamily="49" charset="-122"/>
              </a:rPr>
              <a:t>A </a:t>
            </a:r>
            <a:r>
              <a:rPr lang="zh-CN" altLang="en-US" sz="2400" dirty="0">
                <a:latin typeface="KaiTi" panose="02010609060101010101" pitchFamily="49" charset="-122"/>
                <a:ea typeface="KaiTi" panose="02010609060101010101" pitchFamily="49" charset="-122"/>
              </a:rPr>
              <a:t>相，然后缓慢加入 </a:t>
            </a:r>
            <a:r>
              <a:rPr lang="en-US" altLang="zh-CN" sz="2400" dirty="0">
                <a:latin typeface="KaiTi" panose="02010609060101010101" pitchFamily="49" charset="-122"/>
                <a:ea typeface="KaiTi" panose="02010609060101010101" pitchFamily="49" charset="-122"/>
              </a:rPr>
              <a:t>B </a:t>
            </a:r>
            <a:r>
              <a:rPr lang="zh-CN" altLang="en-US" sz="2400" dirty="0">
                <a:latin typeface="KaiTi" panose="02010609060101010101" pitchFamily="49" charset="-122"/>
                <a:ea typeface="KaiTi" panose="02010609060101010101" pitchFamily="49" charset="-122"/>
              </a:rPr>
              <a:t>相，加完后均质</a:t>
            </a:r>
            <a:r>
              <a:rPr lang="en-US" altLang="zh-CN" sz="2400" dirty="0">
                <a:latin typeface="KaiTi" panose="02010609060101010101" pitchFamily="49" charset="-122"/>
                <a:ea typeface="KaiTi" panose="02010609060101010101" pitchFamily="49" charset="-122"/>
              </a:rPr>
              <a:t>5 min,  </a:t>
            </a:r>
            <a:r>
              <a:rPr lang="zh-CN" altLang="en-US" sz="2400" dirty="0">
                <a:latin typeface="KaiTi" panose="02010609060101010101" pitchFamily="49" charset="-122"/>
                <a:ea typeface="KaiTi" panose="02010609060101010101" pitchFamily="49" charset="-122"/>
              </a:rPr>
              <a:t>保温搅拌</a:t>
            </a:r>
            <a:r>
              <a:rPr lang="en-US" altLang="zh-CN" sz="2400" dirty="0">
                <a:latin typeface="KaiTi" panose="02010609060101010101" pitchFamily="49" charset="-122"/>
                <a:ea typeface="KaiTi" panose="02010609060101010101" pitchFamily="49" charset="-122"/>
              </a:rPr>
              <a:t>30 min, </a:t>
            </a:r>
            <a:r>
              <a:rPr lang="zh-CN" altLang="en-US" sz="2400" dirty="0">
                <a:latin typeface="KaiTi" panose="02010609060101010101" pitchFamily="49" charset="-122"/>
                <a:ea typeface="KaiTi" panose="02010609060101010101" pitchFamily="49" charset="-122"/>
              </a:rPr>
              <a:t>然后开始冷却；</a:t>
            </a:r>
          </a:p>
          <a:p>
            <a:pPr>
              <a:lnSpc>
                <a:spcPct val="150000"/>
              </a:lnSpc>
            </a:pPr>
            <a:r>
              <a:rPr lang="en-US" altLang="zh-CN" sz="2400" dirty="0">
                <a:latin typeface="KaiTi" panose="02010609060101010101" pitchFamily="49" charset="-122"/>
                <a:ea typeface="KaiTi" panose="02010609060101010101" pitchFamily="49" charset="-122"/>
              </a:rPr>
              <a:t>	</a:t>
            </a:r>
            <a:r>
              <a:rPr lang="zh-CN" altLang="en-US" sz="2400" dirty="0">
                <a:latin typeface="KaiTi" panose="02010609060101010101" pitchFamily="49" charset="-122"/>
                <a:ea typeface="KaiTi" panose="02010609060101010101" pitchFamily="49" charset="-122"/>
              </a:rPr>
              <a:t>③ 搅拌冷却至</a:t>
            </a:r>
            <a:r>
              <a:rPr lang="en-US" altLang="zh-CN" sz="2400" dirty="0">
                <a:latin typeface="KaiTi" panose="02010609060101010101" pitchFamily="49" charset="-122"/>
                <a:ea typeface="KaiTi" panose="02010609060101010101" pitchFamily="49" charset="-122"/>
              </a:rPr>
              <a:t>60 ℃,</a:t>
            </a:r>
            <a:r>
              <a:rPr lang="zh-CN" altLang="en-US" sz="2400" dirty="0">
                <a:latin typeface="KaiTi" panose="02010609060101010101" pitchFamily="49" charset="-122"/>
                <a:ea typeface="KaiTi" panose="02010609060101010101" pitchFamily="49" charset="-122"/>
              </a:rPr>
              <a:t>缓慢加入 </a:t>
            </a:r>
            <a:r>
              <a:rPr lang="en-US" altLang="zh-CN" sz="2400" dirty="0">
                <a:latin typeface="KaiTi" panose="02010609060101010101" pitchFamily="49" charset="-122"/>
                <a:ea typeface="KaiTi" panose="02010609060101010101" pitchFamily="49" charset="-122"/>
              </a:rPr>
              <a:t>C </a:t>
            </a:r>
            <a:r>
              <a:rPr lang="zh-CN" altLang="en-US" sz="2400" dirty="0">
                <a:latin typeface="KaiTi" panose="02010609060101010101" pitchFamily="49" charset="-122"/>
                <a:ea typeface="KaiTi" panose="02010609060101010101" pitchFamily="49" charset="-122"/>
              </a:rPr>
              <a:t>相中各组分，降低搅拌速度至完全混合均匀；</a:t>
            </a:r>
          </a:p>
          <a:p>
            <a:pPr>
              <a:lnSpc>
                <a:spcPct val="150000"/>
              </a:lnSpc>
            </a:pPr>
            <a:r>
              <a:rPr lang="en-US" altLang="zh-CN" sz="2400" dirty="0">
                <a:latin typeface="KaiTi" panose="02010609060101010101" pitchFamily="49" charset="-122"/>
                <a:ea typeface="KaiTi" panose="02010609060101010101" pitchFamily="49" charset="-122"/>
              </a:rPr>
              <a:t>	</a:t>
            </a:r>
            <a:r>
              <a:rPr lang="zh-CN" altLang="en-US" sz="2400" dirty="0">
                <a:latin typeface="KaiTi" panose="02010609060101010101" pitchFamily="49" charset="-122"/>
                <a:ea typeface="KaiTi" panose="02010609060101010101" pitchFamily="49" charset="-122"/>
              </a:rPr>
              <a:t>④ 搅拌冷却至</a:t>
            </a:r>
            <a:r>
              <a:rPr lang="en-US" altLang="zh-CN" sz="2400" dirty="0">
                <a:latin typeface="KaiTi" panose="02010609060101010101" pitchFamily="49" charset="-122"/>
                <a:ea typeface="KaiTi" panose="02010609060101010101" pitchFamily="49" charset="-122"/>
              </a:rPr>
              <a:t>45 ℃,</a:t>
            </a:r>
            <a:r>
              <a:rPr lang="zh-CN" altLang="en-US" sz="2400" dirty="0">
                <a:latin typeface="KaiTi" panose="02010609060101010101" pitchFamily="49" charset="-122"/>
                <a:ea typeface="KaiTi" panose="02010609060101010101" pitchFamily="49" charset="-122"/>
              </a:rPr>
              <a:t>加入 </a:t>
            </a:r>
            <a:r>
              <a:rPr lang="en-US" altLang="zh-CN" sz="2400" dirty="0">
                <a:latin typeface="KaiTi" panose="02010609060101010101" pitchFamily="49" charset="-122"/>
                <a:ea typeface="KaiTi" panose="02010609060101010101" pitchFamily="49" charset="-122"/>
              </a:rPr>
              <a:t>D </a:t>
            </a:r>
            <a:r>
              <a:rPr lang="zh-CN" altLang="en-US" sz="2400" dirty="0">
                <a:latin typeface="KaiTi" panose="02010609060101010101" pitchFamily="49" charset="-122"/>
                <a:ea typeface="KaiTi" panose="02010609060101010101" pitchFamily="49" charset="-122"/>
              </a:rPr>
              <a:t>相中各组分，搅拌均匀，继续搅拌冷却至室温即可。</a:t>
            </a:r>
            <a:endParaRPr lang="en-US" altLang="zh-CN" sz="2400" dirty="0">
              <a:latin typeface="KaiTi" panose="02010609060101010101" pitchFamily="49" charset="-122"/>
              <a:ea typeface="KaiTi" panose="02010609060101010101" pitchFamily="49" charset="-122"/>
            </a:endParaRPr>
          </a:p>
        </p:txBody>
      </p:sp>
    </p:spTree>
    <p:extLst>
      <p:ext uri="{BB962C8B-B14F-4D97-AF65-F5344CB8AC3E}">
        <p14:creationId xmlns:p14="http://schemas.microsoft.com/office/powerpoint/2010/main" val="190996913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53</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皂基洁肤产品配方</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030057"/>
            <a:ext cx="8778240" cy="2236574"/>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洗手液一般用泵头的瓶装，其黏度不宜太高。而洗手液相对于沐浴露需要考虑成本的控制，对肤感的要求没有沐浴露高，同时对泡沫性的要求也不是很高，因此，同样以</a:t>
            </a:r>
            <a:r>
              <a:rPr lang="en-US" altLang="zh-CN" sz="2400" dirty="0">
                <a:latin typeface="+mn-lt"/>
                <a:ea typeface="SimHei" panose="02010609060101010101" pitchFamily="49" charset="-122"/>
              </a:rPr>
              <a:t>C12</a:t>
            </a:r>
            <a:r>
              <a:rPr lang="zh-CN" altLang="en-US" sz="2400" dirty="0">
                <a:latin typeface="+mn-lt"/>
                <a:ea typeface="SimHei" panose="02010609060101010101" pitchFamily="49" charset="-122"/>
              </a:rPr>
              <a:t>、</a:t>
            </a:r>
            <a:r>
              <a:rPr lang="en-US" altLang="zh-CN" sz="2400" dirty="0">
                <a:latin typeface="+mn-lt"/>
                <a:ea typeface="SimHei" panose="02010609060101010101" pitchFamily="49" charset="-122"/>
              </a:rPr>
              <a:t>C14</a:t>
            </a:r>
            <a:r>
              <a:rPr lang="zh-CN" altLang="en-US" sz="2400" dirty="0">
                <a:latin typeface="+mn-lt"/>
                <a:ea typeface="SimHei" panose="02010609060101010101" pitchFamily="49" charset="-122"/>
              </a:rPr>
              <a:t>酸为主，总脂肪酸含量在</a:t>
            </a:r>
            <a:r>
              <a:rPr lang="en-US" altLang="zh-CN" sz="2400" dirty="0">
                <a:latin typeface="+mn-lt"/>
                <a:ea typeface="SimHei" panose="02010609060101010101" pitchFamily="49" charset="-122"/>
              </a:rPr>
              <a:t>15%</a:t>
            </a:r>
            <a:r>
              <a:rPr lang="zh-CN" altLang="en-US" sz="2400" dirty="0">
                <a:latin typeface="+mn-lt"/>
                <a:ea typeface="SimHei" panose="02010609060101010101" pitchFamily="49" charset="-122"/>
              </a:rPr>
              <a:t>以下，皂化度在</a:t>
            </a:r>
            <a:r>
              <a:rPr lang="en-US" altLang="zh-CN" sz="2400" dirty="0">
                <a:latin typeface="+mn-lt"/>
                <a:ea typeface="SimHei" panose="02010609060101010101" pitchFamily="49" charset="-122"/>
              </a:rPr>
              <a:t>90%</a:t>
            </a:r>
            <a:r>
              <a:rPr lang="zh-CN" altLang="en-US" sz="2400" dirty="0">
                <a:latin typeface="+mn-lt"/>
                <a:ea typeface="SimHei" panose="02010609060101010101" pitchFamily="49" charset="-122"/>
              </a:rPr>
              <a:t>～</a:t>
            </a:r>
            <a:r>
              <a:rPr lang="en-US" altLang="zh-CN" sz="2400" dirty="0">
                <a:latin typeface="+mn-lt"/>
                <a:ea typeface="SimHei" panose="02010609060101010101" pitchFamily="49" charset="-122"/>
              </a:rPr>
              <a:t>100%</a:t>
            </a:r>
            <a:r>
              <a:rPr lang="zh-CN" altLang="en-US" sz="2400" dirty="0">
                <a:latin typeface="+mn-lt"/>
                <a:ea typeface="SimHei" panose="02010609060101010101" pitchFamily="49" charset="-122"/>
              </a:rPr>
              <a:t>。</a:t>
            </a:r>
            <a:endParaRPr lang="en-US" altLang="zh-CN" sz="2400" dirty="0">
              <a:latin typeface="+mn-lt"/>
              <a:ea typeface="SimHei" panose="02010609060101010101" pitchFamily="49" charset="-122"/>
            </a:endParaRPr>
          </a:p>
        </p:txBody>
      </p:sp>
      <p:graphicFrame>
        <p:nvGraphicFramePr>
          <p:cNvPr id="5" name="表格 4">
            <a:extLst>
              <a:ext uri="{FF2B5EF4-FFF2-40B4-BE49-F238E27FC236}">
                <a16:creationId xmlns:a16="http://schemas.microsoft.com/office/drawing/2014/main" id="{BFF5E591-3180-1A88-936E-C9FF676BBEEE}"/>
              </a:ext>
            </a:extLst>
          </p:cNvPr>
          <p:cNvGraphicFramePr>
            <a:graphicFrameLocks noGrp="1"/>
          </p:cNvGraphicFramePr>
          <p:nvPr>
            <p:extLst>
              <p:ext uri="{D42A27DB-BD31-4B8C-83A1-F6EECF244321}">
                <p14:modId xmlns:p14="http://schemas.microsoft.com/office/powerpoint/2010/main" val="2638050790"/>
              </p:ext>
            </p:extLst>
          </p:nvPr>
        </p:nvGraphicFramePr>
        <p:xfrm>
          <a:off x="182880" y="3595426"/>
          <a:ext cx="8778240" cy="3111897"/>
        </p:xfrm>
        <a:graphic>
          <a:graphicData uri="http://schemas.openxmlformats.org/drawingml/2006/table">
            <a:tbl>
              <a:tblPr firstRow="1" firstCol="1" bandRow="1">
                <a:tableStyleId>{72833802-FEF1-4C79-8D5D-14CF1EAF98D9}</a:tableStyleId>
              </a:tblPr>
              <a:tblGrid>
                <a:gridCol w="593497">
                  <a:extLst>
                    <a:ext uri="{9D8B030D-6E8A-4147-A177-3AD203B41FA5}">
                      <a16:colId xmlns:a16="http://schemas.microsoft.com/office/drawing/2014/main" val="1650544313"/>
                    </a:ext>
                  </a:extLst>
                </a:gridCol>
                <a:gridCol w="2097945">
                  <a:extLst>
                    <a:ext uri="{9D8B030D-6E8A-4147-A177-3AD203B41FA5}">
                      <a16:colId xmlns:a16="http://schemas.microsoft.com/office/drawing/2014/main" val="580154982"/>
                    </a:ext>
                  </a:extLst>
                </a:gridCol>
                <a:gridCol w="1000664">
                  <a:extLst>
                    <a:ext uri="{9D8B030D-6E8A-4147-A177-3AD203B41FA5}">
                      <a16:colId xmlns:a16="http://schemas.microsoft.com/office/drawing/2014/main" val="1772858305"/>
                    </a:ext>
                  </a:extLst>
                </a:gridCol>
                <a:gridCol w="2042735">
                  <a:extLst>
                    <a:ext uri="{9D8B030D-6E8A-4147-A177-3AD203B41FA5}">
                      <a16:colId xmlns:a16="http://schemas.microsoft.com/office/drawing/2014/main" val="3054349198"/>
                    </a:ext>
                  </a:extLst>
                </a:gridCol>
                <a:gridCol w="2042735">
                  <a:extLst>
                    <a:ext uri="{9D8B030D-6E8A-4147-A177-3AD203B41FA5}">
                      <a16:colId xmlns:a16="http://schemas.microsoft.com/office/drawing/2014/main" val="3850988725"/>
                    </a:ext>
                  </a:extLst>
                </a:gridCol>
                <a:gridCol w="1000664">
                  <a:extLst>
                    <a:ext uri="{9D8B030D-6E8A-4147-A177-3AD203B41FA5}">
                      <a16:colId xmlns:a16="http://schemas.microsoft.com/office/drawing/2014/main" val="2583199379"/>
                    </a:ext>
                  </a:extLst>
                </a:gridCol>
              </a:tblGrid>
              <a:tr h="408289">
                <a:tc>
                  <a:txBody>
                    <a:bodyPr/>
                    <a:lstStyle/>
                    <a:p>
                      <a:pPr marL="113665" marR="0" eaLnBrk="0">
                        <a:lnSpc>
                          <a:spcPct val="92000"/>
                        </a:lnSpc>
                        <a:spcBef>
                          <a:spcPts val="430"/>
                        </a:spcBef>
                        <a:spcAft>
                          <a:spcPts val="0"/>
                        </a:spcAft>
                      </a:pPr>
                      <a:r>
                        <a:rPr lang="zh-CN" sz="1600" spc="45">
                          <a:effectLst/>
                        </a:rPr>
                        <a:t>组相</a:t>
                      </a:r>
                      <a:endParaRPr lang="en-US" sz="1600">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689610" marR="0" eaLnBrk="0">
                        <a:lnSpc>
                          <a:spcPct val="91000"/>
                        </a:lnSpc>
                        <a:spcBef>
                          <a:spcPts val="420"/>
                        </a:spcBef>
                        <a:spcAft>
                          <a:spcPts val="0"/>
                        </a:spcAft>
                      </a:pPr>
                      <a:r>
                        <a:rPr lang="zh-CN" sz="1600" spc="10">
                          <a:effectLst/>
                        </a:rPr>
                        <a:t>原料名称</a:t>
                      </a:r>
                      <a:endParaRPr lang="en-US" sz="1600">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104775" marR="0" eaLnBrk="0">
                        <a:lnSpc>
                          <a:spcPct val="91000"/>
                        </a:lnSpc>
                        <a:spcBef>
                          <a:spcPts val="420"/>
                        </a:spcBef>
                        <a:spcAft>
                          <a:spcPts val="0"/>
                        </a:spcAft>
                      </a:pPr>
                      <a:r>
                        <a:rPr lang="zh-CN" sz="1600" spc="-10">
                          <a:effectLst/>
                        </a:rPr>
                        <a:t>质量分数</a:t>
                      </a:r>
                      <a:r>
                        <a:rPr lang="en-US" sz="1600" spc="-10">
                          <a:effectLst/>
                        </a:rPr>
                        <a:t>/%</a:t>
                      </a:r>
                      <a:endParaRPr lang="en-US" sz="1600">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130175" marR="0" eaLnBrk="0">
                        <a:lnSpc>
                          <a:spcPct val="92000"/>
                        </a:lnSpc>
                        <a:spcBef>
                          <a:spcPts val="430"/>
                        </a:spcBef>
                        <a:spcAft>
                          <a:spcPts val="0"/>
                        </a:spcAft>
                      </a:pPr>
                      <a:r>
                        <a:rPr lang="zh-CN" sz="1600" spc="45">
                          <a:effectLst/>
                        </a:rPr>
                        <a:t>组相</a:t>
                      </a:r>
                      <a:endParaRPr lang="en-US" sz="1600">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663575" marR="0" eaLnBrk="0">
                        <a:lnSpc>
                          <a:spcPct val="91000"/>
                        </a:lnSpc>
                        <a:spcBef>
                          <a:spcPts val="420"/>
                        </a:spcBef>
                        <a:spcAft>
                          <a:spcPts val="0"/>
                        </a:spcAft>
                      </a:pPr>
                      <a:r>
                        <a:rPr lang="zh-CN" sz="1600" spc="10">
                          <a:effectLst/>
                        </a:rPr>
                        <a:t>原料名称</a:t>
                      </a:r>
                      <a:endParaRPr lang="en-US" sz="1600">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104775" marR="0" eaLnBrk="0">
                        <a:lnSpc>
                          <a:spcPct val="91000"/>
                        </a:lnSpc>
                        <a:spcBef>
                          <a:spcPts val="420"/>
                        </a:spcBef>
                        <a:spcAft>
                          <a:spcPts val="0"/>
                        </a:spcAft>
                      </a:pPr>
                      <a:r>
                        <a:rPr lang="zh-CN" sz="1600" spc="-10">
                          <a:effectLst/>
                        </a:rPr>
                        <a:t>质量分数</a:t>
                      </a:r>
                      <a:r>
                        <a:rPr lang="en-US" sz="1600" spc="-10">
                          <a:effectLst/>
                        </a:rPr>
                        <a:t>/%</a:t>
                      </a:r>
                      <a:endParaRPr lang="en-US" sz="1600">
                        <a:solidFill>
                          <a:srgbClr val="000000"/>
                        </a:solidFill>
                        <a:effectLst/>
                        <a:latin typeface="Arial" panose="020B0604020202020204" pitchFamily="34" charset="0"/>
                        <a:ea typeface="Arial" panose="020B0604020202020204" pitchFamily="34" charset="0"/>
                      </a:endParaRPr>
                    </a:p>
                  </a:txBody>
                  <a:tcPr marL="0" marR="0" marT="0" marB="0"/>
                </a:tc>
                <a:extLst>
                  <a:ext uri="{0D108BD9-81ED-4DB2-BD59-A6C34878D82A}">
                    <a16:rowId xmlns:a16="http://schemas.microsoft.com/office/drawing/2014/main" val="2753438538"/>
                  </a:ext>
                </a:extLst>
              </a:tr>
              <a:tr h="322110">
                <a:tc rowSpan="2">
                  <a:txBody>
                    <a:bodyPr/>
                    <a:lstStyle/>
                    <a:p>
                      <a:pPr marL="0" marR="0" eaLnBrk="0">
                        <a:lnSpc>
                          <a:spcPct val="170000"/>
                        </a:lnSpc>
                        <a:spcBef>
                          <a:spcPts val="0"/>
                        </a:spcBef>
                        <a:spcAft>
                          <a:spcPts val="0"/>
                        </a:spcAft>
                      </a:pPr>
                      <a:r>
                        <a:rPr lang="en-US" sz="1600">
                          <a:effectLst/>
                        </a:rPr>
                        <a:t> </a:t>
                      </a:r>
                    </a:p>
                    <a:p>
                      <a:pPr marL="151765" marR="0" eaLnBrk="0">
                        <a:lnSpc>
                          <a:spcPct val="92000"/>
                        </a:lnSpc>
                        <a:spcBef>
                          <a:spcPts val="360"/>
                        </a:spcBef>
                        <a:spcAft>
                          <a:spcPts val="0"/>
                        </a:spcAft>
                      </a:pPr>
                      <a:r>
                        <a:rPr lang="en-US" sz="1600" spc="-5">
                          <a:effectLst/>
                        </a:rPr>
                        <a:t>A</a:t>
                      </a:r>
                      <a:r>
                        <a:rPr lang="zh-CN" sz="1600" spc="-5">
                          <a:effectLst/>
                        </a:rPr>
                        <a:t>相</a:t>
                      </a:r>
                      <a:endParaRPr lang="en-US" sz="1600">
                        <a:solidFill>
                          <a:srgbClr val="000000"/>
                        </a:solidFill>
                        <a:effectLst/>
                        <a:latin typeface="Arial" panose="020B0604020202020204" pitchFamily="34" charset="0"/>
                        <a:ea typeface="Arial" panose="020B0604020202020204" pitchFamily="34" charset="0"/>
                      </a:endParaRPr>
                    </a:p>
                  </a:txBody>
                  <a:tcPr marL="0" marR="0" marT="0" marB="0"/>
                </a:tc>
                <a:tc rowSpan="2">
                  <a:txBody>
                    <a:bodyPr/>
                    <a:lstStyle/>
                    <a:p>
                      <a:pPr marL="54610" marR="0" eaLnBrk="0">
                        <a:lnSpc>
                          <a:spcPct val="91000"/>
                        </a:lnSpc>
                        <a:spcBef>
                          <a:spcPts val="455"/>
                        </a:spcBef>
                        <a:spcAft>
                          <a:spcPts val="0"/>
                        </a:spcAft>
                      </a:pPr>
                      <a:r>
                        <a:rPr lang="zh-CN" sz="1600" spc="-10">
                          <a:effectLst/>
                        </a:rPr>
                        <a:t>棕榈酸</a:t>
                      </a:r>
                      <a:endParaRPr lang="en-US" sz="1600">
                        <a:effectLst/>
                      </a:endParaRPr>
                    </a:p>
                    <a:p>
                      <a:pPr marL="54610" marR="0" eaLnBrk="0">
                        <a:lnSpc>
                          <a:spcPts val="1950"/>
                        </a:lnSpc>
                        <a:spcBef>
                          <a:spcPts val="640"/>
                        </a:spcBef>
                        <a:spcAft>
                          <a:spcPts val="0"/>
                        </a:spcAft>
                      </a:pPr>
                      <a:r>
                        <a:rPr lang="zh-CN" sz="1600" spc="10">
                          <a:effectLst/>
                        </a:rPr>
                        <a:t>肉豆蔻酸</a:t>
                      </a:r>
                      <a:endParaRPr lang="en-US" sz="1600">
                        <a:effectLst/>
                      </a:endParaRPr>
                    </a:p>
                    <a:p>
                      <a:pPr marL="54610" marR="0" eaLnBrk="0">
                        <a:lnSpc>
                          <a:spcPct val="91000"/>
                        </a:lnSpc>
                        <a:spcBef>
                          <a:spcPts val="0"/>
                        </a:spcBef>
                        <a:spcAft>
                          <a:spcPts val="0"/>
                        </a:spcAft>
                      </a:pPr>
                      <a:r>
                        <a:rPr lang="zh-CN" sz="1600" spc="15">
                          <a:effectLst/>
                        </a:rPr>
                        <a:t>月桂酸</a:t>
                      </a:r>
                      <a:endParaRPr lang="en-US" sz="1600">
                        <a:solidFill>
                          <a:srgbClr val="000000"/>
                        </a:solidFill>
                        <a:effectLst/>
                        <a:latin typeface="Arial" panose="020B0604020202020204" pitchFamily="34" charset="0"/>
                        <a:ea typeface="Arial" panose="020B0604020202020204" pitchFamily="34" charset="0"/>
                      </a:endParaRPr>
                    </a:p>
                  </a:txBody>
                  <a:tcPr marL="0" marR="0" marT="0" marB="0"/>
                </a:tc>
                <a:tc rowSpan="2">
                  <a:txBody>
                    <a:bodyPr/>
                    <a:lstStyle/>
                    <a:p>
                      <a:pPr marL="352425" marR="0" eaLnBrk="0">
                        <a:lnSpc>
                          <a:spcPts val="1950"/>
                        </a:lnSpc>
                        <a:spcBef>
                          <a:spcPts val="635"/>
                        </a:spcBef>
                        <a:spcAft>
                          <a:spcPts val="0"/>
                        </a:spcAft>
                      </a:pPr>
                      <a:r>
                        <a:rPr lang="en-US" sz="1600" spc="-15">
                          <a:effectLst/>
                        </a:rPr>
                        <a:t>0.5</a:t>
                      </a:r>
                      <a:endParaRPr lang="en-US" sz="1600">
                        <a:effectLst/>
                      </a:endParaRPr>
                    </a:p>
                    <a:p>
                      <a:pPr marL="352425" marR="0" eaLnBrk="0">
                        <a:lnSpc>
                          <a:spcPct val="76000"/>
                        </a:lnSpc>
                        <a:spcBef>
                          <a:spcPts val="0"/>
                        </a:spcBef>
                        <a:spcAft>
                          <a:spcPts val="0"/>
                        </a:spcAft>
                      </a:pPr>
                      <a:r>
                        <a:rPr lang="en-US" sz="1600" spc="-15">
                          <a:effectLst/>
                        </a:rPr>
                        <a:t>2.5</a:t>
                      </a:r>
                      <a:endParaRPr lang="en-US" sz="1600">
                        <a:effectLst/>
                      </a:endParaRPr>
                    </a:p>
                    <a:p>
                      <a:pPr marL="384810" marR="0" eaLnBrk="0">
                        <a:lnSpc>
                          <a:spcPct val="76000"/>
                        </a:lnSpc>
                        <a:spcBef>
                          <a:spcPts val="900"/>
                        </a:spcBef>
                        <a:spcAft>
                          <a:spcPts val="0"/>
                        </a:spcAft>
                      </a:pPr>
                      <a:r>
                        <a:rPr lang="en-US" sz="1600" spc="-35">
                          <a:effectLst/>
                        </a:rPr>
                        <a:t>12</a:t>
                      </a:r>
                      <a:endParaRPr lang="en-US" sz="1600">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161925" marR="0" eaLnBrk="0">
                        <a:lnSpc>
                          <a:spcPct val="92000"/>
                        </a:lnSpc>
                        <a:spcBef>
                          <a:spcPts val="415"/>
                        </a:spcBef>
                        <a:spcAft>
                          <a:spcPts val="0"/>
                        </a:spcAft>
                      </a:pPr>
                      <a:r>
                        <a:rPr lang="en-US" sz="1600" spc="45">
                          <a:effectLst/>
                        </a:rPr>
                        <a:t>C</a:t>
                      </a:r>
                      <a:r>
                        <a:rPr lang="zh-CN" sz="1600" spc="45">
                          <a:effectLst/>
                        </a:rPr>
                        <a:t>相</a:t>
                      </a:r>
                      <a:endParaRPr lang="en-US" sz="1600">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53975" marR="0" eaLnBrk="0">
                        <a:lnSpc>
                          <a:spcPct val="91000"/>
                        </a:lnSpc>
                        <a:spcBef>
                          <a:spcPts val="405"/>
                        </a:spcBef>
                        <a:spcAft>
                          <a:spcPts val="0"/>
                        </a:spcAft>
                      </a:pPr>
                      <a:r>
                        <a:rPr lang="zh-CN" sz="1600">
                          <a:effectLst/>
                        </a:rPr>
                        <a:t>水</a:t>
                      </a:r>
                      <a:endParaRPr lang="en-US" sz="1600">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384175" marR="0" eaLnBrk="0">
                        <a:lnSpc>
                          <a:spcPct val="76000"/>
                        </a:lnSpc>
                        <a:spcBef>
                          <a:spcPts val="680"/>
                        </a:spcBef>
                        <a:spcAft>
                          <a:spcPts val="0"/>
                        </a:spcAft>
                      </a:pPr>
                      <a:r>
                        <a:rPr lang="en-US" sz="1600" spc="-35">
                          <a:effectLst/>
                        </a:rPr>
                        <a:t>10</a:t>
                      </a:r>
                      <a:endParaRPr lang="en-US" sz="1600">
                        <a:solidFill>
                          <a:srgbClr val="000000"/>
                        </a:solidFill>
                        <a:effectLst/>
                        <a:latin typeface="Arial" panose="020B0604020202020204" pitchFamily="34" charset="0"/>
                        <a:ea typeface="Arial" panose="020B0604020202020204" pitchFamily="34" charset="0"/>
                      </a:endParaRPr>
                    </a:p>
                  </a:txBody>
                  <a:tcPr marL="0" marR="0" marT="0" marB="0"/>
                </a:tc>
                <a:extLst>
                  <a:ext uri="{0D108BD9-81ED-4DB2-BD59-A6C34878D82A}">
                    <a16:rowId xmlns:a16="http://schemas.microsoft.com/office/drawing/2014/main" val="1725352752"/>
                  </a:ext>
                </a:extLst>
              </a:tr>
              <a:tr h="1088205">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161925" marR="0" eaLnBrk="0">
                        <a:lnSpc>
                          <a:spcPct val="92000"/>
                        </a:lnSpc>
                        <a:spcBef>
                          <a:spcPts val="1425"/>
                        </a:spcBef>
                        <a:spcAft>
                          <a:spcPts val="0"/>
                        </a:spcAft>
                      </a:pPr>
                      <a:r>
                        <a:rPr lang="en-US" sz="1600" spc="45">
                          <a:effectLst/>
                        </a:rPr>
                        <a:t>D</a:t>
                      </a:r>
                      <a:r>
                        <a:rPr lang="zh-CN" sz="1600" spc="45">
                          <a:effectLst/>
                        </a:rPr>
                        <a:t>相</a:t>
                      </a:r>
                      <a:endParaRPr lang="en-US" sz="1600">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53975" marR="0" eaLnBrk="0">
                        <a:lnSpc>
                          <a:spcPts val="2000"/>
                        </a:lnSpc>
                        <a:spcBef>
                          <a:spcPts val="455"/>
                        </a:spcBef>
                        <a:spcAft>
                          <a:spcPts val="0"/>
                        </a:spcAft>
                      </a:pPr>
                      <a:r>
                        <a:rPr lang="zh-CN" sz="1600" spc="15">
                          <a:effectLst/>
                        </a:rPr>
                        <a:t>月桂基聚醚硫酸酯钠</a:t>
                      </a:r>
                      <a:r>
                        <a:rPr lang="en-US" sz="1600" spc="15">
                          <a:effectLst/>
                        </a:rPr>
                        <a:t>(27%)</a:t>
                      </a:r>
                      <a:endParaRPr lang="en-US" sz="1600">
                        <a:effectLst/>
                      </a:endParaRPr>
                    </a:p>
                    <a:p>
                      <a:pPr marL="53975" marR="0" eaLnBrk="0">
                        <a:lnSpc>
                          <a:spcPct val="91000"/>
                        </a:lnSpc>
                        <a:spcBef>
                          <a:spcPts val="0"/>
                        </a:spcBef>
                        <a:spcAft>
                          <a:spcPts val="0"/>
                        </a:spcAft>
                      </a:pPr>
                      <a:r>
                        <a:rPr lang="zh-CN" sz="1600" spc="15">
                          <a:effectLst/>
                        </a:rPr>
                        <a:t>椰油酰胺丙基甜菜碱</a:t>
                      </a:r>
                      <a:r>
                        <a:rPr lang="en-US" sz="1600" spc="15">
                          <a:effectLst/>
                        </a:rPr>
                        <a:t>(30%)</a:t>
                      </a:r>
                      <a:endParaRPr lang="en-US" sz="1600">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384175" marR="0" eaLnBrk="0">
                        <a:lnSpc>
                          <a:spcPct val="76000"/>
                        </a:lnSpc>
                        <a:spcBef>
                          <a:spcPts val="735"/>
                        </a:spcBef>
                        <a:spcAft>
                          <a:spcPts val="0"/>
                        </a:spcAft>
                      </a:pPr>
                      <a:r>
                        <a:rPr lang="en-US" sz="1600" spc="-35">
                          <a:effectLst/>
                        </a:rPr>
                        <a:t>15</a:t>
                      </a:r>
                      <a:endParaRPr lang="en-US" sz="1600">
                        <a:effectLst/>
                      </a:endParaRPr>
                    </a:p>
                    <a:p>
                      <a:pPr marL="422275" marR="0" eaLnBrk="0">
                        <a:lnSpc>
                          <a:spcPct val="76000"/>
                        </a:lnSpc>
                        <a:spcBef>
                          <a:spcPts val="910"/>
                        </a:spcBef>
                        <a:spcAft>
                          <a:spcPts val="0"/>
                        </a:spcAft>
                      </a:pPr>
                      <a:r>
                        <a:rPr lang="en-US" sz="1600">
                          <a:effectLst/>
                        </a:rPr>
                        <a:t>9</a:t>
                      </a:r>
                      <a:endParaRPr lang="en-US" sz="1600">
                        <a:solidFill>
                          <a:srgbClr val="000000"/>
                        </a:solidFill>
                        <a:effectLst/>
                        <a:latin typeface="Arial" panose="020B0604020202020204" pitchFamily="34" charset="0"/>
                        <a:ea typeface="Arial" panose="020B0604020202020204" pitchFamily="34" charset="0"/>
                      </a:endParaRPr>
                    </a:p>
                  </a:txBody>
                  <a:tcPr marL="0" marR="0" marT="0" marB="0"/>
                </a:tc>
                <a:extLst>
                  <a:ext uri="{0D108BD9-81ED-4DB2-BD59-A6C34878D82A}">
                    <a16:rowId xmlns:a16="http://schemas.microsoft.com/office/drawing/2014/main" val="4219013767"/>
                  </a:ext>
                </a:extLst>
              </a:tr>
              <a:tr h="668867">
                <a:tc>
                  <a:txBody>
                    <a:bodyPr/>
                    <a:lstStyle/>
                    <a:p>
                      <a:pPr marL="151765" marR="0" eaLnBrk="0">
                        <a:lnSpc>
                          <a:spcPct val="92000"/>
                        </a:lnSpc>
                        <a:spcBef>
                          <a:spcPts val="1485"/>
                        </a:spcBef>
                        <a:spcAft>
                          <a:spcPts val="0"/>
                        </a:spcAft>
                      </a:pPr>
                      <a:r>
                        <a:rPr lang="en-US" sz="1600" spc="45">
                          <a:effectLst/>
                        </a:rPr>
                        <a:t>B</a:t>
                      </a:r>
                      <a:r>
                        <a:rPr lang="zh-CN" sz="1600" spc="45">
                          <a:effectLst/>
                        </a:rPr>
                        <a:t>相</a:t>
                      </a:r>
                      <a:endParaRPr lang="en-US" sz="1600">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54610" marR="0" eaLnBrk="0">
                        <a:lnSpc>
                          <a:spcPct val="91000"/>
                        </a:lnSpc>
                        <a:spcBef>
                          <a:spcPts val="525"/>
                        </a:spcBef>
                        <a:spcAft>
                          <a:spcPts val="0"/>
                        </a:spcAft>
                      </a:pPr>
                      <a:r>
                        <a:rPr lang="zh-CN" sz="1600">
                          <a:effectLst/>
                        </a:rPr>
                        <a:t>水</a:t>
                      </a:r>
                      <a:endParaRPr lang="en-US" sz="1600">
                        <a:effectLst/>
                      </a:endParaRPr>
                    </a:p>
                    <a:p>
                      <a:pPr marL="54610" marR="0" eaLnBrk="0">
                        <a:lnSpc>
                          <a:spcPct val="91000"/>
                        </a:lnSpc>
                        <a:spcBef>
                          <a:spcPts val="635"/>
                        </a:spcBef>
                        <a:spcAft>
                          <a:spcPts val="0"/>
                        </a:spcAft>
                      </a:pPr>
                      <a:r>
                        <a:rPr lang="zh-CN" sz="1600" spc="25">
                          <a:effectLst/>
                        </a:rPr>
                        <a:t>氢氧化钾</a:t>
                      </a:r>
                      <a:r>
                        <a:rPr lang="en-US" sz="1600" spc="25">
                          <a:effectLst/>
                        </a:rPr>
                        <a:t>(85%)</a:t>
                      </a:r>
                      <a:endParaRPr lang="en-US" sz="1600">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212725" marR="0" eaLnBrk="0">
                        <a:lnSpc>
                          <a:spcPts val="2260"/>
                        </a:lnSpc>
                        <a:spcBef>
                          <a:spcPts val="495"/>
                        </a:spcBef>
                        <a:spcAft>
                          <a:spcPts val="0"/>
                        </a:spcAft>
                      </a:pPr>
                      <a:r>
                        <a:rPr lang="zh-CN" sz="1600" spc="-10">
                          <a:effectLst/>
                        </a:rPr>
                        <a:t>加至</a:t>
                      </a:r>
                      <a:r>
                        <a:rPr lang="en-US" sz="1600" spc="-10">
                          <a:effectLst/>
                        </a:rPr>
                        <a:t>100</a:t>
                      </a:r>
                      <a:endParaRPr lang="en-US" sz="1600">
                        <a:effectLst/>
                      </a:endParaRPr>
                    </a:p>
                    <a:p>
                      <a:pPr marL="314325" marR="0" eaLnBrk="0">
                        <a:lnSpc>
                          <a:spcPct val="76000"/>
                        </a:lnSpc>
                        <a:spcBef>
                          <a:spcPts val="0"/>
                        </a:spcBef>
                        <a:spcAft>
                          <a:spcPts val="0"/>
                        </a:spcAft>
                      </a:pPr>
                      <a:r>
                        <a:rPr lang="en-US" sz="1600" spc="-10">
                          <a:effectLst/>
                        </a:rPr>
                        <a:t>4.65</a:t>
                      </a:r>
                      <a:endParaRPr lang="en-US" sz="1600">
                        <a:solidFill>
                          <a:srgbClr val="000000"/>
                        </a:solidFill>
                        <a:effectLst/>
                        <a:latin typeface="Arial" panose="020B0604020202020204" pitchFamily="34" charset="0"/>
                        <a:ea typeface="Arial" panose="020B0604020202020204" pitchFamily="34" charset="0"/>
                      </a:endParaRPr>
                    </a:p>
                  </a:txBody>
                  <a:tcPr marL="0" marR="0" marT="0" marB="0"/>
                </a:tc>
                <a:tc rowSpan="2">
                  <a:txBody>
                    <a:bodyPr/>
                    <a:lstStyle/>
                    <a:p>
                      <a:pPr marL="0" marR="0" eaLnBrk="0">
                        <a:lnSpc>
                          <a:spcPct val="119000"/>
                        </a:lnSpc>
                        <a:spcBef>
                          <a:spcPts val="0"/>
                        </a:spcBef>
                        <a:spcAft>
                          <a:spcPts val="0"/>
                        </a:spcAft>
                      </a:pPr>
                      <a:r>
                        <a:rPr lang="en-US" sz="1600">
                          <a:effectLst/>
                        </a:rPr>
                        <a:t> </a:t>
                      </a:r>
                    </a:p>
                    <a:p>
                      <a:pPr marL="0" marR="0" eaLnBrk="0">
                        <a:lnSpc>
                          <a:spcPct val="119000"/>
                        </a:lnSpc>
                        <a:spcBef>
                          <a:spcPts val="0"/>
                        </a:spcBef>
                        <a:spcAft>
                          <a:spcPts val="0"/>
                        </a:spcAft>
                      </a:pPr>
                      <a:r>
                        <a:rPr lang="en-US" sz="1600">
                          <a:effectLst/>
                        </a:rPr>
                        <a:t> </a:t>
                      </a:r>
                    </a:p>
                    <a:p>
                      <a:pPr marL="161925" marR="0" eaLnBrk="0">
                        <a:lnSpc>
                          <a:spcPct val="92000"/>
                        </a:lnSpc>
                        <a:spcBef>
                          <a:spcPts val="360"/>
                        </a:spcBef>
                        <a:spcAft>
                          <a:spcPts val="0"/>
                        </a:spcAft>
                      </a:pPr>
                      <a:r>
                        <a:rPr lang="en-US" sz="1600" spc="45">
                          <a:effectLst/>
                        </a:rPr>
                        <a:t>E</a:t>
                      </a:r>
                      <a:r>
                        <a:rPr lang="zh-CN" sz="1600" spc="45">
                          <a:effectLst/>
                        </a:rPr>
                        <a:t>相</a:t>
                      </a:r>
                      <a:endParaRPr lang="en-US" sz="1600">
                        <a:solidFill>
                          <a:srgbClr val="000000"/>
                        </a:solidFill>
                        <a:effectLst/>
                        <a:latin typeface="Arial" panose="020B0604020202020204" pitchFamily="34" charset="0"/>
                        <a:ea typeface="Arial" panose="020B0604020202020204" pitchFamily="34" charset="0"/>
                      </a:endParaRPr>
                    </a:p>
                  </a:txBody>
                  <a:tcPr marL="0" marR="0" marT="0" marB="0"/>
                </a:tc>
                <a:tc rowSpan="2">
                  <a:txBody>
                    <a:bodyPr/>
                    <a:lstStyle/>
                    <a:p>
                      <a:pPr marL="53975" marR="0" eaLnBrk="0">
                        <a:lnSpc>
                          <a:spcPts val="1885"/>
                        </a:lnSpc>
                        <a:spcBef>
                          <a:spcPts val="1180"/>
                        </a:spcBef>
                        <a:spcAft>
                          <a:spcPts val="0"/>
                        </a:spcAft>
                      </a:pPr>
                      <a:r>
                        <a:rPr lang="zh-CN" sz="1600" spc="20">
                          <a:effectLst/>
                        </a:rPr>
                        <a:t>氯化钠</a:t>
                      </a:r>
                      <a:endParaRPr lang="en-US" sz="1600">
                        <a:effectLst/>
                      </a:endParaRPr>
                    </a:p>
                    <a:p>
                      <a:pPr marL="53975" marR="0" eaLnBrk="0">
                        <a:lnSpc>
                          <a:spcPct val="90000"/>
                        </a:lnSpc>
                        <a:spcBef>
                          <a:spcPts val="0"/>
                        </a:spcBef>
                        <a:spcAft>
                          <a:spcPts val="0"/>
                        </a:spcAft>
                      </a:pPr>
                      <a:r>
                        <a:rPr lang="zh-CN" sz="1600" spc="25">
                          <a:effectLst/>
                        </a:rPr>
                        <a:t>香精</a:t>
                      </a:r>
                      <a:endParaRPr lang="en-US" sz="1600">
                        <a:effectLst/>
                      </a:endParaRPr>
                    </a:p>
                    <a:p>
                      <a:pPr marL="53975" marR="0" eaLnBrk="0">
                        <a:lnSpc>
                          <a:spcPct val="91000"/>
                        </a:lnSpc>
                        <a:spcBef>
                          <a:spcPts val="645"/>
                        </a:spcBef>
                        <a:spcAft>
                          <a:spcPts val="0"/>
                        </a:spcAft>
                      </a:pPr>
                      <a:r>
                        <a:rPr lang="zh-CN" sz="1600" spc="20">
                          <a:effectLst/>
                        </a:rPr>
                        <a:t>防腐剂</a:t>
                      </a:r>
                      <a:endParaRPr lang="en-US" sz="1600">
                        <a:solidFill>
                          <a:srgbClr val="000000"/>
                        </a:solidFill>
                        <a:effectLst/>
                        <a:latin typeface="Arial" panose="020B0604020202020204" pitchFamily="34" charset="0"/>
                        <a:ea typeface="Arial" panose="020B0604020202020204" pitchFamily="34" charset="0"/>
                      </a:endParaRPr>
                    </a:p>
                  </a:txBody>
                  <a:tcPr marL="0" marR="0" marT="0" marB="0"/>
                </a:tc>
                <a:tc rowSpan="2">
                  <a:txBody>
                    <a:bodyPr/>
                    <a:lstStyle/>
                    <a:p>
                      <a:pPr marL="353060" marR="0" eaLnBrk="0">
                        <a:lnSpc>
                          <a:spcPts val="1550"/>
                        </a:lnSpc>
                        <a:spcBef>
                          <a:spcPts val="1505"/>
                        </a:spcBef>
                        <a:spcAft>
                          <a:spcPts val="0"/>
                        </a:spcAft>
                      </a:pPr>
                      <a:r>
                        <a:rPr lang="en-US" sz="1600" spc="-15">
                          <a:effectLst/>
                        </a:rPr>
                        <a:t>2.5</a:t>
                      </a:r>
                      <a:endParaRPr lang="en-US" sz="1600">
                        <a:effectLst/>
                      </a:endParaRPr>
                    </a:p>
                    <a:p>
                      <a:pPr marL="314325" marR="0" eaLnBrk="0">
                        <a:lnSpc>
                          <a:spcPct val="93000"/>
                        </a:lnSpc>
                        <a:spcBef>
                          <a:spcPts val="0"/>
                        </a:spcBef>
                        <a:spcAft>
                          <a:spcPts val="0"/>
                        </a:spcAft>
                      </a:pPr>
                      <a:r>
                        <a:rPr lang="zh-CN" sz="1600" spc="-15">
                          <a:effectLst/>
                        </a:rPr>
                        <a:t>适量</a:t>
                      </a:r>
                      <a:endParaRPr lang="en-US" sz="1600">
                        <a:effectLst/>
                      </a:endParaRPr>
                    </a:p>
                    <a:p>
                      <a:pPr marL="314325" marR="0" eaLnBrk="0">
                        <a:lnSpc>
                          <a:spcPct val="93000"/>
                        </a:lnSpc>
                        <a:spcBef>
                          <a:spcPts val="555"/>
                        </a:spcBef>
                        <a:spcAft>
                          <a:spcPts val="0"/>
                        </a:spcAft>
                      </a:pPr>
                      <a:r>
                        <a:rPr lang="zh-CN" sz="1600" spc="-15">
                          <a:effectLst/>
                        </a:rPr>
                        <a:t>适量</a:t>
                      </a:r>
                      <a:endParaRPr lang="en-US" sz="1600">
                        <a:solidFill>
                          <a:srgbClr val="000000"/>
                        </a:solidFill>
                        <a:effectLst/>
                        <a:latin typeface="Arial" panose="020B0604020202020204" pitchFamily="34" charset="0"/>
                        <a:ea typeface="Arial" panose="020B0604020202020204" pitchFamily="34" charset="0"/>
                      </a:endParaRPr>
                    </a:p>
                  </a:txBody>
                  <a:tcPr marL="0" marR="0" marT="0" marB="0"/>
                </a:tc>
                <a:extLst>
                  <a:ext uri="{0D108BD9-81ED-4DB2-BD59-A6C34878D82A}">
                    <a16:rowId xmlns:a16="http://schemas.microsoft.com/office/drawing/2014/main" val="3194572217"/>
                  </a:ext>
                </a:extLst>
              </a:tr>
              <a:tr h="588977">
                <a:tc>
                  <a:txBody>
                    <a:bodyPr/>
                    <a:lstStyle/>
                    <a:p>
                      <a:pPr marL="151765" marR="0" eaLnBrk="0">
                        <a:lnSpc>
                          <a:spcPct val="92000"/>
                        </a:lnSpc>
                        <a:spcBef>
                          <a:spcPts val="1255"/>
                        </a:spcBef>
                        <a:spcAft>
                          <a:spcPts val="0"/>
                        </a:spcAft>
                      </a:pPr>
                      <a:r>
                        <a:rPr lang="en-US" sz="1600" spc="45">
                          <a:effectLst/>
                        </a:rPr>
                        <a:t>C</a:t>
                      </a:r>
                      <a:r>
                        <a:rPr lang="zh-CN" sz="1600" spc="45">
                          <a:effectLst/>
                        </a:rPr>
                        <a:t>相</a:t>
                      </a:r>
                      <a:endParaRPr lang="en-US" sz="1600">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54610" marR="69215" indent="113665" eaLnBrk="0">
                        <a:lnSpc>
                          <a:spcPct val="96000"/>
                        </a:lnSpc>
                        <a:spcBef>
                          <a:spcPts val="390"/>
                        </a:spcBef>
                        <a:spcAft>
                          <a:spcPts val="0"/>
                        </a:spcAft>
                      </a:pPr>
                      <a:r>
                        <a:rPr lang="zh-CN" sz="1600" spc="5">
                          <a:effectLst/>
                        </a:rPr>
                        <a:t>丙烯酸酯</a:t>
                      </a:r>
                      <a:r>
                        <a:rPr lang="en-US" sz="1600" spc="5">
                          <a:effectLst/>
                        </a:rPr>
                        <a:t>/</a:t>
                      </a:r>
                      <a:r>
                        <a:rPr lang="zh-CN" sz="1600" spc="5">
                          <a:effectLst/>
                        </a:rPr>
                        <a:t>山嵛醇</a:t>
                      </a:r>
                      <a:r>
                        <a:rPr lang="en-US" sz="1600" spc="5">
                          <a:effectLst/>
                        </a:rPr>
                        <a:t>-25</a:t>
                      </a:r>
                      <a:r>
                        <a:rPr lang="zh-CN" sz="1600" spc="5">
                          <a:effectLst/>
                        </a:rPr>
                        <a:t>甲基丙</a:t>
                      </a:r>
                      <a:r>
                        <a:rPr lang="zh-CN" sz="1600">
                          <a:effectLst/>
                        </a:rPr>
                        <a:t> </a:t>
                      </a:r>
                      <a:r>
                        <a:rPr lang="zh-CN" sz="1600" spc="5">
                          <a:effectLst/>
                        </a:rPr>
                        <a:t>烯酸酯共聚物</a:t>
                      </a:r>
                      <a:endParaRPr lang="en-US" sz="1600">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384810" marR="0" eaLnBrk="0">
                        <a:lnSpc>
                          <a:spcPct val="76000"/>
                        </a:lnSpc>
                        <a:spcBef>
                          <a:spcPts val="1515"/>
                        </a:spcBef>
                        <a:spcAft>
                          <a:spcPts val="0"/>
                        </a:spcAft>
                      </a:pPr>
                      <a:r>
                        <a:rPr lang="en-US" sz="1600" spc="-35" dirty="0">
                          <a:effectLst/>
                        </a:rPr>
                        <a:t>10</a:t>
                      </a:r>
                      <a:endParaRPr lang="en-US" sz="1600" dirty="0">
                        <a:solidFill>
                          <a:srgbClr val="000000"/>
                        </a:solidFill>
                        <a:effectLst/>
                        <a:latin typeface="Arial" panose="020B0604020202020204" pitchFamily="34" charset="0"/>
                        <a:ea typeface="Arial" panose="020B0604020202020204" pitchFamily="34" charset="0"/>
                      </a:endParaRPr>
                    </a:p>
                  </a:txBody>
                  <a:tcPr marL="0" marR="0" marT="0" marB="0"/>
                </a:tc>
                <a:tc vMerge="1">
                  <a:txBody>
                    <a:bodyPr/>
                    <a:lstStyle/>
                    <a:p>
                      <a:endParaRPr lang="en-US"/>
                    </a:p>
                  </a:txBody>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1832676017"/>
                  </a:ext>
                </a:extLst>
              </a:tr>
            </a:tbl>
          </a:graphicData>
        </a:graphic>
      </p:graphicFrame>
    </p:spTree>
    <p:extLst>
      <p:ext uri="{BB962C8B-B14F-4D97-AF65-F5344CB8AC3E}">
        <p14:creationId xmlns:p14="http://schemas.microsoft.com/office/powerpoint/2010/main" val="303992171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54</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皂基洁肤产品工艺</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030057"/>
            <a:ext cx="8778240" cy="5006563"/>
          </a:xfrm>
          <a:prstGeom prst="rect">
            <a:avLst/>
          </a:prstGeom>
          <a:noFill/>
        </p:spPr>
        <p:txBody>
          <a:bodyPr wrap="square" rtlCol="0">
            <a:spAutoFit/>
          </a:bodyPr>
          <a:lstStyle/>
          <a:p>
            <a:pPr>
              <a:lnSpc>
                <a:spcPct val="150000"/>
              </a:lnSpc>
            </a:pPr>
            <a:r>
              <a:rPr lang="zh-CN" altLang="en-US" sz="2400" b="1" dirty="0">
                <a:latin typeface="KaiTi" panose="02010609060101010101" pitchFamily="49" charset="-122"/>
                <a:ea typeface="KaiTi" panose="02010609060101010101" pitchFamily="49" charset="-122"/>
              </a:rPr>
              <a:t>① 将 </a:t>
            </a:r>
            <a:r>
              <a:rPr lang="en-US" altLang="zh-CN" sz="2400" b="1" dirty="0">
                <a:latin typeface="KaiTi" panose="02010609060101010101" pitchFamily="49" charset="-122"/>
                <a:ea typeface="KaiTi" panose="02010609060101010101" pitchFamily="49" charset="-122"/>
              </a:rPr>
              <a:t>A </a:t>
            </a:r>
            <a:r>
              <a:rPr lang="zh-CN" altLang="en-US" sz="2400" b="1" dirty="0">
                <a:latin typeface="KaiTi" panose="02010609060101010101" pitchFamily="49" charset="-122"/>
                <a:ea typeface="KaiTi" panose="02010609060101010101" pitchFamily="49" charset="-122"/>
              </a:rPr>
              <a:t>相和 </a:t>
            </a:r>
            <a:r>
              <a:rPr lang="en-US" altLang="zh-CN" sz="2400" b="1" dirty="0">
                <a:latin typeface="KaiTi" panose="02010609060101010101" pitchFamily="49" charset="-122"/>
                <a:ea typeface="KaiTi" panose="02010609060101010101" pitchFamily="49" charset="-122"/>
              </a:rPr>
              <a:t>B </a:t>
            </a:r>
            <a:r>
              <a:rPr lang="zh-CN" altLang="en-US" sz="2400" b="1" dirty="0">
                <a:latin typeface="KaiTi" panose="02010609060101010101" pitchFamily="49" charset="-122"/>
                <a:ea typeface="KaiTi" panose="02010609060101010101" pitchFamily="49" charset="-122"/>
              </a:rPr>
              <a:t>相各原料混合均匀，混合均匀后分别加热至</a:t>
            </a:r>
            <a:r>
              <a:rPr lang="en-US" altLang="zh-CN" sz="2400" b="1" dirty="0">
                <a:latin typeface="KaiTi" panose="02010609060101010101" pitchFamily="49" charset="-122"/>
                <a:ea typeface="KaiTi" panose="02010609060101010101" pitchFamily="49" charset="-122"/>
              </a:rPr>
              <a:t>80℃</a:t>
            </a:r>
            <a:r>
              <a:rPr lang="zh-CN" altLang="en-US" sz="2400" b="1" dirty="0">
                <a:latin typeface="KaiTi" panose="02010609060101010101" pitchFamily="49" charset="-122"/>
                <a:ea typeface="KaiTi" panose="02010609060101010101" pitchFamily="49" charset="-122"/>
              </a:rPr>
              <a:t>左右；</a:t>
            </a:r>
          </a:p>
          <a:p>
            <a:pPr>
              <a:lnSpc>
                <a:spcPct val="150000"/>
              </a:lnSpc>
            </a:pPr>
            <a:r>
              <a:rPr lang="zh-CN" altLang="en-US" sz="2400" b="1" dirty="0">
                <a:latin typeface="KaiTi" panose="02010609060101010101" pitchFamily="49" charset="-122"/>
                <a:ea typeface="KaiTi" panose="02010609060101010101" pitchFamily="49" charset="-122"/>
              </a:rPr>
              <a:t>② 均质 </a:t>
            </a:r>
            <a:r>
              <a:rPr lang="en-US" altLang="zh-CN" sz="2400" b="1" dirty="0">
                <a:latin typeface="KaiTi" panose="02010609060101010101" pitchFamily="49" charset="-122"/>
                <a:ea typeface="KaiTi" panose="02010609060101010101" pitchFamily="49" charset="-122"/>
              </a:rPr>
              <a:t>A </a:t>
            </a:r>
            <a:r>
              <a:rPr lang="zh-CN" altLang="en-US" sz="2400" b="1" dirty="0">
                <a:latin typeface="KaiTi" panose="02010609060101010101" pitchFamily="49" charset="-122"/>
                <a:ea typeface="KaiTi" panose="02010609060101010101" pitchFamily="49" charset="-122"/>
              </a:rPr>
              <a:t>相，然后缓慢加入 </a:t>
            </a:r>
            <a:r>
              <a:rPr lang="en-US" altLang="zh-CN" sz="2400" b="1" dirty="0">
                <a:latin typeface="KaiTi" panose="02010609060101010101" pitchFamily="49" charset="-122"/>
                <a:ea typeface="KaiTi" panose="02010609060101010101" pitchFamily="49" charset="-122"/>
              </a:rPr>
              <a:t>B </a:t>
            </a:r>
            <a:r>
              <a:rPr lang="zh-CN" altLang="en-US" sz="2400" b="1" dirty="0">
                <a:latin typeface="KaiTi" panose="02010609060101010101" pitchFamily="49" charset="-122"/>
                <a:ea typeface="KaiTi" panose="02010609060101010101" pitchFamily="49" charset="-122"/>
              </a:rPr>
              <a:t>相，加完后均质</a:t>
            </a:r>
            <a:r>
              <a:rPr lang="en-US" altLang="zh-CN" sz="2400" b="1" dirty="0">
                <a:latin typeface="KaiTi" panose="02010609060101010101" pitchFamily="49" charset="-122"/>
                <a:ea typeface="KaiTi" panose="02010609060101010101" pitchFamily="49" charset="-122"/>
              </a:rPr>
              <a:t>5 min, </a:t>
            </a:r>
            <a:r>
              <a:rPr lang="zh-CN" altLang="en-US" sz="2400" b="1" dirty="0">
                <a:latin typeface="KaiTi" panose="02010609060101010101" pitchFamily="49" charset="-122"/>
                <a:ea typeface="KaiTi" panose="02010609060101010101" pitchFamily="49" charset="-122"/>
              </a:rPr>
              <a:t>保温搅拌</a:t>
            </a:r>
            <a:r>
              <a:rPr lang="en-US" altLang="zh-CN" sz="2400" b="1" dirty="0">
                <a:latin typeface="KaiTi" panose="02010609060101010101" pitchFamily="49" charset="-122"/>
                <a:ea typeface="KaiTi" panose="02010609060101010101" pitchFamily="49" charset="-122"/>
              </a:rPr>
              <a:t>30 min, </a:t>
            </a:r>
            <a:r>
              <a:rPr lang="zh-CN" altLang="en-US" sz="2400" b="1" dirty="0">
                <a:latin typeface="KaiTi" panose="02010609060101010101" pitchFamily="49" charset="-122"/>
                <a:ea typeface="KaiTi" panose="02010609060101010101" pitchFamily="49" charset="-122"/>
              </a:rPr>
              <a:t>然后开始冷却；</a:t>
            </a:r>
          </a:p>
          <a:p>
            <a:pPr>
              <a:lnSpc>
                <a:spcPct val="150000"/>
              </a:lnSpc>
            </a:pPr>
            <a:r>
              <a:rPr lang="zh-CN" altLang="en-US" sz="2400" b="1" dirty="0">
                <a:latin typeface="KaiTi" panose="02010609060101010101" pitchFamily="49" charset="-122"/>
                <a:ea typeface="KaiTi" panose="02010609060101010101" pitchFamily="49" charset="-122"/>
              </a:rPr>
              <a:t>③ 同时室温下预混 </a:t>
            </a:r>
            <a:r>
              <a:rPr lang="en-US" altLang="zh-CN" sz="2400" b="1" dirty="0">
                <a:latin typeface="KaiTi" panose="02010609060101010101" pitchFamily="49" charset="-122"/>
                <a:ea typeface="KaiTi" panose="02010609060101010101" pitchFamily="49" charset="-122"/>
              </a:rPr>
              <a:t>C </a:t>
            </a:r>
            <a:r>
              <a:rPr lang="zh-CN" altLang="en-US" sz="2400" b="1" dirty="0">
                <a:latin typeface="KaiTi" panose="02010609060101010101" pitchFamily="49" charset="-122"/>
                <a:ea typeface="KaiTi" panose="02010609060101010101" pitchFamily="49" charset="-122"/>
              </a:rPr>
              <a:t>相组分；</a:t>
            </a:r>
          </a:p>
          <a:p>
            <a:pPr>
              <a:lnSpc>
                <a:spcPct val="150000"/>
              </a:lnSpc>
            </a:pPr>
            <a:r>
              <a:rPr lang="zh-CN" altLang="en-US" sz="2400" b="1" dirty="0">
                <a:latin typeface="KaiTi" panose="02010609060101010101" pitchFamily="49" charset="-122"/>
                <a:ea typeface="KaiTi" panose="02010609060101010101" pitchFamily="49" charset="-122"/>
              </a:rPr>
              <a:t>④ 搅拌冷却至</a:t>
            </a:r>
            <a:r>
              <a:rPr lang="en-US" altLang="zh-CN" sz="2400" b="1" dirty="0">
                <a:latin typeface="KaiTi" panose="02010609060101010101" pitchFamily="49" charset="-122"/>
                <a:ea typeface="KaiTi" panose="02010609060101010101" pitchFamily="49" charset="-122"/>
              </a:rPr>
              <a:t>60 ℃,</a:t>
            </a:r>
            <a:r>
              <a:rPr lang="zh-CN" altLang="en-US" sz="2400" b="1" dirty="0">
                <a:latin typeface="KaiTi" panose="02010609060101010101" pitchFamily="49" charset="-122"/>
                <a:ea typeface="KaiTi" panose="02010609060101010101" pitchFamily="49" charset="-122"/>
              </a:rPr>
              <a:t>缓慢加入 </a:t>
            </a:r>
            <a:r>
              <a:rPr lang="en-US" altLang="zh-CN" sz="2400" b="1" dirty="0">
                <a:latin typeface="KaiTi" panose="02010609060101010101" pitchFamily="49" charset="-122"/>
                <a:ea typeface="KaiTi" panose="02010609060101010101" pitchFamily="49" charset="-122"/>
              </a:rPr>
              <a:t>C </a:t>
            </a:r>
            <a:r>
              <a:rPr lang="zh-CN" altLang="en-US" sz="2400" b="1" dirty="0">
                <a:latin typeface="KaiTi" panose="02010609060101010101" pitchFamily="49" charset="-122"/>
                <a:ea typeface="KaiTi" panose="02010609060101010101" pitchFamily="49" charset="-122"/>
              </a:rPr>
              <a:t>相和 </a:t>
            </a:r>
            <a:r>
              <a:rPr lang="en-US" altLang="zh-CN" sz="2400" b="1" dirty="0">
                <a:latin typeface="KaiTi" panose="02010609060101010101" pitchFamily="49" charset="-122"/>
                <a:ea typeface="KaiTi" panose="02010609060101010101" pitchFamily="49" charset="-122"/>
              </a:rPr>
              <a:t>D </a:t>
            </a:r>
            <a:r>
              <a:rPr lang="zh-CN" altLang="en-US" sz="2400" b="1" dirty="0">
                <a:latin typeface="KaiTi" panose="02010609060101010101" pitchFamily="49" charset="-122"/>
                <a:ea typeface="KaiTi" panose="02010609060101010101" pitchFamily="49" charset="-122"/>
              </a:rPr>
              <a:t>相中各组分，降低搅拌速度至完全混合均匀；</a:t>
            </a:r>
          </a:p>
          <a:p>
            <a:pPr>
              <a:lnSpc>
                <a:spcPct val="150000"/>
              </a:lnSpc>
            </a:pPr>
            <a:r>
              <a:rPr lang="zh-CN" altLang="en-US" sz="2400" b="1" dirty="0">
                <a:latin typeface="KaiTi" panose="02010609060101010101" pitchFamily="49" charset="-122"/>
                <a:ea typeface="KaiTi" panose="02010609060101010101" pitchFamily="49" charset="-122"/>
              </a:rPr>
              <a:t>⑤ 搅拌冷却至</a:t>
            </a:r>
            <a:r>
              <a:rPr lang="en-US" altLang="zh-CN" sz="2400" b="1" dirty="0">
                <a:latin typeface="KaiTi" panose="02010609060101010101" pitchFamily="49" charset="-122"/>
                <a:ea typeface="KaiTi" panose="02010609060101010101" pitchFamily="49" charset="-122"/>
              </a:rPr>
              <a:t>45 ℃,</a:t>
            </a:r>
            <a:r>
              <a:rPr lang="zh-CN" altLang="en-US" sz="2400" b="1" dirty="0">
                <a:latin typeface="KaiTi" panose="02010609060101010101" pitchFamily="49" charset="-122"/>
                <a:ea typeface="KaiTi" panose="02010609060101010101" pitchFamily="49" charset="-122"/>
              </a:rPr>
              <a:t>加入 </a:t>
            </a:r>
            <a:r>
              <a:rPr lang="en-US" altLang="zh-CN" sz="2400" b="1" dirty="0">
                <a:latin typeface="KaiTi" panose="02010609060101010101" pitchFamily="49" charset="-122"/>
                <a:ea typeface="KaiTi" panose="02010609060101010101" pitchFamily="49" charset="-122"/>
              </a:rPr>
              <a:t>E </a:t>
            </a:r>
            <a:r>
              <a:rPr lang="zh-CN" altLang="en-US" sz="2400" b="1" dirty="0">
                <a:latin typeface="KaiTi" panose="02010609060101010101" pitchFamily="49" charset="-122"/>
                <a:ea typeface="KaiTi" panose="02010609060101010101" pitchFamily="49" charset="-122"/>
              </a:rPr>
              <a:t>相中各组分，搅拌均匀，继续搅拌冷却至室温即可。</a:t>
            </a:r>
          </a:p>
        </p:txBody>
      </p:sp>
    </p:spTree>
    <p:extLst>
      <p:ext uri="{BB962C8B-B14F-4D97-AF65-F5344CB8AC3E}">
        <p14:creationId xmlns:p14="http://schemas.microsoft.com/office/powerpoint/2010/main" val="73843594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55</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洁面泡沫</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357290"/>
            <a:ext cx="8778240" cy="2239844"/>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洁面泡沫是通过泵头直接产生泡沫的产品，要求体系的</a:t>
            </a:r>
            <a:r>
              <a:rPr lang="zh-CN" altLang="en-US" sz="2400" dirty="0">
                <a:solidFill>
                  <a:srgbClr val="0000FF"/>
                </a:solidFill>
                <a:latin typeface="+mn-lt"/>
                <a:ea typeface="SimHei" panose="02010609060101010101" pitchFamily="49" charset="-122"/>
              </a:rPr>
              <a:t>流动性要很好</a:t>
            </a:r>
            <a:r>
              <a:rPr lang="zh-CN" altLang="en-US" sz="2400" dirty="0">
                <a:latin typeface="+mn-lt"/>
                <a:ea typeface="SimHei" panose="02010609060101010101" pitchFamily="49" charset="-122"/>
              </a:rPr>
              <a:t>。因此，配方以</a:t>
            </a:r>
            <a:r>
              <a:rPr lang="en-US" altLang="zh-CN" sz="2400" dirty="0">
                <a:latin typeface="+mn-lt"/>
                <a:ea typeface="SimHei" panose="02010609060101010101" pitchFamily="49" charset="-122"/>
              </a:rPr>
              <a:t>C12</a:t>
            </a:r>
            <a:r>
              <a:rPr lang="zh-CN" altLang="en-US" sz="2400" dirty="0">
                <a:latin typeface="+mn-lt"/>
                <a:ea typeface="SimHei" panose="02010609060101010101" pitchFamily="49" charset="-122"/>
              </a:rPr>
              <a:t>酸为主，总脂肪酸含量在</a:t>
            </a:r>
            <a:r>
              <a:rPr lang="en-US" altLang="zh-CN" sz="2400" dirty="0">
                <a:latin typeface="+mn-lt"/>
                <a:ea typeface="SimHei" panose="02010609060101010101" pitchFamily="49" charset="-122"/>
              </a:rPr>
              <a:t>10%</a:t>
            </a:r>
            <a:r>
              <a:rPr lang="zh-CN" altLang="en-US" sz="2400" dirty="0">
                <a:latin typeface="+mn-lt"/>
                <a:ea typeface="SimHei" panose="02010609060101010101" pitchFamily="49" charset="-122"/>
              </a:rPr>
              <a:t>以下，皂化度为</a:t>
            </a:r>
            <a:r>
              <a:rPr lang="en-US" altLang="zh-CN" sz="2400" dirty="0">
                <a:latin typeface="+mn-lt"/>
                <a:ea typeface="SimHei" panose="02010609060101010101" pitchFamily="49" charset="-122"/>
              </a:rPr>
              <a:t>90%</a:t>
            </a:r>
            <a:r>
              <a:rPr lang="zh-CN" altLang="en-US" sz="2400" dirty="0">
                <a:latin typeface="+mn-lt"/>
                <a:ea typeface="SimHei" panose="02010609060101010101" pitchFamily="49" charset="-122"/>
              </a:rPr>
              <a:t>～</a:t>
            </a:r>
            <a:r>
              <a:rPr lang="en-US" altLang="zh-CN" sz="2400" dirty="0">
                <a:latin typeface="+mn-lt"/>
                <a:ea typeface="SimHei" panose="02010609060101010101" pitchFamily="49" charset="-122"/>
              </a:rPr>
              <a:t>100%</a:t>
            </a:r>
            <a:r>
              <a:rPr lang="zh-CN" altLang="en-US" sz="2400" dirty="0">
                <a:latin typeface="+mn-lt"/>
                <a:ea typeface="SimHei" panose="02010609060101010101" pitchFamily="49" charset="-122"/>
              </a:rPr>
              <a:t>。</a:t>
            </a:r>
          </a:p>
          <a:p>
            <a:pPr marL="342900" indent="-342900">
              <a:lnSpc>
                <a:spcPct val="150000"/>
              </a:lnSpc>
              <a:buFont typeface="Arial" panose="020B0604020202020204" pitchFamily="34" charset="0"/>
              <a:buChar char="•"/>
            </a:pPr>
            <a:endParaRPr lang="en-US" altLang="zh-CN" sz="2400" dirty="0">
              <a:latin typeface="+mn-lt"/>
              <a:ea typeface="SimHei" panose="02010609060101010101" pitchFamily="49" charset="-122"/>
            </a:endParaRPr>
          </a:p>
        </p:txBody>
      </p:sp>
    </p:spTree>
    <p:extLst>
      <p:ext uri="{BB962C8B-B14F-4D97-AF65-F5344CB8AC3E}">
        <p14:creationId xmlns:p14="http://schemas.microsoft.com/office/powerpoint/2010/main" val="68009895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56</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其他表面活性剂洁肤产品</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030057"/>
            <a:ext cx="8778240" cy="5009833"/>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在洁肤类化妆品中，市场上的产品体系大致分两类： 一类是由皂基与表面活性剂复配形成的体系，另一类是由非皂基类表面活性剂复配而成的体系。由于中国消费者比较喜欢易冲洗的清洁产品，因此，皂基体系占据了大部分的洁肤产品市场。但随着市场发展的细分化，洁肤产品体系也随之增加。而且国外的洁肤产品体系大部分是由非皂基类表面活性剂配制而成。由非皂基类表面活性剂配制的体系工艺比较简单，稳定性比较好，因此这类产品也占据了一定的市场份额。</a:t>
            </a:r>
          </a:p>
          <a:p>
            <a:pPr marL="342900" indent="-342900">
              <a:lnSpc>
                <a:spcPct val="150000"/>
              </a:lnSpc>
              <a:buFont typeface="Arial" panose="020B0604020202020204" pitchFamily="34" charset="0"/>
              <a:buChar char="•"/>
            </a:pPr>
            <a:endParaRPr lang="en-US" altLang="zh-CN" sz="2400" dirty="0">
              <a:latin typeface="+mn-lt"/>
              <a:ea typeface="SimHei" panose="02010609060101010101" pitchFamily="49" charset="-122"/>
            </a:endParaRPr>
          </a:p>
        </p:txBody>
      </p:sp>
    </p:spTree>
    <p:extLst>
      <p:ext uri="{BB962C8B-B14F-4D97-AF65-F5344CB8AC3E}">
        <p14:creationId xmlns:p14="http://schemas.microsoft.com/office/powerpoint/2010/main" val="242511972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57</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活性剂对比</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030057"/>
            <a:ext cx="8778240" cy="2790572"/>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由非皂基类表面活性剂配制的体系不足之处在于使用的感觉上不太符合中国消 费者长期使用肥皂体系的感觉，用后冲洗时有点滑腻，似乎有冲洗不干净的感觉；皂基型沐浴产品很好地解决了冲洗的感觉问题，尤其是油性皮肤的消费者以及暑天容易出汗的人在使用后感觉更加明显。</a:t>
            </a:r>
          </a:p>
        </p:txBody>
      </p:sp>
      <p:graphicFrame>
        <p:nvGraphicFramePr>
          <p:cNvPr id="5" name="表格 4">
            <a:extLst>
              <a:ext uri="{FF2B5EF4-FFF2-40B4-BE49-F238E27FC236}">
                <a16:creationId xmlns:a16="http://schemas.microsoft.com/office/drawing/2014/main" id="{426C133D-9F5B-B6AE-3C68-0E8497479FA6}"/>
              </a:ext>
            </a:extLst>
          </p:cNvPr>
          <p:cNvGraphicFramePr>
            <a:graphicFrameLocks noGrp="1"/>
          </p:cNvGraphicFramePr>
          <p:nvPr>
            <p:extLst>
              <p:ext uri="{D42A27DB-BD31-4B8C-83A1-F6EECF244321}">
                <p14:modId xmlns:p14="http://schemas.microsoft.com/office/powerpoint/2010/main" val="1154733423"/>
              </p:ext>
            </p:extLst>
          </p:nvPr>
        </p:nvGraphicFramePr>
        <p:xfrm>
          <a:off x="182881" y="3934739"/>
          <a:ext cx="8778239" cy="2570447"/>
        </p:xfrm>
        <a:graphic>
          <a:graphicData uri="http://schemas.openxmlformats.org/drawingml/2006/table">
            <a:tbl>
              <a:tblPr firstRow="1" firstCol="1" bandRow="1">
                <a:tableStyleId>{21E4AEA4-8DFA-4A89-87EB-49C32662AFE0}</a:tableStyleId>
              </a:tblPr>
              <a:tblGrid>
                <a:gridCol w="1013519">
                  <a:extLst>
                    <a:ext uri="{9D8B030D-6E8A-4147-A177-3AD203B41FA5}">
                      <a16:colId xmlns:a16="http://schemas.microsoft.com/office/drawing/2014/main" val="3349407293"/>
                    </a:ext>
                  </a:extLst>
                </a:gridCol>
                <a:gridCol w="1960027">
                  <a:extLst>
                    <a:ext uri="{9D8B030D-6E8A-4147-A177-3AD203B41FA5}">
                      <a16:colId xmlns:a16="http://schemas.microsoft.com/office/drawing/2014/main" val="178177325"/>
                    </a:ext>
                  </a:extLst>
                </a:gridCol>
                <a:gridCol w="1273179">
                  <a:extLst>
                    <a:ext uri="{9D8B030D-6E8A-4147-A177-3AD203B41FA5}">
                      <a16:colId xmlns:a16="http://schemas.microsoft.com/office/drawing/2014/main" val="289031420"/>
                    </a:ext>
                  </a:extLst>
                </a:gridCol>
                <a:gridCol w="2085669">
                  <a:extLst>
                    <a:ext uri="{9D8B030D-6E8A-4147-A177-3AD203B41FA5}">
                      <a16:colId xmlns:a16="http://schemas.microsoft.com/office/drawing/2014/main" val="1704539310"/>
                    </a:ext>
                  </a:extLst>
                </a:gridCol>
                <a:gridCol w="1239675">
                  <a:extLst>
                    <a:ext uri="{9D8B030D-6E8A-4147-A177-3AD203B41FA5}">
                      <a16:colId xmlns:a16="http://schemas.microsoft.com/office/drawing/2014/main" val="1340386479"/>
                    </a:ext>
                  </a:extLst>
                </a:gridCol>
                <a:gridCol w="1206170">
                  <a:extLst>
                    <a:ext uri="{9D8B030D-6E8A-4147-A177-3AD203B41FA5}">
                      <a16:colId xmlns:a16="http://schemas.microsoft.com/office/drawing/2014/main" val="2623186272"/>
                    </a:ext>
                  </a:extLst>
                </a:gridCol>
              </a:tblGrid>
              <a:tr h="853703">
                <a:tc>
                  <a:txBody>
                    <a:bodyPr/>
                    <a:lstStyle/>
                    <a:p>
                      <a:pPr marL="101600" marR="0" algn="ctr" eaLnBrk="0">
                        <a:lnSpc>
                          <a:spcPct val="91000"/>
                        </a:lnSpc>
                        <a:spcBef>
                          <a:spcPts val="520"/>
                        </a:spcBef>
                        <a:spcAft>
                          <a:spcPts val="0"/>
                        </a:spcAft>
                      </a:pPr>
                      <a:r>
                        <a:rPr lang="zh-CN" sz="1800" b="1" spc="15">
                          <a:effectLst/>
                          <a:latin typeface="KaiTi" panose="02010609060101010101" pitchFamily="49" charset="-122"/>
                          <a:ea typeface="KaiTi" panose="02010609060101010101" pitchFamily="49" charset="-122"/>
                        </a:rPr>
                        <a:t>浴液类型</a:t>
                      </a:r>
                      <a:endParaRPr lang="en-US" sz="1800" b="1">
                        <a:solidFill>
                          <a:srgbClr val="000000"/>
                        </a:solidFill>
                        <a:effectLst/>
                        <a:latin typeface="KaiTi" panose="02010609060101010101" pitchFamily="49" charset="-122"/>
                        <a:ea typeface="KaiTi" panose="02010609060101010101" pitchFamily="49" charset="-122"/>
                      </a:endParaRPr>
                    </a:p>
                  </a:txBody>
                  <a:tcPr marL="0" marR="0" marT="0" marB="0"/>
                </a:tc>
                <a:tc>
                  <a:txBody>
                    <a:bodyPr/>
                    <a:lstStyle/>
                    <a:p>
                      <a:pPr marL="460375" marR="0" algn="ctr" eaLnBrk="0">
                        <a:lnSpc>
                          <a:spcPct val="91000"/>
                        </a:lnSpc>
                        <a:spcBef>
                          <a:spcPts val="520"/>
                        </a:spcBef>
                        <a:spcAft>
                          <a:spcPts val="0"/>
                        </a:spcAft>
                      </a:pPr>
                      <a:r>
                        <a:rPr lang="zh-CN" sz="1800" b="1" spc="-10">
                          <a:effectLst/>
                          <a:latin typeface="KaiTi" panose="02010609060101010101" pitchFamily="49" charset="-122"/>
                          <a:ea typeface="KaiTi" panose="02010609060101010101" pitchFamily="49" charset="-122"/>
                        </a:rPr>
                        <a:t>主要原料</a:t>
                      </a:r>
                      <a:endParaRPr lang="en-US" sz="1800" b="1">
                        <a:solidFill>
                          <a:srgbClr val="000000"/>
                        </a:solidFill>
                        <a:effectLst/>
                        <a:latin typeface="KaiTi" panose="02010609060101010101" pitchFamily="49" charset="-122"/>
                        <a:ea typeface="KaiTi" panose="02010609060101010101" pitchFamily="49" charset="-122"/>
                      </a:endParaRPr>
                    </a:p>
                  </a:txBody>
                  <a:tcPr marL="0" marR="0" marT="0" marB="0"/>
                </a:tc>
                <a:tc>
                  <a:txBody>
                    <a:bodyPr/>
                    <a:lstStyle/>
                    <a:p>
                      <a:pPr marL="206375" marR="0" algn="ctr" eaLnBrk="0">
                        <a:lnSpc>
                          <a:spcPct val="91000"/>
                        </a:lnSpc>
                        <a:spcBef>
                          <a:spcPts val="520"/>
                        </a:spcBef>
                        <a:spcAft>
                          <a:spcPts val="0"/>
                        </a:spcAft>
                      </a:pPr>
                      <a:r>
                        <a:rPr lang="zh-CN" sz="1800" b="1" spc="15">
                          <a:effectLst/>
                          <a:latin typeface="KaiTi" panose="02010609060101010101" pitchFamily="49" charset="-122"/>
                          <a:ea typeface="KaiTi" panose="02010609060101010101" pitchFamily="49" charset="-122"/>
                        </a:rPr>
                        <a:t>浴时感觉</a:t>
                      </a:r>
                      <a:endParaRPr lang="en-US" sz="1800" b="1">
                        <a:solidFill>
                          <a:srgbClr val="000000"/>
                        </a:solidFill>
                        <a:effectLst/>
                        <a:latin typeface="KaiTi" panose="02010609060101010101" pitchFamily="49" charset="-122"/>
                        <a:ea typeface="KaiTi" panose="02010609060101010101" pitchFamily="49" charset="-122"/>
                      </a:endParaRPr>
                    </a:p>
                  </a:txBody>
                  <a:tcPr marL="0" marR="0" marT="0" marB="0"/>
                </a:tc>
                <a:tc>
                  <a:txBody>
                    <a:bodyPr/>
                    <a:lstStyle/>
                    <a:p>
                      <a:pPr marL="250825" marR="0" algn="ctr" eaLnBrk="0">
                        <a:lnSpc>
                          <a:spcPct val="91000"/>
                        </a:lnSpc>
                        <a:spcBef>
                          <a:spcPts val="520"/>
                        </a:spcBef>
                        <a:spcAft>
                          <a:spcPts val="0"/>
                        </a:spcAft>
                      </a:pPr>
                      <a:r>
                        <a:rPr lang="zh-CN" sz="1800" b="1" spc="5">
                          <a:effectLst/>
                          <a:latin typeface="KaiTi" panose="02010609060101010101" pitchFamily="49" charset="-122"/>
                          <a:ea typeface="KaiTi" panose="02010609060101010101" pitchFamily="49" charset="-122"/>
                        </a:rPr>
                        <a:t>酸碱性，皮肤感觉</a:t>
                      </a:r>
                      <a:endParaRPr lang="en-US" sz="1800" b="1">
                        <a:solidFill>
                          <a:srgbClr val="000000"/>
                        </a:solidFill>
                        <a:effectLst/>
                        <a:latin typeface="KaiTi" panose="02010609060101010101" pitchFamily="49" charset="-122"/>
                        <a:ea typeface="KaiTi" panose="02010609060101010101" pitchFamily="49" charset="-122"/>
                      </a:endParaRPr>
                    </a:p>
                  </a:txBody>
                  <a:tcPr marL="0" marR="0" marT="0" marB="0"/>
                </a:tc>
                <a:tc>
                  <a:txBody>
                    <a:bodyPr/>
                    <a:lstStyle/>
                    <a:p>
                      <a:pPr marL="104775" marR="0" algn="ctr" eaLnBrk="0">
                        <a:lnSpc>
                          <a:spcPct val="91000"/>
                        </a:lnSpc>
                        <a:spcBef>
                          <a:spcPts val="520"/>
                        </a:spcBef>
                        <a:spcAft>
                          <a:spcPts val="0"/>
                        </a:spcAft>
                      </a:pPr>
                      <a:r>
                        <a:rPr lang="zh-CN" sz="1800" b="1" spc="10">
                          <a:effectLst/>
                          <a:latin typeface="KaiTi" panose="02010609060101010101" pitchFamily="49" charset="-122"/>
                          <a:ea typeface="KaiTi" panose="02010609060101010101" pitchFamily="49" charset="-122"/>
                        </a:rPr>
                        <a:t>冲洗时感觉</a:t>
                      </a:r>
                      <a:endParaRPr lang="en-US" sz="1800" b="1">
                        <a:solidFill>
                          <a:srgbClr val="000000"/>
                        </a:solidFill>
                        <a:effectLst/>
                        <a:latin typeface="KaiTi" panose="02010609060101010101" pitchFamily="49" charset="-122"/>
                        <a:ea typeface="KaiTi" panose="02010609060101010101" pitchFamily="49" charset="-122"/>
                      </a:endParaRPr>
                    </a:p>
                  </a:txBody>
                  <a:tcPr marL="0" marR="0" marT="0" marB="0"/>
                </a:tc>
                <a:tc>
                  <a:txBody>
                    <a:bodyPr/>
                    <a:lstStyle/>
                    <a:p>
                      <a:pPr marL="200025" marR="0" algn="ctr" eaLnBrk="0">
                        <a:lnSpc>
                          <a:spcPct val="91000"/>
                        </a:lnSpc>
                        <a:spcBef>
                          <a:spcPts val="520"/>
                        </a:spcBef>
                        <a:spcAft>
                          <a:spcPts val="0"/>
                        </a:spcAft>
                      </a:pPr>
                      <a:r>
                        <a:rPr lang="zh-CN" sz="1800" b="1" spc="15">
                          <a:effectLst/>
                          <a:latin typeface="KaiTi" panose="02010609060101010101" pitchFamily="49" charset="-122"/>
                          <a:ea typeface="KaiTi" panose="02010609060101010101" pitchFamily="49" charset="-122"/>
                        </a:rPr>
                        <a:t>浴后感觉</a:t>
                      </a:r>
                      <a:endParaRPr lang="en-US" sz="1800" b="1">
                        <a:solidFill>
                          <a:srgbClr val="000000"/>
                        </a:solidFill>
                        <a:effectLst/>
                        <a:latin typeface="KaiTi" panose="02010609060101010101" pitchFamily="49" charset="-122"/>
                        <a:ea typeface="KaiTi" panose="02010609060101010101" pitchFamily="49" charset="-122"/>
                      </a:endParaRPr>
                    </a:p>
                  </a:txBody>
                  <a:tcPr marL="0" marR="0" marT="0" marB="0"/>
                </a:tc>
                <a:extLst>
                  <a:ext uri="{0D108BD9-81ED-4DB2-BD59-A6C34878D82A}">
                    <a16:rowId xmlns:a16="http://schemas.microsoft.com/office/drawing/2014/main" val="3472059488"/>
                  </a:ext>
                </a:extLst>
              </a:tr>
              <a:tr h="863041">
                <a:tc>
                  <a:txBody>
                    <a:bodyPr/>
                    <a:lstStyle/>
                    <a:p>
                      <a:pPr marL="279400" marR="0" algn="ctr" eaLnBrk="0">
                        <a:lnSpc>
                          <a:spcPct val="94000"/>
                        </a:lnSpc>
                        <a:spcBef>
                          <a:spcPts val="510"/>
                        </a:spcBef>
                        <a:spcAft>
                          <a:spcPts val="0"/>
                        </a:spcAft>
                      </a:pPr>
                      <a:r>
                        <a:rPr lang="en-US" sz="1800" b="1" spc="35">
                          <a:effectLst/>
                          <a:latin typeface="KaiTi" panose="02010609060101010101" pitchFamily="49" charset="-122"/>
                          <a:ea typeface="KaiTi" panose="02010609060101010101" pitchFamily="49" charset="-122"/>
                        </a:rPr>
                        <a:t>I</a:t>
                      </a:r>
                      <a:r>
                        <a:rPr lang="zh-CN" sz="1800" b="1" spc="35">
                          <a:effectLst/>
                          <a:latin typeface="KaiTi" panose="02010609060101010101" pitchFamily="49" charset="-122"/>
                          <a:ea typeface="KaiTi" panose="02010609060101010101" pitchFamily="49" charset="-122"/>
                        </a:rPr>
                        <a:t>型</a:t>
                      </a:r>
                      <a:endParaRPr lang="en-US" sz="1800" b="1">
                        <a:solidFill>
                          <a:srgbClr val="000000"/>
                        </a:solidFill>
                        <a:effectLst/>
                        <a:latin typeface="KaiTi" panose="02010609060101010101" pitchFamily="49" charset="-122"/>
                        <a:ea typeface="KaiTi" panose="02010609060101010101" pitchFamily="49" charset="-122"/>
                      </a:endParaRPr>
                    </a:p>
                  </a:txBody>
                  <a:tcPr marL="0" marR="0" marT="0" marB="0"/>
                </a:tc>
                <a:tc>
                  <a:txBody>
                    <a:bodyPr/>
                    <a:lstStyle/>
                    <a:p>
                      <a:pPr marL="104775" marR="0" algn="ctr" eaLnBrk="0">
                        <a:lnSpc>
                          <a:spcPct val="91000"/>
                        </a:lnSpc>
                        <a:spcBef>
                          <a:spcPts val="455"/>
                        </a:spcBef>
                        <a:spcAft>
                          <a:spcPts val="0"/>
                        </a:spcAft>
                      </a:pPr>
                      <a:r>
                        <a:rPr lang="zh-CN" sz="1800" b="1" spc="5">
                          <a:effectLst/>
                          <a:latin typeface="KaiTi" panose="02010609060101010101" pitchFamily="49" charset="-122"/>
                          <a:ea typeface="KaiTi" panose="02010609060101010101" pitchFamily="49" charset="-122"/>
                        </a:rPr>
                        <a:t>非皂基类表面活性剂</a:t>
                      </a:r>
                      <a:endParaRPr lang="en-US" sz="1800" b="1">
                        <a:solidFill>
                          <a:srgbClr val="000000"/>
                        </a:solidFill>
                        <a:effectLst/>
                        <a:latin typeface="KaiTi" panose="02010609060101010101" pitchFamily="49" charset="-122"/>
                        <a:ea typeface="KaiTi" panose="02010609060101010101" pitchFamily="49" charset="-122"/>
                      </a:endParaRPr>
                    </a:p>
                  </a:txBody>
                  <a:tcPr marL="0" marR="0" marT="0" marB="0"/>
                </a:tc>
                <a:tc>
                  <a:txBody>
                    <a:bodyPr/>
                    <a:lstStyle/>
                    <a:p>
                      <a:pPr marL="92075" marR="0" algn="ctr" eaLnBrk="0">
                        <a:lnSpc>
                          <a:spcPct val="91000"/>
                        </a:lnSpc>
                        <a:spcBef>
                          <a:spcPts val="465"/>
                        </a:spcBef>
                        <a:spcAft>
                          <a:spcPts val="0"/>
                        </a:spcAft>
                      </a:pPr>
                      <a:r>
                        <a:rPr lang="zh-CN" sz="1800" b="1" spc="-15">
                          <a:effectLst/>
                          <a:latin typeface="KaiTi" panose="02010609060101010101" pitchFamily="49" charset="-122"/>
                          <a:ea typeface="KaiTi" panose="02010609060101010101" pitchFamily="49" charset="-122"/>
                        </a:rPr>
                        <a:t>滑腻</a:t>
                      </a:r>
                      <a:endParaRPr lang="en-US" sz="1800" b="1">
                        <a:solidFill>
                          <a:srgbClr val="000000"/>
                        </a:solidFill>
                        <a:effectLst/>
                        <a:latin typeface="KaiTi" panose="02010609060101010101" pitchFamily="49" charset="-122"/>
                        <a:ea typeface="KaiTi" panose="02010609060101010101" pitchFamily="49" charset="-122"/>
                      </a:endParaRPr>
                    </a:p>
                  </a:txBody>
                  <a:tcPr marL="0" marR="0" marT="0" marB="0"/>
                </a:tc>
                <a:tc>
                  <a:txBody>
                    <a:bodyPr/>
                    <a:lstStyle/>
                    <a:p>
                      <a:pPr marL="110490" marR="0" algn="ctr" eaLnBrk="0">
                        <a:lnSpc>
                          <a:spcPct val="91000"/>
                        </a:lnSpc>
                        <a:spcBef>
                          <a:spcPts val="465"/>
                        </a:spcBef>
                        <a:spcAft>
                          <a:spcPts val="0"/>
                        </a:spcAft>
                      </a:pPr>
                      <a:r>
                        <a:rPr lang="zh-CN" sz="1800" b="1" spc="5">
                          <a:effectLst/>
                          <a:latin typeface="KaiTi" panose="02010609060101010101" pitchFamily="49" charset="-122"/>
                          <a:ea typeface="KaiTi" panose="02010609060101010101" pitchFamily="49" charset="-122"/>
                        </a:rPr>
                        <a:t>微酸，与皮肤适宜</a:t>
                      </a:r>
                      <a:endParaRPr lang="en-US" sz="1800" b="1">
                        <a:solidFill>
                          <a:srgbClr val="000000"/>
                        </a:solidFill>
                        <a:effectLst/>
                        <a:latin typeface="KaiTi" panose="02010609060101010101" pitchFamily="49" charset="-122"/>
                        <a:ea typeface="KaiTi" panose="02010609060101010101" pitchFamily="49" charset="-122"/>
                      </a:endParaRPr>
                    </a:p>
                  </a:txBody>
                  <a:tcPr marL="0" marR="0" marT="0" marB="0"/>
                </a:tc>
                <a:tc>
                  <a:txBody>
                    <a:bodyPr/>
                    <a:lstStyle/>
                    <a:p>
                      <a:pPr marL="104775" marR="0" algn="ctr" eaLnBrk="0">
                        <a:lnSpc>
                          <a:spcPct val="92000"/>
                        </a:lnSpc>
                        <a:spcBef>
                          <a:spcPts val="470"/>
                        </a:spcBef>
                        <a:spcAft>
                          <a:spcPts val="0"/>
                        </a:spcAft>
                      </a:pPr>
                      <a:r>
                        <a:rPr lang="zh-CN" sz="1800" b="1" spc="10">
                          <a:effectLst/>
                          <a:latin typeface="KaiTi" panose="02010609060101010101" pitchFamily="49" charset="-122"/>
                          <a:ea typeface="KaiTi" panose="02010609060101010101" pitchFamily="49" charset="-122"/>
                        </a:rPr>
                        <a:t>不易冲洗</a:t>
                      </a:r>
                      <a:endParaRPr lang="en-US" sz="1800" b="1">
                        <a:solidFill>
                          <a:srgbClr val="000000"/>
                        </a:solidFill>
                        <a:effectLst/>
                        <a:latin typeface="KaiTi" panose="02010609060101010101" pitchFamily="49" charset="-122"/>
                        <a:ea typeface="KaiTi" panose="02010609060101010101" pitchFamily="49" charset="-122"/>
                      </a:endParaRPr>
                    </a:p>
                  </a:txBody>
                  <a:tcPr marL="0" marR="0" marT="0" marB="0"/>
                </a:tc>
                <a:tc>
                  <a:txBody>
                    <a:bodyPr/>
                    <a:lstStyle/>
                    <a:p>
                      <a:pPr marL="98425" marR="0" algn="ctr" eaLnBrk="0">
                        <a:lnSpc>
                          <a:spcPct val="91000"/>
                        </a:lnSpc>
                        <a:spcBef>
                          <a:spcPts val="465"/>
                        </a:spcBef>
                        <a:spcAft>
                          <a:spcPts val="0"/>
                        </a:spcAft>
                      </a:pPr>
                      <a:r>
                        <a:rPr lang="zh-CN" sz="1800" b="1" spc="15">
                          <a:effectLst/>
                          <a:latin typeface="KaiTi" panose="02010609060101010101" pitchFamily="49" charset="-122"/>
                          <a:ea typeface="KaiTi" panose="02010609060101010101" pitchFamily="49" charset="-122"/>
                        </a:rPr>
                        <a:t>皮肤不紧绷</a:t>
                      </a:r>
                      <a:endParaRPr lang="en-US" sz="1800" b="1">
                        <a:solidFill>
                          <a:srgbClr val="000000"/>
                        </a:solidFill>
                        <a:effectLst/>
                        <a:latin typeface="KaiTi" panose="02010609060101010101" pitchFamily="49" charset="-122"/>
                        <a:ea typeface="KaiTi" panose="02010609060101010101" pitchFamily="49" charset="-122"/>
                      </a:endParaRPr>
                    </a:p>
                  </a:txBody>
                  <a:tcPr marL="0" marR="0" marT="0" marB="0"/>
                </a:tc>
                <a:extLst>
                  <a:ext uri="{0D108BD9-81ED-4DB2-BD59-A6C34878D82A}">
                    <a16:rowId xmlns:a16="http://schemas.microsoft.com/office/drawing/2014/main" val="1861438093"/>
                  </a:ext>
                </a:extLst>
              </a:tr>
              <a:tr h="853703">
                <a:tc>
                  <a:txBody>
                    <a:bodyPr/>
                    <a:lstStyle/>
                    <a:p>
                      <a:pPr marL="241300" marR="0" algn="ctr" eaLnBrk="0">
                        <a:lnSpc>
                          <a:spcPct val="94000"/>
                        </a:lnSpc>
                        <a:spcBef>
                          <a:spcPts val="575"/>
                        </a:spcBef>
                        <a:spcAft>
                          <a:spcPts val="0"/>
                        </a:spcAft>
                      </a:pPr>
                      <a:r>
                        <a:rPr lang="en-US" sz="1800" b="1" spc="-120" dirty="0">
                          <a:effectLst/>
                          <a:latin typeface="KaiTi" panose="02010609060101010101" pitchFamily="49" charset="-122"/>
                          <a:ea typeface="KaiTi" panose="02010609060101010101" pitchFamily="49" charset="-122"/>
                        </a:rPr>
                        <a:t>Ⅱ</a:t>
                      </a:r>
                      <a:r>
                        <a:rPr lang="en-US" sz="1800" b="1" spc="-170" dirty="0">
                          <a:effectLst/>
                          <a:latin typeface="KaiTi" panose="02010609060101010101" pitchFamily="49" charset="-122"/>
                          <a:ea typeface="KaiTi" panose="02010609060101010101" pitchFamily="49" charset="-122"/>
                        </a:rPr>
                        <a:t> </a:t>
                      </a:r>
                      <a:r>
                        <a:rPr lang="zh-CN" sz="1800" b="1" spc="-120" dirty="0">
                          <a:effectLst/>
                          <a:latin typeface="KaiTi" panose="02010609060101010101" pitchFamily="49" charset="-122"/>
                          <a:ea typeface="KaiTi" panose="02010609060101010101" pitchFamily="49" charset="-122"/>
                        </a:rPr>
                        <a:t>型</a:t>
                      </a:r>
                      <a:endParaRPr lang="en-US" sz="1800" b="1" dirty="0">
                        <a:solidFill>
                          <a:srgbClr val="000000"/>
                        </a:solidFill>
                        <a:effectLst/>
                        <a:latin typeface="KaiTi" panose="02010609060101010101" pitchFamily="49" charset="-122"/>
                        <a:ea typeface="KaiTi" panose="02010609060101010101" pitchFamily="49" charset="-122"/>
                      </a:endParaRPr>
                    </a:p>
                  </a:txBody>
                  <a:tcPr marL="0" marR="0" marT="0" marB="0"/>
                </a:tc>
                <a:tc>
                  <a:txBody>
                    <a:bodyPr/>
                    <a:lstStyle/>
                    <a:p>
                      <a:pPr marL="104775" marR="0" algn="ctr" eaLnBrk="0">
                        <a:lnSpc>
                          <a:spcPct val="91000"/>
                        </a:lnSpc>
                        <a:spcBef>
                          <a:spcPts val="530"/>
                        </a:spcBef>
                        <a:spcAft>
                          <a:spcPts val="0"/>
                        </a:spcAft>
                      </a:pPr>
                      <a:r>
                        <a:rPr lang="zh-CN" sz="1800" b="1" spc="-10">
                          <a:effectLst/>
                          <a:latin typeface="KaiTi" panose="02010609060101010101" pitchFamily="49" charset="-122"/>
                          <a:ea typeface="KaiTi" panose="02010609060101010101" pitchFamily="49" charset="-122"/>
                        </a:rPr>
                        <a:t>脂肪酸盐类</a:t>
                      </a:r>
                      <a:endParaRPr lang="en-US" sz="1800" b="1">
                        <a:solidFill>
                          <a:srgbClr val="000000"/>
                        </a:solidFill>
                        <a:effectLst/>
                        <a:latin typeface="KaiTi" panose="02010609060101010101" pitchFamily="49" charset="-122"/>
                        <a:ea typeface="KaiTi" panose="02010609060101010101" pitchFamily="49" charset="-122"/>
                      </a:endParaRPr>
                    </a:p>
                  </a:txBody>
                  <a:tcPr marL="0" marR="0" marT="0" marB="0"/>
                </a:tc>
                <a:tc>
                  <a:txBody>
                    <a:bodyPr/>
                    <a:lstStyle/>
                    <a:p>
                      <a:pPr marL="92075" marR="0" algn="ctr" eaLnBrk="0">
                        <a:lnSpc>
                          <a:spcPct val="91000"/>
                        </a:lnSpc>
                        <a:spcBef>
                          <a:spcPts val="530"/>
                        </a:spcBef>
                        <a:spcAft>
                          <a:spcPts val="0"/>
                        </a:spcAft>
                      </a:pPr>
                      <a:r>
                        <a:rPr lang="zh-CN" sz="1800" b="1" spc="-15">
                          <a:effectLst/>
                          <a:latin typeface="KaiTi" panose="02010609060101010101" pitchFamily="49" charset="-122"/>
                          <a:ea typeface="KaiTi" panose="02010609060101010101" pitchFamily="49" charset="-122"/>
                        </a:rPr>
                        <a:t>滑爽</a:t>
                      </a:r>
                      <a:endParaRPr lang="en-US" sz="1800" b="1">
                        <a:solidFill>
                          <a:srgbClr val="000000"/>
                        </a:solidFill>
                        <a:effectLst/>
                        <a:latin typeface="KaiTi" panose="02010609060101010101" pitchFamily="49" charset="-122"/>
                        <a:ea typeface="KaiTi" panose="02010609060101010101" pitchFamily="49" charset="-122"/>
                      </a:endParaRPr>
                    </a:p>
                  </a:txBody>
                  <a:tcPr marL="0" marR="0" marT="0" marB="0"/>
                </a:tc>
                <a:tc>
                  <a:txBody>
                    <a:bodyPr/>
                    <a:lstStyle/>
                    <a:p>
                      <a:pPr marL="110490" marR="0" algn="ctr" eaLnBrk="0">
                        <a:lnSpc>
                          <a:spcPct val="91000"/>
                        </a:lnSpc>
                        <a:spcBef>
                          <a:spcPts val="530"/>
                        </a:spcBef>
                        <a:spcAft>
                          <a:spcPts val="0"/>
                        </a:spcAft>
                      </a:pPr>
                      <a:r>
                        <a:rPr lang="zh-CN" sz="1800" b="1" spc="-10">
                          <a:effectLst/>
                          <a:latin typeface="KaiTi" panose="02010609060101010101" pitchFamily="49" charset="-122"/>
                          <a:ea typeface="KaiTi" panose="02010609060101010101" pitchFamily="49" charset="-122"/>
                        </a:rPr>
                        <a:t>偏碱，刺激皮肤</a:t>
                      </a:r>
                      <a:endParaRPr lang="en-US" sz="1800" b="1">
                        <a:solidFill>
                          <a:srgbClr val="000000"/>
                        </a:solidFill>
                        <a:effectLst/>
                        <a:latin typeface="KaiTi" panose="02010609060101010101" pitchFamily="49" charset="-122"/>
                        <a:ea typeface="KaiTi" panose="02010609060101010101" pitchFamily="49" charset="-122"/>
                      </a:endParaRPr>
                    </a:p>
                  </a:txBody>
                  <a:tcPr marL="0" marR="0" marT="0" marB="0"/>
                </a:tc>
                <a:tc>
                  <a:txBody>
                    <a:bodyPr/>
                    <a:lstStyle/>
                    <a:p>
                      <a:pPr marL="104775" marR="0" algn="ctr" eaLnBrk="0">
                        <a:lnSpc>
                          <a:spcPct val="92000"/>
                        </a:lnSpc>
                        <a:spcBef>
                          <a:spcPts val="535"/>
                        </a:spcBef>
                        <a:spcAft>
                          <a:spcPts val="0"/>
                        </a:spcAft>
                      </a:pPr>
                      <a:r>
                        <a:rPr lang="zh-CN" sz="1800" b="1" spc="10">
                          <a:effectLst/>
                          <a:latin typeface="KaiTi" panose="02010609060101010101" pitchFamily="49" charset="-122"/>
                          <a:ea typeface="KaiTi" panose="02010609060101010101" pitchFamily="49" charset="-122"/>
                        </a:rPr>
                        <a:t>易冲洗</a:t>
                      </a:r>
                      <a:endParaRPr lang="en-US" sz="1800" b="1">
                        <a:solidFill>
                          <a:srgbClr val="000000"/>
                        </a:solidFill>
                        <a:effectLst/>
                        <a:latin typeface="KaiTi" panose="02010609060101010101" pitchFamily="49" charset="-122"/>
                        <a:ea typeface="KaiTi" panose="02010609060101010101" pitchFamily="49" charset="-122"/>
                      </a:endParaRPr>
                    </a:p>
                  </a:txBody>
                  <a:tcPr marL="0" marR="0" marT="0" marB="0"/>
                </a:tc>
                <a:tc>
                  <a:txBody>
                    <a:bodyPr/>
                    <a:lstStyle/>
                    <a:p>
                      <a:pPr marL="98425" marR="0" algn="ctr" eaLnBrk="0">
                        <a:lnSpc>
                          <a:spcPct val="91000"/>
                        </a:lnSpc>
                        <a:spcBef>
                          <a:spcPts val="530"/>
                        </a:spcBef>
                        <a:spcAft>
                          <a:spcPts val="0"/>
                        </a:spcAft>
                      </a:pPr>
                      <a:r>
                        <a:rPr lang="zh-CN" sz="1800" b="1" spc="15" dirty="0">
                          <a:effectLst/>
                          <a:latin typeface="KaiTi" panose="02010609060101010101" pitchFamily="49" charset="-122"/>
                          <a:ea typeface="KaiTi" panose="02010609060101010101" pitchFamily="49" charset="-122"/>
                        </a:rPr>
                        <a:t>皮肤紧绷</a:t>
                      </a:r>
                      <a:endParaRPr lang="en-US" sz="1800" b="1" dirty="0">
                        <a:solidFill>
                          <a:srgbClr val="000000"/>
                        </a:solidFill>
                        <a:effectLst/>
                        <a:latin typeface="KaiTi" panose="02010609060101010101" pitchFamily="49" charset="-122"/>
                        <a:ea typeface="KaiTi" panose="02010609060101010101" pitchFamily="49" charset="-122"/>
                      </a:endParaRPr>
                    </a:p>
                  </a:txBody>
                  <a:tcPr marL="0" marR="0" marT="0" marB="0"/>
                </a:tc>
                <a:extLst>
                  <a:ext uri="{0D108BD9-81ED-4DB2-BD59-A6C34878D82A}">
                    <a16:rowId xmlns:a16="http://schemas.microsoft.com/office/drawing/2014/main" val="1193265044"/>
                  </a:ext>
                </a:extLst>
              </a:tr>
            </a:tbl>
          </a:graphicData>
        </a:graphic>
      </p:graphicFrame>
    </p:spTree>
    <p:extLst>
      <p:ext uri="{BB962C8B-B14F-4D97-AF65-F5344CB8AC3E}">
        <p14:creationId xmlns:p14="http://schemas.microsoft.com/office/powerpoint/2010/main" val="328858613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58</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其他表面活性剂洁肤产品</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030057"/>
            <a:ext cx="8778240" cy="2790572"/>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非皂基洁肤产品因主表面活性剂的不同、使用部位的不同，分为不同的产品体系。</a:t>
            </a:r>
            <a:endParaRPr lang="en-US" altLang="zh-CN" sz="2400" dirty="0">
              <a:latin typeface="+mn-lt"/>
              <a:ea typeface="SimHei" panose="02010609060101010101" pitchFamily="49" charset="-122"/>
            </a:endParaRPr>
          </a:p>
          <a:p>
            <a:pPr marL="800100" lvl="1" indent="-342900">
              <a:lnSpc>
                <a:spcPct val="150000"/>
              </a:lnSpc>
              <a:buFont typeface="Arial" panose="020B0604020202020204" pitchFamily="34" charset="0"/>
              <a:buChar char="•"/>
            </a:pPr>
            <a:r>
              <a:rPr lang="zh-CN" altLang="en-US" sz="2400" dirty="0">
                <a:latin typeface="KaiTi" panose="02010609060101010101" pitchFamily="49" charset="-122"/>
                <a:ea typeface="KaiTi" panose="02010609060101010101" pitchFamily="49" charset="-122"/>
              </a:rPr>
              <a:t>按使用部位可以分为：面部、手部及体用。</a:t>
            </a:r>
            <a:endParaRPr lang="en-US" altLang="zh-CN" sz="2400" dirty="0">
              <a:latin typeface="KaiTi" panose="02010609060101010101" pitchFamily="49" charset="-122"/>
              <a:ea typeface="KaiTi" panose="02010609060101010101" pitchFamily="49" charset="-122"/>
            </a:endParaRPr>
          </a:p>
          <a:p>
            <a:pPr marL="800100" lvl="1" indent="-342900">
              <a:lnSpc>
                <a:spcPct val="150000"/>
              </a:lnSpc>
              <a:buFont typeface="Arial" panose="020B0604020202020204" pitchFamily="34" charset="0"/>
              <a:buChar char="•"/>
            </a:pPr>
            <a:r>
              <a:rPr lang="zh-CN" altLang="en-US" sz="2400" dirty="0">
                <a:latin typeface="KaiTi" panose="02010609060101010101" pitchFamily="49" charset="-122"/>
                <a:ea typeface="KaiTi" panose="02010609060101010101" pitchFamily="49" charset="-122"/>
              </a:rPr>
              <a:t>按主表面活性剂的不同可以分为：脂肪醇聚氧乙烯醚硫酸盐型、烷基磷酸酯盐型、烷基糖苷型、氨基酸型等体系。</a:t>
            </a:r>
          </a:p>
        </p:txBody>
      </p:sp>
    </p:spTree>
    <p:extLst>
      <p:ext uri="{BB962C8B-B14F-4D97-AF65-F5344CB8AC3E}">
        <p14:creationId xmlns:p14="http://schemas.microsoft.com/office/powerpoint/2010/main" val="131276858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59</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其他表面活性剂洁肤产品</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030057"/>
            <a:ext cx="8778240" cy="5560561"/>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目标：</a:t>
            </a:r>
            <a:endParaRPr lang="en-US" altLang="zh-CN" sz="2400" dirty="0">
              <a:latin typeface="+mn-lt"/>
              <a:ea typeface="SimHei" panose="02010609060101010101" pitchFamily="49" charset="-122"/>
            </a:endParaRPr>
          </a:p>
          <a:p>
            <a:pPr>
              <a:lnSpc>
                <a:spcPct val="150000"/>
              </a:lnSpc>
            </a:pPr>
            <a:r>
              <a:rPr lang="zh-CN" altLang="en-US" sz="2400" dirty="0">
                <a:latin typeface="KaiTi" panose="02010609060101010101" pitchFamily="49" charset="-122"/>
                <a:ea typeface="KaiTi" panose="02010609060101010101" pitchFamily="49" charset="-122"/>
              </a:rPr>
              <a:t>① 具有丰富的泡沫和适度的清洁效力。</a:t>
            </a:r>
          </a:p>
          <a:p>
            <a:pPr>
              <a:lnSpc>
                <a:spcPct val="150000"/>
              </a:lnSpc>
            </a:pPr>
            <a:r>
              <a:rPr lang="zh-CN" altLang="en-US" sz="2400" dirty="0">
                <a:latin typeface="KaiTi" panose="02010609060101010101" pitchFamily="49" charset="-122"/>
                <a:ea typeface="KaiTi" panose="02010609060101010101" pitchFamily="49" charset="-122"/>
              </a:rPr>
              <a:t>② 作用温和，对皮肤刺激性低。</a:t>
            </a:r>
          </a:p>
          <a:p>
            <a:pPr>
              <a:lnSpc>
                <a:spcPct val="150000"/>
              </a:lnSpc>
            </a:pPr>
            <a:r>
              <a:rPr lang="zh-CN" altLang="en-US" sz="2400" dirty="0">
                <a:latin typeface="KaiTi" panose="02010609060101010101" pitchFamily="49" charset="-122"/>
                <a:ea typeface="KaiTi" panose="02010609060101010101" pitchFamily="49" charset="-122"/>
              </a:rPr>
              <a:t>③ 具有合适的黏度，沐浴产品应是流动的液体。</a:t>
            </a:r>
          </a:p>
          <a:p>
            <a:pPr>
              <a:lnSpc>
                <a:spcPct val="150000"/>
              </a:lnSpc>
            </a:pPr>
            <a:r>
              <a:rPr lang="zh-CN" altLang="en-US" sz="2400" dirty="0">
                <a:latin typeface="KaiTi" panose="02010609060101010101" pitchFamily="49" charset="-122"/>
                <a:ea typeface="KaiTi" panose="02010609060101010101" pitchFamily="49" charset="-122"/>
              </a:rPr>
              <a:t>④ 易于清洗，不会在皮肤上留下黏性残留物、干膜或硬水引起的沉淀物。</a:t>
            </a:r>
          </a:p>
          <a:p>
            <a:pPr>
              <a:lnSpc>
                <a:spcPct val="150000"/>
              </a:lnSpc>
            </a:pPr>
            <a:r>
              <a:rPr lang="zh-CN" altLang="en-US" sz="2400" dirty="0">
                <a:latin typeface="KaiTi" panose="02010609060101010101" pitchFamily="49" charset="-122"/>
                <a:ea typeface="KaiTi" panose="02010609060101010101" pitchFamily="49" charset="-122"/>
              </a:rPr>
              <a:t>⑤ 使用时肤感润滑，不会感到发黏和油腻；使用后，应感到润湿和柔软，不会感到干燥和收紧。</a:t>
            </a:r>
          </a:p>
          <a:p>
            <a:pPr>
              <a:lnSpc>
                <a:spcPct val="150000"/>
              </a:lnSpc>
            </a:pPr>
            <a:r>
              <a:rPr lang="zh-CN" altLang="en-US" sz="2400" dirty="0">
                <a:latin typeface="KaiTi" panose="02010609060101010101" pitchFamily="49" charset="-122"/>
                <a:ea typeface="KaiTi" panose="02010609060101010101" pitchFamily="49" charset="-122"/>
              </a:rPr>
              <a:t>⑥ 香气较浓郁、清新。</a:t>
            </a:r>
          </a:p>
          <a:p>
            <a:pPr>
              <a:lnSpc>
                <a:spcPct val="150000"/>
              </a:lnSpc>
            </a:pPr>
            <a:r>
              <a:rPr lang="zh-CN" altLang="en-US" sz="2400" dirty="0">
                <a:latin typeface="KaiTi" panose="02010609060101010101" pitchFamily="49" charset="-122"/>
                <a:ea typeface="KaiTi" panose="02010609060101010101" pitchFamily="49" charset="-122"/>
              </a:rPr>
              <a:t>⑦ 产品质量稳定，结构细腻，色泽鲜美。</a:t>
            </a:r>
            <a:endParaRPr lang="en-US" altLang="zh-CN" sz="2400" dirty="0">
              <a:latin typeface="+mn-lt"/>
              <a:ea typeface="SimHei" panose="02010609060101010101" pitchFamily="49" charset="-122"/>
            </a:endParaRPr>
          </a:p>
        </p:txBody>
      </p:sp>
    </p:spTree>
    <p:extLst>
      <p:ext uri="{BB962C8B-B14F-4D97-AF65-F5344CB8AC3E}">
        <p14:creationId xmlns:p14="http://schemas.microsoft.com/office/powerpoint/2010/main" val="104996440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60</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其他表面活性剂洁肤产品</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030057"/>
            <a:ext cx="8778240" cy="3883755"/>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主表面活性剂（非皂基）</a:t>
            </a:r>
            <a:endParaRPr lang="en-US" altLang="zh-CN" sz="2400" dirty="0">
              <a:latin typeface="+mn-lt"/>
              <a:ea typeface="SimHei" panose="02010609060101010101" pitchFamily="49" charset="-122"/>
            </a:endParaRPr>
          </a:p>
          <a:p>
            <a:pPr marL="800100" lvl="1" indent="-342900">
              <a:lnSpc>
                <a:spcPct val="150000"/>
              </a:lnSpc>
              <a:buFont typeface="Arial" panose="020B0604020202020204" pitchFamily="34" charset="0"/>
              <a:buChar char="•"/>
            </a:pPr>
            <a:r>
              <a:rPr lang="zh-CN" altLang="en-US" sz="2400" dirty="0">
                <a:latin typeface="KaiTi" panose="02010609060101010101" pitchFamily="49" charset="-122"/>
                <a:ea typeface="KaiTi" panose="02010609060101010101" pitchFamily="49" charset="-122"/>
              </a:rPr>
              <a:t>起泡、清洁</a:t>
            </a:r>
            <a:endParaRPr lang="en-US" altLang="zh-CN" sz="2400" dirty="0">
              <a:latin typeface="KaiTi" panose="02010609060101010101" pitchFamily="49" charset="-122"/>
              <a:ea typeface="KaiTi" panose="02010609060101010101" pitchFamily="49" charset="-122"/>
            </a:endParaRPr>
          </a:p>
          <a:p>
            <a:pPr marL="800100" lvl="1" indent="-342900">
              <a:lnSpc>
                <a:spcPct val="150000"/>
              </a:lnSpc>
              <a:buFont typeface="Arial" panose="020B0604020202020204" pitchFamily="34" charset="0"/>
              <a:buChar char="•"/>
            </a:pPr>
            <a:r>
              <a:rPr lang="zh-CN" altLang="en-US" sz="2400" dirty="0">
                <a:latin typeface="KaiTi" panose="02010609060101010101" pitchFamily="49" charset="-122"/>
                <a:ea typeface="KaiTi" panose="02010609060101010101" pitchFamily="49" charset="-122"/>
              </a:rPr>
              <a:t>脂肪醇硫酸盐、脂肪醇聚氧乙烯醚硫酸盐、酰基磺酸钠、 烷基磷酸酯类、烷基聚葡糖苷、氨基酸类表面活性剂</a:t>
            </a:r>
            <a:endParaRPr lang="en-US" altLang="zh-CN" sz="2400" dirty="0">
              <a:latin typeface="KaiTi" panose="02010609060101010101" pitchFamily="49" charset="-122"/>
              <a:ea typeface="KaiTi" panose="02010609060101010101" pitchFamily="49" charset="-122"/>
            </a:endParaRPr>
          </a:p>
          <a:p>
            <a:pPr marL="342900" indent="-342900">
              <a:lnSpc>
                <a:spcPct val="150000"/>
              </a:lnSpc>
              <a:buFont typeface="Arial" panose="020B0604020202020204" pitchFamily="34" charset="0"/>
              <a:buChar char="•"/>
            </a:pPr>
            <a:r>
              <a:rPr lang="en-US" altLang="zh-CN" sz="2400" spc="-15" dirty="0">
                <a:solidFill>
                  <a:srgbClr val="000000"/>
                </a:solidFill>
                <a:effectLst/>
                <a:latin typeface="KaiTi" panose="02010609060101010101" pitchFamily="49" charset="-122"/>
                <a:ea typeface="KaiTi" panose="02010609060101010101" pitchFamily="49" charset="-122"/>
                <a:cs typeface="SimSun" panose="02010600030101010101" pitchFamily="2" charset="-122"/>
              </a:rPr>
              <a:t>AES</a:t>
            </a:r>
            <a:r>
              <a:rPr lang="zh-CN" altLang="en-US" sz="2400" spc="-15" dirty="0">
                <a:solidFill>
                  <a:srgbClr val="000000"/>
                </a:solidFill>
                <a:effectLst/>
                <a:latin typeface="KaiTi" panose="02010609060101010101" pitchFamily="49" charset="-122"/>
                <a:ea typeface="KaiTi" panose="02010609060101010101" pitchFamily="49" charset="-122"/>
                <a:cs typeface="SimSun" panose="02010600030101010101" pitchFamily="2" charset="-122"/>
              </a:rPr>
              <a:t>：</a:t>
            </a:r>
            <a:r>
              <a:rPr lang="en-US" sz="2400" spc="-15" dirty="0">
                <a:solidFill>
                  <a:srgbClr val="000000"/>
                </a:solidFill>
                <a:effectLst/>
                <a:latin typeface="+mj-lt"/>
                <a:ea typeface="Arial" panose="020B0604020202020204" pitchFamily="34" charset="0"/>
                <a:cs typeface="SimSun" panose="02010600030101010101" pitchFamily="2" charset="-122"/>
              </a:rPr>
              <a:t>R—O(CH</a:t>
            </a:r>
            <a:r>
              <a:rPr lang="en-US" sz="2400" spc="-15" dirty="0">
                <a:solidFill>
                  <a:srgbClr val="000000"/>
                </a:solidFill>
                <a:effectLst/>
                <a:latin typeface="+mj-lt"/>
                <a:ea typeface="Calibri" panose="020F0502020204030204" pitchFamily="34" charset="0"/>
              </a:rPr>
              <a:t>₂</a:t>
            </a:r>
            <a:r>
              <a:rPr lang="en-US" sz="2400" spc="-15" dirty="0">
                <a:solidFill>
                  <a:srgbClr val="000000"/>
                </a:solidFill>
                <a:effectLst/>
                <a:latin typeface="+mj-lt"/>
                <a:ea typeface="Arial" panose="020B0604020202020204" pitchFamily="34" charset="0"/>
                <a:cs typeface="SimSun" panose="02010600030101010101" pitchFamily="2" charset="-122"/>
              </a:rPr>
              <a:t>CH</a:t>
            </a:r>
            <a:r>
              <a:rPr lang="en-US" sz="2400" spc="-15" dirty="0">
                <a:solidFill>
                  <a:srgbClr val="000000"/>
                </a:solidFill>
                <a:effectLst/>
                <a:latin typeface="+mj-lt"/>
                <a:ea typeface="Calibri" panose="020F0502020204030204" pitchFamily="34" charset="0"/>
              </a:rPr>
              <a:t>₂</a:t>
            </a:r>
            <a:r>
              <a:rPr lang="en-US" sz="2400" spc="-15" dirty="0">
                <a:solidFill>
                  <a:srgbClr val="000000"/>
                </a:solidFill>
                <a:effectLst/>
                <a:latin typeface="+mj-lt"/>
                <a:ea typeface="Arial" panose="020B0604020202020204" pitchFamily="34" charset="0"/>
                <a:cs typeface="SimSun" panose="02010600030101010101" pitchFamily="2" charset="-122"/>
              </a:rPr>
              <a:t>O)</a:t>
            </a:r>
            <a:r>
              <a:rPr lang="en-US" sz="2400" spc="-15" baseline="-25000" dirty="0">
                <a:solidFill>
                  <a:srgbClr val="000000"/>
                </a:solidFill>
                <a:effectLst/>
                <a:latin typeface="+mj-lt"/>
                <a:ea typeface="Arial" panose="020B0604020202020204" pitchFamily="34" charset="0"/>
                <a:cs typeface="SimSun" panose="02010600030101010101" pitchFamily="2" charset="-122"/>
              </a:rPr>
              <a:t>n</a:t>
            </a:r>
            <a:r>
              <a:rPr lang="en-US" sz="2400" spc="-65" dirty="0">
                <a:solidFill>
                  <a:srgbClr val="000000"/>
                </a:solidFill>
                <a:effectLst/>
                <a:latin typeface="+mj-lt"/>
                <a:ea typeface="Times New Roman" panose="02020603050405020304" pitchFamily="18" charset="0"/>
              </a:rPr>
              <a:t>—OSO</a:t>
            </a:r>
            <a:r>
              <a:rPr lang="en-US" sz="2400" spc="-65" baseline="-25000" dirty="0">
                <a:solidFill>
                  <a:srgbClr val="000000"/>
                </a:solidFill>
                <a:effectLst/>
                <a:latin typeface="+mj-lt"/>
                <a:ea typeface="Times New Roman" panose="02020603050405020304" pitchFamily="18" charset="0"/>
              </a:rPr>
              <a:t>3</a:t>
            </a:r>
            <a:r>
              <a:rPr lang="en-US" sz="2400" spc="-65" dirty="0">
                <a:solidFill>
                  <a:srgbClr val="000000"/>
                </a:solidFill>
                <a:effectLst/>
                <a:latin typeface="+mj-lt"/>
                <a:ea typeface="Times New Roman" panose="02020603050405020304" pitchFamily="18" charset="0"/>
              </a:rPr>
              <a:t>M</a:t>
            </a:r>
            <a:r>
              <a:rPr lang="zh-CN" sz="2400" spc="-65" dirty="0">
                <a:solidFill>
                  <a:srgbClr val="000000"/>
                </a:solidFill>
                <a:effectLst/>
                <a:latin typeface="+mj-lt"/>
                <a:ea typeface="SimSun" panose="02010600030101010101" pitchFamily="2" charset="-122"/>
                <a:cs typeface="SimSun" panose="02010600030101010101" pitchFamily="2" charset="-122"/>
              </a:rPr>
              <a:t>。</a:t>
            </a:r>
            <a:r>
              <a:rPr lang="zh-CN" sz="2400" spc="-20" dirty="0">
                <a:solidFill>
                  <a:srgbClr val="000000"/>
                </a:solidFill>
                <a:effectLst/>
                <a:latin typeface="+mj-lt"/>
                <a:ea typeface="SimSun" panose="02010600030101010101" pitchFamily="2" charset="-122"/>
                <a:cs typeface="SimSun" panose="02010600030101010101" pitchFamily="2" charset="-122"/>
              </a:rPr>
              <a:t>式中，</a:t>
            </a:r>
            <a:r>
              <a:rPr lang="zh-CN" sz="2400" spc="-370" dirty="0">
                <a:solidFill>
                  <a:srgbClr val="000000"/>
                </a:solidFill>
                <a:effectLst/>
                <a:latin typeface="+mj-lt"/>
                <a:ea typeface="SimSun" panose="02010600030101010101" pitchFamily="2" charset="-122"/>
                <a:cs typeface="SimSun" panose="02010600030101010101" pitchFamily="2" charset="-122"/>
              </a:rPr>
              <a:t> </a:t>
            </a:r>
            <a:r>
              <a:rPr lang="en-US" sz="2400" spc="-20" dirty="0">
                <a:solidFill>
                  <a:srgbClr val="000000"/>
                </a:solidFill>
                <a:effectLst/>
                <a:latin typeface="+mj-lt"/>
                <a:ea typeface="Arial" panose="020B0604020202020204" pitchFamily="34" charset="0"/>
                <a:cs typeface="SimSun" panose="02010600030101010101" pitchFamily="2" charset="-122"/>
              </a:rPr>
              <a:t>R</a:t>
            </a:r>
            <a:r>
              <a:rPr lang="en-US" sz="2400" spc="-10" dirty="0">
                <a:solidFill>
                  <a:srgbClr val="000000"/>
                </a:solidFill>
                <a:effectLst/>
                <a:latin typeface="+mj-lt"/>
                <a:ea typeface="Arial" panose="020B0604020202020204" pitchFamily="34" charset="0"/>
                <a:cs typeface="SimSun" panose="02010600030101010101" pitchFamily="2" charset="-122"/>
              </a:rPr>
              <a:t> </a:t>
            </a:r>
            <a:r>
              <a:rPr lang="zh-CN" sz="2400" spc="-20" dirty="0">
                <a:solidFill>
                  <a:srgbClr val="000000"/>
                </a:solidFill>
                <a:effectLst/>
                <a:latin typeface="+mj-lt"/>
                <a:ea typeface="SimSun" panose="02010600030101010101" pitchFamily="2" charset="-122"/>
                <a:cs typeface="SimSun" panose="02010600030101010101" pitchFamily="2" charset="-122"/>
              </a:rPr>
              <a:t>为</a:t>
            </a:r>
            <a:r>
              <a:rPr lang="zh-CN" sz="2400" spc="-350" dirty="0">
                <a:solidFill>
                  <a:srgbClr val="000000"/>
                </a:solidFill>
                <a:effectLst/>
                <a:latin typeface="+mj-lt"/>
                <a:ea typeface="SimSun" panose="02010600030101010101" pitchFamily="2" charset="-122"/>
                <a:cs typeface="SimSun" panose="02010600030101010101" pitchFamily="2" charset="-122"/>
              </a:rPr>
              <a:t> </a:t>
            </a:r>
            <a:r>
              <a:rPr lang="en-US" sz="2400" spc="-20" dirty="0">
                <a:solidFill>
                  <a:srgbClr val="000000"/>
                </a:solidFill>
                <a:effectLst/>
                <a:latin typeface="+mj-lt"/>
                <a:ea typeface="Arial" panose="020B0604020202020204" pitchFamily="34" charset="0"/>
                <a:cs typeface="SimSun" panose="02010600030101010101" pitchFamily="2" charset="-122"/>
              </a:rPr>
              <a:t>C12</a:t>
            </a:r>
            <a:r>
              <a:rPr lang="en-US" sz="2400" spc="-225" dirty="0">
                <a:solidFill>
                  <a:srgbClr val="000000"/>
                </a:solidFill>
                <a:effectLst/>
                <a:latin typeface="+mj-lt"/>
                <a:ea typeface="Calibri" panose="020F0502020204030204" pitchFamily="34" charset="0"/>
              </a:rPr>
              <a:t> </a:t>
            </a:r>
            <a:r>
              <a:rPr lang="en-US" sz="2400" spc="-20" dirty="0">
                <a:solidFill>
                  <a:srgbClr val="000000"/>
                </a:solidFill>
                <a:effectLst/>
                <a:latin typeface="+mj-lt"/>
                <a:ea typeface="Arial" panose="020B0604020202020204" pitchFamily="34" charset="0"/>
                <a:cs typeface="SimSun" panose="02010600030101010101" pitchFamily="2" charset="-122"/>
              </a:rPr>
              <a:t>~C16</a:t>
            </a:r>
            <a:r>
              <a:rPr lang="zh-CN" sz="2400" spc="-20" dirty="0">
                <a:solidFill>
                  <a:srgbClr val="000000"/>
                </a:solidFill>
                <a:effectLst/>
                <a:latin typeface="+mj-lt"/>
                <a:ea typeface="SimSun" panose="02010600030101010101" pitchFamily="2" charset="-122"/>
                <a:cs typeface="SimSun" panose="02010600030101010101" pitchFamily="2" charset="-122"/>
              </a:rPr>
              <a:t>烷基；</a:t>
            </a:r>
            <a:r>
              <a:rPr lang="zh-CN" sz="2400" spc="-390" dirty="0">
                <a:solidFill>
                  <a:srgbClr val="000000"/>
                </a:solidFill>
                <a:effectLst/>
                <a:latin typeface="+mj-lt"/>
                <a:ea typeface="SimSun" panose="02010600030101010101" pitchFamily="2" charset="-122"/>
                <a:cs typeface="SimSun" panose="02010600030101010101" pitchFamily="2" charset="-122"/>
              </a:rPr>
              <a:t> </a:t>
            </a:r>
            <a:r>
              <a:rPr lang="en-US" sz="2400" spc="-20" dirty="0">
                <a:solidFill>
                  <a:srgbClr val="000000"/>
                </a:solidFill>
                <a:effectLst/>
                <a:latin typeface="+mj-lt"/>
                <a:ea typeface="Arial" panose="020B0604020202020204" pitchFamily="34" charset="0"/>
                <a:cs typeface="SimSun" panose="02010600030101010101" pitchFamily="2" charset="-122"/>
              </a:rPr>
              <a:t>n</a:t>
            </a:r>
            <a:r>
              <a:rPr lang="en-US" sz="2400" spc="-205" dirty="0">
                <a:solidFill>
                  <a:srgbClr val="000000"/>
                </a:solidFill>
                <a:effectLst/>
                <a:latin typeface="+mj-lt"/>
                <a:ea typeface="Arial" panose="020B0604020202020204" pitchFamily="34" charset="0"/>
                <a:cs typeface="SimSun" panose="02010600030101010101" pitchFamily="2" charset="-122"/>
              </a:rPr>
              <a:t> </a:t>
            </a:r>
            <a:r>
              <a:rPr lang="zh-CN" sz="2400" spc="-20" dirty="0">
                <a:solidFill>
                  <a:srgbClr val="000000"/>
                </a:solidFill>
                <a:effectLst/>
                <a:latin typeface="+mj-lt"/>
                <a:ea typeface="SimSun" panose="02010600030101010101" pitchFamily="2" charset="-122"/>
                <a:cs typeface="SimSun" panose="02010600030101010101" pitchFamily="2" charset="-122"/>
              </a:rPr>
              <a:t>一般为</a:t>
            </a:r>
            <a:r>
              <a:rPr lang="en-US" sz="2400" spc="-20" dirty="0">
                <a:solidFill>
                  <a:srgbClr val="000000"/>
                </a:solidFill>
                <a:effectLst/>
                <a:latin typeface="+mj-lt"/>
                <a:ea typeface="Arial" panose="020B0604020202020204" pitchFamily="34" charset="0"/>
                <a:cs typeface="SimSun" panose="02010600030101010101" pitchFamily="2" charset="-122"/>
              </a:rPr>
              <a:t>2</a:t>
            </a:r>
            <a:r>
              <a:rPr lang="zh-CN" sz="2400" spc="-20" dirty="0">
                <a:solidFill>
                  <a:srgbClr val="000000"/>
                </a:solidFill>
                <a:effectLst/>
                <a:latin typeface="+mj-lt"/>
                <a:ea typeface="Arial" panose="020B0604020202020204" pitchFamily="34" charset="0"/>
                <a:cs typeface="SimSun" panose="02010600030101010101" pitchFamily="2" charset="-122"/>
              </a:rPr>
              <a:t>～</a:t>
            </a:r>
            <a:r>
              <a:rPr lang="en-US" sz="2400" spc="-20" dirty="0">
                <a:solidFill>
                  <a:srgbClr val="000000"/>
                </a:solidFill>
                <a:effectLst/>
                <a:latin typeface="+mj-lt"/>
                <a:ea typeface="Arial" panose="020B0604020202020204" pitchFamily="34" charset="0"/>
                <a:cs typeface="SimSun" panose="02010600030101010101" pitchFamily="2" charset="-122"/>
              </a:rPr>
              <a:t>3;</a:t>
            </a:r>
            <a:r>
              <a:rPr lang="en-US" sz="2400" spc="-385" dirty="0">
                <a:solidFill>
                  <a:srgbClr val="000000"/>
                </a:solidFill>
                <a:effectLst/>
                <a:latin typeface="+mj-lt"/>
                <a:ea typeface="Arial" panose="020B0604020202020204" pitchFamily="34" charset="0"/>
                <a:cs typeface="SimSun" panose="02010600030101010101" pitchFamily="2" charset="-122"/>
              </a:rPr>
              <a:t> </a:t>
            </a:r>
            <a:r>
              <a:rPr lang="en-US" sz="2400" spc="-20" dirty="0">
                <a:solidFill>
                  <a:srgbClr val="000000"/>
                </a:solidFill>
                <a:effectLst/>
                <a:latin typeface="+mj-lt"/>
                <a:ea typeface="Arial" panose="020B0604020202020204" pitchFamily="34" charset="0"/>
                <a:cs typeface="SimSun" panose="02010600030101010101" pitchFamily="2" charset="-122"/>
              </a:rPr>
              <a:t>M</a:t>
            </a:r>
            <a:r>
              <a:rPr lang="en-US" sz="2400" spc="265" dirty="0">
                <a:solidFill>
                  <a:srgbClr val="000000"/>
                </a:solidFill>
                <a:effectLst/>
                <a:latin typeface="+mj-lt"/>
                <a:ea typeface="Arial" panose="020B0604020202020204" pitchFamily="34" charset="0"/>
                <a:cs typeface="SimSun" panose="02010600030101010101" pitchFamily="2" charset="-122"/>
              </a:rPr>
              <a:t> </a:t>
            </a:r>
            <a:r>
              <a:rPr lang="zh-CN" sz="2400" spc="-20" dirty="0">
                <a:solidFill>
                  <a:srgbClr val="000000"/>
                </a:solidFill>
                <a:effectLst/>
                <a:latin typeface="+mj-lt"/>
                <a:ea typeface="SimSun" panose="02010600030101010101" pitchFamily="2" charset="-122"/>
                <a:cs typeface="SimSun" panose="02010600030101010101" pitchFamily="2" charset="-122"/>
              </a:rPr>
              <a:t>为</a:t>
            </a:r>
            <a:r>
              <a:rPr lang="zh-CN" sz="2400" spc="-405" dirty="0">
                <a:solidFill>
                  <a:srgbClr val="000000"/>
                </a:solidFill>
                <a:effectLst/>
                <a:latin typeface="+mj-lt"/>
                <a:ea typeface="SimSun" panose="02010600030101010101" pitchFamily="2" charset="-122"/>
                <a:cs typeface="SimSun" panose="02010600030101010101" pitchFamily="2" charset="-122"/>
              </a:rPr>
              <a:t> </a:t>
            </a:r>
            <a:r>
              <a:rPr lang="en-US" sz="2400" spc="-20" dirty="0">
                <a:solidFill>
                  <a:srgbClr val="000000"/>
                </a:solidFill>
                <a:effectLst/>
                <a:latin typeface="+mj-lt"/>
                <a:ea typeface="Arial" panose="020B0604020202020204" pitchFamily="34" charset="0"/>
                <a:cs typeface="SimSun" panose="02010600030101010101" pitchFamily="2" charset="-122"/>
              </a:rPr>
              <a:t>Na</a:t>
            </a:r>
            <a:r>
              <a:rPr lang="en-US" sz="2400" spc="-20" baseline="30000" dirty="0">
                <a:solidFill>
                  <a:srgbClr val="000000"/>
                </a:solidFill>
                <a:effectLst/>
                <a:latin typeface="+mj-lt"/>
                <a:ea typeface="Arial" panose="020B0604020202020204" pitchFamily="34" charset="0"/>
                <a:cs typeface="SimSun" panose="02010600030101010101" pitchFamily="2" charset="-122"/>
              </a:rPr>
              <a:t>+</a:t>
            </a:r>
            <a:r>
              <a:rPr lang="zh-CN" sz="2400" spc="-20" dirty="0">
                <a:solidFill>
                  <a:srgbClr val="000000"/>
                </a:solidFill>
                <a:effectLst/>
                <a:latin typeface="+mj-lt"/>
                <a:ea typeface="Arial" panose="020B0604020202020204" pitchFamily="34" charset="0"/>
                <a:cs typeface="SimSun" panose="02010600030101010101" pitchFamily="2" charset="-122"/>
              </a:rPr>
              <a:t>、</a:t>
            </a:r>
            <a:r>
              <a:rPr lang="en-US" sz="2400" spc="-20" dirty="0">
                <a:solidFill>
                  <a:srgbClr val="000000"/>
                </a:solidFill>
                <a:effectLst/>
                <a:latin typeface="+mj-lt"/>
                <a:ea typeface="Arial" panose="020B0604020202020204" pitchFamily="34" charset="0"/>
                <a:cs typeface="SimSun" panose="02010600030101010101" pitchFamily="2" charset="-122"/>
              </a:rPr>
              <a:t>NH</a:t>
            </a:r>
            <a:r>
              <a:rPr lang="en-US" sz="2400" spc="-20" dirty="0">
                <a:solidFill>
                  <a:srgbClr val="000000"/>
                </a:solidFill>
                <a:effectLst/>
                <a:latin typeface="+mj-lt"/>
                <a:ea typeface="Calibri" panose="020F0502020204030204" pitchFamily="34" charset="0"/>
              </a:rPr>
              <a:t>₄</a:t>
            </a:r>
            <a:r>
              <a:rPr lang="en-US" sz="2400" spc="-20" baseline="30000" dirty="0">
                <a:solidFill>
                  <a:srgbClr val="000000"/>
                </a:solidFill>
                <a:effectLst/>
                <a:latin typeface="+mj-lt"/>
                <a:ea typeface="Calibri" panose="020F0502020204030204" pitchFamily="34" charset="0"/>
              </a:rPr>
              <a:t>+</a:t>
            </a:r>
            <a:r>
              <a:rPr lang="en-US" sz="2400" spc="-170" dirty="0">
                <a:solidFill>
                  <a:srgbClr val="000000"/>
                </a:solidFill>
                <a:effectLst/>
                <a:latin typeface="+mj-lt"/>
                <a:ea typeface="Calibri" panose="020F0502020204030204" pitchFamily="34" charset="0"/>
              </a:rPr>
              <a:t> </a:t>
            </a:r>
            <a:r>
              <a:rPr lang="zh-CN" sz="2400" spc="-20" dirty="0">
                <a:solidFill>
                  <a:srgbClr val="000000"/>
                </a:solidFill>
                <a:effectLst/>
                <a:latin typeface="+mj-lt"/>
                <a:ea typeface="SimSun" panose="02010600030101010101" pitchFamily="2" charset="-122"/>
                <a:cs typeface="SimSun" panose="02010600030101010101" pitchFamily="2" charset="-122"/>
              </a:rPr>
              <a:t>、</a:t>
            </a:r>
            <a:r>
              <a:rPr lang="en-US" sz="2400" spc="-20" dirty="0">
                <a:solidFill>
                  <a:srgbClr val="000000"/>
                </a:solidFill>
                <a:effectLst/>
                <a:latin typeface="+mj-lt"/>
                <a:ea typeface="Arial" panose="020B0604020202020204" pitchFamily="34" charset="0"/>
                <a:cs typeface="SimSun" panose="02010600030101010101" pitchFamily="2" charset="-122"/>
              </a:rPr>
              <a:t>[NH(C</a:t>
            </a:r>
            <a:r>
              <a:rPr lang="en-US" sz="2400" spc="-20" dirty="0">
                <a:solidFill>
                  <a:srgbClr val="000000"/>
                </a:solidFill>
                <a:effectLst/>
                <a:latin typeface="+mj-lt"/>
                <a:ea typeface="Calibri" panose="020F0502020204030204" pitchFamily="34" charset="0"/>
              </a:rPr>
              <a:t>₂</a:t>
            </a:r>
            <a:r>
              <a:rPr lang="en-US" sz="2400" spc="-20" dirty="0">
                <a:solidFill>
                  <a:srgbClr val="000000"/>
                </a:solidFill>
                <a:effectLst/>
                <a:latin typeface="+mj-lt"/>
                <a:ea typeface="Arial" panose="020B0604020202020204" pitchFamily="34" charset="0"/>
                <a:cs typeface="SimSun" panose="02010600030101010101" pitchFamily="2" charset="-122"/>
              </a:rPr>
              <a:t>H</a:t>
            </a:r>
            <a:r>
              <a:rPr lang="en-US" sz="2400" spc="-20" dirty="0">
                <a:solidFill>
                  <a:srgbClr val="000000"/>
                </a:solidFill>
                <a:effectLst/>
                <a:latin typeface="+mj-lt"/>
                <a:ea typeface="Calibri" panose="020F0502020204030204" pitchFamily="34" charset="0"/>
              </a:rPr>
              <a:t>₅</a:t>
            </a:r>
            <a:r>
              <a:rPr lang="en-US" sz="2400" spc="-20" dirty="0">
                <a:solidFill>
                  <a:srgbClr val="000000"/>
                </a:solidFill>
                <a:effectLst/>
                <a:latin typeface="+mj-lt"/>
                <a:ea typeface="Arial" panose="020B0604020202020204" pitchFamily="34" charset="0"/>
                <a:cs typeface="SimSun" panose="02010600030101010101" pitchFamily="2" charset="-122"/>
              </a:rPr>
              <a:t>OH)</a:t>
            </a:r>
            <a:r>
              <a:rPr lang="en-US" sz="2400" spc="-20" baseline="-25000" dirty="0">
                <a:solidFill>
                  <a:srgbClr val="000000"/>
                </a:solidFill>
                <a:effectLst/>
                <a:latin typeface="+mj-lt"/>
                <a:ea typeface="Arial" panose="020B0604020202020204" pitchFamily="34" charset="0"/>
                <a:cs typeface="SimSun" panose="02010600030101010101" pitchFamily="2" charset="-122"/>
              </a:rPr>
              <a:t>3</a:t>
            </a:r>
            <a:r>
              <a:rPr lang="en-US" sz="2400" spc="-20" dirty="0">
                <a:solidFill>
                  <a:srgbClr val="000000"/>
                </a:solidFill>
                <a:effectLst/>
                <a:latin typeface="+mj-lt"/>
                <a:ea typeface="Arial" panose="020B0604020202020204" pitchFamily="34" charset="0"/>
                <a:cs typeface="SimSun" panose="02010600030101010101" pitchFamily="2" charset="-122"/>
              </a:rPr>
              <a:t>]</a:t>
            </a:r>
            <a:r>
              <a:rPr lang="en-US" sz="2400" spc="-20" baseline="30000" dirty="0">
                <a:solidFill>
                  <a:srgbClr val="000000"/>
                </a:solidFill>
                <a:effectLst/>
                <a:latin typeface="+mj-lt"/>
                <a:ea typeface="Arial" panose="020B0604020202020204" pitchFamily="34" charset="0"/>
                <a:cs typeface="SimSun" panose="02010600030101010101" pitchFamily="2" charset="-122"/>
              </a:rPr>
              <a:t>+</a:t>
            </a:r>
            <a:r>
              <a:rPr lang="zh-CN" sz="2400" spc="-25" dirty="0">
                <a:solidFill>
                  <a:srgbClr val="000000"/>
                </a:solidFill>
                <a:effectLst/>
                <a:latin typeface="+mj-lt"/>
                <a:ea typeface="SimSun" panose="02010600030101010101" pitchFamily="2" charset="-122"/>
                <a:cs typeface="SimSun" panose="02010600030101010101" pitchFamily="2" charset="-122"/>
              </a:rPr>
              <a:t>。</a:t>
            </a:r>
            <a:endParaRPr lang="en-US" sz="2400" dirty="0">
              <a:solidFill>
                <a:srgbClr val="000000"/>
              </a:solidFill>
              <a:effectLst/>
              <a:latin typeface="+mj-lt"/>
              <a:ea typeface="Arial" panose="020B0604020202020204" pitchFamily="34" charset="0"/>
            </a:endParaRPr>
          </a:p>
          <a:p>
            <a:pPr marL="342900" indent="-342900">
              <a:lnSpc>
                <a:spcPct val="150000"/>
              </a:lnSpc>
              <a:buFont typeface="Arial" panose="020B0604020202020204" pitchFamily="34" charset="0"/>
              <a:buChar char="•"/>
            </a:pPr>
            <a:endParaRPr lang="en-US" altLang="zh-CN" sz="2400" dirty="0">
              <a:latin typeface="KaiTi" panose="02010609060101010101" pitchFamily="49" charset="-122"/>
              <a:ea typeface="KaiTi" panose="02010609060101010101" pitchFamily="49" charset="-122"/>
            </a:endParaRPr>
          </a:p>
        </p:txBody>
      </p:sp>
    </p:spTree>
    <p:extLst>
      <p:ext uri="{BB962C8B-B14F-4D97-AF65-F5344CB8AC3E}">
        <p14:creationId xmlns:p14="http://schemas.microsoft.com/office/powerpoint/2010/main" val="47794316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61</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其他表面活性剂洁肤产品</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030057"/>
            <a:ext cx="8778240" cy="2221762"/>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主表面活性剂 （氨基酸）</a:t>
            </a:r>
            <a:endParaRPr lang="en-US" altLang="zh-CN" sz="2400" dirty="0">
              <a:latin typeface="+mn-lt"/>
              <a:ea typeface="SimHei" panose="02010609060101010101" pitchFamily="49" charset="-122"/>
            </a:endParaRPr>
          </a:p>
          <a:p>
            <a:pPr marL="800100" lvl="1" indent="-342900">
              <a:lnSpc>
                <a:spcPct val="150000"/>
              </a:lnSpc>
              <a:buFont typeface="Arial" panose="020B0604020202020204" pitchFamily="34" charset="0"/>
              <a:buChar char="•"/>
            </a:pPr>
            <a:r>
              <a:rPr lang="zh-CN" altLang="en-US" sz="2400" dirty="0">
                <a:latin typeface="KaiTi" panose="02010609060101010101" pitchFamily="49" charset="-122"/>
                <a:ea typeface="KaiTi" panose="02010609060101010101" pitchFamily="49" charset="-122"/>
              </a:rPr>
              <a:t>起泡、清洁</a:t>
            </a:r>
            <a:endParaRPr lang="en-US" altLang="zh-CN" sz="2400" dirty="0">
              <a:latin typeface="KaiTi" panose="02010609060101010101" pitchFamily="49" charset="-122"/>
              <a:ea typeface="KaiTi" panose="02010609060101010101" pitchFamily="49" charset="-122"/>
            </a:endParaRPr>
          </a:p>
          <a:p>
            <a:pPr marL="800100" lvl="1" indent="-342900">
              <a:lnSpc>
                <a:spcPct val="150000"/>
              </a:lnSpc>
              <a:buFont typeface="Arial" panose="020B0604020202020204" pitchFamily="34" charset="0"/>
              <a:buChar char="•"/>
            </a:pPr>
            <a:r>
              <a:rPr lang="zh-CN" altLang="en-US" sz="2400" dirty="0">
                <a:latin typeface="KaiTi" panose="02010609060101010101" pitchFamily="49" charset="-122"/>
                <a:ea typeface="KaiTi" panose="02010609060101010101" pitchFamily="49" charset="-122"/>
              </a:rPr>
              <a:t>椰油基羟乙基磺酸酯钠、肉豆蔻酰谷氨酸钠、椰油酰甘 氨酸钠、月桂酰谷氨酸钠等</a:t>
            </a:r>
            <a:endParaRPr lang="en-US" altLang="zh-CN" sz="2400" dirty="0">
              <a:latin typeface="KaiTi" panose="02010609060101010101" pitchFamily="49" charset="-122"/>
              <a:ea typeface="KaiTi" panose="02010609060101010101" pitchFamily="49" charset="-122"/>
            </a:endParaRPr>
          </a:p>
        </p:txBody>
      </p:sp>
      <p:pic>
        <p:nvPicPr>
          <p:cNvPr id="8" name="图片 7">
            <a:extLst>
              <a:ext uri="{FF2B5EF4-FFF2-40B4-BE49-F238E27FC236}">
                <a16:creationId xmlns:a16="http://schemas.microsoft.com/office/drawing/2014/main" id="{3E469D46-DB12-064C-AD71-1CAB91B73338}"/>
              </a:ext>
            </a:extLst>
          </p:cNvPr>
          <p:cNvPicPr>
            <a:picLocks noChangeAspect="1"/>
          </p:cNvPicPr>
          <p:nvPr/>
        </p:nvPicPr>
        <p:blipFill>
          <a:blip r:embed="rId2"/>
          <a:stretch>
            <a:fillRect/>
          </a:stretch>
        </p:blipFill>
        <p:spPr>
          <a:xfrm>
            <a:off x="2616831" y="3457095"/>
            <a:ext cx="3592286" cy="1901628"/>
          </a:xfrm>
          <a:prstGeom prst="rect">
            <a:avLst/>
          </a:prstGeom>
        </p:spPr>
      </p:pic>
    </p:spTree>
    <p:extLst>
      <p:ext uri="{BB962C8B-B14F-4D97-AF65-F5344CB8AC3E}">
        <p14:creationId xmlns:p14="http://schemas.microsoft.com/office/powerpoint/2010/main" val="202986597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62</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其他表面活性剂洁肤产品</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030057"/>
            <a:ext cx="8778240" cy="4324261"/>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无机盐的增稠原理：</a:t>
            </a:r>
            <a:endParaRPr lang="en-US" altLang="zh-CN" sz="2400" dirty="0">
              <a:latin typeface="+mn-lt"/>
              <a:ea typeface="SimHei" panose="02010609060101010101" pitchFamily="49" charset="-122"/>
            </a:endParaRPr>
          </a:p>
          <a:p>
            <a:pPr>
              <a:lnSpc>
                <a:spcPts val="2880"/>
              </a:lnSpc>
            </a:pPr>
            <a:r>
              <a:rPr lang="en-US" altLang="zh-CN" sz="2400" dirty="0">
                <a:latin typeface="KaiTi" panose="02010609060101010101" pitchFamily="49" charset="-122"/>
                <a:ea typeface="KaiTi" panose="02010609060101010101" pitchFamily="49" charset="-122"/>
              </a:rPr>
              <a:t>	</a:t>
            </a:r>
            <a:r>
              <a:rPr lang="zh-CN" altLang="en-US" sz="2400" dirty="0">
                <a:latin typeface="KaiTi" panose="02010609060101010101" pitchFamily="49" charset="-122"/>
                <a:ea typeface="KaiTi" panose="02010609060101010101" pitchFamily="49" charset="-122"/>
              </a:rPr>
              <a:t>阴离子表面活性剂在产品体系中首先是电离，亲水基带负电，带负电荷的表面活性剂分子聚集形成胶束；反离子以紧密层、扩散层分布在胶束的周围。当体系中加入无机盐时，体系中电解质的浓度增加，增加的</a:t>
            </a:r>
            <a:r>
              <a:rPr lang="zh-CN" altLang="en-US" sz="2400" dirty="0">
                <a:solidFill>
                  <a:srgbClr val="0000FF"/>
                </a:solidFill>
                <a:latin typeface="KaiTi" panose="02010609060101010101" pitchFamily="49" charset="-122"/>
                <a:ea typeface="KaiTi" panose="02010609060101010101" pitchFamily="49" charset="-122"/>
              </a:rPr>
              <a:t>阳离子</a:t>
            </a:r>
            <a:r>
              <a:rPr lang="zh-CN" altLang="en-US" sz="2400" dirty="0">
                <a:latin typeface="KaiTi" panose="02010609060101010101" pitchFamily="49" charset="-122"/>
                <a:ea typeface="KaiTi" panose="02010609060101010101" pitchFamily="49" charset="-122"/>
              </a:rPr>
              <a:t> </a:t>
            </a:r>
            <a:r>
              <a:rPr lang="en-US" altLang="zh-CN" sz="2400" dirty="0">
                <a:latin typeface="KaiTi" panose="02010609060101010101" pitchFamily="49" charset="-122"/>
                <a:ea typeface="KaiTi" panose="02010609060101010101" pitchFamily="49" charset="-122"/>
              </a:rPr>
              <a:t>(Na</a:t>
            </a:r>
            <a:r>
              <a:rPr lang="en-US" altLang="zh-CN" sz="2400" baseline="30000" dirty="0">
                <a:latin typeface="KaiTi" panose="02010609060101010101" pitchFamily="49" charset="-122"/>
                <a:ea typeface="KaiTi" panose="02010609060101010101" pitchFamily="49" charset="-122"/>
              </a:rPr>
              <a:t>+</a:t>
            </a:r>
            <a:r>
              <a:rPr lang="zh-CN" altLang="en-US" sz="2400" dirty="0">
                <a:latin typeface="KaiTi" panose="02010609060101010101" pitchFamily="49" charset="-122"/>
                <a:ea typeface="KaiTi" panose="02010609060101010101" pitchFamily="49" charset="-122"/>
              </a:rPr>
              <a:t>、</a:t>
            </a:r>
            <a:r>
              <a:rPr lang="en-US" altLang="zh-CN" sz="2400" dirty="0">
                <a:latin typeface="KaiTi" panose="02010609060101010101" pitchFamily="49" charset="-122"/>
                <a:ea typeface="KaiTi" panose="02010609060101010101" pitchFamily="49" charset="-122"/>
              </a:rPr>
              <a:t>K</a:t>
            </a:r>
            <a:r>
              <a:rPr lang="en-US" altLang="zh-CN" sz="2400" baseline="30000" dirty="0">
                <a:latin typeface="KaiTi" panose="02010609060101010101" pitchFamily="49" charset="-122"/>
                <a:ea typeface="KaiTi" panose="02010609060101010101" pitchFamily="49" charset="-122"/>
              </a:rPr>
              <a:t>+</a:t>
            </a:r>
            <a:r>
              <a:rPr lang="zh-CN" altLang="en-US" sz="2400" dirty="0">
                <a:latin typeface="KaiTi" panose="02010609060101010101" pitchFamily="49" charset="-122"/>
                <a:ea typeface="KaiTi" panose="02010609060101010101" pitchFamily="49" charset="-122"/>
              </a:rPr>
              <a:t>、</a:t>
            </a:r>
            <a:r>
              <a:rPr lang="en-US" altLang="zh-CN" sz="2400" dirty="0">
                <a:latin typeface="KaiTi" panose="02010609060101010101" pitchFamily="49" charset="-122"/>
                <a:ea typeface="KaiTi" panose="02010609060101010101" pitchFamily="49" charset="-122"/>
              </a:rPr>
              <a:t>NH₄</a:t>
            </a:r>
            <a:r>
              <a:rPr lang="en-US" altLang="zh-CN" sz="2400" baseline="30000" dirty="0">
                <a:latin typeface="KaiTi" panose="02010609060101010101" pitchFamily="49" charset="-122"/>
                <a:ea typeface="KaiTi" panose="02010609060101010101" pitchFamily="49" charset="-122"/>
              </a:rPr>
              <a:t>+</a:t>
            </a:r>
            <a:r>
              <a:rPr lang="en-US" altLang="zh-CN" sz="2400" dirty="0">
                <a:latin typeface="KaiTi" panose="02010609060101010101" pitchFamily="49" charset="-122"/>
                <a:ea typeface="KaiTi" panose="02010609060101010101" pitchFamily="49" charset="-122"/>
              </a:rPr>
              <a:t> </a:t>
            </a:r>
            <a:r>
              <a:rPr lang="zh-CN" altLang="en-US" sz="2400" dirty="0">
                <a:latin typeface="KaiTi" panose="02010609060101010101" pitchFamily="49" charset="-122"/>
                <a:ea typeface="KaiTi" panose="02010609060101010101" pitchFamily="49" charset="-122"/>
              </a:rPr>
              <a:t>等</a:t>
            </a:r>
            <a:r>
              <a:rPr lang="en-US" altLang="zh-CN" sz="2400" dirty="0">
                <a:latin typeface="KaiTi" panose="02010609060101010101" pitchFamily="49" charset="-122"/>
                <a:ea typeface="KaiTi" panose="02010609060101010101" pitchFamily="49" charset="-122"/>
              </a:rPr>
              <a:t>)</a:t>
            </a:r>
            <a:r>
              <a:rPr lang="zh-CN" altLang="en-US" sz="2400" dirty="0">
                <a:latin typeface="KaiTi" panose="02010609060101010101" pitchFamily="49" charset="-122"/>
                <a:ea typeface="KaiTi" panose="02010609060101010101" pitchFamily="49" charset="-122"/>
              </a:rPr>
              <a:t>会进入到胶束反离子的紧密层，降低了亲水基的电荷密度，</a:t>
            </a:r>
            <a:r>
              <a:rPr lang="zh-CN" altLang="en-US" sz="2400" dirty="0">
                <a:solidFill>
                  <a:srgbClr val="0000FF"/>
                </a:solidFill>
                <a:latin typeface="KaiTi" panose="02010609060101010101" pitchFamily="49" charset="-122"/>
                <a:ea typeface="KaiTi" panose="02010609060101010101" pitchFamily="49" charset="-122"/>
              </a:rPr>
              <a:t>降低了带阴离子特性表面活性剂分子之间的静电斥力</a:t>
            </a:r>
            <a:r>
              <a:rPr lang="zh-CN" altLang="en-US" sz="2400" dirty="0">
                <a:latin typeface="KaiTi" panose="02010609060101010101" pitchFamily="49" charset="-122"/>
                <a:ea typeface="KaiTi" panose="02010609060101010101" pitchFamily="49" charset="-122"/>
              </a:rPr>
              <a:t>，使得形成胶束的阴离子表面活性剂排列得更紧密，</a:t>
            </a:r>
            <a:r>
              <a:rPr lang="zh-CN" altLang="en-US" sz="2400" dirty="0">
                <a:solidFill>
                  <a:srgbClr val="0000FF"/>
                </a:solidFill>
                <a:latin typeface="KaiTi" panose="02010609060101010101" pitchFamily="49" charset="-122"/>
                <a:ea typeface="KaiTi" panose="02010609060101010101" pitchFamily="49" charset="-122"/>
              </a:rPr>
              <a:t>形成聚集数更大的胶束，胶束的增大提高了表面活性剂体系的黏度</a:t>
            </a:r>
            <a:r>
              <a:rPr lang="zh-CN" altLang="en-US" sz="2400" dirty="0">
                <a:latin typeface="KaiTi" panose="02010609060101010101" pitchFamily="49" charset="-122"/>
                <a:ea typeface="KaiTi" panose="02010609060101010101" pitchFamily="49" charset="-122"/>
              </a:rPr>
              <a:t>。简单地说，</a:t>
            </a:r>
            <a:r>
              <a:rPr lang="zh-CN" altLang="en-US" sz="2400" dirty="0">
                <a:solidFill>
                  <a:srgbClr val="0000FF"/>
                </a:solidFill>
                <a:latin typeface="KaiTi" panose="02010609060101010101" pitchFamily="49" charset="-122"/>
                <a:ea typeface="KaiTi" panose="02010609060101010101" pitchFamily="49" charset="-122"/>
              </a:rPr>
              <a:t>无机盐电解质是通过压缩双电层，降低阴离子表面活性剂形成胶束的</a:t>
            </a:r>
            <a:r>
              <a:rPr lang="en-US" altLang="zh-CN" sz="2400" dirty="0">
                <a:solidFill>
                  <a:srgbClr val="0000FF"/>
                </a:solidFill>
                <a:latin typeface="KaiTi" panose="02010609060101010101" pitchFamily="49" charset="-122"/>
                <a:ea typeface="KaiTi" panose="02010609060101010101" pitchFamily="49" charset="-122"/>
              </a:rPr>
              <a:t>ζ</a:t>
            </a:r>
            <a:r>
              <a:rPr lang="zh-CN" altLang="en-US" sz="2400" dirty="0">
                <a:solidFill>
                  <a:srgbClr val="0000FF"/>
                </a:solidFill>
                <a:latin typeface="KaiTi" panose="02010609060101010101" pitchFamily="49" charset="-122"/>
                <a:ea typeface="KaiTi" panose="02010609060101010101" pitchFamily="49" charset="-122"/>
              </a:rPr>
              <a:t>电势，有利于体系形成更大的胶束，进而提高了体系的黏度</a:t>
            </a:r>
            <a:r>
              <a:rPr lang="zh-CN" altLang="en-US" sz="2400" dirty="0">
                <a:latin typeface="KaiTi" panose="02010609060101010101" pitchFamily="49" charset="-122"/>
                <a:ea typeface="KaiTi" panose="02010609060101010101" pitchFamily="49" charset="-122"/>
              </a:rPr>
              <a:t>。</a:t>
            </a:r>
            <a:endParaRPr lang="en-US" altLang="zh-CN" sz="2400" dirty="0">
              <a:latin typeface="KaiTi" panose="02010609060101010101" pitchFamily="49" charset="-122"/>
              <a:ea typeface="KaiTi" panose="02010609060101010101" pitchFamily="49" charset="-122"/>
            </a:endParaRPr>
          </a:p>
        </p:txBody>
      </p:sp>
    </p:spTree>
    <p:extLst>
      <p:ext uri="{BB962C8B-B14F-4D97-AF65-F5344CB8AC3E}">
        <p14:creationId xmlns:p14="http://schemas.microsoft.com/office/powerpoint/2010/main" val="381070796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63</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其他表面活性剂洁肤产品</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030057"/>
            <a:ext cx="8778240" cy="3898568"/>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烷基糖苷</a:t>
            </a:r>
            <a:endParaRPr lang="en-US" altLang="zh-CN" sz="2400" dirty="0">
              <a:latin typeface="+mn-lt"/>
              <a:ea typeface="SimHei" panose="02010609060101010101" pitchFamily="49" charset="-122"/>
            </a:endParaRPr>
          </a:p>
          <a:p>
            <a:pPr>
              <a:lnSpc>
                <a:spcPct val="150000"/>
              </a:lnSpc>
            </a:pPr>
            <a:r>
              <a:rPr lang="en-US" altLang="zh-CN" sz="2400" dirty="0">
                <a:latin typeface="KaiTi" panose="02010609060101010101" pitchFamily="49" charset="-122"/>
                <a:ea typeface="KaiTi" panose="02010609060101010101" pitchFamily="49" charset="-122"/>
              </a:rPr>
              <a:t>	</a:t>
            </a:r>
            <a:r>
              <a:rPr lang="zh-CN" altLang="en-US" sz="2400" dirty="0">
                <a:latin typeface="KaiTi" panose="02010609060101010101" pitchFamily="49" charset="-122"/>
                <a:ea typeface="KaiTi" panose="02010609060101010101" pitchFamily="49" charset="-122"/>
              </a:rPr>
              <a:t> </a:t>
            </a:r>
            <a:r>
              <a:rPr lang="en-US" altLang="zh-CN" sz="2400" dirty="0">
                <a:latin typeface="KaiTi" panose="02010609060101010101" pitchFamily="49" charset="-122"/>
                <a:ea typeface="KaiTi" panose="02010609060101010101" pitchFamily="49" charset="-122"/>
              </a:rPr>
              <a:t>(</a:t>
            </a:r>
            <a:r>
              <a:rPr lang="zh-CN" altLang="en-US" sz="2400" dirty="0">
                <a:latin typeface="KaiTi" panose="02010609060101010101" pitchFamily="49" charset="-122"/>
                <a:ea typeface="KaiTi" panose="02010609060101010101" pitchFamily="49" charset="-122"/>
              </a:rPr>
              <a:t>简称</a:t>
            </a:r>
            <a:r>
              <a:rPr lang="en-US" altLang="zh-CN" sz="2400" dirty="0">
                <a:latin typeface="KaiTi" panose="02010609060101010101" pitchFamily="49" charset="-122"/>
                <a:ea typeface="KaiTi" panose="02010609060101010101" pitchFamily="49" charset="-122"/>
              </a:rPr>
              <a:t>APG)</a:t>
            </a:r>
            <a:r>
              <a:rPr lang="zh-CN" altLang="en-US" sz="2400" dirty="0">
                <a:latin typeface="KaiTi" panose="02010609060101010101" pitchFamily="49" charset="-122"/>
                <a:ea typeface="KaiTi" panose="02010609060101010101" pitchFamily="49" charset="-122"/>
              </a:rPr>
              <a:t>是</a:t>
            </a:r>
            <a:r>
              <a:rPr lang="en-US" altLang="zh-CN" sz="2400" dirty="0">
                <a:latin typeface="KaiTi" panose="02010609060101010101" pitchFamily="49" charset="-122"/>
                <a:ea typeface="KaiTi" panose="02010609060101010101" pitchFamily="49" charset="-122"/>
              </a:rPr>
              <a:t>20</a:t>
            </a:r>
            <a:r>
              <a:rPr lang="zh-CN" altLang="en-US" sz="2400" dirty="0">
                <a:latin typeface="KaiTi" panose="02010609060101010101" pitchFamily="49" charset="-122"/>
                <a:ea typeface="KaiTi" panose="02010609060101010101" pitchFamily="49" charset="-122"/>
              </a:rPr>
              <a:t>世纪</a:t>
            </a:r>
            <a:r>
              <a:rPr lang="en-US" altLang="zh-CN" sz="2400" dirty="0">
                <a:latin typeface="KaiTi" panose="02010609060101010101" pitchFamily="49" charset="-122"/>
                <a:ea typeface="KaiTi" panose="02010609060101010101" pitchFamily="49" charset="-122"/>
              </a:rPr>
              <a:t>90</a:t>
            </a:r>
            <a:r>
              <a:rPr lang="zh-CN" altLang="en-US" sz="2400" dirty="0">
                <a:latin typeface="KaiTi" panose="02010609060101010101" pitchFamily="49" charset="-122"/>
                <a:ea typeface="KaiTi" panose="02010609060101010101" pitchFamily="49" charset="-122"/>
              </a:rPr>
              <a:t>年代以来国际上致力开发的一种绿色、温和、无毒的新型非离子表面活性剂，主要由亲水基和疏水基组成。亲水基由一个或多个糖苷分子组成，疏水基为直链或支链的烷烃，两部分由糖苷作连接基。糖苷具有两种不同的连接构型</a:t>
            </a:r>
            <a:r>
              <a:rPr lang="en-US" altLang="zh-CN" sz="2400" dirty="0">
                <a:latin typeface="KaiTi" panose="02010609060101010101" pitchFamily="49" charset="-122"/>
                <a:ea typeface="KaiTi" panose="02010609060101010101" pitchFamily="49" charset="-122"/>
              </a:rPr>
              <a:t>α(</a:t>
            </a:r>
            <a:r>
              <a:rPr lang="zh-CN" altLang="en-US" sz="2400" dirty="0">
                <a:latin typeface="KaiTi" panose="02010609060101010101" pitchFamily="49" charset="-122"/>
                <a:ea typeface="KaiTi" panose="02010609060101010101" pitchFamily="49" charset="-122"/>
              </a:rPr>
              <a:t>淀粉糖苷键</a:t>
            </a:r>
            <a:r>
              <a:rPr lang="en-US" altLang="zh-CN" sz="2400" dirty="0">
                <a:latin typeface="KaiTi" panose="02010609060101010101" pitchFamily="49" charset="-122"/>
                <a:ea typeface="KaiTi" panose="02010609060101010101" pitchFamily="49" charset="-122"/>
              </a:rPr>
              <a:t>)</a:t>
            </a:r>
            <a:r>
              <a:rPr lang="zh-CN" altLang="en-US" sz="2400" dirty="0">
                <a:latin typeface="KaiTi" panose="02010609060101010101" pitchFamily="49" charset="-122"/>
                <a:ea typeface="KaiTi" panose="02010609060101010101" pitchFamily="49" charset="-122"/>
              </a:rPr>
              <a:t>和</a:t>
            </a:r>
            <a:r>
              <a:rPr lang="en-US" altLang="zh-CN" sz="2400" dirty="0">
                <a:latin typeface="KaiTi" panose="02010609060101010101" pitchFamily="49" charset="-122"/>
                <a:ea typeface="KaiTi" panose="02010609060101010101" pitchFamily="49" charset="-122"/>
              </a:rPr>
              <a:t>β(</a:t>
            </a:r>
            <a:r>
              <a:rPr lang="zh-CN" altLang="en-US" sz="2400" dirty="0">
                <a:latin typeface="KaiTi" panose="02010609060101010101" pitchFamily="49" charset="-122"/>
                <a:ea typeface="KaiTi" panose="02010609060101010101" pitchFamily="49" charset="-122"/>
              </a:rPr>
              <a:t>纤维素糖苷键</a:t>
            </a:r>
            <a:r>
              <a:rPr lang="en-US" altLang="zh-CN" sz="2400" dirty="0">
                <a:latin typeface="KaiTi" panose="02010609060101010101" pitchFamily="49" charset="-122"/>
                <a:ea typeface="KaiTi" panose="02010609060101010101" pitchFamily="49" charset="-122"/>
              </a:rPr>
              <a:t>),</a:t>
            </a:r>
            <a:r>
              <a:rPr lang="zh-CN" altLang="en-US" sz="2400" dirty="0">
                <a:latin typeface="KaiTi" panose="02010609060101010101" pitchFamily="49" charset="-122"/>
                <a:ea typeface="KaiTi" panose="02010609060101010101" pitchFamily="49" charset="-122"/>
              </a:rPr>
              <a:t>所以 </a:t>
            </a:r>
            <a:r>
              <a:rPr lang="en-US" altLang="zh-CN" sz="2400" dirty="0">
                <a:latin typeface="KaiTi" panose="02010609060101010101" pitchFamily="49" charset="-122"/>
                <a:ea typeface="KaiTi" panose="02010609060101010101" pitchFamily="49" charset="-122"/>
              </a:rPr>
              <a:t>APG </a:t>
            </a:r>
            <a:r>
              <a:rPr lang="zh-CN" altLang="en-US" sz="2400" dirty="0">
                <a:latin typeface="KaiTi" panose="02010609060101010101" pitchFamily="49" charset="-122"/>
                <a:ea typeface="KaiTi" panose="02010609060101010101" pitchFamily="49" charset="-122"/>
              </a:rPr>
              <a:t>有两种不同的构型，即 </a:t>
            </a:r>
            <a:r>
              <a:rPr lang="en-US" altLang="zh-CN" sz="2400" dirty="0">
                <a:latin typeface="KaiTi" panose="02010609060101010101" pitchFamily="49" charset="-122"/>
                <a:ea typeface="KaiTi" panose="02010609060101010101" pitchFamily="49" charset="-122"/>
              </a:rPr>
              <a:t>a-APG </a:t>
            </a:r>
            <a:r>
              <a:rPr lang="zh-CN" altLang="en-US" sz="2400" dirty="0">
                <a:latin typeface="KaiTi" panose="02010609060101010101" pitchFamily="49" charset="-122"/>
                <a:ea typeface="KaiTi" panose="02010609060101010101" pitchFamily="49" charset="-122"/>
              </a:rPr>
              <a:t>和</a:t>
            </a:r>
            <a:r>
              <a:rPr lang="en-US" altLang="zh-CN" sz="2400" dirty="0">
                <a:latin typeface="KaiTi" panose="02010609060101010101" pitchFamily="49" charset="-122"/>
                <a:ea typeface="KaiTi" panose="02010609060101010101" pitchFamily="49" charset="-122"/>
              </a:rPr>
              <a:t>β-APG</a:t>
            </a:r>
          </a:p>
        </p:txBody>
      </p:sp>
      <p:pic>
        <p:nvPicPr>
          <p:cNvPr id="6" name="图片 5">
            <a:extLst>
              <a:ext uri="{FF2B5EF4-FFF2-40B4-BE49-F238E27FC236}">
                <a16:creationId xmlns:a16="http://schemas.microsoft.com/office/drawing/2014/main" id="{063327D7-864E-8C7E-4342-B7329E99150C}"/>
              </a:ext>
            </a:extLst>
          </p:cNvPr>
          <p:cNvPicPr>
            <a:picLocks noChangeAspect="1"/>
          </p:cNvPicPr>
          <p:nvPr/>
        </p:nvPicPr>
        <p:blipFill>
          <a:blip r:embed="rId2"/>
          <a:stretch>
            <a:fillRect/>
          </a:stretch>
        </p:blipFill>
        <p:spPr>
          <a:xfrm>
            <a:off x="4731951" y="4587374"/>
            <a:ext cx="3984171" cy="1917812"/>
          </a:xfrm>
          <a:prstGeom prst="rect">
            <a:avLst/>
          </a:prstGeom>
        </p:spPr>
      </p:pic>
    </p:spTree>
    <p:extLst>
      <p:ext uri="{BB962C8B-B14F-4D97-AF65-F5344CB8AC3E}">
        <p14:creationId xmlns:p14="http://schemas.microsoft.com/office/powerpoint/2010/main" val="1812791632"/>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64</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其他表面活性剂洁肤产品：配方</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030057"/>
            <a:ext cx="8778240" cy="574581"/>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氨基酸体系</a:t>
            </a:r>
            <a:endParaRPr lang="en-US" altLang="zh-CN" sz="2400" dirty="0">
              <a:latin typeface="+mn-lt"/>
              <a:ea typeface="SimHei" panose="02010609060101010101" pitchFamily="49" charset="-122"/>
            </a:endParaRPr>
          </a:p>
        </p:txBody>
      </p:sp>
      <p:graphicFrame>
        <p:nvGraphicFramePr>
          <p:cNvPr id="5" name="表格 4">
            <a:extLst>
              <a:ext uri="{FF2B5EF4-FFF2-40B4-BE49-F238E27FC236}">
                <a16:creationId xmlns:a16="http://schemas.microsoft.com/office/drawing/2014/main" id="{4261FBE8-3B7D-E688-D2D2-4E77DD4C1EA5}"/>
              </a:ext>
            </a:extLst>
          </p:cNvPr>
          <p:cNvGraphicFramePr>
            <a:graphicFrameLocks noGrp="1"/>
          </p:cNvGraphicFramePr>
          <p:nvPr>
            <p:extLst>
              <p:ext uri="{D42A27DB-BD31-4B8C-83A1-F6EECF244321}">
                <p14:modId xmlns:p14="http://schemas.microsoft.com/office/powerpoint/2010/main" val="3689431405"/>
              </p:ext>
            </p:extLst>
          </p:nvPr>
        </p:nvGraphicFramePr>
        <p:xfrm>
          <a:off x="182880" y="2113000"/>
          <a:ext cx="8778239" cy="4115523"/>
        </p:xfrm>
        <a:graphic>
          <a:graphicData uri="http://schemas.openxmlformats.org/drawingml/2006/table">
            <a:tbl>
              <a:tblPr firstRow="1" firstCol="1" bandRow="1">
                <a:tableStyleId>{72833802-FEF1-4C79-8D5D-14CF1EAF98D9}</a:tableStyleId>
              </a:tblPr>
              <a:tblGrid>
                <a:gridCol w="849271">
                  <a:extLst>
                    <a:ext uri="{9D8B030D-6E8A-4147-A177-3AD203B41FA5}">
                      <a16:colId xmlns:a16="http://schemas.microsoft.com/office/drawing/2014/main" val="642554802"/>
                    </a:ext>
                  </a:extLst>
                </a:gridCol>
                <a:gridCol w="2196390">
                  <a:extLst>
                    <a:ext uri="{9D8B030D-6E8A-4147-A177-3AD203B41FA5}">
                      <a16:colId xmlns:a16="http://schemas.microsoft.com/office/drawing/2014/main" val="2336510228"/>
                    </a:ext>
                  </a:extLst>
                </a:gridCol>
                <a:gridCol w="1068910">
                  <a:extLst>
                    <a:ext uri="{9D8B030D-6E8A-4147-A177-3AD203B41FA5}">
                      <a16:colId xmlns:a16="http://schemas.microsoft.com/office/drawing/2014/main" val="1752703239"/>
                    </a:ext>
                  </a:extLst>
                </a:gridCol>
                <a:gridCol w="1786397">
                  <a:extLst>
                    <a:ext uri="{9D8B030D-6E8A-4147-A177-3AD203B41FA5}">
                      <a16:colId xmlns:a16="http://schemas.microsoft.com/office/drawing/2014/main" val="179099519"/>
                    </a:ext>
                  </a:extLst>
                </a:gridCol>
                <a:gridCol w="1786397">
                  <a:extLst>
                    <a:ext uri="{9D8B030D-6E8A-4147-A177-3AD203B41FA5}">
                      <a16:colId xmlns:a16="http://schemas.microsoft.com/office/drawing/2014/main" val="2060314139"/>
                    </a:ext>
                  </a:extLst>
                </a:gridCol>
                <a:gridCol w="1090874">
                  <a:extLst>
                    <a:ext uri="{9D8B030D-6E8A-4147-A177-3AD203B41FA5}">
                      <a16:colId xmlns:a16="http://schemas.microsoft.com/office/drawing/2014/main" val="3261813399"/>
                    </a:ext>
                  </a:extLst>
                </a:gridCol>
              </a:tblGrid>
              <a:tr h="601382">
                <a:tc>
                  <a:txBody>
                    <a:bodyPr/>
                    <a:lstStyle/>
                    <a:p>
                      <a:pPr marL="171450" marR="0" eaLnBrk="0">
                        <a:lnSpc>
                          <a:spcPct val="92000"/>
                        </a:lnSpc>
                        <a:spcBef>
                          <a:spcPts val="480"/>
                        </a:spcBef>
                        <a:spcAft>
                          <a:spcPts val="0"/>
                        </a:spcAft>
                      </a:pPr>
                      <a:r>
                        <a:rPr lang="zh-CN" sz="1800" spc="45">
                          <a:effectLst/>
                          <a:latin typeface="SimHei" panose="02010609060101010101" pitchFamily="49" charset="-122"/>
                          <a:ea typeface="SimHei" panose="02010609060101010101" pitchFamily="49" charset="-122"/>
                        </a:rPr>
                        <a:t>组相</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683260" marR="0" eaLnBrk="0">
                        <a:lnSpc>
                          <a:spcPct val="91000"/>
                        </a:lnSpc>
                        <a:spcBef>
                          <a:spcPts val="470"/>
                        </a:spcBef>
                        <a:spcAft>
                          <a:spcPts val="0"/>
                        </a:spcAft>
                      </a:pPr>
                      <a:r>
                        <a:rPr lang="zh-CN" sz="1800" spc="10">
                          <a:effectLst/>
                          <a:latin typeface="SimHei" panose="02010609060101010101" pitchFamily="49" charset="-122"/>
                          <a:ea typeface="SimHei" panose="02010609060101010101" pitchFamily="49" charset="-122"/>
                        </a:rPr>
                        <a:t>原料名称</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111760" marR="0" eaLnBrk="0">
                        <a:lnSpc>
                          <a:spcPct val="91000"/>
                        </a:lnSpc>
                        <a:spcBef>
                          <a:spcPts val="470"/>
                        </a:spcBef>
                        <a:spcAft>
                          <a:spcPts val="0"/>
                        </a:spcAft>
                      </a:pPr>
                      <a:r>
                        <a:rPr lang="zh-CN" sz="1800" spc="-10">
                          <a:effectLst/>
                          <a:latin typeface="SimHei" panose="02010609060101010101" pitchFamily="49" charset="-122"/>
                          <a:ea typeface="SimHei" panose="02010609060101010101" pitchFamily="49" charset="-122"/>
                        </a:rPr>
                        <a:t>质量分数</a:t>
                      </a:r>
                      <a:r>
                        <a:rPr lang="en-US" sz="1800" spc="-10">
                          <a:effectLst/>
                          <a:latin typeface="SimHei" panose="02010609060101010101" pitchFamily="49" charset="-122"/>
                          <a:ea typeface="SimHei" panose="02010609060101010101" pitchFamily="49" charset="-122"/>
                        </a:rPr>
                        <a:t>/%</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225425" marR="0" eaLnBrk="0">
                        <a:lnSpc>
                          <a:spcPct val="92000"/>
                        </a:lnSpc>
                        <a:spcBef>
                          <a:spcPts val="480"/>
                        </a:spcBef>
                        <a:spcAft>
                          <a:spcPts val="0"/>
                        </a:spcAft>
                      </a:pPr>
                      <a:r>
                        <a:rPr lang="zh-CN" sz="1800" spc="45">
                          <a:effectLst/>
                          <a:latin typeface="SimHei" panose="02010609060101010101" pitchFamily="49" charset="-122"/>
                          <a:ea typeface="SimHei" panose="02010609060101010101" pitchFamily="49" charset="-122"/>
                        </a:rPr>
                        <a:t>组相</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485775" marR="0" eaLnBrk="0">
                        <a:lnSpc>
                          <a:spcPct val="91000"/>
                        </a:lnSpc>
                        <a:spcBef>
                          <a:spcPts val="470"/>
                        </a:spcBef>
                        <a:spcAft>
                          <a:spcPts val="0"/>
                        </a:spcAft>
                      </a:pPr>
                      <a:r>
                        <a:rPr lang="zh-CN" sz="1800" spc="10">
                          <a:effectLst/>
                          <a:latin typeface="SimHei" panose="02010609060101010101" pitchFamily="49" charset="-122"/>
                          <a:ea typeface="SimHei" panose="02010609060101010101" pitchFamily="49" charset="-122"/>
                        </a:rPr>
                        <a:t>原料名称</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117475" marR="0" eaLnBrk="0">
                        <a:lnSpc>
                          <a:spcPct val="91000"/>
                        </a:lnSpc>
                        <a:spcBef>
                          <a:spcPts val="470"/>
                        </a:spcBef>
                        <a:spcAft>
                          <a:spcPts val="0"/>
                        </a:spcAft>
                      </a:pPr>
                      <a:r>
                        <a:rPr lang="zh-CN" sz="1800" spc="-10">
                          <a:effectLst/>
                          <a:latin typeface="SimHei" panose="02010609060101010101" pitchFamily="49" charset="-122"/>
                          <a:ea typeface="SimHei" panose="02010609060101010101" pitchFamily="49" charset="-122"/>
                        </a:rPr>
                        <a:t>质量分数</a:t>
                      </a:r>
                      <a:r>
                        <a:rPr lang="en-US" sz="1800" spc="-10">
                          <a:effectLst/>
                          <a:latin typeface="SimHei" panose="02010609060101010101" pitchFamily="49" charset="-122"/>
                          <a:ea typeface="SimHei" panose="02010609060101010101" pitchFamily="49" charset="-122"/>
                        </a:rPr>
                        <a:t>/%</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extLst>
                  <a:ext uri="{0D108BD9-81ED-4DB2-BD59-A6C34878D82A}">
                    <a16:rowId xmlns:a16="http://schemas.microsoft.com/office/drawing/2014/main" val="3816709979"/>
                  </a:ext>
                </a:extLst>
              </a:tr>
              <a:tr h="694498">
                <a:tc rowSpan="2">
                  <a:txBody>
                    <a:bodyPr/>
                    <a:lstStyle/>
                    <a:p>
                      <a:pPr marL="0" marR="0" eaLnBrk="0">
                        <a:lnSpc>
                          <a:spcPct val="132000"/>
                        </a:lnSpc>
                        <a:spcBef>
                          <a:spcPts val="0"/>
                        </a:spcBef>
                        <a:spcAft>
                          <a:spcPts val="0"/>
                        </a:spcAft>
                      </a:pPr>
                      <a:r>
                        <a:rPr lang="en-US" sz="1800">
                          <a:effectLst/>
                          <a:latin typeface="SimHei" panose="02010609060101010101" pitchFamily="49" charset="-122"/>
                          <a:ea typeface="SimHei" panose="02010609060101010101" pitchFamily="49" charset="-122"/>
                        </a:rPr>
                        <a:t> </a:t>
                      </a:r>
                    </a:p>
                    <a:p>
                      <a:pPr marL="0" marR="0" eaLnBrk="0">
                        <a:lnSpc>
                          <a:spcPct val="132000"/>
                        </a:lnSpc>
                        <a:spcBef>
                          <a:spcPts val="0"/>
                        </a:spcBef>
                        <a:spcAft>
                          <a:spcPts val="0"/>
                        </a:spcAft>
                      </a:pPr>
                      <a:r>
                        <a:rPr lang="en-US" sz="1800">
                          <a:effectLst/>
                          <a:latin typeface="SimHei" panose="02010609060101010101" pitchFamily="49" charset="-122"/>
                          <a:ea typeface="SimHei" panose="02010609060101010101" pitchFamily="49" charset="-122"/>
                        </a:rPr>
                        <a:t> </a:t>
                      </a:r>
                    </a:p>
                    <a:p>
                      <a:pPr marL="208915" marR="0" eaLnBrk="0">
                        <a:lnSpc>
                          <a:spcPct val="92000"/>
                        </a:lnSpc>
                        <a:spcBef>
                          <a:spcPts val="360"/>
                        </a:spcBef>
                        <a:spcAft>
                          <a:spcPts val="0"/>
                        </a:spcAft>
                      </a:pPr>
                      <a:r>
                        <a:rPr lang="en-US" sz="1800" spc="-5">
                          <a:effectLst/>
                          <a:latin typeface="SimHei" panose="02010609060101010101" pitchFamily="49" charset="-122"/>
                          <a:ea typeface="SimHei" panose="02010609060101010101" pitchFamily="49" charset="-122"/>
                        </a:rPr>
                        <a:t>A</a:t>
                      </a:r>
                      <a:r>
                        <a:rPr lang="zh-CN" sz="1800" spc="-5">
                          <a:effectLst/>
                          <a:latin typeface="SimHei" panose="02010609060101010101" pitchFamily="49" charset="-122"/>
                          <a:ea typeface="SimHei" panose="02010609060101010101" pitchFamily="49" charset="-122"/>
                        </a:rPr>
                        <a:t>相</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tc rowSpan="2">
                  <a:txBody>
                    <a:bodyPr/>
                    <a:lstStyle/>
                    <a:p>
                      <a:pPr marL="98425" marR="0" eaLnBrk="0">
                        <a:lnSpc>
                          <a:spcPct val="91000"/>
                        </a:lnSpc>
                        <a:spcBef>
                          <a:spcPts val="505"/>
                        </a:spcBef>
                        <a:spcAft>
                          <a:spcPts val="0"/>
                        </a:spcAft>
                      </a:pPr>
                      <a:r>
                        <a:rPr lang="zh-CN" sz="1800">
                          <a:effectLst/>
                          <a:latin typeface="SimHei" panose="02010609060101010101" pitchFamily="49" charset="-122"/>
                          <a:ea typeface="SimHei" panose="02010609060101010101" pitchFamily="49" charset="-122"/>
                        </a:rPr>
                        <a:t>水</a:t>
                      </a:r>
                      <a:endParaRPr lang="en-US" sz="1800">
                        <a:effectLst/>
                        <a:latin typeface="SimHei" panose="02010609060101010101" pitchFamily="49" charset="-122"/>
                        <a:ea typeface="SimHei" panose="02010609060101010101" pitchFamily="49" charset="-122"/>
                      </a:endParaRPr>
                    </a:p>
                    <a:p>
                      <a:pPr marL="98425" marR="161925" eaLnBrk="0">
                        <a:lnSpc>
                          <a:spcPct val="143000"/>
                        </a:lnSpc>
                        <a:spcBef>
                          <a:spcPts val="695"/>
                        </a:spcBef>
                        <a:spcAft>
                          <a:spcPts val="0"/>
                        </a:spcAft>
                      </a:pPr>
                      <a:r>
                        <a:rPr lang="zh-CN" sz="1800" spc="15">
                          <a:effectLst/>
                          <a:latin typeface="SimHei" panose="02010609060101010101" pitchFamily="49" charset="-122"/>
                          <a:ea typeface="SimHei" panose="02010609060101010101" pitchFamily="49" charset="-122"/>
                        </a:rPr>
                        <a:t>月桂醇聚醚硫酸酯钠</a:t>
                      </a:r>
                      <a:r>
                        <a:rPr lang="en-US" sz="1800" spc="15">
                          <a:effectLst/>
                          <a:latin typeface="SimHei" panose="02010609060101010101" pitchFamily="49" charset="-122"/>
                          <a:ea typeface="SimHei" panose="02010609060101010101" pitchFamily="49" charset="-122"/>
                        </a:rPr>
                        <a:t>(30%)</a:t>
                      </a:r>
                      <a:r>
                        <a:rPr lang="en-US" sz="1800" spc="25">
                          <a:effectLst/>
                          <a:latin typeface="SimHei" panose="02010609060101010101" pitchFamily="49" charset="-122"/>
                          <a:ea typeface="SimHei" panose="02010609060101010101" pitchFamily="49" charset="-122"/>
                        </a:rPr>
                        <a:t> </a:t>
                      </a:r>
                      <a:r>
                        <a:rPr lang="zh-CN" sz="1800" spc="15">
                          <a:effectLst/>
                          <a:latin typeface="SimHei" panose="02010609060101010101" pitchFamily="49" charset="-122"/>
                          <a:ea typeface="SimHei" panose="02010609060101010101" pitchFamily="49" charset="-122"/>
                        </a:rPr>
                        <a:t>椰油酰胺丙基甜菜碱</a:t>
                      </a:r>
                      <a:r>
                        <a:rPr lang="en-US" sz="1800" spc="15">
                          <a:effectLst/>
                          <a:latin typeface="SimHei" panose="02010609060101010101" pitchFamily="49" charset="-122"/>
                          <a:ea typeface="SimHei" panose="02010609060101010101" pitchFamily="49" charset="-122"/>
                        </a:rPr>
                        <a:t>(30%)</a:t>
                      </a:r>
                      <a:endParaRPr lang="en-US" sz="1800">
                        <a:effectLst/>
                        <a:latin typeface="SimHei" panose="02010609060101010101" pitchFamily="49" charset="-122"/>
                        <a:ea typeface="SimHei" panose="02010609060101010101" pitchFamily="49" charset="-122"/>
                      </a:endParaRPr>
                    </a:p>
                    <a:p>
                      <a:pPr marL="98425" marR="0" eaLnBrk="0">
                        <a:lnSpc>
                          <a:spcPct val="91000"/>
                        </a:lnSpc>
                        <a:spcBef>
                          <a:spcPts val="0"/>
                        </a:spcBef>
                        <a:spcAft>
                          <a:spcPts val="0"/>
                        </a:spcAft>
                      </a:pPr>
                      <a:r>
                        <a:rPr lang="zh-CN" sz="1800" spc="15">
                          <a:effectLst/>
                          <a:latin typeface="SimHei" panose="02010609060101010101" pitchFamily="49" charset="-122"/>
                          <a:ea typeface="SimHei" panose="02010609060101010101" pitchFamily="49" charset="-122"/>
                        </a:rPr>
                        <a:t>椰油酰谷氨酸二钠</a:t>
                      </a:r>
                      <a:r>
                        <a:rPr lang="en-US" sz="1800" spc="15">
                          <a:effectLst/>
                          <a:latin typeface="SimHei" panose="02010609060101010101" pitchFamily="49" charset="-122"/>
                          <a:ea typeface="SimHei" panose="02010609060101010101" pitchFamily="49" charset="-122"/>
                        </a:rPr>
                        <a:t>(30%)</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tc rowSpan="2">
                  <a:txBody>
                    <a:bodyPr/>
                    <a:lstStyle/>
                    <a:p>
                      <a:pPr marL="213360" marR="0" eaLnBrk="0">
                        <a:lnSpc>
                          <a:spcPts val="2460"/>
                        </a:lnSpc>
                        <a:spcBef>
                          <a:spcPts val="475"/>
                        </a:spcBef>
                        <a:spcAft>
                          <a:spcPts val="0"/>
                        </a:spcAft>
                      </a:pPr>
                      <a:r>
                        <a:rPr lang="zh-CN" sz="1800" spc="-10">
                          <a:effectLst/>
                          <a:latin typeface="SimHei" panose="02010609060101010101" pitchFamily="49" charset="-122"/>
                          <a:ea typeface="SimHei" panose="02010609060101010101" pitchFamily="49" charset="-122"/>
                        </a:rPr>
                        <a:t>加至</a:t>
                      </a:r>
                      <a:r>
                        <a:rPr lang="en-US" sz="1800" spc="-10">
                          <a:effectLst/>
                          <a:latin typeface="SimHei" panose="02010609060101010101" pitchFamily="49" charset="-122"/>
                          <a:ea typeface="SimHei" panose="02010609060101010101" pitchFamily="49" charset="-122"/>
                        </a:rPr>
                        <a:t>100</a:t>
                      </a:r>
                      <a:endParaRPr lang="en-US" sz="1800">
                        <a:effectLst/>
                        <a:latin typeface="SimHei" panose="02010609060101010101" pitchFamily="49" charset="-122"/>
                        <a:ea typeface="SimHei" panose="02010609060101010101" pitchFamily="49" charset="-122"/>
                      </a:endParaRPr>
                    </a:p>
                    <a:p>
                      <a:pPr marL="321310" marR="0" eaLnBrk="0">
                        <a:lnSpc>
                          <a:spcPct val="76000"/>
                        </a:lnSpc>
                        <a:spcBef>
                          <a:spcPts val="0"/>
                        </a:spcBef>
                        <a:spcAft>
                          <a:spcPts val="0"/>
                        </a:spcAft>
                      </a:pPr>
                      <a:r>
                        <a:rPr lang="en-US" sz="1800" spc="-10">
                          <a:effectLst/>
                          <a:latin typeface="SimHei" panose="02010609060101010101" pitchFamily="49" charset="-122"/>
                          <a:ea typeface="SimHei" panose="02010609060101010101" pitchFamily="49" charset="-122"/>
                        </a:rPr>
                        <a:t>40.0</a:t>
                      </a:r>
                      <a:endParaRPr lang="en-US" sz="1800">
                        <a:effectLst/>
                        <a:latin typeface="SimHei" panose="02010609060101010101" pitchFamily="49" charset="-122"/>
                        <a:ea typeface="SimHei" panose="02010609060101010101" pitchFamily="49" charset="-122"/>
                      </a:endParaRPr>
                    </a:p>
                    <a:p>
                      <a:pPr marL="321310" marR="0" eaLnBrk="0">
                        <a:lnSpc>
                          <a:spcPts val="2150"/>
                        </a:lnSpc>
                        <a:spcBef>
                          <a:spcPts val="855"/>
                        </a:spcBef>
                        <a:spcAft>
                          <a:spcPts val="0"/>
                        </a:spcAft>
                      </a:pPr>
                      <a:r>
                        <a:rPr lang="en-US" sz="1800" spc="-25">
                          <a:effectLst/>
                          <a:latin typeface="SimHei" panose="02010609060101010101" pitchFamily="49" charset="-122"/>
                          <a:ea typeface="SimHei" panose="02010609060101010101" pitchFamily="49" charset="-122"/>
                        </a:rPr>
                        <a:t>10.0</a:t>
                      </a:r>
                      <a:endParaRPr lang="en-US" sz="1800">
                        <a:effectLst/>
                        <a:latin typeface="SimHei" panose="02010609060101010101" pitchFamily="49" charset="-122"/>
                        <a:ea typeface="SimHei" panose="02010609060101010101" pitchFamily="49" charset="-122"/>
                      </a:endParaRPr>
                    </a:p>
                    <a:p>
                      <a:pPr marL="352425" marR="0" eaLnBrk="0">
                        <a:lnSpc>
                          <a:spcPct val="76000"/>
                        </a:lnSpc>
                        <a:spcBef>
                          <a:spcPts val="0"/>
                        </a:spcBef>
                        <a:spcAft>
                          <a:spcPts val="0"/>
                        </a:spcAft>
                      </a:pPr>
                      <a:r>
                        <a:rPr lang="en-US" sz="1800" spc="-20">
                          <a:effectLst/>
                          <a:latin typeface="SimHei" panose="02010609060101010101" pitchFamily="49" charset="-122"/>
                          <a:ea typeface="SimHei" panose="02010609060101010101" pitchFamily="49" charset="-122"/>
                        </a:rPr>
                        <a:t>7.0</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257810" marR="0" eaLnBrk="0">
                        <a:lnSpc>
                          <a:spcPct val="92000"/>
                        </a:lnSpc>
                        <a:spcBef>
                          <a:spcPts val="1520"/>
                        </a:spcBef>
                        <a:spcAft>
                          <a:spcPts val="0"/>
                        </a:spcAft>
                      </a:pPr>
                      <a:r>
                        <a:rPr lang="en-US" sz="1800" spc="45">
                          <a:effectLst/>
                          <a:latin typeface="SimHei" panose="02010609060101010101" pitchFamily="49" charset="-122"/>
                          <a:ea typeface="SimHei" panose="02010609060101010101" pitchFamily="49" charset="-122"/>
                        </a:rPr>
                        <a:t>B</a:t>
                      </a:r>
                      <a:r>
                        <a:rPr lang="zh-CN" sz="1800" spc="45">
                          <a:effectLst/>
                          <a:latin typeface="SimHei" panose="02010609060101010101" pitchFamily="49" charset="-122"/>
                          <a:ea typeface="SimHei" panose="02010609060101010101" pitchFamily="49" charset="-122"/>
                        </a:rPr>
                        <a:t>相</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98425" marR="0" eaLnBrk="0">
                        <a:lnSpc>
                          <a:spcPts val="2050"/>
                        </a:lnSpc>
                        <a:spcBef>
                          <a:spcPts val="450"/>
                        </a:spcBef>
                        <a:spcAft>
                          <a:spcPts val="0"/>
                        </a:spcAft>
                      </a:pPr>
                      <a:r>
                        <a:rPr lang="zh-CN" sz="1800" spc="15">
                          <a:effectLst/>
                          <a:latin typeface="SimHei" panose="02010609060101010101" pitchFamily="49" charset="-122"/>
                          <a:ea typeface="SimHei" panose="02010609060101010101" pitchFamily="49" charset="-122"/>
                        </a:rPr>
                        <a:t>月桂醇聚醚</a:t>
                      </a:r>
                      <a:r>
                        <a:rPr lang="en-US" sz="1800" spc="15">
                          <a:effectLst/>
                          <a:latin typeface="SimHei" panose="02010609060101010101" pitchFamily="49" charset="-122"/>
                          <a:ea typeface="SimHei" panose="02010609060101010101" pitchFamily="49" charset="-122"/>
                        </a:rPr>
                        <a:t>-2</a:t>
                      </a:r>
                      <a:endParaRPr lang="en-US" sz="1800">
                        <a:effectLst/>
                        <a:latin typeface="SimHei" panose="02010609060101010101" pitchFamily="49" charset="-122"/>
                        <a:ea typeface="SimHei" panose="02010609060101010101" pitchFamily="49" charset="-122"/>
                      </a:endParaRPr>
                    </a:p>
                    <a:p>
                      <a:pPr marL="98425" marR="0" eaLnBrk="0">
                        <a:lnSpc>
                          <a:spcPct val="91000"/>
                        </a:lnSpc>
                        <a:spcBef>
                          <a:spcPts val="0"/>
                        </a:spcBef>
                        <a:spcAft>
                          <a:spcPts val="0"/>
                        </a:spcAft>
                      </a:pPr>
                      <a:r>
                        <a:rPr lang="zh-CN" sz="1800" spc="15">
                          <a:effectLst/>
                          <a:latin typeface="SimHei" panose="02010609060101010101" pitchFamily="49" charset="-122"/>
                          <a:ea typeface="SimHei" panose="02010609060101010101" pitchFamily="49" charset="-122"/>
                        </a:rPr>
                        <a:t>聚季铵盐</a:t>
                      </a:r>
                      <a:r>
                        <a:rPr lang="en-US" sz="1800" spc="15">
                          <a:effectLst/>
                          <a:latin typeface="SimHei" panose="02010609060101010101" pitchFamily="49" charset="-122"/>
                          <a:ea typeface="SimHei" panose="02010609060101010101" pitchFamily="49" charset="-122"/>
                        </a:rPr>
                        <a:t>-10</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365125" marR="0" eaLnBrk="0">
                        <a:lnSpc>
                          <a:spcPts val="2050"/>
                        </a:lnSpc>
                        <a:spcBef>
                          <a:spcPts val="885"/>
                        </a:spcBef>
                        <a:spcAft>
                          <a:spcPts val="0"/>
                        </a:spcAft>
                      </a:pPr>
                      <a:r>
                        <a:rPr lang="en-US" sz="1800" spc="-15">
                          <a:effectLst/>
                          <a:latin typeface="SimHei" panose="02010609060101010101" pitchFamily="49" charset="-122"/>
                          <a:ea typeface="SimHei" panose="02010609060101010101" pitchFamily="49" charset="-122"/>
                        </a:rPr>
                        <a:t>2.0</a:t>
                      </a:r>
                      <a:endParaRPr lang="en-US" sz="1800">
                        <a:effectLst/>
                        <a:latin typeface="SimHei" panose="02010609060101010101" pitchFamily="49" charset="-122"/>
                        <a:ea typeface="SimHei" panose="02010609060101010101" pitchFamily="49" charset="-122"/>
                      </a:endParaRPr>
                    </a:p>
                    <a:p>
                      <a:pPr marL="365125" marR="0" eaLnBrk="0">
                        <a:lnSpc>
                          <a:spcPct val="76000"/>
                        </a:lnSpc>
                        <a:spcBef>
                          <a:spcPts val="0"/>
                        </a:spcBef>
                        <a:spcAft>
                          <a:spcPts val="0"/>
                        </a:spcAft>
                      </a:pPr>
                      <a:r>
                        <a:rPr lang="en-US" sz="1800" spc="-15">
                          <a:effectLst/>
                          <a:latin typeface="SimHei" panose="02010609060101010101" pitchFamily="49" charset="-122"/>
                          <a:ea typeface="SimHei" panose="02010609060101010101" pitchFamily="49" charset="-122"/>
                        </a:rPr>
                        <a:t>0.2</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extLst>
                  <a:ext uri="{0D108BD9-81ED-4DB2-BD59-A6C34878D82A}">
                    <a16:rowId xmlns:a16="http://schemas.microsoft.com/office/drawing/2014/main" val="773222375"/>
                  </a:ext>
                </a:extLst>
              </a:tr>
              <a:tr h="2218261">
                <a:tc vMerge="1">
                  <a:txBody>
                    <a:bodyPr/>
                    <a:lstStyle/>
                    <a:p>
                      <a:endParaRPr lang="en-US"/>
                    </a:p>
                  </a:txBody>
                  <a:tcPr/>
                </a:tc>
                <a:tc vMerge="1">
                  <a:txBody>
                    <a:bodyPr/>
                    <a:lstStyle/>
                    <a:p>
                      <a:endParaRPr lang="en-US"/>
                    </a:p>
                  </a:txBody>
                  <a:tcPr/>
                </a:tc>
                <a:tc vMerge="1">
                  <a:txBody>
                    <a:bodyPr/>
                    <a:lstStyle/>
                    <a:p>
                      <a:endParaRPr lang="en-US"/>
                    </a:p>
                  </a:txBody>
                  <a:tcPr/>
                </a:tc>
                <a:tc rowSpan="2">
                  <a:txBody>
                    <a:bodyPr/>
                    <a:lstStyle/>
                    <a:p>
                      <a:pPr marL="0" marR="0" eaLnBrk="0">
                        <a:lnSpc>
                          <a:spcPct val="180000"/>
                        </a:lnSpc>
                        <a:spcBef>
                          <a:spcPts val="0"/>
                        </a:spcBef>
                        <a:spcAft>
                          <a:spcPts val="0"/>
                        </a:spcAft>
                      </a:pPr>
                      <a:r>
                        <a:rPr lang="en-US" sz="1800">
                          <a:effectLst/>
                          <a:latin typeface="SimHei" panose="02010609060101010101" pitchFamily="49" charset="-122"/>
                          <a:ea typeface="SimHei" panose="02010609060101010101" pitchFamily="49" charset="-122"/>
                        </a:rPr>
                        <a:t> </a:t>
                      </a:r>
                    </a:p>
                    <a:p>
                      <a:pPr marL="257810" marR="0" eaLnBrk="0">
                        <a:lnSpc>
                          <a:spcPct val="92000"/>
                        </a:lnSpc>
                        <a:spcBef>
                          <a:spcPts val="360"/>
                        </a:spcBef>
                        <a:spcAft>
                          <a:spcPts val="0"/>
                        </a:spcAft>
                      </a:pPr>
                      <a:r>
                        <a:rPr lang="en-US" sz="1800" spc="45">
                          <a:effectLst/>
                          <a:latin typeface="SimHei" panose="02010609060101010101" pitchFamily="49" charset="-122"/>
                          <a:ea typeface="SimHei" panose="02010609060101010101" pitchFamily="49" charset="-122"/>
                        </a:rPr>
                        <a:t>C</a:t>
                      </a:r>
                      <a:r>
                        <a:rPr lang="zh-CN" sz="1800" spc="45">
                          <a:effectLst/>
                          <a:latin typeface="SimHei" panose="02010609060101010101" pitchFamily="49" charset="-122"/>
                          <a:ea typeface="SimHei" panose="02010609060101010101" pitchFamily="49" charset="-122"/>
                        </a:rPr>
                        <a:t>相</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tc rowSpan="2">
                  <a:txBody>
                    <a:bodyPr/>
                    <a:lstStyle/>
                    <a:p>
                      <a:pPr marL="98425" marR="0" eaLnBrk="0">
                        <a:lnSpc>
                          <a:spcPts val="2000"/>
                        </a:lnSpc>
                        <a:spcBef>
                          <a:spcPts val="415"/>
                        </a:spcBef>
                        <a:spcAft>
                          <a:spcPts val="0"/>
                        </a:spcAft>
                      </a:pPr>
                      <a:r>
                        <a:rPr lang="zh-CN" sz="1800" spc="20">
                          <a:effectLst/>
                          <a:latin typeface="SimHei" panose="02010609060101010101" pitchFamily="49" charset="-122"/>
                          <a:ea typeface="SimHei" panose="02010609060101010101" pitchFamily="49" charset="-122"/>
                        </a:rPr>
                        <a:t>防腐剂</a:t>
                      </a:r>
                      <a:endParaRPr lang="en-US" sz="1800">
                        <a:effectLst/>
                        <a:latin typeface="SimHei" panose="02010609060101010101" pitchFamily="49" charset="-122"/>
                        <a:ea typeface="SimHei" panose="02010609060101010101" pitchFamily="49" charset="-122"/>
                      </a:endParaRPr>
                    </a:p>
                    <a:p>
                      <a:pPr marL="98425" marR="0" eaLnBrk="0">
                        <a:lnSpc>
                          <a:spcPct val="90000"/>
                        </a:lnSpc>
                        <a:spcBef>
                          <a:spcPts val="0"/>
                        </a:spcBef>
                        <a:spcAft>
                          <a:spcPts val="0"/>
                        </a:spcAft>
                      </a:pPr>
                      <a:r>
                        <a:rPr lang="zh-CN" sz="1800" spc="25">
                          <a:effectLst/>
                          <a:latin typeface="SimHei" panose="02010609060101010101" pitchFamily="49" charset="-122"/>
                          <a:ea typeface="SimHei" panose="02010609060101010101" pitchFamily="49" charset="-122"/>
                        </a:rPr>
                        <a:t>香精</a:t>
                      </a:r>
                      <a:endParaRPr lang="en-US" sz="1800">
                        <a:effectLst/>
                        <a:latin typeface="SimHei" panose="02010609060101010101" pitchFamily="49" charset="-122"/>
                        <a:ea typeface="SimHei" panose="02010609060101010101" pitchFamily="49" charset="-122"/>
                      </a:endParaRPr>
                    </a:p>
                    <a:p>
                      <a:pPr marL="98425" marR="0" eaLnBrk="0">
                        <a:lnSpc>
                          <a:spcPct val="91000"/>
                        </a:lnSpc>
                        <a:spcBef>
                          <a:spcPts val="750"/>
                        </a:spcBef>
                        <a:spcAft>
                          <a:spcPts val="0"/>
                        </a:spcAft>
                      </a:pPr>
                      <a:r>
                        <a:rPr lang="zh-CN" sz="1800" spc="-10">
                          <a:effectLst/>
                          <a:latin typeface="SimHei" panose="02010609060101010101" pitchFamily="49" charset="-122"/>
                          <a:ea typeface="SimHei" panose="02010609060101010101" pitchFamily="49" charset="-122"/>
                        </a:rPr>
                        <a:t>柠檬酸</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tc rowSpan="2">
                  <a:txBody>
                    <a:bodyPr/>
                    <a:lstStyle/>
                    <a:p>
                      <a:pPr marL="327025" marR="0" eaLnBrk="0">
                        <a:lnSpc>
                          <a:spcPts val="2050"/>
                        </a:lnSpc>
                        <a:spcBef>
                          <a:spcPts val="450"/>
                        </a:spcBef>
                        <a:spcAft>
                          <a:spcPts val="0"/>
                        </a:spcAft>
                      </a:pPr>
                      <a:r>
                        <a:rPr lang="zh-CN" sz="1800" spc="-15">
                          <a:effectLst/>
                          <a:latin typeface="SimHei" panose="02010609060101010101" pitchFamily="49" charset="-122"/>
                          <a:ea typeface="SimHei" panose="02010609060101010101" pitchFamily="49" charset="-122"/>
                        </a:rPr>
                        <a:t>适量</a:t>
                      </a:r>
                      <a:endParaRPr lang="en-US" sz="1800">
                        <a:effectLst/>
                        <a:latin typeface="SimHei" panose="02010609060101010101" pitchFamily="49" charset="-122"/>
                        <a:ea typeface="SimHei" panose="02010609060101010101" pitchFamily="49" charset="-122"/>
                      </a:endParaRPr>
                    </a:p>
                    <a:p>
                      <a:pPr marL="327025" marR="0" eaLnBrk="0">
                        <a:lnSpc>
                          <a:spcPct val="93000"/>
                        </a:lnSpc>
                        <a:spcBef>
                          <a:spcPts val="0"/>
                        </a:spcBef>
                        <a:spcAft>
                          <a:spcPts val="0"/>
                        </a:spcAft>
                      </a:pPr>
                      <a:r>
                        <a:rPr lang="zh-CN" sz="1800" spc="-15">
                          <a:effectLst/>
                          <a:latin typeface="SimHei" panose="02010609060101010101" pitchFamily="49" charset="-122"/>
                          <a:ea typeface="SimHei" panose="02010609060101010101" pitchFamily="49" charset="-122"/>
                        </a:rPr>
                        <a:t>适量</a:t>
                      </a:r>
                      <a:endParaRPr lang="en-US" sz="1800">
                        <a:effectLst/>
                        <a:latin typeface="SimHei" panose="02010609060101010101" pitchFamily="49" charset="-122"/>
                        <a:ea typeface="SimHei" panose="02010609060101010101" pitchFamily="49" charset="-122"/>
                      </a:endParaRPr>
                    </a:p>
                    <a:p>
                      <a:pPr marL="365125" marR="0" eaLnBrk="0">
                        <a:lnSpc>
                          <a:spcPct val="76000"/>
                        </a:lnSpc>
                        <a:spcBef>
                          <a:spcPts val="1005"/>
                        </a:spcBef>
                        <a:spcAft>
                          <a:spcPts val="0"/>
                        </a:spcAft>
                      </a:pPr>
                      <a:r>
                        <a:rPr lang="en-US" sz="1800" spc="-15">
                          <a:effectLst/>
                          <a:latin typeface="SimHei" panose="02010609060101010101" pitchFamily="49" charset="-122"/>
                          <a:ea typeface="SimHei" panose="02010609060101010101" pitchFamily="49" charset="-122"/>
                        </a:rPr>
                        <a:t>0.5</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extLst>
                  <a:ext uri="{0D108BD9-81ED-4DB2-BD59-A6C34878D82A}">
                    <a16:rowId xmlns:a16="http://schemas.microsoft.com/office/drawing/2014/main" val="2542246943"/>
                  </a:ext>
                </a:extLst>
              </a:tr>
              <a:tr h="601382">
                <a:tc>
                  <a:txBody>
                    <a:bodyPr/>
                    <a:lstStyle/>
                    <a:p>
                      <a:pPr marL="208915" marR="0" eaLnBrk="0">
                        <a:lnSpc>
                          <a:spcPct val="92000"/>
                        </a:lnSpc>
                        <a:spcBef>
                          <a:spcPts val="500"/>
                        </a:spcBef>
                        <a:spcAft>
                          <a:spcPts val="0"/>
                        </a:spcAft>
                      </a:pPr>
                      <a:r>
                        <a:rPr lang="en-US" sz="1800" spc="45">
                          <a:effectLst/>
                          <a:latin typeface="SimHei" panose="02010609060101010101" pitchFamily="49" charset="-122"/>
                          <a:ea typeface="SimHei" panose="02010609060101010101" pitchFamily="49" charset="-122"/>
                        </a:rPr>
                        <a:t>B</a:t>
                      </a:r>
                      <a:r>
                        <a:rPr lang="zh-CN" sz="1800" spc="45">
                          <a:effectLst/>
                          <a:latin typeface="SimHei" panose="02010609060101010101" pitchFamily="49" charset="-122"/>
                          <a:ea typeface="SimHei" panose="02010609060101010101" pitchFamily="49" charset="-122"/>
                        </a:rPr>
                        <a:t>相</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98425" marR="0" eaLnBrk="0">
                        <a:lnSpc>
                          <a:spcPct val="91000"/>
                        </a:lnSpc>
                        <a:spcBef>
                          <a:spcPts val="485"/>
                        </a:spcBef>
                        <a:spcAft>
                          <a:spcPts val="0"/>
                        </a:spcAft>
                      </a:pPr>
                      <a:r>
                        <a:rPr lang="en-US" sz="1800" spc="-5">
                          <a:effectLst/>
                          <a:latin typeface="SimHei" panose="02010609060101010101" pitchFamily="49" charset="-122"/>
                          <a:ea typeface="SimHei" panose="02010609060101010101" pitchFamily="49" charset="-122"/>
                        </a:rPr>
                        <a:t>PEG-7</a:t>
                      </a:r>
                      <a:r>
                        <a:rPr lang="zh-CN" sz="1800" spc="-5">
                          <a:effectLst/>
                          <a:latin typeface="SimHei" panose="02010609060101010101" pitchFamily="49" charset="-122"/>
                          <a:ea typeface="SimHei" panose="02010609060101010101" pitchFamily="49" charset="-122"/>
                        </a:rPr>
                        <a:t>聚甘油椰油酸酯</a:t>
                      </a:r>
                      <a:endParaRPr lang="en-US" sz="1800">
                        <a:solidFill>
                          <a:srgbClr val="000000"/>
                        </a:solidFill>
                        <a:effectLst/>
                        <a:latin typeface="SimHei" panose="02010609060101010101" pitchFamily="49" charset="-122"/>
                        <a:ea typeface="SimHei" panose="02010609060101010101" pitchFamily="49" charset="-122"/>
                      </a:endParaRPr>
                    </a:p>
                  </a:txBody>
                  <a:tcPr marL="0" marR="0" marT="0" marB="0"/>
                </a:tc>
                <a:tc>
                  <a:txBody>
                    <a:bodyPr/>
                    <a:lstStyle/>
                    <a:p>
                      <a:pPr marL="352425" marR="0" eaLnBrk="0">
                        <a:lnSpc>
                          <a:spcPct val="76000"/>
                        </a:lnSpc>
                        <a:spcBef>
                          <a:spcPts val="765"/>
                        </a:spcBef>
                        <a:spcAft>
                          <a:spcPts val="0"/>
                        </a:spcAft>
                      </a:pPr>
                      <a:r>
                        <a:rPr lang="en-US" sz="1800" spc="-15" dirty="0">
                          <a:effectLst/>
                          <a:latin typeface="SimHei" panose="02010609060101010101" pitchFamily="49" charset="-122"/>
                          <a:ea typeface="SimHei" panose="02010609060101010101" pitchFamily="49" charset="-122"/>
                        </a:rPr>
                        <a:t>2.0</a:t>
                      </a:r>
                      <a:endParaRPr lang="en-US" sz="1800" dirty="0">
                        <a:solidFill>
                          <a:srgbClr val="000000"/>
                        </a:solidFill>
                        <a:effectLst/>
                        <a:latin typeface="SimHei" panose="02010609060101010101" pitchFamily="49" charset="-122"/>
                        <a:ea typeface="SimHei" panose="02010609060101010101" pitchFamily="49" charset="-122"/>
                      </a:endParaRPr>
                    </a:p>
                  </a:txBody>
                  <a:tcPr marL="0" marR="0" marT="0" marB="0"/>
                </a:tc>
                <a:tc vMerge="1">
                  <a:txBody>
                    <a:bodyPr/>
                    <a:lstStyle/>
                    <a:p>
                      <a:endParaRPr lang="en-US"/>
                    </a:p>
                  </a:txBody>
                  <a:tcPr/>
                </a:tc>
                <a:tc vMerge="1">
                  <a:txBody>
                    <a:bodyPr/>
                    <a:lstStyle/>
                    <a:p>
                      <a:endParaRPr lang="en-US"/>
                    </a:p>
                  </a:txBody>
                  <a:tcPr/>
                </a:tc>
                <a:tc vMerge="1">
                  <a:txBody>
                    <a:bodyPr/>
                    <a:lstStyle/>
                    <a:p>
                      <a:endParaRPr lang="en-US"/>
                    </a:p>
                  </a:txBody>
                  <a:tcPr/>
                </a:tc>
                <a:extLst>
                  <a:ext uri="{0D108BD9-81ED-4DB2-BD59-A6C34878D82A}">
                    <a16:rowId xmlns:a16="http://schemas.microsoft.com/office/drawing/2014/main" val="2094121636"/>
                  </a:ext>
                </a:extLst>
              </a:tr>
            </a:tbl>
          </a:graphicData>
        </a:graphic>
      </p:graphicFrame>
    </p:spTree>
    <p:extLst>
      <p:ext uri="{BB962C8B-B14F-4D97-AF65-F5344CB8AC3E}">
        <p14:creationId xmlns:p14="http://schemas.microsoft.com/office/powerpoint/2010/main" val="15094877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65</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其他表面活性剂洁肤产品：工艺</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030057"/>
            <a:ext cx="8778240" cy="3901837"/>
          </a:xfrm>
          <a:prstGeom prst="rect">
            <a:avLst/>
          </a:prstGeom>
          <a:noFill/>
        </p:spPr>
        <p:txBody>
          <a:bodyPr wrap="square" rtlCol="0">
            <a:spAutoFit/>
          </a:bodyPr>
          <a:lstStyle/>
          <a:p>
            <a:pPr>
              <a:lnSpc>
                <a:spcPct val="150000"/>
              </a:lnSpc>
            </a:pPr>
            <a:r>
              <a:rPr lang="zh-CN" altLang="en-US" sz="2400" dirty="0">
                <a:latin typeface="KaiTi" panose="02010609060101010101" pitchFamily="49" charset="-122"/>
                <a:ea typeface="KaiTi" panose="02010609060101010101" pitchFamily="49" charset="-122"/>
              </a:rPr>
              <a:t>① 将水及表面活性剂 </a:t>
            </a:r>
            <a:r>
              <a:rPr lang="en-US" altLang="zh-CN" sz="2400" dirty="0">
                <a:latin typeface="KaiTi" panose="02010609060101010101" pitchFamily="49" charset="-122"/>
                <a:ea typeface="KaiTi" panose="02010609060101010101" pitchFamily="49" charset="-122"/>
              </a:rPr>
              <a:t>( A </a:t>
            </a:r>
            <a:r>
              <a:rPr lang="zh-CN" altLang="en-US" sz="2400" dirty="0">
                <a:latin typeface="KaiTi" panose="02010609060101010101" pitchFamily="49" charset="-122"/>
                <a:ea typeface="KaiTi" panose="02010609060101010101" pitchFamily="49" charset="-122"/>
              </a:rPr>
              <a:t>相</a:t>
            </a:r>
            <a:r>
              <a:rPr lang="en-US" altLang="zh-CN" sz="2400" dirty="0">
                <a:latin typeface="KaiTi" panose="02010609060101010101" pitchFamily="49" charset="-122"/>
                <a:ea typeface="KaiTi" panose="02010609060101010101" pitchFamily="49" charset="-122"/>
              </a:rPr>
              <a:t>)</a:t>
            </a:r>
            <a:r>
              <a:rPr lang="zh-CN" altLang="en-US" sz="2400" dirty="0">
                <a:latin typeface="KaiTi" panose="02010609060101010101" pitchFamily="49" charset="-122"/>
                <a:ea typeface="KaiTi" panose="02010609060101010101" pitchFamily="49" charset="-122"/>
              </a:rPr>
              <a:t>依次加入到容器中，加热至</a:t>
            </a:r>
            <a:r>
              <a:rPr lang="en-US" altLang="zh-CN" sz="2400" dirty="0">
                <a:latin typeface="KaiTi" panose="02010609060101010101" pitchFamily="49" charset="-122"/>
                <a:ea typeface="KaiTi" panose="02010609060101010101" pitchFamily="49" charset="-122"/>
              </a:rPr>
              <a:t>70</a:t>
            </a:r>
            <a:r>
              <a:rPr lang="zh-CN" altLang="en-US" sz="2400" dirty="0">
                <a:latin typeface="KaiTi" panose="02010609060101010101" pitchFamily="49" charset="-122"/>
                <a:ea typeface="KaiTi" panose="02010609060101010101" pitchFamily="49" charset="-122"/>
              </a:rPr>
              <a:t>～</a:t>
            </a:r>
            <a:r>
              <a:rPr lang="en-US" altLang="zh-CN" sz="2400" dirty="0">
                <a:latin typeface="KaiTi" panose="02010609060101010101" pitchFamily="49" charset="-122"/>
                <a:ea typeface="KaiTi" panose="02010609060101010101" pitchFamily="49" charset="-122"/>
              </a:rPr>
              <a:t>75 ℃</a:t>
            </a:r>
            <a:r>
              <a:rPr lang="zh-CN" altLang="en-US" sz="2400" dirty="0">
                <a:latin typeface="KaiTi" panose="02010609060101010101" pitchFamily="49" charset="-122"/>
                <a:ea typeface="KaiTi" panose="02010609060101010101" pitchFamily="49" charset="-122"/>
              </a:rPr>
              <a:t>搅拌至完全溶解；</a:t>
            </a:r>
          </a:p>
          <a:p>
            <a:pPr>
              <a:lnSpc>
                <a:spcPct val="150000"/>
              </a:lnSpc>
            </a:pPr>
            <a:r>
              <a:rPr lang="zh-CN" altLang="en-US" sz="2400" dirty="0">
                <a:latin typeface="KaiTi" panose="02010609060101010101" pitchFamily="49" charset="-122"/>
                <a:ea typeface="KaiTi" panose="02010609060101010101" pitchFamily="49" charset="-122"/>
              </a:rPr>
              <a:t>② 降温至</a:t>
            </a:r>
            <a:r>
              <a:rPr lang="en-US" altLang="zh-CN" sz="2400" dirty="0">
                <a:latin typeface="KaiTi" panose="02010609060101010101" pitchFamily="49" charset="-122"/>
                <a:ea typeface="KaiTi" panose="02010609060101010101" pitchFamily="49" charset="-122"/>
              </a:rPr>
              <a:t>50 ℃,</a:t>
            </a:r>
            <a:r>
              <a:rPr lang="zh-CN" altLang="en-US" sz="2400" dirty="0">
                <a:latin typeface="KaiTi" panose="02010609060101010101" pitchFamily="49" charset="-122"/>
                <a:ea typeface="KaiTi" panose="02010609060101010101" pitchFamily="49" charset="-122"/>
              </a:rPr>
              <a:t>依次加入 </a:t>
            </a:r>
            <a:r>
              <a:rPr lang="en-US" altLang="zh-CN" sz="2400" dirty="0">
                <a:latin typeface="KaiTi" panose="02010609060101010101" pitchFamily="49" charset="-122"/>
                <a:ea typeface="KaiTi" panose="02010609060101010101" pitchFamily="49" charset="-122"/>
              </a:rPr>
              <a:t>B </a:t>
            </a:r>
            <a:r>
              <a:rPr lang="zh-CN" altLang="en-US" sz="2400" dirty="0">
                <a:latin typeface="KaiTi" panose="02010609060101010101" pitchFamily="49" charset="-122"/>
                <a:ea typeface="KaiTi" panose="02010609060101010101" pitchFamily="49" charset="-122"/>
              </a:rPr>
              <a:t>相中的其他成分，保持温度继续搅拌</a:t>
            </a:r>
            <a:r>
              <a:rPr lang="en-US" altLang="zh-CN" sz="2400" dirty="0">
                <a:latin typeface="KaiTi" panose="02010609060101010101" pitchFamily="49" charset="-122"/>
                <a:ea typeface="KaiTi" panose="02010609060101010101" pitchFamily="49" charset="-122"/>
              </a:rPr>
              <a:t>30 min;</a:t>
            </a:r>
          </a:p>
          <a:p>
            <a:pPr>
              <a:lnSpc>
                <a:spcPct val="150000"/>
              </a:lnSpc>
            </a:pPr>
            <a:r>
              <a:rPr lang="en-US" altLang="zh-CN" sz="2400" dirty="0">
                <a:latin typeface="KaiTi" panose="02010609060101010101" pitchFamily="49" charset="-122"/>
                <a:ea typeface="KaiTi" panose="02010609060101010101" pitchFamily="49" charset="-122"/>
              </a:rPr>
              <a:t>③ </a:t>
            </a:r>
            <a:r>
              <a:rPr lang="zh-CN" altLang="en-US" sz="2400" dirty="0">
                <a:latin typeface="KaiTi" panose="02010609060101010101" pitchFamily="49" charset="-122"/>
                <a:ea typeface="KaiTi" panose="02010609060101010101" pitchFamily="49" charset="-122"/>
              </a:rPr>
              <a:t>降温到</a:t>
            </a:r>
            <a:r>
              <a:rPr lang="en-US" altLang="zh-CN" sz="2400" dirty="0">
                <a:latin typeface="KaiTi" panose="02010609060101010101" pitchFamily="49" charset="-122"/>
                <a:ea typeface="KaiTi" panose="02010609060101010101" pitchFamily="49" charset="-122"/>
              </a:rPr>
              <a:t>45 ℃,</a:t>
            </a:r>
            <a:r>
              <a:rPr lang="zh-CN" altLang="en-US" sz="2400" dirty="0">
                <a:latin typeface="KaiTi" panose="02010609060101010101" pitchFamily="49" charset="-122"/>
                <a:ea typeface="KaiTi" panose="02010609060101010101" pitchFamily="49" charset="-122"/>
              </a:rPr>
              <a:t>依次将 </a:t>
            </a:r>
            <a:r>
              <a:rPr lang="en-US" altLang="zh-CN" sz="2400" dirty="0">
                <a:latin typeface="KaiTi" panose="02010609060101010101" pitchFamily="49" charset="-122"/>
                <a:ea typeface="KaiTi" panose="02010609060101010101" pitchFamily="49" charset="-122"/>
              </a:rPr>
              <a:t>C </a:t>
            </a:r>
            <a:r>
              <a:rPr lang="zh-CN" altLang="en-US" sz="2400" dirty="0">
                <a:latin typeface="KaiTi" panose="02010609060101010101" pitchFamily="49" charset="-122"/>
                <a:ea typeface="KaiTi" panose="02010609060101010101" pitchFamily="49" charset="-122"/>
              </a:rPr>
              <a:t>相中的其他成分加入；</a:t>
            </a:r>
          </a:p>
          <a:p>
            <a:pPr>
              <a:lnSpc>
                <a:spcPct val="150000"/>
              </a:lnSpc>
            </a:pPr>
            <a:r>
              <a:rPr lang="zh-CN" altLang="en-US" sz="2400" dirty="0">
                <a:latin typeface="KaiTi" panose="02010609060101010101" pitchFamily="49" charset="-122"/>
                <a:ea typeface="KaiTi" panose="02010609060101010101" pitchFamily="49" charset="-122"/>
              </a:rPr>
              <a:t>④ 待最后一个原料加入，搅拌</a:t>
            </a:r>
            <a:r>
              <a:rPr lang="en-US" altLang="zh-CN" sz="2400" dirty="0">
                <a:latin typeface="KaiTi" panose="02010609060101010101" pitchFamily="49" charset="-122"/>
                <a:ea typeface="KaiTi" panose="02010609060101010101" pitchFamily="49" charset="-122"/>
              </a:rPr>
              <a:t>30 min </a:t>
            </a:r>
            <a:r>
              <a:rPr lang="zh-CN" altLang="en-US" sz="2400" dirty="0">
                <a:latin typeface="KaiTi" panose="02010609060101010101" pitchFamily="49" charset="-122"/>
                <a:ea typeface="KaiTi" panose="02010609060101010101" pitchFamily="49" charset="-122"/>
              </a:rPr>
              <a:t>即可。</a:t>
            </a:r>
          </a:p>
          <a:p>
            <a:pPr marL="342900" indent="-342900">
              <a:lnSpc>
                <a:spcPct val="150000"/>
              </a:lnSpc>
              <a:buFont typeface="Arial" panose="020B0604020202020204" pitchFamily="34" charset="0"/>
              <a:buChar char="•"/>
            </a:pPr>
            <a:endParaRPr lang="zh-CN" altLang="en-US" sz="2400" dirty="0">
              <a:latin typeface="KaiTi" panose="02010609060101010101" pitchFamily="49" charset="-122"/>
              <a:ea typeface="KaiTi" panose="02010609060101010101" pitchFamily="49" charset="-122"/>
            </a:endParaRPr>
          </a:p>
        </p:txBody>
      </p:sp>
    </p:spTree>
    <p:extLst>
      <p:ext uri="{BB962C8B-B14F-4D97-AF65-F5344CB8AC3E}">
        <p14:creationId xmlns:p14="http://schemas.microsoft.com/office/powerpoint/2010/main" val="281188291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66</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其他表面活性剂洁肤产品：配方</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030057"/>
            <a:ext cx="8778240" cy="5560561"/>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烷基糖苷体系</a:t>
            </a:r>
            <a:endParaRPr lang="en-US" altLang="zh-CN" sz="2400" dirty="0">
              <a:latin typeface="+mn-lt"/>
              <a:ea typeface="SimHei" panose="02010609060101010101" pitchFamily="49" charset="-122"/>
            </a:endParaRPr>
          </a:p>
          <a:p>
            <a:pPr marL="342900" indent="-342900">
              <a:lnSpc>
                <a:spcPct val="150000"/>
              </a:lnSpc>
              <a:buFont typeface="Arial" panose="020B0604020202020204" pitchFamily="34" charset="0"/>
              <a:buChar char="•"/>
            </a:pPr>
            <a:endParaRPr lang="en-US" altLang="zh-CN" sz="2400" dirty="0">
              <a:latin typeface="+mn-lt"/>
              <a:ea typeface="SimHei" panose="02010609060101010101" pitchFamily="49" charset="-122"/>
            </a:endParaRPr>
          </a:p>
          <a:p>
            <a:pPr marL="342900" indent="-342900">
              <a:lnSpc>
                <a:spcPct val="150000"/>
              </a:lnSpc>
              <a:buFont typeface="Arial" panose="020B0604020202020204" pitchFamily="34" charset="0"/>
              <a:buChar char="•"/>
            </a:pPr>
            <a:endParaRPr lang="en-US" altLang="zh-CN" sz="2400" dirty="0">
              <a:latin typeface="+mn-lt"/>
              <a:ea typeface="SimHei" panose="02010609060101010101" pitchFamily="49" charset="-122"/>
            </a:endParaRPr>
          </a:p>
          <a:p>
            <a:pPr marL="342900" indent="-342900">
              <a:lnSpc>
                <a:spcPct val="150000"/>
              </a:lnSpc>
              <a:buFont typeface="Arial" panose="020B0604020202020204" pitchFamily="34" charset="0"/>
              <a:buChar char="•"/>
            </a:pPr>
            <a:endParaRPr lang="en-US" altLang="zh-CN" sz="2400" dirty="0">
              <a:latin typeface="+mn-lt"/>
              <a:ea typeface="SimHei" panose="02010609060101010101" pitchFamily="49" charset="-122"/>
            </a:endParaRPr>
          </a:p>
          <a:p>
            <a:pPr marL="342900" indent="-342900">
              <a:lnSpc>
                <a:spcPct val="150000"/>
              </a:lnSpc>
              <a:buFont typeface="Arial" panose="020B0604020202020204" pitchFamily="34" charset="0"/>
              <a:buChar char="•"/>
            </a:pPr>
            <a:endParaRPr lang="en-US" altLang="zh-CN" sz="2400" dirty="0">
              <a:latin typeface="+mn-lt"/>
              <a:ea typeface="SimHei" panose="02010609060101010101" pitchFamily="49" charset="-122"/>
            </a:endParaRPr>
          </a:p>
          <a:p>
            <a:pPr marL="342900" indent="-342900">
              <a:lnSpc>
                <a:spcPct val="150000"/>
              </a:lnSpc>
              <a:buFont typeface="Arial" panose="020B0604020202020204" pitchFamily="34" charset="0"/>
              <a:buChar char="•"/>
            </a:pPr>
            <a:endParaRPr lang="en-US" altLang="zh-CN" sz="2400" dirty="0">
              <a:latin typeface="+mn-lt"/>
              <a:ea typeface="SimHei" panose="02010609060101010101" pitchFamily="49" charset="-122"/>
            </a:endParaRPr>
          </a:p>
          <a:p>
            <a:pPr marL="342900" indent="-342900">
              <a:lnSpc>
                <a:spcPct val="150000"/>
              </a:lnSpc>
              <a:buFont typeface="Arial" panose="020B0604020202020204" pitchFamily="34" charset="0"/>
              <a:buChar char="•"/>
            </a:pPr>
            <a:endParaRPr lang="en-US" altLang="zh-CN" sz="2400" dirty="0">
              <a:latin typeface="+mn-lt"/>
              <a:ea typeface="SimHei" panose="02010609060101010101" pitchFamily="49" charset="-122"/>
            </a:endParaRPr>
          </a:p>
          <a:p>
            <a:pPr marL="342900" indent="-342900">
              <a:lnSpc>
                <a:spcPct val="150000"/>
              </a:lnSpc>
              <a:buFont typeface="Arial" panose="020B0604020202020204" pitchFamily="34" charset="0"/>
              <a:buChar char="•"/>
            </a:pPr>
            <a:endParaRPr lang="en-US" altLang="zh-CN" sz="2400" dirty="0">
              <a:latin typeface="+mn-lt"/>
              <a:ea typeface="SimHei" panose="02010609060101010101" pitchFamily="49" charset="-122"/>
            </a:endParaRPr>
          </a:p>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常温下依次将</a:t>
            </a:r>
            <a:r>
              <a:rPr lang="en-US" altLang="zh-CN" sz="2400" dirty="0">
                <a:latin typeface="+mn-lt"/>
                <a:ea typeface="SimHei" panose="02010609060101010101" pitchFamily="49" charset="-122"/>
              </a:rPr>
              <a:t>A </a:t>
            </a:r>
            <a:r>
              <a:rPr lang="zh-CN" altLang="en-US" sz="2400" dirty="0">
                <a:latin typeface="+mn-lt"/>
                <a:ea typeface="SimHei" panose="02010609060101010101" pitchFamily="49" charset="-122"/>
              </a:rPr>
              <a:t>相、</a:t>
            </a:r>
            <a:r>
              <a:rPr lang="en-US" altLang="zh-CN" sz="2400" dirty="0">
                <a:latin typeface="+mn-lt"/>
                <a:ea typeface="SimHei" panose="02010609060101010101" pitchFamily="49" charset="-122"/>
              </a:rPr>
              <a:t>B </a:t>
            </a:r>
            <a:r>
              <a:rPr lang="zh-CN" altLang="en-US" sz="2400" dirty="0">
                <a:latin typeface="+mn-lt"/>
                <a:ea typeface="SimHei" panose="02010609060101010101" pitchFamily="49" charset="-122"/>
              </a:rPr>
              <a:t>相、 </a:t>
            </a:r>
            <a:r>
              <a:rPr lang="en-US" altLang="zh-CN" sz="2400" dirty="0">
                <a:latin typeface="+mn-lt"/>
                <a:ea typeface="SimHei" panose="02010609060101010101" pitchFamily="49" charset="-122"/>
              </a:rPr>
              <a:t>C </a:t>
            </a:r>
            <a:r>
              <a:rPr lang="zh-CN" altLang="en-US" sz="2400" dirty="0">
                <a:latin typeface="+mn-lt"/>
                <a:ea typeface="SimHei" panose="02010609060101010101" pitchFamily="49" charset="-122"/>
              </a:rPr>
              <a:t>相、 </a:t>
            </a:r>
            <a:r>
              <a:rPr lang="en-US" altLang="zh-CN" sz="2400" dirty="0">
                <a:latin typeface="+mn-lt"/>
                <a:ea typeface="SimHei" panose="02010609060101010101" pitchFamily="49" charset="-122"/>
              </a:rPr>
              <a:t>D </a:t>
            </a:r>
            <a:r>
              <a:rPr lang="zh-CN" altLang="en-US" sz="2400" dirty="0">
                <a:latin typeface="+mn-lt"/>
                <a:ea typeface="SimHei" panose="02010609060101010101" pitchFamily="49" charset="-122"/>
              </a:rPr>
              <a:t>相中各组分加入主容器，搅拌均匀即可。</a:t>
            </a:r>
            <a:endParaRPr lang="en-US" altLang="zh-CN" sz="2400" dirty="0">
              <a:latin typeface="+mn-lt"/>
              <a:ea typeface="SimHei" panose="02010609060101010101" pitchFamily="49" charset="-122"/>
            </a:endParaRPr>
          </a:p>
        </p:txBody>
      </p:sp>
      <p:graphicFrame>
        <p:nvGraphicFramePr>
          <p:cNvPr id="5" name="表格 4">
            <a:extLst>
              <a:ext uri="{FF2B5EF4-FFF2-40B4-BE49-F238E27FC236}">
                <a16:creationId xmlns:a16="http://schemas.microsoft.com/office/drawing/2014/main" id="{925F2D58-6FD0-B107-38CF-20A51B047B1C}"/>
              </a:ext>
            </a:extLst>
          </p:cNvPr>
          <p:cNvGraphicFramePr>
            <a:graphicFrameLocks noGrp="1"/>
          </p:cNvGraphicFramePr>
          <p:nvPr>
            <p:extLst>
              <p:ext uri="{D42A27DB-BD31-4B8C-83A1-F6EECF244321}">
                <p14:modId xmlns:p14="http://schemas.microsoft.com/office/powerpoint/2010/main" val="2062601317"/>
              </p:ext>
            </p:extLst>
          </p:nvPr>
        </p:nvGraphicFramePr>
        <p:xfrm>
          <a:off x="182880" y="1755362"/>
          <a:ext cx="8778240" cy="3347276"/>
        </p:xfrm>
        <a:graphic>
          <a:graphicData uri="http://schemas.openxmlformats.org/drawingml/2006/table">
            <a:tbl>
              <a:tblPr firstRow="1" firstCol="1" bandRow="1">
                <a:tableStyleId>{72833802-FEF1-4C79-8D5D-14CF1EAF98D9}</a:tableStyleId>
              </a:tblPr>
              <a:tblGrid>
                <a:gridCol w="648707">
                  <a:extLst>
                    <a:ext uri="{9D8B030D-6E8A-4147-A177-3AD203B41FA5}">
                      <a16:colId xmlns:a16="http://schemas.microsoft.com/office/drawing/2014/main" val="2067674343"/>
                    </a:ext>
                  </a:extLst>
                </a:gridCol>
                <a:gridCol w="2042736">
                  <a:extLst>
                    <a:ext uri="{9D8B030D-6E8A-4147-A177-3AD203B41FA5}">
                      <a16:colId xmlns:a16="http://schemas.microsoft.com/office/drawing/2014/main" val="1238824020"/>
                    </a:ext>
                  </a:extLst>
                </a:gridCol>
                <a:gridCol w="1007565">
                  <a:extLst>
                    <a:ext uri="{9D8B030D-6E8A-4147-A177-3AD203B41FA5}">
                      <a16:colId xmlns:a16="http://schemas.microsoft.com/office/drawing/2014/main" val="199112823"/>
                    </a:ext>
                  </a:extLst>
                </a:gridCol>
                <a:gridCol w="2049636">
                  <a:extLst>
                    <a:ext uri="{9D8B030D-6E8A-4147-A177-3AD203B41FA5}">
                      <a16:colId xmlns:a16="http://schemas.microsoft.com/office/drawing/2014/main" val="2188055949"/>
                    </a:ext>
                  </a:extLst>
                </a:gridCol>
                <a:gridCol w="2049636">
                  <a:extLst>
                    <a:ext uri="{9D8B030D-6E8A-4147-A177-3AD203B41FA5}">
                      <a16:colId xmlns:a16="http://schemas.microsoft.com/office/drawing/2014/main" val="817079050"/>
                    </a:ext>
                  </a:extLst>
                </a:gridCol>
                <a:gridCol w="979960">
                  <a:extLst>
                    <a:ext uri="{9D8B030D-6E8A-4147-A177-3AD203B41FA5}">
                      <a16:colId xmlns:a16="http://schemas.microsoft.com/office/drawing/2014/main" val="2136277242"/>
                    </a:ext>
                  </a:extLst>
                </a:gridCol>
              </a:tblGrid>
              <a:tr h="250190">
                <a:tc>
                  <a:txBody>
                    <a:bodyPr/>
                    <a:lstStyle/>
                    <a:p>
                      <a:pPr marL="101600" marR="0" eaLnBrk="0">
                        <a:lnSpc>
                          <a:spcPct val="92000"/>
                        </a:lnSpc>
                        <a:spcBef>
                          <a:spcPts val="435"/>
                        </a:spcBef>
                        <a:spcAft>
                          <a:spcPts val="0"/>
                        </a:spcAft>
                      </a:pPr>
                      <a:r>
                        <a:rPr lang="zh-CN" sz="1800" spc="45">
                          <a:effectLst/>
                        </a:rPr>
                        <a:t>组相</a:t>
                      </a:r>
                      <a:endParaRPr lang="en-US" sz="1800">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663575" marR="0" eaLnBrk="0">
                        <a:lnSpc>
                          <a:spcPct val="91000"/>
                        </a:lnSpc>
                        <a:spcBef>
                          <a:spcPts val="425"/>
                        </a:spcBef>
                        <a:spcAft>
                          <a:spcPts val="0"/>
                        </a:spcAft>
                      </a:pPr>
                      <a:r>
                        <a:rPr lang="zh-CN" sz="1800" spc="10">
                          <a:effectLst/>
                        </a:rPr>
                        <a:t>原料名称</a:t>
                      </a:r>
                      <a:endParaRPr lang="en-US" sz="1800">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92075" marR="0" eaLnBrk="0">
                        <a:lnSpc>
                          <a:spcPct val="91000"/>
                        </a:lnSpc>
                        <a:spcBef>
                          <a:spcPts val="420"/>
                        </a:spcBef>
                        <a:spcAft>
                          <a:spcPts val="0"/>
                        </a:spcAft>
                      </a:pPr>
                      <a:r>
                        <a:rPr lang="zh-CN" sz="1800" spc="-10">
                          <a:effectLst/>
                        </a:rPr>
                        <a:t>质量分数</a:t>
                      </a:r>
                      <a:r>
                        <a:rPr lang="en-US" sz="1800" spc="-10">
                          <a:effectLst/>
                        </a:rPr>
                        <a:t>/%</a:t>
                      </a:r>
                      <a:endParaRPr lang="en-US" sz="1800">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149225" marR="0" eaLnBrk="0">
                        <a:lnSpc>
                          <a:spcPct val="92000"/>
                        </a:lnSpc>
                        <a:spcBef>
                          <a:spcPts val="435"/>
                        </a:spcBef>
                        <a:spcAft>
                          <a:spcPts val="0"/>
                        </a:spcAft>
                      </a:pPr>
                      <a:r>
                        <a:rPr lang="zh-CN" sz="1800" spc="45">
                          <a:effectLst/>
                        </a:rPr>
                        <a:t>组相</a:t>
                      </a:r>
                      <a:endParaRPr lang="en-US" sz="1800">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650875" marR="0" eaLnBrk="0">
                        <a:lnSpc>
                          <a:spcPct val="91000"/>
                        </a:lnSpc>
                        <a:spcBef>
                          <a:spcPts val="425"/>
                        </a:spcBef>
                        <a:spcAft>
                          <a:spcPts val="0"/>
                        </a:spcAft>
                      </a:pPr>
                      <a:r>
                        <a:rPr lang="zh-CN" sz="1800" spc="10">
                          <a:effectLst/>
                        </a:rPr>
                        <a:t>原料名称</a:t>
                      </a:r>
                      <a:endParaRPr lang="en-US" sz="1800">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79375" marR="0" eaLnBrk="0">
                        <a:lnSpc>
                          <a:spcPct val="91000"/>
                        </a:lnSpc>
                        <a:spcBef>
                          <a:spcPts val="420"/>
                        </a:spcBef>
                        <a:spcAft>
                          <a:spcPts val="0"/>
                        </a:spcAft>
                      </a:pPr>
                      <a:r>
                        <a:rPr lang="zh-CN" sz="1800" spc="-10">
                          <a:effectLst/>
                        </a:rPr>
                        <a:t>质量分数</a:t>
                      </a:r>
                      <a:r>
                        <a:rPr lang="en-US" sz="1800" spc="-10">
                          <a:effectLst/>
                        </a:rPr>
                        <a:t>/%</a:t>
                      </a:r>
                      <a:endParaRPr lang="en-US" sz="1800">
                        <a:solidFill>
                          <a:srgbClr val="000000"/>
                        </a:solidFill>
                        <a:effectLst/>
                        <a:latin typeface="Arial" panose="020B0604020202020204" pitchFamily="34" charset="0"/>
                        <a:ea typeface="Arial" panose="020B0604020202020204" pitchFamily="34" charset="0"/>
                      </a:endParaRPr>
                    </a:p>
                  </a:txBody>
                  <a:tcPr marL="0" marR="0" marT="0" marB="0"/>
                </a:tc>
                <a:extLst>
                  <a:ext uri="{0D108BD9-81ED-4DB2-BD59-A6C34878D82A}">
                    <a16:rowId xmlns:a16="http://schemas.microsoft.com/office/drawing/2014/main" val="3135678609"/>
                  </a:ext>
                </a:extLst>
              </a:tr>
              <a:tr h="803910">
                <a:tc rowSpan="2">
                  <a:txBody>
                    <a:bodyPr/>
                    <a:lstStyle/>
                    <a:p>
                      <a:pPr marL="0" marR="0" eaLnBrk="0">
                        <a:lnSpc>
                          <a:spcPct val="134000"/>
                        </a:lnSpc>
                        <a:spcBef>
                          <a:spcPts val="0"/>
                        </a:spcBef>
                        <a:spcAft>
                          <a:spcPts val="0"/>
                        </a:spcAft>
                      </a:pPr>
                      <a:r>
                        <a:rPr lang="en-US" sz="1800">
                          <a:effectLst/>
                        </a:rPr>
                        <a:t> </a:t>
                      </a:r>
                    </a:p>
                    <a:p>
                      <a:pPr marL="0" marR="0" eaLnBrk="0">
                        <a:lnSpc>
                          <a:spcPct val="134000"/>
                        </a:lnSpc>
                        <a:spcBef>
                          <a:spcPts val="0"/>
                        </a:spcBef>
                        <a:spcAft>
                          <a:spcPts val="0"/>
                        </a:spcAft>
                      </a:pPr>
                      <a:r>
                        <a:rPr lang="en-US" sz="1800">
                          <a:effectLst/>
                        </a:rPr>
                        <a:t> </a:t>
                      </a:r>
                    </a:p>
                    <a:p>
                      <a:pPr marL="133350" marR="0" eaLnBrk="0">
                        <a:lnSpc>
                          <a:spcPct val="92000"/>
                        </a:lnSpc>
                        <a:spcBef>
                          <a:spcPts val="375"/>
                        </a:spcBef>
                        <a:spcAft>
                          <a:spcPts val="0"/>
                        </a:spcAft>
                      </a:pPr>
                      <a:r>
                        <a:rPr lang="en-US" sz="1800" spc="55">
                          <a:effectLst/>
                        </a:rPr>
                        <a:t>A</a:t>
                      </a:r>
                      <a:r>
                        <a:rPr lang="zh-CN" sz="1800" spc="55">
                          <a:effectLst/>
                        </a:rPr>
                        <a:t>相</a:t>
                      </a:r>
                      <a:endParaRPr lang="en-US" sz="1800">
                        <a:solidFill>
                          <a:srgbClr val="000000"/>
                        </a:solidFill>
                        <a:effectLst/>
                        <a:latin typeface="Arial" panose="020B0604020202020204" pitchFamily="34" charset="0"/>
                        <a:ea typeface="Arial" panose="020B0604020202020204" pitchFamily="34" charset="0"/>
                      </a:endParaRPr>
                    </a:p>
                  </a:txBody>
                  <a:tcPr marL="0" marR="0" marT="0" marB="0"/>
                </a:tc>
                <a:tc rowSpan="2">
                  <a:txBody>
                    <a:bodyPr/>
                    <a:lstStyle/>
                    <a:p>
                      <a:pPr marL="111125" marR="0" eaLnBrk="0">
                        <a:lnSpc>
                          <a:spcPct val="91000"/>
                        </a:lnSpc>
                        <a:spcBef>
                          <a:spcPts val="650"/>
                        </a:spcBef>
                        <a:spcAft>
                          <a:spcPts val="0"/>
                        </a:spcAft>
                      </a:pPr>
                      <a:r>
                        <a:rPr lang="zh-CN" sz="1800">
                          <a:effectLst/>
                        </a:rPr>
                        <a:t>水</a:t>
                      </a:r>
                      <a:endParaRPr lang="en-US" sz="1800">
                        <a:effectLst/>
                      </a:endParaRPr>
                    </a:p>
                    <a:p>
                      <a:pPr marL="111125" marR="0" eaLnBrk="0">
                        <a:lnSpc>
                          <a:spcPts val="2045"/>
                        </a:lnSpc>
                        <a:spcBef>
                          <a:spcPts val="785"/>
                        </a:spcBef>
                        <a:spcAft>
                          <a:spcPts val="0"/>
                        </a:spcAft>
                      </a:pPr>
                      <a:r>
                        <a:rPr lang="zh-CN" sz="1800" spc="-10">
                          <a:effectLst/>
                        </a:rPr>
                        <a:t>椰油基葡糖苷</a:t>
                      </a:r>
                      <a:endParaRPr lang="en-US" sz="1800">
                        <a:effectLst/>
                      </a:endParaRPr>
                    </a:p>
                    <a:p>
                      <a:pPr marL="111125" marR="0" eaLnBrk="0">
                        <a:lnSpc>
                          <a:spcPct val="91000"/>
                        </a:lnSpc>
                        <a:spcBef>
                          <a:spcPts val="0"/>
                        </a:spcBef>
                        <a:spcAft>
                          <a:spcPts val="0"/>
                        </a:spcAft>
                      </a:pPr>
                      <a:r>
                        <a:rPr lang="zh-CN" sz="1800" spc="5">
                          <a:effectLst/>
                        </a:rPr>
                        <a:t>月桂基葡糖苷</a:t>
                      </a:r>
                      <a:endParaRPr lang="en-US" sz="1800">
                        <a:effectLst/>
                      </a:endParaRPr>
                    </a:p>
                    <a:p>
                      <a:pPr marL="111125" marR="0" eaLnBrk="0">
                        <a:lnSpc>
                          <a:spcPct val="91000"/>
                        </a:lnSpc>
                        <a:spcBef>
                          <a:spcPts val="585"/>
                        </a:spcBef>
                        <a:spcAft>
                          <a:spcPts val="0"/>
                        </a:spcAft>
                      </a:pPr>
                      <a:r>
                        <a:rPr lang="zh-CN" sz="1800" spc="60">
                          <a:effectLst/>
                        </a:rPr>
                        <a:t>甘油</a:t>
                      </a:r>
                      <a:endParaRPr lang="en-US" sz="1800">
                        <a:solidFill>
                          <a:srgbClr val="000000"/>
                        </a:solidFill>
                        <a:effectLst/>
                        <a:latin typeface="Arial" panose="020B0604020202020204" pitchFamily="34" charset="0"/>
                        <a:ea typeface="Arial" panose="020B0604020202020204" pitchFamily="34" charset="0"/>
                      </a:endParaRPr>
                    </a:p>
                  </a:txBody>
                  <a:tcPr marL="0" marR="0" marT="0" marB="0"/>
                </a:tc>
                <a:tc rowSpan="2">
                  <a:txBody>
                    <a:bodyPr/>
                    <a:lstStyle/>
                    <a:p>
                      <a:pPr marL="200025" marR="0" eaLnBrk="0">
                        <a:lnSpc>
                          <a:spcPts val="2420"/>
                        </a:lnSpc>
                        <a:spcBef>
                          <a:spcPts val="670"/>
                        </a:spcBef>
                        <a:spcAft>
                          <a:spcPts val="0"/>
                        </a:spcAft>
                      </a:pPr>
                      <a:r>
                        <a:rPr lang="zh-CN" sz="1800" spc="15">
                          <a:effectLst/>
                        </a:rPr>
                        <a:t>加至</a:t>
                      </a:r>
                      <a:r>
                        <a:rPr lang="en-US" sz="1800" spc="15">
                          <a:effectLst/>
                        </a:rPr>
                        <a:t>100</a:t>
                      </a:r>
                      <a:endParaRPr lang="en-US" sz="1800">
                        <a:effectLst/>
                      </a:endParaRPr>
                    </a:p>
                    <a:p>
                      <a:pPr marL="314325" marR="0" eaLnBrk="0">
                        <a:lnSpc>
                          <a:spcPct val="76000"/>
                        </a:lnSpc>
                        <a:spcBef>
                          <a:spcPts val="0"/>
                        </a:spcBef>
                        <a:spcAft>
                          <a:spcPts val="0"/>
                        </a:spcAft>
                      </a:pPr>
                      <a:r>
                        <a:rPr lang="en-US" sz="1800" spc="-25">
                          <a:effectLst/>
                        </a:rPr>
                        <a:t>16.0</a:t>
                      </a:r>
                      <a:endParaRPr lang="en-US" sz="1800">
                        <a:effectLst/>
                      </a:endParaRPr>
                    </a:p>
                    <a:p>
                      <a:pPr marL="345440" marR="0" eaLnBrk="0">
                        <a:lnSpc>
                          <a:spcPts val="2205"/>
                        </a:lnSpc>
                        <a:spcBef>
                          <a:spcPts val="805"/>
                        </a:spcBef>
                        <a:spcAft>
                          <a:spcPts val="0"/>
                        </a:spcAft>
                      </a:pPr>
                      <a:r>
                        <a:rPr lang="en-US" sz="1800" spc="-20">
                          <a:effectLst/>
                        </a:rPr>
                        <a:t>7.0</a:t>
                      </a:r>
                      <a:endParaRPr lang="en-US" sz="1800">
                        <a:effectLst/>
                      </a:endParaRPr>
                    </a:p>
                    <a:p>
                      <a:pPr marL="345440" marR="0" eaLnBrk="0">
                        <a:lnSpc>
                          <a:spcPct val="71000"/>
                        </a:lnSpc>
                        <a:spcBef>
                          <a:spcPts val="5"/>
                        </a:spcBef>
                        <a:spcAft>
                          <a:spcPts val="0"/>
                        </a:spcAft>
                      </a:pPr>
                      <a:r>
                        <a:rPr lang="en-US" sz="1800" spc="-10">
                          <a:effectLst/>
                        </a:rPr>
                        <a:t>4.0</a:t>
                      </a:r>
                      <a:endParaRPr lang="en-US" sz="1800">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0" marR="0" eaLnBrk="0">
                        <a:lnSpc>
                          <a:spcPct val="185000"/>
                        </a:lnSpc>
                        <a:spcBef>
                          <a:spcPts val="0"/>
                        </a:spcBef>
                        <a:spcAft>
                          <a:spcPts val="0"/>
                        </a:spcAft>
                      </a:pPr>
                      <a:r>
                        <a:rPr lang="en-US" sz="1800">
                          <a:effectLst/>
                        </a:rPr>
                        <a:t> </a:t>
                      </a:r>
                    </a:p>
                    <a:p>
                      <a:pPr marL="180975" marR="0" eaLnBrk="0">
                        <a:lnSpc>
                          <a:spcPct val="92000"/>
                        </a:lnSpc>
                        <a:spcBef>
                          <a:spcPts val="370"/>
                        </a:spcBef>
                        <a:spcAft>
                          <a:spcPts val="0"/>
                        </a:spcAft>
                      </a:pPr>
                      <a:r>
                        <a:rPr lang="en-US" sz="1800" spc="55">
                          <a:effectLst/>
                        </a:rPr>
                        <a:t>B</a:t>
                      </a:r>
                      <a:r>
                        <a:rPr lang="zh-CN" sz="1800" spc="55">
                          <a:effectLst/>
                        </a:rPr>
                        <a:t>相</a:t>
                      </a:r>
                      <a:endParaRPr lang="en-US" sz="1800">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238125" marR="0" eaLnBrk="0">
                        <a:lnSpc>
                          <a:spcPct val="91000"/>
                        </a:lnSpc>
                        <a:spcBef>
                          <a:spcPts val="650"/>
                        </a:spcBef>
                        <a:spcAft>
                          <a:spcPts val="0"/>
                        </a:spcAft>
                      </a:pPr>
                      <a:r>
                        <a:rPr lang="zh-CN" sz="1800" spc="-5">
                          <a:effectLst/>
                        </a:rPr>
                        <a:t>椰油酰胺丙基甜菜碱</a:t>
                      </a:r>
                      <a:endParaRPr lang="en-US" sz="1800">
                        <a:effectLst/>
                      </a:endParaRPr>
                    </a:p>
                    <a:p>
                      <a:pPr marL="79375" marR="265430" indent="152400" eaLnBrk="0">
                        <a:lnSpc>
                          <a:spcPct val="109000"/>
                        </a:lnSpc>
                        <a:spcBef>
                          <a:spcPts val="930"/>
                        </a:spcBef>
                        <a:spcAft>
                          <a:spcPts val="0"/>
                        </a:spcAft>
                      </a:pPr>
                      <a:r>
                        <a:rPr lang="zh-CN" sz="1800" spc="-5">
                          <a:effectLst/>
                        </a:rPr>
                        <a:t>皱波角叉菜</a:t>
                      </a:r>
                      <a:r>
                        <a:rPr lang="en-US" sz="1800" spc="-5">
                          <a:effectLst/>
                        </a:rPr>
                        <a:t>(CHONDRUS</a:t>
                      </a:r>
                      <a:r>
                        <a:rPr lang="en-US" sz="1800" spc="20">
                          <a:effectLst/>
                        </a:rPr>
                        <a:t> </a:t>
                      </a:r>
                      <a:r>
                        <a:rPr lang="en-US" sz="1800" spc="-5">
                          <a:effectLst/>
                        </a:rPr>
                        <a:t>CRISPUS)</a:t>
                      </a:r>
                      <a:r>
                        <a:rPr lang="zh-CN" sz="1800" spc="-5">
                          <a:effectLst/>
                        </a:rPr>
                        <a:t>提取物</a:t>
                      </a:r>
                      <a:endParaRPr lang="en-US" sz="1800">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333375" marR="0" eaLnBrk="0">
                        <a:lnSpc>
                          <a:spcPct val="76000"/>
                        </a:lnSpc>
                        <a:spcBef>
                          <a:spcPts val="645"/>
                        </a:spcBef>
                        <a:spcAft>
                          <a:spcPts val="0"/>
                        </a:spcAft>
                      </a:pPr>
                      <a:r>
                        <a:rPr lang="en-US" sz="1800" spc="-20">
                          <a:effectLst/>
                        </a:rPr>
                        <a:t>7.0</a:t>
                      </a:r>
                      <a:endParaRPr lang="en-US" sz="1800">
                        <a:effectLst/>
                      </a:endParaRPr>
                    </a:p>
                    <a:p>
                      <a:pPr marL="0" marR="0" eaLnBrk="0">
                        <a:lnSpc>
                          <a:spcPct val="155000"/>
                        </a:lnSpc>
                        <a:spcBef>
                          <a:spcPts val="0"/>
                        </a:spcBef>
                        <a:spcAft>
                          <a:spcPts val="0"/>
                        </a:spcAft>
                      </a:pPr>
                      <a:r>
                        <a:rPr lang="en-US" sz="1800">
                          <a:effectLst/>
                        </a:rPr>
                        <a:t> </a:t>
                      </a:r>
                    </a:p>
                    <a:p>
                      <a:pPr marL="333375" marR="0" eaLnBrk="0">
                        <a:lnSpc>
                          <a:spcPct val="76000"/>
                        </a:lnSpc>
                        <a:spcBef>
                          <a:spcPts val="375"/>
                        </a:spcBef>
                        <a:spcAft>
                          <a:spcPts val="0"/>
                        </a:spcAft>
                      </a:pPr>
                      <a:r>
                        <a:rPr lang="en-US" sz="1800" spc="-15">
                          <a:effectLst/>
                        </a:rPr>
                        <a:t>0.1</a:t>
                      </a:r>
                      <a:endParaRPr lang="en-US" sz="1800">
                        <a:solidFill>
                          <a:srgbClr val="000000"/>
                        </a:solidFill>
                        <a:effectLst/>
                        <a:latin typeface="Arial" panose="020B0604020202020204" pitchFamily="34" charset="0"/>
                        <a:ea typeface="Arial" panose="020B0604020202020204" pitchFamily="34" charset="0"/>
                      </a:endParaRPr>
                    </a:p>
                  </a:txBody>
                  <a:tcPr marL="0" marR="0" marT="0" marB="0"/>
                </a:tc>
                <a:extLst>
                  <a:ext uri="{0D108BD9-81ED-4DB2-BD59-A6C34878D82A}">
                    <a16:rowId xmlns:a16="http://schemas.microsoft.com/office/drawing/2014/main" val="681049432"/>
                  </a:ext>
                </a:extLst>
              </a:tr>
              <a:tr h="246380">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180975" marR="0" eaLnBrk="0">
                        <a:lnSpc>
                          <a:spcPct val="92000"/>
                        </a:lnSpc>
                        <a:spcBef>
                          <a:spcPts val="435"/>
                        </a:spcBef>
                        <a:spcAft>
                          <a:spcPts val="0"/>
                        </a:spcAft>
                      </a:pPr>
                      <a:r>
                        <a:rPr lang="en-US" sz="1800" spc="55">
                          <a:effectLst/>
                        </a:rPr>
                        <a:t>C</a:t>
                      </a:r>
                      <a:r>
                        <a:rPr lang="zh-CN" sz="1800" spc="55">
                          <a:effectLst/>
                        </a:rPr>
                        <a:t>相</a:t>
                      </a:r>
                      <a:endParaRPr lang="en-US" sz="1800">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238125" marR="0" eaLnBrk="0">
                        <a:lnSpc>
                          <a:spcPct val="91000"/>
                        </a:lnSpc>
                        <a:spcBef>
                          <a:spcPts val="415"/>
                        </a:spcBef>
                        <a:spcAft>
                          <a:spcPts val="0"/>
                        </a:spcAft>
                      </a:pPr>
                      <a:r>
                        <a:rPr lang="zh-CN" sz="1800" spc="20">
                          <a:effectLst/>
                        </a:rPr>
                        <a:t>防腐剂</a:t>
                      </a:r>
                      <a:endParaRPr lang="en-US" sz="1800">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301625" marR="0" eaLnBrk="0">
                        <a:lnSpc>
                          <a:spcPct val="93000"/>
                        </a:lnSpc>
                        <a:spcBef>
                          <a:spcPts val="455"/>
                        </a:spcBef>
                        <a:spcAft>
                          <a:spcPts val="0"/>
                        </a:spcAft>
                      </a:pPr>
                      <a:r>
                        <a:rPr lang="zh-CN" sz="1800" spc="-15">
                          <a:effectLst/>
                        </a:rPr>
                        <a:t>适量</a:t>
                      </a:r>
                      <a:endParaRPr lang="en-US" sz="1800">
                        <a:solidFill>
                          <a:srgbClr val="000000"/>
                        </a:solidFill>
                        <a:effectLst/>
                        <a:latin typeface="Arial" panose="020B0604020202020204" pitchFamily="34" charset="0"/>
                        <a:ea typeface="Arial" panose="020B0604020202020204" pitchFamily="34" charset="0"/>
                      </a:endParaRPr>
                    </a:p>
                  </a:txBody>
                  <a:tcPr marL="0" marR="0" marT="0" marB="0"/>
                </a:tc>
                <a:extLst>
                  <a:ext uri="{0D108BD9-81ED-4DB2-BD59-A6C34878D82A}">
                    <a16:rowId xmlns:a16="http://schemas.microsoft.com/office/drawing/2014/main" val="2426384647"/>
                  </a:ext>
                </a:extLst>
              </a:tr>
              <a:tr h="521970">
                <a:tc>
                  <a:txBody>
                    <a:bodyPr/>
                    <a:lstStyle/>
                    <a:p>
                      <a:pPr marL="133350" marR="0" eaLnBrk="0">
                        <a:lnSpc>
                          <a:spcPct val="92000"/>
                        </a:lnSpc>
                        <a:spcBef>
                          <a:spcPts val="1545"/>
                        </a:spcBef>
                        <a:spcAft>
                          <a:spcPts val="0"/>
                        </a:spcAft>
                      </a:pPr>
                      <a:r>
                        <a:rPr lang="en-US" sz="1800" spc="55">
                          <a:effectLst/>
                        </a:rPr>
                        <a:t>B</a:t>
                      </a:r>
                      <a:r>
                        <a:rPr lang="zh-CN" sz="1800" spc="55">
                          <a:effectLst/>
                        </a:rPr>
                        <a:t>相</a:t>
                      </a:r>
                      <a:endParaRPr lang="en-US" sz="1800">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111125" marR="0" eaLnBrk="0">
                        <a:lnSpc>
                          <a:spcPts val="2150"/>
                        </a:lnSpc>
                        <a:spcBef>
                          <a:spcPts val="535"/>
                        </a:spcBef>
                        <a:spcAft>
                          <a:spcPts val="0"/>
                        </a:spcAft>
                      </a:pPr>
                      <a:r>
                        <a:rPr lang="zh-CN" sz="1800" spc="5">
                          <a:effectLst/>
                        </a:rPr>
                        <a:t>椰油酰两性基二乙酸二钠</a:t>
                      </a:r>
                      <a:endParaRPr lang="en-US" sz="1800">
                        <a:effectLst/>
                      </a:endParaRPr>
                    </a:p>
                    <a:p>
                      <a:pPr marL="111125" marR="0" eaLnBrk="0">
                        <a:lnSpc>
                          <a:spcPct val="91000"/>
                        </a:lnSpc>
                        <a:spcBef>
                          <a:spcPts val="0"/>
                        </a:spcBef>
                        <a:spcAft>
                          <a:spcPts val="0"/>
                        </a:spcAft>
                      </a:pPr>
                      <a:r>
                        <a:rPr lang="zh-CN" sz="1800" spc="5">
                          <a:effectLst/>
                        </a:rPr>
                        <a:t>椰油酰基谷氨酸钠</a:t>
                      </a:r>
                      <a:endParaRPr lang="en-US" sz="1800">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345440" marR="0" eaLnBrk="0">
                        <a:lnSpc>
                          <a:spcPts val="2150"/>
                        </a:lnSpc>
                        <a:spcBef>
                          <a:spcPts val="825"/>
                        </a:spcBef>
                        <a:spcAft>
                          <a:spcPts val="0"/>
                        </a:spcAft>
                      </a:pPr>
                      <a:r>
                        <a:rPr lang="en-US" sz="1800" spc="-15" dirty="0">
                          <a:effectLst/>
                        </a:rPr>
                        <a:t>9.0</a:t>
                      </a:r>
                      <a:endParaRPr lang="en-US" sz="1800" dirty="0">
                        <a:effectLst/>
                      </a:endParaRPr>
                    </a:p>
                    <a:p>
                      <a:pPr marL="345440" marR="0" eaLnBrk="0">
                        <a:lnSpc>
                          <a:spcPct val="75000"/>
                        </a:lnSpc>
                        <a:spcBef>
                          <a:spcPts val="0"/>
                        </a:spcBef>
                        <a:spcAft>
                          <a:spcPts val="0"/>
                        </a:spcAft>
                      </a:pPr>
                      <a:r>
                        <a:rPr lang="en-US" sz="1800" spc="-15" dirty="0">
                          <a:effectLst/>
                        </a:rPr>
                        <a:t>2.0</a:t>
                      </a:r>
                      <a:endParaRPr lang="en-US" sz="1800" dirty="0">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180975" marR="0" eaLnBrk="0">
                        <a:lnSpc>
                          <a:spcPct val="92000"/>
                        </a:lnSpc>
                        <a:spcBef>
                          <a:spcPts val="1545"/>
                        </a:spcBef>
                        <a:spcAft>
                          <a:spcPts val="0"/>
                        </a:spcAft>
                      </a:pPr>
                      <a:r>
                        <a:rPr lang="en-US" sz="1800" spc="55">
                          <a:effectLst/>
                        </a:rPr>
                        <a:t>D</a:t>
                      </a:r>
                      <a:r>
                        <a:rPr lang="zh-CN" sz="1800" spc="55">
                          <a:effectLst/>
                        </a:rPr>
                        <a:t>相</a:t>
                      </a:r>
                      <a:endParaRPr lang="en-US" sz="1800">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238125" marR="0" eaLnBrk="0">
                        <a:lnSpc>
                          <a:spcPct val="91000"/>
                        </a:lnSpc>
                        <a:spcBef>
                          <a:spcPts val="1530"/>
                        </a:spcBef>
                        <a:spcAft>
                          <a:spcPts val="0"/>
                        </a:spcAft>
                      </a:pPr>
                      <a:r>
                        <a:rPr lang="zh-CN" sz="1800" spc="-10">
                          <a:effectLst/>
                        </a:rPr>
                        <a:t>柠檬酸</a:t>
                      </a:r>
                      <a:endParaRPr lang="en-US" sz="1800">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301625" marR="0" eaLnBrk="0">
                        <a:lnSpc>
                          <a:spcPct val="93000"/>
                        </a:lnSpc>
                        <a:spcBef>
                          <a:spcPts val="1565"/>
                        </a:spcBef>
                        <a:spcAft>
                          <a:spcPts val="0"/>
                        </a:spcAft>
                      </a:pPr>
                      <a:r>
                        <a:rPr lang="zh-CN" sz="1800" spc="-15" dirty="0">
                          <a:effectLst/>
                        </a:rPr>
                        <a:t>适量</a:t>
                      </a:r>
                      <a:endParaRPr lang="en-US" sz="1800" dirty="0">
                        <a:solidFill>
                          <a:srgbClr val="000000"/>
                        </a:solidFill>
                        <a:effectLst/>
                        <a:latin typeface="Arial" panose="020B0604020202020204" pitchFamily="34" charset="0"/>
                        <a:ea typeface="Arial" panose="020B0604020202020204" pitchFamily="34" charset="0"/>
                      </a:endParaRPr>
                    </a:p>
                  </a:txBody>
                  <a:tcPr marL="0" marR="0" marT="0" marB="0"/>
                </a:tc>
                <a:extLst>
                  <a:ext uri="{0D108BD9-81ED-4DB2-BD59-A6C34878D82A}">
                    <a16:rowId xmlns:a16="http://schemas.microsoft.com/office/drawing/2014/main" val="3659617756"/>
                  </a:ext>
                </a:extLst>
              </a:tr>
            </a:tbl>
          </a:graphicData>
        </a:graphic>
      </p:graphicFrame>
    </p:spTree>
    <p:extLst>
      <p:ext uri="{BB962C8B-B14F-4D97-AF65-F5344CB8AC3E}">
        <p14:creationId xmlns:p14="http://schemas.microsoft.com/office/powerpoint/2010/main" val="301746006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67</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卸妆产品</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030057"/>
            <a:ext cx="8778240" cy="5563831"/>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卸妆类产品主要是针对彩妆进行清除的清洁类产品。市面上卸妆类产品的剂型和种类有很多，从使用部位来说，主要是通用型和局部型两种。通用型对于卸除部位不加以区分，使用方便；局部型主要针对特定区域，如眼部、唇部等，在原料选择方面， 会兼顾使用部位的皮肤和着妆特点，进行重点和更有效的清洁。</a:t>
            </a:r>
            <a:endParaRPr lang="en-US" altLang="zh-CN" sz="2400" dirty="0">
              <a:latin typeface="+mn-lt"/>
              <a:ea typeface="SimHei" panose="02010609060101010101" pitchFamily="49" charset="-122"/>
            </a:endParaRPr>
          </a:p>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从配方角度来说，主要有油溶性的卸妆油</a:t>
            </a:r>
            <a:r>
              <a:rPr lang="en-US" altLang="zh-CN" sz="2400" dirty="0">
                <a:latin typeface="+mn-lt"/>
                <a:ea typeface="SimHei" panose="02010609060101010101" pitchFamily="49" charset="-122"/>
              </a:rPr>
              <a:t>(</a:t>
            </a:r>
            <a:r>
              <a:rPr lang="zh-CN" altLang="en-US" sz="2400" dirty="0">
                <a:latin typeface="+mn-lt"/>
                <a:ea typeface="SimHei" panose="02010609060101010101" pitchFamily="49" charset="-122"/>
              </a:rPr>
              <a:t>可能有少量表面活性剂</a:t>
            </a:r>
            <a:r>
              <a:rPr lang="en-US" altLang="zh-CN" sz="2400" dirty="0">
                <a:latin typeface="+mn-lt"/>
                <a:ea typeface="SimHei" panose="02010609060101010101" pitchFamily="49" charset="-122"/>
              </a:rPr>
              <a:t>)</a:t>
            </a:r>
            <a:r>
              <a:rPr lang="zh-CN" altLang="en-US" sz="2400" dirty="0">
                <a:latin typeface="+mn-lt"/>
                <a:ea typeface="SimHei" panose="02010609060101010101" pitchFamily="49" charset="-122"/>
              </a:rPr>
              <a:t>、稳定的乳化体系</a:t>
            </a:r>
            <a:r>
              <a:rPr lang="en-US" altLang="zh-CN" sz="2400" dirty="0">
                <a:latin typeface="+mn-lt"/>
                <a:ea typeface="SimHei" panose="02010609060101010101" pitchFamily="49" charset="-122"/>
              </a:rPr>
              <a:t>(</a:t>
            </a:r>
            <a:r>
              <a:rPr lang="zh-CN" altLang="en-US" sz="2400" dirty="0">
                <a:latin typeface="+mn-lt"/>
                <a:ea typeface="SimHei" panose="02010609060101010101" pitchFamily="49" charset="-122"/>
              </a:rPr>
              <a:t>卸妆乳</a:t>
            </a:r>
            <a:r>
              <a:rPr lang="en-US" altLang="zh-CN" sz="2400" dirty="0">
                <a:latin typeface="+mn-lt"/>
                <a:ea typeface="SimHei" panose="02010609060101010101" pitchFamily="49" charset="-122"/>
              </a:rPr>
              <a:t>/</a:t>
            </a:r>
            <a:r>
              <a:rPr lang="zh-CN" altLang="en-US" sz="2400" dirty="0">
                <a:latin typeface="+mn-lt"/>
                <a:ea typeface="SimHei" panose="02010609060101010101" pitchFamily="49" charset="-122"/>
              </a:rPr>
              <a:t>微乳</a:t>
            </a:r>
            <a:r>
              <a:rPr lang="en-US" altLang="zh-CN" sz="2400" dirty="0">
                <a:latin typeface="+mn-lt"/>
                <a:ea typeface="SimHei" panose="02010609060101010101" pitchFamily="49" charset="-122"/>
              </a:rPr>
              <a:t>)</a:t>
            </a:r>
            <a:r>
              <a:rPr lang="zh-CN" altLang="en-US" sz="2400" dirty="0">
                <a:latin typeface="+mn-lt"/>
                <a:ea typeface="SimHei" panose="02010609060101010101" pitchFamily="49" charset="-122"/>
              </a:rPr>
              <a:t>、用前摇匀的不稳定乳化体系、含清洁剂的体系</a:t>
            </a:r>
            <a:r>
              <a:rPr lang="en-US" altLang="zh-CN" sz="2400" dirty="0">
                <a:latin typeface="+mn-lt"/>
                <a:ea typeface="SimHei" panose="02010609060101010101" pitchFamily="49" charset="-122"/>
              </a:rPr>
              <a:t>(</a:t>
            </a:r>
            <a:r>
              <a:rPr lang="zh-CN" altLang="en-US" sz="2400" dirty="0">
                <a:latin typeface="+mn-lt"/>
                <a:ea typeface="SimHei" panose="02010609060101010101" pitchFamily="49" charset="-122"/>
              </a:rPr>
              <a:t>如皂基</a:t>
            </a:r>
            <a:r>
              <a:rPr lang="en-US" altLang="zh-CN" sz="2400" dirty="0">
                <a:latin typeface="+mn-lt"/>
                <a:ea typeface="SimHei" panose="02010609060101010101" pitchFamily="49" charset="-122"/>
              </a:rPr>
              <a:t>)</a:t>
            </a:r>
            <a:r>
              <a:rPr lang="zh-CN" altLang="en-US" sz="2400" dirty="0">
                <a:latin typeface="+mn-lt"/>
                <a:ea typeface="SimHei" panose="02010609060101010101" pitchFamily="49" charset="-122"/>
              </a:rPr>
              <a:t>。</a:t>
            </a:r>
            <a:endParaRPr lang="en-US" altLang="zh-CN" sz="2400" dirty="0">
              <a:latin typeface="+mn-lt"/>
              <a:ea typeface="SimHei" panose="02010609060101010101" pitchFamily="49" charset="-122"/>
            </a:endParaRPr>
          </a:p>
          <a:p>
            <a:pPr marL="342900" indent="-342900">
              <a:lnSpc>
                <a:spcPct val="150000"/>
              </a:lnSpc>
              <a:buFont typeface="Arial" panose="020B0604020202020204" pitchFamily="34" charset="0"/>
              <a:buChar char="•"/>
            </a:pPr>
            <a:endParaRPr lang="en-US" altLang="zh-CN" sz="2400" dirty="0">
              <a:latin typeface="+mn-lt"/>
              <a:ea typeface="SimHei" panose="02010609060101010101" pitchFamily="49" charset="-122"/>
            </a:endParaRPr>
          </a:p>
        </p:txBody>
      </p:sp>
    </p:spTree>
    <p:extLst>
      <p:ext uri="{BB962C8B-B14F-4D97-AF65-F5344CB8AC3E}">
        <p14:creationId xmlns:p14="http://schemas.microsoft.com/office/powerpoint/2010/main" val="2027606087"/>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13E66A84-7A0D-278B-DFBA-FA1C7D0B2761}"/>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68</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583C27D9-72BE-7872-22F5-9A4EF4B4CF62}"/>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5A64B2A1-5A8A-2431-0CFC-E9336D1029A2}"/>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卸妆产品</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pic>
        <p:nvPicPr>
          <p:cNvPr id="12290" name="Picture 2" descr="给女警泼卸妆水-抖音">
            <a:extLst>
              <a:ext uri="{FF2B5EF4-FFF2-40B4-BE49-F238E27FC236}">
                <a16:creationId xmlns:a16="http://schemas.microsoft.com/office/drawing/2014/main" id="{7A41A240-5659-A1DC-67C7-27605FD6E02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3658" y="1403010"/>
            <a:ext cx="6256683" cy="46925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878901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69</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卸妆产品</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030057"/>
            <a:ext cx="8778240" cy="574581"/>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双层卸妆液</a:t>
            </a:r>
            <a:endParaRPr lang="en-US" altLang="zh-CN" sz="2400" dirty="0">
              <a:latin typeface="+mn-lt"/>
              <a:ea typeface="SimHei" panose="02010609060101010101" pitchFamily="49" charset="-122"/>
            </a:endParaRPr>
          </a:p>
        </p:txBody>
      </p:sp>
      <p:graphicFrame>
        <p:nvGraphicFramePr>
          <p:cNvPr id="5" name="表格 4">
            <a:extLst>
              <a:ext uri="{FF2B5EF4-FFF2-40B4-BE49-F238E27FC236}">
                <a16:creationId xmlns:a16="http://schemas.microsoft.com/office/drawing/2014/main" id="{892A8BA4-8D33-C2D4-DCFA-7289A1E25376}"/>
              </a:ext>
            </a:extLst>
          </p:cNvPr>
          <p:cNvGraphicFramePr>
            <a:graphicFrameLocks noGrp="1"/>
          </p:cNvGraphicFramePr>
          <p:nvPr>
            <p:extLst>
              <p:ext uri="{D42A27DB-BD31-4B8C-83A1-F6EECF244321}">
                <p14:modId xmlns:p14="http://schemas.microsoft.com/office/powerpoint/2010/main" val="3701745908"/>
              </p:ext>
            </p:extLst>
          </p:nvPr>
        </p:nvGraphicFramePr>
        <p:xfrm>
          <a:off x="182880" y="2651297"/>
          <a:ext cx="8778241" cy="3696494"/>
        </p:xfrm>
        <a:graphic>
          <a:graphicData uri="http://schemas.openxmlformats.org/drawingml/2006/table">
            <a:tbl>
              <a:tblPr firstRow="1" firstCol="1" bandRow="1">
                <a:tableStyleId>{72833802-FEF1-4C79-8D5D-14CF1EAF98D9}</a:tableStyleId>
              </a:tblPr>
              <a:tblGrid>
                <a:gridCol w="2055190">
                  <a:extLst>
                    <a:ext uri="{9D8B030D-6E8A-4147-A177-3AD203B41FA5}">
                      <a16:colId xmlns:a16="http://schemas.microsoft.com/office/drawing/2014/main" val="2902525808"/>
                    </a:ext>
                  </a:extLst>
                </a:gridCol>
                <a:gridCol w="3902365">
                  <a:extLst>
                    <a:ext uri="{9D8B030D-6E8A-4147-A177-3AD203B41FA5}">
                      <a16:colId xmlns:a16="http://schemas.microsoft.com/office/drawing/2014/main" val="1763597182"/>
                    </a:ext>
                  </a:extLst>
                </a:gridCol>
                <a:gridCol w="2820686">
                  <a:extLst>
                    <a:ext uri="{9D8B030D-6E8A-4147-A177-3AD203B41FA5}">
                      <a16:colId xmlns:a16="http://schemas.microsoft.com/office/drawing/2014/main" val="1602107041"/>
                    </a:ext>
                  </a:extLst>
                </a:gridCol>
              </a:tblGrid>
              <a:tr h="328112">
                <a:tc>
                  <a:txBody>
                    <a:bodyPr/>
                    <a:lstStyle/>
                    <a:p>
                      <a:pPr marL="526415" marR="0" eaLnBrk="0">
                        <a:lnSpc>
                          <a:spcPct val="91000"/>
                        </a:lnSpc>
                        <a:spcBef>
                          <a:spcPts val="520"/>
                        </a:spcBef>
                        <a:spcAft>
                          <a:spcPts val="0"/>
                        </a:spcAft>
                      </a:pPr>
                      <a:r>
                        <a:rPr lang="zh-CN" sz="1600" spc="-30">
                          <a:effectLst/>
                        </a:rPr>
                        <a:t>成</a:t>
                      </a:r>
                      <a:r>
                        <a:rPr lang="en-US" sz="1600" spc="25">
                          <a:effectLst/>
                        </a:rPr>
                        <a:t>  </a:t>
                      </a:r>
                      <a:r>
                        <a:rPr lang="zh-CN" sz="1600" spc="-30">
                          <a:effectLst/>
                        </a:rPr>
                        <a:t>分</a:t>
                      </a:r>
                      <a:endParaRPr lang="en-US" sz="1600">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1241425" marR="0" eaLnBrk="0">
                        <a:lnSpc>
                          <a:spcPct val="92000"/>
                        </a:lnSpc>
                        <a:spcBef>
                          <a:spcPts val="525"/>
                        </a:spcBef>
                        <a:spcAft>
                          <a:spcPts val="0"/>
                        </a:spcAft>
                      </a:pPr>
                      <a:r>
                        <a:rPr lang="zh-CN" sz="1600" spc="-35">
                          <a:effectLst/>
                        </a:rPr>
                        <a:t>功</a:t>
                      </a:r>
                      <a:r>
                        <a:rPr lang="en-US" sz="1600" spc="100">
                          <a:effectLst/>
                        </a:rPr>
                        <a:t>  </a:t>
                      </a:r>
                      <a:r>
                        <a:rPr lang="zh-CN" sz="1600" spc="-35">
                          <a:effectLst/>
                        </a:rPr>
                        <a:t>能</a:t>
                      </a:r>
                      <a:endParaRPr lang="en-US" sz="1600">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802640" marR="0" eaLnBrk="0">
                        <a:lnSpc>
                          <a:spcPct val="91000"/>
                        </a:lnSpc>
                        <a:spcBef>
                          <a:spcPts val="520"/>
                        </a:spcBef>
                        <a:spcAft>
                          <a:spcPts val="0"/>
                        </a:spcAft>
                      </a:pPr>
                      <a:r>
                        <a:rPr lang="zh-CN" sz="1600" spc="20">
                          <a:effectLst/>
                        </a:rPr>
                        <a:t>原料示例</a:t>
                      </a:r>
                      <a:endParaRPr lang="en-US" sz="1600">
                        <a:solidFill>
                          <a:srgbClr val="000000"/>
                        </a:solidFill>
                        <a:effectLst/>
                        <a:latin typeface="Arial" panose="020B0604020202020204" pitchFamily="34" charset="0"/>
                        <a:ea typeface="Arial" panose="020B0604020202020204" pitchFamily="34" charset="0"/>
                      </a:endParaRPr>
                    </a:p>
                  </a:txBody>
                  <a:tcPr marL="0" marR="0" marT="0" marB="0"/>
                </a:tc>
                <a:extLst>
                  <a:ext uri="{0D108BD9-81ED-4DB2-BD59-A6C34878D82A}">
                    <a16:rowId xmlns:a16="http://schemas.microsoft.com/office/drawing/2014/main" val="1306385479"/>
                  </a:ext>
                </a:extLst>
              </a:tr>
              <a:tr h="3368382">
                <a:tc>
                  <a:txBody>
                    <a:bodyPr/>
                    <a:lstStyle/>
                    <a:p>
                      <a:pPr marL="139065" marR="0" eaLnBrk="0">
                        <a:lnSpc>
                          <a:spcPts val="2040"/>
                        </a:lnSpc>
                        <a:spcBef>
                          <a:spcPts val="505"/>
                        </a:spcBef>
                        <a:spcAft>
                          <a:spcPts val="0"/>
                        </a:spcAft>
                      </a:pPr>
                      <a:r>
                        <a:rPr lang="zh-CN" sz="1600" spc="25">
                          <a:effectLst/>
                        </a:rPr>
                        <a:t>油脂</a:t>
                      </a:r>
                      <a:endParaRPr lang="en-US" sz="1600">
                        <a:effectLst/>
                      </a:endParaRPr>
                    </a:p>
                    <a:p>
                      <a:pPr marL="139065" marR="0" eaLnBrk="0">
                        <a:lnSpc>
                          <a:spcPct val="91000"/>
                        </a:lnSpc>
                        <a:spcBef>
                          <a:spcPts val="0"/>
                        </a:spcBef>
                        <a:spcAft>
                          <a:spcPts val="0"/>
                        </a:spcAft>
                      </a:pPr>
                      <a:r>
                        <a:rPr lang="zh-CN" sz="1600">
                          <a:effectLst/>
                        </a:rPr>
                        <a:t>水</a:t>
                      </a:r>
                      <a:endParaRPr lang="en-US" sz="1600">
                        <a:effectLst/>
                      </a:endParaRPr>
                    </a:p>
                    <a:p>
                      <a:pPr marL="139065" marR="0" eaLnBrk="0">
                        <a:lnSpc>
                          <a:spcPct val="91000"/>
                        </a:lnSpc>
                        <a:spcBef>
                          <a:spcPts val="745"/>
                        </a:spcBef>
                        <a:spcAft>
                          <a:spcPts val="0"/>
                        </a:spcAft>
                      </a:pPr>
                      <a:r>
                        <a:rPr lang="zh-CN" sz="1600" spc="15">
                          <a:effectLst/>
                        </a:rPr>
                        <a:t>多元醇</a:t>
                      </a:r>
                      <a:endParaRPr lang="en-US" sz="1600">
                        <a:effectLst/>
                      </a:endParaRPr>
                    </a:p>
                    <a:p>
                      <a:pPr marL="139065" marR="0" eaLnBrk="0">
                        <a:lnSpc>
                          <a:spcPct val="91000"/>
                        </a:lnSpc>
                        <a:spcBef>
                          <a:spcPts val="675"/>
                        </a:spcBef>
                        <a:spcAft>
                          <a:spcPts val="0"/>
                        </a:spcAft>
                      </a:pPr>
                      <a:r>
                        <a:rPr lang="zh-CN" sz="1600" spc="20">
                          <a:effectLst/>
                        </a:rPr>
                        <a:t>乳化剂</a:t>
                      </a:r>
                      <a:endParaRPr lang="en-US" sz="1600">
                        <a:effectLst/>
                      </a:endParaRPr>
                    </a:p>
                    <a:p>
                      <a:pPr marL="139065" marR="0" eaLnBrk="0">
                        <a:lnSpc>
                          <a:spcPct val="91000"/>
                        </a:lnSpc>
                        <a:spcBef>
                          <a:spcPts val="695"/>
                        </a:spcBef>
                        <a:spcAft>
                          <a:spcPts val="0"/>
                        </a:spcAft>
                      </a:pPr>
                      <a:r>
                        <a:rPr lang="zh-CN" sz="1600" spc="20">
                          <a:effectLst/>
                        </a:rPr>
                        <a:t>防腐剂</a:t>
                      </a:r>
                      <a:endParaRPr lang="en-US" sz="1600">
                        <a:effectLst/>
                      </a:endParaRPr>
                    </a:p>
                    <a:p>
                      <a:pPr marL="139065" marR="0" eaLnBrk="0">
                        <a:lnSpc>
                          <a:spcPts val="2005"/>
                        </a:lnSpc>
                        <a:spcBef>
                          <a:spcPts val="795"/>
                        </a:spcBef>
                        <a:spcAft>
                          <a:spcPts val="0"/>
                        </a:spcAft>
                      </a:pPr>
                      <a:r>
                        <a:rPr lang="zh-CN" sz="1600" spc="15">
                          <a:effectLst/>
                        </a:rPr>
                        <a:t>抗氧化剂</a:t>
                      </a:r>
                      <a:endParaRPr lang="en-US" sz="1600">
                        <a:effectLst/>
                      </a:endParaRPr>
                    </a:p>
                    <a:p>
                      <a:pPr marL="139065" marR="0" eaLnBrk="0">
                        <a:lnSpc>
                          <a:spcPct val="90000"/>
                        </a:lnSpc>
                        <a:spcBef>
                          <a:spcPts val="0"/>
                        </a:spcBef>
                        <a:spcAft>
                          <a:spcPts val="0"/>
                        </a:spcAft>
                      </a:pPr>
                      <a:r>
                        <a:rPr lang="zh-CN" sz="1600" spc="-15">
                          <a:effectLst/>
                        </a:rPr>
                        <a:t>无机盐</a:t>
                      </a:r>
                      <a:endParaRPr lang="en-US" sz="1600">
                        <a:effectLst/>
                      </a:endParaRPr>
                    </a:p>
                    <a:p>
                      <a:pPr marL="139065" marR="0" eaLnBrk="0">
                        <a:lnSpc>
                          <a:spcPct val="91000"/>
                        </a:lnSpc>
                        <a:spcBef>
                          <a:spcPts val="595"/>
                        </a:spcBef>
                        <a:spcAft>
                          <a:spcPts val="0"/>
                        </a:spcAft>
                      </a:pPr>
                      <a:r>
                        <a:rPr lang="zh-CN" sz="1600" spc="-10">
                          <a:effectLst/>
                        </a:rPr>
                        <a:t>香精和香料</a:t>
                      </a:r>
                      <a:endParaRPr lang="en-US" sz="1600">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148590" marR="0" eaLnBrk="0">
                        <a:lnSpc>
                          <a:spcPts val="2050"/>
                        </a:lnSpc>
                        <a:spcBef>
                          <a:spcPts val="445"/>
                        </a:spcBef>
                        <a:spcAft>
                          <a:spcPts val="0"/>
                        </a:spcAft>
                      </a:pPr>
                      <a:r>
                        <a:rPr lang="zh-CN" sz="1600" spc="-5">
                          <a:effectLst/>
                        </a:rPr>
                        <a:t>分散溶解油性污垢，防止过度清洁</a:t>
                      </a:r>
                      <a:endParaRPr lang="en-US" sz="1600">
                        <a:effectLst/>
                      </a:endParaRPr>
                    </a:p>
                    <a:p>
                      <a:pPr marL="148590" marR="0" eaLnBrk="0">
                        <a:lnSpc>
                          <a:spcPct val="91000"/>
                        </a:lnSpc>
                        <a:spcBef>
                          <a:spcPts val="0"/>
                        </a:spcBef>
                        <a:spcAft>
                          <a:spcPts val="0"/>
                        </a:spcAft>
                      </a:pPr>
                      <a:r>
                        <a:rPr lang="zh-CN" sz="1600" spc="10">
                          <a:effectLst/>
                        </a:rPr>
                        <a:t>降低油腻</a:t>
                      </a:r>
                      <a:endParaRPr lang="en-US" sz="1600">
                        <a:effectLst/>
                      </a:endParaRPr>
                    </a:p>
                    <a:p>
                      <a:pPr marL="148590" marR="0" eaLnBrk="0">
                        <a:lnSpc>
                          <a:spcPts val="2010"/>
                        </a:lnSpc>
                        <a:spcBef>
                          <a:spcPts val="690"/>
                        </a:spcBef>
                        <a:spcAft>
                          <a:spcPts val="0"/>
                        </a:spcAft>
                      </a:pPr>
                      <a:r>
                        <a:rPr lang="zh-CN" sz="1600" spc="-5">
                          <a:effectLst/>
                        </a:rPr>
                        <a:t>保湿、调节肤感、折光</a:t>
                      </a:r>
                      <a:endParaRPr lang="en-US" sz="1600">
                        <a:effectLst/>
                      </a:endParaRPr>
                    </a:p>
                    <a:p>
                      <a:pPr marL="148590" marR="0" eaLnBrk="0">
                        <a:lnSpc>
                          <a:spcPct val="91000"/>
                        </a:lnSpc>
                        <a:spcBef>
                          <a:spcPts val="0"/>
                        </a:spcBef>
                        <a:spcAft>
                          <a:spcPts val="0"/>
                        </a:spcAft>
                      </a:pPr>
                      <a:r>
                        <a:rPr lang="zh-CN" sz="1600" spc="10">
                          <a:effectLst/>
                        </a:rPr>
                        <a:t>形成</a:t>
                      </a:r>
                      <a:r>
                        <a:rPr lang="en-US" sz="1600" spc="10">
                          <a:effectLst/>
                        </a:rPr>
                        <a:t>W/O</a:t>
                      </a:r>
                      <a:r>
                        <a:rPr lang="zh-CN" sz="1600" spc="10">
                          <a:effectLst/>
                        </a:rPr>
                        <a:t>体系</a:t>
                      </a:r>
                      <a:endParaRPr lang="en-US" sz="1600">
                        <a:effectLst/>
                      </a:endParaRPr>
                    </a:p>
                    <a:p>
                      <a:pPr marL="148590" marR="0" eaLnBrk="0">
                        <a:lnSpc>
                          <a:spcPct val="91000"/>
                        </a:lnSpc>
                        <a:spcBef>
                          <a:spcPts val="780"/>
                        </a:spcBef>
                        <a:spcAft>
                          <a:spcPts val="0"/>
                        </a:spcAft>
                      </a:pPr>
                      <a:r>
                        <a:rPr lang="zh-CN" sz="1600" spc="-10">
                          <a:effectLst/>
                        </a:rPr>
                        <a:t>抑制微生物生长</a:t>
                      </a:r>
                      <a:endParaRPr lang="en-US" sz="1600">
                        <a:effectLst/>
                      </a:endParaRPr>
                    </a:p>
                    <a:p>
                      <a:pPr marL="148590" marR="0" eaLnBrk="0">
                        <a:lnSpc>
                          <a:spcPts val="2055"/>
                        </a:lnSpc>
                        <a:spcBef>
                          <a:spcPts val="690"/>
                        </a:spcBef>
                        <a:spcAft>
                          <a:spcPts val="0"/>
                        </a:spcAft>
                      </a:pPr>
                      <a:r>
                        <a:rPr lang="zh-CN" sz="1600" spc="10">
                          <a:effectLst/>
                        </a:rPr>
                        <a:t>抑制或防止产品氧化变质</a:t>
                      </a:r>
                      <a:endParaRPr lang="en-US" sz="1600">
                        <a:effectLst/>
                      </a:endParaRPr>
                    </a:p>
                    <a:p>
                      <a:pPr marL="148590" marR="0" eaLnBrk="0">
                        <a:lnSpc>
                          <a:spcPct val="91000"/>
                        </a:lnSpc>
                        <a:spcBef>
                          <a:spcPts val="0"/>
                        </a:spcBef>
                        <a:spcAft>
                          <a:spcPts val="0"/>
                        </a:spcAft>
                      </a:pPr>
                      <a:r>
                        <a:rPr lang="zh-CN" sz="1600" spc="-10">
                          <a:effectLst/>
                        </a:rPr>
                        <a:t>加快破乳</a:t>
                      </a:r>
                      <a:endParaRPr lang="en-US" sz="1600">
                        <a:effectLst/>
                      </a:endParaRPr>
                    </a:p>
                    <a:p>
                      <a:pPr marL="148590" marR="0" eaLnBrk="0">
                        <a:lnSpc>
                          <a:spcPct val="92000"/>
                        </a:lnSpc>
                        <a:spcBef>
                          <a:spcPts val="595"/>
                        </a:spcBef>
                        <a:spcAft>
                          <a:spcPts val="0"/>
                        </a:spcAft>
                      </a:pPr>
                      <a:r>
                        <a:rPr lang="zh-CN" sz="1600" spc="25">
                          <a:effectLst/>
                        </a:rPr>
                        <a:t>赋香</a:t>
                      </a:r>
                      <a:endParaRPr lang="en-US" sz="1600">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0" marR="0" eaLnBrk="0">
                        <a:lnSpc>
                          <a:spcPct val="113000"/>
                        </a:lnSpc>
                        <a:spcBef>
                          <a:spcPts val="0"/>
                        </a:spcBef>
                        <a:spcAft>
                          <a:spcPts val="0"/>
                        </a:spcAft>
                      </a:pPr>
                      <a:r>
                        <a:rPr lang="en-US" sz="1600" dirty="0">
                          <a:effectLst/>
                        </a:rPr>
                        <a:t> </a:t>
                      </a:r>
                    </a:p>
                    <a:p>
                      <a:pPr marL="0" marR="0" eaLnBrk="0">
                        <a:lnSpc>
                          <a:spcPct val="113000"/>
                        </a:lnSpc>
                        <a:spcBef>
                          <a:spcPts val="0"/>
                        </a:spcBef>
                        <a:spcAft>
                          <a:spcPts val="0"/>
                        </a:spcAft>
                      </a:pPr>
                      <a:r>
                        <a:rPr lang="en-US" sz="1600" dirty="0">
                          <a:effectLst/>
                        </a:rPr>
                        <a:t> </a:t>
                      </a:r>
                    </a:p>
                    <a:p>
                      <a:pPr marL="0" marR="0" eaLnBrk="0">
                        <a:lnSpc>
                          <a:spcPct val="114000"/>
                        </a:lnSpc>
                        <a:spcBef>
                          <a:spcPts val="0"/>
                        </a:spcBef>
                        <a:spcAft>
                          <a:spcPts val="0"/>
                        </a:spcAft>
                      </a:pPr>
                      <a:r>
                        <a:rPr lang="en-US" sz="1600" dirty="0">
                          <a:effectLst/>
                        </a:rPr>
                        <a:t> </a:t>
                      </a:r>
                      <a:r>
                        <a:rPr lang="zh-CN" sz="1600" spc="-5" dirty="0">
                          <a:effectLst/>
                        </a:rPr>
                        <a:t>甘油、</a:t>
                      </a:r>
                      <a:r>
                        <a:rPr lang="en-US" sz="1600" spc="-5" dirty="0">
                          <a:effectLst/>
                        </a:rPr>
                        <a:t>1,3-</a:t>
                      </a:r>
                      <a:r>
                        <a:rPr lang="zh-CN" sz="1600" spc="-5" dirty="0">
                          <a:effectLst/>
                        </a:rPr>
                        <a:t>丙二醇</a:t>
                      </a:r>
                      <a:endParaRPr lang="en-US" sz="1600" dirty="0">
                        <a:effectLst/>
                      </a:endParaRPr>
                    </a:p>
                    <a:p>
                      <a:pPr marL="154940" marR="0" eaLnBrk="0">
                        <a:lnSpc>
                          <a:spcPct val="91000"/>
                        </a:lnSpc>
                        <a:spcBef>
                          <a:spcPts val="825"/>
                        </a:spcBef>
                        <a:spcAft>
                          <a:spcPts val="0"/>
                        </a:spcAft>
                      </a:pPr>
                      <a:r>
                        <a:rPr lang="zh-CN" sz="1600" spc="15" dirty="0">
                          <a:effectLst/>
                        </a:rPr>
                        <a:t>水溶性油脂</a:t>
                      </a:r>
                      <a:r>
                        <a:rPr lang="en-US" sz="1600" spc="15" dirty="0">
                          <a:effectLst/>
                        </a:rPr>
                        <a:t>(</a:t>
                      </a:r>
                      <a:r>
                        <a:rPr lang="zh-CN" sz="1600" spc="15" dirty="0">
                          <a:effectLst/>
                        </a:rPr>
                        <a:t>亲水性不太强</a:t>
                      </a:r>
                      <a:r>
                        <a:rPr lang="en-US" sz="1600" spc="15" dirty="0">
                          <a:effectLst/>
                        </a:rPr>
                        <a:t>)</a:t>
                      </a:r>
                      <a:endParaRPr lang="en-US" sz="1600" dirty="0">
                        <a:effectLst/>
                      </a:endParaRPr>
                    </a:p>
                    <a:p>
                      <a:pPr marL="0" marR="0" eaLnBrk="0">
                        <a:lnSpc>
                          <a:spcPct val="104000"/>
                        </a:lnSpc>
                        <a:spcBef>
                          <a:spcPts val="0"/>
                        </a:spcBef>
                        <a:spcAft>
                          <a:spcPts val="0"/>
                        </a:spcAft>
                      </a:pPr>
                      <a:r>
                        <a:rPr lang="en-US" sz="1600" dirty="0">
                          <a:effectLst/>
                        </a:rPr>
                        <a:t> </a:t>
                      </a:r>
                    </a:p>
                    <a:p>
                      <a:pPr marL="0" marR="0" eaLnBrk="0">
                        <a:lnSpc>
                          <a:spcPct val="104000"/>
                        </a:lnSpc>
                        <a:spcBef>
                          <a:spcPts val="0"/>
                        </a:spcBef>
                        <a:spcAft>
                          <a:spcPts val="0"/>
                        </a:spcAft>
                      </a:pPr>
                      <a:r>
                        <a:rPr lang="en-US" sz="1600" dirty="0">
                          <a:effectLst/>
                        </a:rPr>
                        <a:t> </a:t>
                      </a:r>
                      <a:r>
                        <a:rPr lang="en-US" sz="1600" spc="-5" dirty="0">
                          <a:effectLst/>
                        </a:rPr>
                        <a:t>BHT</a:t>
                      </a:r>
                      <a:endParaRPr lang="en-US" sz="1600" dirty="0">
                        <a:effectLst/>
                      </a:endParaRPr>
                    </a:p>
                    <a:p>
                      <a:pPr marL="154940" marR="0" eaLnBrk="0">
                        <a:lnSpc>
                          <a:spcPct val="92000"/>
                        </a:lnSpc>
                        <a:spcBef>
                          <a:spcPts val="730"/>
                        </a:spcBef>
                        <a:spcAft>
                          <a:spcPts val="0"/>
                        </a:spcAft>
                      </a:pPr>
                      <a:r>
                        <a:rPr lang="zh-CN" sz="1600" spc="20" dirty="0">
                          <a:effectLst/>
                        </a:rPr>
                        <a:t>氯化钠</a:t>
                      </a:r>
                      <a:endParaRPr lang="en-US" sz="1600" dirty="0">
                        <a:solidFill>
                          <a:srgbClr val="000000"/>
                        </a:solidFill>
                        <a:effectLst/>
                        <a:latin typeface="Arial" panose="020B0604020202020204" pitchFamily="34" charset="0"/>
                        <a:ea typeface="Arial" panose="020B0604020202020204" pitchFamily="34" charset="0"/>
                      </a:endParaRPr>
                    </a:p>
                  </a:txBody>
                  <a:tcPr marL="0" marR="0" marT="0" marB="0"/>
                </a:tc>
                <a:extLst>
                  <a:ext uri="{0D108BD9-81ED-4DB2-BD59-A6C34878D82A}">
                    <a16:rowId xmlns:a16="http://schemas.microsoft.com/office/drawing/2014/main" val="2225853913"/>
                  </a:ext>
                </a:extLst>
              </a:tr>
            </a:tbl>
          </a:graphicData>
        </a:graphic>
      </p:graphicFrame>
    </p:spTree>
    <p:extLst>
      <p:ext uri="{BB962C8B-B14F-4D97-AF65-F5344CB8AC3E}">
        <p14:creationId xmlns:p14="http://schemas.microsoft.com/office/powerpoint/2010/main" val="245439033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70</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卸妆产品</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030057"/>
            <a:ext cx="8778240" cy="5563831"/>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b="1" dirty="0">
                <a:latin typeface="+mn-lt"/>
                <a:ea typeface="SimHei" panose="02010609060101010101" pitchFamily="49" charset="-122"/>
              </a:rPr>
              <a:t>油脂</a:t>
            </a:r>
            <a:r>
              <a:rPr lang="zh-CN" altLang="en-US" sz="2400" dirty="0">
                <a:latin typeface="+mn-lt"/>
                <a:ea typeface="SimHei" panose="02010609060101010101" pitchFamily="49" charset="-122"/>
              </a:rPr>
              <a:t>：卸妆液作为一种清洁产品，油脂在体系中占到约</a:t>
            </a:r>
            <a:r>
              <a:rPr lang="en-US" altLang="zh-CN" sz="2400" dirty="0">
                <a:latin typeface="+mn-lt"/>
                <a:ea typeface="SimHei" panose="02010609060101010101" pitchFamily="49" charset="-122"/>
              </a:rPr>
              <a:t>40%,</a:t>
            </a:r>
            <a:r>
              <a:rPr lang="zh-CN" altLang="en-US" sz="2400" dirty="0">
                <a:latin typeface="+mn-lt"/>
                <a:ea typeface="SimHei" panose="02010609060101010101" pitchFamily="49" charset="-122"/>
              </a:rPr>
              <a:t>是很关键的一个组分：</a:t>
            </a:r>
            <a:endParaRPr lang="en-US" altLang="zh-CN" sz="2400" dirty="0">
              <a:latin typeface="+mn-lt"/>
              <a:ea typeface="SimHei" panose="02010609060101010101" pitchFamily="49" charset="-122"/>
            </a:endParaRPr>
          </a:p>
          <a:p>
            <a:pPr>
              <a:lnSpc>
                <a:spcPct val="150000"/>
              </a:lnSpc>
            </a:pPr>
            <a:r>
              <a:rPr lang="zh-CN" altLang="en-US" sz="2400" dirty="0">
                <a:latin typeface="+mn-lt"/>
                <a:ea typeface="SimHei" panose="02010609060101010101" pitchFamily="49" charset="-122"/>
              </a:rPr>
              <a:t>① 液态油脂；</a:t>
            </a:r>
          </a:p>
          <a:p>
            <a:pPr>
              <a:lnSpc>
                <a:spcPct val="150000"/>
              </a:lnSpc>
            </a:pPr>
            <a:r>
              <a:rPr lang="zh-CN" altLang="en-US" sz="2400" dirty="0">
                <a:latin typeface="+mn-lt"/>
                <a:ea typeface="SimHei" panose="02010609060101010101" pitchFamily="49" charset="-122"/>
              </a:rPr>
              <a:t>② 矿物油脂与合成油脂的复配；</a:t>
            </a:r>
          </a:p>
          <a:p>
            <a:pPr>
              <a:lnSpc>
                <a:spcPct val="150000"/>
              </a:lnSpc>
            </a:pPr>
            <a:r>
              <a:rPr lang="zh-CN" altLang="en-US" sz="2400" dirty="0">
                <a:latin typeface="+mn-lt"/>
                <a:ea typeface="SimHei" panose="02010609060101010101" pitchFamily="49" charset="-122"/>
              </a:rPr>
              <a:t>③ 肤感清爽不油腻；</a:t>
            </a:r>
          </a:p>
          <a:p>
            <a:pPr>
              <a:lnSpc>
                <a:spcPct val="150000"/>
              </a:lnSpc>
            </a:pPr>
            <a:r>
              <a:rPr lang="zh-CN" altLang="en-US" sz="2400" dirty="0">
                <a:latin typeface="+mn-lt"/>
                <a:ea typeface="SimHei" panose="02010609060101010101" pitchFamily="49" charset="-122"/>
              </a:rPr>
              <a:t>④ 性价比良好。</a:t>
            </a:r>
            <a:endParaRPr lang="en-US" altLang="zh-CN" sz="2400" dirty="0">
              <a:latin typeface="+mn-lt"/>
              <a:ea typeface="SimHei" panose="02010609060101010101" pitchFamily="49" charset="-122"/>
            </a:endParaRPr>
          </a:p>
          <a:p>
            <a:pPr marL="342900" indent="-342900">
              <a:lnSpc>
                <a:spcPct val="150000"/>
              </a:lnSpc>
              <a:buFont typeface="Arial" panose="020B0604020202020204" pitchFamily="34" charset="0"/>
              <a:buChar char="•"/>
            </a:pPr>
            <a:r>
              <a:rPr lang="zh-CN" altLang="en-US" sz="2400" dirty="0">
                <a:latin typeface="KaiTi" panose="02010609060101010101" pitchFamily="49" charset="-122"/>
                <a:ea typeface="KaiTi" panose="02010609060101010101" pitchFamily="49" charset="-122"/>
              </a:rPr>
              <a:t>常用的油脂包括：矿物油、硅油、二辛基醚、辛酸丙基庚酯、氢化聚异丁烯、异壬酸异壬酯等。</a:t>
            </a:r>
          </a:p>
          <a:p>
            <a:pPr marL="342900" indent="-342900">
              <a:lnSpc>
                <a:spcPct val="150000"/>
              </a:lnSpc>
              <a:buFont typeface="Arial" panose="020B0604020202020204" pitchFamily="34" charset="0"/>
              <a:buChar char="•"/>
            </a:pPr>
            <a:endParaRPr lang="zh-CN" altLang="en-US" sz="2400" dirty="0">
              <a:latin typeface="+mn-lt"/>
              <a:ea typeface="SimHei" panose="02010609060101010101" pitchFamily="49" charset="-122"/>
            </a:endParaRPr>
          </a:p>
          <a:p>
            <a:pPr>
              <a:lnSpc>
                <a:spcPct val="150000"/>
              </a:lnSpc>
            </a:pPr>
            <a:endParaRPr lang="en-US" altLang="zh-CN" sz="2400" dirty="0">
              <a:latin typeface="+mn-lt"/>
              <a:ea typeface="SimHei" panose="02010609060101010101" pitchFamily="49" charset="-122"/>
            </a:endParaRPr>
          </a:p>
        </p:txBody>
      </p:sp>
    </p:spTree>
    <p:extLst>
      <p:ext uri="{BB962C8B-B14F-4D97-AF65-F5344CB8AC3E}">
        <p14:creationId xmlns:p14="http://schemas.microsoft.com/office/powerpoint/2010/main" val="5837003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71</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卸妆产品：配方与工艺</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030057"/>
            <a:ext cx="8778240" cy="574581"/>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400" dirty="0">
                <a:latin typeface="+mn-lt"/>
                <a:ea typeface="SimHei" panose="02010609060101010101" pitchFamily="49" charset="-122"/>
              </a:rPr>
              <a:t>双层卸妆液</a:t>
            </a:r>
            <a:endParaRPr lang="en-US" altLang="zh-CN" sz="2400" dirty="0">
              <a:latin typeface="+mn-lt"/>
              <a:ea typeface="SimHei" panose="02010609060101010101" pitchFamily="49" charset="-122"/>
            </a:endParaRPr>
          </a:p>
        </p:txBody>
      </p:sp>
      <p:graphicFrame>
        <p:nvGraphicFramePr>
          <p:cNvPr id="5" name="表格 4">
            <a:extLst>
              <a:ext uri="{FF2B5EF4-FFF2-40B4-BE49-F238E27FC236}">
                <a16:creationId xmlns:a16="http://schemas.microsoft.com/office/drawing/2014/main" id="{478A893C-E2FB-0B1C-CE56-F57A71426201}"/>
              </a:ext>
            </a:extLst>
          </p:cNvPr>
          <p:cNvGraphicFramePr>
            <a:graphicFrameLocks noGrp="1"/>
          </p:cNvGraphicFramePr>
          <p:nvPr>
            <p:extLst>
              <p:ext uri="{D42A27DB-BD31-4B8C-83A1-F6EECF244321}">
                <p14:modId xmlns:p14="http://schemas.microsoft.com/office/powerpoint/2010/main" val="666870099"/>
              </p:ext>
            </p:extLst>
          </p:nvPr>
        </p:nvGraphicFramePr>
        <p:xfrm>
          <a:off x="182880" y="1939863"/>
          <a:ext cx="8778240" cy="2141807"/>
        </p:xfrm>
        <a:graphic>
          <a:graphicData uri="http://schemas.openxmlformats.org/drawingml/2006/table">
            <a:tbl>
              <a:tblPr firstRow="1" firstCol="1" bandRow="1">
                <a:tableStyleId>{72833802-FEF1-4C79-8D5D-14CF1EAF98D9}</a:tableStyleId>
              </a:tblPr>
              <a:tblGrid>
                <a:gridCol w="1067422">
                  <a:extLst>
                    <a:ext uri="{9D8B030D-6E8A-4147-A177-3AD203B41FA5}">
                      <a16:colId xmlns:a16="http://schemas.microsoft.com/office/drawing/2014/main" val="811705859"/>
                    </a:ext>
                  </a:extLst>
                </a:gridCol>
                <a:gridCol w="1784013">
                  <a:extLst>
                    <a:ext uri="{9D8B030D-6E8A-4147-A177-3AD203B41FA5}">
                      <a16:colId xmlns:a16="http://schemas.microsoft.com/office/drawing/2014/main" val="1127782404"/>
                    </a:ext>
                  </a:extLst>
                </a:gridCol>
                <a:gridCol w="1067422">
                  <a:extLst>
                    <a:ext uri="{9D8B030D-6E8A-4147-A177-3AD203B41FA5}">
                      <a16:colId xmlns:a16="http://schemas.microsoft.com/office/drawing/2014/main" val="910856556"/>
                    </a:ext>
                  </a:extLst>
                </a:gridCol>
                <a:gridCol w="1828800">
                  <a:extLst>
                    <a:ext uri="{9D8B030D-6E8A-4147-A177-3AD203B41FA5}">
                      <a16:colId xmlns:a16="http://schemas.microsoft.com/office/drawing/2014/main" val="1426229771"/>
                    </a:ext>
                  </a:extLst>
                </a:gridCol>
                <a:gridCol w="1828800">
                  <a:extLst>
                    <a:ext uri="{9D8B030D-6E8A-4147-A177-3AD203B41FA5}">
                      <a16:colId xmlns:a16="http://schemas.microsoft.com/office/drawing/2014/main" val="1137949044"/>
                    </a:ext>
                  </a:extLst>
                </a:gridCol>
                <a:gridCol w="1201783">
                  <a:extLst>
                    <a:ext uri="{9D8B030D-6E8A-4147-A177-3AD203B41FA5}">
                      <a16:colId xmlns:a16="http://schemas.microsoft.com/office/drawing/2014/main" val="2966115209"/>
                    </a:ext>
                  </a:extLst>
                </a:gridCol>
              </a:tblGrid>
              <a:tr h="510118">
                <a:tc>
                  <a:txBody>
                    <a:bodyPr/>
                    <a:lstStyle/>
                    <a:p>
                      <a:pPr marL="234950" marR="0" eaLnBrk="0">
                        <a:lnSpc>
                          <a:spcPct val="92000"/>
                        </a:lnSpc>
                        <a:spcBef>
                          <a:spcPts val="485"/>
                        </a:spcBef>
                        <a:spcAft>
                          <a:spcPts val="0"/>
                        </a:spcAft>
                      </a:pPr>
                      <a:r>
                        <a:rPr lang="zh-CN" sz="1800" spc="45">
                          <a:effectLst/>
                        </a:rPr>
                        <a:t>组相</a:t>
                      </a:r>
                      <a:endParaRPr lang="en-US" sz="1800">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479425" marR="0" eaLnBrk="0">
                        <a:lnSpc>
                          <a:spcPct val="91000"/>
                        </a:lnSpc>
                        <a:spcBef>
                          <a:spcPts val="475"/>
                        </a:spcBef>
                        <a:spcAft>
                          <a:spcPts val="0"/>
                        </a:spcAft>
                      </a:pPr>
                      <a:r>
                        <a:rPr lang="zh-CN" sz="1800" spc="10">
                          <a:effectLst/>
                        </a:rPr>
                        <a:t>原料名称</a:t>
                      </a:r>
                      <a:endParaRPr lang="en-US" sz="1800">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85725" marR="0" eaLnBrk="0">
                        <a:lnSpc>
                          <a:spcPct val="91000"/>
                        </a:lnSpc>
                        <a:spcBef>
                          <a:spcPts val="470"/>
                        </a:spcBef>
                        <a:spcAft>
                          <a:spcPts val="0"/>
                        </a:spcAft>
                      </a:pPr>
                      <a:r>
                        <a:rPr lang="zh-CN" sz="1800" spc="-10">
                          <a:effectLst/>
                        </a:rPr>
                        <a:t>质量分数</a:t>
                      </a:r>
                      <a:r>
                        <a:rPr lang="en-US" sz="1800" spc="-10">
                          <a:effectLst/>
                        </a:rPr>
                        <a:t>/%</a:t>
                      </a:r>
                      <a:endParaRPr lang="en-US" sz="1800">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301625" marR="0" eaLnBrk="0">
                        <a:lnSpc>
                          <a:spcPct val="92000"/>
                        </a:lnSpc>
                        <a:spcBef>
                          <a:spcPts val="485"/>
                        </a:spcBef>
                        <a:spcAft>
                          <a:spcPts val="0"/>
                        </a:spcAft>
                      </a:pPr>
                      <a:r>
                        <a:rPr lang="zh-CN" sz="1800" spc="45">
                          <a:effectLst/>
                        </a:rPr>
                        <a:t>组相</a:t>
                      </a:r>
                      <a:endParaRPr lang="en-US" sz="1800">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511175" marR="0" eaLnBrk="0">
                        <a:lnSpc>
                          <a:spcPct val="91000"/>
                        </a:lnSpc>
                        <a:spcBef>
                          <a:spcPts val="475"/>
                        </a:spcBef>
                        <a:spcAft>
                          <a:spcPts val="0"/>
                        </a:spcAft>
                      </a:pPr>
                      <a:r>
                        <a:rPr lang="zh-CN" sz="1800" spc="10">
                          <a:effectLst/>
                        </a:rPr>
                        <a:t>原料名称</a:t>
                      </a:r>
                      <a:endParaRPr lang="en-US" sz="1800">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142875" marR="0" eaLnBrk="0">
                        <a:lnSpc>
                          <a:spcPct val="91000"/>
                        </a:lnSpc>
                        <a:spcBef>
                          <a:spcPts val="470"/>
                        </a:spcBef>
                        <a:spcAft>
                          <a:spcPts val="0"/>
                        </a:spcAft>
                      </a:pPr>
                      <a:r>
                        <a:rPr lang="zh-CN" sz="1800" spc="-10">
                          <a:effectLst/>
                        </a:rPr>
                        <a:t>质量分数</a:t>
                      </a:r>
                      <a:r>
                        <a:rPr lang="en-US" sz="1800" spc="-10">
                          <a:effectLst/>
                        </a:rPr>
                        <a:t>/%</a:t>
                      </a:r>
                      <a:endParaRPr lang="en-US" sz="1800">
                        <a:solidFill>
                          <a:srgbClr val="000000"/>
                        </a:solidFill>
                        <a:effectLst/>
                        <a:latin typeface="Arial" panose="020B0604020202020204" pitchFamily="34" charset="0"/>
                        <a:ea typeface="Arial" panose="020B0604020202020204" pitchFamily="34" charset="0"/>
                      </a:endParaRPr>
                    </a:p>
                  </a:txBody>
                  <a:tcPr marL="0" marR="0" marT="0" marB="0"/>
                </a:tc>
                <a:extLst>
                  <a:ext uri="{0D108BD9-81ED-4DB2-BD59-A6C34878D82A}">
                    <a16:rowId xmlns:a16="http://schemas.microsoft.com/office/drawing/2014/main" val="977998431"/>
                  </a:ext>
                </a:extLst>
              </a:tr>
              <a:tr h="404115">
                <a:tc rowSpan="2">
                  <a:txBody>
                    <a:bodyPr/>
                    <a:lstStyle/>
                    <a:p>
                      <a:pPr marL="0" marR="0" eaLnBrk="0">
                        <a:lnSpc>
                          <a:spcPct val="130000"/>
                        </a:lnSpc>
                        <a:spcBef>
                          <a:spcPts val="0"/>
                        </a:spcBef>
                        <a:spcAft>
                          <a:spcPts val="0"/>
                        </a:spcAft>
                      </a:pPr>
                      <a:r>
                        <a:rPr lang="en-US" sz="1800">
                          <a:effectLst/>
                        </a:rPr>
                        <a:t> </a:t>
                      </a:r>
                    </a:p>
                    <a:p>
                      <a:pPr marL="0" marR="0" eaLnBrk="0">
                        <a:lnSpc>
                          <a:spcPct val="130000"/>
                        </a:lnSpc>
                        <a:spcBef>
                          <a:spcPts val="0"/>
                        </a:spcBef>
                        <a:spcAft>
                          <a:spcPts val="0"/>
                        </a:spcAft>
                      </a:pPr>
                      <a:r>
                        <a:rPr lang="en-US" sz="1800">
                          <a:effectLst/>
                        </a:rPr>
                        <a:t> </a:t>
                      </a:r>
                    </a:p>
                    <a:p>
                      <a:pPr marL="272415" marR="0" eaLnBrk="0">
                        <a:lnSpc>
                          <a:spcPct val="92000"/>
                        </a:lnSpc>
                        <a:spcBef>
                          <a:spcPts val="375"/>
                        </a:spcBef>
                        <a:spcAft>
                          <a:spcPts val="0"/>
                        </a:spcAft>
                      </a:pPr>
                      <a:r>
                        <a:rPr lang="en-US" sz="1800" spc="-5">
                          <a:effectLst/>
                        </a:rPr>
                        <a:t>A</a:t>
                      </a:r>
                      <a:r>
                        <a:rPr lang="zh-CN" sz="1800" spc="-5">
                          <a:effectLst/>
                        </a:rPr>
                        <a:t>相</a:t>
                      </a:r>
                      <a:endParaRPr lang="en-US" sz="1800">
                        <a:solidFill>
                          <a:srgbClr val="000000"/>
                        </a:solidFill>
                        <a:effectLst/>
                        <a:latin typeface="Arial" panose="020B0604020202020204" pitchFamily="34" charset="0"/>
                        <a:ea typeface="Arial" panose="020B0604020202020204" pitchFamily="34" charset="0"/>
                      </a:endParaRPr>
                    </a:p>
                  </a:txBody>
                  <a:tcPr marL="0" marR="0" marT="0" marB="0"/>
                </a:tc>
                <a:tc rowSpan="2">
                  <a:txBody>
                    <a:bodyPr/>
                    <a:lstStyle/>
                    <a:p>
                      <a:pPr marL="104775" marR="0" eaLnBrk="0">
                        <a:lnSpc>
                          <a:spcPts val="1995"/>
                        </a:lnSpc>
                        <a:spcBef>
                          <a:spcPts val="515"/>
                        </a:spcBef>
                        <a:spcAft>
                          <a:spcPts val="0"/>
                        </a:spcAft>
                      </a:pPr>
                      <a:r>
                        <a:rPr lang="zh-CN" sz="1800" spc="60">
                          <a:effectLst/>
                        </a:rPr>
                        <a:t>甘油</a:t>
                      </a:r>
                      <a:endParaRPr lang="en-US" sz="1800">
                        <a:effectLst/>
                      </a:endParaRPr>
                    </a:p>
                    <a:p>
                      <a:pPr marL="104775" marR="0" eaLnBrk="0">
                        <a:lnSpc>
                          <a:spcPct val="91000"/>
                        </a:lnSpc>
                        <a:spcBef>
                          <a:spcPts val="0"/>
                        </a:spcBef>
                        <a:spcAft>
                          <a:spcPts val="0"/>
                        </a:spcAft>
                      </a:pPr>
                      <a:r>
                        <a:rPr lang="zh-CN" sz="1800">
                          <a:effectLst/>
                        </a:rPr>
                        <a:t>水</a:t>
                      </a:r>
                      <a:endParaRPr lang="en-US" sz="1800">
                        <a:effectLst/>
                      </a:endParaRPr>
                    </a:p>
                    <a:p>
                      <a:pPr marL="104775" marR="0" eaLnBrk="0">
                        <a:lnSpc>
                          <a:spcPts val="1990"/>
                        </a:lnSpc>
                        <a:spcBef>
                          <a:spcPts val="690"/>
                        </a:spcBef>
                        <a:spcAft>
                          <a:spcPts val="0"/>
                        </a:spcAft>
                      </a:pPr>
                      <a:r>
                        <a:rPr lang="zh-CN" sz="1800" spc="20">
                          <a:effectLst/>
                        </a:rPr>
                        <a:t>氯化钠</a:t>
                      </a:r>
                      <a:endParaRPr lang="en-US" sz="1800">
                        <a:effectLst/>
                      </a:endParaRPr>
                    </a:p>
                    <a:p>
                      <a:pPr marL="104775" marR="0" eaLnBrk="0">
                        <a:lnSpc>
                          <a:spcPct val="90000"/>
                        </a:lnSpc>
                        <a:spcBef>
                          <a:spcPts val="0"/>
                        </a:spcBef>
                        <a:spcAft>
                          <a:spcPts val="0"/>
                        </a:spcAft>
                      </a:pPr>
                      <a:r>
                        <a:rPr lang="zh-CN" sz="1800" spc="20">
                          <a:effectLst/>
                        </a:rPr>
                        <a:t>防腐剂</a:t>
                      </a:r>
                      <a:endParaRPr lang="en-US" sz="1800">
                        <a:solidFill>
                          <a:srgbClr val="000000"/>
                        </a:solidFill>
                        <a:effectLst/>
                        <a:latin typeface="Arial" panose="020B0604020202020204" pitchFamily="34" charset="0"/>
                        <a:ea typeface="Arial" panose="020B0604020202020204" pitchFamily="34" charset="0"/>
                      </a:endParaRPr>
                    </a:p>
                  </a:txBody>
                  <a:tcPr marL="0" marR="0" marT="0" marB="0"/>
                </a:tc>
                <a:tc rowSpan="2">
                  <a:txBody>
                    <a:bodyPr/>
                    <a:lstStyle/>
                    <a:p>
                      <a:pPr marL="377825" marR="0" eaLnBrk="0">
                        <a:lnSpc>
                          <a:spcPct val="76000"/>
                        </a:lnSpc>
                        <a:spcBef>
                          <a:spcPts val="750"/>
                        </a:spcBef>
                        <a:spcAft>
                          <a:spcPts val="0"/>
                        </a:spcAft>
                      </a:pPr>
                      <a:r>
                        <a:rPr lang="en-US" sz="1800" spc="-35">
                          <a:effectLst/>
                        </a:rPr>
                        <a:t>10</a:t>
                      </a:r>
                      <a:endParaRPr lang="en-US" sz="1800">
                        <a:effectLst/>
                      </a:endParaRPr>
                    </a:p>
                    <a:p>
                      <a:pPr marL="377825" marR="0" eaLnBrk="0">
                        <a:lnSpc>
                          <a:spcPct val="76000"/>
                        </a:lnSpc>
                        <a:spcBef>
                          <a:spcPts val="905"/>
                        </a:spcBef>
                        <a:spcAft>
                          <a:spcPts val="0"/>
                        </a:spcAft>
                      </a:pPr>
                      <a:r>
                        <a:rPr lang="en-US" sz="1800" spc="-20">
                          <a:effectLst/>
                        </a:rPr>
                        <a:t>30</a:t>
                      </a:r>
                      <a:endParaRPr lang="en-US" sz="1800">
                        <a:effectLst/>
                      </a:endParaRPr>
                    </a:p>
                    <a:p>
                      <a:pPr marL="377825" marR="0" eaLnBrk="0">
                        <a:lnSpc>
                          <a:spcPct val="76000"/>
                        </a:lnSpc>
                        <a:spcBef>
                          <a:spcPts val="800"/>
                        </a:spcBef>
                        <a:spcAft>
                          <a:spcPts val="0"/>
                        </a:spcAft>
                      </a:pPr>
                      <a:r>
                        <a:rPr lang="en-US" sz="1800" spc="-35">
                          <a:effectLst/>
                        </a:rPr>
                        <a:t>10</a:t>
                      </a:r>
                      <a:endParaRPr lang="en-US" sz="1800">
                        <a:effectLst/>
                      </a:endParaRPr>
                    </a:p>
                    <a:p>
                      <a:pPr marL="301625" marR="0" eaLnBrk="0">
                        <a:lnSpc>
                          <a:spcPct val="93000"/>
                        </a:lnSpc>
                        <a:spcBef>
                          <a:spcPts val="600"/>
                        </a:spcBef>
                        <a:spcAft>
                          <a:spcPts val="0"/>
                        </a:spcAft>
                      </a:pPr>
                      <a:r>
                        <a:rPr lang="zh-CN" sz="1800" spc="-15">
                          <a:effectLst/>
                        </a:rPr>
                        <a:t>适量</a:t>
                      </a:r>
                      <a:endParaRPr lang="en-US" sz="1800">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339725" marR="0" eaLnBrk="0">
                        <a:lnSpc>
                          <a:spcPct val="92000"/>
                        </a:lnSpc>
                        <a:spcBef>
                          <a:spcPts val="475"/>
                        </a:spcBef>
                        <a:spcAft>
                          <a:spcPts val="0"/>
                        </a:spcAft>
                      </a:pPr>
                      <a:r>
                        <a:rPr lang="en-US" sz="1800" spc="-5">
                          <a:effectLst/>
                        </a:rPr>
                        <a:t>A</a:t>
                      </a:r>
                      <a:r>
                        <a:rPr lang="zh-CN" sz="1800" spc="-5">
                          <a:effectLst/>
                        </a:rPr>
                        <a:t>相</a:t>
                      </a:r>
                      <a:endParaRPr lang="en-US" sz="1800">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99060" marR="0" eaLnBrk="0">
                        <a:lnSpc>
                          <a:spcPct val="91000"/>
                        </a:lnSpc>
                        <a:spcBef>
                          <a:spcPts val="460"/>
                        </a:spcBef>
                        <a:spcAft>
                          <a:spcPts val="0"/>
                        </a:spcAft>
                      </a:pPr>
                      <a:r>
                        <a:rPr lang="zh-CN" sz="1800" spc="25">
                          <a:effectLst/>
                        </a:rPr>
                        <a:t>色素</a:t>
                      </a:r>
                      <a:endParaRPr lang="en-US" sz="1800">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359410" marR="0" eaLnBrk="0">
                        <a:lnSpc>
                          <a:spcPct val="93000"/>
                        </a:lnSpc>
                        <a:spcBef>
                          <a:spcPts val="495"/>
                        </a:spcBef>
                        <a:spcAft>
                          <a:spcPts val="0"/>
                        </a:spcAft>
                      </a:pPr>
                      <a:r>
                        <a:rPr lang="zh-CN" sz="1800" spc="-15">
                          <a:effectLst/>
                        </a:rPr>
                        <a:t>适量</a:t>
                      </a:r>
                      <a:endParaRPr lang="en-US" sz="1800">
                        <a:solidFill>
                          <a:srgbClr val="000000"/>
                        </a:solidFill>
                        <a:effectLst/>
                        <a:latin typeface="Arial" panose="020B0604020202020204" pitchFamily="34" charset="0"/>
                        <a:ea typeface="Arial" panose="020B0604020202020204" pitchFamily="34" charset="0"/>
                      </a:endParaRPr>
                    </a:p>
                  </a:txBody>
                  <a:tcPr marL="0" marR="0" marT="0" marB="0"/>
                </a:tc>
                <a:extLst>
                  <a:ext uri="{0D108BD9-81ED-4DB2-BD59-A6C34878D82A}">
                    <a16:rowId xmlns:a16="http://schemas.microsoft.com/office/drawing/2014/main" val="2265988841"/>
                  </a:ext>
                </a:extLst>
              </a:tr>
              <a:tr h="1227574">
                <a:tc vMerge="1">
                  <a:txBody>
                    <a:bodyPr/>
                    <a:lstStyle/>
                    <a:p>
                      <a:endParaRPr lang="en-US"/>
                    </a:p>
                  </a:txBody>
                  <a:tcPr/>
                </a:tc>
                <a:tc vMerge="1">
                  <a:txBody>
                    <a:bodyPr/>
                    <a:lstStyle/>
                    <a:p>
                      <a:endParaRPr lang="en-US"/>
                    </a:p>
                  </a:txBody>
                  <a:tcPr/>
                </a:tc>
                <a:tc vMerge="1">
                  <a:txBody>
                    <a:bodyPr/>
                    <a:lstStyle/>
                    <a:p>
                      <a:endParaRPr lang="en-US"/>
                    </a:p>
                  </a:txBody>
                  <a:tcPr/>
                </a:tc>
                <a:tc>
                  <a:txBody>
                    <a:bodyPr/>
                    <a:lstStyle/>
                    <a:p>
                      <a:pPr marL="0" marR="0" eaLnBrk="0">
                        <a:lnSpc>
                          <a:spcPct val="175000"/>
                        </a:lnSpc>
                        <a:spcBef>
                          <a:spcPts val="0"/>
                        </a:spcBef>
                        <a:spcAft>
                          <a:spcPts val="0"/>
                        </a:spcAft>
                      </a:pPr>
                      <a:r>
                        <a:rPr lang="en-US" sz="1800">
                          <a:effectLst/>
                        </a:rPr>
                        <a:t> </a:t>
                      </a:r>
                    </a:p>
                    <a:p>
                      <a:pPr marL="339725" marR="0" eaLnBrk="0">
                        <a:lnSpc>
                          <a:spcPct val="92000"/>
                        </a:lnSpc>
                        <a:spcBef>
                          <a:spcPts val="370"/>
                        </a:spcBef>
                        <a:spcAft>
                          <a:spcPts val="0"/>
                        </a:spcAft>
                      </a:pPr>
                      <a:r>
                        <a:rPr lang="en-US" sz="1800" spc="-5">
                          <a:effectLst/>
                        </a:rPr>
                        <a:t>B</a:t>
                      </a:r>
                      <a:r>
                        <a:rPr lang="zh-CN" sz="1800" spc="-5">
                          <a:effectLst/>
                        </a:rPr>
                        <a:t>相</a:t>
                      </a:r>
                      <a:endParaRPr lang="en-US" sz="1800">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99060" marR="212090" eaLnBrk="0">
                        <a:lnSpc>
                          <a:spcPct val="110000"/>
                        </a:lnSpc>
                        <a:spcBef>
                          <a:spcPts val="520"/>
                        </a:spcBef>
                        <a:spcAft>
                          <a:spcPts val="0"/>
                        </a:spcAft>
                      </a:pPr>
                      <a:r>
                        <a:rPr lang="en-US" sz="1800" spc="-5">
                          <a:effectLst/>
                        </a:rPr>
                        <a:t>PEG-7</a:t>
                      </a:r>
                      <a:r>
                        <a:rPr lang="zh-CN" sz="1800" spc="-5">
                          <a:effectLst/>
                        </a:rPr>
                        <a:t>椰油酸甘油酯</a:t>
                      </a:r>
                      <a:r>
                        <a:rPr lang="zh-CN" sz="1800" spc="20">
                          <a:effectLst/>
                        </a:rPr>
                        <a:t> </a:t>
                      </a:r>
                      <a:r>
                        <a:rPr lang="zh-CN" sz="1800" spc="40">
                          <a:effectLst/>
                        </a:rPr>
                        <a:t>矿物油</a:t>
                      </a:r>
                      <a:endParaRPr lang="en-US" sz="1800">
                        <a:effectLst/>
                      </a:endParaRPr>
                    </a:p>
                    <a:p>
                      <a:pPr marL="99060" marR="0" eaLnBrk="0">
                        <a:lnSpc>
                          <a:spcPct val="91000"/>
                        </a:lnSpc>
                        <a:spcBef>
                          <a:spcPts val="575"/>
                        </a:spcBef>
                        <a:spcAft>
                          <a:spcPts val="0"/>
                        </a:spcAft>
                      </a:pPr>
                      <a:r>
                        <a:rPr lang="zh-CN" sz="1800" spc="20">
                          <a:effectLst/>
                        </a:rPr>
                        <a:t>防腐剂</a:t>
                      </a:r>
                      <a:endParaRPr lang="en-US" sz="1800">
                        <a:solidFill>
                          <a:srgbClr val="000000"/>
                        </a:solidFill>
                        <a:effectLst/>
                        <a:latin typeface="Arial" panose="020B0604020202020204" pitchFamily="34" charset="0"/>
                        <a:ea typeface="Arial" panose="020B0604020202020204" pitchFamily="34" charset="0"/>
                      </a:endParaRPr>
                    </a:p>
                  </a:txBody>
                  <a:tcPr marL="0" marR="0" marT="0" marB="0"/>
                </a:tc>
                <a:tc>
                  <a:txBody>
                    <a:bodyPr/>
                    <a:lstStyle/>
                    <a:p>
                      <a:pPr marL="467360" marR="0" eaLnBrk="0">
                        <a:lnSpc>
                          <a:spcPct val="75000"/>
                        </a:lnSpc>
                        <a:spcBef>
                          <a:spcPts val="820"/>
                        </a:spcBef>
                        <a:spcAft>
                          <a:spcPts val="0"/>
                        </a:spcAft>
                      </a:pPr>
                      <a:r>
                        <a:rPr lang="en-US" sz="1800" dirty="0">
                          <a:effectLst/>
                        </a:rPr>
                        <a:t>5</a:t>
                      </a:r>
                    </a:p>
                    <a:p>
                      <a:pPr marL="434975" marR="0" eaLnBrk="0">
                        <a:lnSpc>
                          <a:spcPts val="1685"/>
                        </a:lnSpc>
                        <a:spcBef>
                          <a:spcPts val="860"/>
                        </a:spcBef>
                        <a:spcAft>
                          <a:spcPts val="0"/>
                        </a:spcAft>
                      </a:pPr>
                      <a:r>
                        <a:rPr lang="en-US" sz="1800" spc="-15" dirty="0">
                          <a:effectLst/>
                        </a:rPr>
                        <a:t>45</a:t>
                      </a:r>
                      <a:endParaRPr lang="en-US" sz="1800" dirty="0">
                        <a:effectLst/>
                      </a:endParaRPr>
                    </a:p>
                    <a:p>
                      <a:pPr marL="359410" marR="0" eaLnBrk="0">
                        <a:lnSpc>
                          <a:spcPct val="93000"/>
                        </a:lnSpc>
                        <a:spcBef>
                          <a:spcPts val="0"/>
                        </a:spcBef>
                        <a:spcAft>
                          <a:spcPts val="0"/>
                        </a:spcAft>
                      </a:pPr>
                      <a:r>
                        <a:rPr lang="zh-CN" sz="1800" spc="-15" dirty="0">
                          <a:effectLst/>
                        </a:rPr>
                        <a:t>适量</a:t>
                      </a:r>
                      <a:endParaRPr lang="en-US" sz="1800" dirty="0">
                        <a:solidFill>
                          <a:srgbClr val="000000"/>
                        </a:solidFill>
                        <a:effectLst/>
                        <a:latin typeface="Arial" panose="020B0604020202020204" pitchFamily="34" charset="0"/>
                        <a:ea typeface="Arial" panose="020B0604020202020204" pitchFamily="34" charset="0"/>
                      </a:endParaRPr>
                    </a:p>
                  </a:txBody>
                  <a:tcPr marL="0" marR="0" marT="0" marB="0"/>
                </a:tc>
                <a:extLst>
                  <a:ext uri="{0D108BD9-81ED-4DB2-BD59-A6C34878D82A}">
                    <a16:rowId xmlns:a16="http://schemas.microsoft.com/office/drawing/2014/main" val="3310397921"/>
                  </a:ext>
                </a:extLst>
              </a:tr>
            </a:tbl>
          </a:graphicData>
        </a:graphic>
      </p:graphicFrame>
      <p:sp>
        <p:nvSpPr>
          <p:cNvPr id="8" name="文本框 7">
            <a:extLst>
              <a:ext uri="{FF2B5EF4-FFF2-40B4-BE49-F238E27FC236}">
                <a16:creationId xmlns:a16="http://schemas.microsoft.com/office/drawing/2014/main" id="{B90057B0-6FFA-25DD-F87B-6429A16EAEEF}"/>
              </a:ext>
            </a:extLst>
          </p:cNvPr>
          <p:cNvSpPr txBox="1"/>
          <p:nvPr/>
        </p:nvSpPr>
        <p:spPr>
          <a:xfrm>
            <a:off x="182879" y="4416895"/>
            <a:ext cx="8778241" cy="1200329"/>
          </a:xfrm>
          <a:prstGeom prst="rect">
            <a:avLst/>
          </a:prstGeom>
          <a:noFill/>
        </p:spPr>
        <p:txBody>
          <a:bodyPr wrap="square">
            <a:spAutoFit/>
          </a:bodyPr>
          <a:lstStyle/>
          <a:p>
            <a:r>
              <a:rPr lang="en-US" sz="2400" dirty="0">
                <a:latin typeface="KaiTi" panose="02010609060101010101" pitchFamily="49" charset="-122"/>
                <a:ea typeface="KaiTi" panose="02010609060101010101" pitchFamily="49" charset="-122"/>
              </a:rPr>
              <a:t>① </a:t>
            </a:r>
            <a:r>
              <a:rPr lang="en-US" sz="2400" dirty="0" err="1">
                <a:latin typeface="KaiTi" panose="02010609060101010101" pitchFamily="49" charset="-122"/>
                <a:ea typeface="KaiTi" panose="02010609060101010101" pitchFamily="49" charset="-122"/>
              </a:rPr>
              <a:t>先将</a:t>
            </a:r>
            <a:r>
              <a:rPr lang="en-US" sz="2400" dirty="0">
                <a:latin typeface="KaiTi" panose="02010609060101010101" pitchFamily="49" charset="-122"/>
                <a:ea typeface="KaiTi" panose="02010609060101010101" pitchFamily="49" charset="-122"/>
              </a:rPr>
              <a:t> A </a:t>
            </a:r>
            <a:r>
              <a:rPr lang="en-US" sz="2400" dirty="0" err="1">
                <a:latin typeface="KaiTi" panose="02010609060101010101" pitchFamily="49" charset="-122"/>
                <a:ea typeface="KaiTi" panose="02010609060101010101" pitchFamily="49" charset="-122"/>
              </a:rPr>
              <a:t>相组分逐一加入主容器，原料在常温搅拌均匀</a:t>
            </a:r>
            <a:r>
              <a:rPr lang="en-US" sz="2400" dirty="0">
                <a:latin typeface="KaiTi" panose="02010609060101010101" pitchFamily="49" charset="-122"/>
                <a:ea typeface="KaiTi" panose="02010609060101010101" pitchFamily="49" charset="-122"/>
              </a:rPr>
              <a:t>；</a:t>
            </a:r>
          </a:p>
          <a:p>
            <a:r>
              <a:rPr lang="en-US" sz="2400" dirty="0">
                <a:latin typeface="KaiTi" panose="02010609060101010101" pitchFamily="49" charset="-122"/>
                <a:ea typeface="KaiTi" panose="02010609060101010101" pitchFamily="49" charset="-122"/>
              </a:rPr>
              <a:t>② 将 B </a:t>
            </a:r>
            <a:r>
              <a:rPr lang="en-US" sz="2400" dirty="0" err="1">
                <a:latin typeface="KaiTi" panose="02010609060101010101" pitchFamily="49" charset="-122"/>
                <a:ea typeface="KaiTi" panose="02010609060101010101" pitchFamily="49" charset="-122"/>
              </a:rPr>
              <a:t>相原料依次加入另一容器中，搅拌均匀</a:t>
            </a:r>
            <a:r>
              <a:rPr lang="en-US" sz="2400" dirty="0">
                <a:latin typeface="KaiTi" panose="02010609060101010101" pitchFamily="49" charset="-122"/>
                <a:ea typeface="KaiTi" panose="02010609060101010101" pitchFamily="49" charset="-122"/>
              </a:rPr>
              <a:t>；</a:t>
            </a:r>
          </a:p>
          <a:p>
            <a:r>
              <a:rPr lang="en-US" sz="2400" dirty="0">
                <a:latin typeface="KaiTi" panose="02010609060101010101" pitchFamily="49" charset="-122"/>
                <a:ea typeface="KaiTi" panose="02010609060101010101" pitchFamily="49" charset="-122"/>
              </a:rPr>
              <a:t>③ 将 A 相、 B </a:t>
            </a:r>
            <a:r>
              <a:rPr lang="en-US" sz="2400" dirty="0" err="1">
                <a:latin typeface="KaiTi" panose="02010609060101010101" pitchFamily="49" charset="-122"/>
                <a:ea typeface="KaiTi" panose="02010609060101010101" pitchFamily="49" charset="-122"/>
              </a:rPr>
              <a:t>相混合即可</a:t>
            </a:r>
            <a:r>
              <a:rPr lang="en-US" sz="2400" dirty="0">
                <a:latin typeface="KaiTi" panose="02010609060101010101" pitchFamily="49" charset="-122"/>
                <a:ea typeface="KaiTi" panose="02010609060101010101" pitchFamily="49" charset="-122"/>
              </a:rPr>
              <a:t>。</a:t>
            </a:r>
          </a:p>
        </p:txBody>
      </p:sp>
    </p:spTree>
    <p:extLst>
      <p:ext uri="{BB962C8B-B14F-4D97-AF65-F5344CB8AC3E}">
        <p14:creationId xmlns:p14="http://schemas.microsoft.com/office/powerpoint/2010/main" val="3843626128"/>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72</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实例成分表</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043309"/>
            <a:ext cx="8778240" cy="461665"/>
          </a:xfrm>
          <a:prstGeom prst="rect">
            <a:avLst/>
          </a:prstGeom>
          <a:noFill/>
        </p:spPr>
        <p:txBody>
          <a:bodyPr wrap="square" rtlCol="0">
            <a:spAutoFit/>
          </a:bodyPr>
          <a:lstStyle/>
          <a:p>
            <a:r>
              <a:rPr lang="zh-CN" altLang="en-US" sz="2400" dirty="0">
                <a:latin typeface="+mn-lt"/>
                <a:ea typeface="SimHei" panose="02010609060101010101" pitchFamily="49" charset="-122"/>
              </a:rPr>
              <a:t>洗碗剂</a:t>
            </a:r>
            <a:endParaRPr lang="en-US" altLang="zh-CN" sz="2400" dirty="0">
              <a:latin typeface="+mn-lt"/>
              <a:ea typeface="SimHei" panose="02010609060101010101" pitchFamily="49" charset="-122"/>
            </a:endParaRPr>
          </a:p>
        </p:txBody>
      </p:sp>
      <p:pic>
        <p:nvPicPr>
          <p:cNvPr id="6" name="图片 5">
            <a:extLst>
              <a:ext uri="{FF2B5EF4-FFF2-40B4-BE49-F238E27FC236}">
                <a16:creationId xmlns:a16="http://schemas.microsoft.com/office/drawing/2014/main" id="{B3890248-A2DD-A1BB-CBD4-0E61C2F87023}"/>
              </a:ext>
            </a:extLst>
          </p:cNvPr>
          <p:cNvPicPr>
            <a:picLocks noChangeAspect="1"/>
          </p:cNvPicPr>
          <p:nvPr/>
        </p:nvPicPr>
        <p:blipFill rotWithShape="1">
          <a:blip r:embed="rId2">
            <a:extLst>
              <a:ext uri="{28A0092B-C50C-407E-A947-70E740481C1C}">
                <a14:useLocalDpi xmlns:a14="http://schemas.microsoft.com/office/drawing/2010/main" val="0"/>
              </a:ext>
            </a:extLst>
          </a:blip>
          <a:srcRect l="17101" t="46569" r="19130" b="35327"/>
          <a:stretch/>
        </p:blipFill>
        <p:spPr>
          <a:xfrm>
            <a:off x="182878" y="1470994"/>
            <a:ext cx="8778240" cy="1868370"/>
          </a:xfrm>
          <a:prstGeom prst="rect">
            <a:avLst/>
          </a:prstGeom>
        </p:spPr>
      </p:pic>
      <p:pic>
        <p:nvPicPr>
          <p:cNvPr id="11" name="图片 10">
            <a:extLst>
              <a:ext uri="{FF2B5EF4-FFF2-40B4-BE49-F238E27FC236}">
                <a16:creationId xmlns:a16="http://schemas.microsoft.com/office/drawing/2014/main" id="{3D2C6438-C3C3-813B-F79F-AFE178982042}"/>
              </a:ext>
            </a:extLst>
          </p:cNvPr>
          <p:cNvPicPr>
            <a:picLocks noChangeAspect="1"/>
          </p:cNvPicPr>
          <p:nvPr/>
        </p:nvPicPr>
        <p:blipFill rotWithShape="1">
          <a:blip r:embed="rId3">
            <a:extLst>
              <a:ext uri="{28A0092B-C50C-407E-A947-70E740481C1C}">
                <a14:useLocalDpi xmlns:a14="http://schemas.microsoft.com/office/drawing/2010/main" val="0"/>
              </a:ext>
            </a:extLst>
          </a:blip>
          <a:srcRect l="16235" t="38455" r="34399" b="50914"/>
          <a:stretch/>
        </p:blipFill>
        <p:spPr>
          <a:xfrm>
            <a:off x="182878" y="4102753"/>
            <a:ext cx="8778240" cy="2521701"/>
          </a:xfrm>
          <a:prstGeom prst="rect">
            <a:avLst/>
          </a:prstGeom>
        </p:spPr>
      </p:pic>
      <p:sp>
        <p:nvSpPr>
          <p:cNvPr id="5" name="文本框 4">
            <a:extLst>
              <a:ext uri="{FF2B5EF4-FFF2-40B4-BE49-F238E27FC236}">
                <a16:creationId xmlns:a16="http://schemas.microsoft.com/office/drawing/2014/main" id="{3C71B5D2-4756-FE7A-EB8A-71770FE54F45}"/>
              </a:ext>
            </a:extLst>
          </p:cNvPr>
          <p:cNvSpPr txBox="1"/>
          <p:nvPr/>
        </p:nvSpPr>
        <p:spPr>
          <a:xfrm>
            <a:off x="182878" y="3515024"/>
            <a:ext cx="8778240" cy="461665"/>
          </a:xfrm>
          <a:prstGeom prst="rect">
            <a:avLst/>
          </a:prstGeom>
          <a:noFill/>
        </p:spPr>
        <p:txBody>
          <a:bodyPr wrap="square" rtlCol="0">
            <a:spAutoFit/>
          </a:bodyPr>
          <a:lstStyle/>
          <a:p>
            <a:r>
              <a:rPr lang="zh-CN" altLang="en-US" sz="2400" dirty="0">
                <a:latin typeface="+mn-lt"/>
                <a:ea typeface="SimHei" panose="02010609060101010101" pitchFamily="49" charset="-122"/>
              </a:rPr>
              <a:t>洁面乳</a:t>
            </a:r>
            <a:endParaRPr lang="en-US" altLang="zh-CN" sz="2400" dirty="0">
              <a:latin typeface="+mn-lt"/>
              <a:ea typeface="SimHei" panose="02010609060101010101" pitchFamily="49" charset="-122"/>
            </a:endParaRPr>
          </a:p>
        </p:txBody>
      </p:sp>
    </p:spTree>
    <p:extLst>
      <p:ext uri="{BB962C8B-B14F-4D97-AF65-F5344CB8AC3E}">
        <p14:creationId xmlns:p14="http://schemas.microsoft.com/office/powerpoint/2010/main" val="30678206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F02D5545-9FF7-4A1B-91C2-3C7825ECC615}"/>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73</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443AD916-BA2E-4705-95C5-6EB560B9604F}"/>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1FA5C29-4814-47CC-A005-273156653D53}"/>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实例成分表</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B709C203-AF2B-410D-916E-F68A8A647CD2}"/>
              </a:ext>
            </a:extLst>
          </p:cNvPr>
          <p:cNvSpPr txBox="1"/>
          <p:nvPr/>
        </p:nvSpPr>
        <p:spPr>
          <a:xfrm>
            <a:off x="182880" y="1030057"/>
            <a:ext cx="8778240" cy="461665"/>
          </a:xfrm>
          <a:prstGeom prst="rect">
            <a:avLst/>
          </a:prstGeom>
          <a:noFill/>
        </p:spPr>
        <p:txBody>
          <a:bodyPr wrap="square" rtlCol="0">
            <a:spAutoFit/>
          </a:bodyPr>
          <a:lstStyle/>
          <a:p>
            <a:r>
              <a:rPr lang="zh-CN" altLang="en-US" sz="2400" dirty="0">
                <a:latin typeface="+mn-lt"/>
                <a:ea typeface="SimHei" panose="02010609060101010101" pitchFamily="49" charset="-122"/>
              </a:rPr>
              <a:t>沐浴露</a:t>
            </a:r>
            <a:endParaRPr lang="en-US" altLang="zh-CN" sz="2400" dirty="0">
              <a:latin typeface="+mn-lt"/>
              <a:ea typeface="SimHei" panose="02010609060101010101" pitchFamily="49" charset="-122"/>
            </a:endParaRPr>
          </a:p>
        </p:txBody>
      </p:sp>
      <p:pic>
        <p:nvPicPr>
          <p:cNvPr id="6" name="图片 5">
            <a:extLst>
              <a:ext uri="{FF2B5EF4-FFF2-40B4-BE49-F238E27FC236}">
                <a16:creationId xmlns:a16="http://schemas.microsoft.com/office/drawing/2014/main" id="{B89C0EF6-A971-3508-5D0E-4596B7A6998E}"/>
              </a:ext>
            </a:extLst>
          </p:cNvPr>
          <p:cNvPicPr>
            <a:picLocks noChangeAspect="1"/>
          </p:cNvPicPr>
          <p:nvPr/>
        </p:nvPicPr>
        <p:blipFill rotWithShape="1">
          <a:blip r:embed="rId2">
            <a:extLst>
              <a:ext uri="{28A0092B-C50C-407E-A947-70E740481C1C}">
                <a14:useLocalDpi xmlns:a14="http://schemas.microsoft.com/office/drawing/2010/main" val="0"/>
              </a:ext>
            </a:extLst>
          </a:blip>
          <a:srcRect l="14430" t="25700" r="14946" b="36232"/>
          <a:stretch/>
        </p:blipFill>
        <p:spPr>
          <a:xfrm>
            <a:off x="1060174" y="1620908"/>
            <a:ext cx="7023652" cy="5049853"/>
          </a:xfrm>
          <a:prstGeom prst="rect">
            <a:avLst/>
          </a:prstGeom>
        </p:spPr>
      </p:pic>
    </p:spTree>
    <p:extLst>
      <p:ext uri="{BB962C8B-B14F-4D97-AF65-F5344CB8AC3E}">
        <p14:creationId xmlns:p14="http://schemas.microsoft.com/office/powerpoint/2010/main" val="344452133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C17FE5-1F46-5ED7-FB30-3351A39DF93C}"/>
            </a:ext>
          </a:extLst>
        </p:cNvPr>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A420D4E2-DF7D-150B-DAD3-23D4F17CC840}"/>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74</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1F16872D-741E-1877-F4A3-411D37B02EC8}"/>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75FB186F-08EA-66B5-669B-5E3843FC0189}"/>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实例成分表</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836B29F5-1615-F5FE-90C9-797BE8164226}"/>
              </a:ext>
            </a:extLst>
          </p:cNvPr>
          <p:cNvSpPr txBox="1"/>
          <p:nvPr/>
        </p:nvSpPr>
        <p:spPr>
          <a:xfrm>
            <a:off x="182880" y="1030057"/>
            <a:ext cx="8778240" cy="461665"/>
          </a:xfrm>
          <a:prstGeom prst="rect">
            <a:avLst/>
          </a:prstGeom>
          <a:noFill/>
        </p:spPr>
        <p:txBody>
          <a:bodyPr wrap="square" rtlCol="0">
            <a:spAutoFit/>
          </a:bodyPr>
          <a:lstStyle/>
          <a:p>
            <a:r>
              <a:rPr lang="zh-CN" altLang="en-US" sz="2400" dirty="0">
                <a:latin typeface="+mn-lt"/>
                <a:ea typeface="SimHei" panose="02010609060101010101" pitchFamily="49" charset="-122"/>
              </a:rPr>
              <a:t>沐浴露</a:t>
            </a:r>
            <a:endParaRPr lang="en-US" altLang="zh-CN" sz="2400" dirty="0">
              <a:latin typeface="+mn-lt"/>
              <a:ea typeface="SimHei" panose="02010609060101010101" pitchFamily="49" charset="-122"/>
            </a:endParaRPr>
          </a:p>
        </p:txBody>
      </p:sp>
      <p:pic>
        <p:nvPicPr>
          <p:cNvPr id="8" name="图片 7">
            <a:extLst>
              <a:ext uri="{FF2B5EF4-FFF2-40B4-BE49-F238E27FC236}">
                <a16:creationId xmlns:a16="http://schemas.microsoft.com/office/drawing/2014/main" id="{622001CB-432B-8D09-F487-1243D046835A}"/>
              </a:ext>
            </a:extLst>
          </p:cNvPr>
          <p:cNvPicPr>
            <a:picLocks noChangeAspect="1"/>
          </p:cNvPicPr>
          <p:nvPr/>
        </p:nvPicPr>
        <p:blipFill>
          <a:blip r:embed="rId2">
            <a:extLst>
              <a:ext uri="{28A0092B-C50C-407E-A947-70E740481C1C}">
                <a14:useLocalDpi xmlns:a14="http://schemas.microsoft.com/office/drawing/2010/main" val="0"/>
              </a:ext>
            </a:extLst>
          </a:blip>
          <a:srcRect l="18039" t="32270" r="22420" b="39130"/>
          <a:stretch>
            <a:fillRect/>
          </a:stretch>
        </p:blipFill>
        <p:spPr>
          <a:xfrm>
            <a:off x="1186069" y="1753430"/>
            <a:ext cx="6771861" cy="4338683"/>
          </a:xfrm>
          <a:prstGeom prst="rect">
            <a:avLst/>
          </a:prstGeom>
        </p:spPr>
      </p:pic>
    </p:spTree>
    <p:extLst>
      <p:ext uri="{BB962C8B-B14F-4D97-AF65-F5344CB8AC3E}">
        <p14:creationId xmlns:p14="http://schemas.microsoft.com/office/powerpoint/2010/main" val="45118412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EDE7EE-EC4B-3ACE-A877-EF18D12419ED}"/>
            </a:ext>
          </a:extLst>
        </p:cNvPr>
        <p:cNvGrpSpPr/>
        <p:nvPr/>
      </p:nvGrpSpPr>
      <p:grpSpPr>
        <a:xfrm>
          <a:off x="0" y="0"/>
          <a:ext cx="0" cy="0"/>
          <a:chOff x="0" y="0"/>
          <a:chExt cx="0" cy="0"/>
        </a:xfrm>
      </p:grpSpPr>
      <p:sp>
        <p:nvSpPr>
          <p:cNvPr id="2" name="灯片编号占位符 3">
            <a:extLst>
              <a:ext uri="{FF2B5EF4-FFF2-40B4-BE49-F238E27FC236}">
                <a16:creationId xmlns:a16="http://schemas.microsoft.com/office/drawing/2014/main" id="{89FAC708-9990-0AA8-8F91-B613DC0894E0}"/>
              </a:ext>
            </a:extLst>
          </p:cNvPr>
          <p:cNvSpPr>
            <a:spLocks noGrp="1" noChangeArrowheads="1"/>
          </p:cNvSpPr>
          <p:nvPr>
            <p:ph type="sldNum" sz="quarter" idx="12"/>
          </p:nvPr>
        </p:nvSpPr>
        <p:spPr>
          <a:xfrm>
            <a:off x="8297769" y="186126"/>
            <a:ext cx="836706" cy="430306"/>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fld id="{3E0B8F8B-EF8B-4B07-BCF8-F23DBA39CE10}" type="slidenum">
              <a:rPr lang="zh-CN" altLang="en-US" sz="1800" b="1" smtClean="0">
                <a:latin typeface="Adobe 黑体 Std R" charset="-122"/>
                <a:ea typeface="Adobe 黑体 Std R" charset="-122"/>
              </a:rPr>
              <a:pPr algn="ctr">
                <a:spcBef>
                  <a:spcPct val="0"/>
                </a:spcBef>
                <a:buFontTx/>
                <a:buNone/>
              </a:pPr>
              <a:t>75</a:t>
            </a:fld>
            <a:endParaRPr lang="zh-CN" altLang="en-US" sz="1800" b="1" dirty="0">
              <a:latin typeface="Adobe 黑体 Std R" charset="-122"/>
              <a:ea typeface="Adobe 黑体 Std R" charset="-122"/>
            </a:endParaRPr>
          </a:p>
        </p:txBody>
      </p:sp>
      <p:sp>
        <p:nvSpPr>
          <p:cNvPr id="3" name="Rectangle 3">
            <a:extLst>
              <a:ext uri="{FF2B5EF4-FFF2-40B4-BE49-F238E27FC236}">
                <a16:creationId xmlns:a16="http://schemas.microsoft.com/office/drawing/2014/main" id="{2DCE052B-1C44-3320-8F4D-29CC78AA5BD6}"/>
              </a:ext>
            </a:extLst>
          </p:cNvPr>
          <p:cNvSpPr>
            <a:spLocks noChangeArrowheads="1"/>
          </p:cNvSpPr>
          <p:nvPr/>
        </p:nvSpPr>
        <p:spPr bwMode="auto">
          <a:xfrm>
            <a:off x="182880" y="964001"/>
            <a:ext cx="8778240" cy="45720"/>
          </a:xfrm>
          <a:prstGeom prst="rect">
            <a:avLst/>
          </a:prstGeom>
          <a:gradFill flip="none" rotWithShape="1">
            <a:gsLst>
              <a:gs pos="0">
                <a:schemeClr val="accent2">
                  <a:lumMod val="89000"/>
                </a:schemeClr>
              </a:gs>
              <a:gs pos="23000">
                <a:schemeClr val="accent2">
                  <a:lumMod val="89000"/>
                </a:schemeClr>
              </a:gs>
              <a:gs pos="69000">
                <a:schemeClr val="accent2">
                  <a:lumMod val="75000"/>
                </a:schemeClr>
              </a:gs>
              <a:gs pos="97000">
                <a:schemeClr val="accent2">
                  <a:lumMod val="70000"/>
                </a:schemeClr>
              </a:gs>
            </a:gsLst>
            <a:path path="circle">
              <a:fillToRect l="50000" t="50000" r="50000" b="50000"/>
            </a:path>
            <a:tileRect/>
          </a:gradFill>
          <a:ln>
            <a:noFill/>
          </a:ln>
        </p:spPr>
        <p:txBody>
          <a:bodyPr wrap="none" anchor="ct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spcBef>
                <a:spcPct val="0"/>
              </a:spcBef>
              <a:buFontTx/>
              <a:buNone/>
            </a:pPr>
            <a:endParaRPr lang="zh-CN" altLang="en-US" sz="1800" dirty="0"/>
          </a:p>
        </p:txBody>
      </p:sp>
      <p:sp>
        <p:nvSpPr>
          <p:cNvPr id="4" name="TextBox 5">
            <a:extLst>
              <a:ext uri="{FF2B5EF4-FFF2-40B4-BE49-F238E27FC236}">
                <a16:creationId xmlns:a16="http://schemas.microsoft.com/office/drawing/2014/main" id="{28C3A70F-5012-0814-D96F-6D2263F17DD8}"/>
              </a:ext>
            </a:extLst>
          </p:cNvPr>
          <p:cNvSpPr txBox="1">
            <a:spLocks noChangeArrowheads="1"/>
          </p:cNvSpPr>
          <p:nvPr/>
        </p:nvSpPr>
        <p:spPr bwMode="auto">
          <a:xfrm>
            <a:off x="0" y="352814"/>
            <a:ext cx="9144000"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har char="•"/>
              <a:defRPr sz="3200">
                <a:solidFill>
                  <a:schemeClr val="tx1"/>
                </a:solidFill>
                <a:latin typeface="Arial" panose="020B0604020202020204" pitchFamily="34" charset="0"/>
                <a:ea typeface="MS PGothic" panose="020B0600070205080204" pitchFamily="34" charset="-128"/>
                <a:cs typeface="SimSun" panose="02010600030101010101" pitchFamily="2" charset="-122"/>
              </a:defRPr>
            </a:lvl1pPr>
            <a:lvl2pPr marL="742950" indent="-285750">
              <a:spcBef>
                <a:spcPct val="20000"/>
              </a:spcBef>
              <a:buChar char="–"/>
              <a:defRPr sz="2800">
                <a:solidFill>
                  <a:schemeClr val="tx1"/>
                </a:solidFill>
                <a:latin typeface="Arial" panose="020B0604020202020204" pitchFamily="34" charset="0"/>
                <a:ea typeface="SimSun" panose="02010600030101010101" pitchFamily="2" charset="-122"/>
                <a:cs typeface="SimSun" panose="02010600030101010101" pitchFamily="2" charset="-122"/>
              </a:defRPr>
            </a:lvl2pPr>
            <a:lvl3pPr marL="1143000" indent="-228600">
              <a:spcBef>
                <a:spcPct val="20000"/>
              </a:spcBef>
              <a:buChar char="•"/>
              <a:defRPr sz="2400">
                <a:solidFill>
                  <a:schemeClr val="tx1"/>
                </a:solidFill>
                <a:latin typeface="Arial" panose="020B0604020202020204" pitchFamily="34" charset="0"/>
                <a:ea typeface="SimSun" panose="02010600030101010101" pitchFamily="2" charset="-122"/>
                <a:cs typeface="SimSun" panose="02010600030101010101" pitchFamily="2" charset="-122"/>
              </a:defRPr>
            </a:lvl3pPr>
            <a:lvl4pPr marL="16002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4pPr>
            <a:lvl5pPr marL="2057400" indent="-228600">
              <a:spcBef>
                <a:spcPct val="20000"/>
              </a:spcBef>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ea typeface="SimSun" panose="02010600030101010101" pitchFamily="2" charset="-122"/>
                <a:cs typeface="SimSun" panose="02010600030101010101" pitchFamily="2" charset="-122"/>
              </a:defRPr>
            </a:lvl9pPr>
          </a:lstStyle>
          <a:p>
            <a:pPr algn="ctr">
              <a:spcBef>
                <a:spcPct val="0"/>
              </a:spcBef>
              <a:buFontTx/>
              <a:buNone/>
            </a:pPr>
            <a:r>
              <a:rPr lang="zh-CN" altLang="en-US" sz="3600" dirty="0">
                <a:latin typeface="Microsoft JhengHei" panose="020B0604030504040204" pitchFamily="34" charset="-120"/>
                <a:ea typeface="Microsoft JhengHei" panose="020B0604030504040204" pitchFamily="34" charset="-120"/>
                <a:cs typeface="Arial" panose="020B0604020202020204" pitchFamily="34" charset="0"/>
              </a:rPr>
              <a:t>实例成分表</a:t>
            </a:r>
            <a:endParaRPr lang="en-US" altLang="en-US" sz="3600" dirty="0">
              <a:latin typeface="Microsoft JhengHei" panose="020B0604030504040204" pitchFamily="34" charset="-120"/>
              <a:ea typeface="Microsoft JhengHei" panose="020B0604030504040204" pitchFamily="34" charset="-120"/>
              <a:cs typeface="Arial" panose="020B0604020202020204" pitchFamily="34" charset="0"/>
            </a:endParaRPr>
          </a:p>
        </p:txBody>
      </p:sp>
      <p:sp>
        <p:nvSpPr>
          <p:cNvPr id="7" name="文本框 6">
            <a:extLst>
              <a:ext uri="{FF2B5EF4-FFF2-40B4-BE49-F238E27FC236}">
                <a16:creationId xmlns:a16="http://schemas.microsoft.com/office/drawing/2014/main" id="{1E0B7731-6CFC-5CF0-DAEE-4E43C460C0DF}"/>
              </a:ext>
            </a:extLst>
          </p:cNvPr>
          <p:cNvSpPr txBox="1"/>
          <p:nvPr/>
        </p:nvSpPr>
        <p:spPr>
          <a:xfrm>
            <a:off x="182880" y="1030057"/>
            <a:ext cx="8778240" cy="461665"/>
          </a:xfrm>
          <a:prstGeom prst="rect">
            <a:avLst/>
          </a:prstGeom>
          <a:noFill/>
        </p:spPr>
        <p:txBody>
          <a:bodyPr wrap="square" rtlCol="0">
            <a:spAutoFit/>
          </a:bodyPr>
          <a:lstStyle/>
          <a:p>
            <a:r>
              <a:rPr lang="zh-CN" altLang="en-US" sz="2400" dirty="0">
                <a:latin typeface="+mn-lt"/>
                <a:ea typeface="SimHei" panose="02010609060101010101" pitchFamily="49" charset="-122"/>
              </a:rPr>
              <a:t>温和型沐浴露</a:t>
            </a:r>
            <a:endParaRPr lang="en-US" altLang="zh-CN" sz="2400" dirty="0">
              <a:latin typeface="+mn-lt"/>
              <a:ea typeface="SimHei" panose="02010609060101010101" pitchFamily="49" charset="-122"/>
            </a:endParaRPr>
          </a:p>
        </p:txBody>
      </p:sp>
      <p:pic>
        <p:nvPicPr>
          <p:cNvPr id="8" name="图片 7">
            <a:extLst>
              <a:ext uri="{FF2B5EF4-FFF2-40B4-BE49-F238E27FC236}">
                <a16:creationId xmlns:a16="http://schemas.microsoft.com/office/drawing/2014/main" id="{47C00380-9312-CDB1-D9D2-2527E8DB2410}"/>
              </a:ext>
            </a:extLst>
          </p:cNvPr>
          <p:cNvPicPr>
            <a:picLocks noChangeAspect="1"/>
          </p:cNvPicPr>
          <p:nvPr/>
        </p:nvPicPr>
        <p:blipFill>
          <a:blip r:embed="rId2">
            <a:extLst>
              <a:ext uri="{28A0092B-C50C-407E-A947-70E740481C1C}">
                <a14:useLocalDpi xmlns:a14="http://schemas.microsoft.com/office/drawing/2010/main" val="0"/>
              </a:ext>
            </a:extLst>
          </a:blip>
          <a:srcRect l="1800" t="25314" r="13142" b="43768"/>
          <a:stretch>
            <a:fillRect/>
          </a:stretch>
        </p:blipFill>
        <p:spPr>
          <a:xfrm>
            <a:off x="1255361" y="1820932"/>
            <a:ext cx="6633277" cy="3216135"/>
          </a:xfrm>
          <a:prstGeom prst="rect">
            <a:avLst/>
          </a:prstGeom>
        </p:spPr>
      </p:pic>
    </p:spTree>
    <p:extLst>
      <p:ext uri="{BB962C8B-B14F-4D97-AF65-F5344CB8AC3E}">
        <p14:creationId xmlns:p14="http://schemas.microsoft.com/office/powerpoint/2010/main" val="2836714590"/>
      </p:ext>
    </p:extLst>
  </p:cSld>
  <p:clrMapOvr>
    <a:masterClrMapping/>
  </p:clrMapOvr>
</p:sld>
</file>

<file path=ppt/theme/theme1.xml><?xml version="1.0" encoding="utf-8"?>
<a:theme xmlns:a="http://schemas.openxmlformats.org/drawingml/2006/main" name="默认设计模板_2">
  <a:themeElements>
    <a:clrScheme name="默认设计模板_2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默认设计模板_2">
      <a:majorFont>
        <a:latin typeface="Arial"/>
        <a:ea typeface="宋体"/>
        <a:cs typeface=""/>
      </a:majorFont>
      <a:minorFont>
        <a:latin typeface="Arial"/>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w="25400">
          <a:solidFill>
            <a:schemeClr val="tx1"/>
          </a:solidFill>
        </a:ln>
      </a:spPr>
      <a:bodyPr rtlCol="0" anchor="ctr"/>
      <a:lstStyle>
        <a:defPPr algn="ctr">
          <a:defRPr/>
        </a:defPPr>
      </a:lstStyle>
    </a:spDef>
    <a:lnDef>
      <a:spPr bwMode="auto">
        <a:solidFill>
          <a:schemeClr val="accent1"/>
        </a:solidFill>
        <a:ln w="25400" cap="flat" cmpd="sng" algn="ctr">
          <a:solidFill>
            <a:schemeClr val="tx1"/>
          </a:solidFill>
          <a:prstDash val="solid"/>
          <a:round/>
          <a:headEnd type="none" w="med" len="med"/>
          <a:tailEnd type="stealth" w="lg" len="lg"/>
        </a:ln>
        <a:effectLst/>
      </a:spPr>
      <a:bodyPr/>
      <a:lstStyle/>
    </a:lnDef>
  </a:objectDefaults>
  <a:extraClrSchemeLst>
    <a:extraClrScheme>
      <a:clrScheme name="默认设计模板_2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_2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_2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_2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_2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_2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_2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_2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_2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_2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_2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_2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59019</TotalTime>
  <Pages>0</Pages>
  <Words>7477</Words>
  <Characters>0</Characters>
  <Application>Microsoft Office PowerPoint</Application>
  <DocSecurity>0</DocSecurity>
  <PresentationFormat>全屏显示(4:3)</PresentationFormat>
  <Lines>0</Lines>
  <Paragraphs>728</Paragraphs>
  <Slides>75</Slides>
  <Notes>0</Notes>
  <HiddenSlides>0</HiddenSlides>
  <MMClips>0</MMClips>
  <ScaleCrop>false</ScaleCrop>
  <HeadingPairs>
    <vt:vector size="8" baseType="variant">
      <vt:variant>
        <vt:lpstr>已用的字体</vt:lpstr>
      </vt:variant>
      <vt:variant>
        <vt:i4>5</vt:i4>
      </vt:variant>
      <vt:variant>
        <vt:lpstr>主题</vt:lpstr>
      </vt:variant>
      <vt:variant>
        <vt:i4>1</vt:i4>
      </vt:variant>
      <vt:variant>
        <vt:lpstr>嵌入 OLE 服务器</vt:lpstr>
      </vt:variant>
      <vt:variant>
        <vt:i4>1</vt:i4>
      </vt:variant>
      <vt:variant>
        <vt:lpstr>幻灯片标题</vt:lpstr>
      </vt:variant>
      <vt:variant>
        <vt:i4>75</vt:i4>
      </vt:variant>
    </vt:vector>
  </HeadingPairs>
  <TitlesOfParts>
    <vt:vector size="82" baseType="lpstr">
      <vt:lpstr>Adobe 黑体 Std R</vt:lpstr>
      <vt:lpstr>KaiTi</vt:lpstr>
      <vt:lpstr>Microsoft JhengHei</vt:lpstr>
      <vt:lpstr>SimHei</vt:lpstr>
      <vt:lpstr>Arial</vt:lpstr>
      <vt:lpstr>默认设计模板_2</vt:lpstr>
      <vt:lpstr>CS ChemDraw Drawing</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
  <Company/>
  <LinksUpToDate>false</LinksUpToDate>
  <CharactersWithSpaces>0</CharactersWithSpaces>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Administrator</dc:creator>
  <cp:keywords/>
  <dc:description/>
  <cp:lastModifiedBy>yanqifan@pku.edu.cn</cp:lastModifiedBy>
  <cp:revision>1426</cp:revision>
  <cp:lastPrinted>2020-04-24T02:07:11Z</cp:lastPrinted>
  <dcterms:created xsi:type="dcterms:W3CDTF">2012-03-24T04:10:06Z</dcterms:created>
  <dcterms:modified xsi:type="dcterms:W3CDTF">2025-12-08T11:47:34Z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r8>1</vt:r8>
  </property>
  <property fmtid="{D5CDD505-2E9C-101B-9397-08002B2CF9AE}" pid="3" name="KSOProductBuildVer">
    <vt:lpwstr>2052-9.1.0.4517</vt:lpwstr>
  </property>
</Properties>
</file>