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2"/>
  </p:notesMasterIdLst>
  <p:sldIdLst>
    <p:sldId id="1127" r:id="rId2"/>
    <p:sldId id="256" r:id="rId3"/>
    <p:sldId id="257" r:id="rId4"/>
    <p:sldId id="1180" r:id="rId5"/>
    <p:sldId id="1181" r:id="rId6"/>
    <p:sldId id="1182" r:id="rId7"/>
    <p:sldId id="1183" r:id="rId8"/>
    <p:sldId id="1184" r:id="rId9"/>
    <p:sldId id="1253" r:id="rId10"/>
    <p:sldId id="1254" r:id="rId11"/>
    <p:sldId id="1255" r:id="rId12"/>
    <p:sldId id="1185" r:id="rId13"/>
    <p:sldId id="1186" r:id="rId14"/>
    <p:sldId id="1187" r:id="rId15"/>
    <p:sldId id="1188" r:id="rId16"/>
    <p:sldId id="1189" r:id="rId17"/>
    <p:sldId id="1190" r:id="rId18"/>
    <p:sldId id="1191" r:id="rId19"/>
    <p:sldId id="1192" r:id="rId20"/>
    <p:sldId id="1193" r:id="rId21"/>
    <p:sldId id="1194" r:id="rId22"/>
    <p:sldId id="1195" r:id="rId23"/>
    <p:sldId id="1196" r:id="rId24"/>
    <p:sldId id="1197" r:id="rId25"/>
    <p:sldId id="1198" r:id="rId26"/>
    <p:sldId id="1199" r:id="rId27"/>
    <p:sldId id="1200" r:id="rId28"/>
    <p:sldId id="1201" r:id="rId29"/>
    <p:sldId id="1202" r:id="rId30"/>
    <p:sldId id="1203" r:id="rId31"/>
    <p:sldId id="1204" r:id="rId32"/>
    <p:sldId id="1205" r:id="rId33"/>
    <p:sldId id="1206" r:id="rId34"/>
    <p:sldId id="1207" r:id="rId35"/>
    <p:sldId id="1208" r:id="rId36"/>
    <p:sldId id="1209" r:id="rId37"/>
    <p:sldId id="1210" r:id="rId38"/>
    <p:sldId id="1211" r:id="rId39"/>
    <p:sldId id="1212" r:id="rId40"/>
    <p:sldId id="1213" r:id="rId41"/>
    <p:sldId id="1214" r:id="rId42"/>
    <p:sldId id="1215" r:id="rId43"/>
    <p:sldId id="1216" r:id="rId44"/>
    <p:sldId id="1217" r:id="rId45"/>
    <p:sldId id="1218" r:id="rId46"/>
    <p:sldId id="1219" r:id="rId47"/>
    <p:sldId id="1220" r:id="rId48"/>
    <p:sldId id="1221" r:id="rId49"/>
    <p:sldId id="1222" r:id="rId50"/>
    <p:sldId id="1223" r:id="rId51"/>
    <p:sldId id="1224" r:id="rId52"/>
    <p:sldId id="1225" r:id="rId53"/>
    <p:sldId id="1226" r:id="rId54"/>
    <p:sldId id="1227" r:id="rId55"/>
    <p:sldId id="1228" r:id="rId56"/>
    <p:sldId id="1229" r:id="rId57"/>
    <p:sldId id="1230" r:id="rId58"/>
    <p:sldId id="1231" r:id="rId59"/>
    <p:sldId id="1232" r:id="rId60"/>
    <p:sldId id="1233" r:id="rId61"/>
    <p:sldId id="1234" r:id="rId62"/>
    <p:sldId id="1235" r:id="rId63"/>
    <p:sldId id="1133" r:id="rId64"/>
    <p:sldId id="1256" r:id="rId65"/>
    <p:sldId id="1236" r:id="rId66"/>
    <p:sldId id="1239" r:id="rId67"/>
    <p:sldId id="1237" r:id="rId68"/>
    <p:sldId id="1238" r:id="rId69"/>
    <p:sldId id="1240" r:id="rId70"/>
    <p:sldId id="1241" r:id="rId71"/>
    <p:sldId id="1243" r:id="rId72"/>
    <p:sldId id="1244" r:id="rId73"/>
    <p:sldId id="1245" r:id="rId74"/>
    <p:sldId id="1247" r:id="rId75"/>
    <p:sldId id="1248" r:id="rId76"/>
    <p:sldId id="1249" r:id="rId77"/>
    <p:sldId id="1250" r:id="rId78"/>
    <p:sldId id="1251" r:id="rId79"/>
    <p:sldId id="1252" r:id="rId80"/>
    <p:sldId id="1179" r:id="rId81"/>
  </p:sldIdLst>
  <p:sldSz cx="9144000" cy="6858000" type="screen4x3"/>
  <p:notesSz cx="6858000" cy="994727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8000"/>
    <a:srgbClr val="00FF00"/>
    <a:srgbClr val="FF6600"/>
    <a:srgbClr val="FFFF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73" autoAdjust="0"/>
  </p:normalViewPr>
  <p:slideViewPr>
    <p:cSldViewPr snapToGrid="0">
      <p:cViewPr varScale="1">
        <p:scale>
          <a:sx n="61" d="100"/>
          <a:sy n="61" d="100"/>
        </p:scale>
        <p:origin x="1656" y="66"/>
      </p:cViewPr>
      <p:guideLst>
        <p:guide orient="horz" pos="2138"/>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E4076EE-FE68-43AE-99C5-A81FDE8C2F83}"/>
              </a:ext>
            </a:extLst>
          </p:cNvPr>
          <p:cNvSpPr>
            <a:spLocks noGrp="1" noChangeArrowheads="1"/>
          </p:cNvSpPr>
          <p:nvPr>
            <p:ph type="hdr" sz="quarter"/>
          </p:nvPr>
        </p:nvSpPr>
        <p:spPr bwMode="auto">
          <a:xfrm>
            <a:off x="1" y="0"/>
            <a:ext cx="2970213" cy="497364"/>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5" name="Rectangle 3">
            <a:extLst>
              <a:ext uri="{FF2B5EF4-FFF2-40B4-BE49-F238E27FC236}">
                <a16:creationId xmlns:a16="http://schemas.microsoft.com/office/drawing/2014/main" id="{9F48D32A-919E-48D2-B1E8-51EAC1B42BD8}"/>
              </a:ext>
            </a:extLst>
          </p:cNvPr>
          <p:cNvSpPr>
            <a:spLocks noGrp="1" noChangeArrowheads="1"/>
          </p:cNvSpPr>
          <p:nvPr>
            <p:ph type="dt" idx="1"/>
          </p:nvPr>
        </p:nvSpPr>
        <p:spPr bwMode="auto">
          <a:xfrm>
            <a:off x="3883025" y="0"/>
            <a:ext cx="2973388" cy="497364"/>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2052" name="Rectangle 4">
            <a:extLst>
              <a:ext uri="{FF2B5EF4-FFF2-40B4-BE49-F238E27FC236}">
                <a16:creationId xmlns:a16="http://schemas.microsoft.com/office/drawing/2014/main" id="{D34AD48D-B12D-4736-AF44-05EE8E9247E8}"/>
              </a:ext>
            </a:extLst>
          </p:cNvPr>
          <p:cNvSpPr>
            <a:spLocks noGrp="1" noRot="1" noChangeAspect="1" noChangeArrowheads="1"/>
          </p:cNvSpPr>
          <p:nvPr>
            <p:ph type="sldImg" idx="2"/>
          </p:nvPr>
        </p:nvSpPr>
        <p:spPr bwMode="auto">
          <a:xfrm>
            <a:off x="942975" y="746125"/>
            <a:ext cx="497205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EC3AA012-CFE6-4520-8A8E-13DDAFFDCFAA}"/>
              </a:ext>
            </a:extLst>
          </p:cNvPr>
          <p:cNvSpPr>
            <a:spLocks noGrp="1" noRot="1" noChangeArrowheads="1"/>
          </p:cNvSpPr>
          <p:nvPr>
            <p:ph type="body" sz="quarter" idx="3"/>
          </p:nvPr>
        </p:nvSpPr>
        <p:spPr bwMode="auto">
          <a:xfrm>
            <a:off x="685800" y="4724956"/>
            <a:ext cx="5486400" cy="4476274"/>
          </a:xfrm>
          <a:prstGeom prst="rect">
            <a:avLst/>
          </a:prstGeom>
          <a:noFill/>
          <a:ln>
            <a:noFill/>
          </a:ln>
          <a:extLst>
            <a:ext uri="{909E8E84-426E-40dd-AFC4-6F175D3DCCD1}"/>
            <a:ext uri="{91240B29-F687-4f45-9708-019B960494DF}"/>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endParaRPr lang="en-US" altLang="zh-CN" noProof="0"/>
          </a:p>
          <a:p>
            <a:pPr lvl="1"/>
            <a:r>
              <a:rPr lang="zh-CN" altLang="en-US" noProof="0"/>
              <a:t>第二级</a:t>
            </a:r>
            <a:endParaRPr lang="en-US" altLang="zh-CN" noProof="0"/>
          </a:p>
          <a:p>
            <a:pPr lvl="2"/>
            <a:r>
              <a:rPr lang="zh-CN" altLang="en-US" noProof="0"/>
              <a:t>第三级</a:t>
            </a:r>
            <a:endParaRPr lang="en-US" altLang="zh-CN" noProof="0"/>
          </a:p>
          <a:p>
            <a:pPr lvl="3"/>
            <a:r>
              <a:rPr lang="zh-CN" altLang="en-US" noProof="0"/>
              <a:t>第四级</a:t>
            </a:r>
            <a:endParaRPr lang="en-US" altLang="zh-CN" noProof="0"/>
          </a:p>
          <a:p>
            <a:pPr lvl="4"/>
            <a:r>
              <a:rPr lang="zh-CN" altLang="en-US" noProof="0"/>
              <a:t>第五级</a:t>
            </a:r>
            <a:endParaRPr lang="en-US" altLang="zh-CN" noProof="0"/>
          </a:p>
        </p:txBody>
      </p:sp>
      <p:sp>
        <p:nvSpPr>
          <p:cNvPr id="3078" name="Rectangle 6">
            <a:extLst>
              <a:ext uri="{FF2B5EF4-FFF2-40B4-BE49-F238E27FC236}">
                <a16:creationId xmlns:a16="http://schemas.microsoft.com/office/drawing/2014/main" id="{900D91B0-938D-43D2-B4A5-04218A09BCE8}"/>
              </a:ext>
            </a:extLst>
          </p:cNvPr>
          <p:cNvSpPr>
            <a:spLocks noGrp="1" noChangeArrowheads="1"/>
          </p:cNvSpPr>
          <p:nvPr>
            <p:ph type="ftr" sz="quarter" idx="4"/>
          </p:nvPr>
        </p:nvSpPr>
        <p:spPr bwMode="auto">
          <a:xfrm>
            <a:off x="1" y="9448185"/>
            <a:ext cx="2970213" cy="497364"/>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9" name="Rectangle 7">
            <a:extLst>
              <a:ext uri="{FF2B5EF4-FFF2-40B4-BE49-F238E27FC236}">
                <a16:creationId xmlns:a16="http://schemas.microsoft.com/office/drawing/2014/main" id="{460084FF-D1F9-4991-8BEC-52A9C4629F32}"/>
              </a:ext>
            </a:extLst>
          </p:cNvPr>
          <p:cNvSpPr>
            <a:spLocks noGrp="1" noChangeArrowheads="1"/>
          </p:cNvSpPr>
          <p:nvPr>
            <p:ph type="sldNum" sz="quarter" idx="5"/>
          </p:nvPr>
        </p:nvSpPr>
        <p:spPr bwMode="auto">
          <a:xfrm>
            <a:off x="3883025" y="9448185"/>
            <a:ext cx="2973388" cy="497364"/>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ea typeface="SimSun" panose="02010600030101010101" pitchFamily="2" charset="-122"/>
              </a:defRPr>
            </a:lvl1pPr>
          </a:lstStyle>
          <a:p>
            <a:pPr>
              <a:defRPr/>
            </a:pPr>
            <a:fld id="{778C1415-F545-4EAF-A725-72D26972220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3258F932-2890-466A-B7FD-D54B5E428C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C6CDF12-C462-4CCB-A356-28A7F58EA6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56ABFEF-8D30-40EE-85CE-F956A80A477B}"/>
              </a:ext>
            </a:extLst>
          </p:cNvPr>
          <p:cNvSpPr>
            <a:spLocks noGrp="1" noChangeArrowheads="1"/>
          </p:cNvSpPr>
          <p:nvPr>
            <p:ph type="sldNum" sz="quarter" idx="12"/>
          </p:nvPr>
        </p:nvSpPr>
        <p:spPr>
          <a:ln/>
        </p:spPr>
        <p:txBody>
          <a:bodyPr/>
          <a:lstStyle>
            <a:lvl1pPr>
              <a:defRPr/>
            </a:lvl1pPr>
          </a:lstStyle>
          <a:p>
            <a:pPr>
              <a:defRPr/>
            </a:pPr>
            <a:fld id="{83ACF02D-BD2B-41A3-A43A-08279D48516E}" type="slidenum">
              <a:rPr lang="en-US" altLang="zh-CN"/>
              <a:pPr>
                <a:defRPr/>
              </a:pPr>
              <a:t>‹#›</a:t>
            </a:fld>
            <a:endParaRPr lang="en-US" altLang="zh-CN"/>
          </a:p>
        </p:txBody>
      </p:sp>
    </p:spTree>
    <p:extLst>
      <p:ext uri="{BB962C8B-B14F-4D97-AF65-F5344CB8AC3E}">
        <p14:creationId xmlns:p14="http://schemas.microsoft.com/office/powerpoint/2010/main" val="821212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153F3F7-AC56-4FF9-B43F-CF4FBD8658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031F05-997D-49D6-A3A7-B3CFD73876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8907D21-A66F-4D72-8CDD-4E3976303BA1}"/>
              </a:ext>
            </a:extLst>
          </p:cNvPr>
          <p:cNvSpPr>
            <a:spLocks noGrp="1" noChangeArrowheads="1"/>
          </p:cNvSpPr>
          <p:nvPr>
            <p:ph type="sldNum" sz="quarter" idx="12"/>
          </p:nvPr>
        </p:nvSpPr>
        <p:spPr>
          <a:ln/>
        </p:spPr>
        <p:txBody>
          <a:bodyPr/>
          <a:lstStyle>
            <a:lvl1pPr>
              <a:defRPr/>
            </a:lvl1pPr>
          </a:lstStyle>
          <a:p>
            <a:pPr>
              <a:defRPr/>
            </a:pPr>
            <a:fld id="{D1AE9027-F3D1-4C9B-9224-74565BAB0F91}" type="slidenum">
              <a:rPr lang="en-US" altLang="zh-CN"/>
              <a:pPr>
                <a:defRPr/>
              </a:pPr>
              <a:t>‹#›</a:t>
            </a:fld>
            <a:endParaRPr lang="en-US" altLang="zh-CN"/>
          </a:p>
        </p:txBody>
      </p:sp>
    </p:spTree>
    <p:extLst>
      <p:ext uri="{BB962C8B-B14F-4D97-AF65-F5344CB8AC3E}">
        <p14:creationId xmlns:p14="http://schemas.microsoft.com/office/powerpoint/2010/main" val="3471907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7D94C75-0E5B-4C8C-8A85-61C6E7B650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655DBC5-C64C-4A22-B684-D5ED958D0E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A1FB95A-9604-4FE1-9D3A-7F2FF52535B1}"/>
              </a:ext>
            </a:extLst>
          </p:cNvPr>
          <p:cNvSpPr>
            <a:spLocks noGrp="1" noChangeArrowheads="1"/>
          </p:cNvSpPr>
          <p:nvPr>
            <p:ph type="sldNum" sz="quarter" idx="12"/>
          </p:nvPr>
        </p:nvSpPr>
        <p:spPr>
          <a:ln/>
        </p:spPr>
        <p:txBody>
          <a:bodyPr/>
          <a:lstStyle>
            <a:lvl1pPr>
              <a:defRPr/>
            </a:lvl1pPr>
          </a:lstStyle>
          <a:p>
            <a:pPr>
              <a:defRPr/>
            </a:pPr>
            <a:fld id="{01EA35FE-6C29-4C46-8B53-D31BCACACDA4}" type="slidenum">
              <a:rPr lang="en-US" altLang="zh-CN"/>
              <a:pPr>
                <a:defRPr/>
              </a:pPr>
              <a:t>‹#›</a:t>
            </a:fld>
            <a:endParaRPr lang="en-US" altLang="zh-CN"/>
          </a:p>
        </p:txBody>
      </p:sp>
    </p:spTree>
    <p:extLst>
      <p:ext uri="{BB962C8B-B14F-4D97-AF65-F5344CB8AC3E}">
        <p14:creationId xmlns:p14="http://schemas.microsoft.com/office/powerpoint/2010/main" val="3571400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7C559C9-402E-49B6-972F-BA454CAB79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CD5592F-244A-426B-AE54-C75B816AAF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B71A969-1188-4E27-94E7-7C97008B70AD}"/>
              </a:ext>
            </a:extLst>
          </p:cNvPr>
          <p:cNvSpPr>
            <a:spLocks noGrp="1" noChangeArrowheads="1"/>
          </p:cNvSpPr>
          <p:nvPr>
            <p:ph type="sldNum" sz="quarter" idx="12"/>
          </p:nvPr>
        </p:nvSpPr>
        <p:spPr>
          <a:ln/>
        </p:spPr>
        <p:txBody>
          <a:bodyPr/>
          <a:lstStyle>
            <a:lvl1pPr>
              <a:defRPr/>
            </a:lvl1pPr>
          </a:lstStyle>
          <a:p>
            <a:pPr>
              <a:defRPr/>
            </a:pPr>
            <a:fld id="{A2BEFB40-825F-4796-972A-72776875975C}" type="slidenum">
              <a:rPr lang="en-US" altLang="zh-CN"/>
              <a:pPr>
                <a:defRPr/>
              </a:pPr>
              <a:t>‹#›</a:t>
            </a:fld>
            <a:endParaRPr lang="en-US" altLang="zh-CN"/>
          </a:p>
        </p:txBody>
      </p:sp>
    </p:spTree>
    <p:extLst>
      <p:ext uri="{BB962C8B-B14F-4D97-AF65-F5344CB8AC3E}">
        <p14:creationId xmlns:p14="http://schemas.microsoft.com/office/powerpoint/2010/main" val="1774853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7852098-092B-4191-91AC-47E76367E5B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2835333-50B1-47AA-8BD8-9180F0B6EF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06042E5-AB1C-4E74-A4F2-A3A8A16B765E}"/>
              </a:ext>
            </a:extLst>
          </p:cNvPr>
          <p:cNvSpPr>
            <a:spLocks noGrp="1" noChangeArrowheads="1"/>
          </p:cNvSpPr>
          <p:nvPr>
            <p:ph type="sldNum" sz="quarter" idx="12"/>
          </p:nvPr>
        </p:nvSpPr>
        <p:spPr>
          <a:ln/>
        </p:spPr>
        <p:txBody>
          <a:bodyPr/>
          <a:lstStyle>
            <a:lvl1pPr>
              <a:defRPr/>
            </a:lvl1pPr>
          </a:lstStyle>
          <a:p>
            <a:pPr>
              <a:defRPr/>
            </a:pPr>
            <a:fld id="{FA06A27F-7434-4140-BAD3-3CE749CFA594}" type="slidenum">
              <a:rPr lang="en-US" altLang="zh-CN"/>
              <a:pPr>
                <a:defRPr/>
              </a:pPr>
              <a:t>‹#›</a:t>
            </a:fld>
            <a:endParaRPr lang="en-US" altLang="zh-CN"/>
          </a:p>
        </p:txBody>
      </p:sp>
    </p:spTree>
    <p:extLst>
      <p:ext uri="{BB962C8B-B14F-4D97-AF65-F5344CB8AC3E}">
        <p14:creationId xmlns:p14="http://schemas.microsoft.com/office/powerpoint/2010/main" val="343004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C065B87-4760-410D-9B8A-0031A9CAF7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54285A1-172E-4738-9540-9201D81FBB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AEB86D3-7468-4211-8791-ECFAAFE185BE}"/>
              </a:ext>
            </a:extLst>
          </p:cNvPr>
          <p:cNvSpPr>
            <a:spLocks noGrp="1" noChangeArrowheads="1"/>
          </p:cNvSpPr>
          <p:nvPr>
            <p:ph type="sldNum" sz="quarter" idx="12"/>
          </p:nvPr>
        </p:nvSpPr>
        <p:spPr>
          <a:ln/>
        </p:spPr>
        <p:txBody>
          <a:bodyPr/>
          <a:lstStyle>
            <a:lvl1pPr>
              <a:defRPr/>
            </a:lvl1pPr>
          </a:lstStyle>
          <a:p>
            <a:pPr>
              <a:defRPr/>
            </a:pPr>
            <a:fld id="{5D94F624-5205-4AAE-AE23-807F393407FA}" type="slidenum">
              <a:rPr lang="en-US" altLang="zh-CN"/>
              <a:pPr>
                <a:defRPr/>
              </a:pPr>
              <a:t>‹#›</a:t>
            </a:fld>
            <a:endParaRPr lang="en-US" altLang="zh-CN"/>
          </a:p>
        </p:txBody>
      </p:sp>
    </p:spTree>
    <p:extLst>
      <p:ext uri="{BB962C8B-B14F-4D97-AF65-F5344CB8AC3E}">
        <p14:creationId xmlns:p14="http://schemas.microsoft.com/office/powerpoint/2010/main" val="1047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77E13B-72D9-470A-A1FF-022BA31FDD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551F784-F8A4-4306-B383-E8C5305331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5B2EE31-B659-4A2E-A5F7-4B33CE055727}"/>
              </a:ext>
            </a:extLst>
          </p:cNvPr>
          <p:cNvSpPr>
            <a:spLocks noGrp="1" noChangeArrowheads="1"/>
          </p:cNvSpPr>
          <p:nvPr>
            <p:ph type="sldNum" sz="quarter" idx="12"/>
          </p:nvPr>
        </p:nvSpPr>
        <p:spPr>
          <a:ln/>
        </p:spPr>
        <p:txBody>
          <a:bodyPr/>
          <a:lstStyle>
            <a:lvl1pPr>
              <a:defRPr/>
            </a:lvl1pPr>
          </a:lstStyle>
          <a:p>
            <a:pPr>
              <a:defRPr/>
            </a:pPr>
            <a:fld id="{28315612-C62D-4AEB-B509-25ACC8E173B5}" type="slidenum">
              <a:rPr lang="en-US" altLang="zh-CN"/>
              <a:pPr>
                <a:defRPr/>
              </a:pPr>
              <a:t>‹#›</a:t>
            </a:fld>
            <a:endParaRPr lang="en-US" altLang="zh-CN"/>
          </a:p>
        </p:txBody>
      </p:sp>
    </p:spTree>
    <p:extLst>
      <p:ext uri="{BB962C8B-B14F-4D97-AF65-F5344CB8AC3E}">
        <p14:creationId xmlns:p14="http://schemas.microsoft.com/office/powerpoint/2010/main" val="132140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330B0F8-9AD5-4FFB-BAA3-1A9121D7747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5C99C597-8A04-4988-B2BC-BC7245954C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4FA4472-FF9F-4640-A6AA-A22E92CDF4EA}"/>
              </a:ext>
            </a:extLst>
          </p:cNvPr>
          <p:cNvSpPr>
            <a:spLocks noGrp="1" noChangeArrowheads="1"/>
          </p:cNvSpPr>
          <p:nvPr>
            <p:ph type="sldNum" sz="quarter" idx="12"/>
          </p:nvPr>
        </p:nvSpPr>
        <p:spPr>
          <a:ln/>
        </p:spPr>
        <p:txBody>
          <a:bodyPr/>
          <a:lstStyle>
            <a:lvl1pPr>
              <a:defRPr/>
            </a:lvl1pPr>
          </a:lstStyle>
          <a:p>
            <a:pPr>
              <a:defRPr/>
            </a:pPr>
            <a:fld id="{EB68E671-225C-4CFC-9C8F-6FC8794CFFD6}" type="slidenum">
              <a:rPr lang="en-US" altLang="zh-CN"/>
              <a:pPr>
                <a:defRPr/>
              </a:pPr>
              <a:t>‹#›</a:t>
            </a:fld>
            <a:endParaRPr lang="en-US" altLang="zh-CN"/>
          </a:p>
        </p:txBody>
      </p:sp>
    </p:spTree>
    <p:extLst>
      <p:ext uri="{BB962C8B-B14F-4D97-AF65-F5344CB8AC3E}">
        <p14:creationId xmlns:p14="http://schemas.microsoft.com/office/powerpoint/2010/main" val="2242910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C8497F1-318E-4118-8ADB-DC9B25B0626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63987DB-7905-42B3-92B5-1E55EC5447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F771812-8A9A-4030-9354-C31CAB44A21B}"/>
              </a:ext>
            </a:extLst>
          </p:cNvPr>
          <p:cNvSpPr>
            <a:spLocks noGrp="1" noChangeArrowheads="1"/>
          </p:cNvSpPr>
          <p:nvPr>
            <p:ph type="sldNum" sz="quarter" idx="12"/>
          </p:nvPr>
        </p:nvSpPr>
        <p:spPr>
          <a:ln/>
        </p:spPr>
        <p:txBody>
          <a:bodyPr/>
          <a:lstStyle>
            <a:lvl1pPr>
              <a:defRPr/>
            </a:lvl1pPr>
          </a:lstStyle>
          <a:p>
            <a:pPr>
              <a:defRPr/>
            </a:pPr>
            <a:fld id="{D0C1CC3E-3A36-4EA1-8FDF-FCBC759A9980}" type="slidenum">
              <a:rPr lang="en-US" altLang="zh-CN"/>
              <a:pPr>
                <a:defRPr/>
              </a:pPr>
              <a:t>‹#›</a:t>
            </a:fld>
            <a:endParaRPr lang="en-US" altLang="zh-CN"/>
          </a:p>
        </p:txBody>
      </p:sp>
    </p:spTree>
    <p:extLst>
      <p:ext uri="{BB962C8B-B14F-4D97-AF65-F5344CB8AC3E}">
        <p14:creationId xmlns:p14="http://schemas.microsoft.com/office/powerpoint/2010/main" val="127093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A0C0EC6-7BCF-4048-853F-1E8529DAA4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A18239-816F-4A76-A6F8-54BB7DC23A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0D12BE1-4C58-4ED6-B698-E499CC12A84B}"/>
              </a:ext>
            </a:extLst>
          </p:cNvPr>
          <p:cNvSpPr>
            <a:spLocks noGrp="1" noChangeArrowheads="1"/>
          </p:cNvSpPr>
          <p:nvPr>
            <p:ph type="sldNum" sz="quarter" idx="12"/>
          </p:nvPr>
        </p:nvSpPr>
        <p:spPr>
          <a:ln/>
        </p:spPr>
        <p:txBody>
          <a:bodyPr/>
          <a:lstStyle>
            <a:lvl1pPr>
              <a:defRPr/>
            </a:lvl1pPr>
          </a:lstStyle>
          <a:p>
            <a:pPr>
              <a:defRPr/>
            </a:pPr>
            <a:fld id="{6179DB30-7045-4D36-B14A-80846535937F}" type="slidenum">
              <a:rPr lang="en-US" altLang="zh-CN"/>
              <a:pPr>
                <a:defRPr/>
              </a:pPr>
              <a:t>‹#›</a:t>
            </a:fld>
            <a:endParaRPr lang="en-US" altLang="zh-CN"/>
          </a:p>
        </p:txBody>
      </p:sp>
    </p:spTree>
    <p:extLst>
      <p:ext uri="{BB962C8B-B14F-4D97-AF65-F5344CB8AC3E}">
        <p14:creationId xmlns:p14="http://schemas.microsoft.com/office/powerpoint/2010/main" val="185635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96751CC-D93A-4811-9EB6-52F2917DE1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252C067-7BB3-43EC-89D8-A7FA4AB2AD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383FF4B-04D2-4813-BCA2-8E3C22F53182}"/>
              </a:ext>
            </a:extLst>
          </p:cNvPr>
          <p:cNvSpPr>
            <a:spLocks noGrp="1" noChangeArrowheads="1"/>
          </p:cNvSpPr>
          <p:nvPr>
            <p:ph type="sldNum" sz="quarter" idx="12"/>
          </p:nvPr>
        </p:nvSpPr>
        <p:spPr>
          <a:ln/>
        </p:spPr>
        <p:txBody>
          <a:bodyPr/>
          <a:lstStyle>
            <a:lvl1pPr>
              <a:defRPr/>
            </a:lvl1pPr>
          </a:lstStyle>
          <a:p>
            <a:pPr>
              <a:defRPr/>
            </a:pPr>
            <a:fld id="{5F5BCAFB-D2B0-4266-B070-58FF8190BD85}" type="slidenum">
              <a:rPr lang="en-US" altLang="zh-CN"/>
              <a:pPr>
                <a:defRPr/>
              </a:pPr>
              <a:t>‹#›</a:t>
            </a:fld>
            <a:endParaRPr lang="en-US" altLang="zh-CN"/>
          </a:p>
        </p:txBody>
      </p:sp>
    </p:spTree>
    <p:extLst>
      <p:ext uri="{BB962C8B-B14F-4D97-AF65-F5344CB8AC3E}">
        <p14:creationId xmlns:p14="http://schemas.microsoft.com/office/powerpoint/2010/main" val="500121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98ED485-6AA5-423E-A45F-DF87DF13AA7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a:extLst>
              <a:ext uri="{FF2B5EF4-FFF2-40B4-BE49-F238E27FC236}">
                <a16:creationId xmlns:a16="http://schemas.microsoft.com/office/drawing/2014/main" id="{EF87A2F6-7A58-428B-8C9D-135F10D749E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052" name="Rectangle 4">
            <a:extLst>
              <a:ext uri="{FF2B5EF4-FFF2-40B4-BE49-F238E27FC236}">
                <a16:creationId xmlns:a16="http://schemas.microsoft.com/office/drawing/2014/main" id="{54FEE0AA-F66C-44D7-A2CF-E2A7D71EF929}"/>
              </a:ext>
            </a:extLst>
          </p:cNvPr>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3" name="Rectangle 5">
            <a:extLst>
              <a:ext uri="{FF2B5EF4-FFF2-40B4-BE49-F238E27FC236}">
                <a16:creationId xmlns:a16="http://schemas.microsoft.com/office/drawing/2014/main" id="{02B35E2B-65B8-403C-BFDA-3A5BA16A2D38}"/>
              </a:ext>
            </a:extLst>
          </p:cNvPr>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ct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4" name="Rectangle 6">
            <a:extLst>
              <a:ext uri="{FF2B5EF4-FFF2-40B4-BE49-F238E27FC236}">
                <a16:creationId xmlns:a16="http://schemas.microsoft.com/office/drawing/2014/main" id="{844184CE-A564-44F9-A27E-2DDE5988ED99}"/>
              </a:ext>
            </a:extLst>
          </p:cNvPr>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ea typeface="SimSun" panose="02010600030101010101" pitchFamily="2" charset="-122"/>
              </a:defRPr>
            </a:lvl1pPr>
          </a:lstStyle>
          <a:p>
            <a:pPr>
              <a:defRPr/>
            </a:pPr>
            <a:fld id="{F5F2B2FA-3BF5-48AF-AA11-EF51B337F4E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kern="1200">
          <a:solidFill>
            <a:schemeClr val="tx2"/>
          </a:solidFill>
          <a:latin typeface="+mj-lt"/>
          <a:ea typeface="MS PGothic" panose="020B0600070205080204" pitchFamily="34" charset="-128"/>
          <a:cs typeface="SimSun" panose="02010600030101010101" pitchFamily="2" charset="-122"/>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S PGothic" panose="020B0600070205080204" pitchFamily="34" charset="-128"/>
          <a:cs typeface="SimSun" panose="02010600030101010101" pitchFamily="2" charset="-122"/>
        </a:defRPr>
      </a:lvl1pPr>
      <a:lvl2pPr marL="742950" indent="-285750" algn="l" rtl="0" eaLnBrk="0" fontAlgn="base" hangingPunct="0">
        <a:spcBef>
          <a:spcPct val="20000"/>
        </a:spcBef>
        <a:spcAft>
          <a:spcPct val="0"/>
        </a:spcAft>
        <a:buChar char="–"/>
        <a:defRPr sz="2800" kern="1200">
          <a:solidFill>
            <a:schemeClr val="tx1"/>
          </a:solidFill>
          <a:latin typeface="+mn-lt"/>
          <a:ea typeface="SimSun" panose="02010600030101010101" pitchFamily="2" charset="-122"/>
          <a:cs typeface="SimSun" panose="02010600030101010101" pitchFamily="2" charset="-122"/>
        </a:defRPr>
      </a:lvl2pPr>
      <a:lvl3pPr marL="1143000" indent="-228600" algn="l" rtl="0" eaLnBrk="0" fontAlgn="base" hangingPunct="0">
        <a:spcBef>
          <a:spcPct val="20000"/>
        </a:spcBef>
        <a:spcAft>
          <a:spcPct val="0"/>
        </a:spcAft>
        <a:buChar char="•"/>
        <a:defRPr sz="2400" kern="1200">
          <a:solidFill>
            <a:schemeClr val="tx1"/>
          </a:solidFill>
          <a:latin typeface="+mn-lt"/>
          <a:ea typeface="SimSun" panose="02010600030101010101" pitchFamily="2" charset="-122"/>
          <a:cs typeface="SimSun" panose="02010600030101010101" pitchFamily="2" charset="-122"/>
        </a:defRPr>
      </a:lvl3pPr>
      <a:lvl4pPr marL="16002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4pPr>
      <a:lvl5pPr marL="20574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a:extLst>
              <a:ext uri="{FF2B5EF4-FFF2-40B4-BE49-F238E27FC236}">
                <a16:creationId xmlns:a16="http://schemas.microsoft.com/office/drawing/2014/main" id="{C8A27B77-DB4B-42EA-A92A-73A776DB8004}"/>
              </a:ext>
            </a:extLst>
          </p:cNvPr>
          <p:cNvSpPr txBox="1">
            <a:spLocks noChangeArrowheads="1"/>
          </p:cNvSpPr>
          <p:nvPr/>
        </p:nvSpPr>
        <p:spPr bwMode="auto">
          <a:xfrm>
            <a:off x="914400" y="2413337"/>
            <a:ext cx="7315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6000" dirty="0">
                <a:latin typeface="SimHei" panose="02010609060101010101" pitchFamily="49" charset="-122"/>
                <a:ea typeface="SimHei" panose="02010609060101010101" pitchFamily="49" charset="-122"/>
                <a:cs typeface="Adobe 黑体 Std R" charset="-122"/>
              </a:rPr>
              <a:t>彩妆类化妆品</a:t>
            </a:r>
            <a:endParaRPr lang="en-US" altLang="zh-CN" sz="6000" dirty="0">
              <a:latin typeface="SimHei" panose="02010609060101010101" pitchFamily="49" charset="-122"/>
              <a:ea typeface="SimHei" panose="02010609060101010101" pitchFamily="49" charset="-122"/>
              <a:cs typeface="Adobe 黑体 Std R" charset="-122"/>
            </a:endParaRPr>
          </a:p>
        </p:txBody>
      </p:sp>
    </p:spTree>
    <p:extLst>
      <p:ext uri="{BB962C8B-B14F-4D97-AF65-F5344CB8AC3E}">
        <p14:creationId xmlns:p14="http://schemas.microsoft.com/office/powerpoint/2010/main" val="2277165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835C40E-90BA-7351-AC10-48106BA08B13}"/>
              </a:ext>
            </a:extLst>
          </p:cNvPr>
          <p:cNvPicPr>
            <a:picLocks noChangeAspect="1"/>
          </p:cNvPicPr>
          <p:nvPr/>
        </p:nvPicPr>
        <p:blipFill>
          <a:blip r:embed="rId2">
            <a:extLst>
              <a:ext uri="{28A0092B-C50C-407E-A947-70E740481C1C}">
                <a14:useLocalDpi xmlns:a14="http://schemas.microsoft.com/office/drawing/2010/main" val="0"/>
              </a:ext>
            </a:extLst>
          </a:blip>
          <a:srcRect l="4343" t="51487" r="50000" b="23693"/>
          <a:stretch/>
        </p:blipFill>
        <p:spPr>
          <a:xfrm>
            <a:off x="2046485" y="708112"/>
            <a:ext cx="5051030" cy="5945816"/>
          </a:xfrm>
          <a:prstGeom prst="rect">
            <a:avLst/>
          </a:prstGeom>
        </p:spPr>
      </p:pic>
      <p:sp>
        <p:nvSpPr>
          <p:cNvPr id="6" name="文本框 5">
            <a:extLst>
              <a:ext uri="{FF2B5EF4-FFF2-40B4-BE49-F238E27FC236}">
                <a16:creationId xmlns:a16="http://schemas.microsoft.com/office/drawing/2014/main" id="{15E57697-E02C-6B17-B977-3D6C6C17D9F7}"/>
              </a:ext>
            </a:extLst>
          </p:cNvPr>
          <p:cNvSpPr txBox="1"/>
          <p:nvPr/>
        </p:nvSpPr>
        <p:spPr>
          <a:xfrm>
            <a:off x="2325231" y="204072"/>
            <a:ext cx="4493538" cy="461665"/>
          </a:xfrm>
          <a:prstGeom prst="rect">
            <a:avLst/>
          </a:prstGeom>
          <a:noFill/>
        </p:spPr>
        <p:txBody>
          <a:bodyPr wrap="none" rtlCol="0">
            <a:spAutoFit/>
          </a:bodyPr>
          <a:lstStyle/>
          <a:p>
            <a:r>
              <a:rPr lang="zh-CN" altLang="en-US" sz="2400" dirty="0">
                <a:latin typeface="SimHei" panose="02010609060101010101" pitchFamily="49" charset="-122"/>
                <a:ea typeface="SimHei" panose="02010609060101010101" pitchFamily="49" charset="-122"/>
                <a:cs typeface="Arial" panose="020B0604020202020204" pitchFamily="34" charset="0"/>
              </a:rPr>
              <a:t>请观察这个演员用了哪些彩妆？</a:t>
            </a:r>
            <a:endParaRPr lang="en-US" sz="2400" dirty="0">
              <a:latin typeface="SimHei" panose="02010609060101010101" pitchFamily="49" charset="-122"/>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3608670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1458200-280C-BD88-4C9A-9C3E1D77041C}"/>
              </a:ext>
            </a:extLst>
          </p:cNvPr>
          <p:cNvPicPr>
            <a:picLocks noChangeAspect="1"/>
          </p:cNvPicPr>
          <p:nvPr/>
        </p:nvPicPr>
        <p:blipFill>
          <a:blip r:embed="rId2">
            <a:extLst>
              <a:ext uri="{28A0092B-C50C-407E-A947-70E740481C1C}">
                <a14:useLocalDpi xmlns:a14="http://schemas.microsoft.com/office/drawing/2010/main" val="0"/>
              </a:ext>
            </a:extLst>
          </a:blip>
          <a:srcRect t="51076" b="12000"/>
          <a:stretch/>
        </p:blipFill>
        <p:spPr>
          <a:xfrm>
            <a:off x="265825" y="1527224"/>
            <a:ext cx="4757366" cy="3803552"/>
          </a:xfrm>
          <a:prstGeom prst="rect">
            <a:avLst/>
          </a:prstGeom>
        </p:spPr>
      </p:pic>
      <p:pic>
        <p:nvPicPr>
          <p:cNvPr id="4" name="图片 3">
            <a:extLst>
              <a:ext uri="{FF2B5EF4-FFF2-40B4-BE49-F238E27FC236}">
                <a16:creationId xmlns:a16="http://schemas.microsoft.com/office/drawing/2014/main" id="{ED69E508-1F1E-5847-1976-D754A3C6371A}"/>
              </a:ext>
            </a:extLst>
          </p:cNvPr>
          <p:cNvPicPr>
            <a:picLocks noChangeAspect="1"/>
          </p:cNvPicPr>
          <p:nvPr/>
        </p:nvPicPr>
        <p:blipFill>
          <a:blip r:embed="rId2">
            <a:extLst>
              <a:ext uri="{28A0092B-C50C-407E-A947-70E740481C1C}">
                <a14:useLocalDpi xmlns:a14="http://schemas.microsoft.com/office/drawing/2010/main" val="0"/>
              </a:ext>
            </a:extLst>
          </a:blip>
          <a:srcRect t="10255" b="50975"/>
          <a:stretch/>
        </p:blipFill>
        <p:spPr>
          <a:xfrm>
            <a:off x="5291210" y="1527224"/>
            <a:ext cx="3586966" cy="3011198"/>
          </a:xfrm>
          <a:prstGeom prst="rect">
            <a:avLst/>
          </a:prstGeom>
        </p:spPr>
      </p:pic>
    </p:spTree>
    <p:extLst>
      <p:ext uri="{BB962C8B-B14F-4D97-AF65-F5344CB8AC3E}">
        <p14:creationId xmlns:p14="http://schemas.microsoft.com/office/powerpoint/2010/main" val="1371542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概要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939625" y="1808844"/>
            <a:ext cx="7163851" cy="324031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粉类</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粉饼类</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唇膏类</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笔类</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睫毛护理</a:t>
            </a:r>
            <a:endParaRPr lang="en-US" altLang="zh-CN" sz="2800" dirty="0">
              <a:latin typeface="+mn-lt"/>
              <a:ea typeface="SimHei" panose="02010609060101010101" pitchFamily="49" charset="-122"/>
            </a:endParaRPr>
          </a:p>
        </p:txBody>
      </p:sp>
    </p:spTree>
    <p:extLst>
      <p:ext uri="{BB962C8B-B14F-4D97-AF65-F5344CB8AC3E}">
        <p14:creationId xmlns:p14="http://schemas.microsoft.com/office/powerpoint/2010/main" val="517602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粉类产品概述</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粉类产品是人类从古代就开始使用的美容化妆品，通过涂敷粉类产品于面部，可以</a:t>
            </a:r>
            <a:r>
              <a:rPr lang="zh-CN" altLang="en-US" sz="2400" dirty="0">
                <a:solidFill>
                  <a:srgbClr val="0000FF"/>
                </a:solidFill>
                <a:latin typeface="+mn-lt"/>
                <a:ea typeface="SimHei" panose="02010609060101010101" pitchFamily="49" charset="-122"/>
              </a:rPr>
              <a:t>调整面部颜色，使皮肤显出健康均匀的肤色，同时能遮盖黄褐斑或瑕疵</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但是自从打底用的基础美容制品出现以来，粉类产品的主要功能已变为</a:t>
            </a:r>
            <a:r>
              <a:rPr lang="zh-CN" altLang="en-US" sz="2400" dirty="0">
                <a:solidFill>
                  <a:srgbClr val="0000FF"/>
                </a:solidFill>
                <a:latin typeface="+mn-lt"/>
                <a:ea typeface="SimHei" panose="02010609060101010101" pitchFamily="49" charset="-122"/>
              </a:rPr>
              <a:t>消去汗液和皮脂引起的油腻光泽，提高妆容的持久性</a:t>
            </a:r>
          </a:p>
        </p:txBody>
      </p:sp>
    </p:spTree>
    <p:extLst>
      <p:ext uri="{BB962C8B-B14F-4D97-AF65-F5344CB8AC3E}">
        <p14:creationId xmlns:p14="http://schemas.microsoft.com/office/powerpoint/2010/main" val="8881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面部美容粉类有多种分类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如以粉体为主的散粉；</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配合少量油分结合剂成为固态的粉饼；</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将粉涂在纸上的纸白粉；</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将粉体分散在水性成分中的水白粉；</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将粉体和甘油等搅拌而成的练白粉等</a:t>
            </a:r>
            <a:endParaRPr lang="en-US" altLang="zh-CN" sz="2400" dirty="0">
              <a:latin typeface="+mn-lt"/>
              <a:ea typeface="SimHei" panose="02010609060101010101" pitchFamily="49" charset="-122"/>
            </a:endParaRPr>
          </a:p>
          <a:p>
            <a:pPr>
              <a:lnSpc>
                <a:spcPct val="150000"/>
              </a:lnSpc>
            </a:pPr>
            <a:r>
              <a:rPr lang="zh-CN" altLang="en-US" sz="2400" b="1" dirty="0">
                <a:latin typeface="KaiTi" panose="02010609060101010101" pitchFamily="49" charset="-122"/>
                <a:ea typeface="KaiTi" panose="02010609060101010101" pitchFamily="49" charset="-122"/>
              </a:rPr>
              <a:t>过去常使用的水白粉和练白粉现在一般日常并不使用，多使用于舞台等场合的特殊化妆，而</a:t>
            </a:r>
            <a:r>
              <a:rPr lang="zh-CN" altLang="en-US" sz="2400" b="1" dirty="0">
                <a:solidFill>
                  <a:srgbClr val="0000FF"/>
                </a:solidFill>
                <a:latin typeface="KaiTi" panose="02010609060101010101" pitchFamily="49" charset="-122"/>
                <a:ea typeface="KaiTi" panose="02010609060101010101" pitchFamily="49" charset="-122"/>
              </a:rPr>
              <a:t>散粉和粉饼</a:t>
            </a:r>
            <a:r>
              <a:rPr lang="zh-CN" altLang="en-US" sz="2400" b="1" dirty="0">
                <a:latin typeface="KaiTi" panose="02010609060101010101" pitchFamily="49" charset="-122"/>
                <a:ea typeface="KaiTi" panose="02010609060101010101" pitchFamily="49" charset="-122"/>
              </a:rPr>
              <a:t>的应用较多。虽然现今，散粉已较不流行，逐步被粉饼所代替。但散粉的应用由来已久，是一种从古代开始一直沿用至今的美容化妆品。</a:t>
            </a:r>
          </a:p>
          <a:p>
            <a:pPr>
              <a:lnSpc>
                <a:spcPct val="150000"/>
              </a:lnSpc>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1811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散粉</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散粉是不含有油分的</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或很少量的油分</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，全部为粉体原料配制而成的粉状制品。</a:t>
            </a:r>
            <a:endParaRPr lang="en-US" altLang="zh-CN" sz="2400" dirty="0">
              <a:latin typeface="+mn-lt"/>
              <a:ea typeface="SimHe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散粉主要在使用粉底乳液或粉底霜后涂布，多数为</a:t>
            </a:r>
            <a:r>
              <a:rPr lang="zh-CN" altLang="en-US" sz="2400" dirty="0">
                <a:solidFill>
                  <a:srgbClr val="0000FF"/>
                </a:solidFill>
                <a:latin typeface="KaiTi" panose="02010609060101010101" pitchFamily="49" charset="-122"/>
                <a:ea typeface="KaiTi" panose="02010609060101010101" pitchFamily="49" charset="-122"/>
              </a:rPr>
              <a:t>美容后修饰和补妆用，调节皮肤色调，防止油腻皮肤过分光滑和黏腻，显示出无光泽但透明的肤色</a:t>
            </a:r>
            <a:r>
              <a:rPr lang="zh-CN" altLang="en-US" sz="2400" dirty="0">
                <a:latin typeface="KaiTi" panose="02010609060101010101" pitchFamily="49" charset="-122"/>
                <a:ea typeface="KaiTi" panose="02010609060101010101" pitchFamily="49" charset="-122"/>
              </a:rPr>
              <a:t>，可抑制汗和皮脂，</a:t>
            </a:r>
            <a:r>
              <a:rPr lang="zh-CN" altLang="en-US" sz="2400" dirty="0">
                <a:solidFill>
                  <a:srgbClr val="0000FF"/>
                </a:solidFill>
                <a:latin typeface="KaiTi" panose="02010609060101010101" pitchFamily="49" charset="-122"/>
                <a:ea typeface="KaiTi" panose="02010609060101010101" pitchFamily="49" charset="-122"/>
              </a:rPr>
              <a:t>增强化妆品的持续性</a:t>
            </a:r>
            <a:r>
              <a:rPr lang="zh-CN" altLang="en-US" sz="2400" dirty="0">
                <a:latin typeface="KaiTi" panose="02010609060101010101" pitchFamily="49" charset="-122"/>
                <a:ea typeface="KaiTi" panose="02010609060101010101" pitchFamily="49" charset="-122"/>
              </a:rPr>
              <a:t>，产生柔软绒毛的肤感。</a:t>
            </a:r>
            <a:endParaRPr lang="en-US" altLang="zh-CN" sz="2400" dirty="0">
              <a:latin typeface="KaiTi" panose="02010609060101010101" pitchFamily="49" charset="-122"/>
              <a:ea typeface="KaiT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有些散粉还具有一定的</a:t>
            </a:r>
            <a:r>
              <a:rPr lang="zh-CN" altLang="en-US" sz="2400" dirty="0">
                <a:solidFill>
                  <a:srgbClr val="0000FF"/>
                </a:solidFill>
                <a:latin typeface="KaiTi" panose="02010609060101010101" pitchFamily="49" charset="-122"/>
                <a:ea typeface="KaiTi" panose="02010609060101010101" pitchFamily="49" charset="-122"/>
              </a:rPr>
              <a:t>防晒作用</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a:p>
            <a:pPr>
              <a:lnSpc>
                <a:spcPct val="150000"/>
              </a:lnSpc>
            </a:pPr>
            <a:r>
              <a:rPr lang="zh-CN" altLang="en-US" sz="2400" dirty="0">
                <a:solidFill>
                  <a:srgbClr val="0000FF"/>
                </a:solidFill>
                <a:latin typeface="KaiTi" panose="02010609060101010101" pitchFamily="49" charset="-122"/>
                <a:ea typeface="KaiTi" panose="02010609060101010101" pitchFamily="49" charset="-122"/>
              </a:rPr>
              <a:t>婴儿爽身粉</a:t>
            </a:r>
            <a:r>
              <a:rPr lang="zh-CN" altLang="en-US" sz="2400" dirty="0">
                <a:latin typeface="KaiTi" panose="02010609060101010101" pitchFamily="49" charset="-122"/>
                <a:ea typeface="KaiTi" panose="02010609060101010101" pitchFamily="49" charset="-122"/>
              </a:rPr>
              <a:t>也属散粉，主要含纯净滑石粉、玉米淀粉，添加</a:t>
            </a:r>
            <a:r>
              <a:rPr lang="en-US" altLang="zh-CN" sz="2400" dirty="0">
                <a:latin typeface="KaiTi" panose="02010609060101010101" pitchFamily="49" charset="-122"/>
                <a:ea typeface="KaiTi" panose="02010609060101010101" pitchFamily="49" charset="-122"/>
              </a:rPr>
              <a:t>1%</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a:t>
            </a:r>
            <a:r>
              <a:rPr lang="zh-CN" altLang="en-US" sz="2400" dirty="0">
                <a:latin typeface="KaiTi" panose="02010609060101010101" pitchFamily="49" charset="-122"/>
                <a:ea typeface="KaiTi" panose="02010609060101010101" pitchFamily="49" charset="-122"/>
              </a:rPr>
              <a:t>香精。婴儿爽身粉的功能有：</a:t>
            </a:r>
            <a:r>
              <a:rPr lang="zh-CN" altLang="en-US" sz="2400" dirty="0">
                <a:solidFill>
                  <a:srgbClr val="0000FF"/>
                </a:solidFill>
                <a:latin typeface="KaiTi" panose="02010609060101010101" pitchFamily="49" charset="-122"/>
                <a:ea typeface="KaiTi" panose="02010609060101010101" pitchFamily="49" charset="-122"/>
              </a:rPr>
              <a:t>使身体凉爽，保持皮肤干爽和润滑，使皮肤不会与内衣粘连</a:t>
            </a:r>
            <a:r>
              <a:rPr lang="zh-CN" altLang="en-US" sz="2400" dirty="0">
                <a:latin typeface="KaiTi" panose="02010609060101010101" pitchFamily="49" charset="-122"/>
                <a:ea typeface="KaiTi" panose="02010609060101010101" pitchFamily="49" charset="-122"/>
              </a:rPr>
              <a:t>，赋予身体清香的肤感。</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853725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散粉配方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graphicFrame>
        <p:nvGraphicFramePr>
          <p:cNvPr id="5" name="表格 4">
            <a:extLst>
              <a:ext uri="{FF2B5EF4-FFF2-40B4-BE49-F238E27FC236}">
                <a16:creationId xmlns:a16="http://schemas.microsoft.com/office/drawing/2014/main" id="{312AF9FF-91C8-E96C-863C-1DE70AB07820}"/>
              </a:ext>
            </a:extLst>
          </p:cNvPr>
          <p:cNvGraphicFramePr>
            <a:graphicFrameLocks noGrp="1"/>
          </p:cNvGraphicFramePr>
          <p:nvPr>
            <p:extLst>
              <p:ext uri="{D42A27DB-BD31-4B8C-83A1-F6EECF244321}">
                <p14:modId xmlns:p14="http://schemas.microsoft.com/office/powerpoint/2010/main" val="2876111165"/>
              </p:ext>
            </p:extLst>
          </p:nvPr>
        </p:nvGraphicFramePr>
        <p:xfrm>
          <a:off x="182878" y="2057813"/>
          <a:ext cx="8778239" cy="2742374"/>
        </p:xfrm>
        <a:graphic>
          <a:graphicData uri="http://schemas.openxmlformats.org/drawingml/2006/table">
            <a:tbl>
              <a:tblPr firstRow="1" firstCol="1" bandRow="1">
                <a:tableStyleId>{E8B1032C-EA38-4F05-BA0D-38AFFFC7BED3}</a:tableStyleId>
              </a:tblPr>
              <a:tblGrid>
                <a:gridCol w="847978">
                  <a:extLst>
                    <a:ext uri="{9D8B030D-6E8A-4147-A177-3AD203B41FA5}">
                      <a16:colId xmlns:a16="http://schemas.microsoft.com/office/drawing/2014/main" val="1178905473"/>
                    </a:ext>
                  </a:extLst>
                </a:gridCol>
                <a:gridCol w="2045124">
                  <a:extLst>
                    <a:ext uri="{9D8B030D-6E8A-4147-A177-3AD203B41FA5}">
                      <a16:colId xmlns:a16="http://schemas.microsoft.com/office/drawing/2014/main" val="592958952"/>
                    </a:ext>
                  </a:extLst>
                </a:gridCol>
                <a:gridCol w="1363417">
                  <a:extLst>
                    <a:ext uri="{9D8B030D-6E8A-4147-A177-3AD203B41FA5}">
                      <a16:colId xmlns:a16="http://schemas.microsoft.com/office/drawing/2014/main" val="3218529296"/>
                    </a:ext>
                  </a:extLst>
                </a:gridCol>
                <a:gridCol w="956054">
                  <a:extLst>
                    <a:ext uri="{9D8B030D-6E8A-4147-A177-3AD203B41FA5}">
                      <a16:colId xmlns:a16="http://schemas.microsoft.com/office/drawing/2014/main" val="3371949519"/>
                    </a:ext>
                  </a:extLst>
                </a:gridCol>
                <a:gridCol w="2169827">
                  <a:extLst>
                    <a:ext uri="{9D8B030D-6E8A-4147-A177-3AD203B41FA5}">
                      <a16:colId xmlns:a16="http://schemas.microsoft.com/office/drawing/2014/main" val="2019832981"/>
                    </a:ext>
                  </a:extLst>
                </a:gridCol>
                <a:gridCol w="1395839">
                  <a:extLst>
                    <a:ext uri="{9D8B030D-6E8A-4147-A177-3AD203B41FA5}">
                      <a16:colId xmlns:a16="http://schemas.microsoft.com/office/drawing/2014/main" val="4251901889"/>
                    </a:ext>
                  </a:extLst>
                </a:gridCol>
              </a:tblGrid>
              <a:tr h="400278">
                <a:tc>
                  <a:txBody>
                    <a:bodyPr/>
                    <a:lstStyle/>
                    <a:p>
                      <a:pPr marL="183515" marR="0" eaLnBrk="0">
                        <a:lnSpc>
                          <a:spcPct val="92000"/>
                        </a:lnSpc>
                        <a:spcBef>
                          <a:spcPts val="385"/>
                        </a:spcBef>
                        <a:spcAft>
                          <a:spcPts val="0"/>
                        </a:spcAft>
                      </a:pPr>
                      <a:r>
                        <a:rPr lang="zh-CN" sz="1800" spc="45">
                          <a:effectLst/>
                          <a:latin typeface="+mj-lt"/>
                          <a:ea typeface="SimHei" panose="02010609060101010101" pitchFamily="49" charset="-122"/>
                        </a:rPr>
                        <a:t>组相</a:t>
                      </a:r>
                      <a:endParaRPr lang="en-US" sz="1800">
                        <a:solidFill>
                          <a:srgbClr val="000000"/>
                        </a:solidFill>
                        <a:effectLst/>
                        <a:latin typeface="+mj-lt"/>
                        <a:ea typeface="SimHei" panose="02010609060101010101" pitchFamily="49" charset="-122"/>
                      </a:endParaRPr>
                    </a:p>
                  </a:txBody>
                  <a:tcPr marL="0" marR="0" marT="0" marB="0"/>
                </a:tc>
                <a:tc>
                  <a:txBody>
                    <a:bodyPr/>
                    <a:lstStyle/>
                    <a:p>
                      <a:pPr marL="511175" marR="0" eaLnBrk="0">
                        <a:lnSpc>
                          <a:spcPct val="91000"/>
                        </a:lnSpc>
                        <a:spcBef>
                          <a:spcPts val="370"/>
                        </a:spcBef>
                        <a:spcAft>
                          <a:spcPts val="0"/>
                        </a:spcAft>
                      </a:pPr>
                      <a:r>
                        <a:rPr lang="zh-CN" sz="1800" spc="10">
                          <a:effectLst/>
                          <a:latin typeface="+mj-lt"/>
                          <a:ea typeface="SimHei" panose="02010609060101010101" pitchFamily="49" charset="-122"/>
                        </a:rPr>
                        <a:t>原料名称</a:t>
                      </a:r>
                      <a:endParaRPr lang="en-US" sz="1800">
                        <a:solidFill>
                          <a:srgbClr val="000000"/>
                        </a:solidFill>
                        <a:effectLst/>
                        <a:latin typeface="+mj-lt"/>
                        <a:ea typeface="SimHei" panose="02010609060101010101" pitchFamily="49" charset="-122"/>
                      </a:endParaRPr>
                    </a:p>
                  </a:txBody>
                  <a:tcPr marL="0" marR="0" marT="0" marB="0"/>
                </a:tc>
                <a:tc>
                  <a:txBody>
                    <a:bodyPr/>
                    <a:lstStyle/>
                    <a:p>
                      <a:pPr marL="167640" marR="0" eaLnBrk="0">
                        <a:lnSpc>
                          <a:spcPct val="91000"/>
                        </a:lnSpc>
                        <a:spcBef>
                          <a:spcPts val="370"/>
                        </a:spcBef>
                        <a:spcAft>
                          <a:spcPts val="0"/>
                        </a:spcAft>
                      </a:pPr>
                      <a:r>
                        <a:rPr lang="zh-CN" sz="1800" spc="-10">
                          <a:effectLst/>
                          <a:latin typeface="+mj-lt"/>
                          <a:ea typeface="SimHei" panose="02010609060101010101" pitchFamily="49" charset="-122"/>
                        </a:rPr>
                        <a:t>质量分数</a:t>
                      </a:r>
                      <a:r>
                        <a:rPr lang="en-US" sz="1800" spc="-10">
                          <a:effectLst/>
                          <a:latin typeface="+mj-lt"/>
                          <a:ea typeface="SimHei" panose="02010609060101010101" pitchFamily="49" charset="-122"/>
                        </a:rPr>
                        <a:t>/%</a:t>
                      </a:r>
                      <a:endParaRPr lang="en-US" sz="1800">
                        <a:solidFill>
                          <a:srgbClr val="000000"/>
                        </a:solidFill>
                        <a:effectLst/>
                        <a:latin typeface="+mj-lt"/>
                        <a:ea typeface="SimHei" panose="02010609060101010101" pitchFamily="49" charset="-122"/>
                      </a:endParaRPr>
                    </a:p>
                  </a:txBody>
                  <a:tcPr marL="0" marR="0" marT="0" marB="0"/>
                </a:tc>
                <a:tc>
                  <a:txBody>
                    <a:bodyPr/>
                    <a:lstStyle/>
                    <a:p>
                      <a:pPr marL="218440" marR="0" eaLnBrk="0">
                        <a:lnSpc>
                          <a:spcPct val="92000"/>
                        </a:lnSpc>
                        <a:spcBef>
                          <a:spcPts val="385"/>
                        </a:spcBef>
                        <a:spcAft>
                          <a:spcPts val="0"/>
                        </a:spcAft>
                      </a:pPr>
                      <a:r>
                        <a:rPr lang="zh-CN" sz="1800" spc="45">
                          <a:effectLst/>
                          <a:latin typeface="+mj-lt"/>
                          <a:ea typeface="SimHei" panose="02010609060101010101" pitchFamily="49" charset="-122"/>
                        </a:rPr>
                        <a:t>组相</a:t>
                      </a:r>
                      <a:endParaRPr lang="en-US" sz="1800">
                        <a:solidFill>
                          <a:srgbClr val="000000"/>
                        </a:solidFill>
                        <a:effectLst/>
                        <a:latin typeface="+mj-lt"/>
                        <a:ea typeface="SimHei" panose="02010609060101010101" pitchFamily="49" charset="-122"/>
                      </a:endParaRPr>
                    </a:p>
                  </a:txBody>
                  <a:tcPr marL="0" marR="0" marT="0" marB="0"/>
                </a:tc>
                <a:tc>
                  <a:txBody>
                    <a:bodyPr/>
                    <a:lstStyle/>
                    <a:p>
                      <a:pPr marL="554990" marR="0" eaLnBrk="0">
                        <a:lnSpc>
                          <a:spcPct val="91000"/>
                        </a:lnSpc>
                        <a:spcBef>
                          <a:spcPts val="370"/>
                        </a:spcBef>
                        <a:spcAft>
                          <a:spcPts val="0"/>
                        </a:spcAft>
                      </a:pPr>
                      <a:r>
                        <a:rPr lang="zh-CN" sz="1800" spc="10">
                          <a:effectLst/>
                          <a:latin typeface="+mj-lt"/>
                          <a:ea typeface="SimHei" panose="02010609060101010101" pitchFamily="49" charset="-122"/>
                        </a:rPr>
                        <a:t>原料名称</a:t>
                      </a:r>
                      <a:endParaRPr lang="en-US" sz="1800">
                        <a:solidFill>
                          <a:srgbClr val="000000"/>
                        </a:solidFill>
                        <a:effectLst/>
                        <a:latin typeface="+mj-lt"/>
                        <a:ea typeface="SimHei" panose="02010609060101010101" pitchFamily="49" charset="-122"/>
                      </a:endParaRPr>
                    </a:p>
                  </a:txBody>
                  <a:tcPr marL="0" marR="0" marT="0" marB="0"/>
                </a:tc>
                <a:tc>
                  <a:txBody>
                    <a:bodyPr/>
                    <a:lstStyle/>
                    <a:p>
                      <a:pPr marL="180340" marR="0" eaLnBrk="0">
                        <a:lnSpc>
                          <a:spcPct val="91000"/>
                        </a:lnSpc>
                        <a:spcBef>
                          <a:spcPts val="370"/>
                        </a:spcBef>
                        <a:spcAft>
                          <a:spcPts val="0"/>
                        </a:spcAft>
                      </a:pPr>
                      <a:r>
                        <a:rPr lang="zh-CN" sz="1800" spc="-10">
                          <a:effectLst/>
                          <a:latin typeface="+mj-lt"/>
                          <a:ea typeface="SimHei" panose="02010609060101010101" pitchFamily="49" charset="-122"/>
                        </a:rPr>
                        <a:t>质量分数</a:t>
                      </a:r>
                      <a:r>
                        <a:rPr lang="en-US" sz="1800" spc="-10">
                          <a:effectLst/>
                          <a:latin typeface="+mj-lt"/>
                          <a:ea typeface="SimHei" panose="02010609060101010101" pitchFamily="49" charset="-122"/>
                        </a:rPr>
                        <a:t>/%</a:t>
                      </a:r>
                      <a:endParaRPr lang="en-US" sz="1800">
                        <a:solidFill>
                          <a:srgbClr val="000000"/>
                        </a:solidFill>
                        <a:effectLst/>
                        <a:latin typeface="+mj-lt"/>
                        <a:ea typeface="SimHei" panose="02010609060101010101" pitchFamily="49" charset="-122"/>
                      </a:endParaRPr>
                    </a:p>
                  </a:txBody>
                  <a:tcPr marL="0" marR="0" marT="0" marB="0"/>
                </a:tc>
                <a:extLst>
                  <a:ext uri="{0D108BD9-81ED-4DB2-BD59-A6C34878D82A}">
                    <a16:rowId xmlns:a16="http://schemas.microsoft.com/office/drawing/2014/main" val="653002297"/>
                  </a:ext>
                </a:extLst>
              </a:tr>
              <a:tr h="2342096">
                <a:tc>
                  <a:txBody>
                    <a:bodyPr/>
                    <a:lstStyle/>
                    <a:p>
                      <a:pPr marL="0" marR="0" eaLnBrk="0">
                        <a:lnSpc>
                          <a:spcPct val="195000"/>
                        </a:lnSpc>
                        <a:spcBef>
                          <a:spcPts val="0"/>
                        </a:spcBef>
                        <a:spcAft>
                          <a:spcPts val="0"/>
                        </a:spcAft>
                      </a:pPr>
                      <a:r>
                        <a:rPr lang="en-US" sz="1800">
                          <a:effectLst/>
                          <a:latin typeface="+mj-lt"/>
                          <a:ea typeface="SimHei" panose="02010609060101010101" pitchFamily="49" charset="-122"/>
                        </a:rPr>
                        <a:t> </a:t>
                      </a:r>
                    </a:p>
                    <a:p>
                      <a:pPr marL="215265" marR="0" eaLnBrk="0">
                        <a:lnSpc>
                          <a:spcPct val="92000"/>
                        </a:lnSpc>
                        <a:spcBef>
                          <a:spcPts val="360"/>
                        </a:spcBef>
                        <a:spcAft>
                          <a:spcPts val="0"/>
                        </a:spcAft>
                      </a:pPr>
                      <a:r>
                        <a:rPr lang="en-US" sz="1800" spc="-5">
                          <a:effectLst/>
                          <a:latin typeface="+mj-lt"/>
                          <a:ea typeface="SimHei" panose="02010609060101010101" pitchFamily="49" charset="-122"/>
                        </a:rPr>
                        <a:t>A</a:t>
                      </a:r>
                      <a:r>
                        <a:rPr lang="zh-CN" sz="1800" spc="-5">
                          <a:effectLst/>
                          <a:latin typeface="+mj-lt"/>
                          <a:ea typeface="SimHei" panose="02010609060101010101" pitchFamily="49" charset="-122"/>
                        </a:rPr>
                        <a:t>相</a:t>
                      </a:r>
                      <a:endParaRPr lang="en-US" sz="1800">
                        <a:solidFill>
                          <a:srgbClr val="000000"/>
                        </a:solidFill>
                        <a:effectLst/>
                        <a:latin typeface="+mj-lt"/>
                        <a:ea typeface="SimHei" panose="02010609060101010101" pitchFamily="49" charset="-122"/>
                      </a:endParaRPr>
                    </a:p>
                  </a:txBody>
                  <a:tcPr marL="0" marR="0" marT="0" marB="0"/>
                </a:tc>
                <a:tc>
                  <a:txBody>
                    <a:bodyPr/>
                    <a:lstStyle/>
                    <a:p>
                      <a:pPr marL="104140" marR="0" eaLnBrk="0">
                        <a:lnSpc>
                          <a:spcPct val="91000"/>
                        </a:lnSpc>
                        <a:spcBef>
                          <a:spcPts val="260"/>
                        </a:spcBef>
                        <a:spcAft>
                          <a:spcPts val="0"/>
                        </a:spcAft>
                      </a:pPr>
                      <a:r>
                        <a:rPr lang="zh-CN" sz="1800" spc="-10" dirty="0">
                          <a:solidFill>
                            <a:srgbClr val="FF0000"/>
                          </a:solidFill>
                          <a:effectLst/>
                          <a:latin typeface="+mj-lt"/>
                          <a:ea typeface="SimHei" panose="02010609060101010101" pitchFamily="49" charset="-122"/>
                        </a:rPr>
                        <a:t>滑石粉</a:t>
                      </a:r>
                      <a:endParaRPr lang="en-US" sz="1800" dirty="0">
                        <a:solidFill>
                          <a:srgbClr val="FF0000"/>
                        </a:solidFill>
                        <a:effectLst/>
                        <a:latin typeface="+mj-lt"/>
                        <a:ea typeface="SimHei" panose="02010609060101010101" pitchFamily="49" charset="-122"/>
                      </a:endParaRPr>
                    </a:p>
                    <a:p>
                      <a:pPr marL="104140" marR="0" eaLnBrk="0">
                        <a:lnSpc>
                          <a:spcPct val="92000"/>
                        </a:lnSpc>
                        <a:spcBef>
                          <a:spcPts val="300"/>
                        </a:spcBef>
                        <a:spcAft>
                          <a:spcPts val="0"/>
                        </a:spcAft>
                      </a:pPr>
                      <a:r>
                        <a:rPr lang="zh-CN" sz="1800" spc="5" dirty="0">
                          <a:solidFill>
                            <a:srgbClr val="FF0000"/>
                          </a:solidFill>
                          <a:effectLst/>
                          <a:latin typeface="+mj-lt"/>
                          <a:ea typeface="SimHei" panose="02010609060101010101" pitchFamily="49" charset="-122"/>
                        </a:rPr>
                        <a:t>锦纶</a:t>
                      </a:r>
                      <a:r>
                        <a:rPr lang="en-US" sz="1800" spc="5" dirty="0">
                          <a:solidFill>
                            <a:srgbClr val="FF0000"/>
                          </a:solidFill>
                          <a:effectLst/>
                          <a:latin typeface="+mj-lt"/>
                          <a:ea typeface="SimHei" panose="02010609060101010101" pitchFamily="49" charset="-122"/>
                        </a:rPr>
                        <a:t>-6/12</a:t>
                      </a:r>
                      <a:endParaRPr lang="en-US" sz="1800" dirty="0">
                        <a:solidFill>
                          <a:srgbClr val="FF0000"/>
                        </a:solidFill>
                        <a:effectLst/>
                        <a:latin typeface="+mj-lt"/>
                        <a:ea typeface="SimHei" panose="02010609060101010101" pitchFamily="49" charset="-122"/>
                      </a:endParaRPr>
                    </a:p>
                    <a:p>
                      <a:pPr marL="104140" marR="232410" eaLnBrk="0">
                        <a:lnSpc>
                          <a:spcPct val="99000"/>
                        </a:lnSpc>
                        <a:spcBef>
                          <a:spcPts val="225"/>
                        </a:spcBef>
                        <a:spcAft>
                          <a:spcPts val="0"/>
                        </a:spcAft>
                      </a:pPr>
                      <a:r>
                        <a:rPr lang="en-US" sz="1800" dirty="0">
                          <a:effectLst/>
                          <a:latin typeface="+mj-lt"/>
                          <a:ea typeface="SimHei" panose="02010609060101010101" pitchFamily="49" charset="-122"/>
                        </a:rPr>
                        <a:t>CI</a:t>
                      </a:r>
                      <a:r>
                        <a:rPr lang="en-US" sz="1800" spc="20" dirty="0">
                          <a:effectLst/>
                          <a:latin typeface="+mj-lt"/>
                          <a:ea typeface="SimHei" panose="02010609060101010101" pitchFamily="49" charset="-122"/>
                        </a:rPr>
                        <a:t>77492(</a:t>
                      </a:r>
                      <a:r>
                        <a:rPr lang="zh-CN" sz="1800" spc="20" dirty="0">
                          <a:effectLst/>
                          <a:latin typeface="+mj-lt"/>
                          <a:ea typeface="SimHei" panose="02010609060101010101" pitchFamily="49" charset="-122"/>
                        </a:rPr>
                        <a:t>氧化铁黄</a:t>
                      </a:r>
                      <a:r>
                        <a:rPr lang="en-US" sz="1800" spc="20" dirty="0">
                          <a:effectLst/>
                          <a:latin typeface="+mj-lt"/>
                          <a:ea typeface="SimHei" panose="02010609060101010101" pitchFamily="49" charset="-122"/>
                        </a:rPr>
                        <a:t>)</a:t>
                      </a:r>
                      <a:r>
                        <a:rPr lang="en-US" sz="1800" spc="15" dirty="0">
                          <a:effectLst/>
                          <a:latin typeface="+mj-lt"/>
                          <a:ea typeface="SimHei" panose="02010609060101010101" pitchFamily="49" charset="-122"/>
                        </a:rPr>
                        <a:t> </a:t>
                      </a:r>
                      <a:r>
                        <a:rPr lang="en-US" sz="1800" dirty="0">
                          <a:effectLst/>
                          <a:latin typeface="+mj-lt"/>
                          <a:ea typeface="SimHei" panose="02010609060101010101" pitchFamily="49" charset="-122"/>
                        </a:rPr>
                        <a:t>CI</a:t>
                      </a:r>
                      <a:r>
                        <a:rPr lang="en-US" sz="1800" spc="20" dirty="0">
                          <a:effectLst/>
                          <a:latin typeface="+mj-lt"/>
                          <a:ea typeface="SimHei" panose="02010609060101010101" pitchFamily="49" charset="-122"/>
                        </a:rPr>
                        <a:t>77499(</a:t>
                      </a:r>
                      <a:r>
                        <a:rPr lang="zh-CN" sz="1800" spc="20" dirty="0">
                          <a:effectLst/>
                          <a:latin typeface="+mj-lt"/>
                          <a:ea typeface="SimHei" panose="02010609060101010101" pitchFamily="49" charset="-122"/>
                        </a:rPr>
                        <a:t>氧化铁黑</a:t>
                      </a:r>
                      <a:r>
                        <a:rPr lang="en-US" sz="1800" spc="20" dirty="0">
                          <a:effectLst/>
                          <a:latin typeface="+mj-lt"/>
                          <a:ea typeface="SimHei" panose="02010609060101010101" pitchFamily="49" charset="-122"/>
                        </a:rPr>
                        <a:t>)</a:t>
                      </a:r>
                      <a:endParaRPr lang="en-US" sz="1800" dirty="0">
                        <a:solidFill>
                          <a:srgbClr val="000000"/>
                        </a:solidFill>
                        <a:effectLst/>
                        <a:latin typeface="+mj-lt"/>
                        <a:ea typeface="SimHei" panose="02010609060101010101" pitchFamily="49" charset="-122"/>
                      </a:endParaRPr>
                    </a:p>
                  </a:txBody>
                  <a:tcPr marL="0" marR="0" marT="0" marB="0"/>
                </a:tc>
                <a:tc>
                  <a:txBody>
                    <a:bodyPr/>
                    <a:lstStyle/>
                    <a:p>
                      <a:pPr marL="339090" marR="0" eaLnBrk="0">
                        <a:lnSpc>
                          <a:spcPts val="1600"/>
                        </a:lnSpc>
                        <a:spcBef>
                          <a:spcPts val="690"/>
                        </a:spcBef>
                        <a:spcAft>
                          <a:spcPts val="0"/>
                        </a:spcAft>
                      </a:pPr>
                      <a:r>
                        <a:rPr lang="en-US" sz="1800" spc="-15">
                          <a:effectLst/>
                          <a:latin typeface="+mj-lt"/>
                          <a:ea typeface="SimHei" panose="02010609060101010101" pitchFamily="49" charset="-122"/>
                        </a:rPr>
                        <a:t>70.95</a:t>
                      </a:r>
                      <a:endParaRPr lang="en-US" sz="1800">
                        <a:effectLst/>
                        <a:latin typeface="+mj-lt"/>
                        <a:ea typeface="SimHei" panose="02010609060101010101" pitchFamily="49" charset="-122"/>
                      </a:endParaRPr>
                    </a:p>
                    <a:p>
                      <a:pPr marL="339090" marR="0" eaLnBrk="0">
                        <a:lnSpc>
                          <a:spcPct val="76000"/>
                        </a:lnSpc>
                        <a:spcBef>
                          <a:spcPts val="0"/>
                        </a:spcBef>
                        <a:spcAft>
                          <a:spcPts val="0"/>
                        </a:spcAft>
                      </a:pPr>
                      <a:r>
                        <a:rPr lang="en-US" sz="1800" spc="-10">
                          <a:effectLst/>
                          <a:latin typeface="+mj-lt"/>
                          <a:ea typeface="SimHei" panose="02010609060101010101" pitchFamily="49" charset="-122"/>
                        </a:rPr>
                        <a:t>20.00</a:t>
                      </a:r>
                      <a:endParaRPr lang="en-US" sz="1800">
                        <a:effectLst/>
                        <a:latin typeface="+mj-lt"/>
                        <a:ea typeface="SimHei" panose="02010609060101010101" pitchFamily="49" charset="-122"/>
                      </a:endParaRPr>
                    </a:p>
                    <a:p>
                      <a:pPr marL="377190" marR="0" eaLnBrk="0">
                        <a:lnSpc>
                          <a:spcPct val="76000"/>
                        </a:lnSpc>
                        <a:spcBef>
                          <a:spcPts val="510"/>
                        </a:spcBef>
                        <a:spcAft>
                          <a:spcPts val="0"/>
                        </a:spcAft>
                      </a:pPr>
                      <a:r>
                        <a:rPr lang="en-US" sz="1800" spc="-10">
                          <a:effectLst/>
                          <a:latin typeface="+mj-lt"/>
                          <a:ea typeface="SimHei" panose="02010609060101010101" pitchFamily="49" charset="-122"/>
                        </a:rPr>
                        <a:t>0.80</a:t>
                      </a:r>
                      <a:endParaRPr lang="en-US" sz="1800">
                        <a:effectLst/>
                        <a:latin typeface="+mj-lt"/>
                        <a:ea typeface="SimHei" panose="02010609060101010101" pitchFamily="49" charset="-122"/>
                      </a:endParaRPr>
                    </a:p>
                    <a:p>
                      <a:pPr marL="377190" marR="0" eaLnBrk="0">
                        <a:lnSpc>
                          <a:spcPts val="890"/>
                        </a:lnSpc>
                        <a:spcBef>
                          <a:spcPts val="555"/>
                        </a:spcBef>
                        <a:spcAft>
                          <a:spcPts val="0"/>
                        </a:spcAft>
                      </a:pPr>
                      <a:r>
                        <a:rPr lang="en-US" sz="1800" spc="-10">
                          <a:effectLst/>
                          <a:latin typeface="+mj-lt"/>
                          <a:ea typeface="SimHei" panose="02010609060101010101" pitchFamily="49" charset="-122"/>
                        </a:rPr>
                        <a:t>0.05</a:t>
                      </a:r>
                      <a:endParaRPr lang="en-US" sz="1800">
                        <a:solidFill>
                          <a:srgbClr val="000000"/>
                        </a:solidFill>
                        <a:effectLst/>
                        <a:latin typeface="+mj-lt"/>
                        <a:ea typeface="SimHei" panose="02010609060101010101" pitchFamily="49" charset="-122"/>
                      </a:endParaRPr>
                    </a:p>
                  </a:txBody>
                  <a:tcPr marL="0" marR="0" marT="0" marB="0"/>
                </a:tc>
                <a:tc>
                  <a:txBody>
                    <a:bodyPr/>
                    <a:lstStyle/>
                    <a:p>
                      <a:pPr marL="0" marR="0" eaLnBrk="0">
                        <a:lnSpc>
                          <a:spcPct val="195000"/>
                        </a:lnSpc>
                        <a:spcBef>
                          <a:spcPts val="0"/>
                        </a:spcBef>
                        <a:spcAft>
                          <a:spcPts val="0"/>
                        </a:spcAft>
                      </a:pPr>
                      <a:r>
                        <a:rPr lang="en-US" sz="1800">
                          <a:effectLst/>
                          <a:latin typeface="+mj-lt"/>
                          <a:ea typeface="SimHei" panose="02010609060101010101" pitchFamily="49" charset="-122"/>
                        </a:rPr>
                        <a:t> </a:t>
                      </a:r>
                    </a:p>
                    <a:p>
                      <a:pPr marL="256540" marR="0" eaLnBrk="0">
                        <a:lnSpc>
                          <a:spcPct val="92000"/>
                        </a:lnSpc>
                        <a:spcBef>
                          <a:spcPts val="360"/>
                        </a:spcBef>
                        <a:spcAft>
                          <a:spcPts val="0"/>
                        </a:spcAft>
                      </a:pPr>
                      <a:r>
                        <a:rPr lang="en-US" sz="1800" spc="45">
                          <a:effectLst/>
                          <a:latin typeface="+mj-lt"/>
                          <a:ea typeface="SimHei" panose="02010609060101010101" pitchFamily="49" charset="-122"/>
                        </a:rPr>
                        <a:t>B</a:t>
                      </a:r>
                      <a:r>
                        <a:rPr lang="zh-CN" sz="1800" spc="45">
                          <a:effectLst/>
                          <a:latin typeface="+mj-lt"/>
                          <a:ea typeface="SimHei" panose="02010609060101010101" pitchFamily="49" charset="-122"/>
                        </a:rPr>
                        <a:t>相</a:t>
                      </a:r>
                      <a:endParaRPr lang="en-US" sz="1800">
                        <a:solidFill>
                          <a:srgbClr val="000000"/>
                        </a:solidFill>
                        <a:effectLst/>
                        <a:latin typeface="+mj-lt"/>
                        <a:ea typeface="SimHei" panose="02010609060101010101" pitchFamily="49" charset="-122"/>
                      </a:endParaRPr>
                    </a:p>
                  </a:txBody>
                  <a:tcPr marL="0" marR="0" marT="0" marB="0"/>
                </a:tc>
                <a:tc>
                  <a:txBody>
                    <a:bodyPr/>
                    <a:lstStyle/>
                    <a:p>
                      <a:pPr marL="92075" marR="0" eaLnBrk="0">
                        <a:lnSpc>
                          <a:spcPts val="1750"/>
                        </a:lnSpc>
                        <a:spcBef>
                          <a:spcPts val="855"/>
                        </a:spcBef>
                        <a:spcAft>
                          <a:spcPts val="0"/>
                        </a:spcAft>
                      </a:pPr>
                      <a:r>
                        <a:rPr lang="zh-CN" sz="1800" spc="15" dirty="0">
                          <a:effectLst/>
                          <a:latin typeface="+mj-lt"/>
                          <a:ea typeface="SimHei" panose="02010609060101010101" pitchFamily="49" charset="-122"/>
                        </a:rPr>
                        <a:t>羟苯甲酯</a:t>
                      </a:r>
                      <a:endParaRPr lang="en-US" sz="1800" dirty="0">
                        <a:effectLst/>
                        <a:latin typeface="+mj-lt"/>
                        <a:ea typeface="SimHei" panose="02010609060101010101" pitchFamily="49" charset="-122"/>
                      </a:endParaRPr>
                    </a:p>
                    <a:p>
                      <a:pPr marL="92075" marR="0" eaLnBrk="0">
                        <a:lnSpc>
                          <a:spcPct val="90000"/>
                        </a:lnSpc>
                        <a:spcBef>
                          <a:spcPts val="0"/>
                        </a:spcBef>
                        <a:spcAft>
                          <a:spcPts val="0"/>
                        </a:spcAft>
                      </a:pPr>
                      <a:r>
                        <a:rPr lang="zh-CN" sz="1800" spc="15" dirty="0">
                          <a:effectLst/>
                          <a:latin typeface="+mj-lt"/>
                          <a:ea typeface="SimHei" panose="02010609060101010101" pitchFamily="49" charset="-122"/>
                        </a:rPr>
                        <a:t>羟苯丙酯</a:t>
                      </a:r>
                      <a:endParaRPr lang="en-US" sz="1800" dirty="0">
                        <a:effectLst/>
                        <a:latin typeface="+mj-lt"/>
                        <a:ea typeface="SimHei" panose="02010609060101010101" pitchFamily="49" charset="-122"/>
                      </a:endParaRPr>
                    </a:p>
                    <a:p>
                      <a:pPr marL="92075" marR="0" eaLnBrk="0">
                        <a:lnSpc>
                          <a:spcPct val="91000"/>
                        </a:lnSpc>
                        <a:spcBef>
                          <a:spcPts val="445"/>
                        </a:spcBef>
                        <a:spcAft>
                          <a:spcPts val="0"/>
                        </a:spcAft>
                      </a:pPr>
                      <a:r>
                        <a:rPr lang="zh-CN" sz="1800" spc="10" dirty="0">
                          <a:solidFill>
                            <a:srgbClr val="FF0000"/>
                          </a:solidFill>
                          <a:effectLst/>
                          <a:latin typeface="+mj-lt"/>
                          <a:ea typeface="SimHei" panose="02010609060101010101" pitchFamily="49" charset="-122"/>
                        </a:rPr>
                        <a:t>二氧化钛</a:t>
                      </a:r>
                      <a:endParaRPr lang="en-US" sz="1800" dirty="0">
                        <a:solidFill>
                          <a:srgbClr val="FF0000"/>
                        </a:solidFill>
                        <a:effectLst/>
                        <a:latin typeface="+mj-lt"/>
                        <a:ea typeface="SimHei" panose="02010609060101010101" pitchFamily="49" charset="-122"/>
                      </a:endParaRPr>
                    </a:p>
                  </a:txBody>
                  <a:tcPr marL="0" marR="0" marT="0" marB="0"/>
                </a:tc>
                <a:tc>
                  <a:txBody>
                    <a:bodyPr/>
                    <a:lstStyle/>
                    <a:p>
                      <a:pPr marL="389890" marR="0" eaLnBrk="0">
                        <a:lnSpc>
                          <a:spcPts val="1705"/>
                        </a:lnSpc>
                        <a:spcBef>
                          <a:spcPts val="1235"/>
                        </a:spcBef>
                        <a:spcAft>
                          <a:spcPts val="0"/>
                        </a:spcAft>
                      </a:pPr>
                      <a:r>
                        <a:rPr lang="en-US" sz="1800" spc="-10" dirty="0">
                          <a:effectLst/>
                          <a:latin typeface="+mj-lt"/>
                          <a:ea typeface="SimHei" panose="02010609060101010101" pitchFamily="49" charset="-122"/>
                        </a:rPr>
                        <a:t>0.10</a:t>
                      </a:r>
                      <a:endParaRPr lang="en-US" sz="1800" dirty="0">
                        <a:effectLst/>
                        <a:latin typeface="+mj-lt"/>
                        <a:ea typeface="SimHei" panose="02010609060101010101" pitchFamily="49" charset="-122"/>
                      </a:endParaRPr>
                    </a:p>
                    <a:p>
                      <a:pPr marL="389890" marR="0" eaLnBrk="0">
                        <a:lnSpc>
                          <a:spcPct val="76000"/>
                        </a:lnSpc>
                        <a:spcBef>
                          <a:spcPts val="0"/>
                        </a:spcBef>
                        <a:spcAft>
                          <a:spcPts val="0"/>
                        </a:spcAft>
                      </a:pPr>
                      <a:r>
                        <a:rPr lang="en-US" sz="1800" spc="-10" dirty="0">
                          <a:effectLst/>
                          <a:latin typeface="+mj-lt"/>
                          <a:ea typeface="SimHei" panose="02010609060101010101" pitchFamily="49" charset="-122"/>
                        </a:rPr>
                        <a:t>0.10</a:t>
                      </a:r>
                      <a:endParaRPr lang="en-US" sz="1800" dirty="0">
                        <a:effectLst/>
                        <a:latin typeface="+mj-lt"/>
                        <a:ea typeface="SimHei" panose="02010609060101010101" pitchFamily="49" charset="-122"/>
                      </a:endParaRPr>
                    </a:p>
                    <a:p>
                      <a:pPr marL="389890" marR="0" eaLnBrk="0">
                        <a:lnSpc>
                          <a:spcPct val="76000"/>
                        </a:lnSpc>
                        <a:spcBef>
                          <a:spcPts val="655"/>
                        </a:spcBef>
                        <a:spcAft>
                          <a:spcPts val="0"/>
                        </a:spcAft>
                      </a:pPr>
                      <a:r>
                        <a:rPr lang="en-US" sz="1800" spc="-10" dirty="0">
                          <a:effectLst/>
                          <a:latin typeface="+mj-lt"/>
                          <a:ea typeface="SimHei" panose="02010609060101010101" pitchFamily="49" charset="-122"/>
                        </a:rPr>
                        <a:t>8.00</a:t>
                      </a:r>
                      <a:endParaRPr lang="en-US" sz="1800" dirty="0">
                        <a:solidFill>
                          <a:srgbClr val="000000"/>
                        </a:solidFill>
                        <a:effectLst/>
                        <a:latin typeface="+mj-lt"/>
                        <a:ea typeface="SimHei" panose="02010609060101010101" pitchFamily="49" charset="-122"/>
                      </a:endParaRPr>
                    </a:p>
                  </a:txBody>
                  <a:tcPr marL="0" marR="0" marT="0" marB="0"/>
                </a:tc>
                <a:extLst>
                  <a:ext uri="{0D108BD9-81ED-4DB2-BD59-A6C34878D82A}">
                    <a16:rowId xmlns:a16="http://schemas.microsoft.com/office/drawing/2014/main" val="2483928758"/>
                  </a:ext>
                </a:extLst>
              </a:tr>
            </a:tbl>
          </a:graphicData>
        </a:graphic>
      </p:graphicFrame>
    </p:spTree>
    <p:extLst>
      <p:ext uri="{BB962C8B-B14F-4D97-AF65-F5344CB8AC3E}">
        <p14:creationId xmlns:p14="http://schemas.microsoft.com/office/powerpoint/2010/main" val="284627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Johnson &amp; Johnson, Baby Powder, Calming Lavender, 15 oz (425 g) - iHerb">
            <a:extLst>
              <a:ext uri="{FF2B5EF4-FFF2-40B4-BE49-F238E27FC236}">
                <a16:creationId xmlns:a16="http://schemas.microsoft.com/office/drawing/2014/main" id="{7502EBD6-319E-D1BB-1EB6-C719812A8A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241" r="25172"/>
          <a:stretch/>
        </p:blipFill>
        <p:spPr bwMode="auto">
          <a:xfrm>
            <a:off x="3323344" y="1346495"/>
            <a:ext cx="2497312" cy="5247887"/>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3">
            <a:extLst>
              <a:ext uri="{FF2B5EF4-FFF2-40B4-BE49-F238E27FC236}">
                <a16:creationId xmlns:a16="http://schemas.microsoft.com/office/drawing/2014/main" id="{989171E5-0F0D-6F5A-B05C-F4517C71E61E}"/>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FC7AA5B-DA99-5FC5-E6D7-7438BCB46E1A}"/>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B515E10D-4B9C-3326-97AB-0FAA8C3F9B46}"/>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强生婴儿爽身粉</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1375191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0DE2D4F-D77F-51F4-970B-5D95AE6E83E1}"/>
              </a:ext>
            </a:extLst>
          </p:cNvPr>
          <p:cNvPicPr>
            <a:picLocks noChangeAspect="1"/>
          </p:cNvPicPr>
          <p:nvPr/>
        </p:nvPicPr>
        <p:blipFill>
          <a:blip r:embed="rId2"/>
          <a:stretch>
            <a:fillRect/>
          </a:stretch>
        </p:blipFill>
        <p:spPr>
          <a:xfrm>
            <a:off x="424182" y="1493352"/>
            <a:ext cx="8295635" cy="3871296"/>
          </a:xfrm>
          <a:prstGeom prst="rect">
            <a:avLst/>
          </a:prstGeom>
        </p:spPr>
      </p:pic>
      <p:sp>
        <p:nvSpPr>
          <p:cNvPr id="5" name="文本框 4">
            <a:extLst>
              <a:ext uri="{FF2B5EF4-FFF2-40B4-BE49-F238E27FC236}">
                <a16:creationId xmlns:a16="http://schemas.microsoft.com/office/drawing/2014/main" id="{BC65BA52-7CD5-EEEE-EE1F-04EAEC374A12}"/>
              </a:ext>
            </a:extLst>
          </p:cNvPr>
          <p:cNvSpPr txBox="1"/>
          <p:nvPr/>
        </p:nvSpPr>
        <p:spPr>
          <a:xfrm>
            <a:off x="424181" y="5537115"/>
            <a:ext cx="8295635" cy="646331"/>
          </a:xfrm>
          <a:prstGeom prst="rect">
            <a:avLst/>
          </a:prstGeom>
          <a:noFill/>
        </p:spPr>
        <p:txBody>
          <a:bodyPr wrap="square">
            <a:spAutoFit/>
          </a:bodyPr>
          <a:lstStyle/>
          <a:p>
            <a:r>
              <a:rPr lang="en-US" i="1" dirty="0"/>
              <a:t>https://www.webmd.com/cancer/news/20230405/j-and-j-offers-8-point-9-billion-to-settle-baby-powder-claims</a:t>
            </a:r>
          </a:p>
        </p:txBody>
      </p:sp>
      <p:sp>
        <p:nvSpPr>
          <p:cNvPr id="6" name="灯片编号占位符 3">
            <a:extLst>
              <a:ext uri="{FF2B5EF4-FFF2-40B4-BE49-F238E27FC236}">
                <a16:creationId xmlns:a16="http://schemas.microsoft.com/office/drawing/2014/main" id="{E7B643C9-F1DF-1D16-3071-57FB669BF327}"/>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10</a:t>
            </a:fld>
            <a:endParaRPr lang="zh-CN" altLang="en-US" sz="1800" b="1" dirty="0">
              <a:latin typeface="Adobe 黑体 Std R" charset="-122"/>
              <a:ea typeface="Adobe 黑体 Std R" charset="-122"/>
            </a:endParaRPr>
          </a:p>
        </p:txBody>
      </p:sp>
      <p:sp>
        <p:nvSpPr>
          <p:cNvPr id="7" name="Rectangle 3">
            <a:extLst>
              <a:ext uri="{FF2B5EF4-FFF2-40B4-BE49-F238E27FC236}">
                <a16:creationId xmlns:a16="http://schemas.microsoft.com/office/drawing/2014/main" id="{3D627949-A7D5-DDE2-1180-0FCFDEBDF9CE}"/>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8" name="TextBox 5">
            <a:extLst>
              <a:ext uri="{FF2B5EF4-FFF2-40B4-BE49-F238E27FC236}">
                <a16:creationId xmlns:a16="http://schemas.microsoft.com/office/drawing/2014/main" id="{D5B16C2B-6DB7-3C08-ECDB-09660F2E0E72}"/>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强生的官司</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4185351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824176C1-723A-7150-D74A-ECBAF88B3E17}"/>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7EA3E4D3-A7E2-2022-0D11-181F50281317}"/>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6C979E84-D375-EEA9-6DB2-D3362207C168}"/>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强生的官司</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8" name="图片 7">
            <a:extLst>
              <a:ext uri="{FF2B5EF4-FFF2-40B4-BE49-F238E27FC236}">
                <a16:creationId xmlns:a16="http://schemas.microsoft.com/office/drawing/2014/main" id="{FC7FBBE4-FBEB-32A1-733E-430A1926AFEC}"/>
              </a:ext>
            </a:extLst>
          </p:cNvPr>
          <p:cNvPicPr>
            <a:picLocks noChangeAspect="1"/>
          </p:cNvPicPr>
          <p:nvPr/>
        </p:nvPicPr>
        <p:blipFill>
          <a:blip r:embed="rId2"/>
          <a:stretch>
            <a:fillRect/>
          </a:stretch>
        </p:blipFill>
        <p:spPr>
          <a:xfrm>
            <a:off x="182880" y="1038428"/>
            <a:ext cx="8778240" cy="3037069"/>
          </a:xfrm>
          <a:prstGeom prst="rect">
            <a:avLst/>
          </a:prstGeom>
        </p:spPr>
      </p:pic>
      <p:sp>
        <p:nvSpPr>
          <p:cNvPr id="10" name="文本框 9">
            <a:extLst>
              <a:ext uri="{FF2B5EF4-FFF2-40B4-BE49-F238E27FC236}">
                <a16:creationId xmlns:a16="http://schemas.microsoft.com/office/drawing/2014/main" id="{FABA0801-4635-30ED-A5E3-891411F316C7}"/>
              </a:ext>
            </a:extLst>
          </p:cNvPr>
          <p:cNvSpPr txBox="1"/>
          <p:nvPr/>
        </p:nvSpPr>
        <p:spPr>
          <a:xfrm>
            <a:off x="182880" y="4204856"/>
            <a:ext cx="8778240" cy="2308324"/>
          </a:xfrm>
          <a:prstGeom prst="rect">
            <a:avLst/>
          </a:prstGeom>
          <a:noFill/>
        </p:spPr>
        <p:txBody>
          <a:bodyPr wrap="square">
            <a:spAutoFit/>
          </a:bodyPr>
          <a:lstStyle/>
          <a:p>
            <a:r>
              <a:rPr lang="zh-CN" altLang="en-US" sz="2400" b="0" i="0" dirty="0">
                <a:solidFill>
                  <a:srgbClr val="212121"/>
                </a:solidFill>
                <a:effectLst/>
                <a:latin typeface="+mj-lt"/>
              </a:rPr>
              <a:t>“</a:t>
            </a:r>
            <a:r>
              <a:rPr lang="en-US" altLang="zh-CN" sz="2400" b="0" i="0" dirty="0">
                <a:solidFill>
                  <a:srgbClr val="212121"/>
                </a:solidFill>
                <a:effectLst/>
                <a:latin typeface="+mj-lt"/>
              </a:rPr>
              <a:t>(The verdict) </a:t>
            </a:r>
            <a:r>
              <a:rPr lang="en-US" sz="2400" b="0" i="1" dirty="0">
                <a:solidFill>
                  <a:srgbClr val="212121"/>
                </a:solidFill>
                <a:effectLst/>
                <a:latin typeface="+mj-lt"/>
              </a:rPr>
              <a:t>claims that ovarian cancer was caused by exposure to asbestos allegedly found in Johnson &amp; Johnson’s talcum powder</a:t>
            </a:r>
            <a:r>
              <a:rPr lang="en-US" sz="2400" dirty="0">
                <a:solidFill>
                  <a:srgbClr val="212121"/>
                </a:solidFill>
                <a:latin typeface="+mj-lt"/>
              </a:rPr>
              <a:t>”</a:t>
            </a:r>
          </a:p>
          <a:p>
            <a:r>
              <a:rPr lang="en-US" altLang="zh-CN" sz="2400" i="1" dirty="0">
                <a:solidFill>
                  <a:srgbClr val="212121"/>
                </a:solidFill>
                <a:latin typeface="+mj-lt"/>
              </a:rPr>
              <a:t>“Neither talc nor asbestos has been shown to cause ovarian cancer. However, asbestos is a compound that is well-known to cause lung cancer and mesothelioma.</a:t>
            </a:r>
            <a:r>
              <a:rPr lang="zh-CN" altLang="en-US" sz="2400" dirty="0">
                <a:solidFill>
                  <a:srgbClr val="212121"/>
                </a:solidFill>
                <a:latin typeface="+mj-lt"/>
              </a:rPr>
              <a:t>”</a:t>
            </a:r>
            <a:endParaRPr lang="en-US" sz="2400" dirty="0">
              <a:latin typeface="+mj-lt"/>
            </a:endParaRPr>
          </a:p>
        </p:txBody>
      </p:sp>
      <p:sp>
        <p:nvSpPr>
          <p:cNvPr id="6" name="文本框 5">
            <a:extLst>
              <a:ext uri="{FF2B5EF4-FFF2-40B4-BE49-F238E27FC236}">
                <a16:creationId xmlns:a16="http://schemas.microsoft.com/office/drawing/2014/main" id="{C1275166-5935-73BD-91C2-CA11C2784F8A}"/>
              </a:ext>
            </a:extLst>
          </p:cNvPr>
          <p:cNvSpPr txBox="1"/>
          <p:nvPr/>
        </p:nvSpPr>
        <p:spPr>
          <a:xfrm>
            <a:off x="1712134" y="2205467"/>
            <a:ext cx="8456623" cy="369332"/>
          </a:xfrm>
          <a:prstGeom prst="rect">
            <a:avLst/>
          </a:prstGeom>
          <a:noFill/>
        </p:spPr>
        <p:txBody>
          <a:bodyPr wrap="square">
            <a:spAutoFit/>
          </a:bodyPr>
          <a:lstStyle/>
          <a:p>
            <a:r>
              <a:rPr lang="en-US" i="1" dirty="0"/>
              <a:t>https://www.ncbi.nlm.nih.gov/pmc/articles/PMC6461309/</a:t>
            </a:r>
          </a:p>
        </p:txBody>
      </p:sp>
    </p:spTree>
    <p:extLst>
      <p:ext uri="{BB962C8B-B14F-4D97-AF65-F5344CB8AC3E}">
        <p14:creationId xmlns:p14="http://schemas.microsoft.com/office/powerpoint/2010/main" val="1664525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粉饼类产品概述</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 </a:t>
            </a:r>
            <a:r>
              <a:rPr lang="en-US" altLang="zh-CN" sz="2400" dirty="0">
                <a:latin typeface="+mn-lt"/>
                <a:ea typeface="SimHei" panose="02010609060101010101" pitchFamily="49" charset="-122"/>
              </a:rPr>
              <a:t>(compact powder) </a:t>
            </a:r>
            <a:r>
              <a:rPr lang="zh-CN" altLang="en-US" sz="2400" dirty="0">
                <a:latin typeface="+mn-lt"/>
                <a:ea typeface="SimHei" panose="02010609060101010101" pitchFamily="49" charset="-122"/>
              </a:rPr>
              <a:t>是第二次世界大战后发展的产品，现今，已逐渐取代散白粉，为广大女性所欢迎，成为职业女性外出随身携带作为补妆</a:t>
            </a:r>
            <a:r>
              <a:rPr lang="zh-CN" altLang="en-US" sz="2400" dirty="0">
                <a:solidFill>
                  <a:srgbClr val="0000FF"/>
                </a:solidFill>
                <a:latin typeface="+mn-lt"/>
                <a:ea typeface="SimHei" panose="02010609060101010101" pitchFamily="49" charset="-122"/>
              </a:rPr>
              <a:t>最常用的美容化妆品</a:t>
            </a:r>
            <a:r>
              <a:rPr lang="zh-CN" altLang="en-US" sz="2400" dirty="0">
                <a:latin typeface="+mn-lt"/>
                <a:ea typeface="SimHei" panose="02010609060101010101" pitchFamily="49" charset="-122"/>
              </a:rPr>
              <a:t>之一。</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粉饼是由</a:t>
            </a:r>
            <a:r>
              <a:rPr lang="zh-CN" altLang="en-US" sz="2400" dirty="0">
                <a:solidFill>
                  <a:srgbClr val="0000FF"/>
                </a:solidFill>
                <a:latin typeface="+mn-lt"/>
                <a:ea typeface="SimHei" panose="02010609060101010101" pitchFamily="49" charset="-122"/>
              </a:rPr>
              <a:t>粉状白粉压制</a:t>
            </a:r>
            <a:r>
              <a:rPr lang="zh-CN" altLang="en-US" sz="2400" dirty="0">
                <a:latin typeface="+mn-lt"/>
                <a:ea typeface="SimHei" panose="02010609060101010101" pitchFamily="49" charset="-122"/>
              </a:rPr>
              <a:t>而成的化妆品，其形状随容器形状而变化。 一般粉饼的包装精美，附有粉扑和小镜子等配件，随身携带方便，使用时粉末飞扬少。</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粉饼主要供</a:t>
            </a:r>
            <a:r>
              <a:rPr lang="zh-CN" altLang="en-US" sz="2400" dirty="0">
                <a:solidFill>
                  <a:srgbClr val="0000FF"/>
                </a:solidFill>
                <a:latin typeface="+mn-lt"/>
                <a:ea typeface="SimHei" panose="02010609060101010101" pitchFamily="49" charset="-122"/>
              </a:rPr>
              <a:t>补妆用</a:t>
            </a:r>
            <a:r>
              <a:rPr lang="zh-CN" altLang="en-US" sz="2400" dirty="0">
                <a:latin typeface="+mn-lt"/>
                <a:ea typeface="SimHei" panose="02010609060101010101" pitchFamily="49" charset="-122"/>
              </a:rPr>
              <a:t>，即修补化妆的不均匀部位及脱落部位。</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888825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粉饼类产品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3074" name="Picture 2" descr="家养仓鼠和野外仓鼠的区别，看完我笑了">
            <a:extLst>
              <a:ext uri="{FF2B5EF4-FFF2-40B4-BE49-F238E27FC236}">
                <a16:creationId xmlns:a16="http://schemas.microsoft.com/office/drawing/2014/main" id="{CD7C22C1-10A8-8ED9-95D3-8234A28CE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3236" y="1165614"/>
            <a:ext cx="4917528" cy="5219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365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粉饼类产品要求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77916" y="1881395"/>
            <a:ext cx="7889065"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粉饼具有良好</a:t>
            </a:r>
            <a:r>
              <a:rPr lang="zh-CN" altLang="en-US" sz="2400" dirty="0">
                <a:solidFill>
                  <a:srgbClr val="0000FF"/>
                </a:solidFill>
                <a:latin typeface="+mn-lt"/>
                <a:ea typeface="SimHei" panose="02010609060101010101" pitchFamily="49" charset="-122"/>
              </a:rPr>
              <a:t>遮盖力、柔滑性、附着性</a:t>
            </a:r>
            <a:r>
              <a:rPr lang="zh-CN" altLang="en-US" sz="2400" dirty="0">
                <a:latin typeface="+mn-lt"/>
                <a:ea typeface="SimHei" panose="02010609060101010101" pitchFamily="49" charset="-122"/>
              </a:rPr>
              <a:t>和组成均匀等特性外，还要求粉饼具有适度的机械强度，使用时不会碎裂，并且使用粉扑或海绵等附件从粉饼舔取粉体时，较容</a:t>
            </a:r>
            <a:r>
              <a:rPr lang="zh-CN" altLang="en-US" sz="2400" dirty="0">
                <a:solidFill>
                  <a:srgbClr val="0000FF"/>
                </a:solidFill>
                <a:latin typeface="+mn-lt"/>
                <a:ea typeface="SimHei" panose="02010609060101010101" pitchFamily="49" charset="-122"/>
              </a:rPr>
              <a:t>易附着在粉扑或海绵上</a:t>
            </a:r>
            <a:r>
              <a:rPr lang="zh-CN" altLang="en-US" sz="2400" dirty="0">
                <a:latin typeface="+mn-lt"/>
                <a:ea typeface="SimHei" panose="02010609060101010101" pitchFamily="49" charset="-122"/>
              </a:rPr>
              <a:t>，然后，</a:t>
            </a:r>
            <a:r>
              <a:rPr lang="zh-CN" altLang="en-US" sz="2400" dirty="0">
                <a:solidFill>
                  <a:srgbClr val="0000FF"/>
                </a:solidFill>
                <a:latin typeface="+mn-lt"/>
                <a:ea typeface="SimHei" panose="02010609060101010101" pitchFamily="49" charset="-122"/>
              </a:rPr>
              <a:t>可均匀地涂抹在皮肤上</a:t>
            </a:r>
            <a:r>
              <a:rPr lang="zh-CN" altLang="en-US" sz="2400" dirty="0">
                <a:latin typeface="+mn-lt"/>
                <a:ea typeface="SimHei" panose="02010609060101010101" pitchFamily="49" charset="-122"/>
              </a:rPr>
              <a:t>，不会结团，不感到油腻。</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40202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粉饼类产品：黏合剂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92950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黏合剂的作用：通常粉饼中都添加较大量的胶态高岭土、氧化锌和金属硬脂酸盐，以改善其压制加工性能。如果粉体本身的黏结性不足，</a:t>
            </a:r>
            <a:r>
              <a:rPr lang="zh-CN" altLang="en-US" sz="2400" dirty="0">
                <a:solidFill>
                  <a:srgbClr val="0000FF"/>
                </a:solidFill>
                <a:latin typeface="+mn-lt"/>
                <a:ea typeface="SimHei" panose="02010609060101010101" pitchFamily="49" charset="-122"/>
              </a:rPr>
              <a:t>添加少量的黏合剂，在压制时可形成较牢固的粉饼</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a:lnSpc>
                <a:spcPct val="150000"/>
              </a:lnSpc>
            </a:pPr>
            <a:r>
              <a:rPr lang="zh-CN" sz="20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可以使用水溶性黏合剂、油溶性黏合剂和乳化体系的黏合剂。</a:t>
            </a:r>
            <a:endParaRPr lang="en-US" altLang="zh-CN" sz="20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a:lnSpc>
                <a:spcPct val="150000"/>
              </a:lnSpc>
            </a:pPr>
            <a:r>
              <a:rPr lang="zh-CN" sz="20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水溶性黏合剂在配方中的</a:t>
            </a:r>
            <a:r>
              <a:rPr lang="zh-CN"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质量分数约为</a:t>
            </a:r>
            <a:r>
              <a:rPr lang="en-US"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0.1%</a:t>
            </a:r>
            <a:r>
              <a:rPr lang="zh-CN"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en-US"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3.0%,</a:t>
            </a:r>
            <a:r>
              <a:rPr lang="zh-CN"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一般先配制成</a:t>
            </a:r>
            <a:r>
              <a:rPr lang="en-US"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5%</a:t>
            </a:r>
            <a:r>
              <a:rPr lang="zh-CN" sz="20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en-US" sz="20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10%</a:t>
            </a:r>
            <a:r>
              <a:rPr lang="zh-CN" sz="20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的水溶液，然后与粉体混合。水</a:t>
            </a:r>
            <a:r>
              <a:rPr lang="zh-CN" sz="20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溶性黏合剂可以是天然或合成的水溶性聚合物，一般常用低黏度的羧甲基纤维素，通</a:t>
            </a:r>
            <a:r>
              <a:rPr lang="zh-CN" sz="2000" b="1" spc="-2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常还添加少量的保湿剂。</a:t>
            </a:r>
            <a:endParaRPr lang="en-US" altLang="zh-CN" sz="2000" b="1" spc="-20"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a:lnSpc>
                <a:spcPct val="150000"/>
              </a:lnSpc>
            </a:pPr>
            <a:r>
              <a:rPr lang="zh-CN" sz="2000" b="1" spc="-2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油溶性黏合剂包括硬脂酸单甘酯、十</a:t>
            </a:r>
            <a:r>
              <a:rPr lang="zh-CN" sz="20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六醇、十八醇、脂肪酸</a:t>
            </a:r>
            <a:r>
              <a:rPr lang="zh-CN" sz="2000" b="1" spc="-3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异丙酯、羊毛脂及其衍生物、地蜡、白蜡和微晶蜡等。</a:t>
            </a:r>
            <a:endParaRPr lang="en-US" altLang="zh-CN" sz="2000" b="1" spc="-30"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a:lnSpc>
                <a:spcPct val="150000"/>
              </a:lnSpc>
            </a:pPr>
            <a:r>
              <a:rPr lang="zh-CN" sz="2000" b="1" spc="-3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甘油、山梨醇、葡萄糖等以及</a:t>
            </a:r>
            <a:r>
              <a:rPr lang="zh-CN" sz="2000" b="1" spc="-1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其他滋润剂的加入能使粉饼保持一定水分不致干裂。</a:t>
            </a:r>
            <a:endParaRPr lang="en-US" altLang="zh-CN"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625539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腮红</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胭脂</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历史悠久</a:t>
            </a:r>
            <a:r>
              <a:rPr lang="zh-CN" altLang="en-US" sz="2400" dirty="0">
                <a:latin typeface="+mn-lt"/>
                <a:ea typeface="SimHei" panose="02010609060101010101" pitchFamily="49" charset="-122"/>
              </a:rPr>
              <a:t>：腮红 </a:t>
            </a:r>
            <a:r>
              <a:rPr lang="en-US" altLang="zh-CN" sz="2400" dirty="0">
                <a:latin typeface="+mn-lt"/>
                <a:ea typeface="SimHei" panose="02010609060101010101" pitchFamily="49" charset="-122"/>
              </a:rPr>
              <a:t>(cheek blusher) </a:t>
            </a:r>
            <a:r>
              <a:rPr lang="zh-CN" altLang="en-US" sz="2400" dirty="0">
                <a:latin typeface="+mn-lt"/>
                <a:ea typeface="SimHei" panose="02010609060101010101" pitchFamily="49" charset="-122"/>
              </a:rPr>
              <a:t>或称胭脂，是一种使面颊着色的最古老的美容化妆品。古代赫梯人利用辰砂，古希腊人利用植物根部使面颊着色，罗马人用海藻使苍白面颊呈玫瑰红色</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着色剂</a:t>
            </a:r>
            <a:r>
              <a:rPr lang="zh-CN" altLang="en-US" sz="2400" dirty="0">
                <a:latin typeface="+mn-lt"/>
                <a:ea typeface="SimHei" panose="02010609060101010101" pitchFamily="49" charset="-122"/>
              </a:rPr>
              <a:t>：早期人类主要使用天然颜料作为胭脂的着色剂，如红赫石、朱砂、胭脂红、 红铅、红花素、檀香木和巴西苏木提取物等。直到</a:t>
            </a: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世纪</a:t>
            </a: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年代逐步规范允许在化妆品和药品中使用的着色剂。</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171764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30621" y="1563544"/>
            <a:ext cx="7851228"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现今，胭脂所用的着色剂主要是一些无机颜料（</a:t>
            </a:r>
            <a:r>
              <a:rPr lang="zh-CN" altLang="en-US" sz="2400" b="1" i="1" dirty="0">
                <a:solidFill>
                  <a:srgbClr val="FF0000"/>
                </a:solidFill>
                <a:latin typeface="KaiTi" panose="02010609060101010101" pitchFamily="49" charset="-122"/>
                <a:ea typeface="KaiTi" panose="02010609060101010101" pitchFamily="49" charset="-122"/>
              </a:rPr>
              <a:t>胭脂红酸</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胭脂中的着色剂一般主要使用红色系颜料。</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近年来，随着市场产品的细分化，产品的颜色品种增加，使用着色剂的范围有所扩大，也使用褐色、蓝色、古铜色和米色等。</a:t>
            </a:r>
          </a:p>
        </p:txBody>
      </p:sp>
    </p:spTree>
    <p:extLst>
      <p:ext uri="{BB962C8B-B14F-4D97-AF65-F5344CB8AC3E}">
        <p14:creationId xmlns:p14="http://schemas.microsoft.com/office/powerpoint/2010/main" val="1924607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粉饼型腮红</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008993" y="1756715"/>
            <a:ext cx="7126014"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粉饼型腮红：其基质和粉饼所用基质大致相同，主要为滑石、云母、高岭土、钛白粉，再配入一些球形二氧化硅、尼龙粉等改善涂抹和肤感，用油性黏合剂喷入并加以高速搅拌，压制成饼状。</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粉饼型腮红和一般粉饼的组成接近，制造工艺也相同。</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68874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眼影</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眼影</a:t>
            </a:r>
            <a:r>
              <a:rPr lang="en-US" altLang="zh-CN" sz="2400" dirty="0">
                <a:latin typeface="+mn-lt"/>
                <a:ea typeface="SimHei" panose="02010609060101010101" pitchFamily="49" charset="-122"/>
              </a:rPr>
              <a:t>(eye shadow)</a:t>
            </a:r>
            <a:r>
              <a:rPr lang="zh-CN" altLang="en-US" sz="2400" dirty="0">
                <a:latin typeface="+mn-lt"/>
                <a:ea typeface="SimHei" panose="02010609060101010101" pitchFamily="49" charset="-122"/>
              </a:rPr>
              <a:t>化妆品是</a:t>
            </a:r>
            <a:r>
              <a:rPr lang="zh-CN" altLang="en-US" sz="2400" dirty="0">
                <a:solidFill>
                  <a:srgbClr val="0000FF"/>
                </a:solidFill>
                <a:latin typeface="+mn-lt"/>
                <a:ea typeface="SimHei" panose="02010609060101010101" pitchFamily="49" charset="-122"/>
              </a:rPr>
              <a:t>涂在眼睑和眼角上，产生阴影和色调反差，显出立体美感</a:t>
            </a:r>
            <a:r>
              <a:rPr lang="zh-CN" altLang="en-US" sz="2400" dirty="0">
                <a:latin typeface="+mn-lt"/>
                <a:ea typeface="SimHei" panose="02010609060101010101" pitchFamily="49" charset="-122"/>
              </a:rPr>
              <a:t>，达到强化眼神，使眼部显得更美丽动人的制品。</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眼影化妆品色调是眼部用化妆品</a:t>
            </a:r>
            <a:r>
              <a:rPr lang="zh-CN" altLang="en-US" sz="2400" dirty="0">
                <a:solidFill>
                  <a:srgbClr val="0000FF"/>
                </a:solidFill>
                <a:latin typeface="+mn-lt"/>
                <a:ea typeface="SimHei" panose="02010609060101010101" pitchFamily="49" charset="-122"/>
              </a:rPr>
              <a:t>最多彩</a:t>
            </a:r>
            <a:r>
              <a:rPr lang="zh-CN" altLang="en-US" sz="2400" dirty="0">
                <a:latin typeface="+mn-lt"/>
                <a:ea typeface="SimHei" panose="02010609060101010101" pitchFamily="49" charset="-122"/>
              </a:rPr>
              <a:t>的，有蓝、青、绿、棕、茶、褐和紫色等，其他供调色用有黑、白、红、黄色。眼影化妆品的色调随流行色调而变化，带有潮流趋向，并应配合不同肤色、服装、季节和交际场合的需要。</a:t>
            </a:r>
          </a:p>
        </p:txBody>
      </p:sp>
    </p:spTree>
    <p:extLst>
      <p:ext uri="{BB962C8B-B14F-4D97-AF65-F5344CB8AC3E}">
        <p14:creationId xmlns:p14="http://schemas.microsoft.com/office/powerpoint/2010/main" val="1374816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眼影</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24314" y="1623212"/>
            <a:ext cx="7967893"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必备的性质如下：</a:t>
            </a:r>
          </a:p>
          <a:p>
            <a:pPr>
              <a:lnSpc>
                <a:spcPct val="150000"/>
              </a:lnSpc>
            </a:pPr>
            <a:r>
              <a:rPr lang="zh-CN" altLang="en-US" sz="2400" dirty="0">
                <a:latin typeface="+mn-lt"/>
                <a:ea typeface="SimHei" panose="02010609060101010101" pitchFamily="49" charset="-122"/>
              </a:rPr>
              <a:t>① 易涂抹混合成均匀的色调，附着作用好；</a:t>
            </a:r>
          </a:p>
          <a:p>
            <a:pPr>
              <a:lnSpc>
                <a:spcPct val="150000"/>
              </a:lnSpc>
            </a:pPr>
            <a:r>
              <a:rPr lang="zh-CN" altLang="en-US" sz="2400" dirty="0">
                <a:latin typeface="+mn-lt"/>
                <a:ea typeface="SimHei" panose="02010609060101010101" pitchFamily="49" charset="-122"/>
              </a:rPr>
              <a:t>② 涂层呈哑光，不产生油光；</a:t>
            </a:r>
          </a:p>
          <a:p>
            <a:pPr>
              <a:lnSpc>
                <a:spcPct val="150000"/>
              </a:lnSpc>
            </a:pPr>
            <a:r>
              <a:rPr lang="zh-CN" altLang="en-US" sz="2400" dirty="0">
                <a:latin typeface="+mn-lt"/>
                <a:ea typeface="SimHei" panose="02010609060101010101" pitchFamily="49" charset="-122"/>
              </a:rPr>
              <a:t>③ 颜色不会因阳光、皮脂和汗水作用发生变化；</a:t>
            </a:r>
          </a:p>
          <a:p>
            <a:pPr>
              <a:lnSpc>
                <a:spcPct val="150000"/>
              </a:lnSpc>
            </a:pPr>
            <a:r>
              <a:rPr lang="zh-CN" altLang="en-US" sz="2400" dirty="0">
                <a:latin typeface="+mn-lt"/>
                <a:ea typeface="SimHei" panose="02010609060101010101" pitchFamily="49" charset="-122"/>
              </a:rPr>
              <a:t>④ 涂膜不会被汗液和皮脂破坏，化妆持久性好；</a:t>
            </a:r>
          </a:p>
          <a:p>
            <a:pPr>
              <a:lnSpc>
                <a:spcPct val="150000"/>
              </a:lnSpc>
            </a:pPr>
            <a:r>
              <a:rPr lang="zh-CN" altLang="en-US" sz="2400" dirty="0">
                <a:latin typeface="+mn-lt"/>
                <a:ea typeface="SimHei" panose="02010609060101010101" pitchFamily="49" charset="-122"/>
              </a:rPr>
              <a:t>⑤ 由于涂在眼睛的周围，故安全性好。</a:t>
            </a:r>
          </a:p>
        </p:txBody>
      </p:sp>
    </p:spTree>
    <p:extLst>
      <p:ext uri="{BB962C8B-B14F-4D97-AF65-F5344CB8AC3E}">
        <p14:creationId xmlns:p14="http://schemas.microsoft.com/office/powerpoint/2010/main" val="3551358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粉饼的基本配方组成</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graphicFrame>
        <p:nvGraphicFramePr>
          <p:cNvPr id="5" name="表格 4">
            <a:extLst>
              <a:ext uri="{FF2B5EF4-FFF2-40B4-BE49-F238E27FC236}">
                <a16:creationId xmlns:a16="http://schemas.microsoft.com/office/drawing/2014/main" id="{54BAE44E-2839-87DB-D28F-E2CC3FCF1D71}"/>
              </a:ext>
            </a:extLst>
          </p:cNvPr>
          <p:cNvGraphicFramePr>
            <a:graphicFrameLocks noGrp="1"/>
          </p:cNvGraphicFramePr>
          <p:nvPr>
            <p:extLst>
              <p:ext uri="{D42A27DB-BD31-4B8C-83A1-F6EECF244321}">
                <p14:modId xmlns:p14="http://schemas.microsoft.com/office/powerpoint/2010/main" val="1994926087"/>
              </p:ext>
            </p:extLst>
          </p:nvPr>
        </p:nvGraphicFramePr>
        <p:xfrm>
          <a:off x="182880" y="1266443"/>
          <a:ext cx="8778240" cy="4325113"/>
        </p:xfrm>
        <a:graphic>
          <a:graphicData uri="http://schemas.openxmlformats.org/drawingml/2006/table">
            <a:tbl>
              <a:tblPr firstRow="1" firstCol="1" bandRow="1">
                <a:tableStyleId>{9D7B26C5-4107-4FEC-AEDC-1716B250A1EF}</a:tableStyleId>
              </a:tblPr>
              <a:tblGrid>
                <a:gridCol w="806222">
                  <a:extLst>
                    <a:ext uri="{9D8B030D-6E8A-4147-A177-3AD203B41FA5}">
                      <a16:colId xmlns:a16="http://schemas.microsoft.com/office/drawing/2014/main" val="1455519178"/>
                    </a:ext>
                  </a:extLst>
                </a:gridCol>
                <a:gridCol w="1470319">
                  <a:extLst>
                    <a:ext uri="{9D8B030D-6E8A-4147-A177-3AD203B41FA5}">
                      <a16:colId xmlns:a16="http://schemas.microsoft.com/office/drawing/2014/main" val="3482529294"/>
                    </a:ext>
                  </a:extLst>
                </a:gridCol>
                <a:gridCol w="4950372">
                  <a:extLst>
                    <a:ext uri="{9D8B030D-6E8A-4147-A177-3AD203B41FA5}">
                      <a16:colId xmlns:a16="http://schemas.microsoft.com/office/drawing/2014/main" val="174975471"/>
                    </a:ext>
                  </a:extLst>
                </a:gridCol>
                <a:gridCol w="1551327">
                  <a:extLst>
                    <a:ext uri="{9D8B030D-6E8A-4147-A177-3AD203B41FA5}">
                      <a16:colId xmlns:a16="http://schemas.microsoft.com/office/drawing/2014/main" val="1007460135"/>
                    </a:ext>
                  </a:extLst>
                </a:gridCol>
              </a:tblGrid>
              <a:tr h="262890">
                <a:tc gridSpan="2">
                  <a:txBody>
                    <a:bodyPr/>
                    <a:lstStyle/>
                    <a:p>
                      <a:pPr marL="711200" marR="0" eaLnBrk="0">
                        <a:lnSpc>
                          <a:spcPct val="91000"/>
                        </a:lnSpc>
                        <a:spcBef>
                          <a:spcPts val="520"/>
                        </a:spcBef>
                        <a:spcAft>
                          <a:spcPts val="0"/>
                        </a:spcAft>
                      </a:pPr>
                      <a:r>
                        <a:rPr lang="zh-CN" sz="1800" spc="-15">
                          <a:effectLst/>
                        </a:rPr>
                        <a:t>组分</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hMerge="1">
                  <a:txBody>
                    <a:bodyPr/>
                    <a:lstStyle/>
                    <a:p>
                      <a:endParaRPr lang="en-US"/>
                    </a:p>
                  </a:txBody>
                  <a:tcPr/>
                </a:tc>
                <a:tc>
                  <a:txBody>
                    <a:bodyPr/>
                    <a:lstStyle/>
                    <a:p>
                      <a:pPr marL="1641475" marR="0" eaLnBrk="0">
                        <a:lnSpc>
                          <a:spcPct val="91000"/>
                        </a:lnSpc>
                        <a:spcBef>
                          <a:spcPts val="515"/>
                        </a:spcBef>
                        <a:spcAft>
                          <a:spcPts val="0"/>
                        </a:spcAft>
                      </a:pPr>
                      <a:r>
                        <a:rPr lang="zh-CN" sz="1800" spc="75">
                          <a:effectLst/>
                        </a:rPr>
                        <a:t>代表性原料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69875" marR="0" eaLnBrk="0">
                        <a:lnSpc>
                          <a:spcPct val="92000"/>
                        </a:lnSpc>
                        <a:spcBef>
                          <a:spcPts val="520"/>
                        </a:spcBef>
                        <a:spcAft>
                          <a:spcPts val="0"/>
                        </a:spcAft>
                      </a:pPr>
                      <a:r>
                        <a:rPr lang="zh-CN" sz="1800" spc="10">
                          <a:effectLst/>
                        </a:rPr>
                        <a:t>主要功能</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740756634"/>
                  </a:ext>
                </a:extLst>
              </a:tr>
              <a:tr h="431165">
                <a:tc rowSpan="3">
                  <a:txBody>
                    <a:bodyPr/>
                    <a:lstStyle/>
                    <a:p>
                      <a:pPr marL="0" marR="0" eaLnBrk="0">
                        <a:lnSpc>
                          <a:spcPct val="149000"/>
                        </a:lnSpc>
                        <a:spcBef>
                          <a:spcPts val="0"/>
                        </a:spcBef>
                        <a:spcAft>
                          <a:spcPts val="0"/>
                        </a:spcAft>
                      </a:pPr>
                      <a:r>
                        <a:rPr lang="en-US" sz="1800">
                          <a:effectLst/>
                        </a:rPr>
                        <a:t> </a:t>
                      </a:r>
                    </a:p>
                    <a:p>
                      <a:pPr marL="0" marR="0" eaLnBrk="0">
                        <a:lnSpc>
                          <a:spcPct val="149000"/>
                        </a:lnSpc>
                        <a:spcBef>
                          <a:spcPts val="0"/>
                        </a:spcBef>
                        <a:spcAft>
                          <a:spcPts val="0"/>
                        </a:spcAft>
                      </a:pPr>
                      <a:r>
                        <a:rPr lang="en-US" sz="1800">
                          <a:effectLst/>
                        </a:rPr>
                        <a:t> </a:t>
                      </a:r>
                    </a:p>
                    <a:p>
                      <a:pPr marL="120650" marR="0" eaLnBrk="0">
                        <a:lnSpc>
                          <a:spcPct val="91000"/>
                        </a:lnSpc>
                        <a:spcBef>
                          <a:spcPts val="345"/>
                        </a:spcBef>
                        <a:spcAft>
                          <a:spcPts val="0"/>
                        </a:spcAft>
                      </a:pPr>
                      <a:r>
                        <a:rPr lang="zh-CN" sz="1800" spc="-10">
                          <a:effectLst/>
                        </a:rPr>
                        <a:t>基质粉体</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1190"/>
                        </a:spcBef>
                        <a:spcAft>
                          <a:spcPts val="0"/>
                        </a:spcAft>
                      </a:pPr>
                      <a:r>
                        <a:rPr lang="zh-CN" sz="1800" spc="10" dirty="0">
                          <a:effectLst/>
                        </a:rPr>
                        <a:t>无机填充剂</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50800" indent="101600" eaLnBrk="0">
                        <a:lnSpc>
                          <a:spcPct val="96000"/>
                        </a:lnSpc>
                        <a:spcBef>
                          <a:spcPts val="395"/>
                        </a:spcBef>
                        <a:spcAft>
                          <a:spcPts val="0"/>
                        </a:spcAft>
                      </a:pPr>
                      <a:r>
                        <a:rPr lang="zh-CN" sz="1800" spc="25" dirty="0">
                          <a:effectLst/>
                        </a:rPr>
                        <a:t>滑石粉、高岭土、云母、绢云母、碳酸镁、碳酸钙、硅酸镁、</a:t>
                      </a:r>
                      <a:r>
                        <a:rPr lang="zh-CN" sz="1800" spc="90" dirty="0">
                          <a:effectLst/>
                        </a:rPr>
                        <a:t> </a:t>
                      </a:r>
                      <a:r>
                        <a:rPr lang="zh-CN" sz="1800" spc="40" dirty="0">
                          <a:effectLst/>
                        </a:rPr>
                        <a:t>二氧化硅、硫酸钡、硅藻土、膨润土</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163195" eaLnBrk="0">
                        <a:lnSpc>
                          <a:spcPct val="95000"/>
                        </a:lnSpc>
                        <a:spcBef>
                          <a:spcPts val="495"/>
                        </a:spcBef>
                        <a:spcAft>
                          <a:spcPts val="0"/>
                        </a:spcAft>
                      </a:pPr>
                      <a:r>
                        <a:rPr lang="zh-CN" sz="1800" spc="-10">
                          <a:effectLst/>
                        </a:rPr>
                        <a:t>铺展性、填充</a:t>
                      </a:r>
                      <a:r>
                        <a:rPr lang="zh-CN" sz="1800" spc="15">
                          <a:effectLst/>
                        </a:rPr>
                        <a:t> </a:t>
                      </a:r>
                      <a:r>
                        <a:rPr lang="zh-CN" sz="1800" spc="60">
                          <a:effectLst/>
                        </a:rPr>
                        <a:t>作用</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250050789"/>
                  </a:ext>
                </a:extLst>
              </a:tr>
              <a:tr h="431165">
                <a:tc vMerge="1">
                  <a:txBody>
                    <a:bodyPr/>
                    <a:lstStyle/>
                    <a:p>
                      <a:endParaRPr lang="en-US"/>
                    </a:p>
                  </a:txBody>
                  <a:tcPr/>
                </a:tc>
                <a:tc>
                  <a:txBody>
                    <a:bodyPr/>
                    <a:lstStyle/>
                    <a:p>
                      <a:pPr marL="98425" marR="0" eaLnBrk="0">
                        <a:lnSpc>
                          <a:spcPct val="91000"/>
                        </a:lnSpc>
                        <a:spcBef>
                          <a:spcPts val="1195"/>
                        </a:spcBef>
                        <a:spcAft>
                          <a:spcPts val="0"/>
                        </a:spcAft>
                      </a:pPr>
                      <a:r>
                        <a:rPr lang="zh-CN" sz="1800" spc="10">
                          <a:effectLst/>
                        </a:rPr>
                        <a:t>有机填充剂</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74930" indent="95250" eaLnBrk="0">
                        <a:lnSpc>
                          <a:spcPct val="97000"/>
                        </a:lnSpc>
                        <a:spcBef>
                          <a:spcPts val="395"/>
                        </a:spcBef>
                        <a:spcAft>
                          <a:spcPts val="0"/>
                        </a:spcAft>
                      </a:pPr>
                      <a:r>
                        <a:rPr lang="zh-CN" sz="1800" spc="20" dirty="0">
                          <a:effectLst/>
                        </a:rPr>
                        <a:t>纤维素微球、尼龙微球、聚乙烯微球、聚四氟乙烯微球、聚甲</a:t>
                      </a:r>
                      <a:r>
                        <a:rPr lang="zh-CN" sz="1800" spc="40" dirty="0">
                          <a:effectLst/>
                        </a:rPr>
                        <a:t>基丙烯酸酯微球</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0" eaLnBrk="0">
                        <a:lnSpc>
                          <a:spcPct val="91000"/>
                        </a:lnSpc>
                        <a:spcBef>
                          <a:spcPts val="1200"/>
                        </a:spcBef>
                        <a:spcAft>
                          <a:spcPts val="0"/>
                        </a:spcAft>
                      </a:pPr>
                      <a:r>
                        <a:rPr lang="zh-CN" sz="1800" spc="-10">
                          <a:effectLst/>
                        </a:rPr>
                        <a:t>提高滑感</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494823796"/>
                  </a:ext>
                </a:extLst>
              </a:tr>
              <a:tr h="253365">
                <a:tc vMerge="1">
                  <a:txBody>
                    <a:bodyPr/>
                    <a:lstStyle/>
                    <a:p>
                      <a:endParaRPr lang="en-US"/>
                    </a:p>
                  </a:txBody>
                  <a:tcPr/>
                </a:tc>
                <a:tc>
                  <a:txBody>
                    <a:bodyPr/>
                    <a:lstStyle/>
                    <a:p>
                      <a:pPr marL="104775" marR="0" eaLnBrk="0">
                        <a:lnSpc>
                          <a:spcPct val="91000"/>
                        </a:lnSpc>
                        <a:spcBef>
                          <a:spcPts val="500"/>
                        </a:spcBef>
                        <a:spcAft>
                          <a:spcPts val="0"/>
                        </a:spcAft>
                      </a:pPr>
                      <a:r>
                        <a:rPr lang="zh-CN" sz="1800" spc="10">
                          <a:effectLst/>
                        </a:rPr>
                        <a:t>天然填充剂</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06375" marR="0" eaLnBrk="0">
                        <a:lnSpc>
                          <a:spcPct val="91000"/>
                        </a:lnSpc>
                        <a:spcBef>
                          <a:spcPts val="505"/>
                        </a:spcBef>
                        <a:spcAft>
                          <a:spcPts val="0"/>
                        </a:spcAft>
                      </a:pPr>
                      <a:r>
                        <a:rPr lang="zh-CN" sz="1800" spc="35" dirty="0">
                          <a:effectLst/>
                        </a:rPr>
                        <a:t>木粉、纤维素粉、丝素粉、淀粉、改性淀粉</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spcBef>
                          <a:spcPts val="0"/>
                        </a:spcBef>
                        <a:spcAft>
                          <a:spcPts val="0"/>
                        </a:spcAft>
                      </a:pPr>
                      <a:r>
                        <a:rPr lang="en-US" sz="1800">
                          <a:effectLst/>
                        </a:rPr>
                        <a:t> </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497833437"/>
                  </a:ext>
                </a:extLst>
              </a:tr>
              <a:tr h="247015">
                <a:tc rowSpan="5">
                  <a:txBody>
                    <a:bodyPr/>
                    <a:lstStyle/>
                    <a:p>
                      <a:pPr marL="0" marR="0" eaLnBrk="0">
                        <a:lnSpc>
                          <a:spcPct val="101000"/>
                        </a:lnSpc>
                        <a:spcBef>
                          <a:spcPts val="0"/>
                        </a:spcBef>
                        <a:spcAft>
                          <a:spcPts val="0"/>
                        </a:spcAft>
                      </a:pPr>
                      <a:r>
                        <a:rPr lang="en-US" sz="1800">
                          <a:effectLst/>
                        </a:rPr>
                        <a:t> </a:t>
                      </a:r>
                    </a:p>
                    <a:p>
                      <a:pPr marL="0" marR="0" eaLnBrk="0">
                        <a:lnSpc>
                          <a:spcPct val="101000"/>
                        </a:lnSpc>
                        <a:spcBef>
                          <a:spcPts val="0"/>
                        </a:spcBef>
                        <a:spcAft>
                          <a:spcPts val="0"/>
                        </a:spcAft>
                      </a:pPr>
                      <a:r>
                        <a:rPr lang="en-US" sz="1800">
                          <a:effectLst/>
                        </a:rPr>
                        <a:t> </a:t>
                      </a:r>
                    </a:p>
                    <a:p>
                      <a:pPr marL="0" marR="0" eaLnBrk="0">
                        <a:lnSpc>
                          <a:spcPct val="102000"/>
                        </a:lnSpc>
                        <a:spcBef>
                          <a:spcPts val="0"/>
                        </a:spcBef>
                        <a:spcAft>
                          <a:spcPts val="0"/>
                        </a:spcAft>
                      </a:pPr>
                      <a:r>
                        <a:rPr lang="en-US" sz="1800">
                          <a:effectLst/>
                        </a:rPr>
                        <a:t> </a:t>
                      </a:r>
                    </a:p>
                    <a:p>
                      <a:pPr marL="0" marR="0" eaLnBrk="0">
                        <a:lnSpc>
                          <a:spcPct val="102000"/>
                        </a:lnSpc>
                        <a:spcBef>
                          <a:spcPts val="0"/>
                        </a:spcBef>
                        <a:spcAft>
                          <a:spcPts val="0"/>
                        </a:spcAft>
                      </a:pPr>
                      <a:r>
                        <a:rPr lang="en-US" sz="1800">
                          <a:effectLst/>
                        </a:rPr>
                        <a:t> </a:t>
                      </a:r>
                    </a:p>
                    <a:p>
                      <a:pPr marL="120650" marR="0" eaLnBrk="0">
                        <a:lnSpc>
                          <a:spcPct val="91000"/>
                        </a:lnSpc>
                        <a:spcBef>
                          <a:spcPts val="340"/>
                        </a:spcBef>
                        <a:spcAft>
                          <a:spcPts val="0"/>
                        </a:spcAft>
                      </a:pPr>
                      <a:r>
                        <a:rPr lang="zh-CN" sz="1800" spc="-10">
                          <a:effectLst/>
                        </a:rPr>
                        <a:t>着色颜料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465"/>
                        </a:spcBef>
                        <a:spcAft>
                          <a:spcPts val="0"/>
                        </a:spcAft>
                      </a:pPr>
                      <a:r>
                        <a:rPr lang="zh-CN" sz="1800" spc="5">
                          <a:effectLst/>
                        </a:rPr>
                        <a:t>白色颜料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06375" marR="0" eaLnBrk="0">
                        <a:lnSpc>
                          <a:spcPct val="91000"/>
                        </a:lnSpc>
                        <a:spcBef>
                          <a:spcPts val="455"/>
                        </a:spcBef>
                        <a:spcAft>
                          <a:spcPts val="0"/>
                        </a:spcAft>
                      </a:pPr>
                      <a:r>
                        <a:rPr lang="zh-CN" sz="1800" spc="40" dirty="0">
                          <a:effectLst/>
                        </a:rPr>
                        <a:t>钛白粉、氧化锌</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0" eaLnBrk="0">
                        <a:lnSpc>
                          <a:spcPct val="92000"/>
                        </a:lnSpc>
                        <a:spcBef>
                          <a:spcPts val="465"/>
                        </a:spcBef>
                        <a:spcAft>
                          <a:spcPts val="0"/>
                        </a:spcAft>
                      </a:pPr>
                      <a:r>
                        <a:rPr lang="zh-CN" sz="1800" spc="-10">
                          <a:effectLst/>
                        </a:rPr>
                        <a:t>遮盖性</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032226725"/>
                  </a:ext>
                </a:extLst>
              </a:tr>
              <a:tr h="253365">
                <a:tc vMerge="1">
                  <a:txBody>
                    <a:bodyPr/>
                    <a:lstStyle/>
                    <a:p>
                      <a:endParaRPr lang="en-US"/>
                    </a:p>
                  </a:txBody>
                  <a:tcPr/>
                </a:tc>
                <a:tc>
                  <a:txBody>
                    <a:bodyPr/>
                    <a:lstStyle/>
                    <a:p>
                      <a:pPr marL="98425" marR="0" eaLnBrk="0">
                        <a:lnSpc>
                          <a:spcPct val="91000"/>
                        </a:lnSpc>
                        <a:spcBef>
                          <a:spcPts val="510"/>
                        </a:spcBef>
                        <a:spcAft>
                          <a:spcPts val="0"/>
                        </a:spcAft>
                      </a:pPr>
                      <a:r>
                        <a:rPr lang="zh-CN" sz="1800" spc="-10">
                          <a:effectLst/>
                        </a:rPr>
                        <a:t>有机颜料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06375" marR="0" eaLnBrk="0">
                        <a:lnSpc>
                          <a:spcPct val="91000"/>
                        </a:lnSpc>
                        <a:spcBef>
                          <a:spcPts val="515"/>
                        </a:spcBef>
                        <a:spcAft>
                          <a:spcPts val="0"/>
                        </a:spcAft>
                      </a:pPr>
                      <a:r>
                        <a:rPr lang="zh-CN" sz="1800" spc="35" dirty="0">
                          <a:effectLst/>
                        </a:rPr>
                        <a:t>食品、药品及化妆品用焦油色素</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rowSpan="3">
                  <a:txBody>
                    <a:bodyPr/>
                    <a:lstStyle/>
                    <a:p>
                      <a:pPr marL="0" marR="0" eaLnBrk="0">
                        <a:lnSpc>
                          <a:spcPct val="118000"/>
                        </a:lnSpc>
                        <a:spcBef>
                          <a:spcPts val="0"/>
                        </a:spcBef>
                        <a:spcAft>
                          <a:spcPts val="0"/>
                        </a:spcAft>
                      </a:pPr>
                      <a:r>
                        <a:rPr lang="en-US" sz="1800" dirty="0">
                          <a:effectLst/>
                        </a:rPr>
                        <a:t> </a:t>
                      </a:r>
                    </a:p>
                    <a:p>
                      <a:pPr marL="0" marR="0" eaLnBrk="0">
                        <a:lnSpc>
                          <a:spcPct val="119000"/>
                        </a:lnSpc>
                        <a:spcBef>
                          <a:spcPts val="0"/>
                        </a:spcBef>
                        <a:spcAft>
                          <a:spcPts val="0"/>
                        </a:spcAft>
                      </a:pPr>
                      <a:r>
                        <a:rPr lang="en-US" sz="1800" dirty="0">
                          <a:effectLst/>
                        </a:rPr>
                        <a:t> </a:t>
                      </a:r>
                    </a:p>
                    <a:p>
                      <a:pPr marL="92075" marR="0" eaLnBrk="0">
                        <a:lnSpc>
                          <a:spcPct val="91000"/>
                        </a:lnSpc>
                        <a:spcBef>
                          <a:spcPts val="345"/>
                        </a:spcBef>
                        <a:spcAft>
                          <a:spcPts val="0"/>
                        </a:spcAft>
                      </a:pPr>
                      <a:r>
                        <a:rPr lang="zh-CN" sz="1800" spc="-10" dirty="0">
                          <a:effectLst/>
                        </a:rPr>
                        <a:t>着色性</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616526790"/>
                  </a:ext>
                </a:extLst>
              </a:tr>
              <a:tr h="424815">
                <a:tc vMerge="1">
                  <a:txBody>
                    <a:bodyPr/>
                    <a:lstStyle/>
                    <a:p>
                      <a:endParaRPr lang="en-US"/>
                    </a:p>
                  </a:txBody>
                  <a:tcPr/>
                </a:tc>
                <a:tc>
                  <a:txBody>
                    <a:bodyPr/>
                    <a:lstStyle/>
                    <a:p>
                      <a:pPr marL="98425" marR="0" eaLnBrk="0">
                        <a:lnSpc>
                          <a:spcPct val="91000"/>
                        </a:lnSpc>
                        <a:spcBef>
                          <a:spcPts val="1165"/>
                        </a:spcBef>
                        <a:spcAft>
                          <a:spcPts val="0"/>
                        </a:spcAft>
                      </a:pPr>
                      <a:r>
                        <a:rPr lang="zh-CN" sz="1800" spc="-10">
                          <a:effectLst/>
                        </a:rPr>
                        <a:t>无机颜料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indent="100330" eaLnBrk="0">
                        <a:lnSpc>
                          <a:spcPct val="101000"/>
                        </a:lnSpc>
                        <a:spcBef>
                          <a:spcPts val="470"/>
                        </a:spcBef>
                        <a:spcAft>
                          <a:spcPts val="0"/>
                        </a:spcAft>
                      </a:pPr>
                      <a:r>
                        <a:rPr lang="zh-CN" sz="1800" spc="55" dirty="0">
                          <a:effectLst/>
                        </a:rPr>
                        <a:t>红色氧化铁、黄色氧化铁、黑色氧化铁、锰紫、群青</a:t>
                      </a:r>
                      <a:r>
                        <a:rPr lang="zh-CN" sz="1800" spc="50" dirty="0">
                          <a:effectLst/>
                        </a:rPr>
                        <a:t>、氧化铬、</a:t>
                      </a:r>
                      <a:r>
                        <a:rPr lang="zh-CN" sz="1800" dirty="0">
                          <a:effectLst/>
                        </a:rPr>
                        <a:t> </a:t>
                      </a:r>
                      <a:r>
                        <a:rPr lang="zh-CN" sz="1800" spc="80" dirty="0">
                          <a:effectLst/>
                        </a:rPr>
                        <a:t>氢氧化铬、赫石、炭黑</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vMerge="1">
                  <a:txBody>
                    <a:bodyPr/>
                    <a:lstStyle/>
                    <a:p>
                      <a:endParaRPr lang="en-US"/>
                    </a:p>
                  </a:txBody>
                  <a:tcPr/>
                </a:tc>
                <a:extLst>
                  <a:ext uri="{0D108BD9-81ED-4DB2-BD59-A6C34878D82A}">
                    <a16:rowId xmlns:a16="http://schemas.microsoft.com/office/drawing/2014/main" val="3951630917"/>
                  </a:ext>
                </a:extLst>
              </a:tr>
              <a:tr h="247015">
                <a:tc vMerge="1">
                  <a:txBody>
                    <a:bodyPr/>
                    <a:lstStyle/>
                    <a:p>
                      <a:endParaRPr lang="en-US"/>
                    </a:p>
                  </a:txBody>
                  <a:tcPr/>
                </a:tc>
                <a:tc>
                  <a:txBody>
                    <a:bodyPr/>
                    <a:lstStyle/>
                    <a:p>
                      <a:pPr marL="98425" marR="0" eaLnBrk="0">
                        <a:lnSpc>
                          <a:spcPct val="91000"/>
                        </a:lnSpc>
                        <a:spcBef>
                          <a:spcPts val="480"/>
                        </a:spcBef>
                        <a:spcAft>
                          <a:spcPts val="0"/>
                        </a:spcAft>
                      </a:pPr>
                      <a:r>
                        <a:rPr lang="zh-CN" sz="1800" spc="-15">
                          <a:effectLst/>
                        </a:rPr>
                        <a:t>天然颜料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06375" marR="0" eaLnBrk="0">
                        <a:lnSpc>
                          <a:spcPct val="91000"/>
                        </a:lnSpc>
                        <a:spcBef>
                          <a:spcPts val="470"/>
                        </a:spcBef>
                        <a:spcAft>
                          <a:spcPts val="0"/>
                        </a:spcAft>
                      </a:pPr>
                      <a:r>
                        <a:rPr lang="en-US" sz="1800" spc="5">
                          <a:effectLst/>
                        </a:rPr>
                        <a:t>β-</a:t>
                      </a:r>
                      <a:r>
                        <a:rPr lang="zh-CN" sz="1800" spc="5">
                          <a:effectLst/>
                        </a:rPr>
                        <a:t>胡萝卜素、花红素、胭脂红、叶绿素、藻类</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vMerge="1">
                  <a:txBody>
                    <a:bodyPr/>
                    <a:lstStyle/>
                    <a:p>
                      <a:endParaRPr lang="en-US"/>
                    </a:p>
                  </a:txBody>
                  <a:tcPr/>
                </a:tc>
                <a:extLst>
                  <a:ext uri="{0D108BD9-81ED-4DB2-BD59-A6C34878D82A}">
                    <a16:rowId xmlns:a16="http://schemas.microsoft.com/office/drawing/2014/main" val="1634302850"/>
                  </a:ext>
                </a:extLst>
              </a:tr>
              <a:tr h="259715">
                <a:tc vMerge="1">
                  <a:txBody>
                    <a:bodyPr/>
                    <a:lstStyle/>
                    <a:p>
                      <a:endParaRPr lang="en-US"/>
                    </a:p>
                  </a:txBody>
                  <a:tcPr/>
                </a:tc>
                <a:tc>
                  <a:txBody>
                    <a:bodyPr/>
                    <a:lstStyle/>
                    <a:p>
                      <a:pPr marL="98425" marR="0" eaLnBrk="0">
                        <a:lnSpc>
                          <a:spcPct val="91000"/>
                        </a:lnSpc>
                        <a:spcBef>
                          <a:spcPts val="530"/>
                        </a:spcBef>
                        <a:spcAft>
                          <a:spcPts val="0"/>
                        </a:spcAft>
                      </a:pPr>
                      <a:r>
                        <a:rPr lang="zh-CN" sz="1800" spc="-10">
                          <a:effectLst/>
                        </a:rPr>
                        <a:t>珠光颜料</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06375" marR="0" eaLnBrk="0">
                        <a:lnSpc>
                          <a:spcPct val="91000"/>
                        </a:lnSpc>
                        <a:spcBef>
                          <a:spcPts val="525"/>
                        </a:spcBef>
                        <a:spcAft>
                          <a:spcPts val="0"/>
                        </a:spcAft>
                      </a:pPr>
                      <a:r>
                        <a:rPr lang="zh-CN" sz="1800" spc="35">
                          <a:effectLst/>
                        </a:rPr>
                        <a:t>鱼鳞箔、氯氧化铋、云母钛、鸟嘌呤、铝粉</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0" eaLnBrk="0">
                        <a:lnSpc>
                          <a:spcPct val="91000"/>
                        </a:lnSpc>
                        <a:spcBef>
                          <a:spcPts val="530"/>
                        </a:spcBef>
                        <a:spcAft>
                          <a:spcPts val="0"/>
                        </a:spcAft>
                      </a:pPr>
                      <a:r>
                        <a:rPr lang="zh-CN" sz="1800" spc="-10" dirty="0">
                          <a:effectLst/>
                        </a:rPr>
                        <a:t>赋予光泽</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582961447"/>
                  </a:ext>
                </a:extLst>
              </a:tr>
              <a:tr h="427990">
                <a:tc gridSpan="2">
                  <a:txBody>
                    <a:bodyPr/>
                    <a:lstStyle/>
                    <a:p>
                      <a:pPr marL="641350" marR="0" eaLnBrk="0">
                        <a:lnSpc>
                          <a:spcPct val="91000"/>
                        </a:lnSpc>
                        <a:spcBef>
                          <a:spcPts val="1180"/>
                        </a:spcBef>
                        <a:spcAft>
                          <a:spcPts val="0"/>
                        </a:spcAft>
                      </a:pPr>
                      <a:r>
                        <a:rPr lang="zh-CN" sz="1800" spc="20">
                          <a:effectLst/>
                        </a:rPr>
                        <a:t>黏合剂</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hMerge="1">
                  <a:txBody>
                    <a:bodyPr/>
                    <a:lstStyle/>
                    <a:p>
                      <a:endParaRPr lang="en-US"/>
                    </a:p>
                  </a:txBody>
                  <a:tcPr/>
                </a:tc>
                <a:tc>
                  <a:txBody>
                    <a:bodyPr/>
                    <a:lstStyle/>
                    <a:p>
                      <a:pPr marL="92075" marR="50165" indent="114300" eaLnBrk="0">
                        <a:lnSpc>
                          <a:spcPct val="97000"/>
                        </a:lnSpc>
                        <a:spcBef>
                          <a:spcPts val="430"/>
                        </a:spcBef>
                        <a:spcAft>
                          <a:spcPts val="0"/>
                        </a:spcAft>
                      </a:pPr>
                      <a:r>
                        <a:rPr lang="zh-CN" sz="1800" spc="25" dirty="0">
                          <a:effectLst/>
                        </a:rPr>
                        <a:t>聚二甲基硅氧烷、苯基硅油、辛基十二烷基硬脂酰硬脂酸酯、</a:t>
                      </a:r>
                      <a:r>
                        <a:rPr lang="zh-CN" sz="1800" spc="120" dirty="0">
                          <a:effectLst/>
                        </a:rPr>
                        <a:t>矿物油</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164465" eaLnBrk="0">
                        <a:lnSpc>
                          <a:spcPct val="99000"/>
                        </a:lnSpc>
                        <a:spcBef>
                          <a:spcPts val="430"/>
                        </a:spcBef>
                        <a:spcAft>
                          <a:spcPts val="0"/>
                        </a:spcAft>
                      </a:pPr>
                      <a:r>
                        <a:rPr lang="zh-CN" sz="1800" spc="-10" dirty="0">
                          <a:effectLst/>
                        </a:rPr>
                        <a:t>提高粉体可压</a:t>
                      </a:r>
                      <a:r>
                        <a:rPr lang="zh-CN" sz="1800" spc="5" dirty="0">
                          <a:effectLst/>
                        </a:rPr>
                        <a:t> </a:t>
                      </a:r>
                      <a:r>
                        <a:rPr lang="zh-CN" sz="1800" spc="-10" dirty="0">
                          <a:effectLst/>
                        </a:rPr>
                        <a:t>性、保湿性</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82229380"/>
                  </a:ext>
                </a:extLst>
              </a:tr>
            </a:tbl>
          </a:graphicData>
        </a:graphic>
      </p:graphicFrame>
    </p:spTree>
    <p:extLst>
      <p:ext uri="{BB962C8B-B14F-4D97-AF65-F5344CB8AC3E}">
        <p14:creationId xmlns:p14="http://schemas.microsoft.com/office/powerpoint/2010/main" val="750295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粉饼：设计原理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粉饼配方主要由作为基质的粉体原料、色素以及作为黏合剂的油相组成。粉体原料根据粒子形状分为片状、球形以及介于两者之间的不规则形状。</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其中</a:t>
            </a:r>
            <a:r>
              <a:rPr lang="zh-CN" altLang="en-US" sz="2400" dirty="0">
                <a:solidFill>
                  <a:srgbClr val="0000FF"/>
                </a:solidFill>
                <a:latin typeface="+mn-lt"/>
                <a:ea typeface="SimHei" panose="02010609060101010101" pitchFamily="49" charset="-122"/>
              </a:rPr>
              <a:t>片状粉体本身可压性比较好</a:t>
            </a:r>
            <a:r>
              <a:rPr lang="zh-CN" altLang="en-US" sz="2400" dirty="0">
                <a:latin typeface="+mn-lt"/>
                <a:ea typeface="SimHei" panose="02010609060101010101" pitchFamily="49" charset="-122"/>
              </a:rPr>
              <a:t>，例</a:t>
            </a:r>
            <a:r>
              <a:rPr lang="zh-CN" altLang="en-US" sz="2400" dirty="0">
                <a:solidFill>
                  <a:srgbClr val="0000FF"/>
                </a:solidFill>
                <a:latin typeface="+mn-lt"/>
                <a:ea typeface="SimHei" panose="02010609060101010101" pitchFamily="49" charset="-122"/>
              </a:rPr>
              <a:t>如滑石粉、氮化硼</a:t>
            </a:r>
            <a:r>
              <a:rPr lang="zh-CN" altLang="en-US" sz="2400" dirty="0">
                <a:latin typeface="+mn-lt"/>
                <a:ea typeface="SimHei" panose="02010609060101010101" pitchFamily="49" charset="-122"/>
              </a:rPr>
              <a:t>等，这类粉体可增加粉体的可压性和强度。而大部分的</a:t>
            </a:r>
            <a:r>
              <a:rPr lang="zh-CN" altLang="en-US" sz="2400" dirty="0">
                <a:solidFill>
                  <a:srgbClr val="008000"/>
                </a:solidFill>
                <a:latin typeface="+mn-lt"/>
                <a:ea typeface="SimHei" panose="02010609060101010101" pitchFamily="49" charset="-122"/>
              </a:rPr>
              <a:t>球形粉体如二氧化硅、聚甲基丙烯酸甲酯 </a:t>
            </a:r>
            <a:r>
              <a:rPr lang="en-US" altLang="zh-CN" sz="2400" dirty="0">
                <a:solidFill>
                  <a:srgbClr val="008000"/>
                </a:solidFill>
                <a:latin typeface="+mn-lt"/>
                <a:ea typeface="SimHei" panose="02010609060101010101" pitchFamily="49" charset="-122"/>
              </a:rPr>
              <a:t>(PMMA)</a:t>
            </a:r>
            <a:r>
              <a:rPr lang="zh-CN" altLang="en-US" sz="2400" dirty="0">
                <a:solidFill>
                  <a:srgbClr val="008000"/>
                </a:solidFill>
                <a:latin typeface="+mn-lt"/>
                <a:ea typeface="SimHei" panose="02010609060101010101" pitchFamily="49" charset="-122"/>
              </a:rPr>
              <a:t>、尼龙粉</a:t>
            </a:r>
            <a:r>
              <a:rPr lang="zh-CN" altLang="en-US" sz="2400" dirty="0">
                <a:latin typeface="+mn-lt"/>
                <a:ea typeface="SimHei" panose="02010609060101010101" pitchFamily="49" charset="-122"/>
              </a:rPr>
              <a:t>等可压性比较差，如果在配方中加入量太大会影响粉体的硬度和抗摔性，但这些</a:t>
            </a:r>
            <a:r>
              <a:rPr lang="zh-CN" altLang="en-US" sz="2400" dirty="0">
                <a:solidFill>
                  <a:srgbClr val="008000"/>
                </a:solidFill>
                <a:latin typeface="+mn-lt"/>
                <a:ea typeface="SimHei" panose="02010609060101010101" pitchFamily="49" charset="-122"/>
              </a:rPr>
              <a:t>球形粉体可以改善粉体的滑感和涂抹性能</a:t>
            </a:r>
            <a:r>
              <a:rPr lang="zh-CN" altLang="en-US" sz="2400" dirty="0">
                <a:latin typeface="+mn-lt"/>
                <a:ea typeface="SimHei" panose="02010609060101010101" pitchFamily="49" charset="-122"/>
              </a:rPr>
              <a:t>，常作为肤感改良剂使用。</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601621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粉饼：设计原理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6342"/>
            <a:ext cx="8778240"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在粉体中加入</a:t>
            </a:r>
            <a:r>
              <a:rPr lang="zh-CN" altLang="en-US" sz="2400" dirty="0">
                <a:solidFill>
                  <a:srgbClr val="0000FF"/>
                </a:solidFill>
                <a:latin typeface="+mn-lt"/>
                <a:ea typeface="SimHei" panose="02010609060101010101" pitchFamily="49" charset="-122"/>
              </a:rPr>
              <a:t>油性黏合剂</a:t>
            </a:r>
            <a:r>
              <a:rPr lang="zh-CN" altLang="en-US" sz="2400" dirty="0">
                <a:latin typeface="+mn-lt"/>
                <a:ea typeface="SimHei" panose="02010609060101010101" pitchFamily="49" charset="-122"/>
              </a:rPr>
              <a:t>可以增加粉体自身的黏结力，从而</a:t>
            </a:r>
            <a:r>
              <a:rPr lang="zh-CN" altLang="en-US" sz="2400" dirty="0">
                <a:solidFill>
                  <a:srgbClr val="0000FF"/>
                </a:solidFill>
                <a:latin typeface="+mn-lt"/>
                <a:ea typeface="SimHei" panose="02010609060101010101" pitchFamily="49" charset="-122"/>
              </a:rPr>
              <a:t>提高可压性，改善硬度和抗摔性</a:t>
            </a:r>
            <a:r>
              <a:rPr lang="zh-CN" altLang="en-US" sz="2400" dirty="0">
                <a:latin typeface="+mn-lt"/>
                <a:ea typeface="SimHei" panose="02010609060101010101" pitchFamily="49" charset="-122"/>
              </a:rPr>
              <a:t>。常用作油性黏合剂的油脂原料有聚二甲基硅氧烷、苯基硅油、辛基十二烷基硬脂酰硬脂酸酯、甘油三酯、矿油、二异硬脂醇苹果酸酯、羊毛脂等。</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216985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粉饼：粉体的粒径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457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化妆品中常用的粉体一般粒径都小于</a:t>
            </a:r>
            <a:r>
              <a:rPr lang="en-US" altLang="zh-CN" sz="2400" dirty="0">
                <a:latin typeface="+mn-lt"/>
                <a:ea typeface="SimHei" panose="02010609060101010101" pitchFamily="49" charset="-122"/>
              </a:rPr>
              <a:t>100 </a:t>
            </a:r>
            <a:r>
              <a:rPr lang="en-US" altLang="zh-CN" sz="2400" dirty="0" err="1">
                <a:latin typeface="+mn-lt"/>
                <a:ea typeface="SimHei" panose="02010609060101010101" pitchFamily="49" charset="-122"/>
              </a:rPr>
              <a:t>μm</a:t>
            </a: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主要为几微米到几十微米之间，</a:t>
            </a:r>
            <a:r>
              <a:rPr lang="zh-CN" altLang="en-US" sz="2400" dirty="0">
                <a:solidFill>
                  <a:srgbClr val="0000FF"/>
                </a:solidFill>
                <a:latin typeface="+mn-lt"/>
                <a:ea typeface="SimHei" panose="02010609060101010101" pitchFamily="49" charset="-122"/>
              </a:rPr>
              <a:t>粒径太小易于堵塞毛孔</a:t>
            </a:r>
            <a:r>
              <a:rPr lang="zh-CN" altLang="en-US" sz="2400" dirty="0">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太大</a:t>
            </a:r>
            <a:r>
              <a:rPr lang="zh-CN" altLang="en-US" sz="2400" dirty="0">
                <a:latin typeface="+mn-lt"/>
                <a:ea typeface="SimHei" panose="02010609060101010101" pitchFamily="49" charset="-122"/>
              </a:rPr>
              <a:t>则在肤感上会显</a:t>
            </a:r>
            <a:r>
              <a:rPr lang="zh-CN" altLang="en-US" sz="2400" dirty="0">
                <a:solidFill>
                  <a:srgbClr val="0000FF"/>
                </a:solidFill>
                <a:latin typeface="+mn-lt"/>
                <a:ea typeface="SimHei" panose="02010609060101010101" pitchFamily="49" charset="-122"/>
              </a:rPr>
              <a:t>粗糙不贴服</a:t>
            </a:r>
            <a:r>
              <a:rPr lang="zh-CN" altLang="en-US" sz="2400" dirty="0">
                <a:latin typeface="+mn-lt"/>
                <a:ea typeface="SimHei" panose="02010609060101010101" pitchFamily="49" charset="-122"/>
              </a:rPr>
              <a:t>。对于片状粉体颗粒，需了解一项重要的物理特性参数</a:t>
            </a:r>
            <a:r>
              <a:rPr lang="en-US" altLang="zh-CN" sz="2400" dirty="0">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径厚比</a:t>
            </a:r>
            <a:r>
              <a:rPr lang="zh-CN" altLang="en-US" sz="2400" dirty="0">
                <a:latin typeface="+mn-lt"/>
                <a:ea typeface="SimHei" panose="02010609060101010101" pitchFamily="49" charset="-122"/>
              </a:rPr>
              <a:t>，即片状颗粒的粒径跟其厚度的比值。</a:t>
            </a:r>
            <a:endParaRPr lang="en-US" altLang="zh-CN" sz="2400" dirty="0">
              <a:latin typeface="+mn-lt"/>
              <a:ea typeface="SimHei" panose="02010609060101010101" pitchFamily="49" charset="-122"/>
            </a:endParaRPr>
          </a:p>
          <a:p>
            <a:pPr>
              <a:lnSpc>
                <a:spcPct val="150000"/>
              </a:lnSpc>
            </a:pPr>
            <a:r>
              <a:rPr lang="zh-CN" altLang="en-US" sz="2400" dirty="0">
                <a:solidFill>
                  <a:srgbClr val="0000FF"/>
                </a:solidFill>
                <a:latin typeface="KaiTi" panose="02010609060101010101" pitchFamily="49" charset="-122"/>
                <a:ea typeface="KaiTi" panose="02010609060101010101" pitchFamily="49" charset="-122"/>
              </a:rPr>
              <a:t>径厚比大小</a:t>
            </a:r>
            <a:r>
              <a:rPr lang="zh-CN" altLang="en-US" sz="2400" dirty="0">
                <a:latin typeface="KaiTi" panose="02010609060101010101" pitchFamily="49" charset="-122"/>
                <a:ea typeface="KaiTi" panose="02010609060101010101" pitchFamily="49" charset="-122"/>
              </a:rPr>
              <a:t>一方面</a:t>
            </a:r>
            <a:r>
              <a:rPr lang="zh-CN" altLang="en-US" sz="2400" dirty="0">
                <a:solidFill>
                  <a:srgbClr val="0000FF"/>
                </a:solidFill>
                <a:latin typeface="KaiTi" panose="02010609060101010101" pitchFamily="49" charset="-122"/>
                <a:ea typeface="KaiTi" panose="02010609060101010101" pitchFamily="49" charset="-122"/>
              </a:rPr>
              <a:t>影响光的反射</a:t>
            </a:r>
            <a:r>
              <a:rPr lang="zh-CN" altLang="en-US" sz="2400" dirty="0">
                <a:latin typeface="KaiTi" panose="02010609060101010101" pitchFamily="49" charset="-122"/>
                <a:ea typeface="KaiTi" panose="02010609060101010101" pitchFamily="49" charset="-122"/>
              </a:rPr>
              <a:t>，从而影响到产品亮度。如</a:t>
            </a:r>
            <a:r>
              <a:rPr lang="zh-CN" altLang="en-US" sz="2400" dirty="0">
                <a:solidFill>
                  <a:srgbClr val="0000FF"/>
                </a:solidFill>
                <a:latin typeface="KaiTi" panose="02010609060101010101" pitchFamily="49" charset="-122"/>
                <a:ea typeface="KaiTi" panose="02010609060101010101" pitchFamily="49" charset="-122"/>
              </a:rPr>
              <a:t>大径厚比</a:t>
            </a:r>
            <a:r>
              <a:rPr lang="zh-CN" altLang="en-US" sz="2400" dirty="0">
                <a:latin typeface="KaiTi" panose="02010609060101010101" pitchFamily="49" charset="-122"/>
                <a:ea typeface="KaiTi" panose="02010609060101010101" pitchFamily="49" charset="-122"/>
              </a:rPr>
              <a:t>的云母粉可以作为</a:t>
            </a:r>
            <a:r>
              <a:rPr lang="zh-CN" altLang="en-US" sz="2400" dirty="0">
                <a:solidFill>
                  <a:srgbClr val="0000FF"/>
                </a:solidFill>
                <a:latin typeface="KaiTi" panose="02010609060101010101" pitchFamily="49" charset="-122"/>
                <a:ea typeface="KaiTi" panose="02010609060101010101" pitchFamily="49" charset="-122"/>
              </a:rPr>
              <a:t>珠光颜料</a:t>
            </a:r>
            <a:r>
              <a:rPr lang="zh-CN" altLang="en-US" sz="2400" dirty="0">
                <a:latin typeface="KaiTi" panose="02010609060101010101" pitchFamily="49" charset="-122"/>
                <a:ea typeface="KaiTi" panose="02010609060101010101" pitchFamily="49" charset="-122"/>
              </a:rPr>
              <a:t>、特种涂料、绝缘材料、日用化工及建材工业材料。另一方面</a:t>
            </a:r>
            <a:r>
              <a:rPr lang="zh-CN" altLang="en-US" sz="2400" dirty="0">
                <a:solidFill>
                  <a:srgbClr val="0000FF"/>
                </a:solidFill>
                <a:latin typeface="KaiTi" panose="02010609060101010101" pitchFamily="49" charset="-122"/>
                <a:ea typeface="KaiTi" panose="02010609060101010101" pitchFamily="49" charset="-122"/>
              </a:rPr>
              <a:t>大径厚比</a:t>
            </a:r>
            <a:r>
              <a:rPr lang="zh-CN" altLang="en-US" sz="2400" dirty="0">
                <a:latin typeface="KaiTi" panose="02010609060101010101" pitchFamily="49" charset="-122"/>
                <a:ea typeface="KaiTi" panose="02010609060101010101" pitchFamily="49" charset="-122"/>
              </a:rPr>
              <a:t>的微粉在复合材料中具有很重要的作用，微细颗粒、单晶体具有更高的强度，产生更佳的界面相互作用，产生</a:t>
            </a:r>
            <a:r>
              <a:rPr lang="zh-CN" altLang="en-US" sz="2400" dirty="0">
                <a:solidFill>
                  <a:srgbClr val="0000FF"/>
                </a:solidFill>
                <a:latin typeface="KaiTi" panose="02010609060101010101" pitchFamily="49" charset="-122"/>
                <a:ea typeface="KaiTi" panose="02010609060101010101" pitchFamily="49" charset="-122"/>
              </a:rPr>
              <a:t>好的贴服效果</a:t>
            </a:r>
            <a:r>
              <a:rPr lang="zh-CN" altLang="en-US" sz="2400" dirty="0">
                <a:latin typeface="KaiTi" panose="02010609060101010101" pitchFamily="49" charset="-122"/>
                <a:ea typeface="KaiTi" panose="02010609060101010101" pitchFamily="49" charset="-122"/>
              </a:rPr>
              <a:t>，使填料与偶合剂之间达到更好的结合强度，获得更小的应力集中和更强的抗冲击性。</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235682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粉饼：粉体的压缩成型性</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48021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粉体的压缩性表示粉体在压力下体积减小的能力。</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成型性表示粉体紧密结合成一 定形状的能力。</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i="1" dirty="0">
                <a:latin typeface="+mn-lt"/>
                <a:ea typeface="SimHei" panose="02010609060101010101" pitchFamily="49" charset="-122"/>
              </a:rPr>
              <a:t>粉体的压缩性和成型性简称压缩成型性。</a:t>
            </a:r>
            <a:endParaRPr lang="en-US" altLang="zh-CN" sz="2400" i="1"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solidFill>
                  <a:srgbClr val="FF0000"/>
                </a:solidFill>
                <a:latin typeface="+mn-lt"/>
                <a:ea typeface="SimHei" panose="02010609060101010101" pitchFamily="49" charset="-122"/>
              </a:rPr>
              <a:t>固体物料的压缩成型性是一个复杂问题</a:t>
            </a:r>
            <a:r>
              <a:rPr lang="en-US" altLang="zh-CN" sz="2400" dirty="0">
                <a:latin typeface="+mn-lt"/>
                <a:ea typeface="SimHei" panose="02010609060101010101" pitchFamily="49" charset="-122"/>
              </a:rPr>
              <a:t>:</a:t>
            </a:r>
          </a:p>
          <a:p>
            <a:pPr>
              <a:lnSpc>
                <a:spcPct val="150000"/>
              </a:lnSpc>
            </a:pPr>
            <a:r>
              <a:rPr lang="zh-CN" altLang="en-US" sz="2000" dirty="0">
                <a:latin typeface="KaiTi" panose="02010609060101010101" pitchFamily="49" charset="-122"/>
                <a:ea typeface="KaiTi" panose="02010609060101010101" pitchFamily="49" charset="-122"/>
              </a:rPr>
              <a:t>① 压缩后的粒子间距离很近，从而在粒子间产生范德华力、静电力等吸引力</a:t>
            </a:r>
          </a:p>
          <a:p>
            <a:pPr>
              <a:lnSpc>
                <a:spcPct val="150000"/>
              </a:lnSpc>
            </a:pPr>
            <a:r>
              <a:rPr lang="zh-CN" altLang="en-US" sz="2000" dirty="0">
                <a:latin typeface="KaiTi" panose="02010609060101010101" pitchFamily="49" charset="-122"/>
                <a:ea typeface="KaiTi" panose="02010609060101010101" pitchFamily="49" charset="-122"/>
              </a:rPr>
              <a:t>② 粒子在受压时的塑性变形使粒子间的接触面积增大，从而摩擦阻力增大；</a:t>
            </a:r>
          </a:p>
          <a:p>
            <a:pPr>
              <a:lnSpc>
                <a:spcPct val="150000"/>
              </a:lnSpc>
            </a:pPr>
            <a:r>
              <a:rPr lang="zh-CN" altLang="en-US" sz="2000" dirty="0">
                <a:latin typeface="KaiTi" panose="02010609060101010101" pitchFamily="49" charset="-122"/>
                <a:ea typeface="KaiTi" panose="02010609060101010101" pitchFamily="49" charset="-122"/>
              </a:rPr>
              <a:t>③ 粒子受压破碎而产生新的表面有较大的表面自由能；</a:t>
            </a:r>
          </a:p>
          <a:p>
            <a:pPr>
              <a:lnSpc>
                <a:spcPct val="150000"/>
              </a:lnSpc>
            </a:pPr>
            <a:r>
              <a:rPr lang="zh-CN" altLang="en-US" sz="2000" dirty="0">
                <a:latin typeface="KaiTi" panose="02010609060101010101" pitchFamily="49" charset="-122"/>
                <a:ea typeface="KaiTi" panose="02010609060101010101" pitchFamily="49" charset="-122"/>
              </a:rPr>
              <a:t>④ 粒子在受压变形时相互嵌合而产生的机械结合力；</a:t>
            </a:r>
          </a:p>
          <a:p>
            <a:pPr>
              <a:lnSpc>
                <a:spcPct val="150000"/>
              </a:lnSpc>
            </a:pPr>
            <a:r>
              <a:rPr lang="zh-CN" altLang="en-US" sz="2000" dirty="0">
                <a:latin typeface="KaiTi" panose="02010609060101010101" pitchFamily="49" charset="-122"/>
                <a:ea typeface="KaiTi" panose="02010609060101010101" pitchFamily="49" charset="-122"/>
              </a:rPr>
              <a:t>⑤ 物料在压缩过程中因摩擦产生热，特别是支撑点处产生较高的温度，使熔点较低的物料部分熔融，解除压力后又重新凝固而在粒子间形成“固体桥”</a:t>
            </a:r>
            <a:r>
              <a:rPr lang="en-US" altLang="zh-CN" sz="2000" dirty="0">
                <a:latin typeface="KaiTi" panose="02010609060101010101" pitchFamily="49" charset="-122"/>
                <a:ea typeface="KaiTi" panose="02010609060101010101" pitchFamily="49" charset="-122"/>
              </a:rPr>
              <a:t>;</a:t>
            </a:r>
          </a:p>
          <a:p>
            <a:pPr>
              <a:lnSpc>
                <a:spcPct val="150000"/>
              </a:lnSpc>
            </a:pPr>
            <a:r>
              <a:rPr lang="en-US" altLang="zh-CN" sz="2000" dirty="0">
                <a:latin typeface="KaiTi" panose="02010609060101010101" pitchFamily="49" charset="-122"/>
                <a:ea typeface="KaiTi" panose="02010609060101010101" pitchFamily="49" charset="-122"/>
              </a:rPr>
              <a:t>⑥ </a:t>
            </a:r>
            <a:r>
              <a:rPr lang="zh-CN" altLang="en-US" sz="2000" dirty="0">
                <a:latin typeface="KaiTi" panose="02010609060101010101" pitchFamily="49" charset="-122"/>
                <a:ea typeface="KaiTi" panose="02010609060101010101" pitchFamily="49" charset="-122"/>
              </a:rPr>
              <a:t>油脂类成分在粒子的表面形成“液体桥”。</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924461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575441" y="1227619"/>
            <a:ext cx="7993117"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粉饼的基质组分主要是粉质原料，用于化妆品的粉质原料一般是</a:t>
            </a:r>
            <a:r>
              <a:rPr lang="zh-CN" altLang="en-US" sz="2400" dirty="0">
                <a:solidFill>
                  <a:srgbClr val="0000FF"/>
                </a:solidFill>
                <a:latin typeface="+mn-lt"/>
                <a:ea typeface="SimHei" panose="02010609060101010101" pitchFamily="49" charset="-122"/>
              </a:rPr>
              <a:t>不溶于水的无机粉料</a:t>
            </a:r>
            <a:r>
              <a:rPr lang="zh-CN" altLang="en-US" sz="2400" dirty="0">
                <a:latin typeface="+mn-lt"/>
                <a:ea typeface="SimHei" panose="02010609060101010101" pitchFamily="49" charset="-122"/>
              </a:rPr>
              <a:t>，其用量可高达</a:t>
            </a:r>
            <a:r>
              <a:rPr lang="en-US" altLang="zh-CN" sz="2400" dirty="0">
                <a:latin typeface="+mn-lt"/>
                <a:ea typeface="SimHei" panose="02010609060101010101" pitchFamily="49" charset="-122"/>
              </a:rPr>
              <a:t>30%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80%</a:t>
            </a:r>
            <a:r>
              <a:rPr lang="zh-CN" altLang="en-US" sz="2400" dirty="0">
                <a:latin typeface="+mn-lt"/>
                <a:ea typeface="SimHei" panose="02010609060101010101" pitchFamily="49" charset="-122"/>
              </a:rPr>
              <a:t>，磨细后在化妆品中发挥其遮盖、滑爽、吸收、吸附及摩擦等作用。</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所选用粉质原料皆属于白色粉末，细度达</a:t>
            </a:r>
            <a:r>
              <a:rPr lang="en-US" altLang="zh-CN" sz="2400" dirty="0">
                <a:latin typeface="+mn-lt"/>
                <a:ea typeface="SimHei" panose="02010609060101010101" pitchFamily="49" charset="-122"/>
              </a:rPr>
              <a:t>300</a:t>
            </a:r>
            <a:r>
              <a:rPr lang="zh-CN" altLang="en-US" sz="2400" dirty="0">
                <a:latin typeface="+mn-lt"/>
                <a:ea typeface="SimHei" panose="02010609060101010101" pitchFamily="49" charset="-122"/>
              </a:rPr>
              <a:t>目以上，水分含量应在</a:t>
            </a:r>
            <a:r>
              <a:rPr lang="en-US" altLang="zh-CN" sz="2400" dirty="0">
                <a:latin typeface="+mn-lt"/>
                <a:ea typeface="SimHei" panose="02010609060101010101" pitchFamily="49" charset="-122"/>
              </a:rPr>
              <a:t>2%</a:t>
            </a:r>
            <a:r>
              <a:rPr lang="zh-CN" altLang="en-US" sz="2400" dirty="0">
                <a:latin typeface="+mn-lt"/>
                <a:ea typeface="SimHei" panose="02010609060101010101" pitchFamily="49" charset="-122"/>
              </a:rPr>
              <a:t>以下，其质量要求很高，不能对皮肤有任何刺激性。</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089004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8169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化妆品用粉质原料的主要品种有滑石粉等；</a:t>
            </a:r>
            <a:endParaRPr lang="en-US" altLang="zh-CN" sz="2400" dirty="0">
              <a:latin typeface="+mn-lt"/>
              <a:ea typeface="SimHei" panose="02010609060101010101" pitchFamily="49" charset="-122"/>
            </a:endParaRPr>
          </a:p>
          <a:p>
            <a:r>
              <a:rPr lang="zh-CN" altLang="en-US" sz="2400" dirty="0">
                <a:solidFill>
                  <a:srgbClr val="0000FF"/>
                </a:solidFill>
                <a:latin typeface="KaiTi" panose="02010609060101010101" pitchFamily="49" charset="-122"/>
                <a:ea typeface="KaiTi" panose="02010609060101010101" pitchFamily="49" charset="-122"/>
              </a:rPr>
              <a:t>滑石粉</a:t>
            </a:r>
            <a:r>
              <a:rPr lang="en-US" altLang="zh-CN" sz="2400" dirty="0">
                <a:solidFill>
                  <a:srgbClr val="0000FF"/>
                </a:solidFill>
                <a:latin typeface="KaiTi" panose="02010609060101010101" pitchFamily="49" charset="-122"/>
                <a:ea typeface="KaiTi" panose="02010609060101010101" pitchFamily="49" charset="-122"/>
              </a:rPr>
              <a:t>(talc)</a:t>
            </a:r>
            <a:r>
              <a:rPr lang="zh-CN" altLang="en-US" sz="2400" dirty="0">
                <a:latin typeface="KaiTi" panose="02010609060101010101" pitchFamily="49" charset="-122"/>
                <a:ea typeface="KaiTi" panose="02010609060101010101" pitchFamily="49" charset="-122"/>
              </a:rPr>
              <a:t>是天然矿产的含水硅酸镁，性柔软，易粉碎成白色或灰白色细粉，主要成分是</a:t>
            </a:r>
            <a:r>
              <a:rPr lang="en-US" altLang="zh-CN" sz="2400" dirty="0">
                <a:latin typeface="KaiTi" panose="02010609060101010101" pitchFamily="49" charset="-122"/>
                <a:ea typeface="KaiTi" panose="02010609060101010101" pitchFamily="49" charset="-122"/>
              </a:rPr>
              <a:t>3MgO·4SiO₂·H₂O</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a:p>
            <a:endParaRPr lang="en-US" altLang="zh-CN" sz="2400" dirty="0">
              <a:latin typeface="KaiTi" panose="02010609060101010101" pitchFamily="49" charset="-122"/>
              <a:ea typeface="KaiTi" panose="02010609060101010101" pitchFamily="49" charset="-122"/>
            </a:endParaRPr>
          </a:p>
          <a:p>
            <a:r>
              <a:rPr lang="zh-CN" altLang="en-US" sz="2400" dirty="0">
                <a:latin typeface="KaiTi" panose="02010609060101010101" pitchFamily="49" charset="-122"/>
                <a:ea typeface="KaiTi" panose="02010609060101010101" pitchFamily="49" charset="-122"/>
              </a:rPr>
              <a:t>滑石粉具有薄片结构，它割裂后的性质和云母很相似，这种结构使滑石粉具有光泽和滑爽的特性。因产地不同，质地也不一样，成分也略有不同，以色白、有光泽和滑润者为上品，优质滑石粉具有滑爽和略黏附于皮肤的性质。</a:t>
            </a:r>
            <a:endParaRPr lang="en-US" altLang="zh-CN" sz="2400" dirty="0">
              <a:latin typeface="KaiTi" panose="02010609060101010101" pitchFamily="49" charset="-122"/>
              <a:ea typeface="KaiTi" panose="02010609060101010101" pitchFamily="49" charset="-122"/>
            </a:endParaRPr>
          </a:p>
          <a:p>
            <a:endParaRPr lang="en-US" altLang="zh-CN" sz="2400" dirty="0">
              <a:latin typeface="KaiTi" panose="02010609060101010101" pitchFamily="49" charset="-122"/>
              <a:ea typeface="KaiTi" panose="02010609060101010101" pitchFamily="49" charset="-122"/>
            </a:endParaRPr>
          </a:p>
          <a:p>
            <a:r>
              <a:rPr lang="zh-CN" altLang="en-US" sz="2400" dirty="0">
                <a:latin typeface="KaiTi" panose="02010609060101010101" pitchFamily="49" charset="-122"/>
                <a:ea typeface="KaiTi" panose="02010609060101010101" pitchFamily="49" charset="-122"/>
              </a:rPr>
              <a:t>化妆品用滑石粉，经机械压碎，研磨成粉末状，其细度分</a:t>
            </a:r>
            <a:r>
              <a:rPr lang="en-US" altLang="zh-CN" sz="2400" dirty="0">
                <a:latin typeface="KaiTi" panose="02010609060101010101" pitchFamily="49" charset="-122"/>
                <a:ea typeface="KaiTi" panose="02010609060101010101" pitchFamily="49" charset="-122"/>
              </a:rPr>
              <a:t>200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325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400</a:t>
            </a:r>
            <a:r>
              <a:rPr lang="zh-CN" altLang="en-US" sz="2400" dirty="0">
                <a:latin typeface="KaiTi" panose="02010609060101010101" pitchFamily="49" charset="-122"/>
                <a:ea typeface="KaiTi" panose="02010609060101010101" pitchFamily="49" charset="-122"/>
              </a:rPr>
              <a:t>目等多种规格，</a:t>
            </a:r>
            <a:r>
              <a:rPr lang="zh-CN" altLang="en-US" sz="2400" dirty="0">
                <a:solidFill>
                  <a:srgbClr val="0000FF"/>
                </a:solidFill>
                <a:latin typeface="KaiTi" panose="02010609060101010101" pitchFamily="49" charset="-122"/>
                <a:ea typeface="KaiTi" panose="02010609060101010101" pitchFamily="49" charset="-122"/>
              </a:rPr>
              <a:t>色泽洁白、滑爽、柔软</a:t>
            </a:r>
            <a:r>
              <a:rPr lang="zh-CN" altLang="en-US" sz="2400" dirty="0">
                <a:latin typeface="KaiTi" panose="02010609060101010101" pitchFamily="49" charset="-122"/>
                <a:ea typeface="KaiTi" panose="02010609060101010101" pitchFamily="49" charset="-122"/>
              </a:rPr>
              <a:t>，相对密度为</a:t>
            </a:r>
            <a:r>
              <a:rPr lang="en-US" altLang="zh-CN" sz="2400" dirty="0">
                <a:latin typeface="KaiTi" panose="02010609060101010101" pitchFamily="49" charset="-122"/>
                <a:ea typeface="KaiTi" panose="02010609060101010101" pitchFamily="49" charset="-122"/>
              </a:rPr>
              <a:t>2.7</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2.8</a:t>
            </a:r>
            <a:r>
              <a:rPr lang="zh-CN" altLang="en-US" sz="2400" dirty="0">
                <a:latin typeface="KaiTi" panose="02010609060101010101" pitchFamily="49" charset="-122"/>
                <a:ea typeface="KaiTi" panose="02010609060101010101" pitchFamily="49" charset="-122"/>
              </a:rPr>
              <a:t>。它不溶于水、酸、碱 溶液及各种有机溶剂，其</a:t>
            </a:r>
            <a:r>
              <a:rPr lang="zh-CN" altLang="en-US" sz="2400" dirty="0">
                <a:solidFill>
                  <a:srgbClr val="0000FF"/>
                </a:solidFill>
                <a:latin typeface="KaiTi" panose="02010609060101010101" pitchFamily="49" charset="-122"/>
                <a:ea typeface="KaiTi" panose="02010609060101010101" pitchFamily="49" charset="-122"/>
              </a:rPr>
              <a:t>延展性为粉料类中最佳，但其吸油性及附着性稍差</a:t>
            </a:r>
            <a:r>
              <a:rPr lang="zh-CN" altLang="en-US" sz="2400" dirty="0">
                <a:latin typeface="KaiTi" panose="02010609060101010101" pitchFamily="49" charset="-122"/>
                <a:ea typeface="KaiTi" panose="02010609060101010101" pitchFamily="49" charset="-122"/>
              </a:rPr>
              <a:t>。在化妆品配方中，</a:t>
            </a:r>
            <a:r>
              <a:rPr lang="zh-CN" altLang="en-US" sz="2400" dirty="0">
                <a:solidFill>
                  <a:srgbClr val="0000FF"/>
                </a:solidFill>
                <a:latin typeface="KaiTi" panose="02010609060101010101" pitchFamily="49" charset="-122"/>
                <a:ea typeface="KaiTi" panose="02010609060101010101" pitchFamily="49" charset="-122"/>
              </a:rPr>
              <a:t>滑石粉对皮肤不发生任何化学作用</a:t>
            </a:r>
            <a:r>
              <a:rPr lang="zh-CN" altLang="en-US" sz="2400" dirty="0">
                <a:latin typeface="KaiTi" panose="02010609060101010101" pitchFamily="49" charset="-122"/>
                <a:ea typeface="KaiTi" panose="02010609060101010101" pitchFamily="49" charset="-122"/>
              </a:rPr>
              <a:t>，是制造香粉不可缺少的原料。</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902362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991751"/>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高岭土 </a:t>
            </a:r>
            <a:r>
              <a:rPr lang="en-US" altLang="zh-CN" sz="2400" dirty="0">
                <a:latin typeface="+mn-lt"/>
                <a:ea typeface="SimHei" panose="02010609060101010101" pitchFamily="49" charset="-122"/>
              </a:rPr>
              <a:t>(kaolin)</a:t>
            </a:r>
            <a:r>
              <a:rPr lang="zh-CN" altLang="en-US" sz="2400" dirty="0">
                <a:latin typeface="+mn-lt"/>
                <a:ea typeface="SimHei" panose="02010609060101010101" pitchFamily="49" charset="-122"/>
              </a:rPr>
              <a:t>：</a:t>
            </a:r>
            <a:r>
              <a:rPr lang="zh-CN" altLang="en-US" sz="2400" dirty="0">
                <a:latin typeface="KaiTi" panose="02010609060101010101" pitchFamily="49" charset="-122"/>
                <a:ea typeface="KaiTi" panose="02010609060101010101" pitchFamily="49" charset="-122"/>
              </a:rPr>
              <a:t>高岭土又称白</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陶</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土或磁</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瓷</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土，是天然矿产的硅酸铝，为白色或淡黄色细粉，略带黏土气息，有油腻感，</a:t>
            </a:r>
            <a:r>
              <a:rPr lang="zh-CN" altLang="en-US" sz="2400" dirty="0">
                <a:solidFill>
                  <a:srgbClr val="0000FF"/>
                </a:solidFill>
                <a:latin typeface="KaiTi" panose="02010609060101010101" pitchFamily="49" charset="-122"/>
                <a:ea typeface="KaiTi" panose="02010609060101010101" pitchFamily="49" charset="-122"/>
              </a:rPr>
              <a:t>主要成分是含水硅酸铝 </a:t>
            </a:r>
            <a:r>
              <a:rPr lang="en-US" altLang="zh-CN" sz="2400" dirty="0">
                <a:solidFill>
                  <a:srgbClr val="0000FF"/>
                </a:solidFill>
                <a:latin typeface="KaiTi" panose="02010609060101010101" pitchFamily="49" charset="-122"/>
                <a:ea typeface="KaiTi" panose="02010609060101010101" pitchFamily="49" charset="-122"/>
              </a:rPr>
              <a:t>(2SiO₂·</a:t>
            </a:r>
            <a:r>
              <a:rPr lang="en-US" altLang="zh-CN" sz="2400" dirty="0" err="1">
                <a:solidFill>
                  <a:srgbClr val="0000FF"/>
                </a:solidFill>
                <a:latin typeface="KaiTi" panose="02010609060101010101" pitchFamily="49" charset="-122"/>
                <a:ea typeface="KaiTi" panose="02010609060101010101" pitchFamily="49" charset="-122"/>
              </a:rPr>
              <a:t>Al₂O</a:t>
            </a:r>
            <a:r>
              <a:rPr lang="en-US" altLang="zh-CN" sz="2400" dirty="0">
                <a:solidFill>
                  <a:srgbClr val="0000FF"/>
                </a:solidFill>
                <a:latin typeface="KaiTi" panose="02010609060101010101" pitchFamily="49" charset="-122"/>
                <a:ea typeface="KaiTi" panose="02010609060101010101" pitchFamily="49" charset="-122"/>
              </a:rPr>
              <a:t>₃·2H₂O)</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以白色或微黄或灰色的细粉、色泽白、质地细者为上品。</a:t>
            </a:r>
            <a:endParaRPr lang="en-US" altLang="zh-CN" sz="2400" dirty="0">
              <a:latin typeface="KaiTi" panose="02010609060101010101" pitchFamily="49" charset="-122"/>
              <a:ea typeface="KaiT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高岭土不溶于水、冷稀酸及碱中，但容</a:t>
            </a:r>
            <a:r>
              <a:rPr lang="zh-CN" altLang="en-US" sz="2400" dirty="0">
                <a:solidFill>
                  <a:srgbClr val="0000FF"/>
                </a:solidFill>
                <a:latin typeface="KaiTi" panose="02010609060101010101" pitchFamily="49" charset="-122"/>
                <a:ea typeface="KaiTi" panose="02010609060101010101" pitchFamily="49" charset="-122"/>
              </a:rPr>
              <a:t>易分散于水或其他液体中</a:t>
            </a:r>
            <a:r>
              <a:rPr lang="zh-CN" altLang="en-US" sz="2400" dirty="0">
                <a:latin typeface="KaiTi" panose="02010609060101010101" pitchFamily="49" charset="-122"/>
                <a:ea typeface="KaiTi" panose="02010609060101010101" pitchFamily="49" charset="-122"/>
              </a:rPr>
              <a:t>，对皮肤的黏附性好，有</a:t>
            </a:r>
            <a:r>
              <a:rPr lang="zh-CN" altLang="en-US" sz="2400" dirty="0">
                <a:solidFill>
                  <a:srgbClr val="0000FF"/>
                </a:solidFill>
                <a:latin typeface="KaiTi" panose="02010609060101010101" pitchFamily="49" charset="-122"/>
                <a:ea typeface="KaiTi" panose="02010609060101010101" pitchFamily="49" charset="-122"/>
              </a:rPr>
              <a:t>抑制皮脂及吸收汗液的性能</a:t>
            </a:r>
            <a:r>
              <a:rPr lang="zh-CN" altLang="en-US" sz="2400" dirty="0">
                <a:latin typeface="KaiTi" panose="02010609060101010101" pitchFamily="49" charset="-122"/>
                <a:ea typeface="KaiTi" panose="02010609060101010101" pitchFamily="49" charset="-122"/>
              </a:rPr>
              <a:t>。将其制成细粉，与滑石粉配合用于香粉中，能消除滑石粉的闪光性，且</a:t>
            </a:r>
            <a:r>
              <a:rPr lang="zh-CN" altLang="en-US" sz="2400" dirty="0">
                <a:solidFill>
                  <a:srgbClr val="0000FF"/>
                </a:solidFill>
                <a:latin typeface="KaiTi" panose="02010609060101010101" pitchFamily="49" charset="-122"/>
                <a:ea typeface="KaiTi" panose="02010609060101010101" pitchFamily="49" charset="-122"/>
              </a:rPr>
              <a:t>有吸收汗液的作用</a:t>
            </a:r>
            <a:r>
              <a:rPr lang="zh-CN" altLang="en-US" sz="2400" dirty="0">
                <a:latin typeface="KaiTi" panose="02010609060101010101" pitchFamily="49" charset="-122"/>
                <a:ea typeface="KaiTi" panose="02010609060101010101" pitchFamily="49" charset="-122"/>
              </a:rPr>
              <a:t>，被广泛应用于制造香粉、粉饼、水粉、胭脂等。</a:t>
            </a:r>
          </a:p>
        </p:txBody>
      </p:sp>
    </p:spTree>
    <p:extLst>
      <p:ext uri="{BB962C8B-B14F-4D97-AF65-F5344CB8AC3E}">
        <p14:creationId xmlns:p14="http://schemas.microsoft.com/office/powerpoint/2010/main" val="841837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37753"/>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锌白 </a:t>
            </a:r>
            <a:r>
              <a:rPr lang="en-US" altLang="zh-CN" sz="2400" dirty="0">
                <a:latin typeface="+mn-lt"/>
                <a:ea typeface="SimHei" panose="02010609060101010101" pitchFamily="49" charset="-122"/>
              </a:rPr>
              <a:t>(zinc oxide, </a:t>
            </a:r>
            <a:r>
              <a:rPr lang="en-US" altLang="zh-CN" sz="2400" dirty="0" err="1">
                <a:latin typeface="+mn-lt"/>
                <a:ea typeface="SimHei" panose="02010609060101010101" pitchFamily="49" charset="-122"/>
              </a:rPr>
              <a:t>ZnO</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a:t>
            </a:r>
            <a:r>
              <a:rPr lang="zh-CN" altLang="en-US" sz="2400" dirty="0">
                <a:latin typeface="KaiTi" panose="02010609060101010101" pitchFamily="49" charset="-122"/>
                <a:ea typeface="KaiTi" panose="02010609060101010101" pitchFamily="49" charset="-122"/>
              </a:rPr>
              <a:t>锌白又称锌白粉，是将氧化锌、锌矿的蒸气或碳酸锌加热制取的，其化学成分为</a:t>
            </a:r>
            <a:r>
              <a:rPr lang="en-US" altLang="zh-CN" sz="2400" dirty="0" err="1">
                <a:latin typeface="KaiTi" panose="02010609060101010101" pitchFamily="49" charset="-122"/>
                <a:ea typeface="KaiTi" panose="02010609060101010101" pitchFamily="49" charset="-122"/>
              </a:rPr>
              <a:t>ZnO</a:t>
            </a: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为无臭、无味的白色非晶形粉末，在空气中能</a:t>
            </a:r>
            <a:r>
              <a:rPr lang="zh-CN" altLang="en-US" sz="2400" dirty="0">
                <a:solidFill>
                  <a:srgbClr val="0000FF"/>
                </a:solidFill>
                <a:latin typeface="KaiTi" panose="02010609060101010101" pitchFamily="49" charset="-122"/>
                <a:ea typeface="KaiTi" panose="02010609060101010101" pitchFamily="49" charset="-122"/>
              </a:rPr>
              <a:t>吸收二氧化碳而生成碳酸锌</a:t>
            </a:r>
            <a:r>
              <a:rPr lang="zh-CN" altLang="en-US" sz="2400" dirty="0">
                <a:latin typeface="KaiTi" panose="02010609060101010101" pitchFamily="49" charset="-122"/>
                <a:ea typeface="KaiTi" panose="02010609060101010101" pitchFamily="49" charset="-122"/>
              </a:rPr>
              <a:t>，其相对密度为</a:t>
            </a:r>
            <a:r>
              <a:rPr lang="en-US" altLang="zh-CN" sz="2400" dirty="0">
                <a:latin typeface="KaiTi" panose="02010609060101010101" pitchFamily="49" charset="-122"/>
                <a:ea typeface="KaiTi" panose="02010609060101010101" pitchFamily="49" charset="-122"/>
              </a:rPr>
              <a:t>5.2</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5.6,</a:t>
            </a:r>
            <a:r>
              <a:rPr lang="zh-CN" altLang="en-US" sz="2400" dirty="0">
                <a:latin typeface="KaiTi" panose="02010609060101010101" pitchFamily="49" charset="-122"/>
                <a:ea typeface="KaiTi" panose="02010609060101010101" pitchFamily="49" charset="-122"/>
              </a:rPr>
              <a:t>能溶于酸，不溶于水及醇，高温时呈黄色，冷却后恢复白色，以色泽洁白、粉末均匀而无粗颗粒为上品。</a:t>
            </a:r>
            <a:endParaRPr lang="en-US" altLang="zh-CN" sz="2400" dirty="0">
              <a:latin typeface="KaiTi" panose="02010609060101010101" pitchFamily="49" charset="-122"/>
              <a:ea typeface="KaiT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锌白带有</a:t>
            </a:r>
            <a:r>
              <a:rPr lang="zh-CN" altLang="en-US" sz="2400" dirty="0">
                <a:solidFill>
                  <a:srgbClr val="0000FF"/>
                </a:solidFill>
                <a:latin typeface="KaiTi" panose="02010609060101010101" pitchFamily="49" charset="-122"/>
                <a:ea typeface="KaiTi" panose="02010609060101010101" pitchFamily="49" charset="-122"/>
              </a:rPr>
              <a:t>碱性</a:t>
            </a:r>
            <a:r>
              <a:rPr lang="zh-CN" altLang="en-US" sz="2400" dirty="0">
                <a:latin typeface="KaiTi" panose="02010609060101010101" pitchFamily="49" charset="-122"/>
                <a:ea typeface="KaiTi" panose="02010609060101010101" pitchFamily="49" charset="-122"/>
              </a:rPr>
              <a:t>，因而可与油类原料调制成乳膏，</a:t>
            </a:r>
            <a:r>
              <a:rPr lang="zh-CN" altLang="en-US" sz="2400" dirty="0">
                <a:solidFill>
                  <a:srgbClr val="0000FF"/>
                </a:solidFill>
                <a:latin typeface="KaiTi" panose="02010609060101010101" pitchFamily="49" charset="-122"/>
                <a:ea typeface="KaiTi" panose="02010609060101010101" pitchFamily="49" charset="-122"/>
              </a:rPr>
              <a:t>富有较强的着色力和遮盖力</a:t>
            </a:r>
            <a:r>
              <a:rPr lang="zh-CN" altLang="en-US" sz="2400" dirty="0">
                <a:latin typeface="KaiTi" panose="02010609060101010101" pitchFamily="49" charset="-122"/>
                <a:ea typeface="KaiTi" panose="02010609060101010101" pitchFamily="49" charset="-122"/>
              </a:rPr>
              <a:t>，此外，锌白对皮肤有一定的</a:t>
            </a:r>
            <a:r>
              <a:rPr lang="zh-CN" altLang="en-US" sz="2400" dirty="0">
                <a:solidFill>
                  <a:srgbClr val="0000FF"/>
                </a:solidFill>
                <a:latin typeface="KaiTi" panose="02010609060101010101" pitchFamily="49" charset="-122"/>
                <a:ea typeface="KaiTi" panose="02010609060101010101" pitchFamily="49" charset="-122"/>
              </a:rPr>
              <a:t>杀菌作用</a:t>
            </a:r>
            <a:r>
              <a:rPr lang="zh-CN" altLang="en-US" sz="2400" dirty="0">
                <a:latin typeface="KaiTi" panose="02010609060101010101" pitchFamily="49" charset="-122"/>
                <a:ea typeface="KaiTi" panose="02010609060101010101" pitchFamily="49" charset="-122"/>
              </a:rPr>
              <a:t>。锌白可用作粉类或防晒化妆品的原料，用量在</a:t>
            </a:r>
            <a:r>
              <a:rPr lang="en-US" altLang="zh-CN" sz="2400" dirty="0">
                <a:latin typeface="KaiTi" panose="02010609060101010101" pitchFamily="49" charset="-122"/>
                <a:ea typeface="KaiTi" panose="02010609060101010101" pitchFamily="49" charset="-122"/>
              </a:rPr>
              <a:t>15%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25%</a:t>
            </a:r>
            <a:r>
              <a:rPr lang="zh-CN" altLang="en-US" sz="2400"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483426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893647"/>
          </a:xfrm>
          <a:prstGeom prst="rect">
            <a:avLst/>
          </a:prstGeom>
          <a:noFill/>
        </p:spPr>
        <p:txBody>
          <a:bodyPr wrap="square" rtlCol="0">
            <a:spAutoFit/>
          </a:bodyPr>
          <a:lstStyle/>
          <a:p>
            <a:r>
              <a:rPr lang="zh-CN" altLang="en-US" sz="2400" dirty="0">
                <a:latin typeface="+mn-lt"/>
                <a:ea typeface="SimHei" panose="02010609060101010101" pitchFamily="49" charset="-122"/>
              </a:rPr>
              <a:t>钛白粉 </a:t>
            </a:r>
            <a:r>
              <a:rPr lang="en-US" altLang="zh-CN" sz="2400" dirty="0">
                <a:latin typeface="+mn-lt"/>
                <a:ea typeface="SimHei" panose="02010609060101010101" pitchFamily="49" charset="-122"/>
              </a:rPr>
              <a:t>(titanium dioxide, </a:t>
            </a:r>
            <a:r>
              <a:rPr lang="en-US" altLang="zh-CN" sz="2400" dirty="0" err="1">
                <a:latin typeface="+mn-lt"/>
                <a:ea typeface="SimHei" panose="02010609060101010101" pitchFamily="49" charset="-122"/>
              </a:rPr>
              <a:t>TiO</a:t>
            </a:r>
            <a:r>
              <a:rPr lang="en-US" altLang="zh-CN" sz="2400" dirty="0">
                <a:latin typeface="+mn-lt"/>
                <a:ea typeface="SimHei" panose="02010609060101010101" pitchFamily="49" charset="-122"/>
              </a:rPr>
              <a:t>₂)</a:t>
            </a:r>
            <a:r>
              <a:rPr lang="zh-CN" altLang="en-US" sz="2400" dirty="0">
                <a:latin typeface="+mn-lt"/>
                <a:ea typeface="SimHei" panose="02010609060101010101" pitchFamily="49" charset="-122"/>
              </a:rPr>
              <a:t>：</a:t>
            </a:r>
            <a:r>
              <a:rPr lang="zh-CN" altLang="en-US" sz="2400" dirty="0">
                <a:latin typeface="KaiTi" panose="02010609060101010101" pitchFamily="49" charset="-122"/>
                <a:ea typeface="KaiTi" panose="02010609060101010101" pitchFamily="49" charset="-122"/>
              </a:rPr>
              <a:t>钛白粉是从钛铁矿等天然矿石用硫酸处理得到的，其纯度为</a:t>
            </a:r>
            <a:r>
              <a:rPr lang="en-US" altLang="zh-CN" sz="2400" dirty="0">
                <a:latin typeface="KaiTi" panose="02010609060101010101" pitchFamily="49" charset="-122"/>
                <a:ea typeface="KaiTi" panose="02010609060101010101" pitchFamily="49" charset="-122"/>
              </a:rPr>
              <a:t>98%</a:t>
            </a:r>
            <a:r>
              <a:rPr lang="zh-CN" altLang="en-US" sz="2400" dirty="0">
                <a:latin typeface="KaiTi" panose="02010609060101010101" pitchFamily="49" charset="-122"/>
                <a:ea typeface="KaiTi" panose="02010609060101010101" pitchFamily="49" charset="-122"/>
              </a:rPr>
              <a:t>。钛白粉的主要成分是</a:t>
            </a:r>
            <a:r>
              <a:rPr lang="en-US" altLang="zh-CN" sz="2400" dirty="0" err="1">
                <a:latin typeface="KaiTi" panose="02010609060101010101" pitchFamily="49" charset="-122"/>
                <a:ea typeface="KaiTi" panose="02010609060101010101" pitchFamily="49" charset="-122"/>
              </a:rPr>
              <a:t>TiO</a:t>
            </a:r>
            <a:r>
              <a:rPr lang="en-US" altLang="zh-CN" sz="2400" dirty="0">
                <a:latin typeface="KaiTi" panose="02010609060101010101" pitchFamily="49" charset="-122"/>
                <a:ea typeface="KaiTi" panose="02010609060101010101" pitchFamily="49" charset="-122"/>
              </a:rPr>
              <a:t>₂,</a:t>
            </a:r>
            <a:r>
              <a:rPr lang="zh-CN" altLang="en-US" sz="2400" dirty="0">
                <a:latin typeface="KaiTi" panose="02010609060101010101" pitchFamily="49" charset="-122"/>
                <a:ea typeface="KaiTi" panose="02010609060101010101" pitchFamily="49" charset="-122"/>
              </a:rPr>
              <a:t>为白色、无臭、无味、非结晶粉末，化学性质稳定，</a:t>
            </a:r>
            <a:r>
              <a:rPr lang="zh-CN" altLang="en-US" sz="2400" dirty="0">
                <a:solidFill>
                  <a:srgbClr val="0000FF"/>
                </a:solidFill>
                <a:latin typeface="KaiTi" panose="02010609060101010101" pitchFamily="49" charset="-122"/>
                <a:ea typeface="KaiTi" panose="02010609060101010101" pitchFamily="49" charset="-122"/>
              </a:rPr>
              <a:t>折射率高</a:t>
            </a:r>
            <a:r>
              <a:rPr lang="en-US" altLang="zh-CN" sz="2400" dirty="0">
                <a:solidFill>
                  <a:srgbClr val="0000FF"/>
                </a:solidFill>
                <a:latin typeface="KaiTi" panose="02010609060101010101" pitchFamily="49" charset="-122"/>
                <a:ea typeface="KaiTi" panose="02010609060101010101" pitchFamily="49" charset="-122"/>
              </a:rPr>
              <a:t>(</a:t>
            </a:r>
            <a:r>
              <a:rPr lang="zh-CN" altLang="en-US" sz="2400" dirty="0">
                <a:solidFill>
                  <a:srgbClr val="0000FF"/>
                </a:solidFill>
                <a:latin typeface="KaiTi" panose="02010609060101010101" pitchFamily="49" charset="-122"/>
                <a:ea typeface="KaiTi" panose="02010609060101010101" pitchFamily="49" charset="-122"/>
              </a:rPr>
              <a:t>可达</a:t>
            </a:r>
            <a:r>
              <a:rPr lang="en-US" altLang="zh-CN" sz="2400" dirty="0">
                <a:solidFill>
                  <a:srgbClr val="0000FF"/>
                </a:solidFill>
                <a:latin typeface="KaiTi" panose="02010609060101010101" pitchFamily="49" charset="-122"/>
                <a:ea typeface="KaiTi" panose="02010609060101010101" pitchFamily="49" charset="-122"/>
              </a:rPr>
              <a:t>2.3</a:t>
            </a:r>
            <a:r>
              <a:rPr lang="zh-CN" altLang="en-US" sz="2400" dirty="0">
                <a:solidFill>
                  <a:srgbClr val="0000FF"/>
                </a:solidFill>
                <a:latin typeface="KaiTi" panose="02010609060101010101" pitchFamily="49" charset="-122"/>
                <a:ea typeface="KaiTi" panose="02010609060101010101" pitchFamily="49" charset="-122"/>
              </a:rPr>
              <a:t>～</a:t>
            </a:r>
            <a:r>
              <a:rPr lang="en-US" altLang="zh-CN" sz="2400" dirty="0">
                <a:solidFill>
                  <a:srgbClr val="0000FF"/>
                </a:solidFill>
                <a:latin typeface="KaiTi" panose="02010609060101010101" pitchFamily="49" charset="-122"/>
                <a:ea typeface="KaiTi" panose="02010609060101010101" pitchFamily="49" charset="-122"/>
              </a:rPr>
              <a:t>2.6)</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不溶于水和稀酸，溶于热浓硫酸和碱。</a:t>
            </a:r>
            <a:endParaRPr lang="en-US" altLang="zh-CN" sz="2400" dirty="0">
              <a:latin typeface="KaiTi" panose="02010609060101010101" pitchFamily="49" charset="-122"/>
              <a:ea typeface="KaiTi" panose="02010609060101010101" pitchFamily="49" charset="-122"/>
            </a:endParaRPr>
          </a:p>
          <a:p>
            <a:endParaRPr lang="zh-CN" altLang="en-US" sz="2400" dirty="0">
              <a:latin typeface="KaiTi" panose="02010609060101010101" pitchFamily="49" charset="-122"/>
              <a:ea typeface="KaiTi" panose="02010609060101010101" pitchFamily="49" charset="-122"/>
            </a:endParaRPr>
          </a:p>
          <a:p>
            <a:r>
              <a:rPr lang="zh-CN" altLang="en-US" sz="2400" dirty="0">
                <a:latin typeface="KaiTi" panose="02010609060101010101" pitchFamily="49" charset="-122"/>
                <a:ea typeface="KaiTi" panose="02010609060101010101" pitchFamily="49" charset="-122"/>
              </a:rPr>
              <a:t>钛白粉是一种重要的白色颜料，也是迄今为止世界上</a:t>
            </a:r>
            <a:r>
              <a:rPr lang="zh-CN" altLang="en-US" sz="2400" dirty="0">
                <a:solidFill>
                  <a:srgbClr val="0000FF"/>
                </a:solidFill>
                <a:latin typeface="KaiTi" panose="02010609060101010101" pitchFamily="49" charset="-122"/>
                <a:ea typeface="KaiTi" panose="02010609060101010101" pitchFamily="49" charset="-122"/>
              </a:rPr>
              <a:t>最白的物质</a:t>
            </a:r>
            <a:r>
              <a:rPr lang="zh-CN" altLang="en-US" sz="2400" dirty="0">
                <a:latin typeface="KaiTi" panose="02010609060101010101" pitchFamily="49" charset="-122"/>
                <a:ea typeface="KaiTi" panose="02010609060101010101" pitchFamily="49" charset="-122"/>
              </a:rPr>
              <a:t>，在白色颜料中其</a:t>
            </a:r>
            <a:r>
              <a:rPr lang="zh-CN" altLang="en-US" sz="2400" dirty="0">
                <a:solidFill>
                  <a:srgbClr val="0000FF"/>
                </a:solidFill>
                <a:latin typeface="KaiTi" panose="02010609060101010101" pitchFamily="49" charset="-122"/>
                <a:ea typeface="KaiTi" panose="02010609060101010101" pitchFamily="49" charset="-122"/>
              </a:rPr>
              <a:t>着色力和遮盖力都是最高</a:t>
            </a:r>
            <a:r>
              <a:rPr lang="zh-CN" altLang="en-US" sz="2400" dirty="0">
                <a:latin typeface="KaiTi" panose="02010609060101010101" pitchFamily="49" charset="-122"/>
                <a:ea typeface="KaiTi" panose="02010609060101010101" pitchFamily="49" charset="-122"/>
              </a:rPr>
              <a:t>的，着色力是锌白的</a:t>
            </a:r>
            <a:r>
              <a:rPr lang="en-US" altLang="zh-CN" sz="2400" dirty="0">
                <a:latin typeface="KaiTi" panose="02010609060101010101" pitchFamily="49" charset="-122"/>
                <a:ea typeface="KaiTi" panose="02010609060101010101" pitchFamily="49" charset="-122"/>
              </a:rPr>
              <a:t>4</a:t>
            </a:r>
            <a:r>
              <a:rPr lang="zh-CN" altLang="en-US" sz="2400" dirty="0">
                <a:latin typeface="KaiTi" panose="02010609060101010101" pitchFamily="49" charset="-122"/>
                <a:ea typeface="KaiTi" panose="02010609060101010101" pitchFamily="49" charset="-122"/>
              </a:rPr>
              <a:t>倍，遮盖力是锌白的</a:t>
            </a:r>
            <a:r>
              <a:rPr lang="en-US" altLang="zh-CN" sz="2400" dirty="0">
                <a:latin typeface="KaiTi" panose="02010609060101010101" pitchFamily="49" charset="-122"/>
                <a:ea typeface="KaiTi" panose="02010609060101010101" pitchFamily="49" charset="-122"/>
              </a:rPr>
              <a:t>2</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a:t>
            </a:r>
            <a:r>
              <a:rPr lang="zh-CN" altLang="en-US" sz="2400" dirty="0">
                <a:latin typeface="KaiTi" panose="02010609060101010101" pitchFamily="49" charset="-122"/>
                <a:ea typeface="KaiTi" panose="02010609060101010101" pitchFamily="49" charset="-122"/>
              </a:rPr>
              <a:t>倍，当其粒度极微</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粒径为</a:t>
            </a:r>
            <a:r>
              <a:rPr lang="en-US" altLang="zh-CN" sz="2400" dirty="0">
                <a:latin typeface="KaiTi" panose="02010609060101010101" pitchFamily="49" charset="-122"/>
                <a:ea typeface="KaiTi" panose="02010609060101010101" pitchFamily="49" charset="-122"/>
              </a:rPr>
              <a:t>30μm)</a:t>
            </a:r>
            <a:r>
              <a:rPr lang="zh-CN" altLang="en-US" sz="2400" dirty="0">
                <a:latin typeface="KaiTi" panose="02010609060101010101" pitchFamily="49" charset="-122"/>
                <a:ea typeface="KaiTi" panose="02010609060101010101" pitchFamily="49" charset="-122"/>
              </a:rPr>
              <a:t>时，对紫外线透过率最小，故可用于防晒化妆品中。</a:t>
            </a:r>
            <a:r>
              <a:rPr lang="zh-CN" altLang="en-US" sz="2400" dirty="0">
                <a:solidFill>
                  <a:srgbClr val="0000FF"/>
                </a:solidFill>
                <a:latin typeface="KaiTi" panose="02010609060101010101" pitchFamily="49" charset="-122"/>
                <a:ea typeface="KaiTi" panose="02010609060101010101" pitchFamily="49" charset="-122"/>
              </a:rPr>
              <a:t>钛白粉的吸油性及附着性亦佳，只是其延展性差</a:t>
            </a:r>
            <a:r>
              <a:rPr lang="zh-CN" altLang="en-US" sz="2400" dirty="0">
                <a:latin typeface="KaiTi" panose="02010609060101010101" pitchFamily="49" charset="-122"/>
                <a:ea typeface="KaiTi" panose="02010609060101010101" pitchFamily="49" charset="-122"/>
              </a:rPr>
              <a:t>，不易与其他粉料混合均匀，故常与锌白粉混合使用，用量常在</a:t>
            </a:r>
            <a:r>
              <a:rPr lang="en-US" altLang="zh-CN" sz="2400" dirty="0">
                <a:latin typeface="KaiTi" panose="02010609060101010101" pitchFamily="49" charset="-122"/>
                <a:ea typeface="KaiTi" panose="02010609060101010101" pitchFamily="49" charset="-122"/>
              </a:rPr>
              <a:t>10%</a:t>
            </a:r>
            <a:r>
              <a:rPr lang="zh-CN" altLang="en-US" sz="2400" dirty="0">
                <a:latin typeface="KaiTi" panose="02010609060101010101" pitchFamily="49" charset="-122"/>
                <a:ea typeface="KaiTi" panose="02010609060101010101" pitchFamily="49" charset="-122"/>
              </a:rPr>
              <a:t>以内。钛白粉在化妆品粉类制品中应用很广，用作香粉、 粉饼、粉乳等重要的遮盖剂以及防晒制品原料。</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835354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83755"/>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膨润土 </a:t>
            </a:r>
            <a:r>
              <a:rPr lang="en-US" altLang="zh-CN" sz="2400" dirty="0">
                <a:latin typeface="+mn-lt"/>
                <a:ea typeface="SimHei" panose="02010609060101010101" pitchFamily="49" charset="-122"/>
              </a:rPr>
              <a:t>(bentonite)</a:t>
            </a:r>
            <a:r>
              <a:rPr lang="zh-CN" altLang="en-US" sz="2400" dirty="0">
                <a:latin typeface="+mn-lt"/>
                <a:ea typeface="SimHei" panose="02010609060101010101" pitchFamily="49" charset="-122"/>
              </a:rPr>
              <a:t>：</a:t>
            </a:r>
            <a:r>
              <a:rPr lang="zh-CN" altLang="en-US" sz="2400" dirty="0">
                <a:latin typeface="KaiTi" panose="02010609060101010101" pitchFamily="49" charset="-122"/>
                <a:ea typeface="KaiTi" panose="02010609060101010101" pitchFamily="49" charset="-122"/>
              </a:rPr>
              <a:t>膨润土又名皂土，是黏土的一种，取自天然矿产，主要成分为</a:t>
            </a:r>
            <a:r>
              <a:rPr lang="en-US" altLang="zh-CN" sz="2400" dirty="0" err="1">
                <a:latin typeface="KaiTi" panose="02010609060101010101" pitchFamily="49" charset="-122"/>
                <a:ea typeface="KaiTi" panose="02010609060101010101" pitchFamily="49" charset="-122"/>
              </a:rPr>
              <a:t>Al₂O</a:t>
            </a:r>
            <a:r>
              <a:rPr lang="en-US" altLang="zh-CN" sz="2400" dirty="0">
                <a:latin typeface="KaiTi" panose="02010609060101010101" pitchFamily="49" charset="-122"/>
                <a:ea typeface="KaiTi" panose="02010609060101010101" pitchFamily="49" charset="-122"/>
              </a:rPr>
              <a:t>₃ </a:t>
            </a:r>
            <a:r>
              <a:rPr lang="zh-CN" altLang="en-US" sz="2400" dirty="0">
                <a:latin typeface="KaiTi" panose="02010609060101010101" pitchFamily="49" charset="-122"/>
                <a:ea typeface="KaiTi" panose="02010609060101010101" pitchFamily="49" charset="-122"/>
              </a:rPr>
              <a:t>与 </a:t>
            </a:r>
            <a:r>
              <a:rPr lang="en-US" altLang="zh-CN" sz="2400" dirty="0" err="1">
                <a:latin typeface="KaiTi" panose="02010609060101010101" pitchFamily="49" charset="-122"/>
                <a:ea typeface="KaiTi" panose="02010609060101010101" pitchFamily="49" charset="-122"/>
              </a:rPr>
              <a:t>SiO</a:t>
            </a:r>
            <a:r>
              <a:rPr lang="en-US" altLang="zh-CN" sz="2400" dirty="0">
                <a:latin typeface="KaiTi" panose="02010609060101010101" pitchFamily="49" charset="-122"/>
                <a:ea typeface="KaiTi" panose="02010609060101010101" pitchFamily="49" charset="-122"/>
              </a:rPr>
              <a:t>₂,</a:t>
            </a:r>
            <a:r>
              <a:rPr lang="zh-CN" altLang="en-US" sz="2400" dirty="0">
                <a:latin typeface="KaiTi" panose="02010609060101010101" pitchFamily="49" charset="-122"/>
                <a:ea typeface="KaiTi" panose="02010609060101010101" pitchFamily="49" charset="-122"/>
              </a:rPr>
              <a:t>为</a:t>
            </a:r>
            <a:r>
              <a:rPr lang="zh-CN" altLang="en-US" sz="2400" dirty="0">
                <a:solidFill>
                  <a:srgbClr val="0000FF"/>
                </a:solidFill>
                <a:latin typeface="KaiTi" panose="02010609060101010101" pitchFamily="49" charset="-122"/>
                <a:ea typeface="KaiTi" panose="02010609060101010101" pitchFamily="49" charset="-122"/>
              </a:rPr>
              <a:t>胶体性硅酸铝</a:t>
            </a:r>
            <a:r>
              <a:rPr lang="zh-CN" altLang="en-US" sz="2400" dirty="0">
                <a:latin typeface="KaiTi" panose="02010609060101010101" pitchFamily="49" charset="-122"/>
                <a:ea typeface="KaiTi" panose="02010609060101010101" pitchFamily="49" charset="-122"/>
              </a:rPr>
              <a:t>，是具有代表性的无机水溶性高分子化合物。</a:t>
            </a:r>
            <a:r>
              <a:rPr lang="zh-CN" altLang="en-US" sz="2400" dirty="0">
                <a:solidFill>
                  <a:srgbClr val="0000FF"/>
                </a:solidFill>
                <a:latin typeface="KaiTi" panose="02010609060101010101" pitchFamily="49" charset="-122"/>
                <a:ea typeface="KaiTi" panose="02010609060101010101" pitchFamily="49" charset="-122"/>
              </a:rPr>
              <a:t>不溶于水，但与水有较强的亲和力</a:t>
            </a:r>
            <a:r>
              <a:rPr lang="zh-CN" altLang="en-US" sz="2400" dirty="0">
                <a:latin typeface="KaiTi" panose="02010609060101010101" pitchFamily="49" charset="-122"/>
                <a:ea typeface="KaiTi" panose="02010609060101010101" pitchFamily="49" charset="-122"/>
              </a:rPr>
              <a:t>，</a:t>
            </a:r>
            <a:r>
              <a:rPr lang="zh-CN" altLang="en-US" sz="2400" dirty="0">
                <a:solidFill>
                  <a:srgbClr val="0000FF"/>
                </a:solidFill>
                <a:latin typeface="KaiTi" panose="02010609060101010101" pitchFamily="49" charset="-122"/>
                <a:ea typeface="KaiTi" panose="02010609060101010101" pitchFamily="49" charset="-122"/>
              </a:rPr>
              <a:t>遇水则膨胀到原来体积的</a:t>
            </a:r>
            <a:r>
              <a:rPr lang="en-US" altLang="zh-CN" sz="2400" dirty="0">
                <a:solidFill>
                  <a:srgbClr val="0000FF"/>
                </a:solidFill>
                <a:latin typeface="KaiTi" panose="02010609060101010101" pitchFamily="49" charset="-122"/>
                <a:ea typeface="KaiTi" panose="02010609060101010101" pitchFamily="49" charset="-122"/>
              </a:rPr>
              <a:t>8</a:t>
            </a:r>
            <a:r>
              <a:rPr lang="zh-CN" altLang="en-US" sz="2400" dirty="0">
                <a:solidFill>
                  <a:srgbClr val="0000FF"/>
                </a:solidFill>
                <a:latin typeface="KaiTi" panose="02010609060101010101" pitchFamily="49" charset="-122"/>
                <a:ea typeface="KaiTi" panose="02010609060101010101" pitchFamily="49" charset="-122"/>
              </a:rPr>
              <a:t>～</a:t>
            </a:r>
            <a:r>
              <a:rPr lang="en-US" altLang="zh-CN" sz="2400" dirty="0">
                <a:solidFill>
                  <a:srgbClr val="0000FF"/>
                </a:solidFill>
                <a:latin typeface="KaiTi" panose="02010609060101010101" pitchFamily="49" charset="-122"/>
                <a:ea typeface="KaiTi" panose="02010609060101010101" pitchFamily="49" charset="-122"/>
              </a:rPr>
              <a:t>10</a:t>
            </a:r>
            <a:r>
              <a:rPr lang="zh-CN" altLang="en-US" sz="2400" dirty="0">
                <a:solidFill>
                  <a:srgbClr val="0000FF"/>
                </a:solidFill>
                <a:latin typeface="KaiTi" panose="02010609060101010101" pitchFamily="49" charset="-122"/>
                <a:ea typeface="KaiTi" panose="02010609060101010101" pitchFamily="49" charset="-122"/>
              </a:rPr>
              <a:t>倍，加热后失去吸收的水分，</a:t>
            </a:r>
            <a:r>
              <a:rPr lang="zh-CN" altLang="en-US" sz="2400" dirty="0">
                <a:latin typeface="KaiTi" panose="02010609060101010101" pitchFamily="49" charset="-122"/>
                <a:ea typeface="KaiTi" panose="02010609060101010101" pitchFamily="49" charset="-122"/>
              </a:rPr>
              <a:t>当</a:t>
            </a:r>
            <a:r>
              <a:rPr lang="en-US" altLang="zh-CN" sz="2400" dirty="0">
                <a:latin typeface="KaiTi" panose="02010609060101010101" pitchFamily="49" charset="-122"/>
                <a:ea typeface="KaiTi" panose="02010609060101010101" pitchFamily="49" charset="-122"/>
              </a:rPr>
              <a:t>pH</a:t>
            </a:r>
            <a:r>
              <a:rPr lang="zh-CN" altLang="en-US" sz="2400" dirty="0">
                <a:latin typeface="KaiTi" panose="02010609060101010101" pitchFamily="49" charset="-122"/>
                <a:ea typeface="KaiTi" panose="02010609060101010101" pitchFamily="49" charset="-122"/>
              </a:rPr>
              <a:t>值在</a:t>
            </a:r>
            <a:r>
              <a:rPr lang="en-US" altLang="zh-CN" sz="2400" dirty="0">
                <a:latin typeface="KaiTi" panose="02010609060101010101" pitchFamily="49" charset="-122"/>
                <a:ea typeface="KaiTi" panose="02010609060101010101" pitchFamily="49" charset="-122"/>
              </a:rPr>
              <a:t>7</a:t>
            </a:r>
            <a:r>
              <a:rPr lang="zh-CN" altLang="en-US" sz="2400" dirty="0">
                <a:latin typeface="KaiTi" panose="02010609060101010101" pitchFamily="49" charset="-122"/>
                <a:ea typeface="KaiTi" panose="02010609060101010101" pitchFamily="49" charset="-122"/>
              </a:rPr>
              <a:t>以上时其悬浮液很稳定。但膨润土易受电解质的影响，在酸、碱过强时，则产生凝胶。在化妆品中可用作乳液体系的悬浮剂及粉饼中的体质粉体。</a:t>
            </a:r>
          </a:p>
        </p:txBody>
      </p:sp>
    </p:spTree>
    <p:extLst>
      <p:ext uri="{BB962C8B-B14F-4D97-AF65-F5344CB8AC3E}">
        <p14:creationId xmlns:p14="http://schemas.microsoft.com/office/powerpoint/2010/main" val="13377201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78313"/>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云母粉 </a:t>
            </a:r>
            <a:r>
              <a:rPr lang="en-US" altLang="zh-CN" sz="2400" dirty="0">
                <a:latin typeface="+mn-lt"/>
                <a:ea typeface="SimHei" panose="02010609060101010101" pitchFamily="49" charset="-122"/>
              </a:rPr>
              <a:t>(Mica</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CI77019</a:t>
            </a:r>
            <a:r>
              <a:rPr lang="zh-CN" altLang="en-US" sz="2400" dirty="0">
                <a:latin typeface="+mn-lt"/>
                <a:ea typeface="SimHei" panose="02010609060101010101" pitchFamily="49" charset="-122"/>
              </a:rPr>
              <a:t>，颜料白</a:t>
            </a: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r>
              <a:rPr lang="zh-CN" altLang="en-US" sz="2400" dirty="0">
                <a:latin typeface="KaiTi" panose="02010609060101010101" pitchFamily="49" charset="-122"/>
                <a:ea typeface="KaiTi" panose="02010609060101010101" pitchFamily="49" charset="-122"/>
              </a:rPr>
              <a:t>云母的分子式为</a:t>
            </a:r>
            <a:r>
              <a:rPr lang="en-US" altLang="zh-CN" sz="2400" dirty="0" err="1">
                <a:latin typeface="KaiTi" panose="02010609060101010101" pitchFamily="49" charset="-122"/>
                <a:ea typeface="KaiTi" panose="02010609060101010101" pitchFamily="49" charset="-122"/>
              </a:rPr>
              <a:t>KAl</a:t>
            </a:r>
            <a:r>
              <a:rPr lang="en-US" altLang="zh-CN" sz="2400" dirty="0">
                <a:latin typeface="KaiTi" panose="02010609060101010101" pitchFamily="49" charset="-122"/>
                <a:ea typeface="KaiTi" panose="02010609060101010101" pitchFamily="49" charset="-122"/>
              </a:rPr>
              <a:t>₂ (</a:t>
            </a:r>
            <a:r>
              <a:rPr lang="en-US" altLang="zh-CN" sz="2400" dirty="0" err="1">
                <a:latin typeface="KaiTi" panose="02010609060101010101" pitchFamily="49" charset="-122"/>
                <a:ea typeface="KaiTi" panose="02010609060101010101" pitchFamily="49" charset="-122"/>
              </a:rPr>
              <a:t>AlSi₃O</a:t>
            </a:r>
            <a:r>
              <a:rPr lang="en-US" altLang="zh-CN" sz="2400" dirty="0">
                <a:latin typeface="KaiTi" panose="02010609060101010101" pitchFamily="49" charset="-122"/>
                <a:ea typeface="KaiTi" panose="02010609060101010101" pitchFamily="49" charset="-122"/>
              </a:rPr>
              <a:t>₁₀)(OH)₂ ,</a:t>
            </a:r>
            <a:r>
              <a:rPr lang="zh-CN" altLang="en-US" sz="2400" dirty="0">
                <a:latin typeface="KaiTi" panose="02010609060101010101" pitchFamily="49" charset="-122"/>
                <a:ea typeface="KaiTi" panose="02010609060101010101" pitchFamily="49" charset="-122"/>
              </a:rPr>
              <a:t>其中含</a:t>
            </a:r>
            <a:r>
              <a:rPr lang="en-US" altLang="zh-CN" sz="2400" dirty="0">
                <a:latin typeface="KaiTi" panose="02010609060101010101" pitchFamily="49" charset="-122"/>
                <a:ea typeface="KaiTi" panose="02010609060101010101" pitchFamily="49" charset="-122"/>
              </a:rPr>
              <a:t>SiO</a:t>
            </a:r>
            <a:r>
              <a:rPr lang="en-US" altLang="zh-CN" sz="2400" baseline="-25000" dirty="0">
                <a:latin typeface="KaiTi" panose="02010609060101010101" pitchFamily="49" charset="-122"/>
                <a:ea typeface="KaiTi" panose="02010609060101010101" pitchFamily="49" charset="-122"/>
              </a:rPr>
              <a:t>2</a:t>
            </a:r>
            <a:r>
              <a:rPr lang="en-US" altLang="zh-CN" sz="2400" dirty="0">
                <a:latin typeface="KaiTi" panose="02010609060101010101" pitchFamily="49" charset="-122"/>
                <a:ea typeface="KaiTi" panose="02010609060101010101" pitchFamily="49" charset="-122"/>
              </a:rPr>
              <a:t> 45.2%</a:t>
            </a:r>
            <a:r>
              <a:rPr lang="zh-CN" altLang="en-US" sz="2400" dirty="0">
                <a:latin typeface="KaiTi" panose="02010609060101010101" pitchFamily="49" charset="-122"/>
                <a:ea typeface="KaiTi" panose="02010609060101010101" pitchFamily="49" charset="-122"/>
              </a:rPr>
              <a:t>、</a:t>
            </a:r>
            <a:r>
              <a:rPr lang="en-US" altLang="zh-CN" sz="2400" dirty="0" err="1">
                <a:latin typeface="KaiTi" panose="02010609060101010101" pitchFamily="49" charset="-122"/>
                <a:ea typeface="KaiTi" panose="02010609060101010101" pitchFamily="49" charset="-122"/>
              </a:rPr>
              <a:t>Al₂O</a:t>
            </a:r>
            <a:r>
              <a:rPr lang="en-US" altLang="zh-CN" sz="2400" dirty="0">
                <a:latin typeface="KaiTi" panose="02010609060101010101" pitchFamily="49" charset="-122"/>
                <a:ea typeface="KaiTi" panose="02010609060101010101" pitchFamily="49" charset="-122"/>
              </a:rPr>
              <a:t>₃ 38.5%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K₂O 11.8%</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H₂O 4.5%, </a:t>
            </a:r>
            <a:r>
              <a:rPr lang="zh-CN" altLang="en-US" sz="2400" dirty="0">
                <a:latin typeface="KaiTi" panose="02010609060101010101" pitchFamily="49" charset="-122"/>
                <a:ea typeface="KaiTi" panose="02010609060101010101" pitchFamily="49" charset="-122"/>
              </a:rPr>
              <a:t>此外，含少量</a:t>
            </a:r>
            <a:r>
              <a:rPr lang="en-US" altLang="zh-CN" sz="2400" dirty="0">
                <a:latin typeface="KaiTi" panose="02010609060101010101" pitchFamily="49" charset="-122"/>
                <a:ea typeface="KaiTi" panose="02010609060101010101" pitchFamily="49" charset="-122"/>
              </a:rPr>
              <a:t>Na</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Ca</a:t>
            </a:r>
            <a:r>
              <a:rPr lang="zh-CN" altLang="en-US" sz="2400" dirty="0">
                <a:latin typeface="KaiTi" panose="02010609060101010101" pitchFamily="49" charset="-122"/>
                <a:ea typeface="KaiTi" panose="02010609060101010101" pitchFamily="49" charset="-122"/>
              </a:rPr>
              <a:t>、</a:t>
            </a:r>
          </a:p>
          <a:p>
            <a:r>
              <a:rPr lang="en-US" altLang="zh-CN" sz="2400" dirty="0">
                <a:latin typeface="KaiTi" panose="02010609060101010101" pitchFamily="49" charset="-122"/>
                <a:ea typeface="KaiTi" panose="02010609060101010101" pitchFamily="49" charset="-122"/>
              </a:rPr>
              <a:t>Mg</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Ti</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Cr</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Mn</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Fe </a:t>
            </a:r>
            <a:r>
              <a:rPr lang="zh-CN" altLang="en-US" sz="2400" dirty="0">
                <a:latin typeface="KaiTi" panose="02010609060101010101" pitchFamily="49" charset="-122"/>
                <a:ea typeface="KaiTi" panose="02010609060101010101" pitchFamily="49" charset="-122"/>
              </a:rPr>
              <a:t>和 </a:t>
            </a:r>
            <a:r>
              <a:rPr lang="en-US" altLang="zh-CN" sz="2400" dirty="0">
                <a:latin typeface="KaiTi" panose="02010609060101010101" pitchFamily="49" charset="-122"/>
                <a:ea typeface="KaiTi" panose="02010609060101010101" pitchFamily="49" charset="-122"/>
              </a:rPr>
              <a:t>F </a:t>
            </a:r>
            <a:r>
              <a:rPr lang="zh-CN" altLang="en-US" sz="2400" dirty="0">
                <a:latin typeface="KaiTi" panose="02010609060101010101" pitchFamily="49" charset="-122"/>
                <a:ea typeface="KaiTi" panose="02010609060101010101" pitchFamily="49" charset="-122"/>
              </a:rPr>
              <a:t>等。云母是一组复合的水合硅酸铝盐的总称。种类较多，不同种类的云母具有不同的晶系，多为单斜晶系。</a:t>
            </a:r>
            <a:endParaRPr lang="en-US" altLang="zh-CN" sz="2400" dirty="0">
              <a:latin typeface="KaiTi" panose="02010609060101010101" pitchFamily="49" charset="-122"/>
              <a:ea typeface="KaiTi" panose="02010609060101010101" pitchFamily="49" charset="-122"/>
            </a:endParaRPr>
          </a:p>
          <a:p>
            <a:r>
              <a:rPr lang="zh-CN" altLang="en-US" sz="2400" dirty="0">
                <a:latin typeface="KaiTi" panose="02010609060101010101" pitchFamily="49" charset="-122"/>
                <a:ea typeface="KaiTi" panose="02010609060101010101" pitchFamily="49" charset="-122"/>
              </a:rPr>
              <a:t>晶体常</a:t>
            </a:r>
            <a:r>
              <a:rPr lang="zh-CN" altLang="en-US" sz="2400" dirty="0">
                <a:solidFill>
                  <a:srgbClr val="0000FF"/>
                </a:solidFill>
                <a:latin typeface="KaiTi" panose="02010609060101010101" pitchFamily="49" charset="-122"/>
                <a:ea typeface="KaiTi" panose="02010609060101010101" pitchFamily="49" charset="-122"/>
              </a:rPr>
              <a:t>呈假六方片状</a:t>
            </a:r>
            <a:r>
              <a:rPr lang="zh-CN" altLang="en-US" sz="2400" dirty="0">
                <a:latin typeface="KaiTi" panose="02010609060101010101" pitchFamily="49" charset="-122"/>
                <a:ea typeface="KaiTi" panose="02010609060101010101" pitchFamily="49" charset="-122"/>
              </a:rPr>
              <a:t>。用于化妆品的云母粉主要是白云母</a:t>
            </a:r>
            <a:r>
              <a:rPr lang="en-US" altLang="zh-CN" sz="2400" dirty="0">
                <a:latin typeface="KaiTi" panose="02010609060101010101" pitchFamily="49" charset="-122"/>
                <a:ea typeface="KaiTi" panose="02010609060101010101" pitchFamily="49" charset="-122"/>
              </a:rPr>
              <a:t>(muscovite)</a:t>
            </a:r>
            <a:r>
              <a:rPr lang="zh-CN" altLang="en-US" sz="2400" dirty="0">
                <a:latin typeface="KaiTi" panose="02010609060101010101" pitchFamily="49" charset="-122"/>
                <a:ea typeface="KaiTi" panose="02010609060101010101" pitchFamily="49" charset="-122"/>
              </a:rPr>
              <a:t>和绢云母 </a:t>
            </a:r>
            <a:r>
              <a:rPr lang="en-US" altLang="zh-CN" sz="2400" dirty="0">
                <a:latin typeface="KaiTi" panose="02010609060101010101" pitchFamily="49" charset="-122"/>
                <a:ea typeface="KaiTi" panose="02010609060101010101" pitchFamily="49" charset="-122"/>
              </a:rPr>
              <a:t>(sericite)</a:t>
            </a:r>
            <a:r>
              <a:rPr lang="zh-CN" altLang="en-US" sz="2400" dirty="0">
                <a:latin typeface="KaiTi" panose="02010609060101010101" pitchFamily="49" charset="-122"/>
                <a:ea typeface="KaiTi" panose="02010609060101010101" pitchFamily="49" charset="-122"/>
              </a:rPr>
              <a:t>。白云母粉是质软、带有光泽至亮反光的细粉。可与大多数化妆品原料配伍。绢云母制得的产品触感柔软、平滑，其粒子不会团聚，易加工成粉饼、香粉、湿粉和乳液等。并可防止其他颜料分离，有助于颜料分散，有</a:t>
            </a:r>
            <a:r>
              <a:rPr lang="zh-CN" altLang="en-US" sz="2400" dirty="0">
                <a:solidFill>
                  <a:srgbClr val="0000FF"/>
                </a:solidFill>
                <a:latin typeface="KaiTi" panose="02010609060101010101" pitchFamily="49" charset="-122"/>
                <a:ea typeface="KaiTi" panose="02010609060101010101" pitchFamily="49" charset="-122"/>
              </a:rPr>
              <a:t>优异 的可铺展性和皮肤黏附作用</a:t>
            </a:r>
            <a:r>
              <a:rPr lang="zh-CN" altLang="en-US" sz="2400" dirty="0">
                <a:latin typeface="KaiTi" panose="02010609060101010101" pitchFamily="49" charset="-122"/>
                <a:ea typeface="KaiTi" panose="02010609060101010101" pitchFamily="49" charset="-122"/>
              </a:rPr>
              <a:t>。云母粉是含粉类化妆品的重要原料，用于制造香粉、粉饼、胭脂、爽身粉、粉底 霜和乳液等。</a:t>
            </a:r>
          </a:p>
        </p:txBody>
      </p:sp>
    </p:spTree>
    <p:extLst>
      <p:ext uri="{BB962C8B-B14F-4D97-AF65-F5344CB8AC3E}">
        <p14:creationId xmlns:p14="http://schemas.microsoft.com/office/powerpoint/2010/main" val="3136312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46495"/>
            <a:ext cx="8778240" cy="3785652"/>
          </a:xfrm>
          <a:prstGeom prst="rect">
            <a:avLst/>
          </a:prstGeom>
          <a:noFill/>
        </p:spPr>
        <p:txBody>
          <a:bodyPr wrap="square" rtlCol="0">
            <a:spAutoFit/>
          </a:bodyPr>
          <a:lstStyle/>
          <a:p>
            <a:r>
              <a:rPr lang="zh-CN" altLang="en-US" sz="2400" dirty="0">
                <a:latin typeface="+mn-lt"/>
                <a:ea typeface="SimHei" panose="02010609060101010101" pitchFamily="49" charset="-122"/>
              </a:rPr>
              <a:t>硅石</a:t>
            </a:r>
            <a:r>
              <a:rPr lang="en-US" altLang="zh-CN" sz="2400" dirty="0">
                <a:latin typeface="+mn-lt"/>
                <a:ea typeface="SimHei" panose="02010609060101010101" pitchFamily="49" charset="-122"/>
              </a:rPr>
              <a:t>(silica)</a:t>
            </a:r>
            <a:r>
              <a:rPr lang="zh-CN" altLang="en-US" sz="2400" dirty="0">
                <a:latin typeface="+mn-lt"/>
                <a:ea typeface="SimHei" panose="02010609060101010101" pitchFamily="49" charset="-122"/>
              </a:rPr>
              <a:t>化学名二氧化硅：</a:t>
            </a:r>
            <a:r>
              <a:rPr lang="zh-CN" altLang="en-US" sz="2400" dirty="0">
                <a:latin typeface="KaiTi" panose="02010609060101010101" pitchFamily="49" charset="-122"/>
                <a:ea typeface="KaiTi" panose="02010609060101010101" pitchFamily="49" charset="-122"/>
              </a:rPr>
              <a:t>二氧化硅是无色透明的结晶和无定形粉末，无味。相对密度</a:t>
            </a:r>
            <a:r>
              <a:rPr lang="en-US" altLang="zh-CN" sz="2400" dirty="0">
                <a:latin typeface="KaiTi" panose="02010609060101010101" pitchFamily="49" charset="-122"/>
                <a:ea typeface="KaiTi" panose="02010609060101010101" pitchFamily="49" charset="-122"/>
              </a:rPr>
              <a:t>2.1</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2.3,</a:t>
            </a:r>
            <a:r>
              <a:rPr lang="zh-CN" altLang="en-US" sz="2400" dirty="0">
                <a:latin typeface="KaiTi" panose="02010609060101010101" pitchFamily="49" charset="-122"/>
                <a:ea typeface="KaiTi" panose="02010609060101010101" pitchFamily="49" charset="-122"/>
              </a:rPr>
              <a:t>在化妆品中性质稳定，配伍性好。市售的球状微珠二氧化硅是用二氧化硅制成的</a:t>
            </a:r>
            <a:r>
              <a:rPr lang="en-US" altLang="zh-CN" sz="2400" dirty="0">
                <a:latin typeface="KaiTi" panose="02010609060101010101" pitchFamily="49" charset="-122"/>
                <a:ea typeface="KaiTi" panose="02010609060101010101" pitchFamily="49" charset="-122"/>
              </a:rPr>
              <a:t>2</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13 </a:t>
            </a:r>
            <a:r>
              <a:rPr lang="en-US" altLang="zh-CN" sz="2400" dirty="0" err="1">
                <a:latin typeface="KaiTi" panose="02010609060101010101" pitchFamily="49" charset="-122"/>
                <a:ea typeface="KaiTi" panose="02010609060101010101" pitchFamily="49" charset="-122"/>
              </a:rPr>
              <a:t>μm</a:t>
            </a: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大小、润滑的微珠。由于这些微珠的“球轴承</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作用，赋予粉类化妆品极好的润滑性。这种中空的微球具有</a:t>
            </a:r>
            <a:r>
              <a:rPr lang="zh-CN" altLang="en-US" sz="2400" dirty="0">
                <a:solidFill>
                  <a:srgbClr val="0000FF"/>
                </a:solidFill>
                <a:latin typeface="KaiTi" panose="02010609060101010101" pitchFamily="49" charset="-122"/>
                <a:ea typeface="KaiTi" panose="02010609060101010101" pitchFamily="49" charset="-122"/>
              </a:rPr>
              <a:t>很好的吸附性能</a:t>
            </a:r>
            <a:r>
              <a:rPr lang="zh-CN" altLang="en-US" sz="2400" dirty="0">
                <a:latin typeface="KaiTi" panose="02010609060101010101" pitchFamily="49" charset="-122"/>
                <a:ea typeface="KaiTi" panose="02010609060101010101" pitchFamily="49" charset="-122"/>
              </a:rPr>
              <a:t>，在其表面，可吸附大量亲油性的物质，如防晒剂、润滑剂和香精等</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它们是</a:t>
            </a:r>
            <a:r>
              <a:rPr lang="zh-CN" altLang="en-US" sz="2400" dirty="0">
                <a:solidFill>
                  <a:srgbClr val="0000FF"/>
                </a:solidFill>
                <a:latin typeface="KaiTi" panose="02010609060101010101" pitchFamily="49" charset="-122"/>
                <a:ea typeface="KaiTi" panose="02010609060101010101" pitchFamily="49" charset="-122"/>
              </a:rPr>
              <a:t>很好的载体</a:t>
            </a:r>
            <a:r>
              <a:rPr lang="zh-CN" altLang="en-US" sz="2400" dirty="0">
                <a:latin typeface="KaiTi" panose="02010609060101010101" pitchFamily="49" charset="-122"/>
                <a:ea typeface="KaiTi" panose="02010609060101010101" pitchFamily="49" charset="-122"/>
              </a:rPr>
              <a:t>。微球的密度低，能使被吸附的物质均匀分散，形成稳定的体系。此外，这种微球</a:t>
            </a:r>
            <a:r>
              <a:rPr lang="zh-CN" altLang="en-US" sz="2400" dirty="0">
                <a:solidFill>
                  <a:srgbClr val="0000FF"/>
                </a:solidFill>
                <a:latin typeface="KaiTi" panose="02010609060101010101" pitchFamily="49" charset="-122"/>
                <a:ea typeface="KaiTi" panose="02010609060101010101" pitchFamily="49" charset="-122"/>
              </a:rPr>
              <a:t>粒度分布均匀</a:t>
            </a:r>
            <a:r>
              <a:rPr lang="zh-CN" altLang="en-US" sz="2400" dirty="0">
                <a:latin typeface="KaiTi" panose="02010609060101010101" pitchFamily="49" charset="-122"/>
                <a:ea typeface="KaiTi" panose="02010609060101010101" pitchFamily="49" charset="-122"/>
              </a:rPr>
              <a:t>，</a:t>
            </a:r>
            <a:r>
              <a:rPr lang="zh-CN" altLang="en-US" sz="2400" dirty="0">
                <a:solidFill>
                  <a:srgbClr val="0000FF"/>
                </a:solidFill>
                <a:latin typeface="KaiTi" panose="02010609060101010101" pitchFamily="49" charset="-122"/>
                <a:ea typeface="KaiTi" panose="02010609060101010101" pitchFamily="49" charset="-122"/>
              </a:rPr>
              <a:t>化学稳定性和热稳定性高</a:t>
            </a:r>
            <a:r>
              <a:rPr lang="zh-CN" altLang="en-US" sz="2400" dirty="0">
                <a:latin typeface="KaiTi" panose="02010609060101010101" pitchFamily="49" charset="-122"/>
                <a:ea typeface="KaiTi" panose="02010609060101010101" pitchFamily="49" charset="-122"/>
              </a:rPr>
              <a:t>，无臭、无味、不溶于水，无腐蚀性，不会潮解，可在所有的化妆品中使用。</a:t>
            </a:r>
          </a:p>
        </p:txBody>
      </p:sp>
    </p:spTree>
    <p:extLst>
      <p:ext uri="{BB962C8B-B14F-4D97-AF65-F5344CB8AC3E}">
        <p14:creationId xmlns:p14="http://schemas.microsoft.com/office/powerpoint/2010/main" val="28975897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粉饼的基质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45749"/>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氮化硼：</a:t>
            </a:r>
            <a:r>
              <a:rPr lang="zh-CN" altLang="en-US" sz="2400" dirty="0">
                <a:latin typeface="KaiTi" panose="02010609060101010101" pitchFamily="49" charset="-122"/>
                <a:ea typeface="KaiTi" panose="02010609060101010101" pitchFamily="49" charset="-122"/>
              </a:rPr>
              <a:t>氮化硼粉末为六方晶体，六方晶体的平行平面</a:t>
            </a:r>
            <a:r>
              <a:rPr lang="zh-CN" altLang="en-US" sz="2400" dirty="0">
                <a:solidFill>
                  <a:srgbClr val="0000FF"/>
                </a:solidFill>
                <a:latin typeface="KaiTi" panose="02010609060101010101" pitchFamily="49" charset="-122"/>
                <a:ea typeface="KaiTi" panose="02010609060101010101" pitchFamily="49" charset="-122"/>
              </a:rPr>
              <a:t>具有很好的滑移性 能</a:t>
            </a:r>
            <a:r>
              <a:rPr lang="zh-CN" altLang="en-US" sz="2400" dirty="0">
                <a:latin typeface="KaiTi" panose="02010609060101010101" pitchFamily="49" charset="-122"/>
                <a:ea typeface="KaiTi" panose="02010609060101010101" pitchFamily="49" charset="-122"/>
              </a:rPr>
              <a:t>，使化妆品有如丝质般柔滑细腻、丰盈润泽的超凡感受，是石英、云母、氯氧化铋等传统材料无法达到的效果。氮化硼颗粒带有静电粒子，在化妆品中加入</a:t>
            </a:r>
            <a:r>
              <a:rPr lang="en-US" altLang="zh-CN" sz="2400" dirty="0">
                <a:latin typeface="KaiTi" panose="02010609060101010101" pitchFamily="49" charset="-122"/>
                <a:ea typeface="KaiTi" panose="02010609060101010101" pitchFamily="49" charset="-122"/>
              </a:rPr>
              <a:t>3%</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30%</a:t>
            </a:r>
            <a:r>
              <a:rPr lang="zh-CN" altLang="en-US" sz="2400" dirty="0">
                <a:latin typeface="KaiTi" panose="02010609060101010101" pitchFamily="49" charset="-122"/>
                <a:ea typeface="KaiTi" panose="02010609060101010101" pitchFamily="49" charset="-122"/>
              </a:rPr>
              <a:t>的氮化硼粉末，可增加化妆品的附着力和遮盖力，缔造恒久动人、纯净完美的妆容。良好的滑移特性，</a:t>
            </a:r>
            <a:r>
              <a:rPr lang="zh-CN" altLang="en-US" sz="2400" dirty="0">
                <a:solidFill>
                  <a:srgbClr val="0000FF"/>
                </a:solidFill>
                <a:latin typeface="KaiTi" panose="02010609060101010101" pitchFamily="49" charset="-122"/>
                <a:ea typeface="KaiTi" panose="02010609060101010101" pitchFamily="49" charset="-122"/>
              </a:rPr>
              <a:t>使最终的彩妆产品紧致、易涂抹，并易于清洁去除</a:t>
            </a:r>
            <a:r>
              <a:rPr lang="zh-CN" altLang="en-US" sz="2400" dirty="0">
                <a:latin typeface="KaiTi" panose="02010609060101010101" pitchFamily="49" charset="-122"/>
                <a:ea typeface="KaiTi" panose="02010609060101010101" pitchFamily="49" charset="-122"/>
              </a:rPr>
              <a:t>，这种粉末中有大且平的晶粒，即使不加闪光材料，也会呈现半透明、晶莹光洁的效果。可以用在散粉、粉饼、口红、唇彩、眉笔、眼线笔、皮肤护理品及爽身粉等产品中。加入化妆品配方中，有晶莹剔透、轻盈光洁、自然亮泽的完美效果。</a:t>
            </a:r>
          </a:p>
        </p:txBody>
      </p:sp>
    </p:spTree>
    <p:extLst>
      <p:ext uri="{BB962C8B-B14F-4D97-AF65-F5344CB8AC3E}">
        <p14:creationId xmlns:p14="http://schemas.microsoft.com/office/powerpoint/2010/main" val="4063821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粉饼的配方与工艺示例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3972323"/>
            <a:ext cx="8778240" cy="2554545"/>
          </a:xfrm>
          <a:prstGeom prst="rect">
            <a:avLst/>
          </a:prstGeom>
          <a:noFill/>
        </p:spPr>
        <p:txBody>
          <a:bodyPr wrap="square" rtlCol="0">
            <a:spAutoFit/>
          </a:bodyPr>
          <a:lstStyle/>
          <a:p>
            <a:r>
              <a:rPr lang="zh-CN" altLang="en-US" sz="2000" dirty="0">
                <a:latin typeface="KaiTi" panose="02010609060101010101" pitchFamily="49" charset="-122"/>
                <a:ea typeface="KaiTi" panose="02010609060101010101" pitchFamily="49" charset="-122"/>
              </a:rPr>
              <a:t>干法制备粉饼，干法适于大规模生产，主要是需要使用较大的压力，配制方法是将 </a:t>
            </a:r>
            <a:r>
              <a:rPr lang="en-US" altLang="zh-CN" sz="2000" dirty="0">
                <a:latin typeface="KaiTi" panose="02010609060101010101" pitchFamily="49" charset="-122"/>
                <a:ea typeface="KaiTi" panose="02010609060101010101" pitchFamily="49" charset="-122"/>
              </a:rPr>
              <a:t>A </a:t>
            </a:r>
            <a:r>
              <a:rPr lang="zh-CN" altLang="en-US" sz="2000" dirty="0">
                <a:latin typeface="KaiTi" panose="02010609060101010101" pitchFamily="49" charset="-122"/>
                <a:ea typeface="KaiTi" panose="02010609060101010101" pitchFamily="49" charset="-122"/>
              </a:rPr>
              <a:t>相在螺条式混合器中混合约</a:t>
            </a:r>
            <a:r>
              <a:rPr lang="en-US" altLang="zh-CN" sz="2000" dirty="0">
                <a:latin typeface="KaiTi" panose="02010609060101010101" pitchFamily="49" charset="-122"/>
                <a:ea typeface="KaiTi" panose="02010609060101010101" pitchFamily="49" charset="-122"/>
              </a:rPr>
              <a:t>1h, </a:t>
            </a:r>
            <a:r>
              <a:rPr lang="zh-CN" altLang="en-US" sz="2000" dirty="0">
                <a:latin typeface="KaiTi" panose="02010609060101010101" pitchFamily="49" charset="-122"/>
                <a:ea typeface="KaiTi" panose="02010609060101010101" pitchFamily="49" charset="-122"/>
              </a:rPr>
              <a:t>然后将预先充分混合好的 </a:t>
            </a:r>
            <a:r>
              <a:rPr lang="en-US" altLang="zh-CN" sz="2000" dirty="0">
                <a:latin typeface="KaiTi" panose="02010609060101010101" pitchFamily="49" charset="-122"/>
                <a:ea typeface="KaiTi" panose="02010609060101010101" pitchFamily="49" charset="-122"/>
              </a:rPr>
              <a:t>C </a:t>
            </a:r>
            <a:r>
              <a:rPr lang="zh-CN" altLang="en-US" sz="2000" dirty="0">
                <a:latin typeface="KaiTi" panose="02010609060101010101" pitchFamily="49" charset="-122"/>
                <a:ea typeface="KaiTi" panose="02010609060101010101" pitchFamily="49" charset="-122"/>
              </a:rPr>
              <a:t>相加入混合器中，混合约</a:t>
            </a:r>
            <a:r>
              <a:rPr lang="en-US" altLang="zh-CN" sz="2000" dirty="0">
                <a:latin typeface="KaiTi" panose="02010609060101010101" pitchFamily="49" charset="-122"/>
                <a:ea typeface="KaiTi" panose="02010609060101010101" pitchFamily="49" charset="-122"/>
              </a:rPr>
              <a:t>2 h</a:t>
            </a:r>
            <a:r>
              <a:rPr lang="zh-CN" altLang="en-US" sz="2000" dirty="0">
                <a:latin typeface="KaiTi" panose="02010609060101010101" pitchFamily="49" charset="-122"/>
                <a:ea typeface="KaiTi" panose="02010609060101010101" pitchFamily="49" charset="-122"/>
              </a:rPr>
              <a:t>后，通过粉磨机研磨，并通过</a:t>
            </a:r>
            <a:r>
              <a:rPr lang="en-US" altLang="zh-CN" sz="2000" dirty="0">
                <a:latin typeface="KaiTi" panose="02010609060101010101" pitchFamily="49" charset="-122"/>
                <a:ea typeface="KaiTi" panose="02010609060101010101" pitchFamily="49" charset="-122"/>
              </a:rPr>
              <a:t>40</a:t>
            </a:r>
            <a:r>
              <a:rPr lang="zh-CN" altLang="en-US" sz="2000" dirty="0">
                <a:latin typeface="KaiTi" panose="02010609060101010101" pitchFamily="49" charset="-122"/>
                <a:ea typeface="KaiTi" panose="02010609060101010101" pitchFamily="49" charset="-122"/>
              </a:rPr>
              <a:t>～</a:t>
            </a:r>
            <a:r>
              <a:rPr lang="en-US" altLang="zh-CN" sz="2000" dirty="0">
                <a:latin typeface="KaiTi" panose="02010609060101010101" pitchFamily="49" charset="-122"/>
                <a:ea typeface="KaiTi" panose="02010609060101010101" pitchFamily="49" charset="-122"/>
              </a:rPr>
              <a:t>45</a:t>
            </a:r>
            <a:r>
              <a:rPr lang="zh-CN" altLang="en-US" sz="2000" dirty="0">
                <a:latin typeface="KaiTi" panose="02010609060101010101" pitchFamily="49" charset="-122"/>
                <a:ea typeface="KaiTi" panose="02010609060101010101" pitchFamily="49" charset="-122"/>
              </a:rPr>
              <a:t>目筛。冷却后，混合粉料再重新通过粉磨机。将筛过的粉料置于螺条式混合机内，边搅拌边喷入预先熔化好的液态的 </a:t>
            </a:r>
            <a:r>
              <a:rPr lang="en-US" altLang="zh-CN" sz="2000" dirty="0">
                <a:latin typeface="KaiTi" panose="02010609060101010101" pitchFamily="49" charset="-122"/>
                <a:ea typeface="KaiTi" panose="02010609060101010101" pitchFamily="49" charset="-122"/>
              </a:rPr>
              <a:t>B </a:t>
            </a:r>
            <a:r>
              <a:rPr lang="zh-CN" altLang="en-US" sz="2000" dirty="0">
                <a:latin typeface="KaiTi" panose="02010609060101010101" pitchFamily="49" charset="-122"/>
                <a:ea typeface="KaiTi" panose="02010609060101010101" pitchFamily="49" charset="-122"/>
              </a:rPr>
              <a:t>相，搅拌</a:t>
            </a:r>
            <a:r>
              <a:rPr lang="en-US" altLang="zh-CN" sz="2000" dirty="0">
                <a:latin typeface="KaiTi" panose="02010609060101010101" pitchFamily="49" charset="-122"/>
                <a:ea typeface="KaiTi" panose="02010609060101010101" pitchFamily="49" charset="-122"/>
              </a:rPr>
              <a:t>5 h, </a:t>
            </a:r>
            <a:r>
              <a:rPr lang="zh-CN" altLang="en-US" sz="2000" dirty="0">
                <a:latin typeface="KaiTi" panose="02010609060101010101" pitchFamily="49" charset="-122"/>
                <a:ea typeface="KaiTi" panose="02010609060101010101" pitchFamily="49" charset="-122"/>
              </a:rPr>
              <a:t>待冷却后喷入香精。然后，通过造粒机造粒，再通过粉磨机，并通过</a:t>
            </a:r>
            <a:r>
              <a:rPr lang="en-US" altLang="zh-CN" sz="2000" dirty="0">
                <a:latin typeface="KaiTi" panose="02010609060101010101" pitchFamily="49" charset="-122"/>
                <a:ea typeface="KaiTi" panose="02010609060101010101" pitchFamily="49" charset="-122"/>
              </a:rPr>
              <a:t>25</a:t>
            </a:r>
            <a:r>
              <a:rPr lang="zh-CN" altLang="en-US" sz="2000" dirty="0">
                <a:latin typeface="KaiTi" panose="02010609060101010101" pitchFamily="49" charset="-122"/>
                <a:ea typeface="KaiTi" panose="02010609060101010101" pitchFamily="49" charset="-122"/>
              </a:rPr>
              <a:t>目筛。冷却后通过</a:t>
            </a:r>
            <a:r>
              <a:rPr lang="en-US" altLang="zh-CN" sz="2000" dirty="0">
                <a:latin typeface="KaiTi" panose="02010609060101010101" pitchFamily="49" charset="-122"/>
                <a:ea typeface="KaiTi" panose="02010609060101010101" pitchFamily="49" charset="-122"/>
              </a:rPr>
              <a:t>40</a:t>
            </a:r>
            <a:r>
              <a:rPr lang="zh-CN" altLang="en-US" sz="2000" dirty="0">
                <a:latin typeface="KaiTi" panose="02010609060101010101" pitchFamily="49" charset="-122"/>
                <a:ea typeface="KaiTi" panose="02010609060101010101" pitchFamily="49" charset="-122"/>
              </a:rPr>
              <a:t>目筛。最后将制得的粉料填充在容器内，加压成型，一般加压</a:t>
            </a:r>
            <a:r>
              <a:rPr lang="en-US" altLang="zh-CN" sz="2000" dirty="0">
                <a:latin typeface="KaiTi" panose="02010609060101010101" pitchFamily="49" charset="-122"/>
                <a:ea typeface="KaiTi" panose="02010609060101010101" pitchFamily="49" charset="-122"/>
              </a:rPr>
              <a:t>300 kPa</a:t>
            </a:r>
            <a:r>
              <a:rPr lang="zh-CN" altLang="en-US" sz="2000" dirty="0">
                <a:latin typeface="KaiTi" panose="02010609060101010101" pitchFamily="49" charset="-122"/>
                <a:ea typeface="KaiTi" panose="02010609060101010101" pitchFamily="49" charset="-122"/>
              </a:rPr>
              <a:t>即可使粉末压成粉饼。（</a:t>
            </a:r>
            <a:r>
              <a:rPr lang="zh-CN" altLang="en-US" sz="2000" b="1" dirty="0">
                <a:solidFill>
                  <a:srgbClr val="0000FF"/>
                </a:solidFill>
                <a:latin typeface="KaiTi" panose="02010609060101010101" pitchFamily="49" charset="-122"/>
                <a:ea typeface="KaiTi" panose="02010609060101010101" pitchFamily="49" charset="-122"/>
              </a:rPr>
              <a:t>严格控制温度</a:t>
            </a:r>
            <a:r>
              <a:rPr lang="zh-CN" altLang="en-US" sz="2000" dirty="0">
                <a:latin typeface="KaiTi" panose="02010609060101010101" pitchFamily="49" charset="-122"/>
                <a:ea typeface="KaiTi" panose="02010609060101010101" pitchFamily="49" charset="-122"/>
              </a:rPr>
              <a:t>）</a:t>
            </a:r>
            <a:endParaRPr lang="en-US" altLang="zh-CN" sz="2000" dirty="0">
              <a:latin typeface="KaiTi" panose="02010609060101010101" pitchFamily="49" charset="-122"/>
              <a:ea typeface="KaiTi" panose="02010609060101010101" pitchFamily="49" charset="-122"/>
            </a:endParaRPr>
          </a:p>
        </p:txBody>
      </p:sp>
      <p:graphicFrame>
        <p:nvGraphicFramePr>
          <p:cNvPr id="5" name="表格 4">
            <a:extLst>
              <a:ext uri="{FF2B5EF4-FFF2-40B4-BE49-F238E27FC236}">
                <a16:creationId xmlns:a16="http://schemas.microsoft.com/office/drawing/2014/main" id="{4E26EB89-BE39-92C7-E4C1-4DF738981300}"/>
              </a:ext>
            </a:extLst>
          </p:cNvPr>
          <p:cNvGraphicFramePr>
            <a:graphicFrameLocks noGrp="1"/>
          </p:cNvGraphicFramePr>
          <p:nvPr>
            <p:extLst>
              <p:ext uri="{D42A27DB-BD31-4B8C-83A1-F6EECF244321}">
                <p14:modId xmlns:p14="http://schemas.microsoft.com/office/powerpoint/2010/main" val="4012518539"/>
              </p:ext>
            </p:extLst>
          </p:nvPr>
        </p:nvGraphicFramePr>
        <p:xfrm>
          <a:off x="182880" y="1039486"/>
          <a:ext cx="8778240" cy="2903072"/>
        </p:xfrm>
        <a:graphic>
          <a:graphicData uri="http://schemas.openxmlformats.org/drawingml/2006/table">
            <a:tbl>
              <a:tblPr firstRow="1" firstCol="1" bandRow="1">
                <a:tableStyleId>{72833802-FEF1-4C79-8D5D-14CF1EAF98D9}</a:tableStyleId>
              </a:tblPr>
              <a:tblGrid>
                <a:gridCol w="1086086">
                  <a:extLst>
                    <a:ext uri="{9D8B030D-6E8A-4147-A177-3AD203B41FA5}">
                      <a16:colId xmlns:a16="http://schemas.microsoft.com/office/drawing/2014/main" val="2061588924"/>
                    </a:ext>
                  </a:extLst>
                </a:gridCol>
                <a:gridCol w="1806316">
                  <a:extLst>
                    <a:ext uri="{9D8B030D-6E8A-4147-A177-3AD203B41FA5}">
                      <a16:colId xmlns:a16="http://schemas.microsoft.com/office/drawing/2014/main" val="173836014"/>
                    </a:ext>
                  </a:extLst>
                </a:gridCol>
                <a:gridCol w="1316468">
                  <a:extLst>
                    <a:ext uri="{9D8B030D-6E8A-4147-A177-3AD203B41FA5}">
                      <a16:colId xmlns:a16="http://schemas.microsoft.com/office/drawing/2014/main" val="2042348662"/>
                    </a:ext>
                  </a:extLst>
                </a:gridCol>
                <a:gridCol w="1676201">
                  <a:extLst>
                    <a:ext uri="{9D8B030D-6E8A-4147-A177-3AD203B41FA5}">
                      <a16:colId xmlns:a16="http://schemas.microsoft.com/office/drawing/2014/main" val="1778990803"/>
                    </a:ext>
                  </a:extLst>
                </a:gridCol>
                <a:gridCol w="1676201">
                  <a:extLst>
                    <a:ext uri="{9D8B030D-6E8A-4147-A177-3AD203B41FA5}">
                      <a16:colId xmlns:a16="http://schemas.microsoft.com/office/drawing/2014/main" val="754340507"/>
                    </a:ext>
                  </a:extLst>
                </a:gridCol>
                <a:gridCol w="1216968">
                  <a:extLst>
                    <a:ext uri="{9D8B030D-6E8A-4147-A177-3AD203B41FA5}">
                      <a16:colId xmlns:a16="http://schemas.microsoft.com/office/drawing/2014/main" val="3558070711"/>
                    </a:ext>
                  </a:extLst>
                </a:gridCol>
              </a:tblGrid>
              <a:tr h="532909">
                <a:tc>
                  <a:txBody>
                    <a:bodyPr/>
                    <a:lstStyle/>
                    <a:p>
                      <a:pPr marL="317500" marR="0" eaLnBrk="0">
                        <a:lnSpc>
                          <a:spcPct val="92000"/>
                        </a:lnSpc>
                        <a:spcBef>
                          <a:spcPts val="530"/>
                        </a:spcBef>
                        <a:spcAft>
                          <a:spcPts val="0"/>
                        </a:spcAft>
                      </a:pPr>
                      <a:r>
                        <a:rPr lang="zh-CN" sz="1800" spc="40">
                          <a:effectLst/>
                          <a:latin typeface="+mj-lt"/>
                          <a:ea typeface="SimHei" panose="02010609060101010101" pitchFamily="49" charset="-122"/>
                        </a:rPr>
                        <a:t>组相</a:t>
                      </a:r>
                      <a:endParaRPr lang="en-US" sz="1800">
                        <a:solidFill>
                          <a:srgbClr val="000000"/>
                        </a:solidFill>
                        <a:effectLst/>
                        <a:latin typeface="+mj-lt"/>
                        <a:ea typeface="SimHei" panose="02010609060101010101" pitchFamily="49" charset="-122"/>
                      </a:endParaRPr>
                    </a:p>
                  </a:txBody>
                  <a:tcPr marL="0" marR="0" marT="0" marB="0"/>
                </a:tc>
                <a:tc>
                  <a:txBody>
                    <a:bodyPr/>
                    <a:lstStyle/>
                    <a:p>
                      <a:pPr marL="479425" marR="0" eaLnBrk="0">
                        <a:lnSpc>
                          <a:spcPct val="91000"/>
                        </a:lnSpc>
                        <a:spcBef>
                          <a:spcPts val="520"/>
                        </a:spcBef>
                        <a:spcAft>
                          <a:spcPts val="0"/>
                        </a:spcAft>
                      </a:pPr>
                      <a:r>
                        <a:rPr lang="zh-CN" sz="1800" spc="10">
                          <a:effectLst/>
                          <a:latin typeface="+mj-lt"/>
                          <a:ea typeface="SimHei" panose="02010609060101010101" pitchFamily="49" charset="-122"/>
                        </a:rPr>
                        <a:t>原料名称</a:t>
                      </a:r>
                      <a:endParaRPr lang="en-US" sz="1800">
                        <a:solidFill>
                          <a:srgbClr val="000000"/>
                        </a:solidFill>
                        <a:effectLst/>
                        <a:latin typeface="+mj-lt"/>
                        <a:ea typeface="SimHei" panose="02010609060101010101" pitchFamily="49" charset="-122"/>
                      </a:endParaRPr>
                    </a:p>
                  </a:txBody>
                  <a:tcPr marL="0" marR="0" marT="0" marB="0"/>
                </a:tc>
                <a:tc>
                  <a:txBody>
                    <a:bodyPr/>
                    <a:lstStyle/>
                    <a:p>
                      <a:pPr marL="206375" marR="0" eaLnBrk="0">
                        <a:lnSpc>
                          <a:spcPct val="91000"/>
                        </a:lnSpc>
                        <a:spcBef>
                          <a:spcPts val="515"/>
                        </a:spcBef>
                        <a:spcAft>
                          <a:spcPts val="0"/>
                        </a:spcAft>
                      </a:pPr>
                      <a:r>
                        <a:rPr lang="zh-CN" sz="1800" spc="-10">
                          <a:effectLst/>
                          <a:latin typeface="+mj-lt"/>
                          <a:ea typeface="SimHei" panose="02010609060101010101" pitchFamily="49" charset="-122"/>
                        </a:rPr>
                        <a:t>质量分数</a:t>
                      </a:r>
                      <a:r>
                        <a:rPr lang="en-US" sz="1800" spc="-10">
                          <a:effectLst/>
                          <a:latin typeface="+mj-lt"/>
                          <a:ea typeface="SimHei" panose="02010609060101010101" pitchFamily="49" charset="-122"/>
                        </a:rPr>
                        <a:t>/%</a:t>
                      </a:r>
                      <a:endParaRPr lang="en-US" sz="1800">
                        <a:solidFill>
                          <a:srgbClr val="000000"/>
                        </a:solidFill>
                        <a:effectLst/>
                        <a:latin typeface="+mj-lt"/>
                        <a:ea typeface="SimHei" panose="02010609060101010101" pitchFamily="49" charset="-122"/>
                      </a:endParaRPr>
                    </a:p>
                  </a:txBody>
                  <a:tcPr marL="0" marR="0" marT="0" marB="0"/>
                </a:tc>
                <a:tc>
                  <a:txBody>
                    <a:bodyPr/>
                    <a:lstStyle/>
                    <a:p>
                      <a:pPr marL="257175" marR="0" eaLnBrk="0">
                        <a:lnSpc>
                          <a:spcPct val="92000"/>
                        </a:lnSpc>
                        <a:spcBef>
                          <a:spcPts val="530"/>
                        </a:spcBef>
                        <a:spcAft>
                          <a:spcPts val="0"/>
                        </a:spcAft>
                      </a:pPr>
                      <a:r>
                        <a:rPr lang="zh-CN" sz="1800" spc="40">
                          <a:effectLst/>
                          <a:latin typeface="+mj-lt"/>
                          <a:ea typeface="SimHei" panose="02010609060101010101" pitchFamily="49" charset="-122"/>
                        </a:rPr>
                        <a:t>组相</a:t>
                      </a:r>
                      <a:endParaRPr lang="en-US" sz="1800">
                        <a:solidFill>
                          <a:srgbClr val="000000"/>
                        </a:solidFill>
                        <a:effectLst/>
                        <a:latin typeface="+mj-lt"/>
                        <a:ea typeface="SimHei" panose="02010609060101010101" pitchFamily="49" charset="-122"/>
                      </a:endParaRPr>
                    </a:p>
                  </a:txBody>
                  <a:tcPr marL="0" marR="0" marT="0" marB="0"/>
                </a:tc>
                <a:tc>
                  <a:txBody>
                    <a:bodyPr/>
                    <a:lstStyle/>
                    <a:p>
                      <a:pPr marL="434975" marR="0" eaLnBrk="0">
                        <a:lnSpc>
                          <a:spcPct val="91000"/>
                        </a:lnSpc>
                        <a:spcBef>
                          <a:spcPts val="520"/>
                        </a:spcBef>
                        <a:spcAft>
                          <a:spcPts val="0"/>
                        </a:spcAft>
                      </a:pPr>
                      <a:r>
                        <a:rPr lang="zh-CN" sz="1800" spc="10">
                          <a:effectLst/>
                          <a:latin typeface="+mj-lt"/>
                          <a:ea typeface="SimHei" panose="02010609060101010101" pitchFamily="49" charset="-122"/>
                        </a:rPr>
                        <a:t>原料名称</a:t>
                      </a:r>
                      <a:endParaRPr lang="en-US" sz="1800">
                        <a:solidFill>
                          <a:srgbClr val="000000"/>
                        </a:solidFill>
                        <a:effectLst/>
                        <a:latin typeface="+mj-lt"/>
                        <a:ea typeface="SimHei" panose="02010609060101010101" pitchFamily="49" charset="-122"/>
                      </a:endParaRPr>
                    </a:p>
                  </a:txBody>
                  <a:tcPr marL="0" marR="0" marT="0" marB="0"/>
                </a:tc>
                <a:tc>
                  <a:txBody>
                    <a:bodyPr/>
                    <a:lstStyle/>
                    <a:p>
                      <a:pPr marL="168275" marR="0" eaLnBrk="0">
                        <a:lnSpc>
                          <a:spcPct val="91000"/>
                        </a:lnSpc>
                        <a:spcBef>
                          <a:spcPts val="515"/>
                        </a:spcBef>
                        <a:spcAft>
                          <a:spcPts val="0"/>
                        </a:spcAft>
                      </a:pPr>
                      <a:r>
                        <a:rPr lang="zh-CN" sz="1800" spc="-10">
                          <a:effectLst/>
                          <a:latin typeface="+mj-lt"/>
                          <a:ea typeface="SimHei" panose="02010609060101010101" pitchFamily="49" charset="-122"/>
                        </a:rPr>
                        <a:t>质量分数</a:t>
                      </a:r>
                      <a:r>
                        <a:rPr lang="en-US" sz="1800" spc="-10">
                          <a:effectLst/>
                          <a:latin typeface="+mj-lt"/>
                          <a:ea typeface="SimHei" panose="02010609060101010101" pitchFamily="49" charset="-122"/>
                        </a:rPr>
                        <a:t>/%</a:t>
                      </a:r>
                      <a:endParaRPr lang="en-US" sz="1800">
                        <a:solidFill>
                          <a:srgbClr val="000000"/>
                        </a:solidFill>
                        <a:effectLst/>
                        <a:latin typeface="+mj-lt"/>
                        <a:ea typeface="SimHei" panose="02010609060101010101" pitchFamily="49" charset="-122"/>
                      </a:endParaRPr>
                    </a:p>
                  </a:txBody>
                  <a:tcPr marL="0" marR="0" marT="0" marB="0"/>
                </a:tc>
                <a:extLst>
                  <a:ext uri="{0D108BD9-81ED-4DB2-BD59-A6C34878D82A}">
                    <a16:rowId xmlns:a16="http://schemas.microsoft.com/office/drawing/2014/main" val="1536654179"/>
                  </a:ext>
                </a:extLst>
              </a:tr>
              <a:tr h="1494951">
                <a:tc rowSpan="3">
                  <a:txBody>
                    <a:bodyPr/>
                    <a:lstStyle/>
                    <a:p>
                      <a:pPr marL="0" marR="0" eaLnBrk="0">
                        <a:lnSpc>
                          <a:spcPct val="103000"/>
                        </a:lnSpc>
                        <a:spcBef>
                          <a:spcPts val="0"/>
                        </a:spcBef>
                        <a:spcAft>
                          <a:spcPts val="0"/>
                        </a:spcAft>
                      </a:pPr>
                      <a:r>
                        <a:rPr lang="en-US" sz="1800">
                          <a:effectLst/>
                          <a:latin typeface="+mj-lt"/>
                          <a:ea typeface="SimHei" panose="02010609060101010101" pitchFamily="49" charset="-122"/>
                        </a:rPr>
                        <a:t> </a:t>
                      </a:r>
                    </a:p>
                    <a:p>
                      <a:pPr marL="0" marR="0" eaLnBrk="0">
                        <a:lnSpc>
                          <a:spcPct val="104000"/>
                        </a:lnSpc>
                        <a:spcBef>
                          <a:spcPts val="0"/>
                        </a:spcBef>
                        <a:spcAft>
                          <a:spcPts val="0"/>
                        </a:spcAft>
                      </a:pPr>
                      <a:r>
                        <a:rPr lang="en-US" sz="1800">
                          <a:effectLst/>
                          <a:latin typeface="+mj-lt"/>
                          <a:ea typeface="SimHei" panose="02010609060101010101" pitchFamily="49" charset="-122"/>
                        </a:rPr>
                        <a:t> </a:t>
                      </a:r>
                    </a:p>
                    <a:p>
                      <a:pPr marL="0" marR="0" eaLnBrk="0">
                        <a:lnSpc>
                          <a:spcPct val="104000"/>
                        </a:lnSpc>
                        <a:spcBef>
                          <a:spcPts val="0"/>
                        </a:spcBef>
                        <a:spcAft>
                          <a:spcPts val="0"/>
                        </a:spcAft>
                      </a:pPr>
                      <a:r>
                        <a:rPr lang="en-US" sz="1800">
                          <a:effectLst/>
                          <a:latin typeface="+mj-lt"/>
                          <a:ea typeface="SimHei" panose="02010609060101010101" pitchFamily="49" charset="-122"/>
                        </a:rPr>
                        <a:t> </a:t>
                      </a:r>
                    </a:p>
                    <a:p>
                      <a:pPr marL="0" marR="0" eaLnBrk="0">
                        <a:lnSpc>
                          <a:spcPct val="104000"/>
                        </a:lnSpc>
                        <a:spcBef>
                          <a:spcPts val="0"/>
                        </a:spcBef>
                        <a:spcAft>
                          <a:spcPts val="0"/>
                        </a:spcAft>
                      </a:pPr>
                      <a:r>
                        <a:rPr lang="en-US" sz="1800">
                          <a:effectLst/>
                          <a:latin typeface="+mj-lt"/>
                          <a:ea typeface="SimHei" panose="02010609060101010101" pitchFamily="49" charset="-122"/>
                        </a:rPr>
                        <a:t> </a:t>
                      </a:r>
                    </a:p>
                    <a:p>
                      <a:pPr marL="348615" marR="0" eaLnBrk="0">
                        <a:lnSpc>
                          <a:spcPct val="92000"/>
                        </a:lnSpc>
                        <a:spcBef>
                          <a:spcPts val="340"/>
                        </a:spcBef>
                        <a:spcAft>
                          <a:spcPts val="0"/>
                        </a:spcAft>
                      </a:pPr>
                      <a:r>
                        <a:rPr lang="en-US" sz="1800" spc="-5">
                          <a:effectLst/>
                          <a:latin typeface="+mj-lt"/>
                          <a:ea typeface="SimHei" panose="02010609060101010101" pitchFamily="49" charset="-122"/>
                        </a:rPr>
                        <a:t>A</a:t>
                      </a:r>
                      <a:r>
                        <a:rPr lang="zh-CN" sz="1800" spc="-5">
                          <a:effectLst/>
                          <a:latin typeface="+mj-lt"/>
                          <a:ea typeface="SimHei" panose="02010609060101010101" pitchFamily="49" charset="-122"/>
                        </a:rPr>
                        <a:t>相</a:t>
                      </a:r>
                      <a:endParaRPr lang="en-US" sz="1800">
                        <a:solidFill>
                          <a:srgbClr val="000000"/>
                        </a:solidFill>
                        <a:effectLst/>
                        <a:latin typeface="+mj-lt"/>
                        <a:ea typeface="SimHei" panose="02010609060101010101" pitchFamily="49" charset="-122"/>
                      </a:endParaRPr>
                    </a:p>
                  </a:txBody>
                  <a:tcPr marL="0" marR="0" marT="0" marB="0"/>
                </a:tc>
                <a:tc rowSpan="3">
                  <a:txBody>
                    <a:bodyPr/>
                    <a:lstStyle/>
                    <a:p>
                      <a:pPr marL="92710" marR="0" eaLnBrk="0">
                        <a:lnSpc>
                          <a:spcPct val="91000"/>
                        </a:lnSpc>
                        <a:spcBef>
                          <a:spcPts val="350"/>
                        </a:spcBef>
                        <a:spcAft>
                          <a:spcPts val="0"/>
                        </a:spcAft>
                      </a:pPr>
                      <a:r>
                        <a:rPr lang="zh-CN" sz="1800" spc="-10" dirty="0">
                          <a:solidFill>
                            <a:srgbClr val="FF0000"/>
                          </a:solidFill>
                          <a:effectLst/>
                          <a:latin typeface="+mj-lt"/>
                          <a:ea typeface="SimHei" panose="02010609060101010101" pitchFamily="49" charset="-122"/>
                        </a:rPr>
                        <a:t>滑石粉</a:t>
                      </a:r>
                      <a:endParaRPr lang="en-US" sz="1800" dirty="0">
                        <a:solidFill>
                          <a:srgbClr val="FF0000"/>
                        </a:solidFill>
                        <a:effectLst/>
                        <a:latin typeface="+mj-lt"/>
                        <a:ea typeface="SimHei" panose="02010609060101010101" pitchFamily="49" charset="-122"/>
                      </a:endParaRPr>
                    </a:p>
                    <a:p>
                      <a:pPr marL="92710" marR="0" eaLnBrk="0">
                        <a:lnSpc>
                          <a:spcPts val="1925"/>
                        </a:lnSpc>
                        <a:spcBef>
                          <a:spcPts val="695"/>
                        </a:spcBef>
                        <a:spcAft>
                          <a:spcPts val="0"/>
                        </a:spcAft>
                      </a:pPr>
                      <a:r>
                        <a:rPr lang="zh-CN" sz="1800" spc="-15" dirty="0">
                          <a:solidFill>
                            <a:srgbClr val="FF0000"/>
                          </a:solidFill>
                          <a:effectLst/>
                          <a:latin typeface="+mj-lt"/>
                          <a:ea typeface="SimHei" panose="02010609060101010101" pitchFamily="49" charset="-122"/>
                        </a:rPr>
                        <a:t>二氧化钛</a:t>
                      </a:r>
                      <a:endParaRPr lang="en-US" sz="1800" dirty="0">
                        <a:solidFill>
                          <a:srgbClr val="FF0000"/>
                        </a:solidFill>
                        <a:effectLst/>
                        <a:latin typeface="+mj-lt"/>
                        <a:ea typeface="SimHei" panose="02010609060101010101" pitchFamily="49" charset="-122"/>
                      </a:endParaRPr>
                    </a:p>
                    <a:p>
                      <a:pPr marL="92710" marR="0" eaLnBrk="0">
                        <a:lnSpc>
                          <a:spcPct val="92000"/>
                        </a:lnSpc>
                        <a:spcBef>
                          <a:spcPts val="0"/>
                        </a:spcBef>
                        <a:spcAft>
                          <a:spcPts val="0"/>
                        </a:spcAft>
                      </a:pPr>
                      <a:r>
                        <a:rPr lang="zh-CN" sz="1800" spc="-10" dirty="0">
                          <a:solidFill>
                            <a:srgbClr val="FF0000"/>
                          </a:solidFill>
                          <a:effectLst/>
                          <a:latin typeface="+mj-lt"/>
                          <a:ea typeface="SimHei" panose="02010609060101010101" pitchFamily="49" charset="-122"/>
                        </a:rPr>
                        <a:t>硅石</a:t>
                      </a:r>
                      <a:endParaRPr lang="en-US" sz="1800" dirty="0">
                        <a:solidFill>
                          <a:srgbClr val="FF0000"/>
                        </a:solidFill>
                        <a:effectLst/>
                        <a:latin typeface="+mj-lt"/>
                        <a:ea typeface="SimHei" panose="02010609060101010101" pitchFamily="49" charset="-122"/>
                      </a:endParaRPr>
                    </a:p>
                    <a:p>
                      <a:pPr marL="92710" marR="0" eaLnBrk="0">
                        <a:lnSpc>
                          <a:spcPts val="2050"/>
                        </a:lnSpc>
                        <a:spcBef>
                          <a:spcPts val="715"/>
                        </a:spcBef>
                        <a:spcAft>
                          <a:spcPts val="0"/>
                        </a:spcAft>
                      </a:pPr>
                      <a:r>
                        <a:rPr lang="zh-CN" sz="1800" spc="-10" dirty="0">
                          <a:effectLst/>
                          <a:latin typeface="+mj-lt"/>
                          <a:ea typeface="SimHei" panose="02010609060101010101" pitchFamily="49" charset="-122"/>
                        </a:rPr>
                        <a:t>氧化铁黄</a:t>
                      </a:r>
                      <a:endParaRPr lang="en-US" sz="1800" dirty="0">
                        <a:effectLst/>
                        <a:latin typeface="+mj-lt"/>
                        <a:ea typeface="SimHei" panose="02010609060101010101" pitchFamily="49" charset="-122"/>
                      </a:endParaRPr>
                    </a:p>
                    <a:p>
                      <a:pPr marL="92710" marR="0" eaLnBrk="0">
                        <a:lnSpc>
                          <a:spcPct val="90000"/>
                        </a:lnSpc>
                        <a:spcBef>
                          <a:spcPts val="0"/>
                        </a:spcBef>
                        <a:spcAft>
                          <a:spcPts val="0"/>
                        </a:spcAft>
                      </a:pPr>
                      <a:r>
                        <a:rPr lang="zh-CN" sz="1800" spc="-10" dirty="0">
                          <a:effectLst/>
                          <a:latin typeface="+mj-lt"/>
                          <a:ea typeface="SimHei" panose="02010609060101010101" pitchFamily="49" charset="-122"/>
                        </a:rPr>
                        <a:t>氧化铁红</a:t>
                      </a:r>
                      <a:endParaRPr lang="en-US" sz="1800" dirty="0">
                        <a:effectLst/>
                        <a:latin typeface="+mj-lt"/>
                        <a:ea typeface="SimHei" panose="02010609060101010101" pitchFamily="49" charset="-122"/>
                      </a:endParaRPr>
                    </a:p>
                    <a:p>
                      <a:pPr marL="92710" marR="0" eaLnBrk="0">
                        <a:lnSpc>
                          <a:spcPct val="91000"/>
                        </a:lnSpc>
                        <a:spcBef>
                          <a:spcPts val="700"/>
                        </a:spcBef>
                        <a:spcAft>
                          <a:spcPts val="0"/>
                        </a:spcAft>
                      </a:pPr>
                      <a:r>
                        <a:rPr lang="zh-CN" sz="1800" spc="15" dirty="0">
                          <a:effectLst/>
                          <a:latin typeface="+mj-lt"/>
                          <a:ea typeface="SimHei" panose="02010609060101010101" pitchFamily="49" charset="-122"/>
                        </a:rPr>
                        <a:t>氧化铁黑</a:t>
                      </a:r>
                      <a:endParaRPr lang="en-US" sz="1800" dirty="0">
                        <a:solidFill>
                          <a:srgbClr val="000000"/>
                        </a:solidFill>
                        <a:effectLst/>
                        <a:latin typeface="+mj-lt"/>
                        <a:ea typeface="SimHei" panose="02010609060101010101" pitchFamily="49" charset="-122"/>
                      </a:endParaRPr>
                    </a:p>
                  </a:txBody>
                  <a:tcPr marL="0" marR="0" marT="0" marB="0"/>
                </a:tc>
                <a:tc rowSpan="3">
                  <a:txBody>
                    <a:bodyPr/>
                    <a:lstStyle/>
                    <a:p>
                      <a:pPr marL="410210" marR="0" eaLnBrk="0">
                        <a:lnSpc>
                          <a:spcPts val="2000"/>
                        </a:lnSpc>
                        <a:spcBef>
                          <a:spcPts val="670"/>
                        </a:spcBef>
                        <a:spcAft>
                          <a:spcPts val="0"/>
                        </a:spcAft>
                      </a:pPr>
                      <a:r>
                        <a:rPr lang="en-US" sz="1800" spc="-15" dirty="0">
                          <a:solidFill>
                            <a:srgbClr val="FF0000"/>
                          </a:solidFill>
                          <a:effectLst/>
                          <a:latin typeface="+mj-lt"/>
                          <a:ea typeface="SimHei" panose="02010609060101010101" pitchFamily="49" charset="-122"/>
                        </a:rPr>
                        <a:t>73.0</a:t>
                      </a:r>
                      <a:endParaRPr lang="en-US" sz="1800" dirty="0">
                        <a:solidFill>
                          <a:srgbClr val="FF0000"/>
                        </a:solidFill>
                        <a:effectLst/>
                        <a:latin typeface="+mj-lt"/>
                        <a:ea typeface="SimHei" panose="02010609060101010101" pitchFamily="49" charset="-122"/>
                      </a:endParaRPr>
                    </a:p>
                    <a:p>
                      <a:pPr marL="441325" marR="0" eaLnBrk="0">
                        <a:lnSpc>
                          <a:spcPct val="76000"/>
                        </a:lnSpc>
                        <a:spcBef>
                          <a:spcPts val="0"/>
                        </a:spcBef>
                        <a:spcAft>
                          <a:spcPts val="0"/>
                        </a:spcAft>
                      </a:pPr>
                      <a:r>
                        <a:rPr lang="en-US" sz="1800" spc="-15" dirty="0">
                          <a:solidFill>
                            <a:srgbClr val="FF0000"/>
                          </a:solidFill>
                          <a:effectLst/>
                          <a:latin typeface="+mj-lt"/>
                          <a:ea typeface="SimHei" panose="02010609060101010101" pitchFamily="49" charset="-122"/>
                        </a:rPr>
                        <a:t>7.2</a:t>
                      </a:r>
                      <a:endParaRPr lang="en-US" sz="1800" dirty="0">
                        <a:solidFill>
                          <a:srgbClr val="FF0000"/>
                        </a:solidFill>
                        <a:effectLst/>
                        <a:latin typeface="+mj-lt"/>
                        <a:ea typeface="SimHei" panose="02010609060101010101" pitchFamily="49" charset="-122"/>
                      </a:endParaRPr>
                    </a:p>
                    <a:p>
                      <a:pPr marL="410210" marR="0" eaLnBrk="0">
                        <a:lnSpc>
                          <a:spcPct val="76000"/>
                        </a:lnSpc>
                        <a:spcBef>
                          <a:spcPts val="850"/>
                        </a:spcBef>
                        <a:spcAft>
                          <a:spcPts val="0"/>
                        </a:spcAft>
                      </a:pPr>
                      <a:r>
                        <a:rPr lang="en-US" sz="1800" spc="-25" dirty="0">
                          <a:solidFill>
                            <a:srgbClr val="FF0000"/>
                          </a:solidFill>
                          <a:effectLst/>
                          <a:latin typeface="+mj-lt"/>
                          <a:ea typeface="SimHei" panose="02010609060101010101" pitchFamily="49" charset="-122"/>
                        </a:rPr>
                        <a:t>10.0</a:t>
                      </a:r>
                      <a:endParaRPr lang="en-US" sz="1800" dirty="0">
                        <a:solidFill>
                          <a:srgbClr val="FF0000"/>
                        </a:solidFill>
                        <a:effectLst/>
                        <a:latin typeface="+mj-lt"/>
                        <a:ea typeface="SimHei" panose="02010609060101010101" pitchFamily="49" charset="-122"/>
                      </a:endParaRPr>
                    </a:p>
                    <a:p>
                      <a:pPr marL="441325" marR="0" eaLnBrk="0">
                        <a:lnSpc>
                          <a:spcPct val="76000"/>
                        </a:lnSpc>
                        <a:spcBef>
                          <a:spcPts val="905"/>
                        </a:spcBef>
                        <a:spcAft>
                          <a:spcPts val="0"/>
                        </a:spcAft>
                      </a:pPr>
                      <a:r>
                        <a:rPr lang="en-US" sz="1800" spc="-15" dirty="0">
                          <a:effectLst/>
                          <a:latin typeface="+mj-lt"/>
                          <a:ea typeface="SimHei" panose="02010609060101010101" pitchFamily="49" charset="-122"/>
                        </a:rPr>
                        <a:t>0.6</a:t>
                      </a:r>
                      <a:endParaRPr lang="en-US" sz="1800" dirty="0">
                        <a:effectLst/>
                        <a:latin typeface="+mj-lt"/>
                        <a:ea typeface="SimHei" panose="02010609060101010101" pitchFamily="49" charset="-122"/>
                      </a:endParaRPr>
                    </a:p>
                    <a:p>
                      <a:pPr marL="441325" marR="0" eaLnBrk="0">
                        <a:lnSpc>
                          <a:spcPct val="76000"/>
                        </a:lnSpc>
                        <a:spcBef>
                          <a:spcPts val="1010"/>
                        </a:spcBef>
                        <a:spcAft>
                          <a:spcPts val="0"/>
                        </a:spcAft>
                      </a:pPr>
                      <a:r>
                        <a:rPr lang="en-US" sz="1800" spc="-15" dirty="0">
                          <a:effectLst/>
                          <a:latin typeface="+mj-lt"/>
                          <a:ea typeface="SimHei" panose="02010609060101010101" pitchFamily="49" charset="-122"/>
                        </a:rPr>
                        <a:t>0.3</a:t>
                      </a:r>
                      <a:endParaRPr lang="en-US" sz="1800" dirty="0">
                        <a:effectLst/>
                        <a:latin typeface="+mj-lt"/>
                        <a:ea typeface="SimHei" panose="02010609060101010101" pitchFamily="49" charset="-122"/>
                      </a:endParaRPr>
                    </a:p>
                    <a:p>
                      <a:pPr marL="441325" marR="0" eaLnBrk="0">
                        <a:lnSpc>
                          <a:spcPct val="76000"/>
                        </a:lnSpc>
                        <a:spcBef>
                          <a:spcPts val="955"/>
                        </a:spcBef>
                        <a:spcAft>
                          <a:spcPts val="0"/>
                        </a:spcAft>
                      </a:pPr>
                      <a:r>
                        <a:rPr lang="en-US" sz="1800" spc="-15" dirty="0">
                          <a:effectLst/>
                          <a:latin typeface="+mj-lt"/>
                          <a:ea typeface="SimHei" panose="02010609060101010101" pitchFamily="49" charset="-122"/>
                        </a:rPr>
                        <a:t>0.1</a:t>
                      </a:r>
                      <a:endParaRPr lang="en-US" sz="1800" dirty="0">
                        <a:solidFill>
                          <a:srgbClr val="000000"/>
                        </a:solidFill>
                        <a:effectLst/>
                        <a:latin typeface="+mj-lt"/>
                        <a:ea typeface="SimHei" panose="02010609060101010101" pitchFamily="49" charset="-122"/>
                      </a:endParaRPr>
                    </a:p>
                  </a:txBody>
                  <a:tcPr marL="0" marR="0" marT="0" marB="0"/>
                </a:tc>
                <a:tc>
                  <a:txBody>
                    <a:bodyPr/>
                    <a:lstStyle/>
                    <a:p>
                      <a:pPr marL="0" marR="0" eaLnBrk="0">
                        <a:lnSpc>
                          <a:spcPct val="167000"/>
                        </a:lnSpc>
                        <a:spcBef>
                          <a:spcPts val="0"/>
                        </a:spcBef>
                        <a:spcAft>
                          <a:spcPts val="0"/>
                        </a:spcAft>
                      </a:pPr>
                      <a:r>
                        <a:rPr lang="en-US" sz="1800" b="1" dirty="0">
                          <a:effectLst/>
                          <a:latin typeface="+mj-lt"/>
                          <a:ea typeface="SimHei" panose="02010609060101010101" pitchFamily="49" charset="-122"/>
                        </a:rPr>
                        <a:t> </a:t>
                      </a:r>
                    </a:p>
                    <a:p>
                      <a:pPr marL="289560" marR="0" eaLnBrk="0">
                        <a:lnSpc>
                          <a:spcPct val="92000"/>
                        </a:lnSpc>
                        <a:spcBef>
                          <a:spcPts val="340"/>
                        </a:spcBef>
                        <a:spcAft>
                          <a:spcPts val="0"/>
                        </a:spcAft>
                      </a:pPr>
                      <a:r>
                        <a:rPr lang="en-US" sz="1800" b="1" spc="-5" dirty="0">
                          <a:effectLst/>
                          <a:latin typeface="+mj-lt"/>
                          <a:ea typeface="SimHei" panose="02010609060101010101" pitchFamily="49" charset="-122"/>
                        </a:rPr>
                        <a:t>B</a:t>
                      </a:r>
                      <a:r>
                        <a:rPr lang="zh-CN" sz="1800" b="1" spc="-5" dirty="0">
                          <a:effectLst/>
                          <a:latin typeface="+mj-lt"/>
                          <a:ea typeface="SimHei" panose="02010609060101010101" pitchFamily="49" charset="-122"/>
                        </a:rPr>
                        <a:t>相</a:t>
                      </a:r>
                      <a:endParaRPr lang="en-US" sz="1800" b="1" dirty="0">
                        <a:solidFill>
                          <a:srgbClr val="000000"/>
                        </a:solidFill>
                        <a:effectLst/>
                        <a:latin typeface="+mj-lt"/>
                        <a:ea typeface="SimHei" panose="02010609060101010101" pitchFamily="49" charset="-122"/>
                      </a:endParaRPr>
                    </a:p>
                  </a:txBody>
                  <a:tcPr marL="0" marR="0" marT="0" marB="0"/>
                </a:tc>
                <a:tc>
                  <a:txBody>
                    <a:bodyPr/>
                    <a:lstStyle/>
                    <a:p>
                      <a:pPr marL="98425" marR="0" eaLnBrk="0">
                        <a:lnSpc>
                          <a:spcPct val="91000"/>
                        </a:lnSpc>
                        <a:spcBef>
                          <a:spcPts val="405"/>
                        </a:spcBef>
                        <a:spcAft>
                          <a:spcPts val="0"/>
                        </a:spcAft>
                      </a:pPr>
                      <a:r>
                        <a:rPr lang="zh-CN" sz="1800" spc="-10" dirty="0">
                          <a:solidFill>
                            <a:srgbClr val="FF0000"/>
                          </a:solidFill>
                          <a:effectLst/>
                          <a:latin typeface="+mj-lt"/>
                          <a:ea typeface="SimHei" panose="02010609060101010101" pitchFamily="49" charset="-122"/>
                        </a:rPr>
                        <a:t>硬脂酸锌</a:t>
                      </a:r>
                      <a:endParaRPr lang="en-US" sz="1800" dirty="0">
                        <a:solidFill>
                          <a:srgbClr val="FF0000"/>
                        </a:solidFill>
                        <a:effectLst/>
                        <a:latin typeface="+mj-lt"/>
                        <a:ea typeface="SimHei" panose="02010609060101010101" pitchFamily="49" charset="-122"/>
                      </a:endParaRPr>
                    </a:p>
                    <a:p>
                      <a:pPr marL="98425" marR="0" eaLnBrk="0">
                        <a:lnSpc>
                          <a:spcPct val="91000"/>
                        </a:lnSpc>
                        <a:spcBef>
                          <a:spcPts val="645"/>
                        </a:spcBef>
                        <a:spcAft>
                          <a:spcPts val="0"/>
                        </a:spcAft>
                      </a:pPr>
                      <a:r>
                        <a:rPr lang="zh-CN" sz="1800" spc="5" dirty="0">
                          <a:effectLst/>
                          <a:latin typeface="+mj-lt"/>
                          <a:ea typeface="SimHei" panose="02010609060101010101" pitchFamily="49" charset="-122"/>
                        </a:rPr>
                        <a:t>乙酰化羊毛脂</a:t>
                      </a:r>
                      <a:endParaRPr lang="en-US" sz="1800" dirty="0">
                        <a:effectLst/>
                        <a:latin typeface="+mj-lt"/>
                        <a:ea typeface="SimHei" panose="02010609060101010101" pitchFamily="49" charset="-122"/>
                      </a:endParaRPr>
                    </a:p>
                    <a:p>
                      <a:pPr marL="98425" marR="0" eaLnBrk="0">
                        <a:lnSpc>
                          <a:spcPct val="91000"/>
                        </a:lnSpc>
                        <a:spcBef>
                          <a:spcPts val="635"/>
                        </a:spcBef>
                        <a:spcAft>
                          <a:spcPts val="0"/>
                        </a:spcAft>
                      </a:pPr>
                      <a:r>
                        <a:rPr lang="zh-CN" sz="1800" spc="5" dirty="0">
                          <a:solidFill>
                            <a:srgbClr val="FF0000"/>
                          </a:solidFill>
                          <a:effectLst/>
                          <a:latin typeface="+mj-lt"/>
                          <a:ea typeface="SimHei" panose="02010609060101010101" pitchFamily="49" charset="-122"/>
                        </a:rPr>
                        <a:t>聚二甲基硅氧烷</a:t>
                      </a:r>
                      <a:endParaRPr lang="en-US" sz="1800" dirty="0">
                        <a:solidFill>
                          <a:srgbClr val="FF0000"/>
                        </a:solidFill>
                        <a:effectLst/>
                        <a:latin typeface="+mj-lt"/>
                        <a:ea typeface="SimHei" panose="02010609060101010101" pitchFamily="49" charset="-122"/>
                      </a:endParaRPr>
                    </a:p>
                  </a:txBody>
                  <a:tcPr marL="0" marR="0" marT="0" marB="0"/>
                </a:tc>
                <a:tc>
                  <a:txBody>
                    <a:bodyPr/>
                    <a:lstStyle/>
                    <a:p>
                      <a:pPr marL="396875" marR="0" eaLnBrk="0">
                        <a:lnSpc>
                          <a:spcPts val="1900"/>
                        </a:lnSpc>
                        <a:spcBef>
                          <a:spcPts val="770"/>
                        </a:spcBef>
                        <a:spcAft>
                          <a:spcPts val="0"/>
                        </a:spcAft>
                      </a:pPr>
                      <a:r>
                        <a:rPr lang="en-US" sz="1800" spc="-15" dirty="0">
                          <a:solidFill>
                            <a:srgbClr val="FF0000"/>
                          </a:solidFill>
                          <a:effectLst/>
                          <a:latin typeface="+mj-lt"/>
                          <a:ea typeface="SimHei" panose="02010609060101010101" pitchFamily="49" charset="-122"/>
                        </a:rPr>
                        <a:t>3.0</a:t>
                      </a:r>
                      <a:endParaRPr lang="en-US" sz="1800" dirty="0">
                        <a:solidFill>
                          <a:srgbClr val="FF0000"/>
                        </a:solidFill>
                        <a:effectLst/>
                        <a:latin typeface="+mj-lt"/>
                        <a:ea typeface="SimHei" panose="02010609060101010101" pitchFamily="49" charset="-122"/>
                      </a:endParaRPr>
                    </a:p>
                    <a:p>
                      <a:pPr marL="396875" marR="0" eaLnBrk="0">
                        <a:lnSpc>
                          <a:spcPct val="76000"/>
                        </a:lnSpc>
                        <a:spcBef>
                          <a:spcPts val="0"/>
                        </a:spcBef>
                        <a:spcAft>
                          <a:spcPts val="0"/>
                        </a:spcAft>
                      </a:pPr>
                      <a:endParaRPr lang="en-US" sz="1800" spc="-15" dirty="0">
                        <a:effectLst/>
                        <a:latin typeface="+mj-lt"/>
                        <a:ea typeface="SimHei" panose="02010609060101010101" pitchFamily="49" charset="-122"/>
                      </a:endParaRPr>
                    </a:p>
                    <a:p>
                      <a:pPr marL="396875" marR="0" eaLnBrk="0">
                        <a:lnSpc>
                          <a:spcPct val="76000"/>
                        </a:lnSpc>
                        <a:spcBef>
                          <a:spcPts val="0"/>
                        </a:spcBef>
                        <a:spcAft>
                          <a:spcPts val="0"/>
                        </a:spcAft>
                      </a:pPr>
                      <a:r>
                        <a:rPr lang="en-US" sz="1800" spc="-15" dirty="0">
                          <a:effectLst/>
                          <a:latin typeface="+mj-lt"/>
                          <a:ea typeface="SimHei" panose="02010609060101010101" pitchFamily="49" charset="-122"/>
                        </a:rPr>
                        <a:t>0.6</a:t>
                      </a:r>
                      <a:endParaRPr lang="en-US" sz="1800" dirty="0">
                        <a:effectLst/>
                        <a:latin typeface="+mj-lt"/>
                        <a:ea typeface="SimHei" panose="02010609060101010101" pitchFamily="49" charset="-122"/>
                      </a:endParaRPr>
                    </a:p>
                    <a:p>
                      <a:pPr marL="396875" marR="0" eaLnBrk="0">
                        <a:lnSpc>
                          <a:spcPct val="76000"/>
                        </a:lnSpc>
                        <a:spcBef>
                          <a:spcPts val="805"/>
                        </a:spcBef>
                        <a:spcAft>
                          <a:spcPts val="0"/>
                        </a:spcAft>
                      </a:pPr>
                      <a:r>
                        <a:rPr lang="en-US" sz="1800" spc="-10" dirty="0">
                          <a:solidFill>
                            <a:srgbClr val="FF0000"/>
                          </a:solidFill>
                          <a:effectLst/>
                          <a:latin typeface="+mj-lt"/>
                          <a:ea typeface="SimHei" panose="02010609060101010101" pitchFamily="49" charset="-122"/>
                        </a:rPr>
                        <a:t>4.8</a:t>
                      </a:r>
                      <a:endParaRPr lang="en-US" sz="1800" dirty="0">
                        <a:solidFill>
                          <a:srgbClr val="FF0000"/>
                        </a:solidFill>
                        <a:effectLst/>
                        <a:latin typeface="+mj-lt"/>
                        <a:ea typeface="SimHei" panose="02010609060101010101" pitchFamily="49" charset="-122"/>
                      </a:endParaRPr>
                    </a:p>
                  </a:txBody>
                  <a:tcPr marL="0" marR="0" marT="0" marB="0"/>
                </a:tc>
                <a:extLst>
                  <a:ext uri="{0D108BD9-81ED-4DB2-BD59-A6C34878D82A}">
                    <a16:rowId xmlns:a16="http://schemas.microsoft.com/office/drawing/2014/main" val="4222599609"/>
                  </a:ext>
                </a:extLst>
              </a:tr>
              <a:tr h="27235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289560" marR="0" eaLnBrk="0">
                        <a:lnSpc>
                          <a:spcPct val="92000"/>
                        </a:lnSpc>
                        <a:spcBef>
                          <a:spcPts val="535"/>
                        </a:spcBef>
                        <a:spcAft>
                          <a:spcPts val="0"/>
                        </a:spcAft>
                      </a:pPr>
                      <a:r>
                        <a:rPr lang="en-US" sz="1800" b="1" spc="-10" dirty="0">
                          <a:effectLst/>
                          <a:latin typeface="+mj-lt"/>
                          <a:ea typeface="SimHei" panose="02010609060101010101" pitchFamily="49" charset="-122"/>
                        </a:rPr>
                        <a:t>C</a:t>
                      </a:r>
                      <a:r>
                        <a:rPr lang="zh-CN" sz="1800" b="1" spc="-10" dirty="0">
                          <a:effectLst/>
                          <a:latin typeface="+mj-lt"/>
                          <a:ea typeface="SimHei" panose="02010609060101010101" pitchFamily="49" charset="-122"/>
                        </a:rPr>
                        <a:t>相</a:t>
                      </a:r>
                      <a:endParaRPr lang="en-US" sz="1800" b="1" dirty="0">
                        <a:solidFill>
                          <a:srgbClr val="000000"/>
                        </a:solidFill>
                        <a:effectLst/>
                        <a:latin typeface="+mj-lt"/>
                        <a:ea typeface="SimHei" panose="02010609060101010101" pitchFamily="49" charset="-122"/>
                      </a:endParaRPr>
                    </a:p>
                  </a:txBody>
                  <a:tcPr marL="0" marR="0" marT="0" marB="0"/>
                </a:tc>
                <a:tc>
                  <a:txBody>
                    <a:bodyPr/>
                    <a:lstStyle/>
                    <a:p>
                      <a:pPr marL="98425" marR="0" eaLnBrk="0">
                        <a:lnSpc>
                          <a:spcPct val="91000"/>
                        </a:lnSpc>
                        <a:spcBef>
                          <a:spcPts val="515"/>
                        </a:spcBef>
                        <a:spcAft>
                          <a:spcPts val="0"/>
                        </a:spcAft>
                      </a:pPr>
                      <a:r>
                        <a:rPr lang="zh-CN" sz="1800" spc="20">
                          <a:effectLst/>
                          <a:latin typeface="+mj-lt"/>
                          <a:ea typeface="SimHei" panose="02010609060101010101" pitchFamily="49" charset="-122"/>
                        </a:rPr>
                        <a:t>防腐剂</a:t>
                      </a:r>
                      <a:endParaRPr lang="en-US" sz="1800">
                        <a:solidFill>
                          <a:srgbClr val="000000"/>
                        </a:solidFill>
                        <a:effectLst/>
                        <a:latin typeface="+mj-lt"/>
                        <a:ea typeface="SimHei" panose="02010609060101010101" pitchFamily="49" charset="-122"/>
                      </a:endParaRPr>
                    </a:p>
                  </a:txBody>
                  <a:tcPr marL="0" marR="0" marT="0" marB="0"/>
                </a:tc>
                <a:tc>
                  <a:txBody>
                    <a:bodyPr/>
                    <a:lstStyle/>
                    <a:p>
                      <a:pPr marL="365125" marR="0" eaLnBrk="0">
                        <a:lnSpc>
                          <a:spcPct val="93000"/>
                        </a:lnSpc>
                        <a:spcBef>
                          <a:spcPts val="555"/>
                        </a:spcBef>
                        <a:spcAft>
                          <a:spcPts val="0"/>
                        </a:spcAft>
                      </a:pPr>
                      <a:r>
                        <a:rPr lang="zh-CN" sz="1800" spc="-15">
                          <a:effectLst/>
                          <a:latin typeface="+mj-lt"/>
                          <a:ea typeface="SimHei" panose="02010609060101010101" pitchFamily="49" charset="-122"/>
                        </a:rPr>
                        <a:t>适量</a:t>
                      </a:r>
                      <a:endParaRPr lang="en-US" sz="1800">
                        <a:solidFill>
                          <a:srgbClr val="000000"/>
                        </a:solidFill>
                        <a:effectLst/>
                        <a:latin typeface="+mj-lt"/>
                        <a:ea typeface="SimHei" panose="02010609060101010101" pitchFamily="49" charset="-122"/>
                      </a:endParaRPr>
                    </a:p>
                  </a:txBody>
                  <a:tcPr marL="0" marR="0" marT="0" marB="0"/>
                </a:tc>
                <a:extLst>
                  <a:ext uri="{0D108BD9-81ED-4DB2-BD59-A6C34878D82A}">
                    <a16:rowId xmlns:a16="http://schemas.microsoft.com/office/drawing/2014/main" val="892128041"/>
                  </a:ext>
                </a:extLst>
              </a:tr>
              <a:tr h="60286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289560" marR="0" eaLnBrk="0">
                        <a:lnSpc>
                          <a:spcPct val="92000"/>
                        </a:lnSpc>
                        <a:spcBef>
                          <a:spcPts val="1490"/>
                        </a:spcBef>
                        <a:spcAft>
                          <a:spcPts val="0"/>
                        </a:spcAft>
                      </a:pPr>
                      <a:r>
                        <a:rPr lang="en-US" sz="1800" b="1" spc="-5" dirty="0">
                          <a:effectLst/>
                          <a:latin typeface="+mj-lt"/>
                          <a:ea typeface="SimHei" panose="02010609060101010101" pitchFamily="49" charset="-122"/>
                        </a:rPr>
                        <a:t>D</a:t>
                      </a:r>
                      <a:r>
                        <a:rPr lang="zh-CN" sz="1800" b="1" spc="-5" dirty="0">
                          <a:effectLst/>
                          <a:latin typeface="+mj-lt"/>
                          <a:ea typeface="SimHei" panose="02010609060101010101" pitchFamily="49" charset="-122"/>
                        </a:rPr>
                        <a:t>相</a:t>
                      </a:r>
                      <a:endParaRPr lang="en-US" sz="1800" b="1" dirty="0">
                        <a:solidFill>
                          <a:srgbClr val="000000"/>
                        </a:solidFill>
                        <a:effectLst/>
                        <a:latin typeface="+mj-lt"/>
                        <a:ea typeface="SimHei" panose="02010609060101010101" pitchFamily="49" charset="-122"/>
                      </a:endParaRPr>
                    </a:p>
                  </a:txBody>
                  <a:tcPr marL="0" marR="0" marT="0" marB="0"/>
                </a:tc>
                <a:tc>
                  <a:txBody>
                    <a:bodyPr/>
                    <a:lstStyle/>
                    <a:p>
                      <a:pPr marL="98425" marR="0" eaLnBrk="0">
                        <a:lnSpc>
                          <a:spcPct val="91000"/>
                        </a:lnSpc>
                        <a:spcBef>
                          <a:spcPts val="1470"/>
                        </a:spcBef>
                        <a:spcAft>
                          <a:spcPts val="0"/>
                        </a:spcAft>
                      </a:pPr>
                      <a:r>
                        <a:rPr lang="zh-CN" sz="1800" spc="25">
                          <a:effectLst/>
                          <a:latin typeface="+mj-lt"/>
                          <a:ea typeface="SimHei" panose="02010609060101010101" pitchFamily="49" charset="-122"/>
                        </a:rPr>
                        <a:t>香精</a:t>
                      </a:r>
                      <a:endParaRPr lang="en-US" sz="1800">
                        <a:solidFill>
                          <a:srgbClr val="000000"/>
                        </a:solidFill>
                        <a:effectLst/>
                        <a:latin typeface="+mj-lt"/>
                        <a:ea typeface="SimHei" panose="02010609060101010101" pitchFamily="49" charset="-122"/>
                      </a:endParaRPr>
                    </a:p>
                  </a:txBody>
                  <a:tcPr marL="0" marR="0" marT="0" marB="0"/>
                </a:tc>
                <a:tc>
                  <a:txBody>
                    <a:bodyPr/>
                    <a:lstStyle/>
                    <a:p>
                      <a:pPr marL="0" marR="0" eaLnBrk="0">
                        <a:lnSpc>
                          <a:spcPct val="116000"/>
                        </a:lnSpc>
                        <a:spcBef>
                          <a:spcPts val="0"/>
                        </a:spcBef>
                        <a:spcAft>
                          <a:spcPts val="0"/>
                        </a:spcAft>
                      </a:pPr>
                      <a:r>
                        <a:rPr lang="en-US" sz="1800" dirty="0">
                          <a:effectLst/>
                          <a:latin typeface="+mj-lt"/>
                          <a:ea typeface="SimHei" panose="02010609060101010101" pitchFamily="49" charset="-122"/>
                        </a:rPr>
                        <a:t> </a:t>
                      </a:r>
                    </a:p>
                    <a:p>
                      <a:pPr marL="396875" marR="0" eaLnBrk="0">
                        <a:lnSpc>
                          <a:spcPct val="76000"/>
                        </a:lnSpc>
                        <a:spcBef>
                          <a:spcPts val="345"/>
                        </a:spcBef>
                        <a:spcAft>
                          <a:spcPts val="0"/>
                        </a:spcAft>
                      </a:pPr>
                      <a:r>
                        <a:rPr lang="en-US" sz="1800" spc="-15" dirty="0">
                          <a:effectLst/>
                          <a:latin typeface="+mj-lt"/>
                          <a:ea typeface="SimHei" panose="02010609060101010101" pitchFamily="49" charset="-122"/>
                        </a:rPr>
                        <a:t>0.2</a:t>
                      </a:r>
                      <a:endParaRPr lang="en-US" sz="1800" dirty="0">
                        <a:solidFill>
                          <a:srgbClr val="000000"/>
                        </a:solidFill>
                        <a:effectLst/>
                        <a:latin typeface="+mj-lt"/>
                        <a:ea typeface="SimHei" panose="02010609060101010101" pitchFamily="49" charset="-122"/>
                      </a:endParaRPr>
                    </a:p>
                  </a:txBody>
                  <a:tcPr marL="0" marR="0" marT="0" marB="0"/>
                </a:tc>
                <a:extLst>
                  <a:ext uri="{0D108BD9-81ED-4DB2-BD59-A6C34878D82A}">
                    <a16:rowId xmlns:a16="http://schemas.microsoft.com/office/drawing/2014/main" val="2257570840"/>
                  </a:ext>
                </a:extLst>
              </a:tr>
            </a:tbl>
          </a:graphicData>
        </a:graphic>
      </p:graphicFrame>
    </p:spTree>
    <p:extLst>
      <p:ext uri="{BB962C8B-B14F-4D97-AF65-F5344CB8AC3E}">
        <p14:creationId xmlns:p14="http://schemas.microsoft.com/office/powerpoint/2010/main" val="2387445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粉饼型腮红的配方与工艺示例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435551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粉饼型腮红和一般粉饼的组成接近，制造工艺也相同</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0178C918-2989-5591-C2BF-762AF90123F1}"/>
              </a:ext>
            </a:extLst>
          </p:cNvPr>
          <p:cNvGraphicFramePr>
            <a:graphicFrameLocks noGrp="1"/>
          </p:cNvGraphicFramePr>
          <p:nvPr>
            <p:extLst>
              <p:ext uri="{D42A27DB-BD31-4B8C-83A1-F6EECF244321}">
                <p14:modId xmlns:p14="http://schemas.microsoft.com/office/powerpoint/2010/main" val="2037348623"/>
              </p:ext>
            </p:extLst>
          </p:nvPr>
        </p:nvGraphicFramePr>
        <p:xfrm>
          <a:off x="182880" y="1330235"/>
          <a:ext cx="8778240" cy="2422081"/>
        </p:xfrm>
        <a:graphic>
          <a:graphicData uri="http://schemas.openxmlformats.org/drawingml/2006/table">
            <a:tbl>
              <a:tblPr firstRow="1" firstCol="1" bandRow="1">
                <a:tableStyleId>{72833802-FEF1-4C79-8D5D-14CF1EAF98D9}</a:tableStyleId>
              </a:tblPr>
              <a:tblGrid>
                <a:gridCol w="707704">
                  <a:extLst>
                    <a:ext uri="{9D8B030D-6E8A-4147-A177-3AD203B41FA5}">
                      <a16:colId xmlns:a16="http://schemas.microsoft.com/office/drawing/2014/main" val="930962882"/>
                    </a:ext>
                  </a:extLst>
                </a:gridCol>
                <a:gridCol w="1742038">
                  <a:extLst>
                    <a:ext uri="{9D8B030D-6E8A-4147-A177-3AD203B41FA5}">
                      <a16:colId xmlns:a16="http://schemas.microsoft.com/office/drawing/2014/main" val="396449486"/>
                    </a:ext>
                  </a:extLst>
                </a:gridCol>
                <a:gridCol w="1000311">
                  <a:extLst>
                    <a:ext uri="{9D8B030D-6E8A-4147-A177-3AD203B41FA5}">
                      <a16:colId xmlns:a16="http://schemas.microsoft.com/office/drawing/2014/main" val="4083702442"/>
                    </a:ext>
                  </a:extLst>
                </a:gridCol>
                <a:gridCol w="2163938">
                  <a:extLst>
                    <a:ext uri="{9D8B030D-6E8A-4147-A177-3AD203B41FA5}">
                      <a16:colId xmlns:a16="http://schemas.microsoft.com/office/drawing/2014/main" val="1911765742"/>
                    </a:ext>
                  </a:extLst>
                </a:gridCol>
                <a:gridCol w="2163938">
                  <a:extLst>
                    <a:ext uri="{9D8B030D-6E8A-4147-A177-3AD203B41FA5}">
                      <a16:colId xmlns:a16="http://schemas.microsoft.com/office/drawing/2014/main" val="76434077"/>
                    </a:ext>
                  </a:extLst>
                </a:gridCol>
                <a:gridCol w="1000311">
                  <a:extLst>
                    <a:ext uri="{9D8B030D-6E8A-4147-A177-3AD203B41FA5}">
                      <a16:colId xmlns:a16="http://schemas.microsoft.com/office/drawing/2014/main" val="2881255476"/>
                    </a:ext>
                  </a:extLst>
                </a:gridCol>
              </a:tblGrid>
              <a:tr h="249555">
                <a:tc>
                  <a:txBody>
                    <a:bodyPr/>
                    <a:lstStyle/>
                    <a:p>
                      <a:pPr marL="196850" marR="0" eaLnBrk="0">
                        <a:lnSpc>
                          <a:spcPct val="92000"/>
                        </a:lnSpc>
                        <a:spcBef>
                          <a:spcPts val="480"/>
                        </a:spcBef>
                        <a:spcAft>
                          <a:spcPts val="0"/>
                        </a:spcAft>
                      </a:pPr>
                      <a:r>
                        <a:rPr lang="zh-CN" sz="1800" spc="40">
                          <a:effectLst/>
                          <a:latin typeface="+mn-lt"/>
                          <a:ea typeface="SimHei" panose="02010609060101010101" pitchFamily="49" charset="-122"/>
                        </a:rPr>
                        <a:t>组相</a:t>
                      </a:r>
                      <a:endParaRPr lang="en-US" sz="1800">
                        <a:solidFill>
                          <a:srgbClr val="000000"/>
                        </a:solidFill>
                        <a:effectLst/>
                        <a:latin typeface="+mn-lt"/>
                        <a:ea typeface="SimHei" panose="02010609060101010101" pitchFamily="49" charset="-122"/>
                      </a:endParaRPr>
                    </a:p>
                  </a:txBody>
                  <a:tcPr marL="0" marR="0" marT="0" marB="0"/>
                </a:tc>
                <a:tc>
                  <a:txBody>
                    <a:bodyPr/>
                    <a:lstStyle/>
                    <a:p>
                      <a:pPr marL="549275" marR="0" eaLnBrk="0">
                        <a:lnSpc>
                          <a:spcPct val="91000"/>
                        </a:lnSpc>
                        <a:spcBef>
                          <a:spcPts val="470"/>
                        </a:spcBef>
                        <a:spcAft>
                          <a:spcPts val="0"/>
                        </a:spcAft>
                      </a:pPr>
                      <a:r>
                        <a:rPr lang="zh-CN" sz="1800" spc="10" dirty="0">
                          <a:effectLst/>
                          <a:latin typeface="+mn-lt"/>
                          <a:ea typeface="SimHei" panose="02010609060101010101" pitchFamily="49" charset="-122"/>
                        </a:rPr>
                        <a:t>原料名称</a:t>
                      </a:r>
                      <a:endParaRPr lang="en-US" sz="1800" dirty="0">
                        <a:solidFill>
                          <a:srgbClr val="000000"/>
                        </a:solidFill>
                        <a:effectLst/>
                        <a:latin typeface="+mn-lt"/>
                        <a:ea typeface="SimHei" panose="02010609060101010101" pitchFamily="49" charset="-122"/>
                      </a:endParaRPr>
                    </a:p>
                  </a:txBody>
                  <a:tcPr marL="0" marR="0" marT="0" marB="0"/>
                </a:tc>
                <a:tc>
                  <a:txBody>
                    <a:bodyPr/>
                    <a:lstStyle/>
                    <a:p>
                      <a:pPr marL="129540" marR="0" eaLnBrk="0">
                        <a:lnSpc>
                          <a:spcPct val="91000"/>
                        </a:lnSpc>
                        <a:spcBef>
                          <a:spcPts val="465"/>
                        </a:spcBef>
                        <a:spcAft>
                          <a:spcPts val="0"/>
                        </a:spcAft>
                      </a:pPr>
                      <a:r>
                        <a:rPr lang="zh-CN" sz="1800" spc="-10">
                          <a:effectLst/>
                          <a:latin typeface="+mn-lt"/>
                          <a:ea typeface="SimHei" panose="02010609060101010101" pitchFamily="49" charset="-122"/>
                        </a:rPr>
                        <a:t>质量分数</a:t>
                      </a:r>
                      <a:r>
                        <a:rPr lang="en-US" sz="1800" spc="-10">
                          <a:effectLst/>
                          <a:latin typeface="+mn-lt"/>
                          <a:ea typeface="SimHei" panose="02010609060101010101" pitchFamily="49" charset="-122"/>
                        </a:rPr>
                        <a:t>/%</a:t>
                      </a:r>
                      <a:endParaRPr lang="en-US" sz="1800">
                        <a:solidFill>
                          <a:srgbClr val="000000"/>
                        </a:solidFill>
                        <a:effectLst/>
                        <a:latin typeface="+mn-lt"/>
                        <a:ea typeface="SimHei" panose="02010609060101010101" pitchFamily="49" charset="-122"/>
                      </a:endParaRPr>
                    </a:p>
                  </a:txBody>
                  <a:tcPr marL="0" marR="0" marT="0" marB="0"/>
                </a:tc>
                <a:tc>
                  <a:txBody>
                    <a:bodyPr/>
                    <a:lstStyle/>
                    <a:p>
                      <a:pPr marL="123825" marR="0" eaLnBrk="0">
                        <a:lnSpc>
                          <a:spcPct val="92000"/>
                        </a:lnSpc>
                        <a:spcBef>
                          <a:spcPts val="480"/>
                        </a:spcBef>
                        <a:spcAft>
                          <a:spcPts val="0"/>
                        </a:spcAft>
                      </a:pPr>
                      <a:r>
                        <a:rPr lang="zh-CN" sz="1800" spc="40">
                          <a:effectLst/>
                          <a:latin typeface="+mn-lt"/>
                          <a:ea typeface="SimHei" panose="02010609060101010101" pitchFamily="49" charset="-122"/>
                        </a:rPr>
                        <a:t>组相</a:t>
                      </a:r>
                      <a:endParaRPr lang="en-US" sz="1800">
                        <a:solidFill>
                          <a:srgbClr val="000000"/>
                        </a:solidFill>
                        <a:effectLst/>
                        <a:latin typeface="+mn-lt"/>
                        <a:ea typeface="SimHei" panose="02010609060101010101" pitchFamily="49" charset="-122"/>
                      </a:endParaRPr>
                    </a:p>
                  </a:txBody>
                  <a:tcPr marL="0" marR="0" marT="0" marB="0"/>
                </a:tc>
                <a:tc>
                  <a:txBody>
                    <a:bodyPr/>
                    <a:lstStyle/>
                    <a:p>
                      <a:pPr marL="739140" marR="0" eaLnBrk="0">
                        <a:lnSpc>
                          <a:spcPct val="91000"/>
                        </a:lnSpc>
                        <a:spcBef>
                          <a:spcPts val="470"/>
                        </a:spcBef>
                        <a:spcAft>
                          <a:spcPts val="0"/>
                        </a:spcAft>
                      </a:pPr>
                      <a:r>
                        <a:rPr lang="zh-CN" sz="1800" spc="10">
                          <a:effectLst/>
                          <a:latin typeface="+mn-lt"/>
                          <a:ea typeface="SimHei" panose="02010609060101010101" pitchFamily="49" charset="-122"/>
                        </a:rPr>
                        <a:t>原料名称</a:t>
                      </a:r>
                      <a:endParaRPr lang="en-US" sz="1800">
                        <a:solidFill>
                          <a:srgbClr val="000000"/>
                        </a:solidFill>
                        <a:effectLst/>
                        <a:latin typeface="+mn-lt"/>
                        <a:ea typeface="SimHei" panose="02010609060101010101" pitchFamily="49" charset="-122"/>
                      </a:endParaRPr>
                    </a:p>
                  </a:txBody>
                  <a:tcPr marL="0" marR="0" marT="0" marB="0"/>
                </a:tc>
                <a:tc>
                  <a:txBody>
                    <a:bodyPr/>
                    <a:lstStyle/>
                    <a:p>
                      <a:pPr marL="130175" marR="0" eaLnBrk="0">
                        <a:lnSpc>
                          <a:spcPct val="91000"/>
                        </a:lnSpc>
                        <a:spcBef>
                          <a:spcPts val="465"/>
                        </a:spcBef>
                        <a:spcAft>
                          <a:spcPts val="0"/>
                        </a:spcAft>
                      </a:pPr>
                      <a:r>
                        <a:rPr lang="zh-CN" sz="1800" spc="-10">
                          <a:effectLst/>
                          <a:latin typeface="+mn-lt"/>
                          <a:ea typeface="SimHei" panose="02010609060101010101" pitchFamily="49" charset="-122"/>
                        </a:rPr>
                        <a:t>质量分数</a:t>
                      </a:r>
                      <a:r>
                        <a:rPr lang="en-US" sz="1800" spc="-10">
                          <a:effectLst/>
                          <a:latin typeface="+mn-lt"/>
                          <a:ea typeface="SimHei" panose="02010609060101010101" pitchFamily="49" charset="-122"/>
                        </a:rPr>
                        <a:t>/%</a:t>
                      </a:r>
                      <a:endParaRPr lang="en-US" sz="1800">
                        <a:solidFill>
                          <a:srgbClr val="000000"/>
                        </a:solidFill>
                        <a:effectLst/>
                        <a:latin typeface="+mn-lt"/>
                        <a:ea typeface="SimHei" panose="02010609060101010101" pitchFamily="49" charset="-122"/>
                      </a:endParaRPr>
                    </a:p>
                  </a:txBody>
                  <a:tcPr marL="0" marR="0" marT="0" marB="0"/>
                </a:tc>
                <a:extLst>
                  <a:ext uri="{0D108BD9-81ED-4DB2-BD59-A6C34878D82A}">
                    <a16:rowId xmlns:a16="http://schemas.microsoft.com/office/drawing/2014/main" val="1200373243"/>
                  </a:ext>
                </a:extLst>
              </a:tr>
              <a:tr h="992505">
                <a:tc rowSpan="2">
                  <a:txBody>
                    <a:bodyPr/>
                    <a:lstStyle/>
                    <a:p>
                      <a:pPr marL="0" marR="0" eaLnBrk="0">
                        <a:lnSpc>
                          <a:spcPct val="115000"/>
                        </a:lnSpc>
                        <a:spcBef>
                          <a:spcPts val="0"/>
                        </a:spcBef>
                        <a:spcAft>
                          <a:spcPts val="0"/>
                        </a:spcAft>
                      </a:pPr>
                      <a:r>
                        <a:rPr lang="en-US" sz="1800">
                          <a:effectLst/>
                          <a:latin typeface="+mn-lt"/>
                          <a:ea typeface="SimHei" panose="02010609060101010101" pitchFamily="49" charset="-122"/>
                        </a:rPr>
                        <a:t> </a:t>
                      </a:r>
                    </a:p>
                    <a:p>
                      <a:pPr marL="0" marR="0" eaLnBrk="0">
                        <a:lnSpc>
                          <a:spcPct val="115000"/>
                        </a:lnSpc>
                        <a:spcBef>
                          <a:spcPts val="0"/>
                        </a:spcBef>
                        <a:spcAft>
                          <a:spcPts val="0"/>
                        </a:spcAft>
                      </a:pPr>
                      <a:r>
                        <a:rPr lang="en-US" sz="1800">
                          <a:effectLst/>
                          <a:latin typeface="+mn-lt"/>
                          <a:ea typeface="SimHei" panose="02010609060101010101" pitchFamily="49" charset="-122"/>
                        </a:rPr>
                        <a:t> </a:t>
                      </a:r>
                    </a:p>
                    <a:p>
                      <a:pPr marL="0" marR="0" eaLnBrk="0">
                        <a:lnSpc>
                          <a:spcPct val="115000"/>
                        </a:lnSpc>
                        <a:spcBef>
                          <a:spcPts val="0"/>
                        </a:spcBef>
                        <a:spcAft>
                          <a:spcPts val="0"/>
                        </a:spcAft>
                      </a:pPr>
                      <a:r>
                        <a:rPr lang="en-US" sz="1800">
                          <a:effectLst/>
                          <a:latin typeface="+mn-lt"/>
                          <a:ea typeface="SimHei" panose="02010609060101010101" pitchFamily="49" charset="-122"/>
                        </a:rPr>
                        <a:t> </a:t>
                      </a:r>
                    </a:p>
                    <a:p>
                      <a:pPr marL="227965" marR="0" eaLnBrk="0">
                        <a:lnSpc>
                          <a:spcPct val="92000"/>
                        </a:lnSpc>
                        <a:spcBef>
                          <a:spcPts val="340"/>
                        </a:spcBef>
                        <a:spcAft>
                          <a:spcPts val="0"/>
                        </a:spcAft>
                      </a:pPr>
                      <a:r>
                        <a:rPr lang="en-US" sz="1800" spc="-5">
                          <a:effectLst/>
                          <a:latin typeface="+mn-lt"/>
                          <a:ea typeface="SimHei" panose="02010609060101010101" pitchFamily="49" charset="-122"/>
                        </a:rPr>
                        <a:t>A</a:t>
                      </a:r>
                      <a:r>
                        <a:rPr lang="zh-CN" sz="1800" spc="-5">
                          <a:effectLst/>
                          <a:latin typeface="+mn-lt"/>
                          <a:ea typeface="SimHei" panose="02010609060101010101" pitchFamily="49" charset="-122"/>
                        </a:rPr>
                        <a:t>相</a:t>
                      </a:r>
                      <a:endParaRPr lang="en-US" sz="1800">
                        <a:solidFill>
                          <a:srgbClr val="000000"/>
                        </a:solidFill>
                        <a:effectLst/>
                        <a:latin typeface="+mn-lt"/>
                        <a:ea typeface="SimHei" panose="02010609060101010101" pitchFamily="49" charset="-122"/>
                      </a:endParaRPr>
                    </a:p>
                  </a:txBody>
                  <a:tcPr marL="0" marR="0" marT="0" marB="0"/>
                </a:tc>
                <a:tc rowSpan="2">
                  <a:txBody>
                    <a:bodyPr/>
                    <a:lstStyle/>
                    <a:p>
                      <a:pPr marL="98425" marR="0" eaLnBrk="0">
                        <a:lnSpc>
                          <a:spcPts val="2000"/>
                        </a:lnSpc>
                        <a:spcBef>
                          <a:spcPts val="445"/>
                        </a:spcBef>
                        <a:spcAft>
                          <a:spcPts val="0"/>
                        </a:spcAft>
                      </a:pPr>
                      <a:r>
                        <a:rPr lang="zh-CN" sz="1800" spc="-5" dirty="0">
                          <a:solidFill>
                            <a:schemeClr val="tx1"/>
                          </a:solidFill>
                          <a:effectLst/>
                          <a:latin typeface="+mn-lt"/>
                          <a:ea typeface="SimHei" panose="02010609060101010101" pitchFamily="49" charset="-122"/>
                        </a:rPr>
                        <a:t>滑石粉</a:t>
                      </a:r>
                      <a:r>
                        <a:rPr lang="en-US" sz="1800" spc="-5" dirty="0">
                          <a:solidFill>
                            <a:schemeClr val="tx1"/>
                          </a:solidFill>
                          <a:effectLst/>
                          <a:latin typeface="+mn-lt"/>
                          <a:ea typeface="SimHei" panose="02010609060101010101" pitchFamily="49" charset="-122"/>
                        </a:rPr>
                        <a:t>/</a:t>
                      </a:r>
                      <a:r>
                        <a:rPr lang="zh-CN" sz="1800" spc="-5" dirty="0">
                          <a:solidFill>
                            <a:schemeClr val="tx1"/>
                          </a:solidFill>
                          <a:effectLst/>
                          <a:latin typeface="+mn-lt"/>
                          <a:ea typeface="SimHei" panose="02010609060101010101" pitchFamily="49" charset="-122"/>
                        </a:rPr>
                        <a:t>聚二甲基硅氧烷</a:t>
                      </a:r>
                      <a:endParaRPr lang="en-US" sz="1800" dirty="0">
                        <a:solidFill>
                          <a:schemeClr val="tx1"/>
                        </a:solidFill>
                        <a:effectLst/>
                        <a:latin typeface="+mn-lt"/>
                        <a:ea typeface="SimHei" panose="02010609060101010101" pitchFamily="49" charset="-122"/>
                      </a:endParaRPr>
                    </a:p>
                    <a:p>
                      <a:pPr marL="98425" marR="0" eaLnBrk="0">
                        <a:lnSpc>
                          <a:spcPct val="90000"/>
                        </a:lnSpc>
                        <a:spcBef>
                          <a:spcPts val="0"/>
                        </a:spcBef>
                        <a:spcAft>
                          <a:spcPts val="0"/>
                        </a:spcAft>
                      </a:pPr>
                      <a:r>
                        <a:rPr lang="zh-CN" sz="1800" spc="-10" dirty="0">
                          <a:solidFill>
                            <a:schemeClr val="tx1"/>
                          </a:solidFill>
                          <a:effectLst/>
                          <a:latin typeface="+mn-lt"/>
                          <a:ea typeface="SimHei" panose="02010609060101010101" pitchFamily="49" charset="-122"/>
                        </a:rPr>
                        <a:t>云母</a:t>
                      </a:r>
                      <a:r>
                        <a:rPr lang="en-US" sz="1800" spc="-10" dirty="0">
                          <a:solidFill>
                            <a:schemeClr val="tx1"/>
                          </a:solidFill>
                          <a:effectLst/>
                          <a:latin typeface="+mn-lt"/>
                          <a:ea typeface="SimHei" panose="02010609060101010101" pitchFamily="49" charset="-122"/>
                        </a:rPr>
                        <a:t>/</a:t>
                      </a:r>
                      <a:r>
                        <a:rPr lang="zh-CN" sz="1800" spc="-10" dirty="0">
                          <a:solidFill>
                            <a:schemeClr val="tx1"/>
                          </a:solidFill>
                          <a:effectLst/>
                          <a:latin typeface="+mn-lt"/>
                          <a:ea typeface="SimHei" panose="02010609060101010101" pitchFamily="49" charset="-122"/>
                        </a:rPr>
                        <a:t>聚二甲基硅氧烷</a:t>
                      </a:r>
                      <a:endParaRPr lang="en-US" sz="1800" dirty="0">
                        <a:solidFill>
                          <a:schemeClr val="tx1"/>
                        </a:solidFill>
                        <a:effectLst/>
                        <a:latin typeface="+mn-lt"/>
                        <a:ea typeface="SimHei" panose="02010609060101010101" pitchFamily="49" charset="-122"/>
                      </a:endParaRPr>
                    </a:p>
                    <a:p>
                      <a:pPr marL="98425" marR="0" eaLnBrk="0">
                        <a:lnSpc>
                          <a:spcPct val="92000"/>
                        </a:lnSpc>
                        <a:spcBef>
                          <a:spcPts val="665"/>
                        </a:spcBef>
                        <a:spcAft>
                          <a:spcPts val="0"/>
                        </a:spcAft>
                      </a:pPr>
                      <a:r>
                        <a:rPr lang="zh-CN" sz="1800" spc="15" dirty="0">
                          <a:effectLst/>
                          <a:latin typeface="+mn-lt"/>
                          <a:ea typeface="SimHei" panose="02010609060101010101" pitchFamily="49" charset="-122"/>
                        </a:rPr>
                        <a:t>绢云母</a:t>
                      </a:r>
                      <a:endParaRPr lang="en-US" sz="1800" dirty="0">
                        <a:effectLst/>
                        <a:latin typeface="+mn-lt"/>
                        <a:ea typeface="SimHei" panose="02010609060101010101" pitchFamily="49" charset="-122"/>
                      </a:endParaRPr>
                    </a:p>
                    <a:p>
                      <a:pPr marL="98425" marR="0" eaLnBrk="0">
                        <a:lnSpc>
                          <a:spcPts val="1895"/>
                        </a:lnSpc>
                        <a:spcBef>
                          <a:spcPts val="740"/>
                        </a:spcBef>
                        <a:spcAft>
                          <a:spcPts val="0"/>
                        </a:spcAft>
                      </a:pPr>
                      <a:r>
                        <a:rPr lang="zh-CN" sz="1800" spc="-10" dirty="0">
                          <a:effectLst/>
                          <a:latin typeface="+mn-lt"/>
                          <a:ea typeface="SimHei" panose="02010609060101010101" pitchFamily="49" charset="-122"/>
                        </a:rPr>
                        <a:t>硬脂酸锌</a:t>
                      </a:r>
                      <a:endParaRPr lang="en-US" sz="1800" dirty="0">
                        <a:effectLst/>
                        <a:latin typeface="+mn-lt"/>
                        <a:ea typeface="SimHei" panose="02010609060101010101" pitchFamily="49" charset="-122"/>
                      </a:endParaRPr>
                    </a:p>
                    <a:p>
                      <a:pPr marL="98425" marR="0" eaLnBrk="0">
                        <a:lnSpc>
                          <a:spcPct val="91000"/>
                        </a:lnSpc>
                        <a:spcBef>
                          <a:spcPts val="0"/>
                        </a:spcBef>
                        <a:spcAft>
                          <a:spcPts val="0"/>
                        </a:spcAft>
                      </a:pPr>
                      <a:r>
                        <a:rPr lang="zh-CN" sz="1800" spc="-10" dirty="0">
                          <a:solidFill>
                            <a:srgbClr val="FF0000"/>
                          </a:solidFill>
                          <a:effectLst/>
                          <a:latin typeface="+mn-lt"/>
                          <a:ea typeface="SimHei" panose="02010609060101010101" pitchFamily="49" charset="-122"/>
                        </a:rPr>
                        <a:t>颜料</a:t>
                      </a:r>
                      <a:endParaRPr lang="en-US" sz="1800" dirty="0">
                        <a:solidFill>
                          <a:srgbClr val="FF0000"/>
                        </a:solidFill>
                        <a:effectLst/>
                        <a:latin typeface="+mn-lt"/>
                        <a:ea typeface="SimHei" panose="02010609060101010101" pitchFamily="49" charset="-122"/>
                      </a:endParaRPr>
                    </a:p>
                  </a:txBody>
                  <a:tcPr marL="0" marR="0" marT="0" marB="0"/>
                </a:tc>
                <a:tc rowSpan="2">
                  <a:txBody>
                    <a:bodyPr/>
                    <a:lstStyle/>
                    <a:p>
                      <a:pPr marL="326390" marR="0" eaLnBrk="0">
                        <a:lnSpc>
                          <a:spcPts val="2000"/>
                        </a:lnSpc>
                        <a:spcBef>
                          <a:spcPts val="720"/>
                        </a:spcBef>
                        <a:spcAft>
                          <a:spcPts val="0"/>
                        </a:spcAft>
                      </a:pPr>
                      <a:r>
                        <a:rPr lang="en-US" sz="1800" spc="-10">
                          <a:effectLst/>
                          <a:latin typeface="+mn-lt"/>
                          <a:ea typeface="SimHei" panose="02010609060101010101" pitchFamily="49" charset="-122"/>
                        </a:rPr>
                        <a:t>42.0</a:t>
                      </a:r>
                      <a:endParaRPr lang="en-US" sz="1800">
                        <a:effectLst/>
                        <a:latin typeface="+mn-lt"/>
                        <a:ea typeface="SimHei" panose="02010609060101010101" pitchFamily="49" charset="-122"/>
                      </a:endParaRPr>
                    </a:p>
                    <a:p>
                      <a:pPr marL="326390" marR="0" eaLnBrk="0">
                        <a:lnSpc>
                          <a:spcPct val="76000"/>
                        </a:lnSpc>
                        <a:spcBef>
                          <a:spcPts val="0"/>
                        </a:spcBef>
                        <a:spcAft>
                          <a:spcPts val="0"/>
                        </a:spcAft>
                      </a:pPr>
                      <a:r>
                        <a:rPr lang="en-US" sz="1800" spc="-15">
                          <a:effectLst/>
                          <a:latin typeface="+mn-lt"/>
                          <a:ea typeface="SimHei" panose="02010609060101010101" pitchFamily="49" charset="-122"/>
                        </a:rPr>
                        <a:t>30.0</a:t>
                      </a:r>
                      <a:endParaRPr lang="en-US" sz="1800">
                        <a:effectLst/>
                        <a:latin typeface="+mn-lt"/>
                        <a:ea typeface="SimHei" panose="02010609060101010101" pitchFamily="49" charset="-122"/>
                      </a:endParaRPr>
                    </a:p>
                    <a:p>
                      <a:pPr marL="326390" marR="0" eaLnBrk="0">
                        <a:lnSpc>
                          <a:spcPct val="76000"/>
                        </a:lnSpc>
                        <a:spcBef>
                          <a:spcPts val="900"/>
                        </a:spcBef>
                        <a:spcAft>
                          <a:spcPts val="0"/>
                        </a:spcAft>
                      </a:pPr>
                      <a:r>
                        <a:rPr lang="en-US" sz="1800" spc="-25">
                          <a:effectLst/>
                          <a:latin typeface="+mn-lt"/>
                          <a:ea typeface="SimHei" panose="02010609060101010101" pitchFamily="49" charset="-122"/>
                        </a:rPr>
                        <a:t>15.0</a:t>
                      </a:r>
                      <a:endParaRPr lang="en-US" sz="1800">
                        <a:effectLst/>
                        <a:latin typeface="+mn-lt"/>
                        <a:ea typeface="SimHei" panose="02010609060101010101" pitchFamily="49" charset="-122"/>
                      </a:endParaRPr>
                    </a:p>
                    <a:p>
                      <a:pPr marL="358775" marR="0" eaLnBrk="0">
                        <a:lnSpc>
                          <a:spcPct val="76000"/>
                        </a:lnSpc>
                        <a:spcBef>
                          <a:spcPts val="855"/>
                        </a:spcBef>
                        <a:spcAft>
                          <a:spcPts val="0"/>
                        </a:spcAft>
                      </a:pPr>
                      <a:r>
                        <a:rPr lang="en-US" sz="1800" spc="-15">
                          <a:effectLst/>
                          <a:latin typeface="+mn-lt"/>
                          <a:ea typeface="SimHei" panose="02010609060101010101" pitchFamily="49" charset="-122"/>
                        </a:rPr>
                        <a:t>2.5</a:t>
                      </a:r>
                      <a:endParaRPr lang="en-US" sz="1800">
                        <a:effectLst/>
                        <a:latin typeface="+mn-lt"/>
                        <a:ea typeface="SimHei" panose="02010609060101010101" pitchFamily="49" charset="-122"/>
                      </a:endParaRPr>
                    </a:p>
                    <a:p>
                      <a:pPr marL="358775" marR="0" eaLnBrk="0">
                        <a:lnSpc>
                          <a:spcPct val="76000"/>
                        </a:lnSpc>
                        <a:spcBef>
                          <a:spcPts val="1110"/>
                        </a:spcBef>
                        <a:spcAft>
                          <a:spcPts val="0"/>
                        </a:spcAft>
                      </a:pPr>
                      <a:r>
                        <a:rPr lang="en-US" sz="1800" spc="-15">
                          <a:effectLst/>
                          <a:latin typeface="+mn-lt"/>
                          <a:ea typeface="SimHei" panose="02010609060101010101" pitchFamily="49" charset="-122"/>
                        </a:rPr>
                        <a:t>2.0</a:t>
                      </a:r>
                      <a:endParaRPr lang="en-US" sz="1800">
                        <a:solidFill>
                          <a:srgbClr val="000000"/>
                        </a:solidFill>
                        <a:effectLst/>
                        <a:latin typeface="+mn-lt"/>
                        <a:ea typeface="SimHei" panose="02010609060101010101" pitchFamily="49" charset="-122"/>
                      </a:endParaRPr>
                    </a:p>
                  </a:txBody>
                  <a:tcPr marL="0" marR="0" marT="0" marB="0"/>
                </a:tc>
                <a:tc>
                  <a:txBody>
                    <a:bodyPr/>
                    <a:lstStyle/>
                    <a:p>
                      <a:pPr marL="0" marR="0" eaLnBrk="0">
                        <a:lnSpc>
                          <a:spcPct val="127000"/>
                        </a:lnSpc>
                        <a:spcBef>
                          <a:spcPts val="0"/>
                        </a:spcBef>
                        <a:spcAft>
                          <a:spcPts val="0"/>
                        </a:spcAft>
                      </a:pPr>
                      <a:r>
                        <a:rPr lang="en-US" sz="1800" b="1" dirty="0">
                          <a:effectLst/>
                          <a:latin typeface="+mn-lt"/>
                          <a:ea typeface="SimHei" panose="02010609060101010101" pitchFamily="49" charset="-122"/>
                        </a:rPr>
                        <a:t> </a:t>
                      </a:r>
                    </a:p>
                    <a:p>
                      <a:pPr marL="0" marR="0" eaLnBrk="0">
                        <a:lnSpc>
                          <a:spcPct val="127000"/>
                        </a:lnSpc>
                        <a:spcBef>
                          <a:spcPts val="0"/>
                        </a:spcBef>
                        <a:spcAft>
                          <a:spcPts val="0"/>
                        </a:spcAft>
                      </a:pPr>
                      <a:r>
                        <a:rPr lang="en-US" sz="1800" b="1" dirty="0">
                          <a:effectLst/>
                          <a:latin typeface="+mn-lt"/>
                          <a:ea typeface="SimHei" panose="02010609060101010101" pitchFamily="49" charset="-122"/>
                        </a:rPr>
                        <a:t> </a:t>
                      </a:r>
                    </a:p>
                    <a:p>
                      <a:pPr marL="154940" marR="0" eaLnBrk="0">
                        <a:lnSpc>
                          <a:spcPct val="92000"/>
                        </a:lnSpc>
                        <a:spcBef>
                          <a:spcPts val="340"/>
                        </a:spcBef>
                        <a:spcAft>
                          <a:spcPts val="0"/>
                        </a:spcAft>
                      </a:pPr>
                      <a:r>
                        <a:rPr lang="en-US" sz="1800" b="1" spc="55" dirty="0">
                          <a:effectLst/>
                          <a:latin typeface="+mn-lt"/>
                          <a:ea typeface="SimHei" panose="02010609060101010101" pitchFamily="49" charset="-122"/>
                        </a:rPr>
                        <a:t>B</a:t>
                      </a:r>
                      <a:r>
                        <a:rPr lang="zh-CN" sz="1800" b="1" spc="55" dirty="0">
                          <a:effectLst/>
                          <a:latin typeface="+mn-lt"/>
                          <a:ea typeface="SimHei" panose="02010609060101010101" pitchFamily="49" charset="-122"/>
                        </a:rPr>
                        <a:t>相</a:t>
                      </a:r>
                      <a:endParaRPr lang="en-US" sz="1800" b="1" dirty="0">
                        <a:solidFill>
                          <a:srgbClr val="000000"/>
                        </a:solidFill>
                        <a:effectLst/>
                        <a:latin typeface="+mn-lt"/>
                        <a:ea typeface="SimHei" panose="02010609060101010101" pitchFamily="49" charset="-122"/>
                      </a:endParaRPr>
                    </a:p>
                  </a:txBody>
                  <a:tcPr marL="0" marR="0" marT="0" marB="0"/>
                </a:tc>
                <a:tc>
                  <a:txBody>
                    <a:bodyPr/>
                    <a:lstStyle/>
                    <a:p>
                      <a:pPr marL="123825" marR="0" eaLnBrk="0">
                        <a:lnSpc>
                          <a:spcPct val="91000"/>
                        </a:lnSpc>
                        <a:spcBef>
                          <a:spcPts val="455"/>
                        </a:spcBef>
                        <a:spcAft>
                          <a:spcPts val="0"/>
                        </a:spcAft>
                      </a:pPr>
                      <a:r>
                        <a:rPr lang="zh-CN" sz="1800" spc="5">
                          <a:effectLst/>
                          <a:latin typeface="+mn-lt"/>
                          <a:ea typeface="SimHei" panose="02010609060101010101" pitchFamily="49" charset="-122"/>
                        </a:rPr>
                        <a:t>辛基十二烷基硬脂酰硬脂酸酯</a:t>
                      </a:r>
                      <a:endParaRPr lang="en-US" sz="1800">
                        <a:effectLst/>
                        <a:latin typeface="+mn-lt"/>
                        <a:ea typeface="SimHei" panose="02010609060101010101" pitchFamily="49" charset="-122"/>
                      </a:endParaRPr>
                    </a:p>
                    <a:p>
                      <a:pPr marL="123825" marR="0" eaLnBrk="0">
                        <a:lnSpc>
                          <a:spcPct val="91000"/>
                        </a:lnSpc>
                        <a:spcBef>
                          <a:spcPts val="685"/>
                        </a:spcBef>
                        <a:spcAft>
                          <a:spcPts val="0"/>
                        </a:spcAft>
                      </a:pPr>
                      <a:r>
                        <a:rPr lang="zh-CN" sz="1800" spc="5">
                          <a:effectLst/>
                          <a:latin typeface="+mn-lt"/>
                          <a:ea typeface="SimHei" panose="02010609060101010101" pitchFamily="49" charset="-122"/>
                        </a:rPr>
                        <a:t>聚二甲基硅氧烷</a:t>
                      </a:r>
                      <a:endParaRPr lang="en-US" sz="1800">
                        <a:effectLst/>
                        <a:latin typeface="+mn-lt"/>
                        <a:ea typeface="SimHei" panose="02010609060101010101" pitchFamily="49" charset="-122"/>
                      </a:endParaRPr>
                    </a:p>
                    <a:p>
                      <a:pPr marL="123825" marR="0" eaLnBrk="0">
                        <a:lnSpc>
                          <a:spcPts val="2000"/>
                        </a:lnSpc>
                        <a:spcBef>
                          <a:spcPts val="655"/>
                        </a:spcBef>
                        <a:spcAft>
                          <a:spcPts val="0"/>
                        </a:spcAft>
                      </a:pPr>
                      <a:r>
                        <a:rPr lang="zh-CN" sz="1800" spc="5">
                          <a:effectLst/>
                          <a:latin typeface="+mn-lt"/>
                          <a:ea typeface="SimHei" panose="02010609060101010101" pitchFamily="49" charset="-122"/>
                        </a:rPr>
                        <a:t>山梨坦倍半油酸酯</a:t>
                      </a:r>
                      <a:endParaRPr lang="en-US" sz="1800">
                        <a:effectLst/>
                        <a:latin typeface="+mn-lt"/>
                        <a:ea typeface="SimHei" panose="02010609060101010101" pitchFamily="49" charset="-122"/>
                      </a:endParaRPr>
                    </a:p>
                    <a:p>
                      <a:pPr marL="123825" marR="0" eaLnBrk="0">
                        <a:lnSpc>
                          <a:spcPct val="90000"/>
                        </a:lnSpc>
                        <a:spcBef>
                          <a:spcPts val="0"/>
                        </a:spcBef>
                        <a:spcAft>
                          <a:spcPts val="0"/>
                        </a:spcAft>
                      </a:pPr>
                      <a:r>
                        <a:rPr lang="zh-CN" sz="1800" spc="20">
                          <a:effectLst/>
                          <a:latin typeface="+mn-lt"/>
                          <a:ea typeface="SimHei" panose="02010609060101010101" pitchFamily="49" charset="-122"/>
                        </a:rPr>
                        <a:t>防腐剂</a:t>
                      </a:r>
                      <a:endParaRPr lang="en-US" sz="1800">
                        <a:solidFill>
                          <a:srgbClr val="000000"/>
                        </a:solidFill>
                        <a:effectLst/>
                        <a:latin typeface="+mn-lt"/>
                        <a:ea typeface="SimHei" panose="02010609060101010101" pitchFamily="49" charset="-122"/>
                      </a:endParaRPr>
                    </a:p>
                  </a:txBody>
                  <a:tcPr marL="0" marR="0" marT="0" marB="0"/>
                </a:tc>
                <a:tc>
                  <a:txBody>
                    <a:bodyPr/>
                    <a:lstStyle/>
                    <a:p>
                      <a:pPr marL="358775" marR="0" eaLnBrk="0">
                        <a:lnSpc>
                          <a:spcPts val="2000"/>
                        </a:lnSpc>
                        <a:spcBef>
                          <a:spcPts val="670"/>
                        </a:spcBef>
                        <a:spcAft>
                          <a:spcPts val="0"/>
                        </a:spcAft>
                      </a:pPr>
                      <a:r>
                        <a:rPr lang="en-US" sz="1800" spc="-15">
                          <a:effectLst/>
                          <a:latin typeface="+mn-lt"/>
                          <a:ea typeface="SimHei" panose="02010609060101010101" pitchFamily="49" charset="-122"/>
                        </a:rPr>
                        <a:t>3.5</a:t>
                      </a:r>
                      <a:endParaRPr lang="en-US" sz="1800">
                        <a:effectLst/>
                        <a:latin typeface="+mn-lt"/>
                        <a:ea typeface="SimHei" panose="02010609060101010101" pitchFamily="49" charset="-122"/>
                      </a:endParaRPr>
                    </a:p>
                    <a:p>
                      <a:pPr marL="358775" marR="0" eaLnBrk="0">
                        <a:lnSpc>
                          <a:spcPct val="76000"/>
                        </a:lnSpc>
                        <a:spcBef>
                          <a:spcPts val="0"/>
                        </a:spcBef>
                        <a:spcAft>
                          <a:spcPts val="0"/>
                        </a:spcAft>
                      </a:pPr>
                      <a:r>
                        <a:rPr lang="en-US" sz="1800" spc="-15">
                          <a:effectLst/>
                          <a:latin typeface="+mn-lt"/>
                          <a:ea typeface="SimHei" panose="02010609060101010101" pitchFamily="49" charset="-122"/>
                        </a:rPr>
                        <a:t>3.0</a:t>
                      </a:r>
                      <a:endParaRPr lang="en-US" sz="1800">
                        <a:effectLst/>
                        <a:latin typeface="+mn-lt"/>
                        <a:ea typeface="SimHei" panose="02010609060101010101" pitchFamily="49" charset="-122"/>
                      </a:endParaRPr>
                    </a:p>
                    <a:p>
                      <a:pPr marL="358775" marR="0" eaLnBrk="0">
                        <a:lnSpc>
                          <a:spcPct val="76000"/>
                        </a:lnSpc>
                        <a:spcBef>
                          <a:spcPts val="850"/>
                        </a:spcBef>
                        <a:spcAft>
                          <a:spcPts val="0"/>
                        </a:spcAft>
                      </a:pPr>
                      <a:r>
                        <a:rPr lang="en-US" sz="1800" spc="-30">
                          <a:effectLst/>
                          <a:latin typeface="+mn-lt"/>
                          <a:ea typeface="SimHei" panose="02010609060101010101" pitchFamily="49" charset="-122"/>
                        </a:rPr>
                        <a:t>1.0</a:t>
                      </a:r>
                      <a:endParaRPr lang="en-US" sz="1800">
                        <a:effectLst/>
                        <a:latin typeface="+mn-lt"/>
                        <a:ea typeface="SimHei" panose="02010609060101010101" pitchFamily="49" charset="-122"/>
                      </a:endParaRPr>
                    </a:p>
                    <a:p>
                      <a:pPr marL="326390" marR="0" eaLnBrk="0">
                        <a:lnSpc>
                          <a:spcPct val="93000"/>
                        </a:lnSpc>
                        <a:spcBef>
                          <a:spcPts val="670"/>
                        </a:spcBef>
                        <a:spcAft>
                          <a:spcPts val="0"/>
                        </a:spcAft>
                      </a:pPr>
                      <a:r>
                        <a:rPr lang="zh-CN" sz="1800" spc="-15">
                          <a:effectLst/>
                          <a:latin typeface="+mn-lt"/>
                          <a:ea typeface="SimHei" panose="02010609060101010101" pitchFamily="49" charset="-122"/>
                        </a:rPr>
                        <a:t>适量</a:t>
                      </a:r>
                      <a:endParaRPr lang="en-US" sz="1800">
                        <a:solidFill>
                          <a:srgbClr val="000000"/>
                        </a:solidFill>
                        <a:effectLst/>
                        <a:latin typeface="+mn-lt"/>
                        <a:ea typeface="SimHei" panose="02010609060101010101" pitchFamily="49" charset="-122"/>
                      </a:endParaRPr>
                    </a:p>
                  </a:txBody>
                  <a:tcPr marL="0" marR="0" marT="0" marB="0"/>
                </a:tc>
                <a:extLst>
                  <a:ext uri="{0D108BD9-81ED-4DB2-BD59-A6C34878D82A}">
                    <a16:rowId xmlns:a16="http://schemas.microsoft.com/office/drawing/2014/main" val="2914309218"/>
                  </a:ext>
                </a:extLst>
              </a:tr>
              <a:tr h="26860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54940" marR="0" eaLnBrk="0">
                        <a:lnSpc>
                          <a:spcPct val="92000"/>
                        </a:lnSpc>
                        <a:spcBef>
                          <a:spcPts val="600"/>
                        </a:spcBef>
                        <a:spcAft>
                          <a:spcPts val="0"/>
                        </a:spcAft>
                      </a:pPr>
                      <a:r>
                        <a:rPr lang="en-US" sz="1800" b="1" spc="55" dirty="0">
                          <a:effectLst/>
                          <a:latin typeface="+mn-lt"/>
                          <a:ea typeface="SimHei" panose="02010609060101010101" pitchFamily="49" charset="-122"/>
                        </a:rPr>
                        <a:t>C</a:t>
                      </a:r>
                      <a:r>
                        <a:rPr lang="zh-CN" sz="1800" b="1" spc="55" dirty="0">
                          <a:effectLst/>
                          <a:latin typeface="+mn-lt"/>
                          <a:ea typeface="SimHei" panose="02010609060101010101" pitchFamily="49" charset="-122"/>
                        </a:rPr>
                        <a:t>相</a:t>
                      </a:r>
                      <a:endParaRPr lang="en-US" sz="1800" b="1" dirty="0">
                        <a:solidFill>
                          <a:srgbClr val="000000"/>
                        </a:solidFill>
                        <a:effectLst/>
                        <a:latin typeface="+mn-lt"/>
                        <a:ea typeface="SimHei" panose="02010609060101010101" pitchFamily="49" charset="-122"/>
                      </a:endParaRPr>
                    </a:p>
                  </a:txBody>
                  <a:tcPr marL="0" marR="0" marT="0" marB="0"/>
                </a:tc>
                <a:tc>
                  <a:txBody>
                    <a:bodyPr/>
                    <a:lstStyle/>
                    <a:p>
                      <a:pPr marL="123825" marR="0" eaLnBrk="0">
                        <a:lnSpc>
                          <a:spcPct val="91000"/>
                        </a:lnSpc>
                        <a:spcBef>
                          <a:spcPts val="580"/>
                        </a:spcBef>
                        <a:spcAft>
                          <a:spcPts val="0"/>
                        </a:spcAft>
                      </a:pPr>
                      <a:r>
                        <a:rPr lang="zh-CN" sz="1800" spc="25">
                          <a:effectLst/>
                          <a:latin typeface="+mn-lt"/>
                          <a:ea typeface="SimHei" panose="02010609060101010101" pitchFamily="49" charset="-122"/>
                        </a:rPr>
                        <a:t>香精</a:t>
                      </a:r>
                      <a:endParaRPr lang="en-US" sz="1800">
                        <a:solidFill>
                          <a:srgbClr val="000000"/>
                        </a:solidFill>
                        <a:effectLst/>
                        <a:latin typeface="+mn-lt"/>
                        <a:ea typeface="SimHei" panose="02010609060101010101" pitchFamily="49" charset="-122"/>
                      </a:endParaRPr>
                    </a:p>
                  </a:txBody>
                  <a:tcPr marL="0" marR="0" marT="0" marB="0"/>
                </a:tc>
                <a:tc>
                  <a:txBody>
                    <a:bodyPr/>
                    <a:lstStyle/>
                    <a:p>
                      <a:pPr marL="326390" marR="0" eaLnBrk="0">
                        <a:lnSpc>
                          <a:spcPct val="93000"/>
                        </a:lnSpc>
                        <a:spcBef>
                          <a:spcPts val="620"/>
                        </a:spcBef>
                        <a:spcAft>
                          <a:spcPts val="0"/>
                        </a:spcAft>
                      </a:pPr>
                      <a:r>
                        <a:rPr lang="zh-CN" sz="1800" spc="-15" dirty="0">
                          <a:effectLst/>
                          <a:latin typeface="+mn-lt"/>
                          <a:ea typeface="SimHei" panose="02010609060101010101" pitchFamily="49" charset="-122"/>
                        </a:rPr>
                        <a:t>适量</a:t>
                      </a:r>
                      <a:endParaRPr lang="en-US" sz="1800" dirty="0">
                        <a:solidFill>
                          <a:srgbClr val="000000"/>
                        </a:solidFill>
                        <a:effectLst/>
                        <a:latin typeface="+mn-lt"/>
                        <a:ea typeface="SimHei" panose="02010609060101010101" pitchFamily="49" charset="-122"/>
                      </a:endParaRPr>
                    </a:p>
                  </a:txBody>
                  <a:tcPr marL="0" marR="0" marT="0" marB="0"/>
                </a:tc>
                <a:extLst>
                  <a:ext uri="{0D108BD9-81ED-4DB2-BD59-A6C34878D82A}">
                    <a16:rowId xmlns:a16="http://schemas.microsoft.com/office/drawing/2014/main" val="1454261507"/>
                  </a:ext>
                </a:extLst>
              </a:tr>
            </a:tbl>
          </a:graphicData>
        </a:graphic>
      </p:graphicFrame>
    </p:spTree>
    <p:extLst>
      <p:ext uri="{BB962C8B-B14F-4D97-AF65-F5344CB8AC3E}">
        <p14:creationId xmlns:p14="http://schemas.microsoft.com/office/powerpoint/2010/main" val="1012884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粉饼型眼影的配方及工艺示例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5319418"/>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粉饼型眼影和一般粉饼的组成接近，制造工艺也相同</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30B39298-B3DF-D56A-CEC6-C2EE8700901D}"/>
              </a:ext>
            </a:extLst>
          </p:cNvPr>
          <p:cNvGraphicFramePr>
            <a:graphicFrameLocks noGrp="1"/>
          </p:cNvGraphicFramePr>
          <p:nvPr>
            <p:extLst>
              <p:ext uri="{D42A27DB-BD31-4B8C-83A1-F6EECF244321}">
                <p14:modId xmlns:p14="http://schemas.microsoft.com/office/powerpoint/2010/main" val="1457754202"/>
              </p:ext>
            </p:extLst>
          </p:nvPr>
        </p:nvGraphicFramePr>
        <p:xfrm>
          <a:off x="182880" y="1165614"/>
          <a:ext cx="8778240" cy="2359660"/>
        </p:xfrm>
        <a:graphic>
          <a:graphicData uri="http://schemas.openxmlformats.org/drawingml/2006/table">
            <a:tbl>
              <a:tblPr firstRow="1" firstCol="1" bandRow="1">
                <a:tableStyleId>{72833802-FEF1-4C79-8D5D-14CF1EAF98D9}</a:tableStyleId>
              </a:tblPr>
              <a:tblGrid>
                <a:gridCol w="866869">
                  <a:extLst>
                    <a:ext uri="{9D8B030D-6E8A-4147-A177-3AD203B41FA5}">
                      <a16:colId xmlns:a16="http://schemas.microsoft.com/office/drawing/2014/main" val="1992917394"/>
                    </a:ext>
                  </a:extLst>
                </a:gridCol>
                <a:gridCol w="1735207">
                  <a:extLst>
                    <a:ext uri="{9D8B030D-6E8A-4147-A177-3AD203B41FA5}">
                      <a16:colId xmlns:a16="http://schemas.microsoft.com/office/drawing/2014/main" val="4271468798"/>
                    </a:ext>
                  </a:extLst>
                </a:gridCol>
                <a:gridCol w="1330817">
                  <a:extLst>
                    <a:ext uri="{9D8B030D-6E8A-4147-A177-3AD203B41FA5}">
                      <a16:colId xmlns:a16="http://schemas.microsoft.com/office/drawing/2014/main" val="2799706175"/>
                    </a:ext>
                  </a:extLst>
                </a:gridCol>
                <a:gridCol w="1816086">
                  <a:extLst>
                    <a:ext uri="{9D8B030D-6E8A-4147-A177-3AD203B41FA5}">
                      <a16:colId xmlns:a16="http://schemas.microsoft.com/office/drawing/2014/main" val="3477035133"/>
                    </a:ext>
                  </a:extLst>
                </a:gridCol>
                <a:gridCol w="1816086">
                  <a:extLst>
                    <a:ext uri="{9D8B030D-6E8A-4147-A177-3AD203B41FA5}">
                      <a16:colId xmlns:a16="http://schemas.microsoft.com/office/drawing/2014/main" val="273248629"/>
                    </a:ext>
                  </a:extLst>
                </a:gridCol>
                <a:gridCol w="1213175">
                  <a:extLst>
                    <a:ext uri="{9D8B030D-6E8A-4147-A177-3AD203B41FA5}">
                      <a16:colId xmlns:a16="http://schemas.microsoft.com/office/drawing/2014/main" val="187968959"/>
                    </a:ext>
                  </a:extLst>
                </a:gridCol>
              </a:tblGrid>
              <a:tr h="262255">
                <a:tc>
                  <a:txBody>
                    <a:bodyPr/>
                    <a:lstStyle/>
                    <a:p>
                      <a:pPr marL="196850" marR="0" eaLnBrk="0">
                        <a:lnSpc>
                          <a:spcPct val="92000"/>
                        </a:lnSpc>
                        <a:spcBef>
                          <a:spcPts val="530"/>
                        </a:spcBef>
                        <a:spcAft>
                          <a:spcPts val="0"/>
                        </a:spcAft>
                      </a:pPr>
                      <a:r>
                        <a:rPr lang="zh-CN" sz="1800" spc="40">
                          <a:effectLst/>
                          <a:latin typeface="+mn-lt"/>
                          <a:ea typeface="SimHei" panose="02010609060101010101" pitchFamily="49" charset="-122"/>
                        </a:rPr>
                        <a:t>组相</a:t>
                      </a:r>
                      <a:endParaRPr lang="en-US" sz="1800">
                        <a:solidFill>
                          <a:srgbClr val="000000"/>
                        </a:solidFill>
                        <a:effectLst/>
                        <a:latin typeface="+mn-lt"/>
                        <a:ea typeface="SimHei" panose="02010609060101010101" pitchFamily="49" charset="-122"/>
                      </a:endParaRPr>
                    </a:p>
                  </a:txBody>
                  <a:tcPr marL="0" marR="0" marT="0" marB="0"/>
                </a:tc>
                <a:tc>
                  <a:txBody>
                    <a:bodyPr/>
                    <a:lstStyle/>
                    <a:p>
                      <a:pPr marL="466725" marR="0" eaLnBrk="0">
                        <a:lnSpc>
                          <a:spcPct val="91000"/>
                        </a:lnSpc>
                        <a:spcBef>
                          <a:spcPts val="520"/>
                        </a:spcBef>
                        <a:spcAft>
                          <a:spcPts val="0"/>
                        </a:spcAft>
                      </a:pPr>
                      <a:r>
                        <a:rPr lang="zh-CN" sz="1800" spc="10">
                          <a:effectLst/>
                          <a:latin typeface="+mn-lt"/>
                          <a:ea typeface="SimHei" panose="02010609060101010101" pitchFamily="49" charset="-122"/>
                        </a:rPr>
                        <a:t>原料名称</a:t>
                      </a:r>
                      <a:endParaRPr lang="en-US" sz="1800">
                        <a:solidFill>
                          <a:srgbClr val="000000"/>
                        </a:solidFill>
                        <a:effectLst/>
                        <a:latin typeface="+mn-lt"/>
                        <a:ea typeface="SimHei" panose="02010609060101010101" pitchFamily="49" charset="-122"/>
                      </a:endParaRPr>
                    </a:p>
                  </a:txBody>
                  <a:tcPr marL="0" marR="0" marT="0" marB="0"/>
                </a:tc>
                <a:tc>
                  <a:txBody>
                    <a:bodyPr/>
                    <a:lstStyle/>
                    <a:p>
                      <a:pPr marL="219075" marR="0" eaLnBrk="0">
                        <a:lnSpc>
                          <a:spcPct val="91000"/>
                        </a:lnSpc>
                        <a:spcBef>
                          <a:spcPts val="520"/>
                        </a:spcBef>
                        <a:spcAft>
                          <a:spcPts val="0"/>
                        </a:spcAft>
                      </a:pPr>
                      <a:r>
                        <a:rPr lang="zh-CN" sz="1800" spc="-10">
                          <a:effectLst/>
                          <a:latin typeface="+mn-lt"/>
                          <a:ea typeface="SimHei" panose="02010609060101010101" pitchFamily="49" charset="-122"/>
                        </a:rPr>
                        <a:t>质量分数</a:t>
                      </a:r>
                      <a:r>
                        <a:rPr lang="en-US" sz="1800" spc="-10">
                          <a:effectLst/>
                          <a:latin typeface="+mn-lt"/>
                          <a:ea typeface="SimHei" panose="02010609060101010101" pitchFamily="49" charset="-122"/>
                        </a:rPr>
                        <a:t>/%</a:t>
                      </a:r>
                      <a:endParaRPr lang="en-US" sz="1800">
                        <a:solidFill>
                          <a:srgbClr val="000000"/>
                        </a:solidFill>
                        <a:effectLst/>
                        <a:latin typeface="+mn-lt"/>
                        <a:ea typeface="SimHei" panose="02010609060101010101" pitchFamily="49" charset="-122"/>
                      </a:endParaRPr>
                    </a:p>
                  </a:txBody>
                  <a:tcPr marL="0" marR="0" marT="0" marB="0"/>
                </a:tc>
                <a:tc>
                  <a:txBody>
                    <a:bodyPr/>
                    <a:lstStyle/>
                    <a:p>
                      <a:pPr marL="231775" marR="0" eaLnBrk="0">
                        <a:lnSpc>
                          <a:spcPct val="92000"/>
                        </a:lnSpc>
                        <a:spcBef>
                          <a:spcPts val="530"/>
                        </a:spcBef>
                        <a:spcAft>
                          <a:spcPts val="0"/>
                        </a:spcAft>
                      </a:pPr>
                      <a:r>
                        <a:rPr lang="zh-CN" sz="1800" spc="40">
                          <a:effectLst/>
                          <a:latin typeface="+mn-lt"/>
                          <a:ea typeface="SimHei" panose="02010609060101010101" pitchFamily="49" charset="-122"/>
                        </a:rPr>
                        <a:t>组相</a:t>
                      </a:r>
                      <a:endParaRPr lang="en-US" sz="1800">
                        <a:solidFill>
                          <a:srgbClr val="000000"/>
                        </a:solidFill>
                        <a:effectLst/>
                        <a:latin typeface="+mn-lt"/>
                        <a:ea typeface="SimHei" panose="02010609060101010101" pitchFamily="49" charset="-122"/>
                      </a:endParaRPr>
                    </a:p>
                  </a:txBody>
                  <a:tcPr marL="0" marR="0" marT="0" marB="0"/>
                </a:tc>
                <a:tc>
                  <a:txBody>
                    <a:bodyPr/>
                    <a:lstStyle/>
                    <a:p>
                      <a:pPr marL="492760" marR="0" eaLnBrk="0">
                        <a:lnSpc>
                          <a:spcPct val="91000"/>
                        </a:lnSpc>
                        <a:spcBef>
                          <a:spcPts val="520"/>
                        </a:spcBef>
                        <a:spcAft>
                          <a:spcPts val="0"/>
                        </a:spcAft>
                      </a:pPr>
                      <a:r>
                        <a:rPr lang="zh-CN" sz="1800" spc="10">
                          <a:effectLst/>
                          <a:latin typeface="+mn-lt"/>
                          <a:ea typeface="SimHei" panose="02010609060101010101" pitchFamily="49" charset="-122"/>
                        </a:rPr>
                        <a:t>原料名称</a:t>
                      </a:r>
                      <a:endParaRPr lang="en-US" sz="1800">
                        <a:solidFill>
                          <a:srgbClr val="000000"/>
                        </a:solidFill>
                        <a:effectLst/>
                        <a:latin typeface="+mn-lt"/>
                        <a:ea typeface="SimHei" panose="02010609060101010101" pitchFamily="49" charset="-122"/>
                      </a:endParaRPr>
                    </a:p>
                  </a:txBody>
                  <a:tcPr marL="0" marR="0" marT="0" marB="0"/>
                </a:tc>
                <a:tc>
                  <a:txBody>
                    <a:bodyPr/>
                    <a:lstStyle/>
                    <a:p>
                      <a:pPr marL="168910" marR="0" eaLnBrk="0">
                        <a:lnSpc>
                          <a:spcPct val="91000"/>
                        </a:lnSpc>
                        <a:spcBef>
                          <a:spcPts val="520"/>
                        </a:spcBef>
                        <a:spcAft>
                          <a:spcPts val="0"/>
                        </a:spcAft>
                      </a:pPr>
                      <a:r>
                        <a:rPr lang="zh-CN" sz="1800" spc="-10">
                          <a:effectLst/>
                          <a:latin typeface="+mn-lt"/>
                          <a:ea typeface="SimHei" panose="02010609060101010101" pitchFamily="49" charset="-122"/>
                        </a:rPr>
                        <a:t>质量分数</a:t>
                      </a:r>
                      <a:r>
                        <a:rPr lang="en-US" sz="1800" spc="-10">
                          <a:effectLst/>
                          <a:latin typeface="+mn-lt"/>
                          <a:ea typeface="SimHei" panose="02010609060101010101" pitchFamily="49" charset="-122"/>
                        </a:rPr>
                        <a:t>/%</a:t>
                      </a:r>
                      <a:endParaRPr lang="en-US" sz="1800">
                        <a:solidFill>
                          <a:srgbClr val="000000"/>
                        </a:solidFill>
                        <a:effectLst/>
                        <a:latin typeface="+mn-lt"/>
                        <a:ea typeface="SimHei" panose="02010609060101010101" pitchFamily="49" charset="-122"/>
                      </a:endParaRPr>
                    </a:p>
                  </a:txBody>
                  <a:tcPr marL="0" marR="0" marT="0" marB="0"/>
                </a:tc>
                <a:extLst>
                  <a:ext uri="{0D108BD9-81ED-4DB2-BD59-A6C34878D82A}">
                    <a16:rowId xmlns:a16="http://schemas.microsoft.com/office/drawing/2014/main" val="3688381273"/>
                  </a:ext>
                </a:extLst>
              </a:tr>
              <a:tr h="993140">
                <a:tc rowSpan="2">
                  <a:txBody>
                    <a:bodyPr/>
                    <a:lstStyle/>
                    <a:p>
                      <a:pPr marL="0" marR="0" eaLnBrk="0">
                        <a:lnSpc>
                          <a:spcPct val="104000"/>
                        </a:lnSpc>
                        <a:spcBef>
                          <a:spcPts val="0"/>
                        </a:spcBef>
                        <a:spcAft>
                          <a:spcPts val="0"/>
                        </a:spcAft>
                      </a:pPr>
                      <a:r>
                        <a:rPr lang="en-US" sz="1800" dirty="0">
                          <a:effectLst/>
                          <a:latin typeface="+mn-lt"/>
                          <a:ea typeface="SimHei" panose="02010609060101010101" pitchFamily="49" charset="-122"/>
                        </a:rPr>
                        <a:t> </a:t>
                      </a:r>
                    </a:p>
                    <a:p>
                      <a:pPr marL="0" marR="0" eaLnBrk="0">
                        <a:lnSpc>
                          <a:spcPct val="104000"/>
                        </a:lnSpc>
                        <a:spcBef>
                          <a:spcPts val="0"/>
                        </a:spcBef>
                        <a:spcAft>
                          <a:spcPts val="0"/>
                        </a:spcAft>
                      </a:pPr>
                      <a:r>
                        <a:rPr lang="en-US" sz="1800" dirty="0">
                          <a:effectLst/>
                          <a:latin typeface="+mn-lt"/>
                          <a:ea typeface="SimHei" panose="02010609060101010101" pitchFamily="49" charset="-122"/>
                        </a:rPr>
                        <a:t> </a:t>
                      </a:r>
                    </a:p>
                    <a:p>
                      <a:pPr marL="0" marR="0" eaLnBrk="0">
                        <a:lnSpc>
                          <a:spcPct val="105000"/>
                        </a:lnSpc>
                        <a:spcBef>
                          <a:spcPts val="0"/>
                        </a:spcBef>
                        <a:spcAft>
                          <a:spcPts val="0"/>
                        </a:spcAft>
                      </a:pPr>
                      <a:r>
                        <a:rPr lang="en-US" sz="1800" dirty="0">
                          <a:effectLst/>
                          <a:latin typeface="+mn-lt"/>
                          <a:ea typeface="SimHei" panose="02010609060101010101" pitchFamily="49" charset="-122"/>
                        </a:rPr>
                        <a:t> </a:t>
                      </a:r>
                    </a:p>
                    <a:p>
                      <a:pPr marL="0" marR="0" eaLnBrk="0">
                        <a:lnSpc>
                          <a:spcPct val="105000"/>
                        </a:lnSpc>
                        <a:spcBef>
                          <a:spcPts val="0"/>
                        </a:spcBef>
                        <a:spcAft>
                          <a:spcPts val="0"/>
                        </a:spcAft>
                      </a:pPr>
                      <a:r>
                        <a:rPr lang="en-US" sz="1800" dirty="0">
                          <a:effectLst/>
                          <a:latin typeface="+mn-lt"/>
                          <a:ea typeface="SimHei" panose="02010609060101010101" pitchFamily="49" charset="-122"/>
                        </a:rPr>
                        <a:t> </a:t>
                      </a:r>
                    </a:p>
                    <a:p>
                      <a:pPr marL="227965" marR="0" eaLnBrk="0">
                        <a:lnSpc>
                          <a:spcPct val="92000"/>
                        </a:lnSpc>
                        <a:spcBef>
                          <a:spcPts val="355"/>
                        </a:spcBef>
                        <a:spcAft>
                          <a:spcPts val="0"/>
                        </a:spcAft>
                      </a:pPr>
                      <a:r>
                        <a:rPr lang="en-US" sz="1800" spc="-5" dirty="0">
                          <a:effectLst/>
                          <a:latin typeface="+mn-lt"/>
                          <a:ea typeface="SimHei" panose="02010609060101010101" pitchFamily="49" charset="-122"/>
                        </a:rPr>
                        <a:t>A</a:t>
                      </a:r>
                      <a:r>
                        <a:rPr lang="zh-CN" sz="1800" spc="-5" dirty="0">
                          <a:effectLst/>
                          <a:latin typeface="+mn-lt"/>
                          <a:ea typeface="SimHei" panose="02010609060101010101" pitchFamily="49" charset="-122"/>
                        </a:rPr>
                        <a:t>相</a:t>
                      </a:r>
                      <a:endParaRPr lang="en-US" sz="1800" dirty="0">
                        <a:solidFill>
                          <a:srgbClr val="000000"/>
                        </a:solidFill>
                        <a:effectLst/>
                        <a:latin typeface="+mn-lt"/>
                        <a:ea typeface="SimHei" panose="02010609060101010101" pitchFamily="49" charset="-122"/>
                      </a:endParaRPr>
                    </a:p>
                  </a:txBody>
                  <a:tcPr marL="0" marR="0" marT="0" marB="0"/>
                </a:tc>
                <a:tc rowSpan="2">
                  <a:txBody>
                    <a:bodyPr/>
                    <a:lstStyle/>
                    <a:p>
                      <a:pPr marL="92075" marR="0" eaLnBrk="0">
                        <a:lnSpc>
                          <a:spcPct val="91000"/>
                        </a:lnSpc>
                        <a:spcBef>
                          <a:spcPts val="455"/>
                        </a:spcBef>
                        <a:spcAft>
                          <a:spcPts val="0"/>
                        </a:spcAft>
                      </a:pPr>
                      <a:r>
                        <a:rPr lang="zh-CN" sz="1800" spc="-10" dirty="0">
                          <a:effectLst/>
                          <a:latin typeface="+mn-lt"/>
                          <a:ea typeface="SimHei" panose="02010609060101010101" pitchFamily="49" charset="-122"/>
                        </a:rPr>
                        <a:t>滑石粉</a:t>
                      </a:r>
                      <a:endParaRPr lang="en-US" sz="1800" dirty="0">
                        <a:effectLst/>
                        <a:latin typeface="+mn-lt"/>
                        <a:ea typeface="SimHei" panose="02010609060101010101" pitchFamily="49" charset="-122"/>
                      </a:endParaRPr>
                    </a:p>
                    <a:p>
                      <a:pPr marL="92075" marR="0" eaLnBrk="0">
                        <a:lnSpc>
                          <a:spcPct val="91000"/>
                        </a:lnSpc>
                        <a:spcBef>
                          <a:spcPts val="685"/>
                        </a:spcBef>
                        <a:spcAft>
                          <a:spcPts val="0"/>
                        </a:spcAft>
                      </a:pPr>
                      <a:r>
                        <a:rPr lang="zh-CN" sz="1800" spc="25" dirty="0">
                          <a:effectLst/>
                          <a:latin typeface="+mn-lt"/>
                          <a:ea typeface="SimHei" panose="02010609060101010101" pitchFamily="49" charset="-122"/>
                        </a:rPr>
                        <a:t>氮化硼</a:t>
                      </a:r>
                      <a:endParaRPr lang="en-US" sz="1800" dirty="0">
                        <a:effectLst/>
                        <a:latin typeface="+mn-lt"/>
                        <a:ea typeface="SimHei" panose="02010609060101010101" pitchFamily="49" charset="-122"/>
                      </a:endParaRPr>
                    </a:p>
                    <a:p>
                      <a:pPr marL="92075" marR="0" eaLnBrk="0">
                        <a:lnSpc>
                          <a:spcPts val="2165"/>
                        </a:lnSpc>
                        <a:spcBef>
                          <a:spcPts val="450"/>
                        </a:spcBef>
                        <a:spcAft>
                          <a:spcPts val="0"/>
                        </a:spcAft>
                      </a:pPr>
                      <a:r>
                        <a:rPr lang="zh-CN" sz="1800" spc="5" dirty="0">
                          <a:effectLst/>
                          <a:latin typeface="+mn-lt"/>
                          <a:ea typeface="SimHei" panose="02010609060101010101" pitchFamily="49" charset="-122"/>
                        </a:rPr>
                        <a:t>肉豆蔻酸镁</a:t>
                      </a:r>
                      <a:endParaRPr lang="en-US" sz="1800" dirty="0">
                        <a:effectLst/>
                        <a:latin typeface="+mn-lt"/>
                        <a:ea typeface="SimHei" panose="02010609060101010101" pitchFamily="49" charset="-122"/>
                      </a:endParaRPr>
                    </a:p>
                    <a:p>
                      <a:pPr marL="92075" marR="0" eaLnBrk="0">
                        <a:lnSpc>
                          <a:spcPct val="92000"/>
                        </a:lnSpc>
                        <a:spcBef>
                          <a:spcPts val="0"/>
                        </a:spcBef>
                        <a:spcAft>
                          <a:spcPts val="0"/>
                        </a:spcAft>
                      </a:pPr>
                      <a:r>
                        <a:rPr lang="zh-CN" sz="1800" spc="-10" dirty="0">
                          <a:effectLst/>
                          <a:latin typeface="+mn-lt"/>
                          <a:ea typeface="SimHei" panose="02010609060101010101" pitchFamily="49" charset="-122"/>
                        </a:rPr>
                        <a:t>硅石</a:t>
                      </a:r>
                      <a:endParaRPr lang="en-US" sz="1800" dirty="0">
                        <a:effectLst/>
                        <a:latin typeface="+mn-lt"/>
                        <a:ea typeface="SimHei" panose="02010609060101010101" pitchFamily="49" charset="-122"/>
                      </a:endParaRPr>
                    </a:p>
                    <a:p>
                      <a:pPr marL="92075" marR="0" eaLnBrk="0">
                        <a:lnSpc>
                          <a:spcPct val="91000"/>
                        </a:lnSpc>
                        <a:spcBef>
                          <a:spcPts val="710"/>
                        </a:spcBef>
                        <a:spcAft>
                          <a:spcPts val="0"/>
                        </a:spcAft>
                      </a:pPr>
                      <a:r>
                        <a:rPr lang="zh-CN" sz="1800" spc="-10" dirty="0">
                          <a:solidFill>
                            <a:srgbClr val="FF0000"/>
                          </a:solidFill>
                          <a:effectLst/>
                          <a:latin typeface="+mn-lt"/>
                          <a:ea typeface="SimHei" panose="02010609060101010101" pitchFamily="49" charset="-122"/>
                        </a:rPr>
                        <a:t>颜料</a:t>
                      </a:r>
                      <a:endParaRPr lang="en-US" sz="1800" dirty="0">
                        <a:solidFill>
                          <a:srgbClr val="FF0000"/>
                        </a:solidFill>
                        <a:effectLst/>
                        <a:latin typeface="+mn-lt"/>
                        <a:ea typeface="SimHei" panose="02010609060101010101" pitchFamily="49" charset="-122"/>
                      </a:endParaRPr>
                    </a:p>
                    <a:p>
                      <a:pPr marL="92075" marR="0" eaLnBrk="0">
                        <a:lnSpc>
                          <a:spcPct val="91000"/>
                        </a:lnSpc>
                        <a:spcBef>
                          <a:spcPts val="685"/>
                        </a:spcBef>
                        <a:spcAft>
                          <a:spcPts val="0"/>
                        </a:spcAft>
                      </a:pPr>
                      <a:r>
                        <a:rPr lang="zh-CN" sz="1800" spc="-10" dirty="0">
                          <a:solidFill>
                            <a:srgbClr val="FF0000"/>
                          </a:solidFill>
                          <a:effectLst/>
                          <a:latin typeface="+mn-lt"/>
                          <a:ea typeface="SimHei" panose="02010609060101010101" pitchFamily="49" charset="-122"/>
                        </a:rPr>
                        <a:t>珠光颜料</a:t>
                      </a:r>
                      <a:endParaRPr lang="en-US" sz="1800" dirty="0">
                        <a:solidFill>
                          <a:srgbClr val="FF0000"/>
                        </a:solidFill>
                        <a:effectLst/>
                        <a:latin typeface="+mn-lt"/>
                        <a:ea typeface="SimHei" panose="02010609060101010101" pitchFamily="49" charset="-122"/>
                      </a:endParaRPr>
                    </a:p>
                  </a:txBody>
                  <a:tcPr marL="0" marR="0" marT="0" marB="0"/>
                </a:tc>
                <a:tc rowSpan="2">
                  <a:txBody>
                    <a:bodyPr/>
                    <a:lstStyle/>
                    <a:p>
                      <a:pPr marL="428625" marR="0" eaLnBrk="0">
                        <a:lnSpc>
                          <a:spcPts val="2000"/>
                        </a:lnSpc>
                        <a:spcBef>
                          <a:spcPts val="680"/>
                        </a:spcBef>
                        <a:spcAft>
                          <a:spcPts val="0"/>
                        </a:spcAft>
                      </a:pPr>
                      <a:r>
                        <a:rPr lang="en-US" sz="1800" spc="-15" dirty="0">
                          <a:effectLst/>
                          <a:latin typeface="+mn-lt"/>
                          <a:ea typeface="SimHei" panose="02010609060101010101" pitchFamily="49" charset="-122"/>
                        </a:rPr>
                        <a:t>31.0</a:t>
                      </a:r>
                      <a:endParaRPr lang="en-US" sz="1800" dirty="0">
                        <a:effectLst/>
                        <a:latin typeface="+mn-lt"/>
                        <a:ea typeface="SimHei" panose="02010609060101010101" pitchFamily="49" charset="-122"/>
                      </a:endParaRPr>
                    </a:p>
                    <a:p>
                      <a:pPr marL="428625" marR="0" eaLnBrk="0">
                        <a:lnSpc>
                          <a:spcPct val="76000"/>
                        </a:lnSpc>
                        <a:spcBef>
                          <a:spcPts val="0"/>
                        </a:spcBef>
                        <a:spcAft>
                          <a:spcPts val="0"/>
                        </a:spcAft>
                      </a:pPr>
                      <a:r>
                        <a:rPr lang="en-US" sz="1800" spc="-25" dirty="0">
                          <a:effectLst/>
                          <a:latin typeface="+mn-lt"/>
                          <a:ea typeface="SimHei" panose="02010609060101010101" pitchFamily="49" charset="-122"/>
                        </a:rPr>
                        <a:t>10.0</a:t>
                      </a:r>
                      <a:endParaRPr lang="en-US" sz="1800" dirty="0">
                        <a:effectLst/>
                        <a:latin typeface="+mn-lt"/>
                        <a:ea typeface="SimHei" panose="02010609060101010101" pitchFamily="49" charset="-122"/>
                      </a:endParaRPr>
                    </a:p>
                    <a:p>
                      <a:pPr marL="466725" marR="0" eaLnBrk="0">
                        <a:lnSpc>
                          <a:spcPct val="76000"/>
                        </a:lnSpc>
                        <a:spcBef>
                          <a:spcPts val="855"/>
                        </a:spcBef>
                        <a:spcAft>
                          <a:spcPts val="0"/>
                        </a:spcAft>
                      </a:pPr>
                      <a:r>
                        <a:rPr lang="en-US" sz="1800" spc="-15" dirty="0">
                          <a:effectLst/>
                          <a:latin typeface="+mn-lt"/>
                          <a:ea typeface="SimHei" panose="02010609060101010101" pitchFamily="49" charset="-122"/>
                        </a:rPr>
                        <a:t>3.0</a:t>
                      </a:r>
                      <a:endParaRPr lang="en-US" sz="1800" dirty="0">
                        <a:effectLst/>
                        <a:latin typeface="+mn-lt"/>
                        <a:ea typeface="SimHei" panose="02010609060101010101" pitchFamily="49" charset="-122"/>
                      </a:endParaRPr>
                    </a:p>
                    <a:p>
                      <a:pPr marL="466725" marR="0" eaLnBrk="0">
                        <a:lnSpc>
                          <a:spcPct val="76000"/>
                        </a:lnSpc>
                        <a:spcBef>
                          <a:spcPts val="910"/>
                        </a:spcBef>
                        <a:spcAft>
                          <a:spcPts val="0"/>
                        </a:spcAft>
                      </a:pPr>
                      <a:r>
                        <a:rPr lang="en-US" sz="1800" spc="-15" dirty="0">
                          <a:effectLst/>
                          <a:latin typeface="+mn-lt"/>
                          <a:ea typeface="SimHei" panose="02010609060101010101" pitchFamily="49" charset="-122"/>
                        </a:rPr>
                        <a:t>2.0</a:t>
                      </a:r>
                      <a:endParaRPr lang="en-US" sz="1800" dirty="0">
                        <a:effectLst/>
                        <a:latin typeface="+mn-lt"/>
                        <a:ea typeface="SimHei" panose="02010609060101010101" pitchFamily="49" charset="-122"/>
                      </a:endParaRPr>
                    </a:p>
                    <a:p>
                      <a:pPr marL="466725" marR="0" eaLnBrk="0">
                        <a:lnSpc>
                          <a:spcPct val="76000"/>
                        </a:lnSpc>
                        <a:spcBef>
                          <a:spcPts val="960"/>
                        </a:spcBef>
                        <a:spcAft>
                          <a:spcPts val="0"/>
                        </a:spcAft>
                      </a:pPr>
                      <a:r>
                        <a:rPr lang="en-US" sz="1800" spc="-15" dirty="0">
                          <a:effectLst/>
                          <a:latin typeface="+mn-lt"/>
                          <a:ea typeface="SimHei" panose="02010609060101010101" pitchFamily="49" charset="-122"/>
                        </a:rPr>
                        <a:t>5.0</a:t>
                      </a:r>
                      <a:endParaRPr lang="en-US" sz="1800" dirty="0">
                        <a:effectLst/>
                        <a:latin typeface="+mn-lt"/>
                        <a:ea typeface="SimHei" panose="02010609060101010101" pitchFamily="49" charset="-122"/>
                      </a:endParaRPr>
                    </a:p>
                    <a:p>
                      <a:pPr marL="428625" marR="0" eaLnBrk="0">
                        <a:lnSpc>
                          <a:spcPct val="76000"/>
                        </a:lnSpc>
                        <a:spcBef>
                          <a:spcPts val="860"/>
                        </a:spcBef>
                        <a:spcAft>
                          <a:spcPts val="0"/>
                        </a:spcAft>
                      </a:pPr>
                      <a:r>
                        <a:rPr lang="en-US" sz="1800" spc="-15" dirty="0">
                          <a:effectLst/>
                          <a:latin typeface="+mn-lt"/>
                          <a:ea typeface="SimHei" panose="02010609060101010101" pitchFamily="49" charset="-122"/>
                        </a:rPr>
                        <a:t>32.0</a:t>
                      </a:r>
                      <a:endParaRPr lang="en-US" sz="1800" dirty="0">
                        <a:solidFill>
                          <a:srgbClr val="000000"/>
                        </a:solidFill>
                        <a:effectLst/>
                        <a:latin typeface="+mn-lt"/>
                        <a:ea typeface="SimHei" panose="02010609060101010101" pitchFamily="49" charset="-122"/>
                      </a:endParaRPr>
                    </a:p>
                  </a:txBody>
                  <a:tcPr marL="0" marR="0" marT="0" marB="0"/>
                </a:tc>
                <a:tc>
                  <a:txBody>
                    <a:bodyPr/>
                    <a:lstStyle/>
                    <a:p>
                      <a:pPr marL="0" marR="0" eaLnBrk="0">
                        <a:lnSpc>
                          <a:spcPct val="126000"/>
                        </a:lnSpc>
                        <a:spcBef>
                          <a:spcPts val="0"/>
                        </a:spcBef>
                        <a:spcAft>
                          <a:spcPts val="0"/>
                        </a:spcAft>
                      </a:pPr>
                      <a:r>
                        <a:rPr lang="en-US" sz="1800" b="1" dirty="0">
                          <a:effectLst/>
                          <a:latin typeface="+mn-lt"/>
                          <a:ea typeface="SimHei" panose="02010609060101010101" pitchFamily="49" charset="-122"/>
                        </a:rPr>
                        <a:t> </a:t>
                      </a:r>
                    </a:p>
                    <a:p>
                      <a:pPr marL="0" marR="0" eaLnBrk="0">
                        <a:lnSpc>
                          <a:spcPct val="126000"/>
                        </a:lnSpc>
                        <a:spcBef>
                          <a:spcPts val="0"/>
                        </a:spcBef>
                        <a:spcAft>
                          <a:spcPts val="0"/>
                        </a:spcAft>
                      </a:pPr>
                      <a:r>
                        <a:rPr lang="en-US" sz="1800" b="1" dirty="0">
                          <a:effectLst/>
                          <a:latin typeface="+mn-lt"/>
                          <a:ea typeface="SimHei" panose="02010609060101010101" pitchFamily="49" charset="-122"/>
                        </a:rPr>
                        <a:t> </a:t>
                      </a:r>
                    </a:p>
                    <a:p>
                      <a:pPr marL="262890" marR="0" eaLnBrk="0">
                        <a:lnSpc>
                          <a:spcPct val="92000"/>
                        </a:lnSpc>
                        <a:spcBef>
                          <a:spcPts val="360"/>
                        </a:spcBef>
                        <a:spcAft>
                          <a:spcPts val="0"/>
                        </a:spcAft>
                      </a:pPr>
                      <a:r>
                        <a:rPr lang="en-US" sz="1800" b="1" spc="45" dirty="0">
                          <a:effectLst/>
                          <a:latin typeface="+mn-lt"/>
                          <a:ea typeface="SimHei" panose="02010609060101010101" pitchFamily="49" charset="-122"/>
                        </a:rPr>
                        <a:t>B</a:t>
                      </a:r>
                      <a:r>
                        <a:rPr lang="zh-CN" sz="1800" b="1" spc="45" dirty="0">
                          <a:effectLst/>
                          <a:latin typeface="+mn-lt"/>
                          <a:ea typeface="SimHei" panose="02010609060101010101" pitchFamily="49" charset="-122"/>
                        </a:rPr>
                        <a:t>相</a:t>
                      </a:r>
                      <a:endParaRPr lang="en-US" sz="1800" b="1" dirty="0">
                        <a:solidFill>
                          <a:srgbClr val="000000"/>
                        </a:solidFill>
                        <a:effectLst/>
                        <a:latin typeface="+mn-lt"/>
                        <a:ea typeface="SimHei" panose="02010609060101010101" pitchFamily="49" charset="-122"/>
                      </a:endParaRPr>
                    </a:p>
                  </a:txBody>
                  <a:tcPr marL="0" marR="0" marT="0" marB="0"/>
                </a:tc>
                <a:tc>
                  <a:txBody>
                    <a:bodyPr/>
                    <a:lstStyle/>
                    <a:p>
                      <a:pPr marL="98425" marR="0" eaLnBrk="0">
                        <a:lnSpc>
                          <a:spcPts val="1995"/>
                        </a:lnSpc>
                        <a:spcBef>
                          <a:spcPts val="455"/>
                        </a:spcBef>
                        <a:spcAft>
                          <a:spcPts val="0"/>
                        </a:spcAft>
                      </a:pPr>
                      <a:r>
                        <a:rPr lang="zh-CN" sz="1800" spc="5">
                          <a:effectLst/>
                          <a:latin typeface="+mn-lt"/>
                          <a:ea typeface="SimHei" panose="02010609060101010101" pitchFamily="49" charset="-122"/>
                        </a:rPr>
                        <a:t>硬脂醇新戊酸酯</a:t>
                      </a:r>
                      <a:endParaRPr lang="en-US" sz="1800">
                        <a:effectLst/>
                        <a:latin typeface="+mn-lt"/>
                        <a:ea typeface="SimHei" panose="02010609060101010101" pitchFamily="49" charset="-122"/>
                      </a:endParaRPr>
                    </a:p>
                    <a:p>
                      <a:pPr marL="98425" marR="0" eaLnBrk="0">
                        <a:lnSpc>
                          <a:spcPct val="90000"/>
                        </a:lnSpc>
                        <a:spcBef>
                          <a:spcPts val="0"/>
                        </a:spcBef>
                        <a:spcAft>
                          <a:spcPts val="0"/>
                        </a:spcAft>
                      </a:pPr>
                      <a:r>
                        <a:rPr lang="zh-CN" sz="1800" spc="5">
                          <a:effectLst/>
                          <a:latin typeface="+mn-lt"/>
                          <a:ea typeface="SimHei" panose="02010609060101010101" pitchFamily="49" charset="-122"/>
                        </a:rPr>
                        <a:t>聚二甲基硅氧烷</a:t>
                      </a:r>
                      <a:endParaRPr lang="en-US" sz="1800">
                        <a:effectLst/>
                        <a:latin typeface="+mn-lt"/>
                        <a:ea typeface="SimHei" panose="02010609060101010101" pitchFamily="49" charset="-122"/>
                      </a:endParaRPr>
                    </a:p>
                    <a:p>
                      <a:pPr marL="98425" marR="0" eaLnBrk="0">
                        <a:lnSpc>
                          <a:spcPct val="91000"/>
                        </a:lnSpc>
                        <a:spcBef>
                          <a:spcPts val="600"/>
                        </a:spcBef>
                        <a:spcAft>
                          <a:spcPts val="0"/>
                        </a:spcAft>
                      </a:pPr>
                      <a:r>
                        <a:rPr lang="zh-CN" sz="1800" spc="55">
                          <a:effectLst/>
                          <a:latin typeface="+mn-lt"/>
                          <a:ea typeface="SimHei" panose="02010609060101010101" pitchFamily="49" charset="-122"/>
                        </a:rPr>
                        <a:t>矿油</a:t>
                      </a:r>
                      <a:endParaRPr lang="en-US" sz="1800">
                        <a:effectLst/>
                        <a:latin typeface="+mn-lt"/>
                        <a:ea typeface="SimHei" panose="02010609060101010101" pitchFamily="49" charset="-122"/>
                      </a:endParaRPr>
                    </a:p>
                    <a:p>
                      <a:pPr marL="98425" marR="0" eaLnBrk="0">
                        <a:lnSpc>
                          <a:spcPct val="91000"/>
                        </a:lnSpc>
                        <a:spcBef>
                          <a:spcPts val="685"/>
                        </a:spcBef>
                        <a:spcAft>
                          <a:spcPts val="0"/>
                        </a:spcAft>
                      </a:pPr>
                      <a:r>
                        <a:rPr lang="zh-CN" sz="1800" spc="20">
                          <a:effectLst/>
                          <a:latin typeface="+mn-lt"/>
                          <a:ea typeface="SimHei" panose="02010609060101010101" pitchFamily="49" charset="-122"/>
                        </a:rPr>
                        <a:t>防腐剂</a:t>
                      </a:r>
                      <a:endParaRPr lang="en-US" sz="1800">
                        <a:solidFill>
                          <a:srgbClr val="000000"/>
                        </a:solidFill>
                        <a:effectLst/>
                        <a:latin typeface="+mn-lt"/>
                        <a:ea typeface="SimHei" panose="02010609060101010101" pitchFamily="49" charset="-122"/>
                      </a:endParaRPr>
                    </a:p>
                  </a:txBody>
                  <a:tcPr marL="0" marR="0" marT="0" marB="0"/>
                </a:tc>
                <a:tc>
                  <a:txBody>
                    <a:bodyPr/>
                    <a:lstStyle/>
                    <a:p>
                      <a:pPr marL="415925" marR="0" eaLnBrk="0">
                        <a:lnSpc>
                          <a:spcPct val="76000"/>
                        </a:lnSpc>
                        <a:spcBef>
                          <a:spcPts val="635"/>
                        </a:spcBef>
                        <a:spcAft>
                          <a:spcPts val="0"/>
                        </a:spcAft>
                      </a:pPr>
                      <a:r>
                        <a:rPr lang="en-US" sz="1800" spc="-20">
                          <a:effectLst/>
                          <a:latin typeface="+mn-lt"/>
                          <a:ea typeface="SimHei" panose="02010609060101010101" pitchFamily="49" charset="-122"/>
                        </a:rPr>
                        <a:t>7.0</a:t>
                      </a:r>
                      <a:endParaRPr lang="en-US" sz="1800">
                        <a:effectLst/>
                        <a:latin typeface="+mn-lt"/>
                        <a:ea typeface="SimHei" panose="02010609060101010101" pitchFamily="49" charset="-122"/>
                      </a:endParaRPr>
                    </a:p>
                    <a:p>
                      <a:pPr marL="415925" marR="0" eaLnBrk="0">
                        <a:lnSpc>
                          <a:spcPts val="1895"/>
                        </a:lnSpc>
                        <a:spcBef>
                          <a:spcPts val="1005"/>
                        </a:spcBef>
                        <a:spcAft>
                          <a:spcPts val="0"/>
                        </a:spcAft>
                      </a:pPr>
                      <a:r>
                        <a:rPr lang="en-US" sz="1800" spc="-15">
                          <a:effectLst/>
                          <a:latin typeface="+mn-lt"/>
                          <a:ea typeface="SimHei" panose="02010609060101010101" pitchFamily="49" charset="-122"/>
                        </a:rPr>
                        <a:t>6.0</a:t>
                      </a:r>
                      <a:endParaRPr lang="en-US" sz="1800">
                        <a:effectLst/>
                        <a:latin typeface="+mn-lt"/>
                        <a:ea typeface="SimHei" panose="02010609060101010101" pitchFamily="49" charset="-122"/>
                      </a:endParaRPr>
                    </a:p>
                    <a:p>
                      <a:pPr marL="415925" marR="0" eaLnBrk="0">
                        <a:lnSpc>
                          <a:spcPct val="76000"/>
                        </a:lnSpc>
                        <a:spcBef>
                          <a:spcPts val="0"/>
                        </a:spcBef>
                        <a:spcAft>
                          <a:spcPts val="0"/>
                        </a:spcAft>
                      </a:pPr>
                      <a:r>
                        <a:rPr lang="en-US" sz="1800" spc="-30">
                          <a:effectLst/>
                          <a:latin typeface="+mn-lt"/>
                          <a:ea typeface="SimHei" panose="02010609060101010101" pitchFamily="49" charset="-122"/>
                        </a:rPr>
                        <a:t>1.5</a:t>
                      </a:r>
                      <a:endParaRPr lang="en-US" sz="1800">
                        <a:effectLst/>
                        <a:latin typeface="+mn-lt"/>
                        <a:ea typeface="SimHei" panose="02010609060101010101" pitchFamily="49" charset="-122"/>
                      </a:endParaRPr>
                    </a:p>
                    <a:p>
                      <a:pPr marL="378460" marR="0" eaLnBrk="0">
                        <a:lnSpc>
                          <a:spcPct val="93000"/>
                        </a:lnSpc>
                        <a:spcBef>
                          <a:spcPts val="560"/>
                        </a:spcBef>
                        <a:spcAft>
                          <a:spcPts val="0"/>
                        </a:spcAft>
                      </a:pPr>
                      <a:r>
                        <a:rPr lang="zh-CN" sz="1800" spc="-15">
                          <a:effectLst/>
                          <a:latin typeface="+mn-lt"/>
                          <a:ea typeface="SimHei" panose="02010609060101010101" pitchFamily="49" charset="-122"/>
                        </a:rPr>
                        <a:t>适量</a:t>
                      </a:r>
                      <a:endParaRPr lang="en-US" sz="1800">
                        <a:solidFill>
                          <a:srgbClr val="000000"/>
                        </a:solidFill>
                        <a:effectLst/>
                        <a:latin typeface="+mn-lt"/>
                        <a:ea typeface="SimHei" panose="02010609060101010101" pitchFamily="49" charset="-122"/>
                      </a:endParaRPr>
                    </a:p>
                  </a:txBody>
                  <a:tcPr marL="0" marR="0" marT="0" marB="0"/>
                </a:tc>
                <a:extLst>
                  <a:ext uri="{0D108BD9-81ED-4DB2-BD59-A6C34878D82A}">
                    <a16:rowId xmlns:a16="http://schemas.microsoft.com/office/drawing/2014/main" val="28752009"/>
                  </a:ext>
                </a:extLst>
              </a:tr>
              <a:tr h="50927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262890" marR="0" eaLnBrk="0">
                        <a:lnSpc>
                          <a:spcPct val="92000"/>
                        </a:lnSpc>
                        <a:spcBef>
                          <a:spcPts val="1495"/>
                        </a:spcBef>
                        <a:spcAft>
                          <a:spcPts val="0"/>
                        </a:spcAft>
                      </a:pPr>
                      <a:r>
                        <a:rPr lang="en-US" sz="1800" b="1" spc="45" dirty="0">
                          <a:effectLst/>
                          <a:latin typeface="+mn-lt"/>
                          <a:ea typeface="SimHei" panose="02010609060101010101" pitchFamily="49" charset="-122"/>
                        </a:rPr>
                        <a:t>C</a:t>
                      </a:r>
                      <a:r>
                        <a:rPr lang="zh-CN" sz="1800" b="1" spc="45" dirty="0">
                          <a:effectLst/>
                          <a:latin typeface="+mn-lt"/>
                          <a:ea typeface="SimHei" panose="02010609060101010101" pitchFamily="49" charset="-122"/>
                        </a:rPr>
                        <a:t>相</a:t>
                      </a:r>
                      <a:endParaRPr lang="en-US" sz="1800" b="1" dirty="0">
                        <a:solidFill>
                          <a:srgbClr val="000000"/>
                        </a:solidFill>
                        <a:effectLst/>
                        <a:latin typeface="+mn-lt"/>
                        <a:ea typeface="SimHei" panose="02010609060101010101" pitchFamily="49" charset="-122"/>
                      </a:endParaRPr>
                    </a:p>
                  </a:txBody>
                  <a:tcPr marL="0" marR="0" marT="0" marB="0"/>
                </a:tc>
                <a:tc>
                  <a:txBody>
                    <a:bodyPr/>
                    <a:lstStyle/>
                    <a:p>
                      <a:pPr marL="98425" marR="0" eaLnBrk="0">
                        <a:lnSpc>
                          <a:spcPct val="91000"/>
                        </a:lnSpc>
                        <a:spcBef>
                          <a:spcPts val="1475"/>
                        </a:spcBef>
                        <a:spcAft>
                          <a:spcPts val="0"/>
                        </a:spcAft>
                      </a:pPr>
                      <a:r>
                        <a:rPr lang="zh-CN" sz="1800" spc="25">
                          <a:effectLst/>
                          <a:latin typeface="+mn-lt"/>
                          <a:ea typeface="SimHei" panose="02010609060101010101" pitchFamily="49" charset="-122"/>
                        </a:rPr>
                        <a:t>香精</a:t>
                      </a:r>
                      <a:endParaRPr lang="en-US" sz="1800">
                        <a:solidFill>
                          <a:srgbClr val="000000"/>
                        </a:solidFill>
                        <a:effectLst/>
                        <a:latin typeface="+mn-lt"/>
                        <a:ea typeface="SimHei" panose="02010609060101010101" pitchFamily="49" charset="-122"/>
                      </a:endParaRPr>
                    </a:p>
                  </a:txBody>
                  <a:tcPr marL="0" marR="0" marT="0" marB="0"/>
                </a:tc>
                <a:tc>
                  <a:txBody>
                    <a:bodyPr/>
                    <a:lstStyle/>
                    <a:p>
                      <a:pPr marL="378460" marR="0" eaLnBrk="0">
                        <a:lnSpc>
                          <a:spcPct val="93000"/>
                        </a:lnSpc>
                        <a:spcBef>
                          <a:spcPts val="1515"/>
                        </a:spcBef>
                        <a:spcAft>
                          <a:spcPts val="0"/>
                        </a:spcAft>
                      </a:pPr>
                      <a:r>
                        <a:rPr lang="zh-CN" sz="1800" spc="-15" dirty="0">
                          <a:effectLst/>
                          <a:latin typeface="+mn-lt"/>
                          <a:ea typeface="SimHei" panose="02010609060101010101" pitchFamily="49" charset="-122"/>
                        </a:rPr>
                        <a:t>适量</a:t>
                      </a:r>
                      <a:endParaRPr lang="en-US" sz="1800" dirty="0">
                        <a:solidFill>
                          <a:srgbClr val="000000"/>
                        </a:solidFill>
                        <a:effectLst/>
                        <a:latin typeface="+mn-lt"/>
                        <a:ea typeface="SimHei" panose="02010609060101010101" pitchFamily="49" charset="-122"/>
                      </a:endParaRPr>
                    </a:p>
                  </a:txBody>
                  <a:tcPr marL="0" marR="0" marT="0" marB="0"/>
                </a:tc>
                <a:extLst>
                  <a:ext uri="{0D108BD9-81ED-4DB2-BD59-A6C34878D82A}">
                    <a16:rowId xmlns:a16="http://schemas.microsoft.com/office/drawing/2014/main" val="3768597147"/>
                  </a:ext>
                </a:extLst>
              </a:tr>
            </a:tbl>
          </a:graphicData>
        </a:graphic>
      </p:graphicFrame>
    </p:spTree>
    <p:extLst>
      <p:ext uri="{BB962C8B-B14F-4D97-AF65-F5344CB8AC3E}">
        <p14:creationId xmlns:p14="http://schemas.microsoft.com/office/powerpoint/2010/main" val="2247992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唇膏类化妆品概述</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214158"/>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唇膏通常是指油膏类的唇部美容化妆品，包括以润唇为主的</a:t>
            </a:r>
            <a:r>
              <a:rPr lang="zh-CN" altLang="en-US" sz="2400" dirty="0">
                <a:solidFill>
                  <a:srgbClr val="0000FF"/>
                </a:solidFill>
                <a:latin typeface="+mn-lt"/>
                <a:ea typeface="SimHei" panose="02010609060101010101" pitchFamily="49" charset="-122"/>
              </a:rPr>
              <a:t>非着色型</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即通常所说的</a:t>
            </a:r>
            <a:r>
              <a:rPr lang="zh-CN" altLang="en-US" sz="2400" dirty="0">
                <a:solidFill>
                  <a:srgbClr val="0000FF"/>
                </a:solidFill>
                <a:latin typeface="+mn-lt"/>
                <a:ea typeface="SimHei" panose="02010609060101010101" pitchFamily="49" charset="-122"/>
              </a:rPr>
              <a:t>润唇膏</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和</a:t>
            </a:r>
            <a:r>
              <a:rPr lang="zh-CN" altLang="en-US" sz="2400" dirty="0">
                <a:solidFill>
                  <a:srgbClr val="0000FF"/>
                </a:solidFill>
                <a:latin typeface="+mn-lt"/>
                <a:ea typeface="SimHei" panose="02010609060101010101" pitchFamily="49" charset="-122"/>
              </a:rPr>
              <a:t>着色型</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即通常所说的</a:t>
            </a:r>
            <a:r>
              <a:rPr lang="zh-CN" altLang="en-US" sz="2400" dirty="0">
                <a:solidFill>
                  <a:srgbClr val="0000FF"/>
                </a:solidFill>
                <a:latin typeface="+mn-lt"/>
                <a:ea typeface="SimHei" panose="02010609060101010101" pitchFamily="49" charset="-122"/>
              </a:rPr>
              <a:t>口红</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使用唇膏可勾勒唇形，润湿、软化唇部，保护唇部不干裂，属使用极为普遍、消费量极大的化妆品类型。唇膏类美容化妆品的主要功能是</a:t>
            </a:r>
            <a:r>
              <a:rPr lang="zh-CN" altLang="en-US" sz="2400" dirty="0">
                <a:solidFill>
                  <a:srgbClr val="0000FF"/>
                </a:solidFill>
                <a:latin typeface="+mn-lt"/>
                <a:ea typeface="SimHei" panose="02010609060101010101" pitchFamily="49" charset="-122"/>
              </a:rPr>
              <a:t>赋予唇部肌肤防护、色彩美化，修饰双唇的轮廓</a:t>
            </a:r>
            <a:r>
              <a:rPr lang="zh-CN" altLang="en-US" sz="2400" dirty="0">
                <a:latin typeface="+mn-lt"/>
                <a:ea typeface="SimHei" panose="02010609060101010101" pitchFamily="49" charset="-122"/>
              </a:rPr>
              <a:t>，彰显女性特殊魅力。</a:t>
            </a:r>
          </a:p>
        </p:txBody>
      </p:sp>
    </p:spTree>
    <p:extLst>
      <p:ext uri="{BB962C8B-B14F-4D97-AF65-F5344CB8AC3E}">
        <p14:creationId xmlns:p14="http://schemas.microsoft.com/office/powerpoint/2010/main" val="1205495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唇膏类化妆品的作用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6342"/>
            <a:ext cx="8778240" cy="5006563"/>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① 使用唇膏可赋予女性嘴唇以诱人的色彩和美丽的外貌。</a:t>
            </a:r>
          </a:p>
          <a:p>
            <a:pPr>
              <a:lnSpc>
                <a:spcPct val="150000"/>
              </a:lnSpc>
            </a:pPr>
            <a:r>
              <a:rPr lang="zh-CN" altLang="en-US" sz="2400" dirty="0">
                <a:latin typeface="+mn-lt"/>
                <a:ea typeface="SimHei" panose="02010609060101010101" pitchFamily="49" charset="-122"/>
              </a:rPr>
              <a:t>② 唇膏可突出嘴唇的优点，掩盖其各种缺陷，如使用唇膏可令较薄的嘴唇显得丰满立体，使较厚的嘴唇变薄。如适当地使用唇膏，还能修饰整个面部轮廓。</a:t>
            </a:r>
          </a:p>
          <a:p>
            <a:pPr>
              <a:lnSpc>
                <a:spcPct val="150000"/>
              </a:lnSpc>
            </a:pPr>
            <a:r>
              <a:rPr lang="zh-CN" altLang="en-US" sz="2400" dirty="0">
                <a:latin typeface="+mn-lt"/>
                <a:ea typeface="SimHei" panose="02010609060101010101" pitchFamily="49" charset="-122"/>
              </a:rPr>
              <a:t>③ 采用滋润型唇膏，能赋予嘴唇湿润的外观，同时还能起到软化唇部的作用。</a:t>
            </a:r>
          </a:p>
          <a:p>
            <a:pPr>
              <a:lnSpc>
                <a:spcPct val="150000"/>
              </a:lnSpc>
            </a:pPr>
            <a:r>
              <a:rPr lang="zh-CN" altLang="en-US" sz="2400" dirty="0">
                <a:latin typeface="+mn-lt"/>
                <a:ea typeface="SimHei" panose="02010609060101010101" pitchFamily="49" charset="-122"/>
              </a:rPr>
              <a:t>④ 现有专门用于防止嘴唇干裂的保湿修护润唇膏，这种唇膏适宜于男女老幼，是一种理想的护唇用品。有的唇膏中还添加了防晒剂，来保护嘴唇免受紫外线的伤害。</a:t>
            </a:r>
          </a:p>
        </p:txBody>
      </p:sp>
    </p:spTree>
    <p:extLst>
      <p:ext uri="{BB962C8B-B14F-4D97-AF65-F5344CB8AC3E}">
        <p14:creationId xmlns:p14="http://schemas.microsoft.com/office/powerpoint/2010/main" val="8384376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嘴唇和一般皮肤不同</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93683" y="1362988"/>
            <a:ext cx="7803932"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唇膏类化妆品可直接应用于嘴唇，</a:t>
            </a:r>
            <a:r>
              <a:rPr lang="zh-CN" altLang="en-US" sz="2400" dirty="0">
                <a:solidFill>
                  <a:srgbClr val="0000FF"/>
                </a:solidFill>
                <a:latin typeface="+mn-lt"/>
                <a:ea typeface="SimHei" panose="02010609060101010101" pitchFamily="49" charset="-122"/>
              </a:rPr>
              <a:t>嘴唇是面部皮肤的延伸</a:t>
            </a:r>
            <a:r>
              <a:rPr lang="zh-CN" altLang="en-US" sz="2400" dirty="0">
                <a:latin typeface="+mn-lt"/>
                <a:ea typeface="SimHei" panose="02010609060101010101" pitchFamily="49" charset="-122"/>
              </a:rPr>
              <a:t>，在口腔内与黏膜相连。 其角质层比一般皮肤薄，且又</a:t>
            </a:r>
            <a:r>
              <a:rPr lang="zh-CN" altLang="en-US" sz="2400" dirty="0">
                <a:solidFill>
                  <a:srgbClr val="0000FF"/>
                </a:solidFill>
                <a:latin typeface="+mn-lt"/>
                <a:ea typeface="SimHei" panose="02010609060101010101" pitchFamily="49" charset="-122"/>
              </a:rPr>
              <a:t>无毛囊、皮脂腺、汗腺</a:t>
            </a:r>
            <a:r>
              <a:rPr lang="zh-CN" altLang="en-US" sz="2400" dirty="0">
                <a:latin typeface="+mn-lt"/>
                <a:ea typeface="SimHei" panose="02010609060101010101" pitchFamily="49" charset="-122"/>
              </a:rPr>
              <a:t>等附属器官，但有唾液腺。两唇</a:t>
            </a:r>
            <a:r>
              <a:rPr lang="zh-CN" altLang="en-US" sz="2400" dirty="0">
                <a:solidFill>
                  <a:srgbClr val="0000FF"/>
                </a:solidFill>
                <a:latin typeface="+mn-lt"/>
                <a:ea typeface="SimHei" panose="02010609060101010101" pitchFamily="49" charset="-122"/>
              </a:rPr>
              <a:t>角质层不仅薄，而且连颗粒层也薄</a:t>
            </a:r>
            <a:r>
              <a:rPr lang="zh-CN" altLang="en-US" sz="2400" dirty="0">
                <a:latin typeface="+mn-lt"/>
                <a:ea typeface="SimHei" panose="02010609060101010101" pitchFamily="49" charset="-122"/>
              </a:rPr>
              <a:t>，所以，颗粒层中的颗粒及黑色素皆已不存在，以致真皮乳头的毛细血管呈现出透析红色，两唇显出红润。</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407221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唇膏特征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449317" y="1610113"/>
            <a:ext cx="8511803"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绝对无毒和无刺激性</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具有自然、清新愉快的味道和气味</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外观诱人，颜色鲜艳和均匀，表面平滑，无气孔和结粒</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质量稳定，不会因油脂和蜡类原料氧化产生异味或出现“冒汗”现象等，也不会在制品表面产生粉膜而失去光泽。</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无微生物污染</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0106442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唇膏分类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从色彩上唇膏大致分为三种类型，即原色唇膏、变色唇膏和无色唇膏</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b="1" dirty="0">
                <a:solidFill>
                  <a:srgbClr val="0000FF"/>
                </a:solidFill>
                <a:latin typeface="KaiTi" panose="02010609060101010101" pitchFamily="49" charset="-122"/>
                <a:ea typeface="KaiTi" panose="02010609060101010101" pitchFamily="49" charset="-122"/>
              </a:rPr>
              <a:t>原色唇膏</a:t>
            </a:r>
            <a:r>
              <a:rPr lang="zh-CN" altLang="en-US" sz="2400" dirty="0">
                <a:latin typeface="KaiTi" panose="02010609060101010101" pitchFamily="49" charset="-122"/>
                <a:ea typeface="KaiTi" panose="02010609060101010101" pitchFamily="49" charset="-122"/>
              </a:rPr>
              <a:t>是最普遍的一种类型，有各种不同的颜色，常见的有大 红、桃红、橙红、玫红、朱红等，由色淀等颜色制成</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b="1" dirty="0">
                <a:solidFill>
                  <a:srgbClr val="0000FF"/>
                </a:solidFill>
                <a:latin typeface="KaiTi" panose="02010609060101010101" pitchFamily="49" charset="-122"/>
                <a:ea typeface="KaiTi" panose="02010609060101010101" pitchFamily="49" charset="-122"/>
              </a:rPr>
              <a:t>变色唇膏</a:t>
            </a:r>
            <a:r>
              <a:rPr lang="zh-CN" altLang="en-US" sz="2400" dirty="0">
                <a:latin typeface="KaiTi" panose="02010609060101010101" pitchFamily="49" charset="-122"/>
                <a:ea typeface="KaiTi" panose="02010609060101010101" pitchFamily="49" charset="-122"/>
              </a:rPr>
              <a:t>内仅使用溴酸红染料而不加其他不溶性颜料，将这种唇膏涂擦在唇部时，其色泽立刻由原来的淡橙色变成玫瑰红色</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b="1" dirty="0">
                <a:solidFill>
                  <a:srgbClr val="0000FF"/>
                </a:solidFill>
                <a:latin typeface="KaiTi" panose="02010609060101010101" pitchFamily="49" charset="-122"/>
                <a:ea typeface="KaiTi" panose="02010609060101010101" pitchFamily="49" charset="-122"/>
              </a:rPr>
              <a:t>无色唇膏</a:t>
            </a:r>
            <a:r>
              <a:rPr lang="zh-CN" altLang="en-US" sz="2400" dirty="0">
                <a:latin typeface="KaiTi" panose="02010609060101010101" pitchFamily="49" charset="-122"/>
                <a:ea typeface="KaiTi" panose="02010609060101010101" pitchFamily="49" charset="-122"/>
              </a:rPr>
              <a:t>不加任何色素，其主要作用是滋润柔软嘴唇、防裂、增加光泽</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787588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唇膏分类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从功用上可分为滋润型、防水型、不沾杯型和防晒型</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乳化体唇膏：传统唇膏主要是以油、脂、蜡等油性原料为主体，即为不含水的油性唇膏，但近来从唇膏对嘴唇的护肤作用和唇部的湿度平衡考虑，研制出了由油性原料、着色剂配合水、保湿剂及乳化剂，经过乳化作用而制得的乳化唇膏</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防水唇膏：这种唇膏中添加了具有抗水性的硅油成分，涂布后可形成防水性的薄膜，以减轻因饮水</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饮料</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时唇膏脱落。</a:t>
            </a:r>
          </a:p>
          <a:p>
            <a:pPr>
              <a:lnSpc>
                <a:spcPct val="150000"/>
              </a:lnSpc>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713191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唇蜜</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唇彩</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496613" y="1212581"/>
            <a:ext cx="8150773"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不同于唇膏含有大量的高熔点蜡基类原料，唇蜜</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唇彩</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唇油是一类</a:t>
            </a:r>
            <a:r>
              <a:rPr lang="zh-CN" altLang="en-US" sz="2400" dirty="0">
                <a:solidFill>
                  <a:srgbClr val="0000FF"/>
                </a:solidFill>
                <a:latin typeface="+mn-lt"/>
                <a:ea typeface="SimHei" panose="02010609060101010101" pitchFamily="49" charset="-122"/>
              </a:rPr>
              <a:t>硬度或黏度都相对较低</a:t>
            </a:r>
            <a:r>
              <a:rPr lang="zh-CN" altLang="en-US" sz="2400" dirty="0">
                <a:latin typeface="+mn-lt"/>
                <a:ea typeface="SimHei" panose="02010609060101010101" pitchFamily="49" charset="-122"/>
              </a:rPr>
              <a:t>的唇部护理美化产品。区别于唇膏的直接使用方式，此类产品的包装形式上</a:t>
            </a:r>
            <a:r>
              <a:rPr lang="zh-CN" altLang="en-US" sz="2400" dirty="0">
                <a:solidFill>
                  <a:srgbClr val="0000FF"/>
                </a:solidFill>
                <a:latin typeface="+mn-lt"/>
                <a:ea typeface="SimHei" panose="02010609060101010101" pitchFamily="49" charset="-122"/>
              </a:rPr>
              <a:t>通常匹配海绵刷和扁头硅胶刷</a:t>
            </a:r>
            <a:r>
              <a:rPr lang="zh-CN" altLang="en-US" sz="2400" dirty="0">
                <a:latin typeface="+mn-lt"/>
                <a:ea typeface="SimHei" panose="02010609060101010101" pitchFamily="49" charset="-122"/>
              </a:rPr>
              <a:t>。使用感上更柔软，同时不受成型要求控制。</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该类产品的特点绝大多数是诉诸滋润度、光泽度和高选择性，其肤感比唇膏偏软润，产品在唇部的残留感更强。</a:t>
            </a:r>
          </a:p>
        </p:txBody>
      </p:sp>
    </p:spTree>
    <p:extLst>
      <p:ext uri="{BB962C8B-B14F-4D97-AF65-F5344CB8AC3E}">
        <p14:creationId xmlns:p14="http://schemas.microsoft.com/office/powerpoint/2010/main" val="724206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唇釉</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198179" y="1610113"/>
            <a:ext cx="6747642"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相比于 </a:t>
            </a:r>
            <a:r>
              <a:rPr lang="en-US" altLang="zh-CN" sz="2400" dirty="0">
                <a:latin typeface="+mn-lt"/>
                <a:ea typeface="SimHei" panose="02010609060101010101" pitchFamily="49" charset="-122"/>
              </a:rPr>
              <a:t>W/O</a:t>
            </a:r>
            <a:r>
              <a:rPr lang="zh-CN" altLang="en-US" sz="2400" dirty="0">
                <a:latin typeface="+mn-lt"/>
                <a:ea typeface="SimHei" panose="02010609060101010101" pitchFamily="49" charset="-122"/>
              </a:rPr>
              <a:t>体系唇膏和唇蜜等“小打小闹” 的概念宣称。唇釉真正意义做到了</a:t>
            </a:r>
            <a:r>
              <a:rPr lang="zh-CN" altLang="en-US" sz="2400" dirty="0">
                <a:solidFill>
                  <a:srgbClr val="0000FF"/>
                </a:solidFill>
                <a:latin typeface="+mn-lt"/>
                <a:ea typeface="SimHei" panose="02010609060101010101" pitchFamily="49" charset="-122"/>
              </a:rPr>
              <a:t>完全乳化体系</a:t>
            </a:r>
            <a:r>
              <a:rPr lang="zh-CN" altLang="en-US" sz="2400" dirty="0">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高的含水量</a:t>
            </a:r>
            <a:r>
              <a:rPr lang="zh-CN" altLang="en-US" sz="2400" dirty="0">
                <a:latin typeface="+mn-lt"/>
                <a:ea typeface="SimHei" panose="02010609060101010101" pitchFamily="49" charset="-122"/>
              </a:rPr>
              <a:t>。唇部产品以往的“够滋润，不够水润</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的谜题也终于得到了解决。</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2217182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唇膏配方结构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唇膏的基质组分主要包括着色剂、油脂和蜡类、香精和防腐剂等</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BC864603-0883-602F-96FF-7435ED874D2E}"/>
              </a:ext>
            </a:extLst>
          </p:cNvPr>
          <p:cNvGraphicFramePr>
            <a:graphicFrameLocks noGrp="1"/>
          </p:cNvGraphicFramePr>
          <p:nvPr>
            <p:extLst>
              <p:ext uri="{D42A27DB-BD31-4B8C-83A1-F6EECF244321}">
                <p14:modId xmlns:p14="http://schemas.microsoft.com/office/powerpoint/2010/main" val="3571387015"/>
              </p:ext>
            </p:extLst>
          </p:nvPr>
        </p:nvGraphicFramePr>
        <p:xfrm>
          <a:off x="182880" y="1908752"/>
          <a:ext cx="8778240" cy="3145029"/>
        </p:xfrm>
        <a:graphic>
          <a:graphicData uri="http://schemas.openxmlformats.org/drawingml/2006/table">
            <a:tbl>
              <a:tblPr firstRow="1" firstCol="1" bandRow="1">
                <a:tableStyleId>{72833802-FEF1-4C79-8D5D-14CF1EAF98D9}</a:tableStyleId>
              </a:tblPr>
              <a:tblGrid>
                <a:gridCol w="814118">
                  <a:extLst>
                    <a:ext uri="{9D8B030D-6E8A-4147-A177-3AD203B41FA5}">
                      <a16:colId xmlns:a16="http://schemas.microsoft.com/office/drawing/2014/main" val="644346022"/>
                    </a:ext>
                  </a:extLst>
                </a:gridCol>
                <a:gridCol w="1903857">
                  <a:extLst>
                    <a:ext uri="{9D8B030D-6E8A-4147-A177-3AD203B41FA5}">
                      <a16:colId xmlns:a16="http://schemas.microsoft.com/office/drawing/2014/main" val="3448586347"/>
                    </a:ext>
                  </a:extLst>
                </a:gridCol>
                <a:gridCol w="4734335">
                  <a:extLst>
                    <a:ext uri="{9D8B030D-6E8A-4147-A177-3AD203B41FA5}">
                      <a16:colId xmlns:a16="http://schemas.microsoft.com/office/drawing/2014/main" val="2989483347"/>
                    </a:ext>
                  </a:extLst>
                </a:gridCol>
                <a:gridCol w="1325930">
                  <a:extLst>
                    <a:ext uri="{9D8B030D-6E8A-4147-A177-3AD203B41FA5}">
                      <a16:colId xmlns:a16="http://schemas.microsoft.com/office/drawing/2014/main" val="417898046"/>
                    </a:ext>
                  </a:extLst>
                </a:gridCol>
              </a:tblGrid>
              <a:tr h="250190">
                <a:tc gridSpan="2">
                  <a:txBody>
                    <a:bodyPr/>
                    <a:lstStyle/>
                    <a:p>
                      <a:pPr marL="501015" marR="0" eaLnBrk="0">
                        <a:lnSpc>
                          <a:spcPct val="91000"/>
                        </a:lnSpc>
                        <a:spcBef>
                          <a:spcPts val="470"/>
                        </a:spcBef>
                        <a:spcAft>
                          <a:spcPts val="0"/>
                        </a:spcAft>
                      </a:pPr>
                      <a:r>
                        <a:rPr lang="zh-CN" sz="1800" spc="-30">
                          <a:effectLst/>
                          <a:latin typeface="SimHei" panose="02010609060101010101" pitchFamily="49" charset="-122"/>
                          <a:ea typeface="SimHei" panose="02010609060101010101" pitchFamily="49" charset="-122"/>
                        </a:rPr>
                        <a:t>组</a:t>
                      </a:r>
                      <a:r>
                        <a:rPr lang="en-US" sz="1800" spc="25">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494790" marR="0" eaLnBrk="0">
                        <a:lnSpc>
                          <a:spcPct val="91000"/>
                        </a:lnSpc>
                        <a:spcBef>
                          <a:spcPts val="465"/>
                        </a:spcBef>
                        <a:spcAft>
                          <a:spcPts val="0"/>
                        </a:spcAft>
                      </a:pPr>
                      <a:r>
                        <a:rPr lang="zh-CN" sz="1800" spc="75">
                          <a:effectLst/>
                          <a:latin typeface="SimHei" panose="02010609060101010101" pitchFamily="49" charset="-122"/>
                          <a:ea typeface="SimHei" panose="02010609060101010101" pitchFamily="49" charset="-122"/>
                        </a:rPr>
                        <a:t>代表性原料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66090" marR="0" eaLnBrk="0">
                        <a:lnSpc>
                          <a:spcPct val="92000"/>
                        </a:lnSpc>
                        <a:spcBef>
                          <a:spcPts val="470"/>
                        </a:spcBef>
                        <a:spcAft>
                          <a:spcPts val="0"/>
                        </a:spcAft>
                      </a:pPr>
                      <a:r>
                        <a:rPr lang="zh-CN" sz="1800" spc="10">
                          <a:effectLst/>
                          <a:latin typeface="SimHei" panose="02010609060101010101" pitchFamily="49" charset="-122"/>
                          <a:ea typeface="SimHei" panose="02010609060101010101" pitchFamily="49" charset="-122"/>
                        </a:rPr>
                        <a:t>主要功能</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972606836"/>
                  </a:ext>
                </a:extLst>
              </a:tr>
              <a:tr h="253365">
                <a:tc rowSpan="3">
                  <a:txBody>
                    <a:bodyPr/>
                    <a:lstStyle/>
                    <a:p>
                      <a:pPr marL="0" marR="0" eaLnBrk="0">
                        <a:lnSpc>
                          <a:spcPct val="182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113665" marR="0" eaLnBrk="0">
                        <a:lnSpc>
                          <a:spcPct val="91000"/>
                        </a:lnSpc>
                        <a:spcBef>
                          <a:spcPts val="340"/>
                        </a:spcBef>
                        <a:spcAft>
                          <a:spcPts val="0"/>
                        </a:spcAft>
                      </a:pPr>
                      <a:r>
                        <a:rPr lang="zh-CN" sz="1800" spc="20">
                          <a:effectLst/>
                          <a:latin typeface="SimHei" panose="02010609060101010101" pitchFamily="49" charset="-122"/>
                          <a:ea typeface="SimHei" panose="02010609060101010101" pitchFamily="49" charset="-122"/>
                        </a:rPr>
                        <a:t>着色剂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6840" marR="0" eaLnBrk="0">
                        <a:lnSpc>
                          <a:spcPct val="91000"/>
                        </a:lnSpc>
                        <a:spcBef>
                          <a:spcPts val="500"/>
                        </a:spcBef>
                        <a:spcAft>
                          <a:spcPts val="0"/>
                        </a:spcAft>
                      </a:pPr>
                      <a:r>
                        <a:rPr lang="zh-CN" sz="1800" spc="-10">
                          <a:effectLst/>
                          <a:latin typeface="SimHei" panose="02010609060101010101" pitchFamily="49" charset="-122"/>
                          <a:ea typeface="SimHei" panose="02010609060101010101" pitchFamily="49" charset="-122"/>
                        </a:rPr>
                        <a:t>溶解性颜料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18440" marR="0" eaLnBrk="0">
                        <a:lnSpc>
                          <a:spcPct val="91000"/>
                        </a:lnSpc>
                        <a:spcBef>
                          <a:spcPts val="495"/>
                        </a:spcBef>
                        <a:spcAft>
                          <a:spcPts val="0"/>
                        </a:spcAft>
                      </a:pPr>
                      <a:r>
                        <a:rPr lang="en-US" sz="1800" dirty="0">
                          <a:effectLst/>
                          <a:latin typeface="SimHei" panose="02010609060101010101" pitchFamily="49" charset="-122"/>
                          <a:ea typeface="SimHei" panose="02010609060101010101" pitchFamily="49" charset="-122"/>
                        </a:rPr>
                        <a:t>CI</a:t>
                      </a:r>
                      <a:r>
                        <a:rPr lang="en-US" sz="1800" spc="100" dirty="0">
                          <a:effectLst/>
                          <a:latin typeface="SimHei" panose="02010609060101010101" pitchFamily="49" charset="-122"/>
                          <a:ea typeface="SimHei" panose="02010609060101010101" pitchFamily="49" charset="-122"/>
                        </a:rPr>
                        <a:t>77492</a:t>
                      </a:r>
                      <a:r>
                        <a:rPr lang="zh-CN" sz="1800" spc="100" dirty="0">
                          <a:effectLst/>
                          <a:latin typeface="SimHei" panose="02010609060101010101" pitchFamily="49" charset="-122"/>
                          <a:ea typeface="SimHei" panose="02010609060101010101" pitchFamily="49" charset="-122"/>
                        </a:rPr>
                        <a:t>、</a:t>
                      </a:r>
                      <a:r>
                        <a:rPr lang="en-US" sz="1800" dirty="0">
                          <a:effectLst/>
                          <a:latin typeface="SimHei" panose="02010609060101010101" pitchFamily="49" charset="-122"/>
                          <a:ea typeface="SimHei" panose="02010609060101010101" pitchFamily="49" charset="-122"/>
                        </a:rPr>
                        <a:t>CI</a:t>
                      </a:r>
                      <a:r>
                        <a:rPr lang="en-US" sz="1800" spc="100" dirty="0">
                          <a:effectLst/>
                          <a:latin typeface="SimHei" panose="02010609060101010101" pitchFamily="49" charset="-122"/>
                          <a:ea typeface="SimHei" panose="02010609060101010101" pitchFamily="49" charset="-122"/>
                        </a:rPr>
                        <a:t>73360</a:t>
                      </a:r>
                      <a:r>
                        <a:rPr lang="zh-CN" sz="1800" spc="100" dirty="0">
                          <a:effectLst/>
                          <a:latin typeface="SimHei" panose="02010609060101010101" pitchFamily="49" charset="-122"/>
                          <a:ea typeface="SimHei" panose="02010609060101010101" pitchFamily="49" charset="-122"/>
                        </a:rPr>
                        <a:t>、</a:t>
                      </a:r>
                      <a:r>
                        <a:rPr lang="en-US" sz="1800" dirty="0">
                          <a:effectLst/>
                          <a:latin typeface="SimHei" panose="02010609060101010101" pitchFamily="49" charset="-122"/>
                          <a:ea typeface="SimHei" panose="02010609060101010101" pitchFamily="49" charset="-122"/>
                        </a:rPr>
                        <a:t>CI</a:t>
                      </a:r>
                      <a:r>
                        <a:rPr lang="en-US" sz="1800" spc="100" dirty="0">
                          <a:effectLst/>
                          <a:latin typeface="SimHei" panose="02010609060101010101" pitchFamily="49" charset="-122"/>
                          <a:ea typeface="SimHei" panose="02010609060101010101" pitchFamily="49" charset="-122"/>
                        </a:rPr>
                        <a:t>16035</a:t>
                      </a:r>
                      <a:r>
                        <a:rPr lang="zh-CN" sz="1800" spc="100" dirty="0">
                          <a:effectLst/>
                          <a:latin typeface="SimHei" panose="02010609060101010101" pitchFamily="49" charset="-122"/>
                          <a:ea typeface="SimHei" panose="02010609060101010101" pitchFamily="49" charset="-122"/>
                        </a:rPr>
                        <a:t>等</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rowSpan="3">
                  <a:txBody>
                    <a:bodyPr/>
                    <a:lstStyle/>
                    <a:p>
                      <a:pPr marL="0" marR="0" eaLnBrk="0">
                        <a:lnSpc>
                          <a:spcPct val="182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104140" marR="0" eaLnBrk="0">
                        <a:lnSpc>
                          <a:spcPct val="91000"/>
                        </a:lnSpc>
                        <a:spcBef>
                          <a:spcPts val="345"/>
                        </a:spcBef>
                        <a:spcAft>
                          <a:spcPts val="0"/>
                        </a:spcAft>
                      </a:pPr>
                      <a:r>
                        <a:rPr lang="zh-CN" sz="1800" spc="-15">
                          <a:effectLst/>
                          <a:latin typeface="SimHei" panose="02010609060101010101" pitchFamily="49" charset="-122"/>
                          <a:ea typeface="SimHei" panose="02010609060101010101" pitchFamily="49" charset="-122"/>
                        </a:rPr>
                        <a:t>着色</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674495803"/>
                  </a:ext>
                </a:extLst>
              </a:tr>
              <a:tr h="253365">
                <a:tc vMerge="1">
                  <a:txBody>
                    <a:bodyPr/>
                    <a:lstStyle/>
                    <a:p>
                      <a:endParaRPr lang="en-US"/>
                    </a:p>
                  </a:txBody>
                  <a:tcPr/>
                </a:tc>
                <a:tc>
                  <a:txBody>
                    <a:bodyPr/>
                    <a:lstStyle/>
                    <a:p>
                      <a:pPr marL="116840" marR="0" eaLnBrk="0">
                        <a:lnSpc>
                          <a:spcPct val="91000"/>
                        </a:lnSpc>
                        <a:spcBef>
                          <a:spcPts val="505"/>
                        </a:spcBef>
                        <a:spcAft>
                          <a:spcPts val="0"/>
                        </a:spcAft>
                      </a:pPr>
                      <a:r>
                        <a:rPr lang="zh-CN" sz="1800" spc="-10">
                          <a:effectLst/>
                          <a:latin typeface="SimHei" panose="02010609060101010101" pitchFamily="49" charset="-122"/>
                          <a:ea typeface="SimHei" panose="02010609060101010101" pitchFamily="49" charset="-122"/>
                        </a:rPr>
                        <a:t>不溶性颜料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18440" marR="0" eaLnBrk="0">
                        <a:lnSpc>
                          <a:spcPct val="91000"/>
                        </a:lnSpc>
                        <a:spcBef>
                          <a:spcPts val="500"/>
                        </a:spcBef>
                        <a:spcAft>
                          <a:spcPts val="0"/>
                        </a:spcAft>
                      </a:pPr>
                      <a:r>
                        <a:rPr lang="zh-CN" sz="1800" spc="35">
                          <a:effectLst/>
                          <a:latin typeface="SimHei" panose="02010609060101010101" pitchFamily="49" charset="-122"/>
                          <a:ea typeface="SimHei" panose="02010609060101010101" pitchFamily="49" charset="-122"/>
                        </a:rPr>
                        <a:t>炭黑、云母钛、鸟嘌呤、铝粉</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extLst>
                  <a:ext uri="{0D108BD9-81ED-4DB2-BD59-A6C34878D82A}">
                    <a16:rowId xmlns:a16="http://schemas.microsoft.com/office/drawing/2014/main" val="1459254181"/>
                  </a:ext>
                </a:extLst>
              </a:tr>
              <a:tr h="253365">
                <a:tc vMerge="1">
                  <a:txBody>
                    <a:bodyPr/>
                    <a:lstStyle/>
                    <a:p>
                      <a:endParaRPr lang="en-US"/>
                    </a:p>
                  </a:txBody>
                  <a:tcPr/>
                </a:tc>
                <a:tc>
                  <a:txBody>
                    <a:bodyPr/>
                    <a:lstStyle/>
                    <a:p>
                      <a:pPr marL="97790" marR="0" eaLnBrk="0">
                        <a:lnSpc>
                          <a:spcPct val="91000"/>
                        </a:lnSpc>
                        <a:spcBef>
                          <a:spcPts val="505"/>
                        </a:spcBef>
                        <a:spcAft>
                          <a:spcPts val="0"/>
                        </a:spcAft>
                      </a:pPr>
                      <a:r>
                        <a:rPr lang="zh-CN" sz="1800" spc="-10">
                          <a:effectLst/>
                          <a:latin typeface="SimHei" panose="02010609060101010101" pitchFamily="49" charset="-122"/>
                          <a:ea typeface="SimHei" panose="02010609060101010101" pitchFamily="49" charset="-122"/>
                        </a:rPr>
                        <a:t>珠光颜料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18440" marR="0" eaLnBrk="0">
                        <a:lnSpc>
                          <a:spcPct val="91000"/>
                        </a:lnSpc>
                        <a:spcBef>
                          <a:spcPts val="500"/>
                        </a:spcBef>
                        <a:spcAft>
                          <a:spcPts val="0"/>
                        </a:spcAft>
                      </a:pPr>
                      <a:r>
                        <a:rPr lang="zh-CN" sz="1800" spc="15">
                          <a:effectLst/>
                          <a:latin typeface="SimHei" panose="02010609060101010101" pitchFamily="49" charset="-122"/>
                          <a:ea typeface="SimHei" panose="02010609060101010101" pitchFamily="49" charset="-122"/>
                        </a:rPr>
                        <a:t>云母</a:t>
                      </a:r>
                      <a:r>
                        <a:rPr lang="en-US" sz="1800" spc="15">
                          <a:effectLst/>
                          <a:latin typeface="SimHei" panose="02010609060101010101" pitchFamily="49" charset="-122"/>
                          <a:ea typeface="SimHei" panose="02010609060101010101" pitchFamily="49" charset="-122"/>
                        </a:rPr>
                        <a:t>-</a:t>
                      </a:r>
                      <a:r>
                        <a:rPr lang="zh-CN" sz="1800" spc="15">
                          <a:effectLst/>
                          <a:latin typeface="SimHei" panose="02010609060101010101" pitchFamily="49" charset="-122"/>
                          <a:ea typeface="SimHei" panose="02010609060101010101" pitchFamily="49" charset="-122"/>
                        </a:rPr>
                        <a:t>二氧化钛、氯氧化铋</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extLst>
                  <a:ext uri="{0D108BD9-81ED-4DB2-BD59-A6C34878D82A}">
                    <a16:rowId xmlns:a16="http://schemas.microsoft.com/office/drawing/2014/main" val="1409871429"/>
                  </a:ext>
                </a:extLst>
              </a:tr>
              <a:tr h="614045">
                <a:tc gridSpan="2">
                  <a:txBody>
                    <a:bodyPr/>
                    <a:lstStyle/>
                    <a:p>
                      <a:pPr marL="0" marR="0" eaLnBrk="0">
                        <a:lnSpc>
                          <a:spcPct val="13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88265" marR="0" eaLnBrk="0">
                        <a:lnSpc>
                          <a:spcPct val="91000"/>
                        </a:lnSpc>
                        <a:spcBef>
                          <a:spcPts val="340"/>
                        </a:spcBef>
                        <a:spcAft>
                          <a:spcPts val="0"/>
                        </a:spcAft>
                      </a:pPr>
                      <a:r>
                        <a:rPr lang="zh-CN" sz="1800" spc="-15">
                          <a:effectLst/>
                          <a:latin typeface="SimHei" panose="02010609060101010101" pitchFamily="49" charset="-122"/>
                          <a:ea typeface="SimHei" panose="02010609060101010101" pitchFamily="49" charset="-122"/>
                        </a:rPr>
                        <a:t>油脂和蜡</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04140" marR="0" indent="112395" algn="just" eaLnBrk="0">
                        <a:lnSpc>
                          <a:spcPct val="103000"/>
                        </a:lnSpc>
                        <a:spcBef>
                          <a:spcPts val="510"/>
                        </a:spcBef>
                        <a:spcAft>
                          <a:spcPts val="0"/>
                        </a:spcAft>
                        <a:tabLst>
                          <a:tab pos="3693795" algn="l"/>
                        </a:tabLst>
                      </a:pPr>
                      <a:r>
                        <a:rPr lang="zh-CN" sz="1800" spc="50" dirty="0">
                          <a:effectLst/>
                          <a:latin typeface="SimHei" panose="02010609060101010101" pitchFamily="49" charset="-122"/>
                          <a:ea typeface="SimHei" panose="02010609060101010101" pitchFamily="49" charset="-122"/>
                        </a:rPr>
                        <a:t>精制蓖麻油、可可脂、羊毛脂及其衍生物、鲸蜡、鲸蜡醇、</a:t>
                      </a:r>
                      <a:r>
                        <a:rPr lang="zh-CN" sz="1800" spc="65" dirty="0">
                          <a:effectLst/>
                          <a:latin typeface="SimHei" panose="02010609060101010101" pitchFamily="49" charset="-122"/>
                          <a:ea typeface="SimHei" panose="02010609060101010101" pitchFamily="49" charset="-122"/>
                        </a:rPr>
                        <a:t> </a:t>
                      </a:r>
                      <a:r>
                        <a:rPr lang="zh-CN" sz="1800" spc="45" dirty="0">
                          <a:effectLst/>
                          <a:latin typeface="SimHei" panose="02010609060101010101" pitchFamily="49" charset="-122"/>
                          <a:ea typeface="SimHei" panose="02010609060101010101" pitchFamily="49" charset="-122"/>
                        </a:rPr>
                        <a:t>单硬脂酸甘油酯、肉豆蔻酸异丙酯、地蜡和精制地蜡、巴西</a:t>
                      </a:r>
                      <a:r>
                        <a:rPr lang="en-US" sz="1800" dirty="0">
                          <a:effectLst/>
                          <a:latin typeface="SimHei" panose="02010609060101010101" pitchFamily="49" charset="-122"/>
                          <a:ea typeface="SimHei" panose="02010609060101010101" pitchFamily="49" charset="-122"/>
                        </a:rPr>
                        <a:t> </a:t>
                      </a:r>
                      <a:r>
                        <a:rPr lang="zh-CN" sz="1800" spc="65" dirty="0">
                          <a:effectLst/>
                          <a:latin typeface="SimHei" panose="02010609060101010101" pitchFamily="49" charset="-122"/>
                          <a:ea typeface="SimHei" panose="02010609060101010101" pitchFamily="49" charset="-122"/>
                        </a:rPr>
                        <a:t>棕榈蜡、蜂蜡、小烛树蜡、凡士林、卵磷脂等</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lnSpc>
                          <a:spcPct val="13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104140" marR="0" eaLnBrk="0">
                        <a:lnSpc>
                          <a:spcPct val="91000"/>
                        </a:lnSpc>
                        <a:spcBef>
                          <a:spcPts val="340"/>
                        </a:spcBef>
                        <a:spcAft>
                          <a:spcPts val="0"/>
                        </a:spcAft>
                      </a:pPr>
                      <a:r>
                        <a:rPr lang="zh-CN" sz="1800" spc="10">
                          <a:effectLst/>
                          <a:latin typeface="SimHei" panose="02010609060101010101" pitchFamily="49" charset="-122"/>
                          <a:ea typeface="SimHei" panose="02010609060101010101" pitchFamily="49" charset="-122"/>
                        </a:rPr>
                        <a:t>溶解颜料、滋润</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402293554"/>
                  </a:ext>
                </a:extLst>
              </a:tr>
              <a:tr h="253365">
                <a:tc gridSpan="2">
                  <a:txBody>
                    <a:bodyPr/>
                    <a:lstStyle/>
                    <a:p>
                      <a:pPr marL="88265" marR="0" eaLnBrk="0">
                        <a:lnSpc>
                          <a:spcPct val="91000"/>
                        </a:lnSpc>
                        <a:spcBef>
                          <a:spcPts val="520"/>
                        </a:spcBef>
                        <a:spcAft>
                          <a:spcPts val="0"/>
                        </a:spcAft>
                      </a:pPr>
                      <a:r>
                        <a:rPr lang="zh-CN" sz="1800" spc="10">
                          <a:effectLst/>
                          <a:latin typeface="SimHei" panose="02010609060101010101" pitchFamily="49" charset="-122"/>
                          <a:ea typeface="SimHei" panose="02010609060101010101" pitchFamily="49" charset="-122"/>
                        </a:rPr>
                        <a:t>其他添加剂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18440" marR="0" eaLnBrk="0">
                        <a:lnSpc>
                          <a:spcPct val="91000"/>
                        </a:lnSpc>
                        <a:spcBef>
                          <a:spcPts val="520"/>
                        </a:spcBef>
                        <a:spcAft>
                          <a:spcPts val="0"/>
                        </a:spcAft>
                      </a:pPr>
                      <a:r>
                        <a:rPr lang="zh-CN" sz="1800" spc="80">
                          <a:effectLst/>
                          <a:latin typeface="SimHei" panose="02010609060101010101" pitchFamily="49" charset="-122"/>
                          <a:ea typeface="SimHei" panose="02010609060101010101" pitchFamily="49" charset="-122"/>
                        </a:rPr>
                        <a:t>泛醇、磷脂、维生素</a:t>
                      </a:r>
                      <a:r>
                        <a:rPr lang="en-US" sz="1800" spc="80">
                          <a:effectLst/>
                          <a:latin typeface="SimHei" panose="02010609060101010101" pitchFamily="49" charset="-122"/>
                          <a:ea typeface="SimHei" panose="02010609060101010101" pitchFamily="49" charset="-122"/>
                        </a:rPr>
                        <a:t>A</a:t>
                      </a:r>
                      <a:r>
                        <a:rPr lang="zh-CN" sz="1800" spc="80">
                          <a:effectLst/>
                          <a:latin typeface="SimHei" panose="02010609060101010101" pitchFamily="49" charset="-122"/>
                          <a:ea typeface="SimHei" panose="02010609060101010101" pitchFamily="49" charset="-122"/>
                        </a:rPr>
                        <a:t>、维生素</a:t>
                      </a:r>
                      <a:r>
                        <a:rPr lang="en-US" sz="1800" spc="80">
                          <a:effectLst/>
                          <a:latin typeface="SimHei" panose="02010609060101010101" pitchFamily="49" charset="-122"/>
                          <a:ea typeface="SimHei" panose="02010609060101010101" pitchFamily="49" charset="-122"/>
                        </a:rPr>
                        <a:t>E</a:t>
                      </a:r>
                      <a:r>
                        <a:rPr lang="zh-CN" sz="1800" spc="80">
                          <a:effectLst/>
                          <a:latin typeface="SimHei" panose="02010609060101010101" pitchFamily="49" charset="-122"/>
                          <a:ea typeface="SimHei" panose="02010609060101010101" pitchFamily="49" charset="-122"/>
                        </a:rPr>
                        <a:t>、防晒剂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140" marR="0" eaLnBrk="0">
                        <a:lnSpc>
                          <a:spcPct val="91000"/>
                        </a:lnSpc>
                        <a:spcBef>
                          <a:spcPts val="530"/>
                        </a:spcBef>
                        <a:spcAft>
                          <a:spcPts val="0"/>
                        </a:spcAft>
                      </a:pPr>
                      <a:r>
                        <a:rPr lang="zh-CN" sz="1800" spc="-5">
                          <a:effectLst/>
                          <a:latin typeface="SimHei" panose="02010609060101010101" pitchFamily="49" charset="-122"/>
                          <a:ea typeface="SimHei" panose="02010609060101010101" pitchFamily="49" charset="-122"/>
                        </a:rPr>
                        <a:t>保湿、防裂、防晒</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898230251"/>
                  </a:ext>
                </a:extLst>
              </a:tr>
              <a:tr h="255905">
                <a:tc gridSpan="2">
                  <a:txBody>
                    <a:bodyPr/>
                    <a:lstStyle/>
                    <a:p>
                      <a:pPr marL="88265" marR="0" eaLnBrk="0">
                        <a:lnSpc>
                          <a:spcPct val="91000"/>
                        </a:lnSpc>
                        <a:spcBef>
                          <a:spcPts val="525"/>
                        </a:spcBef>
                        <a:spcAft>
                          <a:spcPts val="0"/>
                        </a:spcAft>
                      </a:pPr>
                      <a:r>
                        <a:rPr lang="zh-CN" sz="1800" spc="25">
                          <a:effectLst/>
                          <a:latin typeface="SimHei" panose="02010609060101010101" pitchFamily="49" charset="-122"/>
                          <a:ea typeface="SimHei" panose="02010609060101010101" pitchFamily="49" charset="-122"/>
                        </a:rPr>
                        <a:t>香精</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18440" marR="0" eaLnBrk="0">
                        <a:lnSpc>
                          <a:spcPct val="91000"/>
                        </a:lnSpc>
                        <a:spcBef>
                          <a:spcPts val="530"/>
                        </a:spcBef>
                        <a:spcAft>
                          <a:spcPts val="0"/>
                        </a:spcAft>
                      </a:pPr>
                      <a:r>
                        <a:rPr lang="zh-CN" sz="1800" spc="45">
                          <a:effectLst/>
                          <a:latin typeface="SimHei" panose="02010609060101010101" pitchFamily="49" charset="-122"/>
                          <a:ea typeface="SimHei" panose="02010609060101010101" pitchFamily="49" charset="-122"/>
                        </a:rPr>
                        <a:t>玫瑰醇和酯类、无萜烯类</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140" marR="0" eaLnBrk="0">
                        <a:lnSpc>
                          <a:spcPct val="92000"/>
                        </a:lnSpc>
                        <a:spcBef>
                          <a:spcPts val="535"/>
                        </a:spcBef>
                        <a:spcAft>
                          <a:spcPts val="0"/>
                        </a:spcAft>
                      </a:pPr>
                      <a:r>
                        <a:rPr lang="zh-CN" sz="1800" spc="-15" dirty="0">
                          <a:effectLst/>
                          <a:latin typeface="SimHei" panose="02010609060101010101" pitchFamily="49" charset="-122"/>
                          <a:ea typeface="SimHei" panose="02010609060101010101" pitchFamily="49" charset="-122"/>
                        </a:rPr>
                        <a:t>赋香</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430280024"/>
                  </a:ext>
                </a:extLst>
              </a:tr>
            </a:tbl>
          </a:graphicData>
        </a:graphic>
      </p:graphicFrame>
    </p:spTree>
    <p:extLst>
      <p:ext uri="{BB962C8B-B14F-4D97-AF65-F5344CB8AC3E}">
        <p14:creationId xmlns:p14="http://schemas.microsoft.com/office/powerpoint/2010/main" val="3804771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唇蜜</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唇彩</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唇油配方结构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682577"/>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唇蜜</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唇彩</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唇油的基质组分主要包括着色剂、油脂、防腐剂等。相对于唇膏，较少使用蜡类原料，肤感更柔软，同时配方可以不考虑产品固体形态问题而大量使用滋润度更高的油脂等润唇剂。</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283EAE98-A57A-209A-B4F5-AC85706ED258}"/>
              </a:ext>
            </a:extLst>
          </p:cNvPr>
          <p:cNvGraphicFramePr>
            <a:graphicFrameLocks noGrp="1"/>
          </p:cNvGraphicFramePr>
          <p:nvPr>
            <p:extLst>
              <p:ext uri="{D42A27DB-BD31-4B8C-83A1-F6EECF244321}">
                <p14:modId xmlns:p14="http://schemas.microsoft.com/office/powerpoint/2010/main" val="230360539"/>
              </p:ext>
            </p:extLst>
          </p:nvPr>
        </p:nvGraphicFramePr>
        <p:xfrm>
          <a:off x="182879" y="2816892"/>
          <a:ext cx="8778239" cy="2552002"/>
        </p:xfrm>
        <a:graphic>
          <a:graphicData uri="http://schemas.openxmlformats.org/drawingml/2006/table">
            <a:tbl>
              <a:tblPr firstRow="1" firstCol="1" bandRow="1">
                <a:tableStyleId>{72833802-FEF1-4C79-8D5D-14CF1EAF98D9}</a:tableStyleId>
              </a:tblPr>
              <a:tblGrid>
                <a:gridCol w="990401">
                  <a:extLst>
                    <a:ext uri="{9D8B030D-6E8A-4147-A177-3AD203B41FA5}">
                      <a16:colId xmlns:a16="http://schemas.microsoft.com/office/drawing/2014/main" val="1466831986"/>
                    </a:ext>
                  </a:extLst>
                </a:gridCol>
                <a:gridCol w="1727575">
                  <a:extLst>
                    <a:ext uri="{9D8B030D-6E8A-4147-A177-3AD203B41FA5}">
                      <a16:colId xmlns:a16="http://schemas.microsoft.com/office/drawing/2014/main" val="2034611757"/>
                    </a:ext>
                  </a:extLst>
                </a:gridCol>
                <a:gridCol w="4683663">
                  <a:extLst>
                    <a:ext uri="{9D8B030D-6E8A-4147-A177-3AD203B41FA5}">
                      <a16:colId xmlns:a16="http://schemas.microsoft.com/office/drawing/2014/main" val="704992684"/>
                    </a:ext>
                  </a:extLst>
                </a:gridCol>
                <a:gridCol w="1376600">
                  <a:extLst>
                    <a:ext uri="{9D8B030D-6E8A-4147-A177-3AD203B41FA5}">
                      <a16:colId xmlns:a16="http://schemas.microsoft.com/office/drawing/2014/main" val="3451863030"/>
                    </a:ext>
                  </a:extLst>
                </a:gridCol>
              </a:tblGrid>
              <a:tr h="255905">
                <a:tc gridSpan="2">
                  <a:txBody>
                    <a:bodyPr/>
                    <a:lstStyle/>
                    <a:p>
                      <a:pPr marL="615950" marR="0" eaLnBrk="0">
                        <a:lnSpc>
                          <a:spcPct val="91000"/>
                        </a:lnSpc>
                        <a:spcBef>
                          <a:spcPts val="470"/>
                        </a:spcBef>
                        <a:spcAft>
                          <a:spcPts val="0"/>
                        </a:spcAft>
                      </a:pPr>
                      <a:r>
                        <a:rPr lang="zh-CN" sz="1800" spc="-30">
                          <a:effectLst/>
                          <a:latin typeface="SimHei" panose="02010609060101010101" pitchFamily="49" charset="-122"/>
                          <a:ea typeface="SimHei" panose="02010609060101010101" pitchFamily="49" charset="-122"/>
                        </a:rPr>
                        <a:t>组</a:t>
                      </a:r>
                      <a:r>
                        <a:rPr lang="en-US" sz="1800" spc="75">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400175"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代表性原料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72440" marR="0" eaLnBrk="0">
                        <a:lnSpc>
                          <a:spcPct val="92000"/>
                        </a:lnSpc>
                        <a:spcBef>
                          <a:spcPts val="475"/>
                        </a:spcBef>
                        <a:spcAft>
                          <a:spcPts val="0"/>
                        </a:spcAft>
                      </a:pPr>
                      <a:r>
                        <a:rPr lang="zh-CN" sz="1800" spc="10">
                          <a:effectLst/>
                          <a:latin typeface="SimHei" panose="02010609060101010101" pitchFamily="49" charset="-122"/>
                          <a:ea typeface="SimHei" panose="02010609060101010101" pitchFamily="49" charset="-122"/>
                        </a:rPr>
                        <a:t>主要功能</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402767084"/>
                  </a:ext>
                </a:extLst>
              </a:tr>
              <a:tr h="247015">
                <a:tc rowSpan="3">
                  <a:txBody>
                    <a:bodyPr/>
                    <a:lstStyle/>
                    <a:p>
                      <a:pPr marL="0" marR="0" eaLnBrk="0">
                        <a:lnSpc>
                          <a:spcPct val="177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88900" marR="0" eaLnBrk="0">
                        <a:lnSpc>
                          <a:spcPct val="91000"/>
                        </a:lnSpc>
                        <a:spcBef>
                          <a:spcPts val="360"/>
                        </a:spcBef>
                        <a:spcAft>
                          <a:spcPts val="0"/>
                        </a:spcAft>
                      </a:pPr>
                      <a:r>
                        <a:rPr lang="zh-CN" sz="1800" spc="20">
                          <a:effectLst/>
                          <a:latin typeface="SimHei" panose="02010609060101010101" pitchFamily="49" charset="-122"/>
                          <a:ea typeface="SimHei" panose="02010609060101010101" pitchFamily="49" charset="-122"/>
                        </a:rPr>
                        <a:t>着色剂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1440" marR="0" eaLnBrk="0">
                        <a:lnSpc>
                          <a:spcPct val="91000"/>
                        </a:lnSpc>
                        <a:spcBef>
                          <a:spcPts val="455"/>
                        </a:spcBef>
                        <a:spcAft>
                          <a:spcPts val="0"/>
                        </a:spcAft>
                      </a:pPr>
                      <a:r>
                        <a:rPr lang="zh-CN" sz="1800" spc="-10">
                          <a:effectLst/>
                          <a:latin typeface="SimHei" panose="02010609060101010101" pitchFamily="49" charset="-122"/>
                          <a:ea typeface="SimHei" panose="02010609060101010101" pitchFamily="49" charset="-122"/>
                        </a:rPr>
                        <a:t>溶解性颜料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1140" marR="0" eaLnBrk="0">
                        <a:lnSpc>
                          <a:spcPct val="91000"/>
                        </a:lnSpc>
                        <a:spcBef>
                          <a:spcPts val="455"/>
                        </a:spcBef>
                        <a:spcAft>
                          <a:spcPts val="0"/>
                        </a:spcAft>
                      </a:pPr>
                      <a:r>
                        <a:rPr lang="en-US" sz="1800" spc="-25">
                          <a:effectLst/>
                          <a:latin typeface="SimHei" panose="02010609060101010101" pitchFamily="49" charset="-122"/>
                          <a:ea typeface="SimHei" panose="02010609060101010101" pitchFamily="49" charset="-122"/>
                        </a:rPr>
                        <a:t>CI77492</a:t>
                      </a:r>
                      <a:r>
                        <a:rPr lang="zh-CN" sz="1800" spc="-25">
                          <a:effectLst/>
                          <a:latin typeface="SimHei" panose="02010609060101010101" pitchFamily="49" charset="-122"/>
                          <a:ea typeface="SimHei" panose="02010609060101010101" pitchFamily="49" charset="-122"/>
                        </a:rPr>
                        <a:t>、</a:t>
                      </a:r>
                      <a:r>
                        <a:rPr lang="en-US" sz="1800" spc="-25">
                          <a:effectLst/>
                          <a:latin typeface="SimHei" panose="02010609060101010101" pitchFamily="49" charset="-122"/>
                          <a:ea typeface="SimHei" panose="02010609060101010101" pitchFamily="49" charset="-122"/>
                        </a:rPr>
                        <a:t>CI73360</a:t>
                      </a:r>
                      <a:r>
                        <a:rPr lang="zh-CN" sz="1800" spc="-25">
                          <a:effectLst/>
                          <a:latin typeface="SimHei" panose="02010609060101010101" pitchFamily="49" charset="-122"/>
                          <a:ea typeface="SimHei" panose="02010609060101010101" pitchFamily="49" charset="-122"/>
                        </a:rPr>
                        <a:t>、</a:t>
                      </a:r>
                      <a:r>
                        <a:rPr lang="en-US" sz="1800" spc="-25">
                          <a:effectLst/>
                          <a:latin typeface="SimHei" panose="02010609060101010101" pitchFamily="49" charset="-122"/>
                          <a:ea typeface="SimHei" panose="02010609060101010101" pitchFamily="49" charset="-122"/>
                        </a:rPr>
                        <a:t>CI16035</a:t>
                      </a:r>
                      <a:r>
                        <a:rPr lang="zh-CN" sz="1800" spc="-25">
                          <a:effectLst/>
                          <a:latin typeface="SimHei" panose="02010609060101010101" pitchFamily="49" charset="-122"/>
                          <a:ea typeface="SimHei" panose="02010609060101010101" pitchFamily="49" charset="-122"/>
                        </a:rPr>
                        <a:t>、</a:t>
                      </a:r>
                      <a:r>
                        <a:rPr lang="en-US" sz="1800" spc="70">
                          <a:effectLst/>
                          <a:latin typeface="SimHei" panose="02010609060101010101" pitchFamily="49" charset="-122"/>
                          <a:ea typeface="SimHei" panose="02010609060101010101" pitchFamily="49" charset="-122"/>
                        </a:rPr>
                        <a:t>   </a:t>
                      </a:r>
                      <a:r>
                        <a:rPr lang="en-US" sz="1800" spc="-25">
                          <a:effectLst/>
                          <a:latin typeface="SimHei" panose="02010609060101010101" pitchFamily="49" charset="-122"/>
                          <a:ea typeface="SimHei" panose="02010609060101010101" pitchFamily="49" charset="-122"/>
                        </a:rPr>
                        <a:t>CI77742</a:t>
                      </a:r>
                      <a:r>
                        <a:rPr lang="zh-CN" sz="1800" spc="-25">
                          <a:effectLst/>
                          <a:latin typeface="SimHei" panose="02010609060101010101" pitchFamily="49" charset="-122"/>
                          <a:ea typeface="SimHei" panose="02010609060101010101" pitchFamily="49" charset="-122"/>
                        </a:rPr>
                        <a:t>等</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3">
                  <a:txBody>
                    <a:bodyPr/>
                    <a:lstStyle/>
                    <a:p>
                      <a:pPr marL="0" marR="0" eaLnBrk="0">
                        <a:lnSpc>
                          <a:spcPct val="177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91440" marR="0" eaLnBrk="0">
                        <a:lnSpc>
                          <a:spcPct val="91000"/>
                        </a:lnSpc>
                        <a:spcBef>
                          <a:spcPts val="355"/>
                        </a:spcBef>
                        <a:spcAft>
                          <a:spcPts val="0"/>
                        </a:spcAft>
                      </a:pPr>
                      <a:r>
                        <a:rPr lang="zh-CN" sz="1800" spc="-10">
                          <a:effectLst/>
                          <a:latin typeface="SimHei" panose="02010609060101010101" pitchFamily="49" charset="-122"/>
                          <a:ea typeface="SimHei" panose="02010609060101010101" pitchFamily="49" charset="-122"/>
                        </a:rPr>
                        <a:t>着色性</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975757947"/>
                  </a:ext>
                </a:extLst>
              </a:tr>
              <a:tr h="253365">
                <a:tc vMerge="1">
                  <a:txBody>
                    <a:bodyPr/>
                    <a:lstStyle/>
                    <a:p>
                      <a:endParaRPr lang="en-US"/>
                    </a:p>
                  </a:txBody>
                  <a:tcPr/>
                </a:tc>
                <a:tc>
                  <a:txBody>
                    <a:bodyPr/>
                    <a:lstStyle/>
                    <a:p>
                      <a:pPr marL="91440" marR="0" eaLnBrk="0">
                        <a:lnSpc>
                          <a:spcPct val="91000"/>
                        </a:lnSpc>
                        <a:spcBef>
                          <a:spcPts val="460"/>
                        </a:spcBef>
                        <a:spcAft>
                          <a:spcPts val="0"/>
                        </a:spcAft>
                      </a:pPr>
                      <a:r>
                        <a:rPr lang="zh-CN" sz="1800" spc="-10">
                          <a:effectLst/>
                          <a:latin typeface="SimHei" panose="02010609060101010101" pitchFamily="49" charset="-122"/>
                          <a:ea typeface="SimHei" panose="02010609060101010101" pitchFamily="49" charset="-122"/>
                        </a:rPr>
                        <a:t>不溶性颜料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1140" marR="0" eaLnBrk="0">
                        <a:lnSpc>
                          <a:spcPct val="91000"/>
                        </a:lnSpc>
                        <a:spcBef>
                          <a:spcPts val="460"/>
                        </a:spcBef>
                        <a:spcAft>
                          <a:spcPts val="0"/>
                        </a:spcAft>
                      </a:pPr>
                      <a:r>
                        <a:rPr lang="zh-CN" sz="1800">
                          <a:effectLst/>
                          <a:latin typeface="SimHei" panose="02010609060101010101" pitchFamily="49" charset="-122"/>
                          <a:ea typeface="SimHei" panose="02010609060101010101" pitchFamily="49" charset="-122"/>
                        </a:rPr>
                        <a:t>炭黑、云母钛、鸟嘌呤、铝粉</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extLst>
                  <a:ext uri="{0D108BD9-81ED-4DB2-BD59-A6C34878D82A}">
                    <a16:rowId xmlns:a16="http://schemas.microsoft.com/office/drawing/2014/main" val="2893167808"/>
                  </a:ext>
                </a:extLst>
              </a:tr>
              <a:tr h="252730">
                <a:tc vMerge="1">
                  <a:txBody>
                    <a:bodyPr/>
                    <a:lstStyle/>
                    <a:p>
                      <a:endParaRPr lang="en-US"/>
                    </a:p>
                  </a:txBody>
                  <a:tcPr/>
                </a:tc>
                <a:tc>
                  <a:txBody>
                    <a:bodyPr/>
                    <a:lstStyle/>
                    <a:p>
                      <a:pPr marL="91440" marR="0" eaLnBrk="0">
                        <a:lnSpc>
                          <a:spcPct val="91000"/>
                        </a:lnSpc>
                        <a:spcBef>
                          <a:spcPts val="465"/>
                        </a:spcBef>
                        <a:spcAft>
                          <a:spcPts val="0"/>
                        </a:spcAft>
                      </a:pPr>
                      <a:r>
                        <a:rPr lang="zh-CN" sz="1800" spc="-10">
                          <a:effectLst/>
                          <a:latin typeface="SimHei" panose="02010609060101010101" pitchFamily="49" charset="-122"/>
                          <a:ea typeface="SimHei" panose="02010609060101010101" pitchFamily="49" charset="-122"/>
                        </a:rPr>
                        <a:t>珠光颜料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1140" marR="0" eaLnBrk="0">
                        <a:lnSpc>
                          <a:spcPct val="91000"/>
                        </a:lnSpc>
                        <a:spcBef>
                          <a:spcPts val="455"/>
                        </a:spcBef>
                        <a:spcAft>
                          <a:spcPts val="0"/>
                        </a:spcAft>
                      </a:pPr>
                      <a:r>
                        <a:rPr lang="zh-CN" sz="1800" spc="5">
                          <a:effectLst/>
                          <a:latin typeface="SimHei" panose="02010609060101010101" pitchFamily="49" charset="-122"/>
                          <a:ea typeface="SimHei" panose="02010609060101010101" pitchFamily="49" charset="-122"/>
                        </a:rPr>
                        <a:t>云母</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二氧化钛、氯氧化铋</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extLst>
                  <a:ext uri="{0D108BD9-81ED-4DB2-BD59-A6C34878D82A}">
                    <a16:rowId xmlns:a16="http://schemas.microsoft.com/office/drawing/2014/main" val="3914599165"/>
                  </a:ext>
                </a:extLst>
              </a:tr>
              <a:tr h="424180">
                <a:tc gridSpan="2">
                  <a:txBody>
                    <a:bodyPr/>
                    <a:lstStyle/>
                    <a:p>
                      <a:pPr marL="88900" marR="0" eaLnBrk="0">
                        <a:lnSpc>
                          <a:spcPct val="92000"/>
                        </a:lnSpc>
                        <a:spcBef>
                          <a:spcPts val="1180"/>
                        </a:spcBef>
                        <a:spcAft>
                          <a:spcPts val="0"/>
                        </a:spcAft>
                      </a:pPr>
                      <a:r>
                        <a:rPr lang="zh-CN" sz="1800" spc="25">
                          <a:effectLst/>
                          <a:latin typeface="SimHei" panose="02010609060101010101" pitchFamily="49" charset="-122"/>
                          <a:ea typeface="SimHei" panose="02010609060101010101" pitchFamily="49" charset="-122"/>
                        </a:rPr>
                        <a:t>油脂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11125" marR="15240" indent="120015" eaLnBrk="0">
                        <a:lnSpc>
                          <a:spcPct val="91000"/>
                        </a:lnSpc>
                        <a:spcBef>
                          <a:spcPts val="520"/>
                        </a:spcBef>
                        <a:spcAft>
                          <a:spcPts val="0"/>
                        </a:spcAft>
                      </a:pPr>
                      <a:r>
                        <a:rPr lang="zh-CN" sz="1800" dirty="0">
                          <a:effectLst/>
                          <a:latin typeface="SimHei" panose="02010609060101010101" pitchFamily="49" charset="-122"/>
                          <a:ea typeface="SimHei" panose="02010609060101010101" pitchFamily="49" charset="-122"/>
                        </a:rPr>
                        <a:t>二异硬脂醇苹果酸酯、植物羊毛脂、聚异丁烯、低黏</a:t>
                      </a:r>
                      <a:r>
                        <a:rPr lang="zh-CN" sz="1800" spc="-5" dirty="0">
                          <a:effectLst/>
                          <a:latin typeface="SimHei" panose="02010609060101010101" pitchFamily="49" charset="-122"/>
                          <a:ea typeface="SimHei" panose="02010609060101010101" pitchFamily="49" charset="-122"/>
                        </a:rPr>
                        <a:t>硅油、棕榈酸异辛酯等</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1440" marR="0" eaLnBrk="0">
                        <a:lnSpc>
                          <a:spcPct val="91000"/>
                        </a:lnSpc>
                        <a:spcBef>
                          <a:spcPts val="1175"/>
                        </a:spcBef>
                        <a:spcAft>
                          <a:spcPts val="0"/>
                        </a:spcAft>
                      </a:pPr>
                      <a:r>
                        <a:rPr lang="zh-CN" sz="1800" spc="10">
                          <a:effectLst/>
                          <a:latin typeface="SimHei" panose="02010609060101010101" pitchFamily="49" charset="-122"/>
                          <a:ea typeface="SimHei" panose="02010609060101010101" pitchFamily="49" charset="-122"/>
                        </a:rPr>
                        <a:t>溶解颜料、滋润</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805339139"/>
                  </a:ext>
                </a:extLst>
              </a:tr>
              <a:tr h="252730">
                <a:tc gridSpan="2">
                  <a:txBody>
                    <a:bodyPr/>
                    <a:lstStyle/>
                    <a:p>
                      <a:pPr marL="88900" marR="0" eaLnBrk="0">
                        <a:lnSpc>
                          <a:spcPct val="91000"/>
                        </a:lnSpc>
                        <a:spcBef>
                          <a:spcPts val="475"/>
                        </a:spcBef>
                        <a:spcAft>
                          <a:spcPts val="0"/>
                        </a:spcAft>
                      </a:pPr>
                      <a:r>
                        <a:rPr lang="zh-CN" sz="1800" spc="10">
                          <a:effectLst/>
                          <a:latin typeface="SimHei" panose="02010609060101010101" pitchFamily="49" charset="-122"/>
                          <a:ea typeface="SimHei" panose="02010609060101010101" pitchFamily="49" charset="-122"/>
                        </a:rPr>
                        <a:t>其他添加剂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31140" marR="0" eaLnBrk="0">
                        <a:lnSpc>
                          <a:spcPct val="91000"/>
                        </a:lnSpc>
                        <a:spcBef>
                          <a:spcPts val="475"/>
                        </a:spcBef>
                        <a:spcAft>
                          <a:spcPts val="0"/>
                        </a:spcAft>
                      </a:pPr>
                      <a:r>
                        <a:rPr lang="zh-CN" sz="1800">
                          <a:effectLst/>
                          <a:latin typeface="SimHei" panose="02010609060101010101" pitchFamily="49" charset="-122"/>
                          <a:ea typeface="SimHei" panose="02010609060101010101" pitchFamily="49" charset="-122"/>
                        </a:rPr>
                        <a:t>泛醇、磷脂、维生素</a:t>
                      </a:r>
                      <a:r>
                        <a:rPr lang="en-US" sz="1800">
                          <a:effectLst/>
                          <a:latin typeface="SimHei" panose="02010609060101010101" pitchFamily="49" charset="-122"/>
                          <a:ea typeface="SimHei" panose="02010609060101010101" pitchFamily="49" charset="-122"/>
                        </a:rPr>
                        <a:t>A</a:t>
                      </a:r>
                      <a:r>
                        <a:rPr lang="zh-CN" sz="1800">
                          <a:effectLst/>
                          <a:latin typeface="SimHei" panose="02010609060101010101" pitchFamily="49" charset="-122"/>
                          <a:ea typeface="SimHei" panose="02010609060101010101" pitchFamily="49" charset="-122"/>
                        </a:rPr>
                        <a:t>、维生素</a:t>
                      </a:r>
                      <a:r>
                        <a:rPr lang="en-US" sz="1800">
                          <a:effectLst/>
                          <a:latin typeface="SimHei" panose="02010609060101010101" pitchFamily="49" charset="-122"/>
                          <a:ea typeface="SimHei" panose="02010609060101010101" pitchFamily="49" charset="-122"/>
                        </a:rPr>
                        <a:t>E</a:t>
                      </a:r>
                      <a:r>
                        <a:rPr lang="zh-CN" sz="1800">
                          <a:effectLst/>
                          <a:latin typeface="SimHei" panose="02010609060101010101" pitchFamily="49" charset="-122"/>
                          <a:ea typeface="SimHei" panose="02010609060101010101" pitchFamily="49" charset="-122"/>
                        </a:rPr>
                        <a:t>、防晒剂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1440" marR="0" eaLnBrk="0">
                        <a:lnSpc>
                          <a:spcPct val="91000"/>
                        </a:lnSpc>
                        <a:spcBef>
                          <a:spcPts val="485"/>
                        </a:spcBef>
                        <a:spcAft>
                          <a:spcPts val="0"/>
                        </a:spcAft>
                      </a:pPr>
                      <a:r>
                        <a:rPr lang="zh-CN" sz="1800" spc="-10">
                          <a:effectLst/>
                          <a:latin typeface="SimHei" panose="02010609060101010101" pitchFamily="49" charset="-122"/>
                          <a:ea typeface="SimHei" panose="02010609060101010101" pitchFamily="49" charset="-122"/>
                        </a:rPr>
                        <a:t>保湿、防裂、防晒</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717949751"/>
                  </a:ext>
                </a:extLst>
              </a:tr>
              <a:tr h="262890">
                <a:tc gridSpan="2">
                  <a:txBody>
                    <a:bodyPr/>
                    <a:lstStyle/>
                    <a:p>
                      <a:pPr marL="88900" marR="0" eaLnBrk="0">
                        <a:lnSpc>
                          <a:spcPct val="91000"/>
                        </a:lnSpc>
                        <a:spcBef>
                          <a:spcPts val="535"/>
                        </a:spcBef>
                        <a:spcAft>
                          <a:spcPts val="0"/>
                        </a:spcAft>
                      </a:pPr>
                      <a:r>
                        <a:rPr lang="zh-CN" sz="1800" spc="25">
                          <a:effectLst/>
                          <a:latin typeface="SimHei" panose="02010609060101010101" pitchFamily="49" charset="-122"/>
                          <a:ea typeface="SimHei" panose="02010609060101010101" pitchFamily="49" charset="-122"/>
                        </a:rPr>
                        <a:t>香精</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31140" marR="0" eaLnBrk="0">
                        <a:lnSpc>
                          <a:spcPct val="91000"/>
                        </a:lnSpc>
                        <a:spcBef>
                          <a:spcPts val="545"/>
                        </a:spcBef>
                        <a:spcAft>
                          <a:spcPts val="0"/>
                        </a:spcAft>
                      </a:pPr>
                      <a:r>
                        <a:rPr lang="zh-CN" sz="1800" spc="-5">
                          <a:effectLst/>
                          <a:latin typeface="SimHei" panose="02010609060101010101" pitchFamily="49" charset="-122"/>
                          <a:ea typeface="SimHei" panose="02010609060101010101" pitchFamily="49" charset="-122"/>
                        </a:rPr>
                        <a:t>玫瑰醇和酯类、无萜烯类</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1440" marR="0" eaLnBrk="0">
                        <a:lnSpc>
                          <a:spcPct val="92000"/>
                        </a:lnSpc>
                        <a:spcBef>
                          <a:spcPts val="550"/>
                        </a:spcBef>
                        <a:spcAft>
                          <a:spcPts val="0"/>
                        </a:spcAft>
                      </a:pPr>
                      <a:r>
                        <a:rPr lang="zh-CN" sz="1800" spc="-15" dirty="0">
                          <a:effectLst/>
                          <a:latin typeface="SimHei" panose="02010609060101010101" pitchFamily="49" charset="-122"/>
                          <a:ea typeface="SimHei" panose="02010609060101010101" pitchFamily="49" charset="-122"/>
                        </a:rPr>
                        <a:t>赋香性</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66508471"/>
                  </a:ext>
                </a:extLst>
              </a:tr>
            </a:tbl>
          </a:graphicData>
        </a:graphic>
      </p:graphicFrame>
    </p:spTree>
    <p:extLst>
      <p:ext uri="{BB962C8B-B14F-4D97-AF65-F5344CB8AC3E}">
        <p14:creationId xmlns:p14="http://schemas.microsoft.com/office/powerpoint/2010/main" val="899993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唇釉配方结构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682577"/>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唇釉的基质组分主要包括水、多元醇、油脂、乳化剂、着色剂、增稠剂、防腐剂等。唇釉为了追求更好的水润感使用了乳化体系，使得体系中除了油脂外，还必须添加水和乳化剂等</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D84098DD-E4B9-9C0C-E9B1-807BE68FEF7B}"/>
              </a:ext>
            </a:extLst>
          </p:cNvPr>
          <p:cNvGraphicFramePr>
            <a:graphicFrameLocks noGrp="1"/>
          </p:cNvGraphicFramePr>
          <p:nvPr>
            <p:extLst>
              <p:ext uri="{D42A27DB-BD31-4B8C-83A1-F6EECF244321}">
                <p14:modId xmlns:p14="http://schemas.microsoft.com/office/powerpoint/2010/main" val="191468282"/>
              </p:ext>
            </p:extLst>
          </p:nvPr>
        </p:nvGraphicFramePr>
        <p:xfrm>
          <a:off x="182878" y="2855054"/>
          <a:ext cx="8778239" cy="3237115"/>
        </p:xfrm>
        <a:graphic>
          <a:graphicData uri="http://schemas.openxmlformats.org/drawingml/2006/table">
            <a:tbl>
              <a:tblPr firstRow="1" firstCol="1" bandRow="1">
                <a:tableStyleId>{72833802-FEF1-4C79-8D5D-14CF1EAF98D9}</a:tableStyleId>
              </a:tblPr>
              <a:tblGrid>
                <a:gridCol w="829985">
                  <a:extLst>
                    <a:ext uri="{9D8B030D-6E8A-4147-A177-3AD203B41FA5}">
                      <a16:colId xmlns:a16="http://schemas.microsoft.com/office/drawing/2014/main" val="285682244"/>
                    </a:ext>
                  </a:extLst>
                </a:gridCol>
                <a:gridCol w="1840696">
                  <a:extLst>
                    <a:ext uri="{9D8B030D-6E8A-4147-A177-3AD203B41FA5}">
                      <a16:colId xmlns:a16="http://schemas.microsoft.com/office/drawing/2014/main" val="1647861769"/>
                    </a:ext>
                  </a:extLst>
                </a:gridCol>
                <a:gridCol w="4787652">
                  <a:extLst>
                    <a:ext uri="{9D8B030D-6E8A-4147-A177-3AD203B41FA5}">
                      <a16:colId xmlns:a16="http://schemas.microsoft.com/office/drawing/2014/main" val="1235500663"/>
                    </a:ext>
                  </a:extLst>
                </a:gridCol>
                <a:gridCol w="1319906">
                  <a:extLst>
                    <a:ext uri="{9D8B030D-6E8A-4147-A177-3AD203B41FA5}">
                      <a16:colId xmlns:a16="http://schemas.microsoft.com/office/drawing/2014/main" val="1665269383"/>
                    </a:ext>
                  </a:extLst>
                </a:gridCol>
              </a:tblGrid>
              <a:tr h="293491">
                <a:tc gridSpan="2">
                  <a:txBody>
                    <a:bodyPr/>
                    <a:lstStyle/>
                    <a:p>
                      <a:pPr marL="564515" marR="0" eaLnBrk="0">
                        <a:lnSpc>
                          <a:spcPct val="91000"/>
                        </a:lnSpc>
                        <a:spcBef>
                          <a:spcPts val="470"/>
                        </a:spcBef>
                        <a:spcAft>
                          <a:spcPts val="0"/>
                        </a:spcAft>
                      </a:pPr>
                      <a:r>
                        <a:rPr lang="zh-CN" sz="1600" spc="-30">
                          <a:effectLst/>
                          <a:latin typeface="SimHei" panose="02010609060101010101" pitchFamily="49" charset="-122"/>
                          <a:ea typeface="SimHei" panose="02010609060101010101" pitchFamily="49" charset="-122"/>
                        </a:rPr>
                        <a:t>组</a:t>
                      </a:r>
                      <a:r>
                        <a:rPr lang="en-US" sz="1600" spc="25">
                          <a:effectLst/>
                          <a:latin typeface="SimHei" panose="02010609060101010101" pitchFamily="49" charset="-122"/>
                          <a:ea typeface="SimHei" panose="02010609060101010101" pitchFamily="49" charset="-122"/>
                        </a:rPr>
                        <a:t>  </a:t>
                      </a:r>
                      <a:r>
                        <a:rPr lang="zh-CN" sz="1600" spc="-30">
                          <a:effectLst/>
                          <a:latin typeface="SimHei" panose="02010609060101010101" pitchFamily="49" charset="-122"/>
                          <a:ea typeface="SimHei" panose="02010609060101010101" pitchFamily="49" charset="-122"/>
                        </a:rPr>
                        <a:t>分</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470025" marR="0" eaLnBrk="0">
                        <a:lnSpc>
                          <a:spcPct val="91000"/>
                        </a:lnSpc>
                        <a:spcBef>
                          <a:spcPts val="465"/>
                        </a:spcBef>
                        <a:spcAft>
                          <a:spcPts val="0"/>
                        </a:spcAft>
                      </a:pPr>
                      <a:r>
                        <a:rPr lang="zh-CN" sz="1600" spc="75">
                          <a:effectLst/>
                          <a:latin typeface="SimHei" panose="02010609060101010101" pitchFamily="49" charset="-122"/>
                          <a:ea typeface="SimHei" panose="02010609060101010101" pitchFamily="49" charset="-122"/>
                        </a:rPr>
                        <a:t>代表性原料</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67360" marR="0" eaLnBrk="0">
                        <a:lnSpc>
                          <a:spcPct val="92000"/>
                        </a:lnSpc>
                        <a:spcBef>
                          <a:spcPts val="470"/>
                        </a:spcBef>
                        <a:spcAft>
                          <a:spcPts val="0"/>
                        </a:spcAft>
                      </a:pPr>
                      <a:r>
                        <a:rPr lang="zh-CN" sz="1600" spc="10">
                          <a:effectLst/>
                          <a:latin typeface="SimHei" panose="02010609060101010101" pitchFamily="49" charset="-122"/>
                          <a:ea typeface="SimHei" panose="02010609060101010101" pitchFamily="49" charset="-122"/>
                        </a:rPr>
                        <a:t>主要功能</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124766432"/>
                  </a:ext>
                </a:extLst>
              </a:tr>
              <a:tr h="312113">
                <a:tc gridSpan="2">
                  <a:txBody>
                    <a:bodyPr/>
                    <a:lstStyle/>
                    <a:p>
                      <a:pPr marL="88900" marR="0" eaLnBrk="0">
                        <a:lnSpc>
                          <a:spcPct val="91000"/>
                        </a:lnSpc>
                        <a:spcBef>
                          <a:spcPts val="545"/>
                        </a:spcBef>
                        <a:spcAft>
                          <a:spcPts val="0"/>
                        </a:spcAft>
                      </a:pPr>
                      <a:r>
                        <a:rPr lang="zh-CN" sz="1600" spc="40">
                          <a:effectLst/>
                          <a:latin typeface="SimHei" panose="02010609060101010101" pitchFamily="49" charset="-122"/>
                          <a:ea typeface="SimHei" panose="02010609060101010101" pitchFamily="49" charset="-122"/>
                        </a:rPr>
                        <a:t>水相</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44475" marR="0" eaLnBrk="0">
                        <a:lnSpc>
                          <a:spcPct val="91000"/>
                        </a:lnSpc>
                        <a:spcBef>
                          <a:spcPts val="545"/>
                        </a:spcBef>
                        <a:spcAft>
                          <a:spcPts val="0"/>
                        </a:spcAft>
                      </a:pPr>
                      <a:r>
                        <a:rPr lang="zh-CN" sz="1600" spc="35">
                          <a:effectLst/>
                          <a:latin typeface="SimHei" panose="02010609060101010101" pitchFamily="49" charset="-122"/>
                          <a:ea typeface="SimHei" panose="02010609060101010101" pitchFamily="49" charset="-122"/>
                        </a:rPr>
                        <a:t>水、甘油、乙醇、丁二醇</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710" marR="0" eaLnBrk="0">
                        <a:lnSpc>
                          <a:spcPct val="91000"/>
                        </a:lnSpc>
                        <a:spcBef>
                          <a:spcPts val="540"/>
                        </a:spcBef>
                        <a:spcAft>
                          <a:spcPts val="0"/>
                        </a:spcAft>
                      </a:pPr>
                      <a:r>
                        <a:rPr lang="zh-CN" sz="1600" spc="-10">
                          <a:effectLst/>
                          <a:latin typeface="SimHei" panose="02010609060101010101" pitchFamily="49" charset="-122"/>
                          <a:ea typeface="SimHei" panose="02010609060101010101" pitchFamily="49" charset="-122"/>
                        </a:rPr>
                        <a:t>溶剂、保湿</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590446666"/>
                  </a:ext>
                </a:extLst>
              </a:tr>
              <a:tr h="289766">
                <a:tc rowSpan="3">
                  <a:txBody>
                    <a:bodyPr/>
                    <a:lstStyle/>
                    <a:p>
                      <a:pPr marL="0" marR="0" eaLnBrk="0">
                        <a:lnSpc>
                          <a:spcPct val="178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69850" marR="0" eaLnBrk="0">
                        <a:lnSpc>
                          <a:spcPct val="91000"/>
                        </a:lnSpc>
                        <a:spcBef>
                          <a:spcPts val="340"/>
                        </a:spcBef>
                        <a:spcAft>
                          <a:spcPts val="0"/>
                        </a:spcAft>
                      </a:pPr>
                      <a:r>
                        <a:rPr lang="zh-CN" sz="1600" spc="20">
                          <a:effectLst/>
                          <a:latin typeface="SimHei" panose="02010609060101010101" pitchFamily="49" charset="-122"/>
                          <a:ea typeface="SimHei" panose="02010609060101010101" pitchFamily="49" charset="-122"/>
                        </a:rPr>
                        <a:t>着色剂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8110" marR="0" eaLnBrk="0">
                        <a:lnSpc>
                          <a:spcPct val="91000"/>
                        </a:lnSpc>
                        <a:spcBef>
                          <a:spcPts val="455"/>
                        </a:spcBef>
                        <a:spcAft>
                          <a:spcPts val="0"/>
                        </a:spcAft>
                      </a:pPr>
                      <a:r>
                        <a:rPr lang="zh-CN" sz="1600" spc="-10">
                          <a:effectLst/>
                          <a:latin typeface="SimHei" panose="02010609060101010101" pitchFamily="49" charset="-122"/>
                          <a:ea typeface="SimHei" panose="02010609060101010101" pitchFamily="49" charset="-122"/>
                        </a:rPr>
                        <a:t>溶解性颜料</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44475" marR="0" eaLnBrk="0">
                        <a:lnSpc>
                          <a:spcPct val="91000"/>
                        </a:lnSpc>
                        <a:spcBef>
                          <a:spcPts val="450"/>
                        </a:spcBef>
                        <a:spcAft>
                          <a:spcPts val="0"/>
                        </a:spcAft>
                      </a:pPr>
                      <a:r>
                        <a:rPr lang="en-US" sz="1600">
                          <a:effectLst/>
                          <a:latin typeface="SimHei" panose="02010609060101010101" pitchFamily="49" charset="-122"/>
                          <a:ea typeface="SimHei" panose="02010609060101010101" pitchFamily="49" charset="-122"/>
                        </a:rPr>
                        <a:t>CI</a:t>
                      </a:r>
                      <a:r>
                        <a:rPr lang="en-US" sz="1600" spc="90">
                          <a:effectLst/>
                          <a:latin typeface="SimHei" panose="02010609060101010101" pitchFamily="49" charset="-122"/>
                          <a:ea typeface="SimHei" panose="02010609060101010101" pitchFamily="49" charset="-122"/>
                        </a:rPr>
                        <a:t>77492</a:t>
                      </a:r>
                      <a:r>
                        <a:rPr lang="zh-CN" sz="1600" spc="90">
                          <a:effectLst/>
                          <a:latin typeface="SimHei" panose="02010609060101010101" pitchFamily="49" charset="-122"/>
                          <a:ea typeface="SimHei" panose="02010609060101010101" pitchFamily="49" charset="-122"/>
                        </a:rPr>
                        <a:t>、</a:t>
                      </a:r>
                      <a:r>
                        <a:rPr lang="en-US" sz="1600">
                          <a:effectLst/>
                          <a:latin typeface="SimHei" panose="02010609060101010101" pitchFamily="49" charset="-122"/>
                          <a:ea typeface="SimHei" panose="02010609060101010101" pitchFamily="49" charset="-122"/>
                        </a:rPr>
                        <a:t>CI</a:t>
                      </a:r>
                      <a:r>
                        <a:rPr lang="en-US" sz="1600" spc="90">
                          <a:effectLst/>
                          <a:latin typeface="SimHei" panose="02010609060101010101" pitchFamily="49" charset="-122"/>
                          <a:ea typeface="SimHei" panose="02010609060101010101" pitchFamily="49" charset="-122"/>
                        </a:rPr>
                        <a:t>73360</a:t>
                      </a:r>
                      <a:r>
                        <a:rPr lang="zh-CN" sz="1600" spc="90">
                          <a:effectLst/>
                          <a:latin typeface="SimHei" panose="02010609060101010101" pitchFamily="49" charset="-122"/>
                          <a:ea typeface="SimHei" panose="02010609060101010101" pitchFamily="49" charset="-122"/>
                        </a:rPr>
                        <a:t>、</a:t>
                      </a:r>
                      <a:r>
                        <a:rPr lang="en-US" sz="1600">
                          <a:effectLst/>
                          <a:latin typeface="SimHei" panose="02010609060101010101" pitchFamily="49" charset="-122"/>
                          <a:ea typeface="SimHei" panose="02010609060101010101" pitchFamily="49" charset="-122"/>
                        </a:rPr>
                        <a:t>CI</a:t>
                      </a:r>
                      <a:r>
                        <a:rPr lang="en-US" sz="1600" spc="90">
                          <a:effectLst/>
                          <a:latin typeface="SimHei" panose="02010609060101010101" pitchFamily="49" charset="-122"/>
                          <a:ea typeface="SimHei" panose="02010609060101010101" pitchFamily="49" charset="-122"/>
                        </a:rPr>
                        <a:t>16035</a:t>
                      </a:r>
                      <a:r>
                        <a:rPr lang="zh-CN" sz="1600" spc="90">
                          <a:effectLst/>
                          <a:latin typeface="SimHei" panose="02010609060101010101" pitchFamily="49" charset="-122"/>
                          <a:ea typeface="SimHei" panose="02010609060101010101" pitchFamily="49" charset="-122"/>
                        </a:rPr>
                        <a:t>、</a:t>
                      </a:r>
                      <a:r>
                        <a:rPr lang="en-US" sz="1600">
                          <a:effectLst/>
                          <a:latin typeface="SimHei" panose="02010609060101010101" pitchFamily="49" charset="-122"/>
                          <a:ea typeface="SimHei" panose="02010609060101010101" pitchFamily="49" charset="-122"/>
                        </a:rPr>
                        <a:t>CI</a:t>
                      </a:r>
                      <a:r>
                        <a:rPr lang="en-US" sz="1600" spc="90">
                          <a:effectLst/>
                          <a:latin typeface="SimHei" panose="02010609060101010101" pitchFamily="49" charset="-122"/>
                          <a:ea typeface="SimHei" panose="02010609060101010101" pitchFamily="49" charset="-122"/>
                        </a:rPr>
                        <a:t>777</a:t>
                      </a:r>
                      <a:r>
                        <a:rPr lang="en-US" sz="1600" spc="85">
                          <a:effectLst/>
                          <a:latin typeface="SimHei" panose="02010609060101010101" pitchFamily="49" charset="-122"/>
                          <a:ea typeface="SimHei" panose="02010609060101010101" pitchFamily="49" charset="-122"/>
                        </a:rPr>
                        <a:t>42</a:t>
                      </a:r>
                      <a:r>
                        <a:rPr lang="zh-CN" sz="1600" spc="85">
                          <a:effectLst/>
                          <a:latin typeface="SimHei" panose="02010609060101010101" pitchFamily="49" charset="-122"/>
                          <a:ea typeface="SimHei" panose="02010609060101010101" pitchFamily="49" charset="-122"/>
                        </a:rPr>
                        <a:t>等</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rowSpan="3">
                  <a:txBody>
                    <a:bodyPr/>
                    <a:lstStyle/>
                    <a:p>
                      <a:pPr marL="0" marR="0" eaLnBrk="0">
                        <a:lnSpc>
                          <a:spcPct val="178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92710" marR="0" eaLnBrk="0">
                        <a:lnSpc>
                          <a:spcPct val="91000"/>
                        </a:lnSpc>
                        <a:spcBef>
                          <a:spcPts val="345"/>
                        </a:spcBef>
                        <a:spcAft>
                          <a:spcPts val="0"/>
                        </a:spcAft>
                      </a:pPr>
                      <a:r>
                        <a:rPr lang="zh-CN" sz="1600" spc="-10">
                          <a:effectLst/>
                          <a:latin typeface="SimHei" panose="02010609060101010101" pitchFamily="49" charset="-122"/>
                          <a:ea typeface="SimHei" panose="02010609060101010101" pitchFamily="49" charset="-122"/>
                        </a:rPr>
                        <a:t>着色性</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311662804"/>
                  </a:ext>
                </a:extLst>
              </a:tr>
              <a:tr h="297215">
                <a:tc vMerge="1">
                  <a:txBody>
                    <a:bodyPr/>
                    <a:lstStyle/>
                    <a:p>
                      <a:endParaRPr lang="en-US"/>
                    </a:p>
                  </a:txBody>
                  <a:tcPr/>
                </a:tc>
                <a:tc>
                  <a:txBody>
                    <a:bodyPr/>
                    <a:lstStyle/>
                    <a:p>
                      <a:pPr marL="118110" marR="0" eaLnBrk="0">
                        <a:lnSpc>
                          <a:spcPct val="91000"/>
                        </a:lnSpc>
                        <a:spcBef>
                          <a:spcPts val="510"/>
                        </a:spcBef>
                        <a:spcAft>
                          <a:spcPts val="0"/>
                        </a:spcAft>
                      </a:pPr>
                      <a:r>
                        <a:rPr lang="zh-CN" sz="1600" spc="-10">
                          <a:effectLst/>
                          <a:latin typeface="SimHei" panose="02010609060101010101" pitchFamily="49" charset="-122"/>
                          <a:ea typeface="SimHei" panose="02010609060101010101" pitchFamily="49" charset="-122"/>
                        </a:rPr>
                        <a:t>不溶性颜料</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44475" marR="0" eaLnBrk="0">
                        <a:lnSpc>
                          <a:spcPct val="91000"/>
                        </a:lnSpc>
                        <a:spcBef>
                          <a:spcPts val="505"/>
                        </a:spcBef>
                        <a:spcAft>
                          <a:spcPts val="0"/>
                        </a:spcAft>
                      </a:pPr>
                      <a:r>
                        <a:rPr lang="zh-CN" sz="1600" spc="30">
                          <a:effectLst/>
                          <a:latin typeface="SimHei" panose="02010609060101010101" pitchFamily="49" charset="-122"/>
                          <a:ea typeface="SimHei" panose="02010609060101010101" pitchFamily="49" charset="-122"/>
                        </a:rPr>
                        <a:t>炭黑、云母钛、鸟嘌呤、铝粉</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extLst>
                  <a:ext uri="{0D108BD9-81ED-4DB2-BD59-A6C34878D82A}">
                    <a16:rowId xmlns:a16="http://schemas.microsoft.com/office/drawing/2014/main" val="1444626505"/>
                  </a:ext>
                </a:extLst>
              </a:tr>
              <a:tr h="297215">
                <a:tc vMerge="1">
                  <a:txBody>
                    <a:bodyPr/>
                    <a:lstStyle/>
                    <a:p>
                      <a:endParaRPr lang="en-US"/>
                    </a:p>
                  </a:txBody>
                  <a:tcPr/>
                </a:tc>
                <a:tc>
                  <a:txBody>
                    <a:bodyPr/>
                    <a:lstStyle/>
                    <a:p>
                      <a:pPr marL="98425" marR="0" eaLnBrk="0">
                        <a:lnSpc>
                          <a:spcPct val="91000"/>
                        </a:lnSpc>
                        <a:spcBef>
                          <a:spcPts val="510"/>
                        </a:spcBef>
                        <a:spcAft>
                          <a:spcPts val="0"/>
                        </a:spcAft>
                      </a:pPr>
                      <a:r>
                        <a:rPr lang="zh-CN" sz="1600" spc="-10">
                          <a:effectLst/>
                          <a:latin typeface="SimHei" panose="02010609060101010101" pitchFamily="49" charset="-122"/>
                          <a:ea typeface="SimHei" panose="02010609060101010101" pitchFamily="49" charset="-122"/>
                        </a:rPr>
                        <a:t>珠光颜料</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44475" marR="0" eaLnBrk="0">
                        <a:lnSpc>
                          <a:spcPct val="91000"/>
                        </a:lnSpc>
                        <a:spcBef>
                          <a:spcPts val="505"/>
                        </a:spcBef>
                        <a:spcAft>
                          <a:spcPts val="0"/>
                        </a:spcAft>
                      </a:pPr>
                      <a:r>
                        <a:rPr lang="zh-CN" sz="1600" spc="15">
                          <a:effectLst/>
                          <a:latin typeface="SimHei" panose="02010609060101010101" pitchFamily="49" charset="-122"/>
                          <a:ea typeface="SimHei" panose="02010609060101010101" pitchFamily="49" charset="-122"/>
                        </a:rPr>
                        <a:t>云母</a:t>
                      </a:r>
                      <a:r>
                        <a:rPr lang="en-US" sz="1600" spc="15">
                          <a:effectLst/>
                          <a:latin typeface="SimHei" panose="02010609060101010101" pitchFamily="49" charset="-122"/>
                          <a:ea typeface="SimHei" panose="02010609060101010101" pitchFamily="49" charset="-122"/>
                        </a:rPr>
                        <a:t>-</a:t>
                      </a:r>
                      <a:r>
                        <a:rPr lang="zh-CN" sz="1600" spc="15">
                          <a:effectLst/>
                          <a:latin typeface="SimHei" panose="02010609060101010101" pitchFamily="49" charset="-122"/>
                          <a:ea typeface="SimHei" panose="02010609060101010101" pitchFamily="49" charset="-122"/>
                        </a:rPr>
                        <a:t>二氧化钛、氯氧化铋</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extLst>
                  <a:ext uri="{0D108BD9-81ED-4DB2-BD59-A6C34878D82A}">
                    <a16:rowId xmlns:a16="http://schemas.microsoft.com/office/drawing/2014/main" val="3532334511"/>
                  </a:ext>
                </a:extLst>
              </a:tr>
              <a:tr h="482696">
                <a:tc gridSpan="2">
                  <a:txBody>
                    <a:bodyPr/>
                    <a:lstStyle/>
                    <a:p>
                      <a:pPr marL="88900" marR="0" eaLnBrk="0">
                        <a:lnSpc>
                          <a:spcPct val="92000"/>
                        </a:lnSpc>
                        <a:spcBef>
                          <a:spcPts val="1120"/>
                        </a:spcBef>
                        <a:spcAft>
                          <a:spcPts val="0"/>
                        </a:spcAft>
                      </a:pPr>
                      <a:r>
                        <a:rPr lang="zh-CN" sz="1600" spc="25">
                          <a:effectLst/>
                          <a:latin typeface="SimHei" panose="02010609060101010101" pitchFamily="49" charset="-122"/>
                          <a:ea typeface="SimHei" panose="02010609060101010101" pitchFamily="49" charset="-122"/>
                        </a:rPr>
                        <a:t>油脂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05410" marR="0" indent="137160" eaLnBrk="0">
                        <a:lnSpc>
                          <a:spcPct val="101000"/>
                        </a:lnSpc>
                        <a:spcBef>
                          <a:spcPts val="410"/>
                        </a:spcBef>
                        <a:spcAft>
                          <a:spcPts val="0"/>
                        </a:spcAft>
                      </a:pPr>
                      <a:r>
                        <a:rPr lang="zh-CN" sz="1600" spc="50">
                          <a:effectLst/>
                          <a:latin typeface="SimHei" panose="02010609060101010101" pitchFamily="49" charset="-122"/>
                          <a:ea typeface="SimHei" panose="02010609060101010101" pitchFamily="49" charset="-122"/>
                        </a:rPr>
                        <a:t>辛酸</a:t>
                      </a:r>
                      <a:r>
                        <a:rPr lang="en-US" sz="1600" spc="50">
                          <a:effectLst/>
                          <a:latin typeface="SimHei" panose="02010609060101010101" pitchFamily="49" charset="-122"/>
                          <a:ea typeface="SimHei" panose="02010609060101010101" pitchFamily="49" charset="-122"/>
                        </a:rPr>
                        <a:t>/</a:t>
                      </a:r>
                      <a:r>
                        <a:rPr lang="zh-CN" sz="1600" spc="50">
                          <a:effectLst/>
                          <a:latin typeface="SimHei" panose="02010609060101010101" pitchFamily="49" charset="-122"/>
                          <a:ea typeface="SimHei" panose="02010609060101010101" pitchFamily="49" charset="-122"/>
                        </a:rPr>
                        <a:t>癸酸甘油三酯、碳酸二辛酯、苯基聚三</a:t>
                      </a:r>
                      <a:r>
                        <a:rPr lang="zh-CN" sz="1600" spc="45">
                          <a:effectLst/>
                          <a:latin typeface="SimHei" panose="02010609060101010101" pitchFamily="49" charset="-122"/>
                          <a:ea typeface="SimHei" panose="02010609060101010101" pitchFamily="49" charset="-122"/>
                        </a:rPr>
                        <a:t>甲基硅氧烷、</a:t>
                      </a:r>
                      <a:r>
                        <a:rPr lang="zh-CN" sz="1600">
                          <a:effectLst/>
                          <a:latin typeface="SimHei" panose="02010609060101010101" pitchFamily="49" charset="-122"/>
                          <a:ea typeface="SimHei" panose="02010609060101010101" pitchFamily="49" charset="-122"/>
                        </a:rPr>
                        <a:t> </a:t>
                      </a:r>
                      <a:r>
                        <a:rPr lang="zh-CN" sz="1600" spc="85">
                          <a:effectLst/>
                          <a:latin typeface="SimHei" panose="02010609060101010101" pitchFamily="49" charset="-122"/>
                          <a:ea typeface="SimHei" panose="02010609060101010101" pitchFamily="49" charset="-122"/>
                        </a:rPr>
                        <a:t>植物羊毛脂等</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710" marR="0" eaLnBrk="0">
                        <a:lnSpc>
                          <a:spcPct val="91000"/>
                        </a:lnSpc>
                        <a:spcBef>
                          <a:spcPts val="1120"/>
                        </a:spcBef>
                        <a:spcAft>
                          <a:spcPts val="0"/>
                        </a:spcAft>
                      </a:pPr>
                      <a:r>
                        <a:rPr lang="zh-CN" sz="1600" spc="10">
                          <a:effectLst/>
                          <a:latin typeface="SimHei" panose="02010609060101010101" pitchFamily="49" charset="-122"/>
                          <a:ea typeface="SimHei" panose="02010609060101010101" pitchFamily="49" charset="-122"/>
                        </a:rPr>
                        <a:t>溶解颜料、滋润</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74955808"/>
                  </a:ext>
                </a:extLst>
              </a:tr>
              <a:tr h="519941">
                <a:tc gridSpan="2">
                  <a:txBody>
                    <a:bodyPr/>
                    <a:lstStyle/>
                    <a:p>
                      <a:pPr marL="88900" marR="0" eaLnBrk="0">
                        <a:lnSpc>
                          <a:spcPct val="91000"/>
                        </a:lnSpc>
                        <a:spcBef>
                          <a:spcPts val="1270"/>
                        </a:spcBef>
                        <a:spcAft>
                          <a:spcPts val="0"/>
                        </a:spcAft>
                      </a:pPr>
                      <a:r>
                        <a:rPr lang="zh-CN" sz="1600" spc="20">
                          <a:effectLst/>
                          <a:latin typeface="SimHei" panose="02010609060101010101" pitchFamily="49" charset="-122"/>
                          <a:ea typeface="SimHei" panose="02010609060101010101" pitchFamily="49" charset="-122"/>
                        </a:rPr>
                        <a:t>乳化剂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111760" marR="140970" indent="132715" eaLnBrk="0">
                        <a:lnSpc>
                          <a:spcPct val="98000"/>
                        </a:lnSpc>
                        <a:spcBef>
                          <a:spcPts val="470"/>
                        </a:spcBef>
                        <a:spcAft>
                          <a:spcPts val="0"/>
                        </a:spcAft>
                      </a:pPr>
                      <a:r>
                        <a:rPr lang="zh-CN" sz="1600" spc="40">
                          <a:effectLst/>
                          <a:latin typeface="SimHei" panose="02010609060101010101" pitchFamily="49" charset="-122"/>
                          <a:ea typeface="SimHei" panose="02010609060101010101" pitchFamily="49" charset="-122"/>
                        </a:rPr>
                        <a:t>鲸蜡基聚乙二醇</a:t>
                      </a:r>
                      <a:r>
                        <a:rPr lang="en-US" sz="1600" spc="40">
                          <a:effectLst/>
                          <a:latin typeface="SimHei" panose="02010609060101010101" pitchFamily="49" charset="-122"/>
                          <a:ea typeface="SimHei" panose="02010609060101010101" pitchFamily="49" charset="-122"/>
                        </a:rPr>
                        <a:t>/</a:t>
                      </a:r>
                      <a:r>
                        <a:rPr lang="zh-CN" sz="1600" spc="40">
                          <a:effectLst/>
                          <a:latin typeface="SimHei" panose="02010609060101010101" pitchFamily="49" charset="-122"/>
                          <a:ea typeface="SimHei" panose="02010609060101010101" pitchFamily="49" charset="-122"/>
                        </a:rPr>
                        <a:t>聚丙二醇二甲基硅氧烷、</a:t>
                      </a:r>
                      <a:r>
                        <a:rPr lang="en-US" sz="1600">
                          <a:effectLst/>
                          <a:latin typeface="SimHei" panose="02010609060101010101" pitchFamily="49" charset="-122"/>
                          <a:ea typeface="SimHei" panose="02010609060101010101" pitchFamily="49" charset="-122"/>
                        </a:rPr>
                        <a:t>PEG</a:t>
                      </a:r>
                      <a:r>
                        <a:rPr lang="en-US" sz="1600" spc="40">
                          <a:effectLst/>
                          <a:latin typeface="SimHei" panose="02010609060101010101" pitchFamily="49" charset="-122"/>
                          <a:ea typeface="SimHei" panose="02010609060101010101" pitchFamily="49" charset="-122"/>
                        </a:rPr>
                        <a:t>-10</a:t>
                      </a:r>
                      <a:r>
                        <a:rPr lang="zh-CN" sz="1600" spc="40">
                          <a:effectLst/>
                          <a:latin typeface="SimHei" panose="02010609060101010101" pitchFamily="49" charset="-122"/>
                          <a:ea typeface="SimHei" panose="02010609060101010101" pitchFamily="49" charset="-122"/>
                        </a:rPr>
                        <a:t>聚二</a:t>
                      </a:r>
                      <a:r>
                        <a:rPr lang="zh-CN" sz="1600" spc="15">
                          <a:effectLst/>
                          <a:latin typeface="SimHei" panose="02010609060101010101" pitchFamily="49" charset="-122"/>
                          <a:ea typeface="SimHei" panose="02010609060101010101" pitchFamily="49" charset="-122"/>
                        </a:rPr>
                        <a:t> </a:t>
                      </a:r>
                      <a:r>
                        <a:rPr lang="zh-CN" sz="1600" spc="55">
                          <a:effectLst/>
                          <a:latin typeface="SimHei" panose="02010609060101010101" pitchFamily="49" charset="-122"/>
                          <a:ea typeface="SimHei" panose="02010609060101010101" pitchFamily="49" charset="-122"/>
                        </a:rPr>
                        <a:t>甲基硅氧烷</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710" marR="0" eaLnBrk="0">
                        <a:lnSpc>
                          <a:spcPct val="92000"/>
                        </a:lnSpc>
                        <a:spcBef>
                          <a:spcPts val="1280"/>
                        </a:spcBef>
                        <a:spcAft>
                          <a:spcPts val="0"/>
                        </a:spcAft>
                      </a:pPr>
                      <a:r>
                        <a:rPr lang="zh-CN" sz="1600" spc="-15">
                          <a:effectLst/>
                          <a:latin typeface="SimHei" panose="02010609060101010101" pitchFamily="49" charset="-122"/>
                          <a:ea typeface="SimHei" panose="02010609060101010101" pitchFamily="49" charset="-122"/>
                        </a:rPr>
                        <a:t>乳化</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064997565"/>
                  </a:ext>
                </a:extLst>
              </a:tr>
              <a:tr h="289766">
                <a:tc gridSpan="2">
                  <a:txBody>
                    <a:bodyPr/>
                    <a:lstStyle/>
                    <a:p>
                      <a:pPr marL="88900" marR="0" eaLnBrk="0">
                        <a:lnSpc>
                          <a:spcPct val="91000"/>
                        </a:lnSpc>
                        <a:spcBef>
                          <a:spcPts val="480"/>
                        </a:spcBef>
                        <a:spcAft>
                          <a:spcPts val="0"/>
                        </a:spcAft>
                      </a:pPr>
                      <a:r>
                        <a:rPr lang="zh-CN" sz="1600" spc="10">
                          <a:effectLst/>
                          <a:latin typeface="SimHei" panose="02010609060101010101" pitchFamily="49" charset="-122"/>
                          <a:ea typeface="SimHei" panose="02010609060101010101" pitchFamily="49" charset="-122"/>
                        </a:rPr>
                        <a:t>其他添加剂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44475" marR="0" eaLnBrk="0">
                        <a:lnSpc>
                          <a:spcPct val="91000"/>
                        </a:lnSpc>
                        <a:spcBef>
                          <a:spcPts val="480"/>
                        </a:spcBef>
                        <a:spcAft>
                          <a:spcPts val="0"/>
                        </a:spcAft>
                      </a:pPr>
                      <a:r>
                        <a:rPr lang="zh-CN" sz="1600" spc="80">
                          <a:effectLst/>
                          <a:latin typeface="SimHei" panose="02010609060101010101" pitchFamily="49" charset="-122"/>
                          <a:ea typeface="SimHei" panose="02010609060101010101" pitchFamily="49" charset="-122"/>
                        </a:rPr>
                        <a:t>泛醇、磷脂、维生素</a:t>
                      </a:r>
                      <a:r>
                        <a:rPr lang="en-US" sz="1600" spc="80">
                          <a:effectLst/>
                          <a:latin typeface="SimHei" panose="02010609060101010101" pitchFamily="49" charset="-122"/>
                          <a:ea typeface="SimHei" panose="02010609060101010101" pitchFamily="49" charset="-122"/>
                        </a:rPr>
                        <a:t>A</a:t>
                      </a:r>
                      <a:r>
                        <a:rPr lang="zh-CN" sz="1600" spc="80">
                          <a:effectLst/>
                          <a:latin typeface="SimHei" panose="02010609060101010101" pitchFamily="49" charset="-122"/>
                          <a:ea typeface="SimHei" panose="02010609060101010101" pitchFamily="49" charset="-122"/>
                        </a:rPr>
                        <a:t>、维生素</a:t>
                      </a:r>
                      <a:r>
                        <a:rPr lang="en-US" sz="1600" spc="80">
                          <a:effectLst/>
                          <a:latin typeface="SimHei" panose="02010609060101010101" pitchFamily="49" charset="-122"/>
                          <a:ea typeface="SimHei" panose="02010609060101010101" pitchFamily="49" charset="-122"/>
                        </a:rPr>
                        <a:t>E</a:t>
                      </a:r>
                      <a:r>
                        <a:rPr lang="zh-CN" sz="1600" spc="80">
                          <a:effectLst/>
                          <a:latin typeface="SimHei" panose="02010609060101010101" pitchFamily="49" charset="-122"/>
                          <a:ea typeface="SimHei" panose="02010609060101010101" pitchFamily="49" charset="-122"/>
                        </a:rPr>
                        <a:t>、防晒剂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710" marR="0" eaLnBrk="0">
                        <a:lnSpc>
                          <a:spcPct val="91000"/>
                        </a:lnSpc>
                        <a:spcBef>
                          <a:spcPts val="490"/>
                        </a:spcBef>
                        <a:spcAft>
                          <a:spcPts val="0"/>
                        </a:spcAft>
                      </a:pPr>
                      <a:r>
                        <a:rPr lang="zh-CN" sz="1600" spc="-5">
                          <a:effectLst/>
                          <a:latin typeface="SimHei" panose="02010609060101010101" pitchFamily="49" charset="-122"/>
                          <a:ea typeface="SimHei" panose="02010609060101010101" pitchFamily="49" charset="-122"/>
                        </a:rPr>
                        <a:t>保湿、防裂、防晒</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629870490"/>
                  </a:ext>
                </a:extLst>
              </a:tr>
              <a:tr h="300940">
                <a:tc gridSpan="2">
                  <a:txBody>
                    <a:bodyPr/>
                    <a:lstStyle/>
                    <a:p>
                      <a:pPr marL="88900" marR="0" eaLnBrk="0">
                        <a:lnSpc>
                          <a:spcPct val="91000"/>
                        </a:lnSpc>
                        <a:spcBef>
                          <a:spcPts val="535"/>
                        </a:spcBef>
                        <a:spcAft>
                          <a:spcPts val="0"/>
                        </a:spcAft>
                      </a:pPr>
                      <a:r>
                        <a:rPr lang="zh-CN" sz="1600" spc="25">
                          <a:effectLst/>
                          <a:latin typeface="SimHei" panose="02010609060101010101" pitchFamily="49" charset="-122"/>
                          <a:ea typeface="SimHei" panose="02010609060101010101" pitchFamily="49" charset="-122"/>
                        </a:rPr>
                        <a:t>香精</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244475" marR="0" eaLnBrk="0">
                        <a:lnSpc>
                          <a:spcPct val="91000"/>
                        </a:lnSpc>
                        <a:spcBef>
                          <a:spcPts val="540"/>
                        </a:spcBef>
                        <a:spcAft>
                          <a:spcPts val="0"/>
                        </a:spcAft>
                      </a:pPr>
                      <a:r>
                        <a:rPr lang="zh-CN" sz="1600" spc="45">
                          <a:effectLst/>
                          <a:latin typeface="SimHei" panose="02010609060101010101" pitchFamily="49" charset="-122"/>
                          <a:ea typeface="SimHei" panose="02010609060101010101" pitchFamily="49" charset="-122"/>
                        </a:rPr>
                        <a:t>玫瑰醇和酯类、无萜烯类</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710" marR="0" eaLnBrk="0">
                        <a:lnSpc>
                          <a:spcPct val="92000"/>
                        </a:lnSpc>
                        <a:spcBef>
                          <a:spcPts val="545"/>
                        </a:spcBef>
                        <a:spcAft>
                          <a:spcPts val="0"/>
                        </a:spcAft>
                      </a:pPr>
                      <a:r>
                        <a:rPr lang="zh-CN" sz="1600" spc="-15" dirty="0">
                          <a:effectLst/>
                          <a:latin typeface="SimHei" panose="02010609060101010101" pitchFamily="49" charset="-122"/>
                          <a:ea typeface="SimHei" panose="02010609060101010101" pitchFamily="49" charset="-122"/>
                        </a:rPr>
                        <a:t>赋香性</a:t>
                      </a:r>
                      <a:endParaRPr lang="en-US" sz="16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84102494"/>
                  </a:ext>
                </a:extLst>
              </a:tr>
            </a:tbl>
          </a:graphicData>
        </a:graphic>
      </p:graphicFrame>
    </p:spTree>
    <p:extLst>
      <p:ext uri="{BB962C8B-B14F-4D97-AF65-F5344CB8AC3E}">
        <p14:creationId xmlns:p14="http://schemas.microsoft.com/office/powerpoint/2010/main" val="7685828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唇膏设计原理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3297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棒状油膏类美容用品，使用时涂抹于唇部使之具有使用者想要的色彩，并提供对唇部的滋润与保护。</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硬度</a:t>
            </a:r>
            <a:r>
              <a:rPr lang="zh-CN" altLang="en-US" sz="2400" dirty="0">
                <a:latin typeface="KaiTi" panose="02010609060101010101" pitchFamily="49" charset="-122"/>
                <a:ea typeface="KaiTi" panose="02010609060101010101" pitchFamily="49" charset="-122"/>
              </a:rPr>
              <a:t> 唇膏与口红的形态是棒状固态，没有流动性。</a:t>
            </a: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遮盖力和附着性</a:t>
            </a:r>
            <a:r>
              <a:rPr lang="zh-CN" altLang="en-US" sz="2400" dirty="0">
                <a:latin typeface="KaiTi" panose="02010609060101010101" pitchFamily="49" charset="-122"/>
                <a:ea typeface="KaiTi" panose="02010609060101010101" pitchFamily="49" charset="-122"/>
              </a:rPr>
              <a:t> 好的口红需要兼顾遮盖力和附着性。</a:t>
            </a: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铺展性</a:t>
            </a:r>
            <a:r>
              <a:rPr lang="zh-CN" altLang="en-US" sz="2400" dirty="0">
                <a:latin typeface="KaiTi" panose="02010609060101010101" pitchFamily="49" charset="-122"/>
                <a:ea typeface="KaiTi" panose="02010609060101010101" pitchFamily="49" charset="-122"/>
              </a:rPr>
              <a:t> 唇膏在涂抹时的铺展性对唇膏的主观使用感受影响较大。</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7855580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皮肤的保水能力</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嘴唇是皮肤的特殊部分：为了缓解皮肤的干燥，需要了解皮肤以下几点与保水能力相关的功能：</a:t>
            </a:r>
          </a:p>
          <a:p>
            <a:pPr>
              <a:lnSpc>
                <a:spcPct val="150000"/>
              </a:lnSpc>
            </a:pPr>
            <a:r>
              <a:rPr lang="en-US" altLang="zh-CN" sz="2400" dirty="0">
                <a:latin typeface="+mn-lt"/>
                <a:ea typeface="SimHei" panose="02010609060101010101" pitchFamily="49" charset="-122"/>
              </a:rPr>
              <a:t>(1)</a:t>
            </a:r>
            <a:r>
              <a:rPr lang="zh-CN" altLang="en-US" sz="2400" b="1" dirty="0">
                <a:latin typeface="+mn-lt"/>
                <a:ea typeface="SimHei" panose="02010609060101010101" pitchFamily="49" charset="-122"/>
              </a:rPr>
              <a:t>控制蒸发</a:t>
            </a:r>
            <a:r>
              <a:rPr lang="zh-CN" altLang="en-US" sz="2400" dirty="0">
                <a:latin typeface="+mn-lt"/>
                <a:ea typeface="SimHei" panose="02010609060101010101" pitchFamily="49" charset="-122"/>
              </a:rPr>
              <a:t> 皮肤是一个比较干燥的半渗透屏障，可以减少液体的蒸发。</a:t>
            </a:r>
          </a:p>
          <a:p>
            <a:pPr>
              <a:lnSpc>
                <a:spcPct val="150000"/>
              </a:lnSpc>
            </a:pPr>
            <a:r>
              <a:rPr lang="en-US" altLang="zh-CN" sz="2400" dirty="0">
                <a:latin typeface="+mn-lt"/>
                <a:ea typeface="SimHei" panose="02010609060101010101" pitchFamily="49" charset="-122"/>
              </a:rPr>
              <a:t>(2)</a:t>
            </a:r>
            <a:r>
              <a:rPr lang="zh-CN" altLang="en-US" sz="2400" b="1" dirty="0">
                <a:latin typeface="+mn-lt"/>
                <a:ea typeface="SimHei" panose="02010609060101010101" pitchFamily="49" charset="-122"/>
              </a:rPr>
              <a:t>储存及合成</a:t>
            </a:r>
            <a:r>
              <a:rPr lang="zh-CN" altLang="en-US" sz="2400" dirty="0">
                <a:latin typeface="+mn-lt"/>
                <a:ea typeface="SimHei" panose="02010609060101010101" pitchFamily="49" charset="-122"/>
              </a:rPr>
              <a:t> 皮肤可以储存水分及脂质。</a:t>
            </a:r>
          </a:p>
          <a:p>
            <a:pPr>
              <a:lnSpc>
                <a:spcPct val="150000"/>
              </a:lnSpc>
            </a:pPr>
            <a:r>
              <a:rPr lang="en-US" altLang="zh-CN" sz="2400" dirty="0">
                <a:latin typeface="+mn-lt"/>
                <a:ea typeface="SimHei" panose="02010609060101010101" pitchFamily="49" charset="-122"/>
              </a:rPr>
              <a:t>(3)</a:t>
            </a:r>
            <a:r>
              <a:rPr lang="zh-CN" altLang="en-US" sz="2400" b="1" dirty="0">
                <a:latin typeface="+mn-lt"/>
                <a:ea typeface="SimHei" panose="02010609060101010101" pitchFamily="49" charset="-122"/>
              </a:rPr>
              <a:t>抗水</a:t>
            </a:r>
            <a:r>
              <a:rPr lang="zh-CN" altLang="en-US" sz="2400" dirty="0">
                <a:latin typeface="+mn-lt"/>
                <a:ea typeface="SimHei" panose="02010609060101010101" pitchFamily="49" charset="-122"/>
              </a:rPr>
              <a:t> 皮肤无法完全防水，不过是身体和外界的一个屏障，避免营养素流失 到体外。</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696451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唇部皮肤的特点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皮肤及黏膜极易受到伤害，而</a:t>
            </a:r>
            <a:r>
              <a:rPr lang="zh-CN" altLang="en-US" sz="2400" dirty="0">
                <a:solidFill>
                  <a:srgbClr val="0000FF"/>
                </a:solidFill>
                <a:latin typeface="+mn-lt"/>
                <a:ea typeface="SimHei" panose="02010609060101010101" pitchFamily="49" charset="-122"/>
              </a:rPr>
              <a:t>唇部皮肤的厚度只有身体其他部位皮肤的</a:t>
            </a:r>
            <a:r>
              <a:rPr lang="en-US" altLang="zh-CN" sz="2400" dirty="0">
                <a:solidFill>
                  <a:srgbClr val="0000FF"/>
                </a:solidFill>
                <a:latin typeface="+mn-lt"/>
                <a:ea typeface="SimHei" panose="02010609060101010101" pitchFamily="49" charset="-122"/>
              </a:rPr>
              <a:t>1/3</a:t>
            </a:r>
            <a:r>
              <a:rPr lang="zh-CN" altLang="en-US" sz="2400" dirty="0">
                <a:latin typeface="+mn-lt"/>
                <a:ea typeface="SimHei" panose="02010609060101010101" pitchFamily="49" charset="-122"/>
              </a:rPr>
              <a:t>。这使得嘴唇的外观呈现偏红色，当嘴唇较干燥时，其外观颜色会较淡一些。</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由于唇红缘没有汗腺和唾液腺，它的湿润度全靠局部丰富的毛细血管及</a:t>
            </a:r>
            <a:r>
              <a:rPr lang="zh-CN" altLang="en-US" sz="2400" dirty="0">
                <a:solidFill>
                  <a:srgbClr val="0000FF"/>
                </a:solidFill>
                <a:latin typeface="+mn-lt"/>
                <a:ea typeface="SimHei" panose="02010609060101010101" pitchFamily="49" charset="-122"/>
              </a:rPr>
              <a:t>少量发育不全的皮脂腺</a:t>
            </a:r>
            <a:r>
              <a:rPr lang="zh-CN" altLang="en-US" sz="2400" dirty="0">
                <a:latin typeface="+mn-lt"/>
                <a:ea typeface="SimHei" panose="02010609060101010101" pitchFamily="49" charset="-122"/>
              </a:rPr>
              <a:t>来维持。</a:t>
            </a:r>
            <a:r>
              <a:rPr lang="zh-CN" altLang="en-US" sz="2400" dirty="0">
                <a:solidFill>
                  <a:srgbClr val="0000FF"/>
                </a:solidFill>
                <a:latin typeface="+mn-lt"/>
                <a:ea typeface="SimHei" panose="02010609060101010101" pitchFamily="49" charset="-122"/>
              </a:rPr>
              <a:t>嘴唇本身没有黑色素，没有自我保护功能</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955327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唇部皮肤的保湿方式</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457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补水保湿 </a:t>
            </a:r>
            <a:r>
              <a:rPr lang="zh-CN" altLang="en-US" sz="2400" dirty="0">
                <a:latin typeface="+mn-lt"/>
                <a:ea typeface="SimHei" panose="02010609060101010101" pitchFamily="49" charset="-122"/>
              </a:rPr>
              <a:t>通过从外部使用含水量高的护肤品等方式，直接增加皮肤的水分， 达到滋润皮肤的效果。</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成膜保湿</a:t>
            </a:r>
            <a:r>
              <a:rPr lang="zh-CN" altLang="en-US" sz="2400" dirty="0">
                <a:latin typeface="+mn-lt"/>
                <a:ea typeface="SimHei" panose="02010609060101010101" pitchFamily="49" charset="-122"/>
              </a:rPr>
              <a:t> 通过各种方式在皮肤表面形成一层外来的保护膜，阻止皮肤水分 的蒸散以及皮脂的流失，以此来达到增加皮肤含水量的目的。</a:t>
            </a:r>
            <a:endParaRPr lang="en-US" altLang="zh-CN" sz="2400" dirty="0">
              <a:latin typeface="+mn-lt"/>
              <a:ea typeface="SimHe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同时由于唇部皮肤的皮脂腺较少，仅靠分泌的皮脂很难达到较高的滋润度。因此传统用于身体其他部位皮肤的补水保湿方式，如果不为唇部皮肤额外创造一个屏障，很难保证额外补充的水分不会较快地再次流失。因此在唇部皮肤的护理上，</a:t>
            </a:r>
            <a:r>
              <a:rPr lang="zh-CN" altLang="en-US" sz="2400" dirty="0">
                <a:solidFill>
                  <a:srgbClr val="0000FF"/>
                </a:solidFill>
                <a:latin typeface="KaiTi" panose="02010609060101010101" pitchFamily="49" charset="-122"/>
                <a:ea typeface="KaiTi" panose="02010609060101010101" pitchFamily="49" charset="-122"/>
              </a:rPr>
              <a:t>成膜保湿是较为合理的保湿方式的选择</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1435764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唇部保湿的原料选择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344632" y="1227619"/>
            <a:ext cx="837149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唇部的</a:t>
            </a:r>
            <a:r>
              <a:rPr lang="zh-CN" altLang="en-US" sz="2400" dirty="0">
                <a:solidFill>
                  <a:srgbClr val="0000FF"/>
                </a:solidFill>
                <a:latin typeface="+mn-lt"/>
                <a:ea typeface="SimHei" panose="02010609060101010101" pitchFamily="49" charset="-122"/>
              </a:rPr>
              <a:t>成膜保湿主要以蜡质和油脂为主</a:t>
            </a:r>
            <a:r>
              <a:rPr lang="zh-CN" altLang="en-US" sz="2400" dirty="0">
                <a:latin typeface="+mn-lt"/>
                <a:ea typeface="SimHei" panose="02010609060101010101" pitchFamily="49" charset="-122"/>
              </a:rPr>
              <a:t>。由于唇部本身分泌油脂能力的不足，用唇部化妆品中含有的大量蜡质和油脂，能使唇部皮肤额外获得一层保护屏障。</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同时大部分唇部化妆品的色料较易分散于油脂中，使用油脂而不是其他高分子成膜剂，更适合唇部化妆品的配方设计需求。</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唇部化妆品中的蜡和油脂补足了由于嘴唇皮脂分泌不足导致的滋润能力的欠缺。</a:t>
            </a:r>
          </a:p>
        </p:txBody>
      </p:sp>
    </p:spTree>
    <p:extLst>
      <p:ext uri="{BB962C8B-B14F-4D97-AF65-F5344CB8AC3E}">
        <p14:creationId xmlns:p14="http://schemas.microsoft.com/office/powerpoint/2010/main" val="7960749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原料：着色剂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着色剂或称色素是唇部化妆品中最主要的成分。在唇部化妆品中很少单独使用一 种色素，多数是两种或多种调配而成。</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可溶性染料通过渗入唇部外表面皮肤而发挥着色作用。应用最多的可溶性着色染料是</a:t>
            </a:r>
            <a:r>
              <a:rPr lang="zh-CN" altLang="en-US" sz="2400" dirty="0">
                <a:solidFill>
                  <a:srgbClr val="0000FF"/>
                </a:solidFill>
                <a:latin typeface="KaiTi" panose="02010609060101010101" pitchFamily="49" charset="-122"/>
                <a:ea typeface="KaiTi" panose="02010609060101010101" pitchFamily="49" charset="-122"/>
              </a:rPr>
              <a:t>溴酸红染料</a:t>
            </a:r>
            <a:r>
              <a:rPr lang="zh-CN" altLang="en-US" sz="2400" dirty="0">
                <a:latin typeface="KaiTi" panose="02010609060101010101" pitchFamily="49" charset="-122"/>
                <a:ea typeface="KaiTi" panose="02010609060101010101" pitchFamily="49" charset="-122"/>
              </a:rPr>
              <a:t>，它是</a:t>
            </a:r>
            <a:r>
              <a:rPr lang="zh-CN" altLang="en-US" sz="2400" dirty="0">
                <a:solidFill>
                  <a:srgbClr val="0000FF"/>
                </a:solidFill>
                <a:latin typeface="KaiTi" panose="02010609060101010101" pitchFamily="49" charset="-122"/>
                <a:ea typeface="KaiTi" panose="02010609060101010101" pitchFamily="49" charset="-122"/>
              </a:rPr>
              <a:t>溴化荧光素类染料</a:t>
            </a:r>
            <a:r>
              <a:rPr lang="zh-CN" altLang="en-US" sz="2400" dirty="0">
                <a:latin typeface="KaiTi" panose="02010609060101010101" pitchFamily="49" charset="-122"/>
                <a:ea typeface="KaiTi" panose="02010609060101010101" pitchFamily="49" charset="-122"/>
              </a:rPr>
              <a:t>的总称，有二溴荧光素、四溴荧光素、四溴四氯荧光素等。溴酸红染料能</a:t>
            </a:r>
            <a:r>
              <a:rPr lang="zh-CN" altLang="en-US" sz="2400" dirty="0">
                <a:solidFill>
                  <a:srgbClr val="0000FF"/>
                </a:solidFill>
                <a:latin typeface="KaiTi" panose="02010609060101010101" pitchFamily="49" charset="-122"/>
                <a:ea typeface="KaiTi" panose="02010609060101010101" pitchFamily="49" charset="-122"/>
              </a:rPr>
              <a:t>染红嘴唇，并有牢固持久的附着力</a:t>
            </a:r>
            <a:r>
              <a:rPr lang="zh-CN" altLang="en-US" sz="2400" dirty="0">
                <a:latin typeface="KaiTi" panose="02010609060101010101" pitchFamily="49" charset="-122"/>
                <a:ea typeface="KaiTi" panose="02010609060101010101" pitchFamily="49" charset="-122"/>
              </a:rPr>
              <a:t>。现代的唇部化妆品中，色泽的附着性主要是依靠溴酸红。但</a:t>
            </a:r>
            <a:r>
              <a:rPr lang="zh-CN" altLang="en-US" sz="2400" dirty="0">
                <a:solidFill>
                  <a:srgbClr val="0000FF"/>
                </a:solidFill>
                <a:latin typeface="KaiTi" panose="02010609060101010101" pitchFamily="49" charset="-122"/>
                <a:ea typeface="KaiTi" panose="02010609060101010101" pitchFamily="49" charset="-122"/>
              </a:rPr>
              <a:t>溴酸红不溶于水，在一般的油、脂、蜡中溶解性较差，要有优良的溶剂才能产生良好的着色效果</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1451950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原料：着色剂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5837432"/>
          </a:xfrm>
          <a:prstGeom prst="rect">
            <a:avLst/>
          </a:prstGeom>
          <a:noFill/>
        </p:spPr>
        <p:txBody>
          <a:bodyPr wrap="square" rtlCol="0">
            <a:spAutoFit/>
          </a:bodyPr>
          <a:lstStyle/>
          <a:p>
            <a:pPr marL="0" marR="123190" indent="361950" algn="just" eaLnBrk="0">
              <a:lnSpc>
                <a:spcPct val="119000"/>
              </a:lnSpc>
              <a:spcBef>
                <a:spcPts val="720"/>
              </a:spcBef>
              <a:spcAft>
                <a:spcPts val="0"/>
              </a:spcAft>
            </a:pPr>
            <a:r>
              <a:rPr lang="zh-CN" altLang="en-US" sz="2400" dirty="0">
                <a:solidFill>
                  <a:srgbClr val="0000FF"/>
                </a:solidFill>
                <a:latin typeface="KaiTi" panose="02010609060101010101" pitchFamily="49" charset="-122"/>
                <a:ea typeface="KaiTi" panose="02010609060101010101" pitchFamily="49" charset="-122"/>
              </a:rPr>
              <a:t>不溶性颜料是一些极细的固体粉粒</a:t>
            </a:r>
            <a:r>
              <a:rPr lang="zh-CN" altLang="en-US" sz="2400" dirty="0">
                <a:latin typeface="KaiTi" panose="02010609060101010101" pitchFamily="49" charset="-122"/>
                <a:ea typeface="KaiTi" panose="02010609060101010101" pitchFamily="49" charset="-122"/>
              </a:rPr>
              <a:t>，经搅拌和研磨后，混入油脂、蜡类基质中。这样的唇膏涂敷在嘴唇上能留下艳丽的色彩，并赋予一定的遮盖力。不溶性颜料包括有机颜料、有机色淀颜料和无机颜料。唇部化妆品使用的不溶性颜料主要是有机色淀颜料，它是极细的固体粉粒，色彩鲜艳，有较好的遮盖力。但有机色淀的附着力不好，需要和溴酸红染料并用。无机颜料中二氧化钛是常用品种，可使唇部化妆品产生紫色色调和乳白膜。</a:t>
            </a:r>
            <a:endParaRPr lang="en-US" altLang="zh-CN" sz="2400" dirty="0">
              <a:latin typeface="KaiTi" panose="02010609060101010101" pitchFamily="49" charset="-122"/>
              <a:ea typeface="KaiTi" panose="02010609060101010101" pitchFamily="49" charset="-122"/>
            </a:endParaRPr>
          </a:p>
          <a:p>
            <a:pPr marL="0" marR="123190" indent="361950" algn="just" eaLnBrk="0">
              <a:lnSpc>
                <a:spcPct val="119000"/>
              </a:lnSpc>
              <a:spcBef>
                <a:spcPts val="720"/>
              </a:spcBef>
              <a:spcAft>
                <a:spcPts val="0"/>
              </a:spcAft>
            </a:pPr>
            <a:r>
              <a:rPr lang="zh-CN" altLang="en-US" sz="2400" dirty="0">
                <a:solidFill>
                  <a:srgbClr val="0000FF"/>
                </a:solidFill>
                <a:latin typeface="KaiTi" panose="02010609060101010101" pitchFamily="49" charset="-122"/>
                <a:ea typeface="KaiTi" panose="02010609060101010101" pitchFamily="49" charset="-122"/>
              </a:rPr>
              <a:t>珠光颜料是由数种金属氧化物薄层包覆云母构成的</a:t>
            </a:r>
            <a:r>
              <a:rPr lang="zh-CN" altLang="en-US" sz="2400" dirty="0">
                <a:latin typeface="KaiTi" panose="02010609060101010101" pitchFamily="49" charset="-122"/>
                <a:ea typeface="KaiTi" panose="02010609060101010101" pitchFamily="49" charset="-122"/>
              </a:rPr>
              <a:t>。改变金属氧化物薄层，就能产生不同的珠光效果。珠光颜料与其他颜料相比，其特有的柔和珍珠光泽有着无可比拟的效果。特殊的表面结构、高折射率和良好的透明度使其在透明的介质中，创造出与珍珠光泽相同的效果。</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9459028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原料：油脂、蜡类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927611" y="2226660"/>
            <a:ext cx="7288777" cy="334784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概述：</a:t>
            </a:r>
            <a:r>
              <a:rPr lang="zh-CN" altLang="en-US" sz="2400" dirty="0">
                <a:solidFill>
                  <a:srgbClr val="0000FF"/>
                </a:solidFill>
                <a:latin typeface="+mn-lt"/>
                <a:ea typeface="SimHei" panose="02010609060101010101" pitchFamily="49" charset="-122"/>
              </a:rPr>
              <a:t>油脂、蜡是唇部化妆品的基本原料，含量一般占</a:t>
            </a:r>
            <a:r>
              <a:rPr lang="en-US" altLang="zh-CN" sz="2400" dirty="0">
                <a:solidFill>
                  <a:srgbClr val="0000FF"/>
                </a:solidFill>
                <a:latin typeface="+mn-lt"/>
                <a:ea typeface="SimHei" panose="02010609060101010101" pitchFamily="49" charset="-122"/>
              </a:rPr>
              <a:t>90%</a:t>
            </a:r>
            <a:r>
              <a:rPr lang="zh-CN" altLang="en-US" sz="2400" dirty="0">
                <a:solidFill>
                  <a:srgbClr val="0000FF"/>
                </a:solidFill>
                <a:latin typeface="+mn-lt"/>
                <a:ea typeface="SimHei" panose="02010609060101010101" pitchFamily="49" charset="-122"/>
              </a:rPr>
              <a:t>左右</a:t>
            </a:r>
            <a:r>
              <a:rPr lang="zh-CN" altLang="en-US" sz="2400" dirty="0">
                <a:latin typeface="+mn-lt"/>
                <a:ea typeface="SimHei" panose="02010609060101010101" pitchFamily="49" charset="-122"/>
              </a:rPr>
              <a:t>，各种油脂、蜡用于唇部化妆品中，使其具有不同的特性，以达到唇部化妆品的质量要求，如黏着性、对染料的溶解性、触变性、成膜性以及硬度、熔点等。</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0809779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原料：油脂、蜡类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262979"/>
          </a:xfrm>
          <a:prstGeom prst="rect">
            <a:avLst/>
          </a:prstGeom>
          <a:noFill/>
        </p:spPr>
        <p:txBody>
          <a:bodyPr wrap="square" rtlCol="0">
            <a:spAutoFit/>
          </a:bodyPr>
          <a:lstStyle/>
          <a:p>
            <a:r>
              <a:rPr lang="zh-CN" altLang="en-US" sz="2400" dirty="0">
                <a:latin typeface="+mn-lt"/>
                <a:ea typeface="SimHei" panose="02010609060101010101" pitchFamily="49" charset="-122"/>
              </a:rPr>
              <a:t>蓖麻油 </a:t>
            </a:r>
            <a:r>
              <a:rPr lang="en-US" altLang="zh-CN" sz="2400" dirty="0">
                <a:latin typeface="+mn-lt"/>
                <a:ea typeface="SimHei" panose="02010609060101010101" pitchFamily="49" charset="-122"/>
              </a:rPr>
              <a:t>(castor oil)</a:t>
            </a:r>
            <a:r>
              <a:rPr lang="zh-CN" altLang="en-US" sz="2400" dirty="0">
                <a:latin typeface="+mn-lt"/>
                <a:ea typeface="SimHei" panose="02010609060101010101" pitchFamily="49" charset="-122"/>
              </a:rPr>
              <a:t>：蓖麻油从蓖麻种子中挤榨而制得，为无色或淡黄色透 明黏性油状液体。其相对密度</a:t>
            </a:r>
            <a:r>
              <a:rPr lang="en-US" altLang="zh-CN" sz="2400" dirty="0">
                <a:latin typeface="+mn-lt"/>
                <a:ea typeface="SimHei" panose="02010609060101010101" pitchFamily="49" charset="-122"/>
              </a:rPr>
              <a:t>0.950~0.974 (15℃)</a:t>
            </a:r>
            <a:r>
              <a:rPr lang="zh-CN" altLang="en-US" sz="2400" dirty="0">
                <a:latin typeface="+mn-lt"/>
                <a:ea typeface="SimHei" panose="02010609060101010101" pitchFamily="49" charset="-122"/>
              </a:rPr>
              <a:t>，酸值</a:t>
            </a:r>
            <a:r>
              <a:rPr lang="en-US" altLang="zh-CN" sz="2400" dirty="0">
                <a:latin typeface="+mn-lt"/>
                <a:ea typeface="SimHei" panose="02010609060101010101" pitchFamily="49" charset="-122"/>
              </a:rPr>
              <a:t>&lt;4.0mg KOH/g</a:t>
            </a:r>
            <a:r>
              <a:rPr lang="zh-CN" altLang="en-US" sz="2400" dirty="0">
                <a:latin typeface="+mn-lt"/>
                <a:ea typeface="SimHei" panose="02010609060101010101" pitchFamily="49" charset="-122"/>
              </a:rPr>
              <a:t>，皂化值</a:t>
            </a:r>
            <a:r>
              <a:rPr lang="en-US" altLang="zh-CN" sz="2400" dirty="0">
                <a:latin typeface="+mn-lt"/>
                <a:ea typeface="SimHei" panose="02010609060101010101" pitchFamily="49" charset="-122"/>
              </a:rPr>
              <a:t>176~187mgKOH/g</a:t>
            </a:r>
            <a:r>
              <a:rPr lang="zh-CN" altLang="en-US" sz="2400" dirty="0">
                <a:latin typeface="+mn-lt"/>
                <a:ea typeface="SimHei" panose="02010609060101010101" pitchFamily="49" charset="-122"/>
              </a:rPr>
              <a:t>，碘值</a:t>
            </a:r>
            <a:r>
              <a:rPr lang="en-US" altLang="zh-CN" sz="2400" dirty="0">
                <a:latin typeface="+mn-lt"/>
                <a:ea typeface="SimHei" panose="02010609060101010101" pitchFamily="49" charset="-122"/>
              </a:rPr>
              <a:t>80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91gl/100g, </a:t>
            </a:r>
            <a:r>
              <a:rPr lang="zh-CN" altLang="en-US" sz="2400" dirty="0">
                <a:latin typeface="+mn-lt"/>
                <a:ea typeface="SimHei" panose="02010609060101010101" pitchFamily="49" charset="-122"/>
              </a:rPr>
              <a:t>折射率</a:t>
            </a:r>
            <a:r>
              <a:rPr lang="en-US" altLang="zh-CN" sz="2400" dirty="0">
                <a:latin typeface="+mn-lt"/>
                <a:ea typeface="SimHei" panose="02010609060101010101" pitchFamily="49" charset="-122"/>
              </a:rPr>
              <a:t>n²⁵1.473</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1.477</a:t>
            </a:r>
          </a:p>
          <a:p>
            <a:r>
              <a:rPr lang="en-US" altLang="zh-CN" sz="2400" dirty="0">
                <a:latin typeface="KaiTi" panose="02010609060101010101" pitchFamily="49" charset="-122"/>
                <a:ea typeface="KaiTi" panose="02010609060101010101" pitchFamily="49" charset="-122"/>
              </a:rPr>
              <a:t>    </a:t>
            </a: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蓖麻油对皮肤的渗透性较羊毛脂差，但优于矿物油，因为蓖麻油相对密度大、黏度高、凝固点低，</a:t>
            </a:r>
            <a:r>
              <a:rPr lang="zh-CN" altLang="en-US" sz="2400" dirty="0">
                <a:solidFill>
                  <a:srgbClr val="0000FF"/>
                </a:solidFill>
                <a:latin typeface="KaiTi" panose="02010609060101010101" pitchFamily="49" charset="-122"/>
                <a:ea typeface="KaiTi" panose="02010609060101010101" pitchFamily="49" charset="-122"/>
              </a:rPr>
              <a:t>它的黏度及软硬度受温度的影响较小，可作为口红的主要基质原料</a:t>
            </a:r>
            <a:r>
              <a:rPr lang="zh-CN" altLang="en-US" sz="2400" dirty="0">
                <a:latin typeface="KaiTi" panose="02010609060101010101" pitchFamily="49" charset="-122"/>
                <a:ea typeface="KaiTi" panose="02010609060101010101" pitchFamily="49" charset="-122"/>
              </a:rPr>
              <a:t>，使其外观更为鲜艳、黏性好、润滑性好，同样也可用于膏霜、乳液中。蓖麻油是唇膏中最常用的油脂原料，可赋予唇膏一定的黏度，以增加其黏着力，还</a:t>
            </a:r>
            <a:r>
              <a:rPr lang="zh-CN" altLang="en-US" sz="2400" dirty="0">
                <a:solidFill>
                  <a:srgbClr val="0000FF"/>
                </a:solidFill>
                <a:latin typeface="KaiTi" panose="02010609060101010101" pitchFamily="49" charset="-122"/>
                <a:ea typeface="KaiTi" panose="02010609060101010101" pitchFamily="49" charset="-122"/>
              </a:rPr>
              <a:t>对溴酸红染料有较好的溶解性</a:t>
            </a:r>
            <a:r>
              <a:rPr lang="zh-CN" altLang="en-US" sz="2400" dirty="0">
                <a:latin typeface="KaiTi" panose="02010609060101010101" pitchFamily="49" charset="-122"/>
                <a:ea typeface="KaiTi" panose="02010609060101010101" pitchFamily="49" charset="-122"/>
              </a:rPr>
              <a:t>，但与白油、地蜡的互溶性不好。其用量一般为</a:t>
            </a:r>
            <a:r>
              <a:rPr lang="en-US" altLang="zh-CN" sz="2400" dirty="0">
                <a:latin typeface="KaiTi" panose="02010609060101010101" pitchFamily="49" charset="-122"/>
                <a:ea typeface="KaiTi" panose="02010609060101010101" pitchFamily="49" charset="-122"/>
              </a:rPr>
              <a:t>12%</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50%,</a:t>
            </a:r>
            <a:r>
              <a:rPr lang="zh-CN" altLang="en-US" sz="2400" dirty="0">
                <a:latin typeface="KaiTi" panose="02010609060101010101" pitchFamily="49" charset="-122"/>
                <a:ea typeface="KaiTi" panose="02010609060101010101" pitchFamily="49" charset="-122"/>
              </a:rPr>
              <a:t>以</a:t>
            </a:r>
            <a:r>
              <a:rPr lang="en-US" altLang="zh-CN" sz="2400" dirty="0">
                <a:latin typeface="KaiTi" panose="02010609060101010101" pitchFamily="49" charset="-122"/>
                <a:ea typeface="KaiTi" panose="02010609060101010101" pitchFamily="49" charset="-122"/>
              </a:rPr>
              <a:t>25%</a:t>
            </a:r>
            <a:r>
              <a:rPr lang="zh-CN" altLang="en-US" sz="2400" dirty="0">
                <a:latin typeface="KaiTi" panose="02010609060101010101" pitchFamily="49" charset="-122"/>
                <a:ea typeface="KaiTi" panose="02010609060101010101" pitchFamily="49" charset="-122"/>
              </a:rPr>
              <a:t>较适宜，不宜超过</a:t>
            </a:r>
            <a:r>
              <a:rPr lang="en-US" altLang="zh-CN" sz="2400" dirty="0">
                <a:latin typeface="KaiTi" panose="02010609060101010101" pitchFamily="49" charset="-122"/>
                <a:ea typeface="KaiTi" panose="02010609060101010101" pitchFamily="49" charset="-122"/>
              </a:rPr>
              <a:t>50%,</a:t>
            </a:r>
            <a:r>
              <a:rPr lang="zh-CN" altLang="en-US" sz="2400" dirty="0">
                <a:latin typeface="KaiTi" panose="02010609060101010101" pitchFamily="49" charset="-122"/>
                <a:ea typeface="KaiTi" panose="02010609060101010101" pitchFamily="49" charset="-122"/>
              </a:rPr>
              <a:t>否则易形成黏稠油腻膜。它的缺点是有不愉快的气味和容易产生酸败，因此原料的纯度要求较高，不可含游离碱、水分和游离脂肪酸。</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730324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原料：油脂、蜡类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893647"/>
          </a:xfrm>
          <a:prstGeom prst="rect">
            <a:avLst/>
          </a:prstGeom>
          <a:noFill/>
        </p:spPr>
        <p:txBody>
          <a:bodyPr wrap="square" rtlCol="0">
            <a:spAutoFit/>
          </a:bodyPr>
          <a:lstStyle/>
          <a:p>
            <a:r>
              <a:rPr lang="zh-CN" altLang="en-US" sz="2400" dirty="0">
                <a:solidFill>
                  <a:srgbClr val="0000FF"/>
                </a:solidFill>
                <a:latin typeface="+mn-lt"/>
                <a:ea typeface="SimHei" panose="02010609060101010101" pitchFamily="49" charset="-122"/>
              </a:rPr>
              <a:t>无水羊毛脂 </a:t>
            </a:r>
            <a:r>
              <a:rPr lang="en-US" altLang="zh-CN" sz="2400" dirty="0">
                <a:solidFill>
                  <a:srgbClr val="0000FF"/>
                </a:solidFill>
                <a:latin typeface="+mn-lt"/>
                <a:ea typeface="SimHei" panose="02010609060101010101" pitchFamily="49" charset="-122"/>
              </a:rPr>
              <a:t>(lanolin)</a:t>
            </a: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羊毛脂是从羊毛中提取的一种脂肪物，它分为无水羊毛脂和有水羊毛脂。无水羊毛脂的酸值</a:t>
            </a:r>
            <a:r>
              <a:rPr lang="en-US" altLang="zh-CN" sz="2400" dirty="0">
                <a:latin typeface="+mn-lt"/>
                <a:ea typeface="SimHei" panose="02010609060101010101" pitchFamily="49" charset="-122"/>
              </a:rPr>
              <a:t>&lt;1.0mgKOH/g,  </a:t>
            </a:r>
            <a:r>
              <a:rPr lang="zh-CN" altLang="en-US" sz="2400" dirty="0">
                <a:latin typeface="+mn-lt"/>
                <a:ea typeface="SimHei" panose="02010609060101010101" pitchFamily="49" charset="-122"/>
              </a:rPr>
              <a:t>皂化值</a:t>
            </a:r>
            <a:r>
              <a:rPr lang="en-US" altLang="zh-CN" sz="2400" dirty="0">
                <a:latin typeface="+mn-lt"/>
                <a:ea typeface="SimHei" panose="02010609060101010101" pitchFamily="49" charset="-122"/>
              </a:rPr>
              <a:t>88</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110mgKOH/g, </a:t>
            </a:r>
            <a:r>
              <a:rPr lang="zh-CN" altLang="en-US" sz="2400" dirty="0">
                <a:latin typeface="+mn-lt"/>
                <a:ea typeface="SimHei" panose="02010609060101010101" pitchFamily="49" charset="-122"/>
              </a:rPr>
              <a:t>碘值</a:t>
            </a:r>
            <a:r>
              <a:rPr lang="en-US" altLang="zh-CN" sz="2400" dirty="0">
                <a:latin typeface="+mn-lt"/>
                <a:ea typeface="SimHei" panose="02010609060101010101" pitchFamily="49" charset="-122"/>
              </a:rPr>
              <a:t>18</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36gI/100g, </a:t>
            </a:r>
            <a:r>
              <a:rPr lang="zh-CN" altLang="en-US" sz="2400" dirty="0">
                <a:latin typeface="+mn-lt"/>
                <a:ea typeface="SimHei" panose="02010609060101010101" pitchFamily="49" charset="-122"/>
              </a:rPr>
              <a:t>熔点</a:t>
            </a:r>
            <a:r>
              <a:rPr lang="en-US" altLang="zh-CN" sz="2400" dirty="0">
                <a:latin typeface="+mn-lt"/>
                <a:ea typeface="SimHei" panose="02010609060101010101" pitchFamily="49" charset="-122"/>
              </a:rPr>
              <a:t>38</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42℃</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zh-CN" altLang="en-US" sz="2400" dirty="0">
              <a:latin typeface="+mn-lt"/>
              <a:ea typeface="SimHe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羊毛脂是哺乳动物的皮脂，其</a:t>
            </a:r>
            <a:r>
              <a:rPr lang="zh-CN" altLang="en-US" sz="2400" dirty="0">
                <a:solidFill>
                  <a:srgbClr val="0000FF"/>
                </a:solidFill>
                <a:latin typeface="KaiTi" panose="02010609060101010101" pitchFamily="49" charset="-122"/>
                <a:ea typeface="KaiTi" panose="02010609060101010101" pitchFamily="49" charset="-122"/>
              </a:rPr>
              <a:t>组成与人的皮脂很接近，对人的皮肤有很好的柔软、渗透及润滑作用</a:t>
            </a:r>
            <a:r>
              <a:rPr lang="zh-CN" altLang="en-US" sz="2400" dirty="0">
                <a:latin typeface="KaiTi" panose="02010609060101010101" pitchFamily="49" charset="-122"/>
                <a:ea typeface="KaiTi" panose="02010609060101010101" pitchFamily="49" charset="-122"/>
              </a:rPr>
              <a:t>，同时具有</a:t>
            </a:r>
            <a:r>
              <a:rPr lang="zh-CN" altLang="en-US" sz="2400" dirty="0">
                <a:solidFill>
                  <a:srgbClr val="0000FF"/>
                </a:solidFill>
                <a:latin typeface="KaiTi" panose="02010609060101010101" pitchFamily="49" charset="-122"/>
                <a:ea typeface="KaiTi" panose="02010609060101010101" pitchFamily="49" charset="-122"/>
              </a:rPr>
              <a:t>防止脱脂的功效，是制造膏霜、乳液类化妆品及口红的重要原料</a:t>
            </a:r>
            <a:r>
              <a:rPr lang="zh-CN" altLang="en-US" sz="2400" dirty="0">
                <a:latin typeface="KaiTi" panose="02010609060101010101" pitchFamily="49" charset="-122"/>
                <a:ea typeface="KaiTi" panose="02010609060101010101" pitchFamily="49" charset="-122"/>
              </a:rPr>
              <a:t>。无水羊毛脂应用于口红中具有良好的兼容性、低熔点和高黏度，可使唇膏中的各种油、蜡黏合均匀，对防止油相的油分析出及对温度和压力的突变有抵抗作用，可防止唇膏发汗、干裂等。羊毛脂还是一种优良的滋润性物质。与蓖麻油一样，均</a:t>
            </a:r>
            <a:r>
              <a:rPr lang="zh-CN" altLang="en-US" sz="2400" dirty="0">
                <a:solidFill>
                  <a:srgbClr val="0000FF"/>
                </a:solidFill>
                <a:latin typeface="KaiTi" panose="02010609060101010101" pitchFamily="49" charset="-122"/>
                <a:ea typeface="KaiTi" panose="02010609060101010101" pitchFamily="49" charset="-122"/>
              </a:rPr>
              <a:t>是唇膏不可缺少的原料</a:t>
            </a:r>
            <a:r>
              <a:rPr lang="zh-CN" altLang="en-US" sz="2400" dirty="0">
                <a:latin typeface="KaiTi" panose="02010609060101010101" pitchFamily="49" charset="-122"/>
                <a:ea typeface="KaiTi" panose="02010609060101010101" pitchFamily="49" charset="-122"/>
              </a:rPr>
              <a:t>。由于</a:t>
            </a:r>
            <a:r>
              <a:rPr lang="zh-CN" altLang="en-US" sz="2400" dirty="0">
                <a:solidFill>
                  <a:srgbClr val="FF0000"/>
                </a:solidFill>
                <a:latin typeface="KaiTi" panose="02010609060101010101" pitchFamily="49" charset="-122"/>
                <a:ea typeface="KaiTi" panose="02010609060101010101" pitchFamily="49" charset="-122"/>
              </a:rPr>
              <a:t>气味不佳</a:t>
            </a:r>
            <a:r>
              <a:rPr lang="zh-CN" altLang="en-US" sz="2400" dirty="0">
                <a:latin typeface="KaiTi" panose="02010609060101010101" pitchFamily="49" charset="-122"/>
                <a:ea typeface="KaiTi" panose="02010609060101010101" pitchFamily="49" charset="-122"/>
              </a:rPr>
              <a:t>，其用量不宜过多，一般为</a:t>
            </a:r>
            <a:r>
              <a:rPr lang="en-US" altLang="zh-CN" sz="2400" dirty="0">
                <a:latin typeface="KaiTi" panose="02010609060101010101" pitchFamily="49" charset="-122"/>
                <a:ea typeface="KaiTi" panose="02010609060101010101" pitchFamily="49" charset="-122"/>
              </a:rPr>
              <a:t>10%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30%</a:t>
            </a:r>
            <a:r>
              <a:rPr lang="zh-CN" altLang="en-US" sz="2400" dirty="0">
                <a:latin typeface="KaiTi" panose="02010609060101010101" pitchFamily="49" charset="-122"/>
                <a:ea typeface="KaiTi" panose="02010609060101010101" pitchFamily="49" charset="-122"/>
              </a:rPr>
              <a:t>。现也多采用羊毛脂衍生物以避免此缺点。</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0849541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原料：油脂、蜡类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9833"/>
          </a:xfrm>
          <a:prstGeom prst="rect">
            <a:avLst/>
          </a:prstGeom>
          <a:noFill/>
        </p:spPr>
        <p:txBody>
          <a:bodyPr wrap="square" rtlCol="0">
            <a:spAutoFit/>
          </a:bodyPr>
          <a:lstStyle/>
          <a:p>
            <a:pPr>
              <a:lnSpc>
                <a:spcPct val="150000"/>
              </a:lnSpc>
            </a:pPr>
            <a:r>
              <a:rPr lang="zh-CN" altLang="en-US" sz="2400" dirty="0">
                <a:solidFill>
                  <a:srgbClr val="0000FF"/>
                </a:solidFill>
                <a:latin typeface="+mn-lt"/>
                <a:ea typeface="SimHei" panose="02010609060101010101" pitchFamily="49" charset="-122"/>
              </a:rPr>
              <a:t>肉豆蔻酸异丙酯 </a:t>
            </a:r>
            <a:r>
              <a:rPr lang="en-US" altLang="zh-CN" sz="2400" dirty="0">
                <a:solidFill>
                  <a:srgbClr val="0000FF"/>
                </a:solidFill>
                <a:latin typeface="+mn-lt"/>
                <a:ea typeface="SimHei" panose="02010609060101010101" pitchFamily="49" charset="-122"/>
              </a:rPr>
              <a:t>(isopropyl myristate) </a:t>
            </a:r>
            <a:r>
              <a:rPr lang="zh-CN" altLang="en-US" sz="2400" dirty="0">
                <a:latin typeface="+mn-lt"/>
                <a:ea typeface="SimHei" panose="02010609060101010101" pitchFamily="49" charset="-122"/>
              </a:rPr>
              <a:t>化学名称是十四酸异丙酯，简称</a:t>
            </a:r>
            <a:r>
              <a:rPr lang="en-US" altLang="zh-CN" sz="2400" dirty="0">
                <a:latin typeface="+mn-lt"/>
                <a:ea typeface="SimHei" panose="02010609060101010101" pitchFamily="49" charset="-122"/>
              </a:rPr>
              <a:t>IPM, </a:t>
            </a:r>
            <a:r>
              <a:rPr lang="zh-CN" altLang="en-US" sz="2400" dirty="0">
                <a:latin typeface="+mn-lt"/>
                <a:ea typeface="SimHei" panose="02010609060101010101" pitchFamily="49" charset="-122"/>
              </a:rPr>
              <a:t>其相对密度</a:t>
            </a:r>
            <a:r>
              <a:rPr lang="en-US" altLang="zh-CN" sz="2400" dirty="0">
                <a:latin typeface="+mn-lt"/>
                <a:ea typeface="SimHei" panose="02010609060101010101" pitchFamily="49" charset="-122"/>
              </a:rPr>
              <a:t>0.847</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0.853,</a:t>
            </a:r>
            <a:r>
              <a:rPr lang="zh-CN" altLang="en-US" sz="2400" dirty="0">
                <a:latin typeface="+mn-lt"/>
                <a:ea typeface="SimHei" panose="02010609060101010101" pitchFamily="49" charset="-122"/>
              </a:rPr>
              <a:t>酸值</a:t>
            </a:r>
            <a:r>
              <a:rPr lang="en-US" altLang="zh-CN" sz="2400" dirty="0">
                <a:latin typeface="+mn-lt"/>
                <a:ea typeface="SimHei" panose="02010609060101010101" pitchFamily="49" charset="-122"/>
              </a:rPr>
              <a:t>&lt;1.0mgKOH/g,  </a:t>
            </a:r>
            <a:r>
              <a:rPr lang="zh-CN" altLang="en-US" sz="2400" dirty="0">
                <a:latin typeface="+mn-lt"/>
                <a:ea typeface="SimHei" panose="02010609060101010101" pitchFamily="49" charset="-122"/>
              </a:rPr>
              <a:t>皂化值</a:t>
            </a:r>
            <a:r>
              <a:rPr lang="en-US" altLang="zh-CN" sz="2400" dirty="0">
                <a:latin typeface="+mn-lt"/>
                <a:ea typeface="SimHei" panose="02010609060101010101" pitchFamily="49" charset="-122"/>
              </a:rPr>
              <a:t>205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212mgKOH/g, </a:t>
            </a:r>
            <a:r>
              <a:rPr lang="zh-CN" altLang="en-US" sz="2400" dirty="0">
                <a:latin typeface="+mn-lt"/>
                <a:ea typeface="SimHei" panose="02010609060101010101" pitchFamily="49" charset="-122"/>
              </a:rPr>
              <a:t>碘值</a:t>
            </a:r>
            <a:r>
              <a:rPr lang="en-US" altLang="zh-CN" sz="2400" dirty="0">
                <a:latin typeface="+mn-lt"/>
                <a:ea typeface="SimHei" panose="02010609060101010101" pitchFamily="49" charset="-122"/>
              </a:rPr>
              <a:t>&lt;1.0gI/100g, </a:t>
            </a:r>
            <a:r>
              <a:rPr lang="zh-CN" altLang="en-US" sz="2400" dirty="0">
                <a:latin typeface="+mn-lt"/>
                <a:ea typeface="SimHei" panose="02010609060101010101" pitchFamily="49" charset="-122"/>
              </a:rPr>
              <a:t>凝固点</a:t>
            </a:r>
            <a:r>
              <a:rPr lang="en-US" altLang="zh-CN" sz="2400" dirty="0">
                <a:latin typeface="+mn-lt"/>
                <a:ea typeface="SimHei" panose="02010609060101010101" pitchFamily="49" charset="-122"/>
              </a:rPr>
              <a:t>&lt;9℃</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    肉豆蔻酸异丙酯具有良好的延展性，</a:t>
            </a:r>
            <a:r>
              <a:rPr lang="zh-CN" altLang="en-US" sz="2400" dirty="0">
                <a:solidFill>
                  <a:srgbClr val="0000FF"/>
                </a:solidFill>
                <a:latin typeface="KaiTi" panose="02010609060101010101" pitchFamily="49" charset="-122"/>
                <a:ea typeface="KaiTi" panose="02010609060101010101" pitchFamily="49" charset="-122"/>
              </a:rPr>
              <a:t>与皮肤相容性好，能赋予皮肤适当油性</a:t>
            </a:r>
            <a:r>
              <a:rPr lang="zh-CN" altLang="en-US" sz="2400" dirty="0">
                <a:latin typeface="KaiTi" panose="02010609060101010101" pitchFamily="49" charset="-122"/>
                <a:ea typeface="KaiTi" panose="02010609060101010101" pitchFamily="49" charset="-122"/>
              </a:rPr>
              <a:t>，不易水解与腐败，对皮肤无刺激，被</a:t>
            </a:r>
            <a:r>
              <a:rPr lang="zh-CN" altLang="en-US" sz="2400" dirty="0">
                <a:solidFill>
                  <a:srgbClr val="0000FF"/>
                </a:solidFill>
                <a:latin typeface="KaiTi" panose="02010609060101010101" pitchFamily="49" charset="-122"/>
                <a:ea typeface="KaiTi" panose="02010609060101010101" pitchFamily="49" charset="-122"/>
              </a:rPr>
              <a:t>广泛应用于护发、护肤及美容化妆品中</a:t>
            </a:r>
            <a:r>
              <a:rPr lang="zh-CN" altLang="en-US" sz="2400" dirty="0">
                <a:latin typeface="KaiTi" panose="02010609060101010101" pitchFamily="49" charset="-122"/>
                <a:ea typeface="KaiTi" panose="02010609060101010101" pitchFamily="49" charset="-122"/>
              </a:rPr>
              <a:t>。肉豆蔻酸异丙酯可以作为唇膏的互溶剂及滑润剂，可增加涂抹时的延展性，用量约为</a:t>
            </a:r>
            <a:r>
              <a:rPr lang="en-US" altLang="zh-CN" sz="2400" dirty="0">
                <a:latin typeface="KaiTi" panose="02010609060101010101" pitchFamily="49" charset="-122"/>
                <a:ea typeface="KaiTi" panose="02010609060101010101" pitchFamily="49" charset="-122"/>
              </a:rPr>
              <a:t>3%</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8%</a:t>
            </a:r>
            <a:r>
              <a:rPr lang="zh-CN" altLang="en-US" sz="2400" dirty="0">
                <a:latin typeface="KaiTi" panose="02010609060101010101" pitchFamily="49" charset="-122"/>
                <a:ea typeface="KaiTi" panose="02010609060101010101" pitchFamily="49" charset="-122"/>
              </a:rPr>
              <a:t>。</a:t>
            </a:r>
          </a:p>
          <a:p>
            <a:pPr>
              <a:lnSpc>
                <a:spcPct val="150000"/>
              </a:lnSpc>
            </a:pPr>
            <a:endParaRPr lang="zh-CN" altLang="en-US" sz="2400" dirty="0">
              <a:latin typeface="+mn-lt"/>
              <a:ea typeface="SimHei" panose="02010609060101010101" pitchFamily="49" charset="-122"/>
            </a:endParaRPr>
          </a:p>
        </p:txBody>
      </p:sp>
    </p:spTree>
    <p:extLst>
      <p:ext uri="{BB962C8B-B14F-4D97-AF65-F5344CB8AC3E}">
        <p14:creationId xmlns:p14="http://schemas.microsoft.com/office/powerpoint/2010/main" val="4440492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原料：油脂、蜡类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447645"/>
          </a:xfrm>
          <a:prstGeom prst="rect">
            <a:avLst/>
          </a:prstGeom>
          <a:noFill/>
        </p:spPr>
        <p:txBody>
          <a:bodyPr wrap="square" rtlCol="0">
            <a:spAutoFit/>
          </a:bodyPr>
          <a:lstStyle/>
          <a:p>
            <a:pPr>
              <a:lnSpc>
                <a:spcPct val="150000"/>
              </a:lnSpc>
            </a:pPr>
            <a:r>
              <a:rPr lang="zh-CN" altLang="en-US" sz="2400" dirty="0">
                <a:solidFill>
                  <a:srgbClr val="0000FF"/>
                </a:solidFill>
                <a:latin typeface="+mn-lt"/>
                <a:ea typeface="SimHei" panose="02010609060101010101" pitchFamily="49" charset="-122"/>
              </a:rPr>
              <a:t>巴西棕榈蜡 </a:t>
            </a:r>
            <a:r>
              <a:rPr lang="en-US" altLang="zh-CN" sz="2400" dirty="0">
                <a:solidFill>
                  <a:srgbClr val="0000FF"/>
                </a:solidFill>
                <a:latin typeface="+mn-lt"/>
                <a:ea typeface="SimHei" panose="02010609060101010101" pitchFamily="49" charset="-122"/>
              </a:rPr>
              <a:t>(carnauba wax)  </a:t>
            </a:r>
            <a:r>
              <a:rPr lang="zh-CN" altLang="en-US" sz="2400" dirty="0">
                <a:latin typeface="+mn-lt"/>
                <a:ea typeface="SimHei" panose="02010609060101010101" pitchFamily="49" charset="-122"/>
              </a:rPr>
              <a:t>巴西棕榈蜡是从南美巴西的棕柏树叶浸提而制得的。其相对密度</a:t>
            </a:r>
            <a:r>
              <a:rPr lang="en-US" altLang="zh-CN" sz="2400" dirty="0">
                <a:latin typeface="+mn-lt"/>
                <a:ea typeface="SimHei" panose="02010609060101010101" pitchFamily="49" charset="-122"/>
              </a:rPr>
              <a:t>0.990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0.999</a:t>
            </a:r>
            <a:r>
              <a:rPr lang="zh-CN" altLang="en-US" sz="2400" dirty="0">
                <a:latin typeface="+mn-lt"/>
                <a:ea typeface="SimHei" panose="02010609060101010101" pitchFamily="49" charset="-122"/>
              </a:rPr>
              <a:t>，酸值</a:t>
            </a:r>
            <a:r>
              <a:rPr lang="en-US" altLang="zh-CN" sz="2400" dirty="0">
                <a:latin typeface="+mn-lt"/>
                <a:ea typeface="SimHei" panose="02010609060101010101" pitchFamily="49" charset="-122"/>
              </a:rPr>
              <a:t>2</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9 mg KOH/g,  </a:t>
            </a:r>
            <a:r>
              <a:rPr lang="zh-CN" altLang="en-US" sz="2400" dirty="0">
                <a:latin typeface="+mn-lt"/>
                <a:ea typeface="SimHei" panose="02010609060101010101" pitchFamily="49" charset="-122"/>
              </a:rPr>
              <a:t>皂化值</a:t>
            </a:r>
            <a:r>
              <a:rPr lang="en-US" altLang="zh-CN" sz="2400" dirty="0">
                <a:latin typeface="+mn-lt"/>
                <a:ea typeface="SimHei" panose="02010609060101010101" pitchFamily="49" charset="-122"/>
              </a:rPr>
              <a:t>79</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88mgKOH/g, </a:t>
            </a:r>
            <a:r>
              <a:rPr lang="zh-CN" altLang="en-US" sz="2400" dirty="0">
                <a:latin typeface="+mn-lt"/>
                <a:ea typeface="SimHei" panose="02010609060101010101" pitchFamily="49" charset="-122"/>
              </a:rPr>
              <a:t>碘值</a:t>
            </a:r>
            <a:r>
              <a:rPr lang="en-US" altLang="zh-CN" sz="2400" dirty="0">
                <a:latin typeface="+mn-lt"/>
                <a:ea typeface="SimHei" panose="02010609060101010101" pitchFamily="49" charset="-122"/>
              </a:rPr>
              <a:t>8</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14gI/100g</a:t>
            </a:r>
            <a:r>
              <a:rPr lang="zh-CN" altLang="en-US" sz="2400" dirty="0">
                <a:latin typeface="+mn-lt"/>
                <a:ea typeface="SimHei" panose="02010609060101010101" pitchFamily="49" charset="-122"/>
              </a:rPr>
              <a:t>，熔点</a:t>
            </a:r>
            <a:r>
              <a:rPr lang="en-US" altLang="zh-CN" sz="2400" dirty="0">
                <a:latin typeface="+mn-lt"/>
                <a:ea typeface="SimHei" panose="02010609060101010101" pitchFamily="49" charset="-122"/>
              </a:rPr>
              <a:t>83</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86℃</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r>
              <a:rPr lang="zh-CN" altLang="en-US" sz="2400" dirty="0">
                <a:latin typeface="KaiTi" panose="02010609060101010101" pitchFamily="49" charset="-122"/>
                <a:ea typeface="KaiTi" panose="02010609060101010101" pitchFamily="49" charset="-122"/>
              </a:rPr>
              <a:t>    巴西棕榈蜡为高熔点的质硬而脆的不溶于水的固体，是</a:t>
            </a:r>
            <a:r>
              <a:rPr lang="zh-CN" altLang="en-US" sz="2400" dirty="0">
                <a:solidFill>
                  <a:srgbClr val="0000FF"/>
                </a:solidFill>
                <a:latin typeface="KaiTi" panose="02010609060101010101" pitchFamily="49" charset="-122"/>
                <a:ea typeface="KaiTi" panose="02010609060101010101" pitchFamily="49" charset="-122"/>
              </a:rPr>
              <a:t>化妆品原料中硬度最高</a:t>
            </a:r>
            <a:r>
              <a:rPr lang="zh-CN" altLang="en-US" sz="2400" dirty="0">
                <a:latin typeface="KaiTi" panose="02010609060101010101" pitchFamily="49" charset="-122"/>
                <a:ea typeface="KaiTi" panose="02010609060101010101" pitchFamily="49" charset="-122"/>
              </a:rPr>
              <a:t>的一种，与蓖麻油等油脂类原料的相溶性良好，广泛用于唇膏和膏霜类化妆品中，</a:t>
            </a:r>
            <a:r>
              <a:rPr lang="zh-CN" altLang="en-US" sz="2400" dirty="0">
                <a:solidFill>
                  <a:srgbClr val="0000FF"/>
                </a:solidFill>
                <a:latin typeface="KaiTi" panose="02010609060101010101" pitchFamily="49" charset="-122"/>
                <a:ea typeface="KaiTi" panose="02010609060101010101" pitchFamily="49" charset="-122"/>
              </a:rPr>
              <a:t>在唇膏中作硬化剂，用以提高产品的熔点而不致影响其触变性</a:t>
            </a:r>
            <a:r>
              <a:rPr lang="zh-CN" altLang="en-US" sz="2400" dirty="0">
                <a:latin typeface="KaiTi" panose="02010609060101010101" pitchFamily="49" charset="-122"/>
                <a:ea typeface="KaiTi" panose="02010609060101010101" pitchFamily="49" charset="-122"/>
              </a:rPr>
              <a:t>，并赋予光泽和热稳定性，因此对</a:t>
            </a:r>
            <a:r>
              <a:rPr lang="zh-CN" altLang="en-US" sz="2400" dirty="0">
                <a:solidFill>
                  <a:srgbClr val="0000FF"/>
                </a:solidFill>
                <a:latin typeface="KaiTi" panose="02010609060101010101" pitchFamily="49" charset="-122"/>
                <a:ea typeface="KaiTi" panose="02010609060101010101" pitchFamily="49" charset="-122"/>
              </a:rPr>
              <a:t>保持唇膏形体和表面光亮</a:t>
            </a:r>
            <a:r>
              <a:rPr lang="zh-CN" altLang="en-US" sz="2400" dirty="0">
                <a:latin typeface="KaiTi" panose="02010609060101010101" pitchFamily="49" charset="-122"/>
                <a:ea typeface="KaiTi" panose="02010609060101010101" pitchFamily="49" charset="-122"/>
              </a:rPr>
              <a:t>起着重要作用。用量在</a:t>
            </a:r>
            <a:r>
              <a:rPr lang="en-US" altLang="zh-CN" sz="2400" dirty="0">
                <a:latin typeface="KaiTi" panose="02010609060101010101" pitchFamily="49" charset="-122"/>
                <a:ea typeface="KaiTi" panose="02010609060101010101" pitchFamily="49" charset="-122"/>
              </a:rPr>
              <a:t>1%</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a:t>
            </a:r>
            <a:r>
              <a:rPr lang="zh-CN" altLang="en-US" sz="2400" dirty="0">
                <a:latin typeface="KaiTi" panose="02010609060101010101" pitchFamily="49" charset="-122"/>
                <a:ea typeface="KaiTi" panose="02010609060101010101" pitchFamily="49" charset="-122"/>
              </a:rPr>
              <a:t>一般不超过</a:t>
            </a:r>
            <a:r>
              <a:rPr lang="en-US" altLang="zh-CN" sz="2400" dirty="0">
                <a:latin typeface="KaiTi" panose="02010609060101010101" pitchFamily="49" charset="-122"/>
                <a:ea typeface="KaiTi" panose="02010609060101010101" pitchFamily="49" charset="-122"/>
              </a:rPr>
              <a:t>5%,</a:t>
            </a:r>
            <a:r>
              <a:rPr lang="zh-CN" altLang="en-US" sz="2400" dirty="0">
                <a:latin typeface="KaiTi" panose="02010609060101010101" pitchFamily="49" charset="-122"/>
                <a:ea typeface="KaiTi" panose="02010609060101010101" pitchFamily="49" charset="-122"/>
              </a:rPr>
              <a:t>过多会引起唇膏脆化，也可通过加入蜂蜡得以缓和。</a:t>
            </a:r>
          </a:p>
        </p:txBody>
      </p:sp>
    </p:spTree>
    <p:extLst>
      <p:ext uri="{BB962C8B-B14F-4D97-AF65-F5344CB8AC3E}">
        <p14:creationId xmlns:p14="http://schemas.microsoft.com/office/powerpoint/2010/main" val="37389275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原料：香精</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394138" y="1333034"/>
            <a:ext cx="8355724" cy="4452566"/>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唇部化妆品的香料，既要芳香舒适，又需口味和悦，还要</a:t>
            </a:r>
            <a:r>
              <a:rPr lang="zh-CN" altLang="en-US" sz="2400" dirty="0">
                <a:solidFill>
                  <a:srgbClr val="0000FF"/>
                </a:solidFill>
                <a:latin typeface="+mn-lt"/>
                <a:ea typeface="SimHei" panose="02010609060101010101" pitchFamily="49" charset="-122"/>
              </a:rPr>
              <a:t>考虑其安全性</a:t>
            </a:r>
            <a:r>
              <a:rPr lang="zh-CN" altLang="en-US" sz="2400" dirty="0">
                <a:latin typeface="+mn-lt"/>
                <a:ea typeface="SimHei" panose="02010609060101010101" pitchFamily="49" charset="-122"/>
              </a:rPr>
              <a:t>。因此，对唇部化妆品的香料要求是：既要完全掩盖脂蜡的气味，还要体现淡雅的清香气味，可被消费者普遍接受。</a:t>
            </a:r>
            <a:r>
              <a:rPr lang="zh-CN" altLang="en-US" sz="2400" dirty="0">
                <a:solidFill>
                  <a:srgbClr val="0000FF"/>
                </a:solidFill>
                <a:latin typeface="+mn-lt"/>
                <a:ea typeface="SimHei" panose="02010609060101010101" pitchFamily="49" charset="-122"/>
              </a:rPr>
              <a:t>许多芳香物会对黏膜产生刺激，不适宜用于唇部化妆品中</a:t>
            </a:r>
            <a:r>
              <a:rPr lang="zh-CN" altLang="en-US" sz="2400" dirty="0">
                <a:latin typeface="+mn-lt"/>
                <a:ea typeface="SimHei" panose="02010609060101010101" pitchFamily="49" charset="-122"/>
              </a:rPr>
              <a:t>；有苦味和不适口味的芳香物，极易产生身体的不良反应。唇部化妆品经常使用一些</a:t>
            </a:r>
            <a:r>
              <a:rPr lang="zh-CN" altLang="en-US" sz="2400" dirty="0">
                <a:solidFill>
                  <a:srgbClr val="0000FF"/>
                </a:solidFill>
                <a:latin typeface="+mn-lt"/>
                <a:ea typeface="SimHei" panose="02010609060101010101" pitchFamily="49" charset="-122"/>
              </a:rPr>
              <a:t>清雅的花香、水果香和某些食品香料</a:t>
            </a:r>
            <a:r>
              <a:rPr lang="zh-CN" altLang="en-US" sz="2400" dirty="0">
                <a:latin typeface="+mn-lt"/>
                <a:ea typeface="SimHei" panose="02010609060101010101" pitchFamily="49" charset="-122"/>
              </a:rPr>
              <a:t>品种，如橙花、茉莉、玫瑰、香豆素、香兰素、杨梅等。香精在唇部化妆品中的用量约为</a:t>
            </a:r>
            <a:r>
              <a:rPr lang="en-US" altLang="zh-CN" sz="2400" dirty="0">
                <a:latin typeface="+mn-lt"/>
                <a:ea typeface="SimHei" panose="02010609060101010101" pitchFamily="49" charset="-122"/>
              </a:rPr>
              <a:t>0.1%</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a:t>
            </a:r>
            <a:r>
              <a:rPr lang="zh-CN" altLang="en-US" sz="2400" dirty="0">
                <a:latin typeface="+mn-lt"/>
                <a:ea typeface="SimHei" panose="02010609060101010101" pitchFamily="49" charset="-122"/>
              </a:rPr>
              <a:t>。</a:t>
            </a:r>
          </a:p>
        </p:txBody>
      </p:sp>
    </p:spTree>
    <p:extLst>
      <p:ext uri="{BB962C8B-B14F-4D97-AF65-F5344CB8AC3E}">
        <p14:creationId xmlns:p14="http://schemas.microsoft.com/office/powerpoint/2010/main" val="3890225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唇膏配方与工艺示例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4258417"/>
            <a:ext cx="8778240" cy="2246769"/>
          </a:xfrm>
          <a:prstGeom prst="rect">
            <a:avLst/>
          </a:prstGeom>
          <a:noFill/>
        </p:spPr>
        <p:txBody>
          <a:bodyPr wrap="square" rtlCol="0">
            <a:spAutoFit/>
          </a:bodyPr>
          <a:lstStyle/>
          <a:p>
            <a:r>
              <a:rPr lang="zh-CN" altLang="en-US" sz="2000" dirty="0">
                <a:latin typeface="KaiTi" panose="02010609060101010101" pitchFamily="49" charset="-122"/>
                <a:ea typeface="KaiTi" panose="02010609060101010101" pitchFamily="49" charset="-122"/>
              </a:rPr>
              <a:t>① 称取 </a:t>
            </a:r>
            <a:r>
              <a:rPr lang="en-US" altLang="zh-CN" sz="2000" dirty="0">
                <a:latin typeface="KaiTi" panose="02010609060101010101" pitchFamily="49" charset="-122"/>
                <a:ea typeface="KaiTi" panose="02010609060101010101" pitchFamily="49" charset="-122"/>
              </a:rPr>
              <a:t>A </a:t>
            </a:r>
            <a:r>
              <a:rPr lang="zh-CN" altLang="en-US" sz="2000" dirty="0">
                <a:latin typeface="KaiTi" panose="02010609060101010101" pitchFamily="49" charset="-122"/>
                <a:ea typeface="KaiTi" panose="02010609060101010101" pitchFamily="49" charset="-122"/>
              </a:rPr>
              <a:t>相各组分于主容器中，加热至</a:t>
            </a:r>
            <a:r>
              <a:rPr lang="en-US" altLang="zh-CN" sz="2000" dirty="0">
                <a:latin typeface="KaiTi" panose="02010609060101010101" pitchFamily="49" charset="-122"/>
                <a:ea typeface="KaiTi" panose="02010609060101010101" pitchFamily="49" charset="-122"/>
              </a:rPr>
              <a:t>85℃,</a:t>
            </a:r>
            <a:r>
              <a:rPr lang="zh-CN" altLang="en-US" sz="2000" dirty="0">
                <a:latin typeface="KaiTi" panose="02010609060101010101" pitchFamily="49" charset="-122"/>
                <a:ea typeface="KaiTi" panose="02010609060101010101" pitchFamily="49" charset="-122"/>
              </a:rPr>
              <a:t>搅拌直至溶解均匀；</a:t>
            </a:r>
          </a:p>
          <a:p>
            <a:r>
              <a:rPr lang="zh-CN" altLang="en-US" sz="2000" dirty="0">
                <a:latin typeface="KaiTi" panose="02010609060101010101" pitchFamily="49" charset="-122"/>
                <a:ea typeface="KaiTi" panose="02010609060101010101" pitchFamily="49" charset="-122"/>
              </a:rPr>
              <a:t>② 加入 </a:t>
            </a:r>
            <a:r>
              <a:rPr lang="en-US" altLang="zh-CN" sz="2000" dirty="0">
                <a:latin typeface="KaiTi" panose="02010609060101010101" pitchFamily="49" charset="-122"/>
                <a:ea typeface="KaiTi" panose="02010609060101010101" pitchFamily="49" charset="-122"/>
              </a:rPr>
              <a:t>B </a:t>
            </a:r>
            <a:r>
              <a:rPr lang="zh-CN" altLang="en-US" sz="2000" dirty="0">
                <a:latin typeface="KaiTi" panose="02010609060101010101" pitchFamily="49" charset="-122"/>
                <a:ea typeface="KaiTi" panose="02010609060101010101" pitchFamily="49" charset="-122"/>
              </a:rPr>
              <a:t>相各组分，加热至</a:t>
            </a:r>
            <a:r>
              <a:rPr lang="en-US" altLang="zh-CN" sz="2000" dirty="0">
                <a:latin typeface="KaiTi" panose="02010609060101010101" pitchFamily="49" charset="-122"/>
                <a:ea typeface="KaiTi" panose="02010609060101010101" pitchFamily="49" charset="-122"/>
              </a:rPr>
              <a:t>90℃,</a:t>
            </a:r>
            <a:r>
              <a:rPr lang="zh-CN" altLang="en-US" sz="2000" dirty="0">
                <a:latin typeface="KaiTi" panose="02010609060101010101" pitchFamily="49" charset="-122"/>
                <a:ea typeface="KaiTi" panose="02010609060101010101" pitchFamily="49" charset="-122"/>
              </a:rPr>
              <a:t>搅拌直至料体完全溶解；</a:t>
            </a:r>
          </a:p>
          <a:p>
            <a:r>
              <a:rPr lang="zh-CN" altLang="en-US" sz="2000" dirty="0">
                <a:latin typeface="KaiTi" panose="02010609060101010101" pitchFamily="49" charset="-122"/>
                <a:ea typeface="KaiTi" panose="02010609060101010101" pitchFamily="49" charset="-122"/>
              </a:rPr>
              <a:t>③ 将溶解均匀的料体与 </a:t>
            </a:r>
            <a:r>
              <a:rPr lang="en-US" altLang="zh-CN" sz="2000" dirty="0">
                <a:latin typeface="KaiTi" panose="02010609060101010101" pitchFamily="49" charset="-122"/>
                <a:ea typeface="KaiTi" panose="02010609060101010101" pitchFamily="49" charset="-122"/>
              </a:rPr>
              <a:t>C </a:t>
            </a:r>
            <a:r>
              <a:rPr lang="zh-CN" altLang="en-US" sz="2000" dirty="0">
                <a:latin typeface="KaiTi" panose="02010609060101010101" pitchFamily="49" charset="-122"/>
                <a:ea typeface="KaiTi" panose="02010609060101010101" pitchFamily="49" charset="-122"/>
              </a:rPr>
              <a:t>相中的颜料在三辊研磨机上研磨均匀细致；</a:t>
            </a:r>
          </a:p>
          <a:p>
            <a:r>
              <a:rPr lang="zh-CN" altLang="en-US" sz="2000" dirty="0">
                <a:latin typeface="KaiTi" panose="02010609060101010101" pitchFamily="49" charset="-122"/>
                <a:ea typeface="KaiTi" panose="02010609060101010101" pitchFamily="49" charset="-122"/>
              </a:rPr>
              <a:t>④ 将研磨细致均匀的料体加热至</a:t>
            </a:r>
            <a:r>
              <a:rPr lang="en-US" altLang="zh-CN" sz="2000" dirty="0">
                <a:latin typeface="KaiTi" panose="02010609060101010101" pitchFamily="49" charset="-122"/>
                <a:ea typeface="KaiTi" panose="02010609060101010101" pitchFamily="49" charset="-122"/>
              </a:rPr>
              <a:t>90℃</a:t>
            </a:r>
            <a:r>
              <a:rPr lang="zh-CN" altLang="en-US" sz="2000" dirty="0">
                <a:latin typeface="KaiTi" panose="02010609060101010101" pitchFamily="49" charset="-122"/>
                <a:ea typeface="KaiTi" panose="02010609060101010101" pitchFamily="49" charset="-122"/>
              </a:rPr>
              <a:t>溶解均匀，加入 </a:t>
            </a:r>
            <a:r>
              <a:rPr lang="en-US" altLang="zh-CN" sz="2000" dirty="0">
                <a:latin typeface="KaiTi" panose="02010609060101010101" pitchFamily="49" charset="-122"/>
                <a:ea typeface="KaiTi" panose="02010609060101010101" pitchFamily="49" charset="-122"/>
              </a:rPr>
              <a:t>C </a:t>
            </a:r>
            <a:r>
              <a:rPr lang="zh-CN" altLang="en-US" sz="2000" dirty="0">
                <a:latin typeface="KaiTi" panose="02010609060101010101" pitchFamily="49" charset="-122"/>
                <a:ea typeface="KaiTi" panose="02010609060101010101" pitchFamily="49" charset="-122"/>
              </a:rPr>
              <a:t>相中的珠光剂搅拌均匀；</a:t>
            </a:r>
          </a:p>
          <a:p>
            <a:r>
              <a:rPr lang="zh-CN" altLang="en-US" sz="2000" dirty="0">
                <a:latin typeface="KaiTi" panose="02010609060101010101" pitchFamily="49" charset="-122"/>
                <a:ea typeface="KaiTi" panose="02010609060101010101" pitchFamily="49" charset="-122"/>
              </a:rPr>
              <a:t>⑤ 将料体降温至</a:t>
            </a:r>
            <a:r>
              <a:rPr lang="en-US" altLang="zh-CN" sz="2000" dirty="0">
                <a:latin typeface="KaiTi" panose="02010609060101010101" pitchFamily="49" charset="-122"/>
                <a:ea typeface="KaiTi" panose="02010609060101010101" pitchFamily="49" charset="-122"/>
              </a:rPr>
              <a:t>85℃,</a:t>
            </a:r>
            <a:r>
              <a:rPr lang="zh-CN" altLang="en-US" sz="2000" dirty="0">
                <a:latin typeface="KaiTi" panose="02010609060101010101" pitchFamily="49" charset="-122"/>
                <a:ea typeface="KaiTi" panose="02010609060101010101" pitchFamily="49" charset="-122"/>
              </a:rPr>
              <a:t>加入 </a:t>
            </a:r>
            <a:r>
              <a:rPr lang="en-US" altLang="zh-CN" sz="2000" dirty="0">
                <a:latin typeface="KaiTi" panose="02010609060101010101" pitchFamily="49" charset="-122"/>
                <a:ea typeface="KaiTi" panose="02010609060101010101" pitchFamily="49" charset="-122"/>
              </a:rPr>
              <a:t>D </a:t>
            </a:r>
            <a:r>
              <a:rPr lang="zh-CN" altLang="en-US" sz="2000" dirty="0">
                <a:latin typeface="KaiTi" panose="02010609060101010101" pitchFamily="49" charset="-122"/>
                <a:ea typeface="KaiTi" panose="02010609060101010101" pitchFamily="49" charset="-122"/>
              </a:rPr>
              <a:t>相，搅拌并真空脱泡</a:t>
            </a:r>
            <a:r>
              <a:rPr lang="en-US" altLang="zh-CN" sz="2000" dirty="0">
                <a:latin typeface="KaiTi" panose="02010609060101010101" pitchFamily="49" charset="-122"/>
                <a:ea typeface="KaiTi" panose="02010609060101010101" pitchFamily="49" charset="-122"/>
              </a:rPr>
              <a:t>2</a:t>
            </a:r>
            <a:r>
              <a:rPr lang="zh-CN" altLang="en-US" sz="2000" dirty="0">
                <a:latin typeface="KaiTi" panose="02010609060101010101" pitchFamily="49" charset="-122"/>
                <a:ea typeface="KaiTi" panose="02010609060101010101" pitchFamily="49" charset="-122"/>
              </a:rPr>
              <a:t>～</a:t>
            </a:r>
            <a:r>
              <a:rPr lang="en-US" altLang="zh-CN" sz="2000" dirty="0">
                <a:latin typeface="KaiTi" panose="02010609060101010101" pitchFamily="49" charset="-122"/>
                <a:ea typeface="KaiTi" panose="02010609060101010101" pitchFamily="49" charset="-122"/>
              </a:rPr>
              <a:t>3min;</a:t>
            </a:r>
          </a:p>
          <a:p>
            <a:r>
              <a:rPr lang="en-US" altLang="zh-CN" sz="2000" dirty="0">
                <a:latin typeface="KaiTi" panose="02010609060101010101" pitchFamily="49" charset="-122"/>
                <a:ea typeface="KaiTi" panose="02010609060101010101" pitchFamily="49" charset="-122"/>
              </a:rPr>
              <a:t>⑥ 85</a:t>
            </a:r>
            <a:r>
              <a:rPr lang="zh-CN" altLang="en-US" sz="2000" dirty="0">
                <a:latin typeface="KaiTi" panose="02010609060101010101" pitchFamily="49" charset="-122"/>
                <a:ea typeface="KaiTi" panose="02010609060101010101" pitchFamily="49" charset="-122"/>
              </a:rPr>
              <a:t>～</a:t>
            </a:r>
            <a:r>
              <a:rPr lang="en-US" altLang="zh-CN" sz="2000" dirty="0">
                <a:latin typeface="KaiTi" panose="02010609060101010101" pitchFamily="49" charset="-122"/>
                <a:ea typeface="KaiTi" panose="02010609060101010101" pitchFamily="49" charset="-122"/>
              </a:rPr>
              <a:t>90℃</a:t>
            </a:r>
            <a:r>
              <a:rPr lang="zh-CN" altLang="en-US" sz="2000" dirty="0">
                <a:latin typeface="KaiTi" panose="02010609060101010101" pitchFamily="49" charset="-122"/>
                <a:ea typeface="KaiTi" panose="02010609060101010101" pitchFamily="49" charset="-122"/>
              </a:rPr>
              <a:t>灌入模具成型。</a:t>
            </a:r>
          </a:p>
        </p:txBody>
      </p:sp>
      <p:graphicFrame>
        <p:nvGraphicFramePr>
          <p:cNvPr id="5" name="表格 4">
            <a:extLst>
              <a:ext uri="{FF2B5EF4-FFF2-40B4-BE49-F238E27FC236}">
                <a16:creationId xmlns:a16="http://schemas.microsoft.com/office/drawing/2014/main" id="{5D047417-96DA-831D-8B73-A23AAD652C78}"/>
              </a:ext>
            </a:extLst>
          </p:cNvPr>
          <p:cNvGraphicFramePr>
            <a:graphicFrameLocks noGrp="1"/>
          </p:cNvGraphicFramePr>
          <p:nvPr>
            <p:extLst>
              <p:ext uri="{D42A27DB-BD31-4B8C-83A1-F6EECF244321}">
                <p14:modId xmlns:p14="http://schemas.microsoft.com/office/powerpoint/2010/main" val="2314730022"/>
              </p:ext>
            </p:extLst>
          </p:nvPr>
        </p:nvGraphicFramePr>
        <p:xfrm>
          <a:off x="182880" y="1078473"/>
          <a:ext cx="8778240" cy="3100261"/>
        </p:xfrm>
        <a:graphic>
          <a:graphicData uri="http://schemas.openxmlformats.org/drawingml/2006/table">
            <a:tbl>
              <a:tblPr firstRow="1" firstCol="1" bandRow="1">
                <a:tableStyleId>{72833802-FEF1-4C79-8D5D-14CF1EAF98D9}</a:tableStyleId>
              </a:tblPr>
              <a:tblGrid>
                <a:gridCol w="978680">
                  <a:extLst>
                    <a:ext uri="{9D8B030D-6E8A-4147-A177-3AD203B41FA5}">
                      <a16:colId xmlns:a16="http://schemas.microsoft.com/office/drawing/2014/main" val="2232172"/>
                    </a:ext>
                  </a:extLst>
                </a:gridCol>
                <a:gridCol w="1658528">
                  <a:extLst>
                    <a:ext uri="{9D8B030D-6E8A-4147-A177-3AD203B41FA5}">
                      <a16:colId xmlns:a16="http://schemas.microsoft.com/office/drawing/2014/main" val="992375129"/>
                    </a:ext>
                  </a:extLst>
                </a:gridCol>
                <a:gridCol w="1359694">
                  <a:extLst>
                    <a:ext uri="{9D8B030D-6E8A-4147-A177-3AD203B41FA5}">
                      <a16:colId xmlns:a16="http://schemas.microsoft.com/office/drawing/2014/main" val="3478858529"/>
                    </a:ext>
                  </a:extLst>
                </a:gridCol>
                <a:gridCol w="1822885">
                  <a:extLst>
                    <a:ext uri="{9D8B030D-6E8A-4147-A177-3AD203B41FA5}">
                      <a16:colId xmlns:a16="http://schemas.microsoft.com/office/drawing/2014/main" val="3203906127"/>
                    </a:ext>
                  </a:extLst>
                </a:gridCol>
                <a:gridCol w="1822885">
                  <a:extLst>
                    <a:ext uri="{9D8B030D-6E8A-4147-A177-3AD203B41FA5}">
                      <a16:colId xmlns:a16="http://schemas.microsoft.com/office/drawing/2014/main" val="2456487547"/>
                    </a:ext>
                  </a:extLst>
                </a:gridCol>
                <a:gridCol w="1135568">
                  <a:extLst>
                    <a:ext uri="{9D8B030D-6E8A-4147-A177-3AD203B41FA5}">
                      <a16:colId xmlns:a16="http://schemas.microsoft.com/office/drawing/2014/main" val="120382690"/>
                    </a:ext>
                  </a:extLst>
                </a:gridCol>
              </a:tblGrid>
              <a:tr h="256540">
                <a:tc>
                  <a:txBody>
                    <a:bodyPr/>
                    <a:lstStyle/>
                    <a:p>
                      <a:pPr marL="247015" marR="0" eaLnBrk="0">
                        <a:lnSpc>
                          <a:spcPct val="92000"/>
                        </a:lnSpc>
                        <a:spcBef>
                          <a:spcPts val="530"/>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27990" marR="0" eaLnBrk="0">
                        <a:lnSpc>
                          <a:spcPct val="91000"/>
                        </a:lnSpc>
                        <a:spcBef>
                          <a:spcPts val="520"/>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7490" marR="0" eaLnBrk="0">
                        <a:lnSpc>
                          <a:spcPct val="91000"/>
                        </a:lnSpc>
                        <a:spcBef>
                          <a:spcPts val="515"/>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76225" marR="0" eaLnBrk="0">
                        <a:lnSpc>
                          <a:spcPct val="92000"/>
                        </a:lnSpc>
                        <a:spcBef>
                          <a:spcPts val="530"/>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10540" marR="0" eaLnBrk="0">
                        <a:lnSpc>
                          <a:spcPct val="91000"/>
                        </a:lnSpc>
                        <a:spcBef>
                          <a:spcPts val="520"/>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42240" marR="0" eaLnBrk="0">
                        <a:lnSpc>
                          <a:spcPct val="91000"/>
                        </a:lnSpc>
                        <a:spcBef>
                          <a:spcPts val="515"/>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761465147"/>
                  </a:ext>
                </a:extLst>
              </a:tr>
              <a:tr h="506730">
                <a:tc rowSpan="3">
                  <a:txBody>
                    <a:bodyPr/>
                    <a:lstStyle/>
                    <a:p>
                      <a:pPr marL="0" marR="0" eaLnBrk="0">
                        <a:lnSpc>
                          <a:spcPct val="116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6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6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79400" marR="0" eaLnBrk="0">
                        <a:lnSpc>
                          <a:spcPct val="92000"/>
                        </a:lnSpc>
                        <a:spcBef>
                          <a:spcPts val="340"/>
                        </a:spcBef>
                        <a:spcAft>
                          <a:spcPts val="0"/>
                        </a:spcAft>
                      </a:pPr>
                      <a:r>
                        <a:rPr lang="en-US" sz="1800" spc="55">
                          <a:effectLst/>
                          <a:latin typeface="SimHei" panose="02010609060101010101" pitchFamily="49" charset="-122"/>
                          <a:ea typeface="SimHei" panose="02010609060101010101" pitchFamily="49" charset="-122"/>
                        </a:rPr>
                        <a:t>A</a:t>
                      </a:r>
                      <a:r>
                        <a:rPr lang="zh-CN" sz="1800" spc="5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3">
                  <a:txBody>
                    <a:bodyPr/>
                    <a:lstStyle/>
                    <a:p>
                      <a:pPr marL="110490" marR="0" eaLnBrk="0">
                        <a:lnSpc>
                          <a:spcPct val="92000"/>
                        </a:lnSpc>
                        <a:spcBef>
                          <a:spcPts val="400"/>
                        </a:spcBef>
                        <a:spcAft>
                          <a:spcPts val="0"/>
                        </a:spcAft>
                      </a:pPr>
                      <a:r>
                        <a:rPr lang="zh-CN" sz="1800" spc="35" dirty="0">
                          <a:solidFill>
                            <a:srgbClr val="FF0000"/>
                          </a:solidFill>
                          <a:effectLst/>
                          <a:latin typeface="SimHei" panose="02010609060101010101" pitchFamily="49" charset="-122"/>
                          <a:ea typeface="SimHei" panose="02010609060101010101" pitchFamily="49" charset="-122"/>
                        </a:rPr>
                        <a:t>蓖麻油</a:t>
                      </a:r>
                      <a:endParaRPr lang="en-US" sz="1800" dirty="0">
                        <a:solidFill>
                          <a:srgbClr val="FF0000"/>
                        </a:solidFill>
                        <a:effectLst/>
                        <a:latin typeface="SimHei" panose="02010609060101010101" pitchFamily="49" charset="-122"/>
                        <a:ea typeface="SimHei" panose="02010609060101010101" pitchFamily="49" charset="-122"/>
                      </a:endParaRPr>
                    </a:p>
                    <a:p>
                      <a:pPr marL="110490" marR="0" eaLnBrk="0">
                        <a:lnSpc>
                          <a:spcPct val="91000"/>
                        </a:lnSpc>
                        <a:spcBef>
                          <a:spcPts val="690"/>
                        </a:spcBef>
                        <a:spcAft>
                          <a:spcPts val="0"/>
                        </a:spcAft>
                      </a:pPr>
                      <a:r>
                        <a:rPr lang="zh-CN" sz="1800" spc="15" dirty="0">
                          <a:solidFill>
                            <a:srgbClr val="FF0000"/>
                          </a:solidFill>
                          <a:effectLst/>
                          <a:latin typeface="SimHei" panose="02010609060101010101" pitchFamily="49" charset="-122"/>
                          <a:ea typeface="SimHei" panose="02010609060101010101" pitchFamily="49" charset="-122"/>
                        </a:rPr>
                        <a:t>羊毛脂</a:t>
                      </a:r>
                      <a:endParaRPr lang="en-US" sz="1800" dirty="0">
                        <a:solidFill>
                          <a:srgbClr val="FF0000"/>
                        </a:solidFill>
                        <a:effectLst/>
                        <a:latin typeface="SimHei" panose="02010609060101010101" pitchFamily="49" charset="-122"/>
                        <a:ea typeface="SimHei" panose="02010609060101010101" pitchFamily="49" charset="-122"/>
                      </a:endParaRPr>
                    </a:p>
                    <a:p>
                      <a:pPr marL="110490" marR="0" eaLnBrk="0">
                        <a:lnSpc>
                          <a:spcPct val="92000"/>
                        </a:lnSpc>
                        <a:spcBef>
                          <a:spcPts val="850"/>
                        </a:spcBef>
                        <a:spcAft>
                          <a:spcPts val="0"/>
                        </a:spcAft>
                      </a:pPr>
                      <a:r>
                        <a:rPr lang="zh-CN" sz="1800" spc="25" dirty="0">
                          <a:effectLst/>
                          <a:latin typeface="SimHei" panose="02010609060101010101" pitchFamily="49" charset="-122"/>
                          <a:ea typeface="SimHei" panose="02010609060101010101" pitchFamily="49" charset="-122"/>
                        </a:rPr>
                        <a:t>低黏硅油</a:t>
                      </a:r>
                      <a:endParaRPr lang="en-US" sz="1800" dirty="0">
                        <a:effectLst/>
                        <a:latin typeface="SimHei" panose="02010609060101010101" pitchFamily="49" charset="-122"/>
                        <a:ea typeface="SimHei" panose="02010609060101010101" pitchFamily="49" charset="-122"/>
                      </a:endParaRPr>
                    </a:p>
                    <a:p>
                      <a:pPr marL="110490" marR="0" eaLnBrk="0">
                        <a:lnSpc>
                          <a:spcPts val="2100"/>
                        </a:lnSpc>
                        <a:spcBef>
                          <a:spcPts val="785"/>
                        </a:spcBef>
                        <a:spcAft>
                          <a:spcPts val="0"/>
                        </a:spcAft>
                      </a:pPr>
                      <a:r>
                        <a:rPr lang="zh-CN" sz="1800" dirty="0">
                          <a:effectLst/>
                          <a:latin typeface="SimHei" panose="02010609060101010101" pitchFamily="49" charset="-122"/>
                          <a:ea typeface="SimHei" panose="02010609060101010101" pitchFamily="49" charset="-122"/>
                        </a:rPr>
                        <a:t>辛酸</a:t>
                      </a:r>
                      <a:r>
                        <a:rPr lang="en-US" sz="1800" dirty="0">
                          <a:effectLst/>
                          <a:latin typeface="SimHei" panose="02010609060101010101" pitchFamily="49" charset="-122"/>
                          <a:ea typeface="SimHei" panose="02010609060101010101" pitchFamily="49" charset="-122"/>
                        </a:rPr>
                        <a:t>/</a:t>
                      </a:r>
                      <a:r>
                        <a:rPr lang="zh-CN" sz="1800" dirty="0">
                          <a:effectLst/>
                          <a:latin typeface="SimHei" panose="02010609060101010101" pitchFamily="49" charset="-122"/>
                          <a:ea typeface="SimHei" panose="02010609060101010101" pitchFamily="49" charset="-122"/>
                        </a:rPr>
                        <a:t>癸酸甘油三酯</a:t>
                      </a:r>
                      <a:endParaRPr lang="en-US" sz="1800" dirty="0">
                        <a:effectLst/>
                        <a:latin typeface="SimHei" panose="02010609060101010101" pitchFamily="49" charset="-122"/>
                        <a:ea typeface="SimHei" panose="02010609060101010101" pitchFamily="49" charset="-122"/>
                      </a:endParaRPr>
                    </a:p>
                    <a:p>
                      <a:pPr marL="110490" marR="0" eaLnBrk="0">
                        <a:lnSpc>
                          <a:spcPct val="91000"/>
                        </a:lnSpc>
                        <a:spcBef>
                          <a:spcPts val="0"/>
                        </a:spcBef>
                        <a:spcAft>
                          <a:spcPts val="0"/>
                        </a:spcAft>
                      </a:pPr>
                      <a:r>
                        <a:rPr lang="zh-CN" sz="1800" spc="5" dirty="0">
                          <a:solidFill>
                            <a:srgbClr val="FF0000"/>
                          </a:solidFill>
                          <a:effectLst/>
                          <a:latin typeface="SimHei" panose="02010609060101010101" pitchFamily="49" charset="-122"/>
                          <a:ea typeface="SimHei" panose="02010609060101010101" pitchFamily="49" charset="-122"/>
                        </a:rPr>
                        <a:t>肉豆蔻酸异丙酯</a:t>
                      </a:r>
                      <a:endParaRPr lang="en-US" sz="1800" dirty="0">
                        <a:solidFill>
                          <a:srgbClr val="FF0000"/>
                        </a:solidFill>
                        <a:effectLst/>
                        <a:latin typeface="SimHei" panose="02010609060101010101" pitchFamily="49" charset="-122"/>
                        <a:ea typeface="SimHei" panose="02010609060101010101" pitchFamily="49" charset="-122"/>
                      </a:endParaRPr>
                    </a:p>
                  </a:txBody>
                  <a:tcPr marL="0" marR="0" marT="0" marB="0"/>
                </a:tc>
                <a:tc rowSpan="3">
                  <a:txBody>
                    <a:bodyPr/>
                    <a:lstStyle/>
                    <a:p>
                      <a:pPr marL="441325" marR="0" eaLnBrk="0">
                        <a:lnSpc>
                          <a:spcPts val="1945"/>
                        </a:lnSpc>
                        <a:spcBef>
                          <a:spcPts val="715"/>
                        </a:spcBef>
                        <a:spcAft>
                          <a:spcPts val="0"/>
                        </a:spcAft>
                      </a:pPr>
                      <a:r>
                        <a:rPr lang="en-US" sz="1800" spc="-15">
                          <a:effectLst/>
                          <a:latin typeface="SimHei" panose="02010609060101010101" pitchFamily="49" charset="-122"/>
                          <a:ea typeface="SimHei" panose="02010609060101010101" pitchFamily="49" charset="-122"/>
                        </a:rPr>
                        <a:t>28.0</a:t>
                      </a:r>
                      <a:endParaRPr lang="en-US" sz="1800">
                        <a:effectLst/>
                        <a:latin typeface="SimHei" panose="02010609060101010101" pitchFamily="49" charset="-122"/>
                        <a:ea typeface="SimHei" panose="02010609060101010101" pitchFamily="49" charset="-122"/>
                      </a:endParaRPr>
                    </a:p>
                    <a:p>
                      <a:pPr marL="441325" marR="0" eaLnBrk="0">
                        <a:lnSpc>
                          <a:spcPct val="76000"/>
                        </a:lnSpc>
                        <a:spcBef>
                          <a:spcPts val="0"/>
                        </a:spcBef>
                        <a:spcAft>
                          <a:spcPts val="0"/>
                        </a:spcAft>
                      </a:pPr>
                      <a:r>
                        <a:rPr lang="en-US" sz="1800" spc="-25">
                          <a:effectLst/>
                          <a:latin typeface="SimHei" panose="02010609060101010101" pitchFamily="49" charset="-122"/>
                          <a:ea typeface="SimHei" panose="02010609060101010101" pitchFamily="49" charset="-122"/>
                        </a:rPr>
                        <a:t>15.0</a:t>
                      </a:r>
                      <a:endParaRPr lang="en-US" sz="1800">
                        <a:effectLst/>
                        <a:latin typeface="SimHei" panose="02010609060101010101" pitchFamily="49" charset="-122"/>
                        <a:ea typeface="SimHei" panose="02010609060101010101" pitchFamily="49" charset="-122"/>
                      </a:endParaRPr>
                    </a:p>
                    <a:p>
                      <a:pPr marL="472440" marR="0" eaLnBrk="0">
                        <a:lnSpc>
                          <a:spcPts val="1950"/>
                        </a:lnSpc>
                        <a:spcBef>
                          <a:spcPts val="1155"/>
                        </a:spcBef>
                        <a:spcAft>
                          <a:spcPts val="0"/>
                        </a:spcAft>
                      </a:pPr>
                      <a:r>
                        <a:rPr lang="en-US" sz="1800" spc="-15">
                          <a:effectLst/>
                          <a:latin typeface="SimHei" panose="02010609060101010101" pitchFamily="49" charset="-122"/>
                          <a:ea typeface="SimHei" panose="02010609060101010101" pitchFamily="49" charset="-122"/>
                        </a:rPr>
                        <a:t>5.0</a:t>
                      </a:r>
                      <a:endParaRPr lang="en-US" sz="1800">
                        <a:effectLst/>
                        <a:latin typeface="SimHei" panose="02010609060101010101" pitchFamily="49" charset="-122"/>
                        <a:ea typeface="SimHei" panose="02010609060101010101" pitchFamily="49" charset="-122"/>
                      </a:endParaRPr>
                    </a:p>
                    <a:p>
                      <a:pPr marL="472440"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9.0</a:t>
                      </a:r>
                      <a:endParaRPr lang="en-US" sz="1800">
                        <a:effectLst/>
                        <a:latin typeface="SimHei" panose="02010609060101010101" pitchFamily="49" charset="-122"/>
                        <a:ea typeface="SimHei" panose="02010609060101010101" pitchFamily="49" charset="-122"/>
                      </a:endParaRPr>
                    </a:p>
                    <a:p>
                      <a:pPr marL="441325" marR="0" eaLnBrk="0">
                        <a:lnSpc>
                          <a:spcPct val="76000"/>
                        </a:lnSpc>
                        <a:spcBef>
                          <a:spcPts val="955"/>
                        </a:spcBef>
                        <a:spcAft>
                          <a:spcPts val="0"/>
                        </a:spcAft>
                      </a:pPr>
                      <a:r>
                        <a:rPr lang="en-US" sz="1800" spc="-25">
                          <a:effectLst/>
                          <a:latin typeface="SimHei" panose="02010609060101010101" pitchFamily="49" charset="-122"/>
                          <a:ea typeface="SimHei" panose="02010609060101010101" pitchFamily="49" charset="-122"/>
                        </a:rPr>
                        <a:t>18.0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07340" marR="0" eaLnBrk="0">
                        <a:lnSpc>
                          <a:spcPct val="92000"/>
                        </a:lnSpc>
                        <a:spcBef>
                          <a:spcPts val="1510"/>
                        </a:spcBef>
                        <a:spcAft>
                          <a:spcPts val="0"/>
                        </a:spcAft>
                      </a:pPr>
                      <a:r>
                        <a:rPr lang="en-US" sz="1800" b="1" spc="55" dirty="0">
                          <a:effectLst/>
                          <a:latin typeface="SimHei" panose="02010609060101010101" pitchFamily="49" charset="-122"/>
                          <a:ea typeface="SimHei" panose="02010609060101010101" pitchFamily="49" charset="-122"/>
                        </a:rPr>
                        <a:t>B</a:t>
                      </a:r>
                      <a:r>
                        <a:rPr lang="zh-CN" sz="1800" b="1" spc="5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1440" marR="0" eaLnBrk="0">
                        <a:lnSpc>
                          <a:spcPts val="1955"/>
                        </a:lnSpc>
                        <a:spcBef>
                          <a:spcPts val="495"/>
                        </a:spcBef>
                        <a:spcAft>
                          <a:spcPts val="0"/>
                        </a:spcAft>
                      </a:pPr>
                      <a:r>
                        <a:rPr lang="zh-CN" sz="1800" spc="10">
                          <a:effectLst/>
                          <a:latin typeface="SimHei" panose="02010609060101010101" pitchFamily="49" charset="-122"/>
                          <a:ea typeface="SimHei" panose="02010609060101010101" pitchFamily="49" charset="-122"/>
                        </a:rPr>
                        <a:t>聚乙烯蜡</a:t>
                      </a:r>
                      <a:endParaRPr lang="en-US" sz="1800">
                        <a:effectLst/>
                        <a:latin typeface="SimHei" panose="02010609060101010101" pitchFamily="49" charset="-122"/>
                        <a:ea typeface="SimHei" panose="02010609060101010101" pitchFamily="49" charset="-122"/>
                      </a:endParaRPr>
                    </a:p>
                    <a:p>
                      <a:pPr marL="91440" marR="0" eaLnBrk="0">
                        <a:lnSpc>
                          <a:spcPct val="91000"/>
                        </a:lnSpc>
                        <a:spcBef>
                          <a:spcPts val="0"/>
                        </a:spcBef>
                        <a:spcAft>
                          <a:spcPts val="0"/>
                        </a:spcAft>
                      </a:pPr>
                      <a:r>
                        <a:rPr lang="zh-CN" sz="1800" spc="-15">
                          <a:effectLst/>
                          <a:latin typeface="SimHei" panose="02010609060101010101" pitchFamily="49" charset="-122"/>
                          <a:ea typeface="SimHei" panose="02010609060101010101" pitchFamily="49" charset="-122"/>
                        </a:rPr>
                        <a:t>地蜡</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77190" marR="0" eaLnBrk="0">
                        <a:lnSpc>
                          <a:spcPts val="2050"/>
                        </a:lnSpc>
                        <a:spcBef>
                          <a:spcPts val="815"/>
                        </a:spcBef>
                        <a:spcAft>
                          <a:spcPts val="0"/>
                        </a:spcAft>
                      </a:pPr>
                      <a:r>
                        <a:rPr lang="en-US" sz="1800" spc="-15">
                          <a:effectLst/>
                          <a:latin typeface="SimHei" panose="02010609060101010101" pitchFamily="49" charset="-122"/>
                          <a:ea typeface="SimHei" panose="02010609060101010101" pitchFamily="49" charset="-122"/>
                        </a:rPr>
                        <a:t>5.0</a:t>
                      </a:r>
                      <a:endParaRPr lang="en-US" sz="1800">
                        <a:effectLst/>
                        <a:latin typeface="SimHei" panose="02010609060101010101" pitchFamily="49" charset="-122"/>
                        <a:ea typeface="SimHei" panose="02010609060101010101" pitchFamily="49" charset="-122"/>
                      </a:endParaRPr>
                    </a:p>
                    <a:p>
                      <a:pPr marL="377190"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2.0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370669781"/>
                  </a:ext>
                </a:extLst>
              </a:tr>
              <a:tr h="51244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307340" marR="0" eaLnBrk="0">
                        <a:lnSpc>
                          <a:spcPct val="92000"/>
                        </a:lnSpc>
                        <a:spcBef>
                          <a:spcPts val="1520"/>
                        </a:spcBef>
                        <a:spcAft>
                          <a:spcPts val="0"/>
                        </a:spcAft>
                      </a:pPr>
                      <a:r>
                        <a:rPr lang="en-US" sz="1800" b="1" spc="55" dirty="0">
                          <a:effectLst/>
                          <a:latin typeface="SimHei" panose="02010609060101010101" pitchFamily="49" charset="-122"/>
                          <a:ea typeface="SimHei" panose="02010609060101010101" pitchFamily="49" charset="-122"/>
                        </a:rPr>
                        <a:t>C</a:t>
                      </a:r>
                      <a:r>
                        <a:rPr lang="zh-CN" sz="1800" b="1" spc="5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1440" marR="0" eaLnBrk="0">
                        <a:lnSpc>
                          <a:spcPts val="1955"/>
                        </a:lnSpc>
                        <a:spcBef>
                          <a:spcPts val="455"/>
                        </a:spcBef>
                        <a:spcAft>
                          <a:spcPts val="0"/>
                        </a:spcAft>
                      </a:pPr>
                      <a:r>
                        <a:rPr lang="zh-CN" sz="1800" spc="-10">
                          <a:effectLst/>
                          <a:latin typeface="SimHei" panose="02010609060101010101" pitchFamily="49" charset="-122"/>
                          <a:ea typeface="SimHei" panose="02010609060101010101" pitchFamily="49" charset="-122"/>
                        </a:rPr>
                        <a:t>珠光颜料</a:t>
                      </a:r>
                      <a:endParaRPr lang="en-US" sz="1800">
                        <a:effectLst/>
                        <a:latin typeface="SimHei" panose="02010609060101010101" pitchFamily="49" charset="-122"/>
                        <a:ea typeface="SimHei" panose="02010609060101010101" pitchFamily="49" charset="-122"/>
                      </a:endParaRPr>
                    </a:p>
                    <a:p>
                      <a:pPr marL="91440" marR="0" eaLnBrk="0">
                        <a:lnSpc>
                          <a:spcPct val="91000"/>
                        </a:lnSpc>
                        <a:spcBef>
                          <a:spcPts val="0"/>
                        </a:spcBef>
                        <a:spcAft>
                          <a:spcPts val="0"/>
                        </a:spcAft>
                      </a:pPr>
                      <a:r>
                        <a:rPr lang="zh-CN" sz="1800" spc="-10">
                          <a:effectLst/>
                          <a:latin typeface="SimHei" panose="02010609060101010101" pitchFamily="49" charset="-122"/>
                          <a:ea typeface="SimHei" panose="02010609060101010101" pitchFamily="49" charset="-122"/>
                        </a:rPr>
                        <a:t>颜料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77190" marR="0" eaLnBrk="0">
                        <a:lnSpc>
                          <a:spcPts val="2000"/>
                        </a:lnSpc>
                        <a:spcBef>
                          <a:spcPts val="825"/>
                        </a:spcBef>
                        <a:spcAft>
                          <a:spcPts val="0"/>
                        </a:spcAft>
                      </a:pPr>
                      <a:r>
                        <a:rPr lang="en-US" sz="1800" spc="-15">
                          <a:effectLst/>
                          <a:latin typeface="SimHei" panose="02010609060101010101" pitchFamily="49" charset="-122"/>
                          <a:ea typeface="SimHei" panose="02010609060101010101" pitchFamily="49" charset="-122"/>
                        </a:rPr>
                        <a:t>2.0</a:t>
                      </a:r>
                      <a:endParaRPr lang="en-US" sz="1800">
                        <a:effectLst/>
                        <a:latin typeface="SimHei" panose="02010609060101010101" pitchFamily="49" charset="-122"/>
                        <a:ea typeface="SimHei" panose="02010609060101010101" pitchFamily="49" charset="-122"/>
                      </a:endParaRPr>
                    </a:p>
                    <a:p>
                      <a:pPr marL="377190" marR="0" eaLnBrk="0">
                        <a:lnSpc>
                          <a:spcPct val="76000"/>
                        </a:lnSpc>
                        <a:spcBef>
                          <a:spcPts val="0"/>
                        </a:spcBef>
                        <a:spcAft>
                          <a:spcPts val="0"/>
                        </a:spcAft>
                      </a:pPr>
                      <a:r>
                        <a:rPr lang="en-US" sz="1800" spc="-10">
                          <a:effectLst/>
                          <a:latin typeface="SimHei" panose="02010609060101010101" pitchFamily="49" charset="-122"/>
                          <a:ea typeface="SimHei" panose="02010609060101010101" pitchFamily="49" charset="-122"/>
                        </a:rPr>
                        <a:t>4.0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54017440"/>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eaLnBrk="0">
                        <a:lnSpc>
                          <a:spcPct val="181000"/>
                        </a:lnSpc>
                        <a:spcBef>
                          <a:spcPts val="0"/>
                        </a:spcBef>
                        <a:spcAft>
                          <a:spcPts val="0"/>
                        </a:spcAft>
                      </a:pPr>
                      <a:r>
                        <a:rPr lang="en-US" sz="1800" b="1" dirty="0">
                          <a:effectLst/>
                          <a:latin typeface="SimHei" panose="02010609060101010101" pitchFamily="49" charset="-122"/>
                          <a:ea typeface="SimHei" panose="02010609060101010101" pitchFamily="49" charset="-122"/>
                        </a:rPr>
                        <a:t> </a:t>
                      </a:r>
                    </a:p>
                    <a:p>
                      <a:pPr marL="307340" marR="0" eaLnBrk="0">
                        <a:lnSpc>
                          <a:spcPct val="92000"/>
                        </a:lnSpc>
                        <a:spcBef>
                          <a:spcPts val="340"/>
                        </a:spcBef>
                        <a:spcAft>
                          <a:spcPts val="0"/>
                        </a:spcAft>
                      </a:pPr>
                      <a:r>
                        <a:rPr lang="en-US" sz="1800" b="1" spc="55" dirty="0">
                          <a:effectLst/>
                          <a:latin typeface="SimHei" panose="02010609060101010101" pitchFamily="49" charset="-122"/>
                          <a:ea typeface="SimHei" panose="02010609060101010101" pitchFamily="49" charset="-122"/>
                        </a:rPr>
                        <a:t>D</a:t>
                      </a:r>
                      <a:r>
                        <a:rPr lang="zh-CN" sz="1800" b="1" spc="5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91440" marR="0" eaLnBrk="0">
                        <a:lnSpc>
                          <a:spcPts val="1900"/>
                        </a:lnSpc>
                        <a:spcBef>
                          <a:spcPts val="465"/>
                        </a:spcBef>
                        <a:spcAft>
                          <a:spcPts val="0"/>
                        </a:spcAft>
                      </a:pPr>
                      <a:r>
                        <a:rPr lang="zh-CN" sz="1800" spc="15">
                          <a:effectLst/>
                          <a:latin typeface="SimHei" panose="02010609060101010101" pitchFamily="49" charset="-122"/>
                          <a:ea typeface="SimHei" panose="02010609060101010101" pitchFamily="49" charset="-122"/>
                        </a:rPr>
                        <a:t>抗氧化剂</a:t>
                      </a:r>
                      <a:endParaRPr lang="en-US" sz="1800">
                        <a:effectLst/>
                        <a:latin typeface="SimHei" panose="02010609060101010101" pitchFamily="49" charset="-122"/>
                        <a:ea typeface="SimHei" panose="02010609060101010101" pitchFamily="49" charset="-122"/>
                      </a:endParaRPr>
                    </a:p>
                    <a:p>
                      <a:pPr marL="91440" marR="0" eaLnBrk="0">
                        <a:lnSpc>
                          <a:spcPct val="90000"/>
                        </a:lnSpc>
                        <a:spcBef>
                          <a:spcPts val="0"/>
                        </a:spcBef>
                        <a:spcAft>
                          <a:spcPts val="0"/>
                        </a:spcAft>
                      </a:pPr>
                      <a:r>
                        <a:rPr lang="zh-CN" sz="1800" spc="25">
                          <a:effectLst/>
                          <a:latin typeface="SimHei" panose="02010609060101010101" pitchFamily="49" charset="-122"/>
                          <a:ea typeface="SimHei" panose="02010609060101010101" pitchFamily="49" charset="-122"/>
                        </a:rPr>
                        <a:t>香精</a:t>
                      </a:r>
                      <a:endParaRPr lang="en-US" sz="1800">
                        <a:effectLst/>
                        <a:latin typeface="SimHei" panose="02010609060101010101" pitchFamily="49" charset="-122"/>
                        <a:ea typeface="SimHei" panose="02010609060101010101" pitchFamily="49" charset="-122"/>
                      </a:endParaRPr>
                    </a:p>
                    <a:p>
                      <a:pPr marL="91440" marR="0" eaLnBrk="0">
                        <a:lnSpc>
                          <a:spcPct val="91000"/>
                        </a:lnSpc>
                        <a:spcBef>
                          <a:spcPts val="850"/>
                        </a:spcBef>
                        <a:spcAft>
                          <a:spcPts val="0"/>
                        </a:spcAft>
                      </a:pPr>
                      <a:r>
                        <a:rPr lang="zh-CN" sz="1800" spc="20">
                          <a:effectLst/>
                          <a:latin typeface="SimHei" panose="02010609060101010101" pitchFamily="49" charset="-122"/>
                          <a:ea typeface="SimHei" panose="02010609060101010101" pitchFamily="49" charset="-122"/>
                        </a:rPr>
                        <a:t>防腐剂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346075" marR="0" eaLnBrk="0">
                        <a:lnSpc>
                          <a:spcPts val="2100"/>
                        </a:lnSpc>
                        <a:spcBef>
                          <a:spcPts val="405"/>
                        </a:spcBef>
                        <a:spcAft>
                          <a:spcPts val="0"/>
                        </a:spcAft>
                      </a:pPr>
                      <a:r>
                        <a:rPr lang="zh-CN" sz="1800" spc="-15">
                          <a:effectLst/>
                          <a:latin typeface="SimHei" panose="02010609060101010101" pitchFamily="49" charset="-122"/>
                          <a:ea typeface="SimHei" panose="02010609060101010101" pitchFamily="49" charset="-122"/>
                        </a:rPr>
                        <a:t>适量</a:t>
                      </a:r>
                      <a:endParaRPr lang="en-US" sz="1800">
                        <a:effectLst/>
                        <a:latin typeface="SimHei" panose="02010609060101010101" pitchFamily="49" charset="-122"/>
                        <a:ea typeface="SimHei" panose="02010609060101010101" pitchFamily="49" charset="-122"/>
                      </a:endParaRPr>
                    </a:p>
                    <a:p>
                      <a:pPr marL="346075" marR="0" eaLnBrk="0">
                        <a:lnSpc>
                          <a:spcPct val="93000"/>
                        </a:lnSpc>
                        <a:spcBef>
                          <a:spcPts val="0"/>
                        </a:spcBef>
                        <a:spcAft>
                          <a:spcPts val="0"/>
                        </a:spcAft>
                      </a:pPr>
                      <a:r>
                        <a:rPr lang="zh-CN" sz="1800" spc="-15">
                          <a:effectLst/>
                          <a:latin typeface="SimHei" panose="02010609060101010101" pitchFamily="49" charset="-122"/>
                          <a:ea typeface="SimHei" panose="02010609060101010101" pitchFamily="49" charset="-122"/>
                        </a:rPr>
                        <a:t>适量</a:t>
                      </a:r>
                      <a:endParaRPr lang="en-US" sz="1800">
                        <a:effectLst/>
                        <a:latin typeface="SimHei" panose="02010609060101010101" pitchFamily="49" charset="-122"/>
                        <a:ea typeface="SimHei" panose="02010609060101010101" pitchFamily="49" charset="-122"/>
                      </a:endParaRPr>
                    </a:p>
                    <a:p>
                      <a:pPr marL="346075" marR="0" eaLnBrk="0">
                        <a:lnSpc>
                          <a:spcPct val="93000"/>
                        </a:lnSpc>
                        <a:spcBef>
                          <a:spcPts val="615"/>
                        </a:spcBef>
                        <a:spcAft>
                          <a:spcPts val="0"/>
                        </a:spcAft>
                      </a:pPr>
                      <a:r>
                        <a:rPr lang="zh-CN" sz="1800" spc="-15">
                          <a:effectLst/>
                          <a:latin typeface="SimHei" panose="02010609060101010101" pitchFamily="49" charset="-122"/>
                          <a:ea typeface="SimHei" panose="02010609060101010101" pitchFamily="49" charset="-122"/>
                        </a:rPr>
                        <a:t>适量</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665311839"/>
                  </a:ext>
                </a:extLst>
              </a:tr>
              <a:tr h="509270">
                <a:tc>
                  <a:txBody>
                    <a:bodyPr/>
                    <a:lstStyle/>
                    <a:p>
                      <a:pPr marL="279400" marR="0" eaLnBrk="0">
                        <a:lnSpc>
                          <a:spcPct val="92000"/>
                        </a:lnSpc>
                        <a:spcBef>
                          <a:spcPts val="1540"/>
                        </a:spcBef>
                        <a:spcAft>
                          <a:spcPts val="0"/>
                        </a:spcAft>
                      </a:pPr>
                      <a:r>
                        <a:rPr lang="en-US" sz="1800" spc="55">
                          <a:effectLst/>
                          <a:latin typeface="SimHei" panose="02010609060101010101" pitchFamily="49" charset="-122"/>
                          <a:ea typeface="SimHei" panose="02010609060101010101" pitchFamily="49" charset="-122"/>
                        </a:rPr>
                        <a:t>B</a:t>
                      </a:r>
                      <a:r>
                        <a:rPr lang="zh-CN" sz="1800" spc="5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0490" marR="0" eaLnBrk="0">
                        <a:lnSpc>
                          <a:spcPts val="1850"/>
                        </a:lnSpc>
                        <a:spcBef>
                          <a:spcPts val="475"/>
                        </a:spcBef>
                        <a:spcAft>
                          <a:spcPts val="0"/>
                        </a:spcAft>
                      </a:pPr>
                      <a:r>
                        <a:rPr lang="zh-CN" sz="1800" spc="5">
                          <a:effectLst/>
                          <a:latin typeface="SimHei" panose="02010609060101010101" pitchFamily="49" charset="-122"/>
                          <a:ea typeface="SimHei" panose="02010609060101010101" pitchFamily="49" charset="-122"/>
                        </a:rPr>
                        <a:t>巴西棕榈蜡</a:t>
                      </a:r>
                      <a:endParaRPr lang="en-US" sz="1800">
                        <a:effectLst/>
                        <a:latin typeface="SimHei" panose="02010609060101010101" pitchFamily="49" charset="-122"/>
                        <a:ea typeface="SimHei" panose="02010609060101010101" pitchFamily="49" charset="-122"/>
                      </a:endParaRPr>
                    </a:p>
                    <a:p>
                      <a:pPr marL="110490" marR="0" eaLnBrk="0">
                        <a:lnSpc>
                          <a:spcPct val="91000"/>
                        </a:lnSpc>
                        <a:spcBef>
                          <a:spcPts val="0"/>
                        </a:spcBef>
                        <a:spcAft>
                          <a:spcPts val="0"/>
                        </a:spcAft>
                      </a:pPr>
                      <a:r>
                        <a:rPr lang="zh-CN" sz="1800" spc="-15">
                          <a:effectLst/>
                          <a:latin typeface="SimHei" panose="02010609060101010101" pitchFamily="49" charset="-122"/>
                          <a:ea typeface="SimHei" panose="02010609060101010101" pitchFamily="49" charset="-122"/>
                        </a:rPr>
                        <a:t>蜂蜡</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72440" marR="0" eaLnBrk="0">
                        <a:lnSpc>
                          <a:spcPts val="2000"/>
                        </a:lnSpc>
                        <a:spcBef>
                          <a:spcPts val="795"/>
                        </a:spcBef>
                        <a:spcAft>
                          <a:spcPts val="0"/>
                        </a:spcAft>
                      </a:pPr>
                      <a:r>
                        <a:rPr lang="en-US" sz="1800" spc="-10" dirty="0">
                          <a:effectLst/>
                          <a:latin typeface="SimHei" panose="02010609060101010101" pitchFamily="49" charset="-122"/>
                          <a:ea typeface="SimHei" panose="02010609060101010101" pitchFamily="49" charset="-122"/>
                        </a:rPr>
                        <a:t>4.0</a:t>
                      </a:r>
                      <a:endParaRPr lang="en-US" sz="1800" dirty="0">
                        <a:effectLst/>
                        <a:latin typeface="SimHei" panose="02010609060101010101" pitchFamily="49" charset="-122"/>
                        <a:ea typeface="SimHei" panose="02010609060101010101" pitchFamily="49" charset="-122"/>
                      </a:endParaRPr>
                    </a:p>
                    <a:p>
                      <a:pPr marL="472440" marR="0" eaLnBrk="0">
                        <a:lnSpc>
                          <a:spcPct val="76000"/>
                        </a:lnSpc>
                        <a:spcBef>
                          <a:spcPts val="0"/>
                        </a:spcBef>
                        <a:spcAft>
                          <a:spcPts val="0"/>
                        </a:spcAft>
                      </a:pPr>
                      <a:r>
                        <a:rPr lang="en-US" sz="1800" spc="-15" dirty="0">
                          <a:effectLst/>
                          <a:latin typeface="SimHei" panose="02010609060101010101" pitchFamily="49" charset="-122"/>
                          <a:ea typeface="SimHei" panose="02010609060101010101" pitchFamily="49" charset="-122"/>
                        </a:rPr>
                        <a:t>5.0</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578145159"/>
                  </a:ext>
                </a:extLst>
              </a:tr>
            </a:tbl>
          </a:graphicData>
        </a:graphic>
      </p:graphicFrame>
    </p:spTree>
    <p:extLst>
      <p:ext uri="{BB962C8B-B14F-4D97-AF65-F5344CB8AC3E}">
        <p14:creationId xmlns:p14="http://schemas.microsoft.com/office/powerpoint/2010/main" val="24696789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6" name="图片 5">
            <a:extLst>
              <a:ext uri="{FF2B5EF4-FFF2-40B4-BE49-F238E27FC236}">
                <a16:creationId xmlns:a16="http://schemas.microsoft.com/office/drawing/2014/main" id="{F0305A95-E9AA-82B0-22FC-58EAE20D3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931" y="1250321"/>
            <a:ext cx="7354137" cy="5254865"/>
          </a:xfrm>
          <a:prstGeom prst="rect">
            <a:avLst/>
          </a:prstGeom>
        </p:spPr>
      </p:pic>
    </p:spTree>
    <p:extLst>
      <p:ext uri="{BB962C8B-B14F-4D97-AF65-F5344CB8AC3E}">
        <p14:creationId xmlns:p14="http://schemas.microsoft.com/office/powerpoint/2010/main" val="22074730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2F939FA-CEBE-5B2D-0340-F333EACC0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5108" y="1166648"/>
            <a:ext cx="4633784" cy="5486400"/>
          </a:xfrm>
          <a:prstGeom prst="rect">
            <a:avLst/>
          </a:prstGeom>
        </p:spPr>
      </p:pic>
      <p:sp>
        <p:nvSpPr>
          <p:cNvPr id="4" name="灯片编号占位符 3">
            <a:extLst>
              <a:ext uri="{FF2B5EF4-FFF2-40B4-BE49-F238E27FC236}">
                <a16:creationId xmlns:a16="http://schemas.microsoft.com/office/drawing/2014/main" id="{CE5FC978-868F-E745-017B-5280AA63A308}"/>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64</a:t>
            </a:fld>
            <a:endParaRPr lang="zh-CN" altLang="en-US" sz="1800" b="1" dirty="0">
              <a:latin typeface="Adobe 黑体 Std R" charset="-122"/>
              <a:ea typeface="Adobe 黑体 Std R" charset="-122"/>
            </a:endParaRPr>
          </a:p>
        </p:txBody>
      </p:sp>
      <p:sp>
        <p:nvSpPr>
          <p:cNvPr id="5" name="Rectangle 3">
            <a:extLst>
              <a:ext uri="{FF2B5EF4-FFF2-40B4-BE49-F238E27FC236}">
                <a16:creationId xmlns:a16="http://schemas.microsoft.com/office/drawing/2014/main" id="{29BF6185-3D62-22FB-9651-F2377D3062DB}"/>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6" name="TextBox 5">
            <a:extLst>
              <a:ext uri="{FF2B5EF4-FFF2-40B4-BE49-F238E27FC236}">
                <a16:creationId xmlns:a16="http://schemas.microsoft.com/office/drawing/2014/main" id="{4E574410-3D63-BB81-6655-34EF667130A1}"/>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眼线效果</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37952765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笔类产品概述</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39018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笔类化妆品</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眉笔、眼线笔、唇线笔、指甲笔</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用于勾画和强调眉毛、眼部或唇等的轮廓。</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笔类化妆品颜料含量比眼影或唇膏高。</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笔类化妆品的</a:t>
            </a:r>
            <a:r>
              <a:rPr lang="zh-CN" altLang="en-US" sz="2400" dirty="0">
                <a:solidFill>
                  <a:srgbClr val="0000FF"/>
                </a:solidFill>
                <a:latin typeface="+mn-lt"/>
                <a:ea typeface="SimHei" panose="02010609060101010101" pitchFamily="49" charset="-122"/>
              </a:rPr>
              <a:t>笔芯配方与一些棒型化妆品</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例如唇膏</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相似</a:t>
            </a:r>
            <a:r>
              <a:rPr lang="zh-CN" altLang="en-US" sz="2400" dirty="0">
                <a:latin typeface="+mn-lt"/>
                <a:ea typeface="SimHei" panose="02010609060101010101" pitchFamily="49" charset="-122"/>
              </a:rPr>
              <a:t>。笔的</a:t>
            </a:r>
            <a:r>
              <a:rPr lang="zh-CN" altLang="en-US" sz="2400" dirty="0">
                <a:solidFill>
                  <a:srgbClr val="0000FF"/>
                </a:solidFill>
                <a:latin typeface="+mn-lt"/>
                <a:ea typeface="SimHei" panose="02010609060101010101" pitchFamily="49" charset="-122"/>
              </a:rPr>
              <a:t>成型、精加工和包装与一般彩色铅笔相似</a:t>
            </a:r>
            <a:r>
              <a:rPr lang="zh-CN" altLang="en-US" sz="2400" dirty="0">
                <a:latin typeface="+mn-lt"/>
                <a:ea typeface="SimHei" panose="02010609060101010101" pitchFamily="49" charset="-122"/>
              </a:rPr>
              <a:t>，因此笔类化妆品几乎完全地由一些</a:t>
            </a:r>
            <a:r>
              <a:rPr lang="zh-CN" altLang="en-US" sz="2400" dirty="0">
                <a:solidFill>
                  <a:srgbClr val="0000FF"/>
                </a:solidFill>
                <a:latin typeface="+mn-lt"/>
                <a:ea typeface="SimHei" panose="02010609060101010101" pitchFamily="49" charset="-122"/>
              </a:rPr>
              <a:t>知名品牌的铅笔生产商生产</a:t>
            </a:r>
            <a:r>
              <a:rPr lang="zh-CN" altLang="en-US" sz="2400" dirty="0">
                <a:latin typeface="+mn-lt"/>
                <a:ea typeface="SimHei" panose="02010609060101010101" pitchFamily="49" charset="-122"/>
              </a:rPr>
              <a:t>。</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3337079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铅笔 </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vs </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化妆笔</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8194" name="Picture 2" descr="XYXX - This April Fool's Day, below are 3 of our indoor prank ideas to play  on your loved ones - Bubble Pop - Discreetly place some bubble wrap around  the rim">
            <a:extLst>
              <a:ext uri="{FF2B5EF4-FFF2-40B4-BE49-F238E27FC236}">
                <a16:creationId xmlns:a16="http://schemas.microsoft.com/office/drawing/2014/main" id="{23E305B5-0419-B19E-B11B-D067421E6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646" y="1331595"/>
            <a:ext cx="5028708" cy="5028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3903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笔类产品配方结构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394138" y="1030057"/>
            <a:ext cx="8403021"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笔类化妆品组成与其他彩妆类化妆品</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例</a:t>
            </a:r>
            <a:r>
              <a:rPr lang="zh-CN" altLang="en-US" sz="2400" dirty="0">
                <a:solidFill>
                  <a:srgbClr val="0000FF"/>
                </a:solidFill>
                <a:latin typeface="+mn-lt"/>
                <a:ea typeface="SimHei" panose="02010609060101010101" pitchFamily="49" charset="-122"/>
              </a:rPr>
              <a:t>如眼影或唇膏</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相似</a:t>
            </a:r>
            <a:r>
              <a:rPr lang="zh-CN" altLang="en-US" sz="2400" dirty="0">
                <a:latin typeface="+mn-lt"/>
                <a:ea typeface="SimHei" panose="02010609060101010101" pitchFamily="49" charset="-122"/>
              </a:rPr>
              <a:t>，是将粉末分散在各种各样的基础料体中，基础料体由油脂和蜡类复配， 一般笔类化妆品的蜡含量为</a:t>
            </a:r>
            <a:r>
              <a:rPr lang="en-US" altLang="zh-CN" sz="2400" dirty="0">
                <a:latin typeface="+mn-lt"/>
                <a:ea typeface="SimHei" panose="02010609060101010101" pitchFamily="49" charset="-122"/>
              </a:rPr>
              <a:t>15%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30%,</a:t>
            </a:r>
            <a:r>
              <a:rPr lang="zh-CN" altLang="en-US" sz="2400" dirty="0">
                <a:latin typeface="+mn-lt"/>
                <a:ea typeface="SimHei" panose="02010609060101010101" pitchFamily="49" charset="-122"/>
              </a:rPr>
              <a:t>油脂含量为</a:t>
            </a:r>
            <a:r>
              <a:rPr lang="en-US" altLang="zh-CN" sz="2400" dirty="0">
                <a:latin typeface="+mn-lt"/>
                <a:ea typeface="SimHei" panose="02010609060101010101" pitchFamily="49" charset="-122"/>
              </a:rPr>
              <a:t>50%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80%,</a:t>
            </a:r>
            <a:r>
              <a:rPr lang="zh-CN" altLang="en-US" sz="2400" dirty="0">
                <a:latin typeface="+mn-lt"/>
                <a:ea typeface="SimHei" panose="02010609060101010101" pitchFamily="49" charset="-122"/>
              </a:rPr>
              <a:t>粉末含量为</a:t>
            </a:r>
            <a:r>
              <a:rPr lang="en-US" altLang="zh-CN" sz="2400" dirty="0">
                <a:latin typeface="+mn-lt"/>
                <a:ea typeface="SimHei" panose="02010609060101010101" pitchFamily="49" charset="-122"/>
              </a:rPr>
              <a:t>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30%</a:t>
            </a:r>
            <a:r>
              <a:rPr lang="zh-CN" altLang="en-US" sz="2400" dirty="0">
                <a:latin typeface="+mn-lt"/>
                <a:ea typeface="SimHei" panose="02010609060101010101" pitchFamily="49" charset="-122"/>
              </a:rPr>
              <a:t>。蜡类的添加作为液体油的固化剂、光泽剂、触变剂，用于改善笔类产品的使用感，无定形日本蜡低熔点的馏分与颜料形成一种化妆品笔合适的基质，它是较稳定的基质原料。</a:t>
            </a:r>
          </a:p>
        </p:txBody>
      </p:sp>
    </p:spTree>
    <p:extLst>
      <p:ext uri="{BB962C8B-B14F-4D97-AF65-F5344CB8AC3E}">
        <p14:creationId xmlns:p14="http://schemas.microsoft.com/office/powerpoint/2010/main" val="40124067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笔类产品设计原理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52431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笔类化妆品作为局部修饰彩妆，具有一定的效果要求，能勾画和强调局部轮廓。根据笔类化妆品的性能特点，其必须满足以下几点要求：</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r>
              <a:rPr lang="zh-CN" altLang="en-US" sz="2400" dirty="0">
                <a:latin typeface="KaiTi" panose="02010609060101010101" pitchFamily="49" charset="-122"/>
                <a:ea typeface="KaiTi" panose="02010609060101010101" pitchFamily="49" charset="-122"/>
              </a:rPr>
              <a:t>① 由于在眼睛以及唇部使用，安全性要好，无微生物污染、无毒性和绝对无刺激作用；</a:t>
            </a:r>
          </a:p>
          <a:p>
            <a:r>
              <a:rPr lang="zh-CN" altLang="en-US" sz="2400" dirty="0">
                <a:latin typeface="KaiTi" panose="02010609060101010101" pitchFamily="49" charset="-122"/>
                <a:ea typeface="KaiTi" panose="02010609060101010101" pitchFamily="49" charset="-122"/>
              </a:rPr>
              <a:t>② 使用感柔软，可均匀地附着于皮肤上；</a:t>
            </a:r>
          </a:p>
          <a:p>
            <a:r>
              <a:rPr lang="zh-CN" altLang="en-US" sz="2400" dirty="0">
                <a:latin typeface="KaiTi" panose="02010609060101010101" pitchFamily="49" charset="-122"/>
                <a:ea typeface="KaiTi" panose="02010609060101010101" pitchFamily="49" charset="-122"/>
              </a:rPr>
              <a:t>③ 可描绘出鲜明的线条；</a:t>
            </a:r>
          </a:p>
          <a:p>
            <a:r>
              <a:rPr lang="zh-CN" altLang="en-US" sz="2400" dirty="0">
                <a:latin typeface="KaiTi" panose="02010609060101010101" pitchFamily="49" charset="-122"/>
                <a:ea typeface="KaiTi" panose="02010609060101010101" pitchFamily="49" charset="-122"/>
              </a:rPr>
              <a:t>④ 具有优异的耐水、耐皮脂性，保持妆效持久性；</a:t>
            </a:r>
          </a:p>
          <a:p>
            <a:r>
              <a:rPr lang="zh-CN" altLang="en-US" sz="2400" dirty="0">
                <a:latin typeface="KaiTi" panose="02010609060101010101" pitchFamily="49" charset="-122"/>
                <a:ea typeface="KaiTi" panose="02010609060101010101" pitchFamily="49" charset="-122"/>
              </a:rPr>
              <a:t>⑤ 稳定性好，不发汗、不出粉，不易折断和散乱；</a:t>
            </a:r>
          </a:p>
          <a:p>
            <a:r>
              <a:rPr lang="zh-CN" altLang="en-US" sz="2400" dirty="0">
                <a:latin typeface="KaiTi" panose="02010609060101010101" pitchFamily="49" charset="-122"/>
                <a:ea typeface="KaiTi" panose="02010609060101010101" pitchFamily="49" charset="-122"/>
              </a:rPr>
              <a:t>⑥ 适当的干燥速度；</a:t>
            </a:r>
          </a:p>
          <a:p>
            <a:r>
              <a:rPr lang="zh-CN" altLang="en-US" sz="2400" dirty="0">
                <a:latin typeface="KaiTi" panose="02010609060101010101" pitchFamily="49" charset="-122"/>
                <a:ea typeface="KaiTi" panose="02010609060101010101" pitchFamily="49" charset="-122"/>
              </a:rPr>
              <a:t>⑦ 适当的硬度，质地稳定，有较长的货架寿命。</a:t>
            </a:r>
          </a:p>
        </p:txBody>
      </p:sp>
    </p:spTree>
    <p:extLst>
      <p:ext uri="{BB962C8B-B14F-4D97-AF65-F5344CB8AC3E}">
        <p14:creationId xmlns:p14="http://schemas.microsoft.com/office/powerpoint/2010/main" val="38501564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笔类产品原料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7757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笔类化妆品的主要成分是</a:t>
            </a:r>
            <a:r>
              <a:rPr lang="zh-CN" altLang="en-US" sz="2400" dirty="0">
                <a:solidFill>
                  <a:srgbClr val="0000FF"/>
                </a:solidFill>
                <a:latin typeface="+mn-lt"/>
                <a:ea typeface="SimHei" panose="02010609060101010101" pitchFamily="49" charset="-122"/>
              </a:rPr>
              <a:t>油脂、蜡类和颜料</a:t>
            </a:r>
            <a:endParaRPr lang="en-US" altLang="zh-CN" sz="2400" dirty="0">
              <a:solidFill>
                <a:srgbClr val="0000FF"/>
              </a:solidFill>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润滑剂</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笔类化妆品中常用的润滑剂：蓖麻油、酯类、羊毛脂</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羊毛油、油醇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辛基十二醇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、苯基聚三甲基硅氧烷、烷基聚二甲基硅氧烷、白池花籽油、霍霍巴油、三甘油酯类。</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5264159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笔类产品原料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46495"/>
            <a:ext cx="8778240"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蜡类</a:t>
            </a: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笔类化妆品中常用的蜡类：小烛树蜡、巴西棕榈树蜡、蜂蜡及其衍生物、微晶蜡、 地蜡</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纯地蜡、烷基聚硅氧烷、蓖麻蜡、羊毛蜡、石蜡、合成蜡。</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7579640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蜡类熔点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在笔类化妆品中粉和油脂均匀地分散在蜡中，</a:t>
            </a:r>
            <a:r>
              <a:rPr lang="zh-CN" altLang="en-US" sz="2400" dirty="0">
                <a:solidFill>
                  <a:srgbClr val="0000FF"/>
                </a:solidFill>
                <a:latin typeface="+mn-lt"/>
                <a:ea typeface="SimHei" panose="02010609060101010101" pitchFamily="49" charset="-122"/>
              </a:rPr>
              <a:t>蜡和其他油类组分形成均匀的载体，起着成型剂的作用</a:t>
            </a:r>
            <a:r>
              <a:rPr lang="zh-CN" altLang="en-US" sz="2400" dirty="0">
                <a:latin typeface="+mn-lt"/>
                <a:ea typeface="SimHei" panose="02010609060101010101" pitchFamily="49" charset="-122"/>
              </a:rPr>
              <a:t>。蜡性质</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如熔点范围、结晶状态等</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对笔类质地、耐热性能、 使用时的肤感、产品的稳定性有很大的影响。 </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96E3AE0D-7643-9602-4730-9197BB48B955}"/>
              </a:ext>
            </a:extLst>
          </p:cNvPr>
          <p:cNvGraphicFramePr>
            <a:graphicFrameLocks noGrp="1"/>
          </p:cNvGraphicFramePr>
          <p:nvPr>
            <p:extLst>
              <p:ext uri="{D42A27DB-BD31-4B8C-83A1-F6EECF244321}">
                <p14:modId xmlns:p14="http://schemas.microsoft.com/office/powerpoint/2010/main" val="1423471608"/>
              </p:ext>
            </p:extLst>
          </p:nvPr>
        </p:nvGraphicFramePr>
        <p:xfrm>
          <a:off x="182880" y="3429000"/>
          <a:ext cx="8778238" cy="2224151"/>
        </p:xfrm>
        <a:graphic>
          <a:graphicData uri="http://schemas.openxmlformats.org/drawingml/2006/table">
            <a:tbl>
              <a:tblPr firstRow="1" firstCol="1" bandRow="1">
                <a:tableStyleId>{72833802-FEF1-4C79-8D5D-14CF1EAF98D9}</a:tableStyleId>
              </a:tblPr>
              <a:tblGrid>
                <a:gridCol w="2107441">
                  <a:extLst>
                    <a:ext uri="{9D8B030D-6E8A-4147-A177-3AD203B41FA5}">
                      <a16:colId xmlns:a16="http://schemas.microsoft.com/office/drawing/2014/main" val="3209129133"/>
                    </a:ext>
                  </a:extLst>
                </a:gridCol>
                <a:gridCol w="2248490">
                  <a:extLst>
                    <a:ext uri="{9D8B030D-6E8A-4147-A177-3AD203B41FA5}">
                      <a16:colId xmlns:a16="http://schemas.microsoft.com/office/drawing/2014/main" val="2475660755"/>
                    </a:ext>
                  </a:extLst>
                </a:gridCol>
                <a:gridCol w="2265084">
                  <a:extLst>
                    <a:ext uri="{9D8B030D-6E8A-4147-A177-3AD203B41FA5}">
                      <a16:colId xmlns:a16="http://schemas.microsoft.com/office/drawing/2014/main" val="2012723886"/>
                    </a:ext>
                  </a:extLst>
                </a:gridCol>
                <a:gridCol w="2157223">
                  <a:extLst>
                    <a:ext uri="{9D8B030D-6E8A-4147-A177-3AD203B41FA5}">
                      <a16:colId xmlns:a16="http://schemas.microsoft.com/office/drawing/2014/main" val="212053812"/>
                    </a:ext>
                  </a:extLst>
                </a:gridCol>
              </a:tblGrid>
              <a:tr h="269240">
                <a:tc>
                  <a:txBody>
                    <a:bodyPr/>
                    <a:lstStyle/>
                    <a:p>
                      <a:pPr marL="596900" marR="0" eaLnBrk="0">
                        <a:lnSpc>
                          <a:spcPct val="91000"/>
                        </a:lnSpc>
                        <a:spcBef>
                          <a:spcPts val="520"/>
                        </a:spcBef>
                        <a:spcAft>
                          <a:spcPts val="0"/>
                        </a:spcAft>
                      </a:pPr>
                      <a:r>
                        <a:rPr lang="zh-CN" sz="1800" spc="20">
                          <a:effectLst/>
                          <a:latin typeface="SimHei" panose="02010609060101010101" pitchFamily="49" charset="-122"/>
                          <a:ea typeface="SimHei" panose="02010609060101010101" pitchFamily="49" charset="-122"/>
                        </a:rPr>
                        <a:t>蜡类型</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72440" marR="0" eaLnBrk="0">
                        <a:lnSpc>
                          <a:spcPct val="91000"/>
                        </a:lnSpc>
                        <a:spcBef>
                          <a:spcPts val="520"/>
                        </a:spcBef>
                        <a:spcAft>
                          <a:spcPts val="0"/>
                        </a:spcAft>
                      </a:pPr>
                      <a:r>
                        <a:rPr lang="zh-CN" sz="1800" spc="25">
                          <a:effectLst/>
                          <a:latin typeface="SimHei" panose="02010609060101010101" pitchFamily="49" charset="-122"/>
                          <a:ea typeface="SimHei" panose="02010609060101010101" pitchFamily="49" charset="-122"/>
                        </a:rPr>
                        <a:t>熔点范围</a:t>
                      </a:r>
                      <a:r>
                        <a:rPr lang="en-US" sz="1800" spc="25">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50240" marR="0" eaLnBrk="0">
                        <a:lnSpc>
                          <a:spcPct val="91000"/>
                        </a:lnSpc>
                        <a:spcBef>
                          <a:spcPts val="520"/>
                        </a:spcBef>
                        <a:spcAft>
                          <a:spcPts val="0"/>
                        </a:spcAft>
                      </a:pPr>
                      <a:r>
                        <a:rPr lang="zh-CN" sz="1800" b="1" spc="20" dirty="0">
                          <a:effectLst/>
                          <a:latin typeface="SimHei" panose="02010609060101010101" pitchFamily="49" charset="-122"/>
                          <a:ea typeface="SimHei" panose="02010609060101010101" pitchFamily="49" charset="-122"/>
                        </a:rPr>
                        <a:t>蜡类型</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34340" marR="0" eaLnBrk="0">
                        <a:lnSpc>
                          <a:spcPct val="91000"/>
                        </a:lnSpc>
                        <a:spcBef>
                          <a:spcPts val="520"/>
                        </a:spcBef>
                        <a:spcAft>
                          <a:spcPts val="0"/>
                        </a:spcAft>
                      </a:pPr>
                      <a:r>
                        <a:rPr lang="zh-CN" sz="1800" spc="25">
                          <a:effectLst/>
                          <a:latin typeface="SimHei" panose="02010609060101010101" pitchFamily="49" charset="-122"/>
                          <a:ea typeface="SimHei" panose="02010609060101010101" pitchFamily="49" charset="-122"/>
                        </a:rPr>
                        <a:t>熔点范围</a:t>
                      </a:r>
                      <a:r>
                        <a:rPr lang="en-US" sz="1800" spc="25">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767873932"/>
                  </a:ext>
                </a:extLst>
              </a:tr>
              <a:tr h="1572260">
                <a:tc>
                  <a:txBody>
                    <a:bodyPr/>
                    <a:lstStyle/>
                    <a:p>
                      <a:pPr marL="666750" marR="0" eaLnBrk="0">
                        <a:lnSpc>
                          <a:spcPct val="91000"/>
                        </a:lnSpc>
                        <a:spcBef>
                          <a:spcPts val="500"/>
                        </a:spcBef>
                        <a:spcAft>
                          <a:spcPts val="0"/>
                        </a:spcAft>
                      </a:pPr>
                      <a:r>
                        <a:rPr lang="zh-CN" sz="1800" spc="-15">
                          <a:effectLst/>
                          <a:latin typeface="SimHei" panose="02010609060101010101" pitchFamily="49" charset="-122"/>
                          <a:ea typeface="SimHei" panose="02010609060101010101" pitchFamily="49" charset="-122"/>
                        </a:rPr>
                        <a:t>蜂蜡</a:t>
                      </a:r>
                      <a:endParaRPr lang="en-US" sz="1800">
                        <a:effectLst/>
                        <a:latin typeface="SimHei" panose="02010609060101010101" pitchFamily="49" charset="-122"/>
                        <a:ea typeface="SimHei" panose="02010609060101010101" pitchFamily="49" charset="-122"/>
                      </a:endParaRPr>
                    </a:p>
                    <a:p>
                      <a:pPr marL="526415" marR="0" eaLnBrk="0">
                        <a:lnSpc>
                          <a:spcPct val="91000"/>
                        </a:lnSpc>
                        <a:spcBef>
                          <a:spcPts val="795"/>
                        </a:spcBef>
                        <a:spcAft>
                          <a:spcPts val="0"/>
                        </a:spcAft>
                      </a:pPr>
                      <a:r>
                        <a:rPr lang="zh-CN" sz="1800" spc="10">
                          <a:effectLst/>
                          <a:latin typeface="SimHei" panose="02010609060101010101" pitchFamily="49" charset="-122"/>
                          <a:ea typeface="SimHei" panose="02010609060101010101" pitchFamily="49" charset="-122"/>
                        </a:rPr>
                        <a:t>小烛树蜡</a:t>
                      </a:r>
                      <a:endParaRPr lang="en-US" sz="1800">
                        <a:effectLst/>
                        <a:latin typeface="SimHei" panose="02010609060101010101" pitchFamily="49" charset="-122"/>
                        <a:ea typeface="SimHei" panose="02010609060101010101" pitchFamily="49" charset="-122"/>
                      </a:endParaRPr>
                    </a:p>
                    <a:p>
                      <a:pPr marL="387350" marR="0" eaLnBrk="0">
                        <a:lnSpc>
                          <a:spcPct val="91000"/>
                        </a:lnSpc>
                        <a:spcBef>
                          <a:spcPts val="740"/>
                        </a:spcBef>
                        <a:spcAft>
                          <a:spcPts val="0"/>
                        </a:spcAft>
                      </a:pPr>
                      <a:r>
                        <a:rPr lang="zh-CN" sz="1800" spc="5">
                          <a:effectLst/>
                          <a:latin typeface="SimHei" panose="02010609060101010101" pitchFamily="49" charset="-122"/>
                          <a:ea typeface="SimHei" panose="02010609060101010101" pitchFamily="49" charset="-122"/>
                        </a:rPr>
                        <a:t>巴西棕榈树蜡</a:t>
                      </a:r>
                      <a:endParaRPr lang="en-US" sz="1800">
                        <a:effectLst/>
                        <a:latin typeface="SimHei" panose="02010609060101010101" pitchFamily="49" charset="-122"/>
                        <a:ea typeface="SimHei" panose="02010609060101010101" pitchFamily="49" charset="-122"/>
                      </a:endParaRPr>
                    </a:p>
                    <a:p>
                      <a:pPr marL="596900" marR="0" eaLnBrk="0">
                        <a:lnSpc>
                          <a:spcPct val="91000"/>
                        </a:lnSpc>
                        <a:spcBef>
                          <a:spcPts val="745"/>
                        </a:spcBef>
                        <a:spcAft>
                          <a:spcPts val="0"/>
                        </a:spcAft>
                      </a:pPr>
                      <a:r>
                        <a:rPr lang="zh-CN" sz="1800" spc="10">
                          <a:effectLst/>
                          <a:latin typeface="SimHei" panose="02010609060101010101" pitchFamily="49" charset="-122"/>
                          <a:ea typeface="SimHei" panose="02010609060101010101" pitchFamily="49" charset="-122"/>
                        </a:rPr>
                        <a:t>蓖麻蜡</a:t>
                      </a:r>
                      <a:endParaRPr lang="en-US" sz="1800">
                        <a:effectLst/>
                        <a:latin typeface="SimHei" panose="02010609060101010101" pitchFamily="49" charset="-122"/>
                        <a:ea typeface="SimHei" panose="02010609060101010101" pitchFamily="49" charset="-122"/>
                      </a:endParaRPr>
                    </a:p>
                    <a:p>
                      <a:pPr marL="596900" marR="0" eaLnBrk="0">
                        <a:lnSpc>
                          <a:spcPct val="91000"/>
                        </a:lnSpc>
                        <a:spcBef>
                          <a:spcPts val="535"/>
                        </a:spcBef>
                        <a:spcAft>
                          <a:spcPts val="0"/>
                        </a:spcAft>
                      </a:pPr>
                      <a:r>
                        <a:rPr lang="zh-CN" sz="1800" spc="-15">
                          <a:effectLst/>
                          <a:latin typeface="SimHei" panose="02010609060101010101" pitchFamily="49" charset="-122"/>
                          <a:ea typeface="SimHei" panose="02010609060101010101" pitchFamily="49" charset="-122"/>
                        </a:rPr>
                        <a:t>纯地蜡</a:t>
                      </a:r>
                      <a:endParaRPr lang="en-US" sz="1800">
                        <a:effectLst/>
                        <a:latin typeface="SimHei" panose="02010609060101010101" pitchFamily="49" charset="-122"/>
                        <a:ea typeface="SimHei" panose="02010609060101010101" pitchFamily="49" charset="-122"/>
                      </a:endParaRPr>
                    </a:p>
                    <a:p>
                      <a:pPr marL="666750" marR="0" eaLnBrk="0">
                        <a:lnSpc>
                          <a:spcPct val="91000"/>
                        </a:lnSpc>
                        <a:spcBef>
                          <a:spcPts val="940"/>
                        </a:spcBef>
                        <a:spcAft>
                          <a:spcPts val="0"/>
                        </a:spcAft>
                      </a:pPr>
                      <a:r>
                        <a:rPr lang="zh-CN" sz="1800" spc="-15">
                          <a:effectLst/>
                          <a:latin typeface="SimHei" panose="02010609060101010101" pitchFamily="49" charset="-122"/>
                          <a:ea typeface="SimHei" panose="02010609060101010101" pitchFamily="49" charset="-122"/>
                        </a:rPr>
                        <a:t>鲸蜡</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74040" marR="0" eaLnBrk="0">
                        <a:lnSpc>
                          <a:spcPts val="2110"/>
                        </a:lnSpc>
                        <a:spcBef>
                          <a:spcPts val="830"/>
                        </a:spcBef>
                        <a:spcAft>
                          <a:spcPts val="0"/>
                        </a:spcAft>
                      </a:pPr>
                      <a:r>
                        <a:rPr lang="en-US" sz="1800" spc="-10">
                          <a:effectLst/>
                          <a:latin typeface="SimHei" panose="02010609060101010101" pitchFamily="49" charset="-122"/>
                          <a:ea typeface="SimHei" panose="02010609060101010101" pitchFamily="49" charset="-122"/>
                        </a:rPr>
                        <a:t>62.5</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65</a:t>
                      </a:r>
                      <a:endParaRPr lang="en-US" sz="1800">
                        <a:effectLst/>
                        <a:latin typeface="SimHei" panose="02010609060101010101" pitchFamily="49" charset="-122"/>
                        <a:ea typeface="SimHei" panose="02010609060101010101" pitchFamily="49" charset="-122"/>
                      </a:endParaRPr>
                    </a:p>
                    <a:p>
                      <a:pPr marL="504825" marR="0" eaLnBrk="0">
                        <a:lnSpc>
                          <a:spcPct val="75000"/>
                        </a:lnSpc>
                        <a:spcBef>
                          <a:spcPts val="0"/>
                        </a:spcBef>
                        <a:spcAft>
                          <a:spcPts val="0"/>
                        </a:spcAft>
                      </a:pPr>
                      <a:r>
                        <a:rPr lang="en-US" sz="1800" spc="-10">
                          <a:effectLst/>
                          <a:latin typeface="SimHei" panose="02010609060101010101" pitchFamily="49" charset="-122"/>
                          <a:ea typeface="SimHei" panose="02010609060101010101" pitchFamily="49" charset="-122"/>
                        </a:rPr>
                        <a:t>75.5</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77.5</a:t>
                      </a:r>
                      <a:endParaRPr lang="en-US" sz="1800">
                        <a:effectLst/>
                        <a:latin typeface="SimHei" panose="02010609060101010101" pitchFamily="49" charset="-122"/>
                        <a:ea typeface="SimHei" panose="02010609060101010101" pitchFamily="49" charset="-122"/>
                      </a:endParaRPr>
                    </a:p>
                    <a:p>
                      <a:pPr marL="631825" marR="0" eaLnBrk="0">
                        <a:lnSpc>
                          <a:spcPct val="76000"/>
                        </a:lnSpc>
                        <a:spcBef>
                          <a:spcPts val="925"/>
                        </a:spcBef>
                        <a:spcAft>
                          <a:spcPts val="0"/>
                        </a:spcAft>
                      </a:pPr>
                      <a:r>
                        <a:rPr lang="en-US" sz="1800" spc="-10">
                          <a:effectLst/>
                          <a:latin typeface="SimHei" panose="02010609060101010101" pitchFamily="49" charset="-122"/>
                          <a:ea typeface="SimHei" panose="02010609060101010101" pitchFamily="49" charset="-122"/>
                        </a:rPr>
                        <a:t>83</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91</a:t>
                      </a:r>
                      <a:endParaRPr lang="en-US" sz="1800">
                        <a:effectLst/>
                        <a:latin typeface="SimHei" panose="02010609060101010101" pitchFamily="49" charset="-122"/>
                        <a:ea typeface="SimHei" panose="02010609060101010101" pitchFamily="49" charset="-122"/>
                      </a:endParaRPr>
                    </a:p>
                    <a:p>
                      <a:pPr marL="784225" marR="0" eaLnBrk="0">
                        <a:lnSpc>
                          <a:spcPts val="1925"/>
                        </a:lnSpc>
                        <a:spcBef>
                          <a:spcPts val="1330"/>
                        </a:spcBef>
                        <a:spcAft>
                          <a:spcPts val="0"/>
                        </a:spcAft>
                      </a:pPr>
                      <a:r>
                        <a:rPr lang="en-US" sz="1800" spc="-15">
                          <a:effectLst/>
                          <a:latin typeface="SimHei" panose="02010609060101010101" pitchFamily="49" charset="-122"/>
                          <a:ea typeface="SimHei" panose="02010609060101010101" pitchFamily="49" charset="-122"/>
                        </a:rPr>
                        <a:t>86</a:t>
                      </a:r>
                      <a:endParaRPr lang="en-US" sz="1800">
                        <a:effectLst/>
                        <a:latin typeface="SimHei" panose="02010609060101010101" pitchFamily="49" charset="-122"/>
                        <a:ea typeface="SimHei" panose="02010609060101010101" pitchFamily="49" charset="-122"/>
                      </a:endParaRPr>
                    </a:p>
                    <a:p>
                      <a:pPr marL="637540" marR="0" eaLnBrk="0">
                        <a:lnSpc>
                          <a:spcPct val="76000"/>
                        </a:lnSpc>
                        <a:spcBef>
                          <a:spcPts val="0"/>
                        </a:spcBef>
                        <a:spcAft>
                          <a:spcPts val="0"/>
                        </a:spcAft>
                      </a:pPr>
                      <a:r>
                        <a:rPr lang="en-US" sz="1800" spc="-10">
                          <a:effectLst/>
                          <a:latin typeface="SimHei" panose="02010609060101010101" pitchFamily="49" charset="-122"/>
                          <a:ea typeface="SimHei" panose="02010609060101010101" pitchFamily="49" charset="-122"/>
                        </a:rPr>
                        <a:t>54</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77</a:t>
                      </a:r>
                      <a:endParaRPr lang="en-US" sz="1800">
                        <a:effectLst/>
                        <a:latin typeface="SimHei" panose="02010609060101010101" pitchFamily="49" charset="-122"/>
                        <a:ea typeface="SimHei" panose="02010609060101010101" pitchFamily="49" charset="-122"/>
                      </a:endParaRPr>
                    </a:p>
                    <a:p>
                      <a:pPr marL="637540" marR="0" eaLnBrk="0">
                        <a:lnSpc>
                          <a:spcPct val="76000"/>
                        </a:lnSpc>
                        <a:spcBef>
                          <a:spcPts val="1155"/>
                        </a:spcBef>
                        <a:spcAft>
                          <a:spcPts val="0"/>
                        </a:spcAft>
                      </a:pPr>
                      <a:r>
                        <a:rPr lang="en-US" sz="1800" spc="-5">
                          <a:effectLst/>
                          <a:latin typeface="SimHei" panose="02010609060101010101" pitchFamily="49" charset="-122"/>
                          <a:ea typeface="SimHei" panose="02010609060101010101" pitchFamily="49" charset="-122"/>
                        </a:rPr>
                        <a:t>41</a:t>
                      </a:r>
                      <a:r>
                        <a:rPr lang="zh-CN" sz="1800" spc="-5">
                          <a:effectLst/>
                          <a:latin typeface="SimHei" panose="02010609060101010101" pitchFamily="49" charset="-122"/>
                          <a:ea typeface="SimHei" panose="02010609060101010101" pitchFamily="49" charset="-122"/>
                        </a:rPr>
                        <a:t>～</a:t>
                      </a:r>
                      <a:r>
                        <a:rPr lang="en-US" sz="1800" spc="-5">
                          <a:effectLst/>
                          <a:latin typeface="SimHei" panose="02010609060101010101" pitchFamily="49" charset="-122"/>
                          <a:ea typeface="SimHei" panose="02010609060101010101" pitchFamily="49" charset="-122"/>
                        </a:rPr>
                        <a:t>49</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50240" marR="0" eaLnBrk="0">
                        <a:lnSpc>
                          <a:spcPct val="91000"/>
                        </a:lnSpc>
                        <a:spcBef>
                          <a:spcPts val="490"/>
                        </a:spcBef>
                        <a:spcAft>
                          <a:spcPts val="0"/>
                        </a:spcAft>
                      </a:pPr>
                      <a:r>
                        <a:rPr lang="zh-CN" sz="1800" b="1" spc="10" dirty="0">
                          <a:effectLst/>
                          <a:latin typeface="SimHei" panose="02010609060101010101" pitchFamily="49" charset="-122"/>
                          <a:ea typeface="SimHei" panose="02010609060101010101" pitchFamily="49" charset="-122"/>
                        </a:rPr>
                        <a:t>日本蜡</a:t>
                      </a:r>
                      <a:endParaRPr lang="en-US" sz="1800" b="1" dirty="0">
                        <a:effectLst/>
                        <a:latin typeface="SimHei" panose="02010609060101010101" pitchFamily="49" charset="-122"/>
                        <a:ea typeface="SimHei" panose="02010609060101010101" pitchFamily="49" charset="-122"/>
                      </a:endParaRPr>
                    </a:p>
                    <a:p>
                      <a:pPr marL="650240" marR="0" eaLnBrk="0">
                        <a:lnSpc>
                          <a:spcPct val="91000"/>
                        </a:lnSpc>
                        <a:spcBef>
                          <a:spcPts val="800"/>
                        </a:spcBef>
                        <a:spcAft>
                          <a:spcPts val="0"/>
                        </a:spcAft>
                      </a:pPr>
                      <a:r>
                        <a:rPr lang="zh-CN" sz="1800" b="1" spc="-10" dirty="0">
                          <a:effectLst/>
                          <a:latin typeface="SimHei" panose="02010609060101010101" pitchFamily="49" charset="-122"/>
                          <a:ea typeface="SimHei" panose="02010609060101010101" pitchFamily="49" charset="-122"/>
                        </a:rPr>
                        <a:t>微晶蜡</a:t>
                      </a:r>
                      <a:endParaRPr lang="en-US" sz="1800" b="1" dirty="0">
                        <a:effectLst/>
                        <a:latin typeface="SimHei" panose="02010609060101010101" pitchFamily="49" charset="-122"/>
                        <a:ea typeface="SimHei" panose="02010609060101010101" pitchFamily="49" charset="-122"/>
                      </a:endParaRPr>
                    </a:p>
                    <a:p>
                      <a:pPr marL="650240" marR="0" eaLnBrk="0">
                        <a:lnSpc>
                          <a:spcPct val="91000"/>
                        </a:lnSpc>
                        <a:spcBef>
                          <a:spcPts val="690"/>
                        </a:spcBef>
                        <a:spcAft>
                          <a:spcPts val="0"/>
                        </a:spcAft>
                      </a:pPr>
                      <a:r>
                        <a:rPr lang="zh-CN" sz="1800" b="1" spc="-10" dirty="0">
                          <a:effectLst/>
                          <a:latin typeface="SimHei" panose="02010609060101010101" pitchFamily="49" charset="-122"/>
                          <a:ea typeface="SimHei" panose="02010609060101010101" pitchFamily="49" charset="-122"/>
                        </a:rPr>
                        <a:t>褐煤蜡</a:t>
                      </a:r>
                      <a:endParaRPr lang="en-US" sz="1800" b="1" dirty="0">
                        <a:effectLst/>
                        <a:latin typeface="SimHei" panose="02010609060101010101" pitchFamily="49" charset="-122"/>
                        <a:ea typeface="SimHei" panose="02010609060101010101" pitchFamily="49" charset="-122"/>
                      </a:endParaRPr>
                    </a:p>
                    <a:p>
                      <a:pPr marL="720725" marR="0" eaLnBrk="0">
                        <a:lnSpc>
                          <a:spcPct val="91000"/>
                        </a:lnSpc>
                        <a:spcBef>
                          <a:spcPts val="795"/>
                        </a:spcBef>
                        <a:spcAft>
                          <a:spcPts val="0"/>
                        </a:spcAft>
                      </a:pPr>
                      <a:r>
                        <a:rPr lang="zh-CN" sz="1800" b="1" spc="-15" dirty="0">
                          <a:effectLst/>
                          <a:latin typeface="SimHei" panose="02010609060101010101" pitchFamily="49" charset="-122"/>
                          <a:ea typeface="SimHei" panose="02010609060101010101" pitchFamily="49" charset="-122"/>
                        </a:rPr>
                        <a:t>地蜡</a:t>
                      </a:r>
                      <a:endParaRPr lang="en-US" sz="1800" b="1" dirty="0">
                        <a:effectLst/>
                        <a:latin typeface="SimHei" panose="02010609060101010101" pitchFamily="49" charset="-122"/>
                        <a:ea typeface="SimHei" panose="02010609060101010101" pitchFamily="49" charset="-122"/>
                      </a:endParaRPr>
                    </a:p>
                    <a:p>
                      <a:pPr marL="720725" marR="0" eaLnBrk="0">
                        <a:lnSpc>
                          <a:spcPct val="91000"/>
                        </a:lnSpc>
                        <a:spcBef>
                          <a:spcPts val="690"/>
                        </a:spcBef>
                        <a:spcAft>
                          <a:spcPts val="0"/>
                        </a:spcAft>
                      </a:pPr>
                      <a:r>
                        <a:rPr lang="zh-CN" sz="1800" b="1" spc="-15" dirty="0">
                          <a:effectLst/>
                          <a:latin typeface="SimHei" panose="02010609060101010101" pitchFamily="49" charset="-122"/>
                          <a:ea typeface="SimHei" panose="02010609060101010101" pitchFamily="49" charset="-122"/>
                        </a:rPr>
                        <a:t>石蜡</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57225" marR="0" eaLnBrk="0">
                        <a:lnSpc>
                          <a:spcPct val="76000"/>
                        </a:lnSpc>
                        <a:spcBef>
                          <a:spcPts val="755"/>
                        </a:spcBef>
                        <a:spcAft>
                          <a:spcPts val="0"/>
                        </a:spcAft>
                      </a:pPr>
                      <a:r>
                        <a:rPr lang="en-US" sz="1800" spc="-10" dirty="0">
                          <a:effectLst/>
                          <a:latin typeface="SimHei" panose="02010609060101010101" pitchFamily="49" charset="-122"/>
                          <a:ea typeface="SimHei" panose="02010609060101010101" pitchFamily="49" charset="-122"/>
                        </a:rPr>
                        <a:t>50</a:t>
                      </a:r>
                      <a:r>
                        <a:rPr lang="zh-CN" sz="1800" spc="-10" dirty="0">
                          <a:effectLst/>
                          <a:latin typeface="SimHei" panose="02010609060101010101" pitchFamily="49" charset="-122"/>
                          <a:ea typeface="SimHei" panose="02010609060101010101" pitchFamily="49" charset="-122"/>
                        </a:rPr>
                        <a:t>～</a:t>
                      </a:r>
                      <a:r>
                        <a:rPr lang="en-US" sz="1800" spc="-10" dirty="0">
                          <a:effectLst/>
                          <a:latin typeface="SimHei" panose="02010609060101010101" pitchFamily="49" charset="-122"/>
                          <a:ea typeface="SimHei" panose="02010609060101010101" pitchFamily="49" charset="-122"/>
                        </a:rPr>
                        <a:t>56</a:t>
                      </a:r>
                      <a:endParaRPr lang="en-US" sz="1800" dirty="0">
                        <a:effectLst/>
                        <a:latin typeface="SimHei" panose="02010609060101010101" pitchFamily="49" charset="-122"/>
                        <a:ea typeface="SimHei" panose="02010609060101010101" pitchFamily="49" charset="-122"/>
                      </a:endParaRPr>
                    </a:p>
                    <a:p>
                      <a:pPr marL="631190" marR="0" eaLnBrk="0">
                        <a:lnSpc>
                          <a:spcPct val="76000"/>
                        </a:lnSpc>
                        <a:spcBef>
                          <a:spcPts val="1250"/>
                        </a:spcBef>
                        <a:spcAft>
                          <a:spcPts val="0"/>
                        </a:spcAft>
                      </a:pPr>
                      <a:r>
                        <a:rPr lang="en-US" sz="1800" spc="-10" dirty="0">
                          <a:effectLst/>
                          <a:latin typeface="SimHei" panose="02010609060101010101" pitchFamily="49" charset="-122"/>
                          <a:ea typeface="SimHei" panose="02010609060101010101" pitchFamily="49" charset="-122"/>
                        </a:rPr>
                        <a:t>77</a:t>
                      </a:r>
                      <a:r>
                        <a:rPr lang="zh-CN" sz="1800" spc="-10" dirty="0">
                          <a:effectLst/>
                          <a:latin typeface="SimHei" panose="02010609060101010101" pitchFamily="49" charset="-122"/>
                          <a:ea typeface="SimHei" panose="02010609060101010101" pitchFamily="49" charset="-122"/>
                        </a:rPr>
                        <a:t>～</a:t>
                      </a:r>
                      <a:r>
                        <a:rPr lang="en-US" sz="1800" spc="-10" dirty="0">
                          <a:effectLst/>
                          <a:latin typeface="SimHei" panose="02010609060101010101" pitchFamily="49" charset="-122"/>
                          <a:ea typeface="SimHei" panose="02010609060101010101" pitchFamily="49" charset="-122"/>
                        </a:rPr>
                        <a:t>105</a:t>
                      </a:r>
                      <a:endParaRPr lang="en-US" sz="1800" dirty="0">
                        <a:effectLst/>
                        <a:latin typeface="SimHei" panose="02010609060101010101" pitchFamily="49" charset="-122"/>
                        <a:ea typeface="SimHei" panose="02010609060101010101" pitchFamily="49" charset="-122"/>
                      </a:endParaRPr>
                    </a:p>
                    <a:p>
                      <a:pPr marL="657225" marR="0" eaLnBrk="0">
                        <a:lnSpc>
                          <a:spcPct val="76000"/>
                        </a:lnSpc>
                        <a:spcBef>
                          <a:spcPts val="1205"/>
                        </a:spcBef>
                        <a:spcAft>
                          <a:spcPts val="0"/>
                        </a:spcAft>
                      </a:pPr>
                      <a:r>
                        <a:rPr lang="en-US" sz="1800" spc="-10" dirty="0">
                          <a:effectLst/>
                          <a:latin typeface="SimHei" panose="02010609060101010101" pitchFamily="49" charset="-122"/>
                          <a:ea typeface="SimHei" panose="02010609060101010101" pitchFamily="49" charset="-122"/>
                        </a:rPr>
                        <a:t>74</a:t>
                      </a:r>
                      <a:r>
                        <a:rPr lang="zh-CN" sz="1800" spc="-10" dirty="0">
                          <a:effectLst/>
                          <a:latin typeface="SimHei" panose="02010609060101010101" pitchFamily="49" charset="-122"/>
                          <a:ea typeface="SimHei" panose="02010609060101010101" pitchFamily="49" charset="-122"/>
                        </a:rPr>
                        <a:t>～</a:t>
                      </a:r>
                      <a:r>
                        <a:rPr lang="en-US" sz="1800" spc="-10" dirty="0">
                          <a:effectLst/>
                          <a:latin typeface="SimHei" panose="02010609060101010101" pitchFamily="49" charset="-122"/>
                          <a:ea typeface="SimHei" panose="02010609060101010101" pitchFamily="49" charset="-122"/>
                        </a:rPr>
                        <a:t>85</a:t>
                      </a:r>
                      <a:endParaRPr lang="en-US" sz="1800" dirty="0">
                        <a:effectLst/>
                        <a:latin typeface="SimHei" panose="02010609060101010101" pitchFamily="49" charset="-122"/>
                        <a:ea typeface="SimHei" panose="02010609060101010101" pitchFamily="49" charset="-122"/>
                      </a:endParaRPr>
                    </a:p>
                    <a:p>
                      <a:pPr marL="631190" marR="0" eaLnBrk="0">
                        <a:lnSpc>
                          <a:spcPct val="76000"/>
                        </a:lnSpc>
                        <a:spcBef>
                          <a:spcPts val="1250"/>
                        </a:spcBef>
                        <a:spcAft>
                          <a:spcPts val="0"/>
                        </a:spcAft>
                      </a:pPr>
                      <a:r>
                        <a:rPr lang="en-US" sz="1800" spc="-10" dirty="0">
                          <a:effectLst/>
                          <a:latin typeface="SimHei" panose="02010609060101010101" pitchFamily="49" charset="-122"/>
                          <a:ea typeface="SimHei" panose="02010609060101010101" pitchFamily="49" charset="-122"/>
                        </a:rPr>
                        <a:t>58</a:t>
                      </a:r>
                      <a:r>
                        <a:rPr lang="zh-CN" sz="1800" spc="-10" dirty="0">
                          <a:effectLst/>
                          <a:latin typeface="SimHei" panose="02010609060101010101" pitchFamily="49" charset="-122"/>
                          <a:ea typeface="SimHei" panose="02010609060101010101" pitchFamily="49" charset="-122"/>
                        </a:rPr>
                        <a:t>～</a:t>
                      </a:r>
                      <a:r>
                        <a:rPr lang="en-US" sz="1800" spc="-10" dirty="0">
                          <a:effectLst/>
                          <a:latin typeface="SimHei" panose="02010609060101010101" pitchFamily="49" charset="-122"/>
                          <a:ea typeface="SimHei" panose="02010609060101010101" pitchFamily="49" charset="-122"/>
                        </a:rPr>
                        <a:t>100</a:t>
                      </a:r>
                      <a:endParaRPr lang="en-US" sz="1800" dirty="0">
                        <a:effectLst/>
                        <a:latin typeface="SimHei" panose="02010609060101010101" pitchFamily="49" charset="-122"/>
                        <a:ea typeface="SimHei" panose="02010609060101010101" pitchFamily="49" charset="-122"/>
                      </a:endParaRPr>
                    </a:p>
                    <a:p>
                      <a:pPr marL="657225" marR="0" eaLnBrk="0">
                        <a:lnSpc>
                          <a:spcPct val="76000"/>
                        </a:lnSpc>
                        <a:spcBef>
                          <a:spcPts val="1260"/>
                        </a:spcBef>
                        <a:spcAft>
                          <a:spcPts val="0"/>
                        </a:spcAft>
                      </a:pPr>
                      <a:r>
                        <a:rPr lang="en-US" sz="1800" spc="-10" dirty="0">
                          <a:effectLst/>
                          <a:latin typeface="SimHei" panose="02010609060101010101" pitchFamily="49" charset="-122"/>
                          <a:ea typeface="SimHei" panose="02010609060101010101" pitchFamily="49" charset="-122"/>
                        </a:rPr>
                        <a:t>53</a:t>
                      </a:r>
                      <a:r>
                        <a:rPr lang="zh-CN" sz="1800" spc="-10" dirty="0">
                          <a:effectLst/>
                          <a:latin typeface="SimHei" panose="02010609060101010101" pitchFamily="49" charset="-122"/>
                          <a:ea typeface="SimHei" panose="02010609060101010101" pitchFamily="49" charset="-122"/>
                        </a:rPr>
                        <a:t>～</a:t>
                      </a:r>
                      <a:r>
                        <a:rPr lang="en-US" sz="1800" spc="-10" dirty="0">
                          <a:effectLst/>
                          <a:latin typeface="SimHei" panose="02010609060101010101" pitchFamily="49" charset="-122"/>
                          <a:ea typeface="SimHei" panose="02010609060101010101" pitchFamily="49" charset="-122"/>
                        </a:rPr>
                        <a:t>59</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336538492"/>
                  </a:ext>
                </a:extLst>
              </a:tr>
            </a:tbl>
          </a:graphicData>
        </a:graphic>
      </p:graphicFrame>
    </p:spTree>
    <p:extLst>
      <p:ext uri="{BB962C8B-B14F-4D97-AF65-F5344CB8AC3E}">
        <p14:creationId xmlns:p14="http://schemas.microsoft.com/office/powerpoint/2010/main" val="6290708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笔类产品配方与工艺示例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89364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唇线笔</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笔类化妆品制造与其他含颜料蜡基产品没有本质的差别。例如，挤压型笔类化妆品配方实际上颜料含量比一般彩妆产品高。由于笔类化妆品配方没有足够的油类来润湿颜料，所以无法进行研磨。因而，需要在</a:t>
            </a:r>
            <a:r>
              <a:rPr lang="zh-CN" altLang="en-US" sz="2400" dirty="0">
                <a:solidFill>
                  <a:srgbClr val="0000FF"/>
                </a:solidFill>
                <a:latin typeface="KaiTi" panose="02010609060101010101" pitchFamily="49" charset="-122"/>
                <a:ea typeface="KaiTi" panose="02010609060101010101" pitchFamily="49" charset="-122"/>
              </a:rPr>
              <a:t>各组分熔化和混合后，再将全部混合物进行磨制</a:t>
            </a:r>
            <a:r>
              <a:rPr lang="zh-CN" altLang="en-US" sz="2400" dirty="0">
                <a:latin typeface="KaiTi" panose="02010609060101010101" pitchFamily="49" charset="-122"/>
                <a:ea typeface="KaiTi" panose="02010609060101010101" pitchFamily="49" charset="-122"/>
              </a:rPr>
              <a:t>。由于挤压的物料固含量高，即使在高温也十分稠厚。因而，混炼应在装有高剪切混合器的捏炼机或罐内完成。辊式研磨机以及球磨机亦广泛用于研磨在液态基质中的颜料</a:t>
            </a:r>
            <a:r>
              <a:rPr lang="zh-CN" altLang="en-US" sz="2400" dirty="0">
                <a:latin typeface="+mn-lt"/>
                <a:ea typeface="SimHei" panose="02010609060101010101" pitchFamily="49" charset="-122"/>
              </a:rPr>
              <a:t>。</a:t>
            </a:r>
          </a:p>
        </p:txBody>
      </p:sp>
      <p:graphicFrame>
        <p:nvGraphicFramePr>
          <p:cNvPr id="5" name="表格 4">
            <a:extLst>
              <a:ext uri="{FF2B5EF4-FFF2-40B4-BE49-F238E27FC236}">
                <a16:creationId xmlns:a16="http://schemas.microsoft.com/office/drawing/2014/main" id="{1B9576A9-2149-F7FB-5B8B-A2782F2B8B50}"/>
              </a:ext>
            </a:extLst>
          </p:cNvPr>
          <p:cNvGraphicFramePr>
            <a:graphicFrameLocks noGrp="1"/>
          </p:cNvGraphicFramePr>
          <p:nvPr>
            <p:extLst>
              <p:ext uri="{D42A27DB-BD31-4B8C-83A1-F6EECF244321}">
                <p14:modId xmlns:p14="http://schemas.microsoft.com/office/powerpoint/2010/main" val="158459519"/>
              </p:ext>
            </p:extLst>
          </p:nvPr>
        </p:nvGraphicFramePr>
        <p:xfrm>
          <a:off x="182880" y="1620908"/>
          <a:ext cx="8778240" cy="1511492"/>
        </p:xfrm>
        <a:graphic>
          <a:graphicData uri="http://schemas.openxmlformats.org/drawingml/2006/table">
            <a:tbl>
              <a:tblPr firstRow="1" firstCol="1" bandRow="1">
                <a:tableStyleId>{72833802-FEF1-4C79-8D5D-14CF1EAF98D9}</a:tableStyleId>
              </a:tblPr>
              <a:tblGrid>
                <a:gridCol w="2536084">
                  <a:extLst>
                    <a:ext uri="{9D8B030D-6E8A-4147-A177-3AD203B41FA5}">
                      <a16:colId xmlns:a16="http://schemas.microsoft.com/office/drawing/2014/main" val="2074397558"/>
                    </a:ext>
                  </a:extLst>
                </a:gridCol>
                <a:gridCol w="1702406">
                  <a:extLst>
                    <a:ext uri="{9D8B030D-6E8A-4147-A177-3AD203B41FA5}">
                      <a16:colId xmlns:a16="http://schemas.microsoft.com/office/drawing/2014/main" val="3154616728"/>
                    </a:ext>
                  </a:extLst>
                </a:gridCol>
                <a:gridCol w="2862379">
                  <a:extLst>
                    <a:ext uri="{9D8B030D-6E8A-4147-A177-3AD203B41FA5}">
                      <a16:colId xmlns:a16="http://schemas.microsoft.com/office/drawing/2014/main" val="1211198067"/>
                    </a:ext>
                  </a:extLst>
                </a:gridCol>
                <a:gridCol w="1677371">
                  <a:extLst>
                    <a:ext uri="{9D8B030D-6E8A-4147-A177-3AD203B41FA5}">
                      <a16:colId xmlns:a16="http://schemas.microsoft.com/office/drawing/2014/main" val="1224525193"/>
                    </a:ext>
                  </a:extLst>
                </a:gridCol>
              </a:tblGrid>
              <a:tr h="243205">
                <a:tc>
                  <a:txBody>
                    <a:bodyPr/>
                    <a:lstStyle/>
                    <a:p>
                      <a:pPr marL="685165" marR="0" eaLnBrk="0">
                        <a:lnSpc>
                          <a:spcPct val="91000"/>
                        </a:lnSpc>
                        <a:spcBef>
                          <a:spcPts val="420"/>
                        </a:spcBef>
                        <a:spcAft>
                          <a:spcPts val="0"/>
                        </a:spcAft>
                      </a:pPr>
                      <a:r>
                        <a:rPr lang="zh-CN" sz="1800" spc="10">
                          <a:effectLst/>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95275" marR="0" eaLnBrk="0">
                        <a:lnSpc>
                          <a:spcPct val="91000"/>
                        </a:lnSpc>
                        <a:spcBef>
                          <a:spcPts val="420"/>
                        </a:spcBef>
                        <a:spcAft>
                          <a:spcPts val="0"/>
                        </a:spcAft>
                      </a:pPr>
                      <a:r>
                        <a:rPr lang="zh-CN" sz="1800" spc="-10">
                          <a:effectLst/>
                        </a:rPr>
                        <a:t>质量分数</a:t>
                      </a:r>
                      <a:r>
                        <a:rPr lang="en-US" sz="1800" spc="-10">
                          <a:effectLst/>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803275" marR="0" eaLnBrk="0">
                        <a:lnSpc>
                          <a:spcPct val="91000"/>
                        </a:lnSpc>
                        <a:spcBef>
                          <a:spcPts val="420"/>
                        </a:spcBef>
                        <a:spcAft>
                          <a:spcPts val="0"/>
                        </a:spcAft>
                      </a:pPr>
                      <a:r>
                        <a:rPr lang="zh-CN" sz="1800" spc="10" dirty="0">
                          <a:effectLst/>
                        </a:rPr>
                        <a:t>原料名称</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82575" marR="0" eaLnBrk="0">
                        <a:lnSpc>
                          <a:spcPct val="91000"/>
                        </a:lnSpc>
                        <a:spcBef>
                          <a:spcPts val="420"/>
                        </a:spcBef>
                        <a:spcAft>
                          <a:spcPts val="0"/>
                        </a:spcAft>
                      </a:pPr>
                      <a:r>
                        <a:rPr lang="zh-CN" sz="1800" spc="-10">
                          <a:effectLst/>
                        </a:rPr>
                        <a:t>质量分数</a:t>
                      </a:r>
                      <a:r>
                        <a:rPr lang="en-US" sz="1800" spc="-10">
                          <a:effectLst/>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405935138"/>
                  </a:ext>
                </a:extLst>
              </a:tr>
              <a:tr h="238760">
                <a:tc>
                  <a:txBody>
                    <a:bodyPr/>
                    <a:lstStyle/>
                    <a:p>
                      <a:pPr marL="100965" marR="0" eaLnBrk="0">
                        <a:lnSpc>
                          <a:spcPct val="91000"/>
                        </a:lnSpc>
                        <a:spcBef>
                          <a:spcPts val="405"/>
                        </a:spcBef>
                        <a:spcAft>
                          <a:spcPts val="0"/>
                        </a:spcAft>
                      </a:pPr>
                      <a:r>
                        <a:rPr lang="zh-CN" sz="1800" spc="10">
                          <a:effectLst/>
                        </a:rPr>
                        <a:t>小烛树蜡</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66725" marR="0" eaLnBrk="0">
                        <a:lnSpc>
                          <a:spcPct val="76000"/>
                        </a:lnSpc>
                        <a:spcBef>
                          <a:spcPts val="685"/>
                        </a:spcBef>
                        <a:spcAft>
                          <a:spcPts val="0"/>
                        </a:spcAft>
                      </a:pPr>
                      <a:r>
                        <a:rPr lang="en-US" sz="1800" spc="-15">
                          <a:effectLst/>
                        </a:rPr>
                        <a:t>52.00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2000"/>
                        </a:lnSpc>
                        <a:spcBef>
                          <a:spcPts val="460"/>
                        </a:spcBef>
                        <a:spcAft>
                          <a:spcPts val="0"/>
                        </a:spcAft>
                      </a:pPr>
                      <a:r>
                        <a:rPr lang="zh-CN" sz="1800" b="1" spc="-10" dirty="0">
                          <a:effectLst/>
                        </a:rPr>
                        <a:t>氢化可可脂</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2125" marR="0" eaLnBrk="0">
                        <a:lnSpc>
                          <a:spcPct val="75000"/>
                        </a:lnSpc>
                        <a:spcBef>
                          <a:spcPts val="745"/>
                        </a:spcBef>
                        <a:spcAft>
                          <a:spcPts val="0"/>
                        </a:spcAft>
                      </a:pPr>
                      <a:r>
                        <a:rPr lang="en-US" sz="1800" spc="-15">
                          <a:effectLst/>
                        </a:rPr>
                        <a:t>7.75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486287182"/>
                  </a:ext>
                </a:extLst>
              </a:tr>
              <a:tr h="230505">
                <a:tc>
                  <a:txBody>
                    <a:bodyPr/>
                    <a:lstStyle/>
                    <a:p>
                      <a:pPr marL="100965" marR="0" eaLnBrk="0">
                        <a:lnSpc>
                          <a:spcPct val="91000"/>
                        </a:lnSpc>
                        <a:spcBef>
                          <a:spcPts val="375"/>
                        </a:spcBef>
                        <a:spcAft>
                          <a:spcPts val="0"/>
                        </a:spcAft>
                      </a:pPr>
                      <a:r>
                        <a:rPr lang="zh-CN" sz="1800" spc="5">
                          <a:effectLst/>
                        </a:rPr>
                        <a:t>巴西棕榈蜡</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66725" marR="0" eaLnBrk="0">
                        <a:lnSpc>
                          <a:spcPct val="76000"/>
                        </a:lnSpc>
                        <a:spcBef>
                          <a:spcPts val="650"/>
                        </a:spcBef>
                        <a:spcAft>
                          <a:spcPts val="0"/>
                        </a:spcAft>
                      </a:pPr>
                      <a:r>
                        <a:rPr lang="en-US" sz="1800" spc="-20">
                          <a:effectLst/>
                        </a:rPr>
                        <a:t>10.00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425"/>
                        </a:spcBef>
                        <a:spcAft>
                          <a:spcPts val="0"/>
                        </a:spcAft>
                      </a:pPr>
                      <a:r>
                        <a:rPr lang="zh-CN" sz="1800" b="1" spc="5" dirty="0">
                          <a:effectLst/>
                        </a:rPr>
                        <a:t>二异硬脂醇苹果酸酯</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2125" marR="0" eaLnBrk="0">
                        <a:lnSpc>
                          <a:spcPct val="76000"/>
                        </a:lnSpc>
                        <a:spcBef>
                          <a:spcPts val="655"/>
                        </a:spcBef>
                        <a:spcAft>
                          <a:spcPts val="0"/>
                        </a:spcAft>
                      </a:pPr>
                      <a:r>
                        <a:rPr lang="en-US" sz="1800" spc="-15">
                          <a:effectLst/>
                        </a:rPr>
                        <a:t>3.20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951020102"/>
                  </a:ext>
                </a:extLst>
              </a:tr>
              <a:tr h="231140">
                <a:tc>
                  <a:txBody>
                    <a:bodyPr/>
                    <a:lstStyle/>
                    <a:p>
                      <a:pPr marL="100965" marR="0" eaLnBrk="0">
                        <a:lnSpc>
                          <a:spcPct val="91000"/>
                        </a:lnSpc>
                        <a:spcBef>
                          <a:spcPts val="360"/>
                        </a:spcBef>
                        <a:spcAft>
                          <a:spcPts val="0"/>
                        </a:spcAft>
                      </a:pPr>
                      <a:r>
                        <a:rPr lang="zh-CN" sz="1800" spc="5">
                          <a:effectLst/>
                        </a:rPr>
                        <a:t>鲸蜡醇棕榈酸酯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04825" marR="0" eaLnBrk="0">
                        <a:lnSpc>
                          <a:spcPct val="76000"/>
                        </a:lnSpc>
                        <a:spcBef>
                          <a:spcPts val="640"/>
                        </a:spcBef>
                        <a:spcAft>
                          <a:spcPts val="0"/>
                        </a:spcAft>
                      </a:pPr>
                      <a:r>
                        <a:rPr lang="en-US" sz="1800" spc="-15">
                          <a:effectLst/>
                        </a:rPr>
                        <a:t>3.00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360"/>
                        </a:spcBef>
                        <a:spcAft>
                          <a:spcPts val="0"/>
                        </a:spcAft>
                      </a:pPr>
                      <a:r>
                        <a:rPr lang="zh-CN" sz="1800" b="1" spc="5" dirty="0">
                          <a:effectLst/>
                        </a:rPr>
                        <a:t>司拉氯铵膨润土</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2125" marR="0" eaLnBrk="0">
                        <a:lnSpc>
                          <a:spcPct val="76000"/>
                        </a:lnSpc>
                        <a:spcBef>
                          <a:spcPts val="640"/>
                        </a:spcBef>
                        <a:spcAft>
                          <a:spcPts val="0"/>
                        </a:spcAft>
                      </a:pPr>
                      <a:r>
                        <a:rPr lang="en-US" sz="1800" spc="-15">
                          <a:effectLst/>
                        </a:rPr>
                        <a:t>2.00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412161213"/>
                  </a:ext>
                </a:extLst>
              </a:tr>
              <a:tr h="237490">
                <a:tc>
                  <a:txBody>
                    <a:bodyPr/>
                    <a:lstStyle/>
                    <a:p>
                      <a:pPr marL="100965" marR="0" eaLnBrk="0">
                        <a:lnSpc>
                          <a:spcPct val="91000"/>
                        </a:lnSpc>
                        <a:spcBef>
                          <a:spcPts val="440"/>
                        </a:spcBef>
                        <a:spcAft>
                          <a:spcPts val="0"/>
                        </a:spcAft>
                      </a:pPr>
                      <a:r>
                        <a:rPr lang="zh-CN" sz="1800" spc="5">
                          <a:effectLst/>
                        </a:rPr>
                        <a:t>季戊四醇四异硬脂酸酯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66725" marR="0" eaLnBrk="0">
                        <a:lnSpc>
                          <a:spcPct val="76000"/>
                        </a:lnSpc>
                        <a:spcBef>
                          <a:spcPts val="715"/>
                        </a:spcBef>
                        <a:spcAft>
                          <a:spcPts val="0"/>
                        </a:spcAft>
                      </a:pPr>
                      <a:r>
                        <a:rPr lang="en-US" sz="1800" spc="-20">
                          <a:effectLst/>
                        </a:rPr>
                        <a:t>12.00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480"/>
                        </a:spcBef>
                        <a:spcAft>
                          <a:spcPts val="0"/>
                        </a:spcAft>
                      </a:pPr>
                      <a:r>
                        <a:rPr lang="zh-CN" sz="1800" b="1" spc="25" dirty="0">
                          <a:effectLst/>
                        </a:rPr>
                        <a:t>防腐剂</a:t>
                      </a:r>
                      <a:r>
                        <a:rPr lang="en-US" sz="1800" b="1" spc="25" dirty="0">
                          <a:effectLst/>
                        </a:rPr>
                        <a:t>(</a:t>
                      </a:r>
                      <a:r>
                        <a:rPr lang="zh-CN" sz="1800" b="1" spc="25" dirty="0">
                          <a:effectLst/>
                        </a:rPr>
                        <a:t>如果需要</a:t>
                      </a:r>
                      <a:r>
                        <a:rPr lang="en-US" sz="1800" b="1" spc="25" dirty="0">
                          <a:effectLst/>
                        </a:rPr>
                        <a:t>)</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2125" marR="0" eaLnBrk="0">
                        <a:lnSpc>
                          <a:spcPct val="93000"/>
                        </a:lnSpc>
                        <a:spcBef>
                          <a:spcPts val="420"/>
                        </a:spcBef>
                        <a:spcAft>
                          <a:spcPts val="0"/>
                        </a:spcAft>
                      </a:pPr>
                      <a:r>
                        <a:rPr lang="zh-CN" sz="1800" spc="-15">
                          <a:effectLst/>
                        </a:rPr>
                        <a:t>适量</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759988261"/>
                  </a:ext>
                </a:extLst>
              </a:tr>
              <a:tr h="247650">
                <a:tc>
                  <a:txBody>
                    <a:bodyPr/>
                    <a:lstStyle/>
                    <a:p>
                      <a:pPr marL="100965" marR="0" eaLnBrk="0">
                        <a:lnSpc>
                          <a:spcPct val="92000"/>
                        </a:lnSpc>
                        <a:spcBef>
                          <a:spcPts val="475"/>
                        </a:spcBef>
                        <a:spcAft>
                          <a:spcPts val="0"/>
                        </a:spcAft>
                      </a:pPr>
                      <a:r>
                        <a:rPr lang="zh-CN" sz="1800" spc="-10" dirty="0">
                          <a:effectLst/>
                        </a:rPr>
                        <a:t>硬脂酸钙</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04825" marR="0" eaLnBrk="0">
                        <a:lnSpc>
                          <a:spcPct val="76000"/>
                        </a:lnSpc>
                        <a:spcBef>
                          <a:spcPts val="750"/>
                        </a:spcBef>
                        <a:spcAft>
                          <a:spcPts val="0"/>
                        </a:spcAft>
                      </a:pPr>
                      <a:r>
                        <a:rPr lang="en-US" sz="1800" spc="-15">
                          <a:effectLst/>
                        </a:rPr>
                        <a:t>7.00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370"/>
                        </a:spcBef>
                        <a:spcAft>
                          <a:spcPts val="0"/>
                        </a:spcAft>
                      </a:pPr>
                      <a:r>
                        <a:rPr lang="zh-CN" sz="1800" b="1" spc="-10" dirty="0">
                          <a:effectLst/>
                        </a:rPr>
                        <a:t>颜料</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2125" marR="0" eaLnBrk="0">
                        <a:lnSpc>
                          <a:spcPct val="93000"/>
                        </a:lnSpc>
                        <a:spcBef>
                          <a:spcPts val="400"/>
                        </a:spcBef>
                        <a:spcAft>
                          <a:spcPts val="0"/>
                        </a:spcAft>
                      </a:pPr>
                      <a:r>
                        <a:rPr lang="zh-CN" sz="1800" spc="-15" dirty="0">
                          <a:effectLst/>
                        </a:rPr>
                        <a:t>适量</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05830173"/>
                  </a:ext>
                </a:extLst>
              </a:tr>
            </a:tbl>
          </a:graphicData>
        </a:graphic>
      </p:graphicFrame>
    </p:spTree>
    <p:extLst>
      <p:ext uri="{BB962C8B-B14F-4D97-AF65-F5344CB8AC3E}">
        <p14:creationId xmlns:p14="http://schemas.microsoft.com/office/powerpoint/2010/main" val="2988854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睫毛护理产品概述</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788276" y="1357290"/>
            <a:ext cx="7204841"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睫毛护理产品主要的作用是</a:t>
            </a:r>
            <a:r>
              <a:rPr lang="zh-CN" altLang="en-US" sz="2400" dirty="0">
                <a:solidFill>
                  <a:srgbClr val="0000FF"/>
                </a:solidFill>
                <a:latin typeface="+mn-lt"/>
                <a:ea typeface="SimHei" panose="02010609060101010101" pitchFamily="49" charset="-122"/>
              </a:rPr>
              <a:t>使睫毛着色，使之具有变长和变粗的感觉</a:t>
            </a:r>
            <a:r>
              <a:rPr lang="zh-CN" altLang="en-US" sz="2400" dirty="0">
                <a:latin typeface="+mn-lt"/>
                <a:ea typeface="SimHei" panose="02010609060101010101" pitchFamily="49" charset="-122"/>
              </a:rPr>
              <a:t>，以增强眼睛的魅力。目前市面上睫毛护理产品主要包括</a:t>
            </a:r>
            <a:r>
              <a:rPr lang="zh-CN" altLang="en-US" sz="2400" dirty="0">
                <a:solidFill>
                  <a:srgbClr val="0000FF"/>
                </a:solidFill>
                <a:latin typeface="+mn-lt"/>
                <a:ea typeface="SimHei" panose="02010609060101010101" pitchFamily="49" charset="-122"/>
              </a:rPr>
              <a:t>睫毛膏和睫毛液</a:t>
            </a:r>
            <a:r>
              <a:rPr lang="zh-CN" altLang="en-US" sz="2400" dirty="0">
                <a:latin typeface="+mn-lt"/>
                <a:ea typeface="SimHei" panose="02010609060101010101" pitchFamily="49" charset="-122"/>
              </a:rPr>
              <a:t>等，是带小毛刷和小细棒内藏式自动容器，内部装有膏状或液状的制品。</a:t>
            </a:r>
          </a:p>
        </p:txBody>
      </p:sp>
    </p:spTree>
    <p:extLst>
      <p:ext uri="{BB962C8B-B14F-4D97-AF65-F5344CB8AC3E}">
        <p14:creationId xmlns:p14="http://schemas.microsoft.com/office/powerpoint/2010/main" val="33261407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睫毛护理产品的设计</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14855" y="1595075"/>
            <a:ext cx="7914290" cy="3344570"/>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各民族睫毛长短、粗细、疏密程度、向上生长或向下生长等条件各有不同。欧美人多数为细长的睫毛，紧密向上生长，油性类型睫毛制品很畅销。</a:t>
            </a:r>
            <a:r>
              <a:rPr lang="zh-CN" altLang="en-US" sz="2400" dirty="0">
                <a:solidFill>
                  <a:srgbClr val="0000FF"/>
                </a:solidFill>
                <a:latin typeface="+mn-lt"/>
                <a:ea typeface="SimHei" panose="02010609060101010101" pitchFamily="49" charset="-122"/>
              </a:rPr>
              <a:t>东方人的睫毛短粗</a:t>
            </a:r>
            <a:r>
              <a:rPr lang="zh-CN" altLang="en-US" sz="2400" dirty="0">
                <a:latin typeface="+mn-lt"/>
                <a:ea typeface="SimHei" panose="02010609060101010101" pitchFamily="49" charset="-122"/>
              </a:rPr>
              <a:t>，稀少，向下生长，不很整齐，</a:t>
            </a:r>
            <a:r>
              <a:rPr lang="zh-CN" altLang="en-US" sz="2400" dirty="0">
                <a:solidFill>
                  <a:srgbClr val="0000FF"/>
                </a:solidFill>
                <a:latin typeface="+mn-lt"/>
                <a:ea typeface="SimHei" panose="02010609060101010101" pitchFamily="49" charset="-122"/>
              </a:rPr>
              <a:t>比较喜欢薄膜型和含有成膜剂类型的睫毛制品</a:t>
            </a:r>
            <a:r>
              <a:rPr lang="zh-CN" altLang="en-US" sz="2400" dirty="0">
                <a:latin typeface="+mn-lt"/>
                <a:ea typeface="SimHei" panose="02010609060101010101" pitchFamily="49" charset="-122"/>
              </a:rPr>
              <a:t>。有时，为了使睫毛看上去很长，配方中添加质量分数为</a:t>
            </a:r>
            <a:r>
              <a:rPr lang="en-US" altLang="zh-CN" sz="2400" dirty="0">
                <a:latin typeface="+mn-lt"/>
                <a:ea typeface="SimHei" panose="02010609060101010101" pitchFamily="49" charset="-122"/>
              </a:rPr>
              <a:t>3%</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4%</a:t>
            </a:r>
            <a:r>
              <a:rPr lang="zh-CN" altLang="en-US" sz="2400" dirty="0">
                <a:latin typeface="+mn-lt"/>
                <a:ea typeface="SimHei" panose="02010609060101010101" pitchFamily="49" charset="-122"/>
              </a:rPr>
              <a:t>的天然或合成纤维的制品。</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9855442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睫毛护理产品的设计</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睫毛制品必须具备如下性质：</a:t>
            </a:r>
            <a:endParaRPr lang="en-US" altLang="zh-CN" sz="2400" dirty="0">
              <a:latin typeface="+mn-lt"/>
              <a:ea typeface="SimHe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① 由于睫毛护理产品是在眼睛的边缘上使用，所以要</a:t>
            </a:r>
            <a:r>
              <a:rPr lang="zh-CN" altLang="en-US" sz="2400" dirty="0">
                <a:solidFill>
                  <a:srgbClr val="0000FF"/>
                </a:solidFill>
                <a:latin typeface="KaiTi" panose="02010609060101010101" pitchFamily="49" charset="-122"/>
                <a:ea typeface="KaiTi" panose="02010609060101010101" pitchFamily="49" charset="-122"/>
              </a:rPr>
              <a:t>无刺激性和无微生物污染</a:t>
            </a:r>
            <a:r>
              <a:rPr lang="zh-CN" altLang="en-US" sz="2400" dirty="0">
                <a:latin typeface="KaiTi" panose="02010609060101010101" pitchFamily="49" charset="-122"/>
                <a:ea typeface="KaiTi" panose="02010609060101010101" pitchFamily="49" charset="-122"/>
              </a:rPr>
              <a:t>；</a:t>
            </a:r>
          </a:p>
          <a:p>
            <a:pPr>
              <a:lnSpc>
                <a:spcPct val="150000"/>
              </a:lnSpc>
            </a:pPr>
            <a:r>
              <a:rPr lang="zh-CN" altLang="en-US" sz="2400" dirty="0">
                <a:latin typeface="KaiTi" panose="02010609060101010101" pitchFamily="49" charset="-122"/>
                <a:ea typeface="KaiTi" panose="02010609060101010101" pitchFamily="49" charset="-122"/>
              </a:rPr>
              <a:t>② 刷染时附着均匀，不会引起睫毛粘连和结块，也不会渗开、流失和沾污，干燥后不会被汗液、泪水和雨水等冲散；</a:t>
            </a:r>
          </a:p>
          <a:p>
            <a:pPr>
              <a:lnSpc>
                <a:spcPct val="150000"/>
              </a:lnSpc>
            </a:pPr>
            <a:r>
              <a:rPr lang="zh-CN" altLang="en-US" sz="2400" dirty="0">
                <a:latin typeface="KaiTi" panose="02010609060101010101" pitchFamily="49" charset="-122"/>
                <a:ea typeface="KaiTi" panose="02010609060101010101" pitchFamily="49" charset="-122"/>
              </a:rPr>
              <a:t>③ 适当的干燥速度，使用时不会干得太快，但应有时效性；</a:t>
            </a:r>
            <a:endParaRPr lang="en-US" altLang="zh-CN" sz="2400" dirty="0">
              <a:latin typeface="KaiTi" panose="02010609060101010101" pitchFamily="49" charset="-122"/>
              <a:ea typeface="KaiT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④ 有适度的光泽和挺硬度，干后又不感到脆硬，用后使睫毛显得变浓变长和有 卷曲的效果，有一定持久性；</a:t>
            </a:r>
          </a:p>
          <a:p>
            <a:pPr>
              <a:lnSpc>
                <a:spcPct val="150000"/>
              </a:lnSpc>
            </a:pPr>
            <a:r>
              <a:rPr lang="zh-CN" altLang="en-US" sz="2400" dirty="0">
                <a:latin typeface="KaiTi" panose="02010609060101010101" pitchFamily="49" charset="-122"/>
                <a:ea typeface="KaiTi" panose="02010609060101010101" pitchFamily="49" charset="-122"/>
              </a:rPr>
              <a:t>⑤ 使用方便，卸妆不麻烦；</a:t>
            </a:r>
          </a:p>
          <a:p>
            <a:pPr>
              <a:lnSpc>
                <a:spcPct val="150000"/>
              </a:lnSpc>
            </a:pPr>
            <a:r>
              <a:rPr lang="zh-CN" altLang="en-US" sz="2400" dirty="0">
                <a:latin typeface="KaiTi" panose="02010609060101010101" pitchFamily="49" charset="-122"/>
                <a:ea typeface="KaiTi" panose="02010609060101010101" pitchFamily="49" charset="-122"/>
              </a:rPr>
              <a:t>⑥ 稳定性好，有较长的货架寿命，不会沉淀分离和酸败。</a:t>
            </a:r>
          </a:p>
        </p:txBody>
      </p:sp>
    </p:spTree>
    <p:extLst>
      <p:ext uri="{BB962C8B-B14F-4D97-AF65-F5344CB8AC3E}">
        <p14:creationId xmlns:p14="http://schemas.microsoft.com/office/powerpoint/2010/main" val="28266389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睫毛护理产品的原料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悬浮剂</a:t>
            </a: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睫毛油中常用的悬浮剂有：羟乙基纤维素、甲基纤维素、司拉氯铵膨润土、季铵盐</a:t>
            </a:r>
            <a:r>
              <a:rPr lang="en-US" altLang="zh-CN" sz="2400" dirty="0">
                <a:latin typeface="KaiTi" panose="02010609060101010101" pitchFamily="49" charset="-122"/>
                <a:ea typeface="KaiTi" panose="02010609060101010101" pitchFamily="49" charset="-122"/>
              </a:rPr>
              <a:t>-18</a:t>
            </a:r>
            <a:r>
              <a:rPr lang="zh-CN" altLang="en-US" sz="2400" dirty="0">
                <a:latin typeface="KaiTi" panose="02010609060101010101" pitchFamily="49" charset="-122"/>
                <a:ea typeface="KaiTi" panose="02010609060101010101" pitchFamily="49" charset="-122"/>
              </a:rPr>
              <a:t>水辉石、硅酸铝镁，可起到增稠及悬浮作用。</a:t>
            </a:r>
            <a:endParaRPr lang="en-US" altLang="zh-CN" sz="2400" dirty="0">
              <a:latin typeface="KaiTi" panose="02010609060101010101" pitchFamily="49" charset="-122"/>
              <a:ea typeface="KaiTi" panose="02010609060101010101" pitchFamily="49" charset="-122"/>
            </a:endParaRPr>
          </a:p>
          <a:p>
            <a:pPr>
              <a:lnSpc>
                <a:spcPct val="150000"/>
              </a:lnSpc>
            </a:pP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成膜剂</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睫毛油中常用的成膜剂有：聚乙烯吡咯烷酮、聚丙烯酸酯乳液、聚乙酸乙烯酯、聚氨酯聚乙烯吡咯烷酮、阿拉伯胶。成膜剂可起到成膜及防水作用。</a:t>
            </a:r>
          </a:p>
          <a:p>
            <a:pPr>
              <a:lnSpc>
                <a:spcPct val="150000"/>
              </a:lnSpc>
            </a:pPr>
            <a:endParaRPr lang="zh-CN" altLang="en-US" sz="2400" dirty="0">
              <a:latin typeface="+mn-lt"/>
              <a:ea typeface="SimHei" panose="02010609060101010101" pitchFamily="49" charset="-122"/>
            </a:endParaRPr>
          </a:p>
        </p:txBody>
      </p:sp>
    </p:spTree>
    <p:extLst>
      <p:ext uri="{BB962C8B-B14F-4D97-AF65-F5344CB8AC3E}">
        <p14:creationId xmlns:p14="http://schemas.microsoft.com/office/powerpoint/2010/main" val="35553328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睫毛护理产品的原料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837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树脂类</a:t>
            </a: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睫毛油中常用的树脂类物质有：硅类树脂、聚萜烯类树脂、合成树脂、松香脂、 丙烯酸类树脂，可起到成膜剂的作用。</a:t>
            </a:r>
            <a:endParaRPr lang="en-US" altLang="zh-CN" sz="2400" dirty="0">
              <a:latin typeface="KaiTi" panose="02010609060101010101" pitchFamily="49" charset="-122"/>
              <a:ea typeface="KaiTi" panose="02010609060101010101" pitchFamily="49" charset="-122"/>
            </a:endParaRPr>
          </a:p>
          <a:p>
            <a:pPr>
              <a:lnSpc>
                <a:spcPct val="150000"/>
              </a:lnSpc>
            </a:pP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颜料</a:t>
            </a: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睫毛油中常用的颜料有：氧化铁黑、炭黑。</a:t>
            </a:r>
          </a:p>
          <a:p>
            <a:pPr>
              <a:lnSpc>
                <a:spcPct val="150000"/>
              </a:lnSpc>
            </a:pPr>
            <a:endParaRPr lang="zh-CN" altLang="en-US"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2624559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普通睫毛膏的配方与工艺示例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3624886"/>
            <a:ext cx="8778240" cy="3046988"/>
          </a:xfrm>
          <a:prstGeom prst="rect">
            <a:avLst/>
          </a:prstGeom>
          <a:noFill/>
        </p:spPr>
        <p:txBody>
          <a:bodyPr wrap="square" rtlCol="0">
            <a:spAutoFit/>
          </a:bodyPr>
          <a:lstStyle/>
          <a:p>
            <a:r>
              <a:rPr lang="zh-CN" altLang="en-US" sz="2400" dirty="0">
                <a:latin typeface="KaiTi" panose="02010609060101010101" pitchFamily="49" charset="-122"/>
                <a:ea typeface="KaiTi" panose="02010609060101010101" pitchFamily="49" charset="-122"/>
              </a:rPr>
              <a:t>① 将 </a:t>
            </a:r>
            <a:r>
              <a:rPr lang="en-US" altLang="zh-CN" sz="2400" dirty="0">
                <a:latin typeface="KaiTi" panose="02010609060101010101" pitchFamily="49" charset="-122"/>
                <a:ea typeface="KaiTi" panose="02010609060101010101" pitchFamily="49" charset="-122"/>
              </a:rPr>
              <a:t>A </a:t>
            </a:r>
            <a:r>
              <a:rPr lang="zh-CN" altLang="en-US" sz="2400" dirty="0">
                <a:latin typeface="KaiTi" panose="02010609060101010101" pitchFamily="49" charset="-122"/>
                <a:ea typeface="KaiTi" panose="02010609060101010101" pitchFamily="49" charset="-122"/>
              </a:rPr>
              <a:t>相原料</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除氧化铁黑外</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加入到乳化锅中，搅拌均匀后加热到</a:t>
            </a:r>
            <a:r>
              <a:rPr lang="en-US" altLang="zh-CN" sz="2400" dirty="0">
                <a:latin typeface="KaiTi" panose="02010609060101010101" pitchFamily="49" charset="-122"/>
                <a:ea typeface="KaiTi" panose="02010609060101010101" pitchFamily="49" charset="-122"/>
              </a:rPr>
              <a:t>85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88 ℃,</a:t>
            </a:r>
            <a:r>
              <a:rPr lang="zh-CN" altLang="en-US" sz="2400" dirty="0">
                <a:latin typeface="KaiTi" panose="02010609060101010101" pitchFamily="49" charset="-122"/>
                <a:ea typeface="KaiTi" panose="02010609060101010101" pitchFamily="49" charset="-122"/>
              </a:rPr>
              <a:t>然后把氧化铁黑加入，高速均质</a:t>
            </a:r>
            <a:r>
              <a:rPr lang="en-US" altLang="zh-CN" sz="2400" dirty="0">
                <a:latin typeface="KaiTi" panose="02010609060101010101" pitchFamily="49" charset="-122"/>
                <a:ea typeface="KaiTi" panose="02010609060101010101" pitchFamily="49" charset="-122"/>
              </a:rPr>
              <a:t>30min, </a:t>
            </a:r>
            <a:r>
              <a:rPr lang="zh-CN" altLang="en-US" sz="2400" dirty="0">
                <a:latin typeface="KaiTi" panose="02010609060101010101" pitchFamily="49" charset="-122"/>
                <a:ea typeface="KaiTi" panose="02010609060101010101" pitchFamily="49" charset="-122"/>
              </a:rPr>
              <a:t>使氧化铁黑颜料分散；</a:t>
            </a:r>
          </a:p>
          <a:p>
            <a:r>
              <a:rPr lang="zh-CN" altLang="en-US" sz="2400" dirty="0">
                <a:latin typeface="KaiTi" panose="02010609060101010101" pitchFamily="49" charset="-122"/>
                <a:ea typeface="KaiTi" panose="02010609060101010101" pitchFamily="49" charset="-122"/>
              </a:rPr>
              <a:t>② 将 </a:t>
            </a:r>
            <a:r>
              <a:rPr lang="en-US" altLang="zh-CN" sz="2400" dirty="0">
                <a:latin typeface="KaiTi" panose="02010609060101010101" pitchFamily="49" charset="-122"/>
                <a:ea typeface="KaiTi" panose="02010609060101010101" pitchFamily="49" charset="-122"/>
              </a:rPr>
              <a:t>B </a:t>
            </a:r>
            <a:r>
              <a:rPr lang="zh-CN" altLang="en-US" sz="2400" dirty="0">
                <a:latin typeface="KaiTi" panose="02010609060101010101" pitchFamily="49" charset="-122"/>
                <a:ea typeface="KaiTi" panose="02010609060101010101" pitchFamily="49" charset="-122"/>
              </a:rPr>
              <a:t>相原料加入到油相锅中，搅拌均匀后加热到</a:t>
            </a:r>
            <a:r>
              <a:rPr lang="en-US" altLang="zh-CN" sz="2400" dirty="0">
                <a:latin typeface="KaiTi" panose="02010609060101010101" pitchFamily="49" charset="-122"/>
                <a:ea typeface="KaiTi" panose="02010609060101010101" pitchFamily="49" charset="-122"/>
              </a:rPr>
              <a:t>85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88℃;</a:t>
            </a:r>
          </a:p>
          <a:p>
            <a:r>
              <a:rPr lang="en-US" altLang="zh-CN" sz="2400" dirty="0">
                <a:latin typeface="KaiTi" panose="02010609060101010101" pitchFamily="49" charset="-122"/>
                <a:ea typeface="KaiTi" panose="02010609060101010101" pitchFamily="49" charset="-122"/>
              </a:rPr>
              <a:t>③ </a:t>
            </a:r>
            <a:r>
              <a:rPr lang="zh-CN" altLang="en-US" sz="2400" dirty="0">
                <a:latin typeface="KaiTi" panose="02010609060101010101" pitchFamily="49" charset="-122"/>
                <a:ea typeface="KaiTi" panose="02010609060101010101" pitchFamily="49" charset="-122"/>
              </a:rPr>
              <a:t>将 </a:t>
            </a:r>
            <a:r>
              <a:rPr lang="en-US" altLang="zh-CN" sz="2400" dirty="0">
                <a:latin typeface="KaiTi" panose="02010609060101010101" pitchFamily="49" charset="-122"/>
                <a:ea typeface="KaiTi" panose="02010609060101010101" pitchFamily="49" charset="-122"/>
              </a:rPr>
              <a:t>B </a:t>
            </a:r>
            <a:r>
              <a:rPr lang="zh-CN" altLang="en-US" sz="2400" dirty="0">
                <a:latin typeface="KaiTi" panose="02010609060101010101" pitchFamily="49" charset="-122"/>
                <a:ea typeface="KaiTi" panose="02010609060101010101" pitchFamily="49" charset="-122"/>
              </a:rPr>
              <a:t>相锅中原料加入到</a:t>
            </a:r>
            <a:r>
              <a:rPr lang="en-US" altLang="zh-CN" sz="2400" dirty="0">
                <a:latin typeface="KaiTi" panose="02010609060101010101" pitchFamily="49" charset="-122"/>
                <a:ea typeface="KaiTi" panose="02010609060101010101" pitchFamily="49" charset="-122"/>
              </a:rPr>
              <a:t>A </a:t>
            </a:r>
            <a:r>
              <a:rPr lang="zh-CN" altLang="en-US" sz="2400" dirty="0">
                <a:latin typeface="KaiTi" panose="02010609060101010101" pitchFamily="49" charset="-122"/>
                <a:ea typeface="KaiTi" panose="02010609060101010101" pitchFamily="49" charset="-122"/>
              </a:rPr>
              <a:t>相乳化锅，保持在</a:t>
            </a:r>
            <a:r>
              <a:rPr lang="en-US" altLang="zh-CN" sz="2400" dirty="0">
                <a:latin typeface="KaiTi" panose="02010609060101010101" pitchFamily="49" charset="-122"/>
                <a:ea typeface="KaiTi" panose="02010609060101010101" pitchFamily="49" charset="-122"/>
              </a:rPr>
              <a:t>85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88℃,</a:t>
            </a:r>
            <a:r>
              <a:rPr lang="zh-CN" altLang="en-US" sz="2400" dirty="0">
                <a:latin typeface="KaiTi" panose="02010609060101010101" pitchFamily="49" charset="-122"/>
                <a:ea typeface="KaiTi" panose="02010609060101010101" pitchFamily="49" charset="-122"/>
              </a:rPr>
              <a:t>开启刮边器，高速均质</a:t>
            </a:r>
            <a:r>
              <a:rPr lang="en-US" altLang="zh-CN" sz="2400" dirty="0">
                <a:latin typeface="KaiTi" panose="02010609060101010101" pitchFamily="49" charset="-122"/>
                <a:ea typeface="KaiTi" panose="02010609060101010101" pitchFamily="49" charset="-122"/>
              </a:rPr>
              <a:t>20min, </a:t>
            </a:r>
            <a:r>
              <a:rPr lang="zh-CN" altLang="en-US" sz="2400" dirty="0">
                <a:latin typeface="KaiTi" panose="02010609060101010101" pitchFamily="49" charset="-122"/>
                <a:ea typeface="KaiTi" panose="02010609060101010101" pitchFamily="49" charset="-122"/>
              </a:rPr>
              <a:t>然后抽真空降温，保持刮边；</a:t>
            </a:r>
          </a:p>
          <a:p>
            <a:r>
              <a:rPr lang="zh-CN" altLang="en-US" sz="2400" dirty="0">
                <a:latin typeface="KaiTi" panose="02010609060101010101" pitchFamily="49" charset="-122"/>
                <a:ea typeface="KaiTi" panose="02010609060101010101" pitchFamily="49" charset="-122"/>
              </a:rPr>
              <a:t>④ 降温到</a:t>
            </a:r>
            <a:r>
              <a:rPr lang="en-US" altLang="zh-CN" sz="2400" dirty="0">
                <a:latin typeface="KaiTi" panose="02010609060101010101" pitchFamily="49" charset="-122"/>
                <a:ea typeface="KaiTi" panose="02010609060101010101" pitchFamily="49" charset="-122"/>
              </a:rPr>
              <a:t>35℃,</a:t>
            </a:r>
            <a:r>
              <a:rPr lang="zh-CN" altLang="en-US" sz="2400" dirty="0">
                <a:latin typeface="KaiTi" panose="02010609060101010101" pitchFamily="49" charset="-122"/>
                <a:ea typeface="KaiTi" panose="02010609060101010101" pitchFamily="49" charset="-122"/>
              </a:rPr>
              <a:t>把</a:t>
            </a:r>
            <a:r>
              <a:rPr lang="en-US" altLang="zh-CN" sz="2400" dirty="0">
                <a:latin typeface="KaiTi" panose="02010609060101010101" pitchFamily="49" charset="-122"/>
                <a:ea typeface="KaiTi" panose="02010609060101010101" pitchFamily="49" charset="-122"/>
              </a:rPr>
              <a:t>C </a:t>
            </a:r>
            <a:r>
              <a:rPr lang="zh-CN" altLang="en-US" sz="2400" dirty="0">
                <a:latin typeface="KaiTi" panose="02010609060101010101" pitchFamily="49" charset="-122"/>
                <a:ea typeface="KaiTi" panose="02010609060101010101" pitchFamily="49" charset="-122"/>
              </a:rPr>
              <a:t>相原料加入后搅拌均匀，经过品控检验合格后灌装。</a:t>
            </a:r>
          </a:p>
        </p:txBody>
      </p:sp>
      <p:graphicFrame>
        <p:nvGraphicFramePr>
          <p:cNvPr id="5" name="表格 4">
            <a:extLst>
              <a:ext uri="{FF2B5EF4-FFF2-40B4-BE49-F238E27FC236}">
                <a16:creationId xmlns:a16="http://schemas.microsoft.com/office/drawing/2014/main" id="{33578886-4673-2579-275C-AA183505C9DD}"/>
              </a:ext>
            </a:extLst>
          </p:cNvPr>
          <p:cNvGraphicFramePr>
            <a:graphicFrameLocks noGrp="1"/>
          </p:cNvGraphicFramePr>
          <p:nvPr>
            <p:extLst>
              <p:ext uri="{D42A27DB-BD31-4B8C-83A1-F6EECF244321}">
                <p14:modId xmlns:p14="http://schemas.microsoft.com/office/powerpoint/2010/main" val="293531285"/>
              </p:ext>
            </p:extLst>
          </p:nvPr>
        </p:nvGraphicFramePr>
        <p:xfrm>
          <a:off x="182879" y="1357290"/>
          <a:ext cx="8778238" cy="2232021"/>
        </p:xfrm>
        <a:graphic>
          <a:graphicData uri="http://schemas.openxmlformats.org/drawingml/2006/table">
            <a:tbl>
              <a:tblPr firstRow="1" firstCol="1" bandRow="1">
                <a:tableStyleId>{72833802-FEF1-4C79-8D5D-14CF1EAF98D9}</a:tableStyleId>
              </a:tblPr>
              <a:tblGrid>
                <a:gridCol w="831351">
                  <a:extLst>
                    <a:ext uri="{9D8B030D-6E8A-4147-A177-3AD203B41FA5}">
                      <a16:colId xmlns:a16="http://schemas.microsoft.com/office/drawing/2014/main" val="793316503"/>
                    </a:ext>
                  </a:extLst>
                </a:gridCol>
                <a:gridCol w="2045124">
                  <a:extLst>
                    <a:ext uri="{9D8B030D-6E8A-4147-A177-3AD203B41FA5}">
                      <a16:colId xmlns:a16="http://schemas.microsoft.com/office/drawing/2014/main" val="4140332125"/>
                    </a:ext>
                  </a:extLst>
                </a:gridCol>
                <a:gridCol w="1362585">
                  <a:extLst>
                    <a:ext uri="{9D8B030D-6E8A-4147-A177-3AD203B41FA5}">
                      <a16:colId xmlns:a16="http://schemas.microsoft.com/office/drawing/2014/main" val="3443741669"/>
                    </a:ext>
                  </a:extLst>
                </a:gridCol>
                <a:gridCol w="1064130">
                  <a:extLst>
                    <a:ext uri="{9D8B030D-6E8A-4147-A177-3AD203B41FA5}">
                      <a16:colId xmlns:a16="http://schemas.microsoft.com/office/drawing/2014/main" val="1097250753"/>
                    </a:ext>
                  </a:extLst>
                </a:gridCol>
                <a:gridCol w="2269589">
                  <a:extLst>
                    <a:ext uri="{9D8B030D-6E8A-4147-A177-3AD203B41FA5}">
                      <a16:colId xmlns:a16="http://schemas.microsoft.com/office/drawing/2014/main" val="1315204783"/>
                    </a:ext>
                  </a:extLst>
                </a:gridCol>
                <a:gridCol w="1205459">
                  <a:extLst>
                    <a:ext uri="{9D8B030D-6E8A-4147-A177-3AD203B41FA5}">
                      <a16:colId xmlns:a16="http://schemas.microsoft.com/office/drawing/2014/main" val="45118098"/>
                    </a:ext>
                  </a:extLst>
                </a:gridCol>
              </a:tblGrid>
              <a:tr h="338925">
                <a:tc>
                  <a:txBody>
                    <a:bodyPr/>
                    <a:lstStyle/>
                    <a:p>
                      <a:pPr marL="177165" marR="0" eaLnBrk="0">
                        <a:lnSpc>
                          <a:spcPct val="92000"/>
                        </a:lnSpc>
                        <a:spcBef>
                          <a:spcPts val="635"/>
                        </a:spcBef>
                        <a:spcAft>
                          <a:spcPts val="0"/>
                        </a:spcAft>
                      </a:pPr>
                      <a:r>
                        <a:rPr lang="zh-CN" sz="1800" spc="45">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7840" marR="0" eaLnBrk="0">
                        <a:lnSpc>
                          <a:spcPct val="91000"/>
                        </a:lnSpc>
                        <a:spcBef>
                          <a:spcPts val="620"/>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68275" marR="0" eaLnBrk="0">
                        <a:lnSpc>
                          <a:spcPct val="91000"/>
                        </a:lnSpc>
                        <a:spcBef>
                          <a:spcPts val="62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63525" marR="0" eaLnBrk="0">
                        <a:lnSpc>
                          <a:spcPct val="92000"/>
                        </a:lnSpc>
                        <a:spcBef>
                          <a:spcPts val="635"/>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81025" marR="0" eaLnBrk="0">
                        <a:lnSpc>
                          <a:spcPct val="91000"/>
                        </a:lnSpc>
                        <a:spcBef>
                          <a:spcPts val="620"/>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5410" marR="0" eaLnBrk="0">
                        <a:lnSpc>
                          <a:spcPct val="91000"/>
                        </a:lnSpc>
                        <a:spcBef>
                          <a:spcPts val="62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120803745"/>
                  </a:ext>
                </a:extLst>
              </a:tr>
              <a:tr h="1378895">
                <a:tc>
                  <a:txBody>
                    <a:bodyPr/>
                    <a:lstStyle/>
                    <a:p>
                      <a:pPr marL="0" marR="0" eaLnBrk="0">
                        <a:lnSpc>
                          <a:spcPct val="103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3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3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08915" marR="0" eaLnBrk="0">
                        <a:lnSpc>
                          <a:spcPct val="92000"/>
                        </a:lnSpc>
                        <a:spcBef>
                          <a:spcPts val="360"/>
                        </a:spcBef>
                        <a:spcAft>
                          <a:spcPts val="0"/>
                        </a:spcAft>
                      </a:pPr>
                      <a:r>
                        <a:rPr lang="en-US" sz="1800" spc="-5">
                          <a:effectLst/>
                          <a:latin typeface="SimHei" panose="02010609060101010101" pitchFamily="49" charset="-122"/>
                          <a:ea typeface="SimHei" panose="02010609060101010101" pitchFamily="49" charset="-122"/>
                        </a:rPr>
                        <a:t>A</a:t>
                      </a:r>
                      <a:r>
                        <a:rPr lang="zh-CN" sz="1800" spc="-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7790" marR="0" eaLnBrk="0">
                        <a:lnSpc>
                          <a:spcPts val="2255"/>
                        </a:lnSpc>
                        <a:spcBef>
                          <a:spcPts val="500"/>
                        </a:spcBef>
                        <a:spcAft>
                          <a:spcPts val="0"/>
                        </a:spcAft>
                      </a:pPr>
                      <a:r>
                        <a:rPr lang="zh-CN" sz="1800" spc="-10">
                          <a:effectLst/>
                          <a:latin typeface="SimHei" panose="02010609060101010101" pitchFamily="49" charset="-122"/>
                          <a:ea typeface="SimHei" panose="02010609060101010101" pitchFamily="49" charset="-122"/>
                        </a:rPr>
                        <a:t>精制水</a:t>
                      </a:r>
                      <a:endParaRPr lang="en-US" sz="1800">
                        <a:effectLst/>
                        <a:latin typeface="SimHei" panose="02010609060101010101" pitchFamily="49" charset="-122"/>
                        <a:ea typeface="SimHei" panose="02010609060101010101" pitchFamily="49" charset="-122"/>
                      </a:endParaRPr>
                    </a:p>
                    <a:p>
                      <a:pPr marL="97790" marR="0" eaLnBrk="0">
                        <a:lnSpc>
                          <a:spcPct val="91000"/>
                        </a:lnSpc>
                        <a:spcBef>
                          <a:spcPts val="0"/>
                        </a:spcBef>
                        <a:spcAft>
                          <a:spcPts val="0"/>
                        </a:spcAft>
                      </a:pPr>
                      <a:r>
                        <a:rPr lang="zh-CN" sz="1800" spc="55">
                          <a:effectLst/>
                          <a:latin typeface="SimHei" panose="02010609060101010101" pitchFamily="49" charset="-122"/>
                          <a:ea typeface="SimHei" panose="02010609060101010101" pitchFamily="49" charset="-122"/>
                        </a:rPr>
                        <a:t>甘油</a:t>
                      </a:r>
                      <a:endParaRPr lang="en-US" sz="1800">
                        <a:effectLst/>
                        <a:latin typeface="SimHei" panose="02010609060101010101" pitchFamily="49" charset="-122"/>
                        <a:ea typeface="SimHei" panose="02010609060101010101" pitchFamily="49" charset="-122"/>
                      </a:endParaRPr>
                    </a:p>
                    <a:p>
                      <a:pPr marL="97790" marR="0" eaLnBrk="0">
                        <a:lnSpc>
                          <a:spcPts val="1895"/>
                        </a:lnSpc>
                        <a:spcBef>
                          <a:spcPts val="1285"/>
                        </a:spcBef>
                        <a:spcAft>
                          <a:spcPts val="0"/>
                        </a:spcAft>
                      </a:pPr>
                      <a:r>
                        <a:rPr lang="zh-CN" sz="1800" spc="-10">
                          <a:effectLst/>
                          <a:latin typeface="SimHei" panose="02010609060101010101" pitchFamily="49" charset="-122"/>
                          <a:ea typeface="SimHei" panose="02010609060101010101" pitchFamily="49" charset="-122"/>
                        </a:rPr>
                        <a:t>三乙醇胺</a:t>
                      </a:r>
                      <a:endParaRPr lang="en-US" sz="1800">
                        <a:effectLst/>
                        <a:latin typeface="SimHei" panose="02010609060101010101" pitchFamily="49" charset="-122"/>
                        <a:ea typeface="SimHei" panose="02010609060101010101" pitchFamily="49" charset="-122"/>
                      </a:endParaRPr>
                    </a:p>
                    <a:p>
                      <a:pPr marL="97790" marR="0" eaLnBrk="0">
                        <a:lnSpc>
                          <a:spcPct val="90000"/>
                        </a:lnSpc>
                        <a:spcBef>
                          <a:spcPts val="0"/>
                        </a:spcBef>
                        <a:spcAft>
                          <a:spcPts val="0"/>
                        </a:spcAft>
                      </a:pPr>
                      <a:r>
                        <a:rPr lang="zh-CN" sz="1800" spc="15">
                          <a:effectLst/>
                          <a:latin typeface="SimHei" panose="02010609060101010101" pitchFamily="49" charset="-122"/>
                          <a:ea typeface="SimHei" panose="02010609060101010101" pitchFamily="49" charset="-122"/>
                        </a:rPr>
                        <a:t>氧化铁黑</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69240" marR="0" eaLnBrk="0">
                        <a:lnSpc>
                          <a:spcPts val="2610"/>
                        </a:lnSpc>
                        <a:spcBef>
                          <a:spcPts val="625"/>
                        </a:spcBef>
                        <a:spcAft>
                          <a:spcPts val="0"/>
                        </a:spcAft>
                      </a:pPr>
                      <a:r>
                        <a:rPr lang="zh-CN" sz="1800" spc="-10">
                          <a:effectLst/>
                          <a:latin typeface="SimHei" panose="02010609060101010101" pitchFamily="49" charset="-122"/>
                          <a:ea typeface="SimHei" panose="02010609060101010101" pitchFamily="49" charset="-122"/>
                        </a:rPr>
                        <a:t>加至</a:t>
                      </a:r>
                      <a:r>
                        <a:rPr lang="en-US" sz="1800" spc="-10">
                          <a:effectLst/>
                          <a:latin typeface="SimHei" panose="02010609060101010101" pitchFamily="49" charset="-122"/>
                          <a:ea typeface="SimHei" panose="02010609060101010101" pitchFamily="49" charset="-122"/>
                        </a:rPr>
                        <a:t>100</a:t>
                      </a:r>
                      <a:endParaRPr lang="en-US" sz="1800">
                        <a:effectLst/>
                        <a:latin typeface="SimHei" panose="02010609060101010101" pitchFamily="49" charset="-122"/>
                        <a:ea typeface="SimHei" panose="02010609060101010101" pitchFamily="49" charset="-122"/>
                      </a:endParaRPr>
                    </a:p>
                    <a:p>
                      <a:pPr marL="37782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5.00</a:t>
                      </a:r>
                      <a:endParaRPr lang="en-US" sz="1800">
                        <a:effectLst/>
                        <a:latin typeface="SimHei" panose="02010609060101010101" pitchFamily="49" charset="-122"/>
                        <a:ea typeface="SimHei" panose="02010609060101010101" pitchFamily="49" charset="-122"/>
                      </a:endParaRPr>
                    </a:p>
                    <a:p>
                      <a:pPr marL="0" marR="0" eaLnBrk="0">
                        <a:lnSpc>
                          <a:spcPct val="157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377825" marR="0" eaLnBrk="0">
                        <a:lnSpc>
                          <a:spcPct val="76000"/>
                        </a:lnSpc>
                        <a:spcBef>
                          <a:spcPts val="355"/>
                        </a:spcBef>
                        <a:spcAft>
                          <a:spcPts val="0"/>
                        </a:spcAft>
                      </a:pPr>
                      <a:r>
                        <a:rPr lang="en-US" sz="1800" spc="-15">
                          <a:effectLst/>
                          <a:latin typeface="SimHei" panose="02010609060101010101" pitchFamily="49" charset="-122"/>
                          <a:ea typeface="SimHei" panose="02010609060101010101" pitchFamily="49" charset="-122"/>
                        </a:rPr>
                        <a:t>5.00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lnSpc>
                          <a:spcPct val="103000"/>
                        </a:lnSpc>
                        <a:spcBef>
                          <a:spcPts val="0"/>
                        </a:spcBef>
                        <a:spcAft>
                          <a:spcPts val="0"/>
                        </a:spcAft>
                      </a:pPr>
                      <a:r>
                        <a:rPr lang="en-US" sz="1800" b="1" dirty="0">
                          <a:effectLst/>
                          <a:latin typeface="SimHei" panose="02010609060101010101" pitchFamily="49" charset="-122"/>
                          <a:ea typeface="SimHei" panose="02010609060101010101" pitchFamily="49" charset="-122"/>
                        </a:rPr>
                        <a:t> </a:t>
                      </a:r>
                    </a:p>
                    <a:p>
                      <a:pPr marL="0" marR="0" eaLnBrk="0">
                        <a:lnSpc>
                          <a:spcPct val="103000"/>
                        </a:lnSpc>
                        <a:spcBef>
                          <a:spcPts val="0"/>
                        </a:spcBef>
                        <a:spcAft>
                          <a:spcPts val="0"/>
                        </a:spcAft>
                      </a:pPr>
                      <a:r>
                        <a:rPr lang="en-US" sz="1800" b="1" dirty="0">
                          <a:effectLst/>
                          <a:latin typeface="SimHei" panose="02010609060101010101" pitchFamily="49" charset="-122"/>
                          <a:ea typeface="SimHei" panose="02010609060101010101" pitchFamily="49" charset="-122"/>
                        </a:rPr>
                        <a:t> </a:t>
                      </a:r>
                    </a:p>
                    <a:p>
                      <a:pPr marL="0" marR="0" eaLnBrk="0">
                        <a:lnSpc>
                          <a:spcPct val="103000"/>
                        </a:lnSpc>
                        <a:spcBef>
                          <a:spcPts val="0"/>
                        </a:spcBef>
                        <a:spcAft>
                          <a:spcPts val="0"/>
                        </a:spcAft>
                      </a:pPr>
                      <a:r>
                        <a:rPr lang="en-US" sz="1800" b="1" dirty="0">
                          <a:effectLst/>
                          <a:latin typeface="SimHei" panose="02010609060101010101" pitchFamily="49" charset="-122"/>
                          <a:ea typeface="SimHei" panose="02010609060101010101" pitchFamily="49" charset="-122"/>
                        </a:rPr>
                        <a:t> </a:t>
                      </a:r>
                    </a:p>
                    <a:p>
                      <a:pPr marL="295275" marR="0" eaLnBrk="0">
                        <a:lnSpc>
                          <a:spcPct val="92000"/>
                        </a:lnSpc>
                        <a:spcBef>
                          <a:spcPts val="360"/>
                        </a:spcBef>
                        <a:spcAft>
                          <a:spcPts val="0"/>
                        </a:spcAft>
                      </a:pPr>
                      <a:r>
                        <a:rPr lang="en-US" sz="1800" b="1" spc="45" dirty="0">
                          <a:effectLst/>
                          <a:latin typeface="SimHei" panose="02010609060101010101" pitchFamily="49" charset="-122"/>
                          <a:ea typeface="SimHei" panose="02010609060101010101" pitchFamily="49" charset="-122"/>
                        </a:rPr>
                        <a:t>B</a:t>
                      </a:r>
                      <a:r>
                        <a:rPr lang="zh-CN" sz="1800" b="1" spc="4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ct val="91000"/>
                        </a:lnSpc>
                        <a:spcBef>
                          <a:spcPts val="505"/>
                        </a:spcBef>
                        <a:spcAft>
                          <a:spcPts val="0"/>
                        </a:spcAft>
                      </a:pPr>
                      <a:r>
                        <a:rPr lang="zh-CN" sz="1800" spc="-15">
                          <a:effectLst/>
                          <a:latin typeface="SimHei" panose="02010609060101010101" pitchFamily="49" charset="-122"/>
                          <a:ea typeface="SimHei" panose="02010609060101010101" pitchFamily="49" charset="-122"/>
                        </a:rPr>
                        <a:t>蜂蜡</a:t>
                      </a:r>
                      <a:endParaRPr lang="en-US" sz="1800">
                        <a:effectLst/>
                        <a:latin typeface="SimHei" panose="02010609060101010101" pitchFamily="49" charset="-122"/>
                        <a:ea typeface="SimHei" panose="02010609060101010101" pitchFamily="49" charset="-122"/>
                      </a:endParaRPr>
                    </a:p>
                    <a:p>
                      <a:pPr marL="98425" marR="0" eaLnBrk="0">
                        <a:lnSpc>
                          <a:spcPct val="91000"/>
                        </a:lnSpc>
                        <a:spcBef>
                          <a:spcPts val="1045"/>
                        </a:spcBef>
                        <a:spcAft>
                          <a:spcPts val="0"/>
                        </a:spcAft>
                      </a:pPr>
                      <a:r>
                        <a:rPr lang="zh-CN" sz="1800" spc="15">
                          <a:effectLst/>
                          <a:latin typeface="SimHei" panose="02010609060101010101" pitchFamily="49" charset="-122"/>
                          <a:ea typeface="SimHei" panose="02010609060101010101" pitchFamily="49" charset="-122"/>
                        </a:rPr>
                        <a:t>羊毛脂</a:t>
                      </a:r>
                      <a:endParaRPr lang="en-US" sz="1800">
                        <a:effectLst/>
                        <a:latin typeface="SimHei" panose="02010609060101010101" pitchFamily="49" charset="-122"/>
                        <a:ea typeface="SimHei" panose="02010609060101010101" pitchFamily="49" charset="-122"/>
                      </a:endParaRPr>
                    </a:p>
                    <a:p>
                      <a:pPr marL="98425" marR="0" eaLnBrk="0">
                        <a:lnSpc>
                          <a:spcPts val="2345"/>
                        </a:lnSpc>
                        <a:spcBef>
                          <a:spcPts val="1085"/>
                        </a:spcBef>
                        <a:spcAft>
                          <a:spcPts val="0"/>
                        </a:spcAft>
                      </a:pPr>
                      <a:r>
                        <a:rPr lang="zh-CN" sz="1800" spc="5">
                          <a:effectLst/>
                          <a:latin typeface="SimHei" panose="02010609060101010101" pitchFamily="49" charset="-122"/>
                          <a:ea typeface="SimHei" panose="02010609060101010101" pitchFamily="49" charset="-122"/>
                        </a:rPr>
                        <a:t>辛酸</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癸酸甘油三酯</a:t>
                      </a:r>
                      <a:endParaRPr lang="en-US" sz="1800">
                        <a:effectLst/>
                        <a:latin typeface="SimHei" panose="02010609060101010101" pitchFamily="49" charset="-122"/>
                        <a:ea typeface="SimHei" panose="02010609060101010101" pitchFamily="49" charset="-122"/>
                      </a:endParaRPr>
                    </a:p>
                    <a:p>
                      <a:pPr marL="98425" marR="0" eaLnBrk="0">
                        <a:lnSpc>
                          <a:spcPct val="91000"/>
                        </a:lnSpc>
                        <a:spcBef>
                          <a:spcPts val="0"/>
                        </a:spcBef>
                        <a:spcAft>
                          <a:spcPts val="0"/>
                        </a:spcAft>
                      </a:pPr>
                      <a:r>
                        <a:rPr lang="en-US" sz="1800" spc="-5">
                          <a:effectLst/>
                          <a:latin typeface="SimHei" panose="02010609060101010101" pitchFamily="49" charset="-122"/>
                          <a:ea typeface="SimHei" panose="02010609060101010101" pitchFamily="49" charset="-122"/>
                        </a:rPr>
                        <a:t>PVP/</a:t>
                      </a:r>
                      <a:r>
                        <a:rPr lang="zh-CN" sz="1800" spc="-5">
                          <a:effectLst/>
                          <a:latin typeface="SimHei" panose="02010609060101010101" pitchFamily="49" charset="-122"/>
                          <a:ea typeface="SimHei" panose="02010609060101010101" pitchFamily="49" charset="-122"/>
                        </a:rPr>
                        <a:t>二十碳烯共聚物</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14325" marR="0" eaLnBrk="0">
                        <a:lnSpc>
                          <a:spcPts val="2455"/>
                        </a:lnSpc>
                        <a:spcBef>
                          <a:spcPts val="780"/>
                        </a:spcBef>
                        <a:spcAft>
                          <a:spcPts val="0"/>
                        </a:spcAft>
                      </a:pPr>
                      <a:r>
                        <a:rPr lang="en-US" sz="1800" spc="-10">
                          <a:effectLst/>
                          <a:latin typeface="SimHei" panose="02010609060101010101" pitchFamily="49" charset="-122"/>
                          <a:ea typeface="SimHei" panose="02010609060101010101" pitchFamily="49" charset="-122"/>
                        </a:rPr>
                        <a:t>0.10</a:t>
                      </a:r>
                      <a:endParaRPr lang="en-US" sz="1800">
                        <a:effectLst/>
                        <a:latin typeface="SimHei" panose="02010609060101010101" pitchFamily="49" charset="-122"/>
                        <a:ea typeface="SimHei" panose="02010609060101010101" pitchFamily="49" charset="-122"/>
                      </a:endParaRPr>
                    </a:p>
                    <a:p>
                      <a:pPr marL="314325" marR="0" eaLnBrk="0">
                        <a:lnSpc>
                          <a:spcPct val="76000"/>
                        </a:lnSpc>
                        <a:spcBef>
                          <a:spcPts val="0"/>
                        </a:spcBef>
                        <a:spcAft>
                          <a:spcPts val="0"/>
                        </a:spcAft>
                      </a:pPr>
                      <a:r>
                        <a:rPr lang="en-US" sz="1800" spc="-10">
                          <a:effectLst/>
                          <a:latin typeface="SimHei" panose="02010609060101010101" pitchFamily="49" charset="-122"/>
                          <a:ea typeface="SimHei" panose="02010609060101010101" pitchFamily="49" charset="-122"/>
                        </a:rPr>
                        <a:t>0.50</a:t>
                      </a:r>
                      <a:endParaRPr lang="en-US" sz="1800">
                        <a:effectLst/>
                        <a:latin typeface="SimHei" panose="02010609060101010101" pitchFamily="49" charset="-122"/>
                        <a:ea typeface="SimHei" panose="02010609060101010101" pitchFamily="49" charset="-122"/>
                      </a:endParaRPr>
                    </a:p>
                    <a:p>
                      <a:pPr marL="314325" marR="0" eaLnBrk="0">
                        <a:lnSpc>
                          <a:spcPct val="76000"/>
                        </a:lnSpc>
                        <a:spcBef>
                          <a:spcPts val="1205"/>
                        </a:spcBef>
                        <a:spcAft>
                          <a:spcPts val="0"/>
                        </a:spcAft>
                      </a:pPr>
                      <a:r>
                        <a:rPr lang="en-US" sz="1800" spc="-10">
                          <a:effectLst/>
                          <a:latin typeface="SimHei" panose="02010609060101010101" pitchFamily="49" charset="-122"/>
                          <a:ea typeface="SimHei" panose="02010609060101010101" pitchFamily="49" charset="-122"/>
                        </a:rPr>
                        <a:t>0.05</a:t>
                      </a:r>
                      <a:endParaRPr lang="en-US" sz="1800">
                        <a:effectLst/>
                        <a:latin typeface="SimHei" panose="02010609060101010101" pitchFamily="49" charset="-122"/>
                        <a:ea typeface="SimHei" panose="02010609060101010101" pitchFamily="49" charset="-122"/>
                      </a:endParaRPr>
                    </a:p>
                    <a:p>
                      <a:pPr marL="314325" marR="0" eaLnBrk="0">
                        <a:lnSpc>
                          <a:spcPct val="76000"/>
                        </a:lnSpc>
                        <a:spcBef>
                          <a:spcPts val="1200"/>
                        </a:spcBef>
                        <a:spcAft>
                          <a:spcPts val="0"/>
                        </a:spcAft>
                      </a:pPr>
                      <a:r>
                        <a:rPr lang="en-US" sz="1800" spc="-25">
                          <a:effectLst/>
                          <a:latin typeface="SimHei" panose="02010609060101010101" pitchFamily="49" charset="-122"/>
                          <a:ea typeface="SimHei" panose="02010609060101010101" pitchFamily="49" charset="-122"/>
                        </a:rPr>
                        <a:t>1.00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743610435"/>
                  </a:ext>
                </a:extLst>
              </a:tr>
              <a:tr h="353889">
                <a:tc>
                  <a:txBody>
                    <a:bodyPr/>
                    <a:lstStyle/>
                    <a:p>
                      <a:pPr marL="208915" marR="0" eaLnBrk="0">
                        <a:lnSpc>
                          <a:spcPct val="92000"/>
                        </a:lnSpc>
                        <a:spcBef>
                          <a:spcPts val="705"/>
                        </a:spcBef>
                        <a:spcAft>
                          <a:spcPts val="0"/>
                        </a:spcAft>
                      </a:pPr>
                      <a:r>
                        <a:rPr lang="en-US" sz="1800" spc="45">
                          <a:effectLst/>
                          <a:latin typeface="SimHei" panose="02010609060101010101" pitchFamily="49" charset="-122"/>
                          <a:ea typeface="SimHei" panose="02010609060101010101" pitchFamily="49" charset="-122"/>
                        </a:rPr>
                        <a:t>B</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7790" marR="0" eaLnBrk="0">
                        <a:lnSpc>
                          <a:spcPct val="92000"/>
                        </a:lnSpc>
                        <a:spcBef>
                          <a:spcPts val="695"/>
                        </a:spcBef>
                        <a:spcAft>
                          <a:spcPts val="0"/>
                        </a:spcAft>
                      </a:pPr>
                      <a:r>
                        <a:rPr lang="zh-CN" sz="1800" spc="-10" dirty="0">
                          <a:effectLst/>
                          <a:latin typeface="SimHei" panose="02010609060101010101" pitchFamily="49" charset="-122"/>
                          <a:ea typeface="SimHei" panose="02010609060101010101" pitchFamily="49" charset="-122"/>
                        </a:rPr>
                        <a:t>硬脂酸</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77825" marR="0" eaLnBrk="0">
                        <a:lnSpc>
                          <a:spcPct val="76000"/>
                        </a:lnSpc>
                        <a:spcBef>
                          <a:spcPts val="970"/>
                        </a:spcBef>
                        <a:spcAft>
                          <a:spcPts val="0"/>
                        </a:spcAft>
                      </a:pPr>
                      <a:r>
                        <a:rPr lang="en-US" sz="1800" spc="-10">
                          <a:effectLst/>
                          <a:latin typeface="SimHei" panose="02010609060101010101" pitchFamily="49" charset="-122"/>
                          <a:ea typeface="SimHei" panose="02010609060101010101" pitchFamily="49" charset="-122"/>
                        </a:rPr>
                        <a:t>0.30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95275" marR="0" eaLnBrk="0">
                        <a:lnSpc>
                          <a:spcPct val="92000"/>
                        </a:lnSpc>
                        <a:spcBef>
                          <a:spcPts val="705"/>
                        </a:spcBef>
                        <a:spcAft>
                          <a:spcPts val="0"/>
                        </a:spcAft>
                      </a:pPr>
                      <a:r>
                        <a:rPr lang="en-US" sz="1800" b="1" spc="45" dirty="0">
                          <a:effectLst/>
                          <a:latin typeface="SimHei" panose="02010609060101010101" pitchFamily="49" charset="-122"/>
                          <a:ea typeface="SimHei" panose="02010609060101010101" pitchFamily="49" charset="-122"/>
                        </a:rPr>
                        <a:t>C</a:t>
                      </a:r>
                      <a:r>
                        <a:rPr lang="zh-CN" sz="1800" b="1" spc="4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ct val="91000"/>
                        </a:lnSpc>
                        <a:spcBef>
                          <a:spcPts val="680"/>
                        </a:spcBef>
                        <a:spcAft>
                          <a:spcPts val="0"/>
                        </a:spcAft>
                      </a:pPr>
                      <a:r>
                        <a:rPr lang="zh-CN" sz="1800" spc="20">
                          <a:effectLst/>
                          <a:latin typeface="SimHei" panose="02010609060101010101" pitchFamily="49" charset="-122"/>
                          <a:ea typeface="SimHei" panose="02010609060101010101" pitchFamily="49" charset="-122"/>
                        </a:rPr>
                        <a:t>防腐剂</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14325" marR="0" eaLnBrk="0">
                        <a:lnSpc>
                          <a:spcPct val="93000"/>
                        </a:lnSpc>
                        <a:spcBef>
                          <a:spcPts val="725"/>
                        </a:spcBef>
                        <a:spcAft>
                          <a:spcPts val="0"/>
                        </a:spcAft>
                      </a:pPr>
                      <a:r>
                        <a:rPr lang="zh-CN" sz="1800" spc="-15" dirty="0">
                          <a:effectLst/>
                          <a:latin typeface="SimHei" panose="02010609060101010101" pitchFamily="49" charset="-122"/>
                          <a:ea typeface="SimHei" panose="02010609060101010101" pitchFamily="49" charset="-122"/>
                        </a:rPr>
                        <a:t>适量</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80315401"/>
                  </a:ext>
                </a:extLst>
              </a:tr>
            </a:tbl>
          </a:graphicData>
        </a:graphic>
      </p:graphicFrame>
    </p:spTree>
    <p:extLst>
      <p:ext uri="{BB962C8B-B14F-4D97-AF65-F5344CB8AC3E}">
        <p14:creationId xmlns:p14="http://schemas.microsoft.com/office/powerpoint/2010/main" val="25590530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全油型防水睫毛膏的配方示例</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graphicFrame>
        <p:nvGraphicFramePr>
          <p:cNvPr id="5" name="表格 4">
            <a:extLst>
              <a:ext uri="{FF2B5EF4-FFF2-40B4-BE49-F238E27FC236}">
                <a16:creationId xmlns:a16="http://schemas.microsoft.com/office/drawing/2014/main" id="{A75337D1-695C-54CD-4681-8B57CFB4D964}"/>
              </a:ext>
            </a:extLst>
          </p:cNvPr>
          <p:cNvGraphicFramePr>
            <a:graphicFrameLocks noGrp="1"/>
          </p:cNvGraphicFramePr>
          <p:nvPr>
            <p:extLst>
              <p:ext uri="{D42A27DB-BD31-4B8C-83A1-F6EECF244321}">
                <p14:modId xmlns:p14="http://schemas.microsoft.com/office/powerpoint/2010/main" val="939312517"/>
              </p:ext>
            </p:extLst>
          </p:nvPr>
        </p:nvGraphicFramePr>
        <p:xfrm>
          <a:off x="182879" y="1926628"/>
          <a:ext cx="8778238" cy="3026898"/>
        </p:xfrm>
        <a:graphic>
          <a:graphicData uri="http://schemas.openxmlformats.org/drawingml/2006/table">
            <a:tbl>
              <a:tblPr firstRow="1" firstCol="1" bandRow="1">
                <a:tableStyleId>{72833802-FEF1-4C79-8D5D-14CF1EAF98D9}</a:tableStyleId>
              </a:tblPr>
              <a:tblGrid>
                <a:gridCol w="2124035">
                  <a:extLst>
                    <a:ext uri="{9D8B030D-6E8A-4147-A177-3AD203B41FA5}">
                      <a16:colId xmlns:a16="http://schemas.microsoft.com/office/drawing/2014/main" val="782123541"/>
                    </a:ext>
                  </a:extLst>
                </a:gridCol>
                <a:gridCol w="2075900">
                  <a:extLst>
                    <a:ext uri="{9D8B030D-6E8A-4147-A177-3AD203B41FA5}">
                      <a16:colId xmlns:a16="http://schemas.microsoft.com/office/drawing/2014/main" val="3721125751"/>
                    </a:ext>
                  </a:extLst>
                </a:gridCol>
                <a:gridCol w="2445971">
                  <a:extLst>
                    <a:ext uri="{9D8B030D-6E8A-4147-A177-3AD203B41FA5}">
                      <a16:colId xmlns:a16="http://schemas.microsoft.com/office/drawing/2014/main" val="743012023"/>
                    </a:ext>
                  </a:extLst>
                </a:gridCol>
                <a:gridCol w="2132332">
                  <a:extLst>
                    <a:ext uri="{9D8B030D-6E8A-4147-A177-3AD203B41FA5}">
                      <a16:colId xmlns:a16="http://schemas.microsoft.com/office/drawing/2014/main" val="822158061"/>
                    </a:ext>
                  </a:extLst>
                </a:gridCol>
              </a:tblGrid>
              <a:tr h="401006">
                <a:tc>
                  <a:txBody>
                    <a:bodyPr/>
                    <a:lstStyle/>
                    <a:p>
                      <a:pPr marL="539115" marR="0" eaLnBrk="0">
                        <a:lnSpc>
                          <a:spcPct val="91000"/>
                        </a:lnSpc>
                        <a:spcBef>
                          <a:spcPts val="475"/>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92125"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713740" marR="0" eaLnBrk="0">
                        <a:lnSpc>
                          <a:spcPct val="91000"/>
                        </a:lnSpc>
                        <a:spcBef>
                          <a:spcPts val="475"/>
                        </a:spcBef>
                        <a:spcAft>
                          <a:spcPts val="0"/>
                        </a:spcAft>
                      </a:pPr>
                      <a:r>
                        <a:rPr lang="zh-CN" sz="1800" spc="20">
                          <a:effectLst/>
                          <a:latin typeface="SimHei" panose="02010609060101010101" pitchFamily="49" charset="-122"/>
                          <a:ea typeface="SimHei" panose="02010609060101010101" pitchFamily="49" charset="-122"/>
                        </a:rPr>
                        <a:t>组分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47675"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983819906"/>
                  </a:ext>
                </a:extLst>
              </a:tr>
              <a:tr h="2625892">
                <a:tc>
                  <a:txBody>
                    <a:bodyPr/>
                    <a:lstStyle/>
                    <a:p>
                      <a:pPr marL="88900" marR="0" eaLnBrk="0">
                        <a:lnSpc>
                          <a:spcPct val="91000"/>
                        </a:lnSpc>
                        <a:spcBef>
                          <a:spcPts val="410"/>
                        </a:spcBef>
                        <a:spcAft>
                          <a:spcPts val="0"/>
                        </a:spcAft>
                      </a:pPr>
                      <a:r>
                        <a:rPr lang="zh-CN" sz="1800" spc="10" dirty="0">
                          <a:effectLst/>
                          <a:latin typeface="SimHei" panose="02010609060101010101" pitchFamily="49" charset="-122"/>
                          <a:ea typeface="SimHei" panose="02010609060101010101" pitchFamily="49" charset="-122"/>
                        </a:rPr>
                        <a:t>异十二烷</a:t>
                      </a:r>
                      <a:endParaRPr lang="en-US" sz="1800" dirty="0">
                        <a:effectLst/>
                        <a:latin typeface="SimHei" panose="02010609060101010101" pitchFamily="49" charset="-122"/>
                        <a:ea typeface="SimHei" panose="02010609060101010101" pitchFamily="49" charset="-122"/>
                      </a:endParaRPr>
                    </a:p>
                    <a:p>
                      <a:pPr marL="88900" marR="0" eaLnBrk="0">
                        <a:lnSpc>
                          <a:spcPts val="2100"/>
                        </a:lnSpc>
                        <a:spcBef>
                          <a:spcPts val="485"/>
                        </a:spcBef>
                        <a:spcAft>
                          <a:spcPts val="0"/>
                        </a:spcAft>
                      </a:pPr>
                      <a:r>
                        <a:rPr lang="zh-CN" altLang="en-US" sz="1800" spc="5" dirty="0">
                          <a:effectLst/>
                          <a:latin typeface="SimHei" panose="02010609060101010101" pitchFamily="49" charset="-122"/>
                          <a:ea typeface="SimHei" panose="02010609060101010101" pitchFamily="49" charset="-122"/>
                        </a:rPr>
                        <a:t>脂肪</a:t>
                      </a:r>
                      <a:r>
                        <a:rPr lang="zh-CN" sz="1800" spc="5" dirty="0">
                          <a:effectLst/>
                          <a:latin typeface="SimHei" panose="02010609060101010101" pitchFamily="49" charset="-122"/>
                          <a:ea typeface="SimHei" panose="02010609060101010101" pitchFamily="49" charset="-122"/>
                        </a:rPr>
                        <a:t>酸三甘油酯</a:t>
                      </a:r>
                      <a:endParaRPr lang="en-US" sz="1800" dirty="0">
                        <a:effectLst/>
                        <a:latin typeface="SimHei" panose="02010609060101010101" pitchFamily="49" charset="-122"/>
                        <a:ea typeface="SimHei" panose="02010609060101010101" pitchFamily="49" charset="-122"/>
                      </a:endParaRPr>
                    </a:p>
                    <a:p>
                      <a:pPr marL="88900" marR="0" eaLnBrk="0">
                        <a:lnSpc>
                          <a:spcPct val="91000"/>
                        </a:lnSpc>
                        <a:spcBef>
                          <a:spcPts val="0"/>
                        </a:spcBef>
                        <a:spcAft>
                          <a:spcPts val="0"/>
                        </a:spcAft>
                      </a:pPr>
                      <a:r>
                        <a:rPr lang="zh-CN" sz="1800" spc="-10" dirty="0">
                          <a:effectLst/>
                          <a:latin typeface="SimHei" panose="02010609060101010101" pitchFamily="49" charset="-122"/>
                          <a:ea typeface="SimHei" panose="02010609060101010101" pitchFamily="49" charset="-122"/>
                        </a:rPr>
                        <a:t>三十烷基</a:t>
                      </a:r>
                      <a:r>
                        <a:rPr lang="en-US" sz="1800" spc="-10" dirty="0">
                          <a:effectLst/>
                          <a:latin typeface="SimHei" panose="02010609060101010101" pitchFamily="49" charset="-122"/>
                          <a:ea typeface="SimHei" panose="02010609060101010101" pitchFamily="49" charset="-122"/>
                        </a:rPr>
                        <a:t>PVP</a:t>
                      </a:r>
                      <a:endParaRPr lang="en-US" sz="1800" dirty="0">
                        <a:effectLst/>
                        <a:latin typeface="SimHei" panose="02010609060101010101" pitchFamily="49" charset="-122"/>
                        <a:ea typeface="SimHei" panose="02010609060101010101" pitchFamily="49" charset="-122"/>
                      </a:endParaRPr>
                    </a:p>
                    <a:p>
                      <a:pPr marL="88900" marR="0" eaLnBrk="0">
                        <a:lnSpc>
                          <a:spcPct val="91000"/>
                        </a:lnSpc>
                        <a:spcBef>
                          <a:spcPts val="575"/>
                        </a:spcBef>
                        <a:spcAft>
                          <a:spcPts val="0"/>
                        </a:spcAft>
                      </a:pPr>
                      <a:r>
                        <a:rPr lang="zh-CN" sz="1800" spc="25" dirty="0">
                          <a:effectLst/>
                          <a:latin typeface="SimHei" panose="02010609060101010101" pitchFamily="49" charset="-122"/>
                          <a:ea typeface="SimHei" panose="02010609060101010101" pitchFamily="49" charset="-122"/>
                        </a:rPr>
                        <a:t>聚乙烯蜡</a:t>
                      </a:r>
                      <a:r>
                        <a:rPr lang="en-US" sz="1800" spc="25" dirty="0">
                          <a:effectLst/>
                          <a:latin typeface="SimHei" panose="02010609060101010101" pitchFamily="49" charset="-122"/>
                          <a:ea typeface="SimHei" panose="02010609060101010101" pitchFamily="49" charset="-122"/>
                        </a:rPr>
                        <a:t>(</a:t>
                      </a:r>
                      <a:r>
                        <a:rPr lang="zh-CN" sz="1800" spc="25" dirty="0">
                          <a:effectLst/>
                          <a:latin typeface="SimHei" panose="02010609060101010101" pitchFamily="49" charset="-122"/>
                          <a:ea typeface="SimHei" panose="02010609060101010101" pitchFamily="49" charset="-122"/>
                        </a:rPr>
                        <a:t>高熔点</a:t>
                      </a:r>
                      <a:r>
                        <a:rPr lang="en-US" sz="1800" spc="25" dirty="0">
                          <a:effectLst/>
                          <a:latin typeface="SimHei" panose="02010609060101010101" pitchFamily="49" charset="-122"/>
                          <a:ea typeface="SimHei" panose="02010609060101010101" pitchFamily="49" charset="-122"/>
                        </a:rPr>
                        <a:t>)</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00075" marR="0" eaLnBrk="0">
                        <a:lnSpc>
                          <a:spcPts val="2185"/>
                        </a:lnSpc>
                        <a:spcBef>
                          <a:spcPts val="530"/>
                        </a:spcBef>
                        <a:spcAft>
                          <a:spcPts val="0"/>
                        </a:spcAft>
                      </a:pPr>
                      <a:r>
                        <a:rPr lang="zh-CN" sz="1800" spc="15">
                          <a:effectLst/>
                          <a:latin typeface="SimHei" panose="02010609060101010101" pitchFamily="49" charset="-122"/>
                          <a:ea typeface="SimHei" panose="02010609060101010101" pitchFamily="49" charset="-122"/>
                        </a:rPr>
                        <a:t>加至</a:t>
                      </a:r>
                      <a:r>
                        <a:rPr lang="en-US" sz="1800" spc="15">
                          <a:effectLst/>
                          <a:latin typeface="SimHei" panose="02010609060101010101" pitchFamily="49" charset="-122"/>
                          <a:ea typeface="SimHei" panose="02010609060101010101" pitchFamily="49" charset="-122"/>
                        </a:rPr>
                        <a:t>100</a:t>
                      </a:r>
                      <a:endParaRPr lang="en-US" sz="1800">
                        <a:effectLst/>
                        <a:latin typeface="SimHei" panose="02010609060101010101" pitchFamily="49" charset="-122"/>
                        <a:ea typeface="SimHei" panose="02010609060101010101" pitchFamily="49" charset="-122"/>
                      </a:endParaRPr>
                    </a:p>
                    <a:p>
                      <a:pPr marL="822325" marR="0" eaLnBrk="0">
                        <a:lnSpc>
                          <a:spcPct val="75000"/>
                        </a:lnSpc>
                        <a:spcBef>
                          <a:spcPts val="0"/>
                        </a:spcBef>
                        <a:spcAft>
                          <a:spcPts val="0"/>
                        </a:spcAft>
                      </a:pPr>
                      <a:r>
                        <a:rPr lang="en-US" sz="1800">
                          <a:effectLst/>
                          <a:latin typeface="SimHei" panose="02010609060101010101" pitchFamily="49" charset="-122"/>
                          <a:ea typeface="SimHei" panose="02010609060101010101" pitchFamily="49" charset="-122"/>
                        </a:rPr>
                        <a:t>7</a:t>
                      </a:r>
                    </a:p>
                    <a:p>
                      <a:pPr marL="784225" marR="0" eaLnBrk="0">
                        <a:lnSpc>
                          <a:spcPts val="1950"/>
                        </a:lnSpc>
                        <a:spcBef>
                          <a:spcPts val="855"/>
                        </a:spcBef>
                        <a:spcAft>
                          <a:spcPts val="0"/>
                        </a:spcAft>
                      </a:pPr>
                      <a:r>
                        <a:rPr lang="en-US" sz="1800" spc="-35">
                          <a:effectLst/>
                          <a:latin typeface="SimHei" panose="02010609060101010101" pitchFamily="49" charset="-122"/>
                          <a:ea typeface="SimHei" panose="02010609060101010101" pitchFamily="49" charset="-122"/>
                        </a:rPr>
                        <a:t>12</a:t>
                      </a:r>
                      <a:endParaRPr lang="en-US" sz="1800">
                        <a:effectLst/>
                        <a:latin typeface="SimHei" panose="02010609060101010101" pitchFamily="49" charset="-122"/>
                        <a:ea typeface="SimHei" panose="02010609060101010101" pitchFamily="49" charset="-122"/>
                      </a:endParaRPr>
                    </a:p>
                    <a:p>
                      <a:pPr marL="784225" marR="0" eaLnBrk="0">
                        <a:lnSpc>
                          <a:spcPct val="76000"/>
                        </a:lnSpc>
                        <a:spcBef>
                          <a:spcPts val="0"/>
                        </a:spcBef>
                        <a:spcAft>
                          <a:spcPts val="0"/>
                        </a:spcAft>
                      </a:pPr>
                      <a:r>
                        <a:rPr lang="en-US" sz="1800" spc="-35">
                          <a:effectLst/>
                          <a:latin typeface="SimHei" panose="02010609060101010101" pitchFamily="49" charset="-122"/>
                          <a:ea typeface="SimHei" panose="02010609060101010101" pitchFamily="49" charset="-122"/>
                        </a:rPr>
                        <a:t>15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140" marR="0" eaLnBrk="0">
                        <a:lnSpc>
                          <a:spcPct val="91000"/>
                        </a:lnSpc>
                        <a:spcBef>
                          <a:spcPts val="560"/>
                        </a:spcBef>
                        <a:spcAft>
                          <a:spcPts val="0"/>
                        </a:spcAft>
                      </a:pPr>
                      <a:r>
                        <a:rPr lang="zh-CN" sz="1800" b="1" spc="-5" dirty="0">
                          <a:effectLst/>
                          <a:latin typeface="SimHei" panose="02010609060101010101" pitchFamily="49" charset="-122"/>
                          <a:ea typeface="SimHei" panose="02010609060101010101" pitchFamily="49" charset="-122"/>
                        </a:rPr>
                        <a:t>季铵盐</a:t>
                      </a:r>
                      <a:r>
                        <a:rPr lang="en-US" sz="1800" b="1" spc="-5" dirty="0">
                          <a:effectLst/>
                          <a:latin typeface="SimHei" panose="02010609060101010101" pitchFamily="49" charset="-122"/>
                          <a:ea typeface="SimHei" panose="02010609060101010101" pitchFamily="49" charset="-122"/>
                        </a:rPr>
                        <a:t>-18</a:t>
                      </a:r>
                      <a:r>
                        <a:rPr lang="zh-CN" sz="1800" b="1" spc="-5" dirty="0">
                          <a:effectLst/>
                          <a:latin typeface="SimHei" panose="02010609060101010101" pitchFamily="49" charset="-122"/>
                          <a:ea typeface="SimHei" panose="02010609060101010101" pitchFamily="49" charset="-122"/>
                        </a:rPr>
                        <a:t>水辉石</a:t>
                      </a:r>
                      <a:endParaRPr lang="en-US" sz="1800" b="1" dirty="0">
                        <a:effectLst/>
                        <a:latin typeface="SimHei" panose="02010609060101010101" pitchFamily="49" charset="-122"/>
                        <a:ea typeface="SimHei" panose="02010609060101010101" pitchFamily="49" charset="-122"/>
                      </a:endParaRPr>
                    </a:p>
                    <a:p>
                      <a:pPr marL="104140" marR="0" eaLnBrk="0">
                        <a:lnSpc>
                          <a:spcPts val="1955"/>
                        </a:lnSpc>
                        <a:spcBef>
                          <a:spcPts val="580"/>
                        </a:spcBef>
                        <a:spcAft>
                          <a:spcPts val="0"/>
                        </a:spcAft>
                      </a:pPr>
                      <a:r>
                        <a:rPr lang="en-US" sz="1800" b="1" dirty="0">
                          <a:effectLst/>
                          <a:latin typeface="SimHei" panose="02010609060101010101" pitchFamily="49" charset="-122"/>
                          <a:ea typeface="SimHei" panose="02010609060101010101" pitchFamily="49" charset="-122"/>
                        </a:rPr>
                        <a:t>CI</a:t>
                      </a:r>
                      <a:r>
                        <a:rPr lang="en-US" sz="1800" b="1" spc="15" dirty="0">
                          <a:effectLst/>
                          <a:latin typeface="SimHei" panose="02010609060101010101" pitchFamily="49" charset="-122"/>
                          <a:ea typeface="SimHei" panose="02010609060101010101" pitchFamily="49" charset="-122"/>
                        </a:rPr>
                        <a:t>77499(</a:t>
                      </a:r>
                      <a:r>
                        <a:rPr lang="zh-CN" sz="1800" b="1" spc="15" dirty="0">
                          <a:effectLst/>
                          <a:latin typeface="SimHei" panose="02010609060101010101" pitchFamily="49" charset="-122"/>
                          <a:ea typeface="SimHei" panose="02010609060101010101" pitchFamily="49" charset="-122"/>
                        </a:rPr>
                        <a:t>黑色氧化铁</a:t>
                      </a:r>
                      <a:r>
                        <a:rPr lang="en-US" sz="1800" b="1" spc="15" dirty="0">
                          <a:effectLst/>
                          <a:latin typeface="SimHei" panose="02010609060101010101" pitchFamily="49" charset="-122"/>
                          <a:ea typeface="SimHei" panose="02010609060101010101" pitchFamily="49" charset="-122"/>
                        </a:rPr>
                        <a:t>)</a:t>
                      </a:r>
                      <a:endParaRPr lang="en-US" sz="1800" b="1" dirty="0">
                        <a:effectLst/>
                        <a:latin typeface="SimHei" panose="02010609060101010101" pitchFamily="49" charset="-122"/>
                        <a:ea typeface="SimHei" panose="02010609060101010101" pitchFamily="49" charset="-122"/>
                      </a:endParaRPr>
                    </a:p>
                    <a:p>
                      <a:pPr marL="104140" marR="0" eaLnBrk="0">
                        <a:lnSpc>
                          <a:spcPct val="91000"/>
                        </a:lnSpc>
                        <a:spcBef>
                          <a:spcPts val="0"/>
                        </a:spcBef>
                        <a:spcAft>
                          <a:spcPts val="0"/>
                        </a:spcAft>
                      </a:pPr>
                      <a:r>
                        <a:rPr lang="zh-CN" sz="1800" b="1" spc="10" dirty="0">
                          <a:effectLst/>
                          <a:latin typeface="SimHei" panose="02010609060101010101" pitchFamily="49" charset="-122"/>
                          <a:ea typeface="SimHei" panose="02010609060101010101" pitchFamily="49" charset="-122"/>
                        </a:rPr>
                        <a:t>碳酸丙二醇酯</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771525" marR="0" eaLnBrk="0">
                        <a:lnSpc>
                          <a:spcPct val="76000"/>
                        </a:lnSpc>
                        <a:spcBef>
                          <a:spcPts val="805"/>
                        </a:spcBef>
                        <a:spcAft>
                          <a:spcPts val="0"/>
                        </a:spcAft>
                      </a:pPr>
                      <a:r>
                        <a:rPr lang="en-US" sz="1800" dirty="0">
                          <a:effectLst/>
                          <a:latin typeface="SimHei" panose="02010609060101010101" pitchFamily="49" charset="-122"/>
                          <a:ea typeface="SimHei" panose="02010609060101010101" pitchFamily="49" charset="-122"/>
                        </a:rPr>
                        <a:t>8</a:t>
                      </a:r>
                    </a:p>
                    <a:p>
                      <a:pPr marL="739775" marR="0" eaLnBrk="0">
                        <a:lnSpc>
                          <a:spcPts val="1640"/>
                        </a:lnSpc>
                        <a:spcBef>
                          <a:spcPts val="855"/>
                        </a:spcBef>
                        <a:spcAft>
                          <a:spcPts val="0"/>
                        </a:spcAft>
                      </a:pPr>
                      <a:r>
                        <a:rPr lang="en-US" sz="1800" spc="-35" dirty="0">
                          <a:effectLst/>
                          <a:latin typeface="SimHei" panose="02010609060101010101" pitchFamily="49" charset="-122"/>
                          <a:ea typeface="SimHei" panose="02010609060101010101" pitchFamily="49" charset="-122"/>
                        </a:rPr>
                        <a:t>12</a:t>
                      </a:r>
                      <a:endParaRPr lang="en-US" sz="1800" dirty="0">
                        <a:effectLst/>
                        <a:latin typeface="SimHei" panose="02010609060101010101" pitchFamily="49" charset="-122"/>
                        <a:ea typeface="SimHei" panose="02010609060101010101" pitchFamily="49" charset="-122"/>
                      </a:endParaRPr>
                    </a:p>
                    <a:p>
                      <a:pPr marL="663575" marR="0" eaLnBrk="0">
                        <a:lnSpc>
                          <a:spcPct val="93000"/>
                        </a:lnSpc>
                        <a:spcBef>
                          <a:spcPts val="0"/>
                        </a:spcBef>
                        <a:spcAft>
                          <a:spcPts val="0"/>
                        </a:spcAft>
                      </a:pPr>
                      <a:r>
                        <a:rPr lang="zh-CN" sz="1800" spc="-15" dirty="0">
                          <a:effectLst/>
                          <a:latin typeface="SimHei" panose="02010609060101010101" pitchFamily="49" charset="-122"/>
                          <a:ea typeface="SimHei" panose="02010609060101010101" pitchFamily="49" charset="-122"/>
                        </a:rPr>
                        <a:t>适量</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685444758"/>
                  </a:ext>
                </a:extLst>
              </a:tr>
            </a:tbl>
          </a:graphicData>
        </a:graphic>
      </p:graphicFrame>
    </p:spTree>
    <p:extLst>
      <p:ext uri="{BB962C8B-B14F-4D97-AF65-F5344CB8AC3E}">
        <p14:creationId xmlns:p14="http://schemas.microsoft.com/office/powerpoint/2010/main" val="31875205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80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标题</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285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文字</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Text</a:t>
            </a:r>
          </a:p>
        </p:txBody>
      </p:sp>
      <p:sp>
        <p:nvSpPr>
          <p:cNvPr id="5" name="矩形 4">
            <a:extLst>
              <a:ext uri="{FF2B5EF4-FFF2-40B4-BE49-F238E27FC236}">
                <a16:creationId xmlns:a16="http://schemas.microsoft.com/office/drawing/2014/main" id="{0C22E417-EB5F-FAA1-6FE9-6089C64CC90A}"/>
              </a:ext>
            </a:extLst>
          </p:cNvPr>
          <p:cNvSpPr/>
          <p:nvPr/>
        </p:nvSpPr>
        <p:spPr>
          <a:xfrm>
            <a:off x="5462534" y="2049410"/>
            <a:ext cx="3253588" cy="1194567"/>
          </a:xfrm>
          <a:prstGeom prst="rect">
            <a:avLst/>
          </a:prstGeom>
          <a:solidFill>
            <a:schemeClr val="bg1"/>
          </a:solidFill>
          <a:ln w="25400">
            <a:solidFill>
              <a:schemeClr val="tx1"/>
            </a:solidFill>
          </a:ln>
        </p:spPr>
        <p:txBody>
          <a:bodyPr rtlCol="0" anchor="ctr"/>
          <a:lstStyle/>
          <a:p>
            <a:pPr algn="ctr"/>
            <a:endParaRPr lang="en-US"/>
          </a:p>
        </p:txBody>
      </p:sp>
    </p:spTree>
    <p:extLst>
      <p:ext uri="{BB962C8B-B14F-4D97-AF65-F5344CB8AC3E}">
        <p14:creationId xmlns:p14="http://schemas.microsoft.com/office/powerpoint/2010/main" val="160954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默认设计模板_2">
  <a:themeElements>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_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25400">
          <a:solidFill>
            <a:schemeClr val="tx1"/>
          </a:solidFill>
        </a:ln>
      </a:spPr>
      <a:bodyPr rtlCol="0" anchor="ctr"/>
      <a:lstStyle>
        <a:defPPr algn="ctr">
          <a:defRPr/>
        </a:defPPr>
      </a:lstStyle>
    </a:spDef>
    <a:lnDef>
      <a:spPr bwMode="auto">
        <a:solidFill>
          <a:schemeClr val="accent1"/>
        </a:solidFill>
        <a:ln w="25400" cap="flat" cmpd="sng" algn="ctr">
          <a:solidFill>
            <a:schemeClr val="tx1"/>
          </a:solidFill>
          <a:prstDash val="solid"/>
          <a:round/>
          <a:headEnd type="none" w="med" len="med"/>
          <a:tailEnd type="stealth" w="lg" len="lg"/>
        </a:ln>
        <a:effectLst/>
      </a:spPr>
      <a:bodyPr/>
      <a:lstStyle/>
    </a:ln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59589</TotalTime>
  <Pages>0</Pages>
  <Words>9040</Words>
  <Characters>0</Characters>
  <Application>Microsoft Office PowerPoint</Application>
  <DocSecurity>0</DocSecurity>
  <PresentationFormat>全屏显示(4:3)</PresentationFormat>
  <Lines>0</Lines>
  <Paragraphs>753</Paragraphs>
  <Slides>80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80</vt:i4>
      </vt:variant>
    </vt:vector>
  </HeadingPairs>
  <TitlesOfParts>
    <vt:vector size="86" baseType="lpstr">
      <vt:lpstr>Adobe 黑体 Std R</vt:lpstr>
      <vt:lpstr>KaiTi</vt:lpstr>
      <vt:lpstr>Microsoft JhengHei</vt:lpstr>
      <vt:lpstr>SimHei</vt:lpstr>
      <vt:lpstr>Arial</vt:lpstr>
      <vt:lpstr>默认设计模板_2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
  <cp:lastModifiedBy>yanqifan@pku.edu.cn</cp:lastModifiedBy>
  <cp:revision>1421</cp:revision>
  <cp:lastPrinted>2020-04-24T02:07:11Z</cp:lastPrinted>
  <dcterms:created xsi:type="dcterms:W3CDTF">2012-03-24T04:10:06Z</dcterms:created>
  <dcterms:modified xsi:type="dcterms:W3CDTF">2025-12-15T12:56:57Z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2052-9.1.0.4517</vt:lpwstr>
  </property>
</Properties>
</file>