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5"/>
  </p:notesMasterIdLst>
  <p:sldIdLst>
    <p:sldId id="1127" r:id="rId2"/>
    <p:sldId id="1133" r:id="rId3"/>
    <p:sldId id="1180" r:id="rId4"/>
    <p:sldId id="1183" r:id="rId5"/>
    <p:sldId id="1184" r:id="rId6"/>
    <p:sldId id="1185" r:id="rId7"/>
    <p:sldId id="1187" r:id="rId8"/>
    <p:sldId id="1186" r:id="rId9"/>
    <p:sldId id="1182" r:id="rId10"/>
    <p:sldId id="1181" r:id="rId11"/>
    <p:sldId id="1188" r:id="rId12"/>
    <p:sldId id="1189" r:id="rId13"/>
    <p:sldId id="1179" r:id="rId14"/>
  </p:sldIdLst>
  <p:sldSz cx="9144000" cy="6858000" type="screen4x3"/>
  <p:notesSz cx="6858000" cy="9947275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8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00FF"/>
    <a:srgbClr val="008000"/>
    <a:srgbClr val="00FF00"/>
    <a:srgbClr val="FF6600"/>
    <a:srgbClr val="FFFF00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473" autoAdjust="0"/>
  </p:normalViewPr>
  <p:slideViewPr>
    <p:cSldViewPr snapToGrid="0">
      <p:cViewPr varScale="1">
        <p:scale>
          <a:sx n="61" d="100"/>
          <a:sy n="61" d="100"/>
        </p:scale>
        <p:origin x="930" y="66"/>
      </p:cViewPr>
      <p:guideLst>
        <p:guide orient="horz" pos="2138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198" cy="7619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BE4076EE-FE68-43AE-99C5-A81FDE8C2F8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70213" cy="497364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buFont typeface="Arial" charset="0"/>
              <a:buNone/>
              <a:defRPr sz="1200">
                <a:latin typeface="Arial" charset="0"/>
                <a:ea typeface="宋体" charset="0"/>
                <a:cs typeface="宋体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9F48D32A-919E-48D2-B1E8-51EAC1B42BD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3025" y="0"/>
            <a:ext cx="2973388" cy="497364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charset="0"/>
              <a:buNone/>
              <a:defRPr sz="1200">
                <a:latin typeface="Arial" charset="0"/>
                <a:ea typeface="宋体" charset="0"/>
                <a:cs typeface="宋体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D34AD48D-B12D-4736-AF44-05EE8E9247E8}"/>
              </a:ext>
            </a:extLst>
          </p:cNvPr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942975" y="746125"/>
            <a:ext cx="4972050" cy="373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EC3AA012-CFE6-4520-8A8E-13DDAFFDCFAA}"/>
              </a:ext>
            </a:extLst>
          </p:cNvPr>
          <p:cNvSpPr>
            <a:spLocks noGrp="1" noRot="1" noChangeArrowheads="1"/>
          </p:cNvSpPr>
          <p:nvPr>
            <p:ph type="body" sz="quarter" idx="3"/>
          </p:nvPr>
        </p:nvSpPr>
        <p:spPr bwMode="auto">
          <a:xfrm>
            <a:off x="685800" y="4724956"/>
            <a:ext cx="5486400" cy="4476274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  <a:endParaRPr lang="en-US" altLang="zh-CN" noProof="0"/>
          </a:p>
          <a:p>
            <a:pPr lvl="1"/>
            <a:r>
              <a:rPr lang="zh-CN" altLang="en-US" noProof="0"/>
              <a:t>第二级</a:t>
            </a:r>
            <a:endParaRPr lang="en-US" altLang="zh-CN" noProof="0"/>
          </a:p>
          <a:p>
            <a:pPr lvl="2"/>
            <a:r>
              <a:rPr lang="zh-CN" altLang="en-US" noProof="0"/>
              <a:t>第三级</a:t>
            </a:r>
            <a:endParaRPr lang="en-US" altLang="zh-CN" noProof="0"/>
          </a:p>
          <a:p>
            <a:pPr lvl="3"/>
            <a:r>
              <a:rPr lang="zh-CN" altLang="en-US" noProof="0"/>
              <a:t>第四级</a:t>
            </a:r>
            <a:endParaRPr lang="en-US" altLang="zh-CN" noProof="0"/>
          </a:p>
          <a:p>
            <a:pPr lvl="4"/>
            <a:r>
              <a:rPr lang="zh-CN" altLang="en-US" noProof="0"/>
              <a:t>第五级</a:t>
            </a:r>
            <a:endParaRPr lang="en-US" altLang="zh-CN" noProof="0"/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900D91B0-938D-43D2-B4A5-04218A09BCE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48185"/>
            <a:ext cx="2970213" cy="497364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buFont typeface="Arial" charset="0"/>
              <a:buNone/>
              <a:defRPr sz="1200">
                <a:latin typeface="Arial" charset="0"/>
                <a:ea typeface="宋体" charset="0"/>
                <a:cs typeface="宋体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460084FF-D1F9-4991-8BEC-52A9C4629F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3025" y="9448185"/>
            <a:ext cx="2973388" cy="497364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200">
                <a:ea typeface="SimSun" panose="02010600030101010101" pitchFamily="2" charset="-122"/>
              </a:defRPr>
            </a:lvl1pPr>
          </a:lstStyle>
          <a:p>
            <a:pPr>
              <a:defRPr/>
            </a:pPr>
            <a:fld id="{778C1415-F545-4EAF-A725-72D26972220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SimSun" panose="02010600030101010101" pitchFamily="2" charset="-122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SimSun" panose="02010600030101010101" pitchFamily="2" charset="-122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SimSun" panose="02010600030101010101" pitchFamily="2" charset="-122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SimSun" panose="02010600030101010101" pitchFamily="2" charset="-122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SimSun" panose="02010600030101010101" pitchFamily="2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258F932-2890-466A-B7FD-D54B5E428C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C6CDF12-C462-4CCB-A356-28A7F58EA67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56ABFEF-8D30-40EE-85CE-F956A80A477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ACF02D-BD2B-41A3-A43A-08279D48516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21212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153F3F7-AC56-4FF9-B43F-CF4FBD8658D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3031F05-997D-49D6-A3A7-B3CFD738767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8907D21-A66F-4D72-8CDD-4E3976303BA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AE9027-F3D1-4C9B-9224-74565BAB0F9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71907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7D94C75-0E5B-4C8C-8A85-61C6E7B650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655DBC5-C64C-4A22-B684-D5ED958D0EC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A1FB95A-9604-4FE1-9D3A-7F2FF52535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EA35FE-6C29-4C46-8B53-D31BCACACDA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71400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C559C9-402E-49B6-972F-BA454CAB79D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D5592F-244A-426B-AE54-C75B816AAF9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71A969-1188-4E27-94E7-7C97008B70A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BEFB40-825F-4796-972A-72776875975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4853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7852098-092B-4191-91AC-47E76367E5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2835333-50B1-47AA-8BD8-9180F0B6EF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306042E5-AB1C-4E74-A4F2-A3A8A16B76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06A27F-7434-4140-BAD3-3CE749CFA59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0043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CC065B87-4760-410D-9B8A-0031A9CAF7C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54285A1-172E-4738-9540-9201D81FBB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AEB86D3-7468-4211-8791-ECFAAFE185B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94F624-5205-4AAE-AE23-807F393407F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72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5C77E13B-72D9-470A-A1FF-022BA31FDD0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551F784-F8A4-4306-B383-E8C5305331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5B2EE31-B659-4A2E-A5F7-4B33CE05572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315612-C62D-4AEB-B509-25ACC8E173B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21404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30B0F8-9AD5-4FFB-BAA3-1A9121D7747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99C597-8A04-4988-B2BC-BC7245954CD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FA4472-FF9F-4640-A6AA-A22E92CDF4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68E671-225C-4CFC-9C8F-6FC8794CFFD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2910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8497F1-318E-4118-8ADB-DC9B25B0626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3987DB-7905-42B3-92B5-1E55EC54476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771812-8A9A-4030-9354-C31CAB44A21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C1CC3E-3A36-4EA1-8FDF-FCBC759A998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70931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A0C0EC6-7BCF-4048-853F-1E8529DAA4B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DA18239-816F-4A76-A6F8-54BB7DC23A4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0D12BE1-4C58-4ED6-B698-E499CC12A8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79DB30-7045-4D36-B14A-80846535937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56350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96751CC-D93A-4811-9EB6-52F2917DE16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252C067-7BB3-43EC-89D8-A7FA4AB2AD9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383FF4B-04D2-4813-BCA2-8E3C22F5318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5BCAFB-D2B0-4266-B070-58FF8190BD8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0121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98ED485-6AA5-423E-A45F-DF87DF13AA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F87A2F6-7A58-428B-8C9D-135F10D749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  <a:endParaRPr lang="en-US" altLang="zh-CN"/>
          </a:p>
          <a:p>
            <a:pPr lvl="1"/>
            <a:r>
              <a:rPr lang="zh-CN" altLang="en-US"/>
              <a:t>第二级</a:t>
            </a:r>
            <a:endParaRPr lang="en-US" altLang="zh-CN"/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54FEE0AA-F66C-44D7-A2CF-E2A7D71EF92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buFont typeface="Arial" charset="0"/>
              <a:buNone/>
              <a:defRPr sz="1400">
                <a:latin typeface="Arial" charset="0"/>
                <a:ea typeface="宋体" charset="0"/>
                <a:cs typeface="宋体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02B35E2B-65B8-403C-BFDA-3A5BA16A2D3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buFont typeface="Arial" charset="0"/>
              <a:buNone/>
              <a:defRPr sz="1400">
                <a:latin typeface="Arial" charset="0"/>
                <a:ea typeface="宋体" charset="0"/>
                <a:cs typeface="宋体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844184CE-A564-44F9-A27E-2DDE5988ED9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400">
                <a:ea typeface="SimSun" panose="02010600030101010101" pitchFamily="2" charset="-122"/>
              </a:defRPr>
            </a:lvl1pPr>
          </a:lstStyle>
          <a:p>
            <a:pPr>
              <a:defRPr/>
            </a:pPr>
            <a:fld id="{F5F2B2FA-3BF5-48AF-AA11-EF51B337F4E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MS PGothic" panose="020B0600070205080204" pitchFamily="34" charset="-128"/>
          <a:cs typeface="SimSun" panose="02010600030101010101" pitchFamily="2" charset="-122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MS PGothic" panose="020B0600070205080204" pitchFamily="34" charset="-128"/>
          <a:cs typeface="SimSun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MS PGothic" panose="020B0600070205080204" pitchFamily="34" charset="-128"/>
          <a:cs typeface="SimSun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MS PGothic" panose="020B0600070205080204" pitchFamily="34" charset="-128"/>
          <a:cs typeface="SimSun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MS PGothic" panose="020B0600070205080204" pitchFamily="34" charset="-128"/>
          <a:cs typeface="SimSun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MS PGothic" panose="020B0600070205080204" pitchFamily="34" charset="-128"/>
          <a:cs typeface="SimSun" panose="02010600030101010101" pitchFamily="2" charset="-12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SimSun" panose="02010600030101010101" pitchFamily="2" charset="-122"/>
          <a:cs typeface="SimSun" panose="02010600030101010101" pitchFamily="2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SimSun" panose="02010600030101010101" pitchFamily="2" charset="-122"/>
          <a:cs typeface="SimSun" panose="02010600030101010101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SimSun" panose="02010600030101010101" pitchFamily="2" charset="-122"/>
          <a:cs typeface="SimSun" panose="0201060003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SimSun" panose="02010600030101010101" pitchFamily="2" charset="-122"/>
          <a:cs typeface="SimSun" panose="02010600030101010101" pitchFamily="2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topics/materials-science/surface-active-agent" TargetMode="External"/><Relationship Id="rId2" Type="http://schemas.openxmlformats.org/officeDocument/2006/relationships/hyperlink" Target="https://www.sciencedirect.com/topics/pharmacology-toxicology-and-pharmaceutical-science/cashew-nut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sciencedirect.com/topics/pharmacology-toxicology-and-pharmaceutical-science/monomer" TargetMode="External"/><Relationship Id="rId4" Type="http://schemas.openxmlformats.org/officeDocument/2006/relationships/hyperlink" Target="https://www.sciencedirect.com/topics/pharmacology-toxicology-and-pharmaceutical-science/plasticizer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ciencedirect.com/topics/pharmacology-toxicology-and-pharmaceutical-science/alkadiene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C8A27B77-DB4B-42EA-A92A-73A776DB80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997839"/>
            <a:ext cx="7315200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6000" dirty="0">
                <a:latin typeface="SimHei" panose="02010609060101010101" pitchFamily="49" charset="-122"/>
                <a:ea typeface="SimHei" panose="02010609060101010101" pitchFamily="49" charset="-122"/>
                <a:cs typeface="Adobe 黑体 Std R" charset="-122"/>
              </a:rPr>
              <a:t>BGF-117</a:t>
            </a:r>
            <a:r>
              <a:rPr lang="zh-CN" altLang="en-US" sz="6000" dirty="0">
                <a:latin typeface="SimHei" panose="02010609060101010101" pitchFamily="49" charset="-122"/>
                <a:ea typeface="SimHei" panose="02010609060101010101" pitchFamily="49" charset="-122"/>
                <a:cs typeface="Adobe 黑体 Std R" charset="-122"/>
              </a:rPr>
              <a:t>：腰果酚聚氧乙烯醚</a:t>
            </a:r>
            <a:endParaRPr lang="en-US" altLang="zh-CN" sz="6000" dirty="0">
              <a:latin typeface="SimHei" panose="02010609060101010101" pitchFamily="49" charset="-122"/>
              <a:ea typeface="SimHei" panose="02010609060101010101" pitchFamily="49" charset="-122"/>
              <a:cs typeface="Adobe 黑体 Std R" charset="-122"/>
            </a:endParaRPr>
          </a:p>
          <a:p>
            <a:pPr algn="ctr">
              <a:spcBef>
                <a:spcPct val="0"/>
              </a:spcBef>
              <a:buFontTx/>
              <a:buNone/>
            </a:pPr>
            <a:endParaRPr lang="en-US" altLang="zh-CN" sz="6000" dirty="0">
              <a:latin typeface="SimHei" panose="02010609060101010101" pitchFamily="49" charset="-122"/>
              <a:ea typeface="SimHei" panose="02010609060101010101" pitchFamily="49" charset="-122"/>
              <a:cs typeface="Adobe 黑体 Std R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77165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F02D5545-9FF7-4A1B-91C2-3C7825ECC6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2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43AD916-BA2E-4705-95C5-6EB560B96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71FA5C29-4814-47CC-A005-273156653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试剂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709C203-AF2B-410D-916E-F68A8A647CD2}"/>
              </a:ext>
            </a:extLst>
          </p:cNvPr>
          <p:cNvSpPr txBox="1"/>
          <p:nvPr/>
        </p:nvSpPr>
        <p:spPr>
          <a:xfrm>
            <a:off x="182880" y="1030057"/>
            <a:ext cx="8778240" cy="1128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上海帮高化学产品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	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环保型乳化剂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BGF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系列（腰果酚聚氧乙烯醚）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9F88FF3-3B32-E61C-9C07-0B2460EA42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96" b="45748"/>
          <a:stretch>
            <a:fillRect/>
          </a:stretch>
        </p:blipFill>
        <p:spPr>
          <a:xfrm>
            <a:off x="294125" y="2411089"/>
            <a:ext cx="3857625" cy="2555048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BF0AF017-FAB0-D948-546C-5213DC76DC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2252" y="2271539"/>
            <a:ext cx="3112647" cy="2834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4F509497-CE53-7733-75C3-B06B6316A9E8}"/>
              </a:ext>
            </a:extLst>
          </p:cNvPr>
          <p:cNvSpPr txBox="1"/>
          <p:nvPr/>
        </p:nvSpPr>
        <p:spPr>
          <a:xfrm>
            <a:off x="4262575" y="545861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http://www.bronkow.com.cn/index.html</a:t>
            </a:r>
          </a:p>
        </p:txBody>
      </p:sp>
    </p:spTree>
    <p:extLst>
      <p:ext uri="{BB962C8B-B14F-4D97-AF65-F5344CB8AC3E}">
        <p14:creationId xmlns:p14="http://schemas.microsoft.com/office/powerpoint/2010/main" val="142200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7BFE1-4007-F61E-FC8E-E7784F90B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225891CE-ACF6-706E-16D0-64A1914A65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3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E3AA5014-FF6E-DE57-BD27-2F3F424217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BBDE6A23-7275-05E8-4D8E-07C37E89D0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腰果酚结构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C4583AF-CC5F-FF27-4DC6-D4F1196427CD}"/>
              </a:ext>
            </a:extLst>
          </p:cNvPr>
          <p:cNvSpPr txBox="1"/>
          <p:nvPr/>
        </p:nvSpPr>
        <p:spPr>
          <a:xfrm>
            <a:off x="182880" y="1030057"/>
            <a:ext cx="8778240" cy="1128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英文名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Cardanol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，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CAS NO.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 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501-26-8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腰果酚结构：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</p:txBody>
      </p:sp>
      <p:pic>
        <p:nvPicPr>
          <p:cNvPr id="2054" name="Picture 6" descr="CAS号501-26-8_腰果酚(C15:1)价格多少钱_英文名及缩写 - 洛克化工网">
            <a:extLst>
              <a:ext uri="{FF2B5EF4-FFF2-40B4-BE49-F238E27FC236}">
                <a16:creationId xmlns:a16="http://schemas.microsoft.com/office/drawing/2014/main" id="{F7AAF148-FD95-D377-C8E4-362AAF6EE5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6950" y="2394388"/>
            <a:ext cx="46101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5218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9B3FC-06C2-6AC8-9EDC-D87426905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D69A6B7E-E775-3C59-D8A4-8D85402529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4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73E98EB6-44B8-65B9-3077-E42C2496C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17D192FE-B726-D747-A553-76C955E845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腰果酚</a:t>
            </a:r>
            <a:r>
              <a:rPr lang="en-US" altLang="zh-CN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Cardanol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3B6430C-66E1-4F56-EB39-3037C4302255}"/>
              </a:ext>
            </a:extLst>
          </p:cNvPr>
          <p:cNvSpPr txBox="1"/>
          <p:nvPr/>
        </p:nvSpPr>
        <p:spPr>
          <a:xfrm>
            <a:off x="182880" y="1233317"/>
            <a:ext cx="877824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Cardanol is a renewable non-edible co-product of </a:t>
            </a:r>
            <a:r>
              <a:rPr lang="en-US" sz="2400" dirty="0">
                <a:hlinkClick r:id="rId2" tooltip="Learn more about cashew nut from ScienceDirect's AI-generated Topic Pages"/>
              </a:rPr>
              <a:t>cashew nut</a:t>
            </a:r>
            <a:r>
              <a:rPr lang="en-US" sz="2400" dirty="0"/>
              <a:t> industry.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This is an abundant renewable resource with unique structure.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Cardanol is gaining increased attention in both industrial and academic communities for the synthesis of additives and polymers.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Cardanol is particularly used as </a:t>
            </a:r>
            <a:r>
              <a:rPr lang="en-US" sz="2400" dirty="0">
                <a:hlinkClick r:id="rId3" tooltip="Learn more about surfactant from ScienceDirect's AI-generated Topic Pages"/>
              </a:rPr>
              <a:t>surfactant</a:t>
            </a:r>
            <a:r>
              <a:rPr lang="en-US" sz="2400" dirty="0"/>
              <a:t>, </a:t>
            </a:r>
            <a:r>
              <a:rPr lang="en-US" sz="2400" dirty="0">
                <a:hlinkClick r:id="rId4" tooltip="Learn more about plasticizer from ScienceDirect's AI-generated Topic Pages"/>
              </a:rPr>
              <a:t>plasticizer</a:t>
            </a:r>
            <a:r>
              <a:rPr lang="en-US" sz="2400" dirty="0"/>
              <a:t>, epoxy or phenolic </a:t>
            </a:r>
            <a:r>
              <a:rPr lang="en-US" sz="2400" dirty="0">
                <a:hlinkClick r:id="rId5" tooltip="Learn more about monomers from ScienceDirect's AI-generated Topic Pages"/>
              </a:rPr>
              <a:t>monomers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72137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63338-A0FA-FF34-3D82-67A34E565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B11F4505-6F26-193B-B469-AF0058063F6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5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F092F514-90BD-936C-4834-403E71288D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70127E7A-5CEE-9C8C-73CC-7C23D5F3EE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腰果酚提取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9FF40A0-F657-5F4C-D837-22F037FEE954}"/>
              </a:ext>
            </a:extLst>
          </p:cNvPr>
          <p:cNvSpPr txBox="1"/>
          <p:nvPr/>
        </p:nvSpPr>
        <p:spPr>
          <a:xfrm>
            <a:off x="182880" y="1030057"/>
            <a:ext cx="8778240" cy="1131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Cardanol comes from Cashew Nutshell Liquid CNSL, co-produced during of cashew nuts industry.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57EFC40-AC7A-4C2B-086A-34DB212374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545" y="2314374"/>
            <a:ext cx="7614909" cy="43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5018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FAA2C-071F-FBE9-DBD6-23B30B6A4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B680CE63-7AD2-8EF7-59E9-D3D6DDB086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6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A003DA15-E146-0CAE-018F-F2C36E863D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4477DCEC-2379-447D-6097-9F4CBC5E46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腰果酚提取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A2617DC-A6CC-9058-0C34-0ACAFFA0F180}"/>
              </a:ext>
            </a:extLst>
          </p:cNvPr>
          <p:cNvSpPr txBox="1"/>
          <p:nvPr/>
        </p:nvSpPr>
        <p:spPr>
          <a:xfrm>
            <a:off x="182880" y="1030057"/>
            <a:ext cx="8778240" cy="1131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CNSL contains four main components: </a:t>
            </a:r>
            <a:r>
              <a:rPr lang="en-US" sz="2400" dirty="0" err="1"/>
              <a:t>anacardic</a:t>
            </a:r>
            <a:r>
              <a:rPr lang="en-US" sz="2400" dirty="0"/>
              <a:t> acid, cardanol, </a:t>
            </a:r>
            <a:r>
              <a:rPr lang="en-US" sz="2400" dirty="0" err="1"/>
              <a:t>cardol</a:t>
            </a:r>
            <a:r>
              <a:rPr lang="en-US" sz="2400" dirty="0"/>
              <a:t> and 2-methyl </a:t>
            </a:r>
            <a:r>
              <a:rPr lang="en-US" sz="2400" dirty="0" err="1"/>
              <a:t>cardol</a:t>
            </a:r>
            <a:r>
              <a:rPr lang="en-US" sz="2400" dirty="0"/>
              <a:t>. 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E627E1E5-D46C-D360-52EC-6AEE7F4523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555" y="2364317"/>
            <a:ext cx="8114889" cy="4140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5489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CC8F1-B6AE-FC77-C56D-4AC2CE424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18D5457C-15B6-E33D-378A-42BE679B4E5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7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306498AF-1789-D10D-A1D8-737C4F5EA1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5183B16B-20B4-DFF3-DFC9-01A28B4954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腰果酚提取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9DDE7F8-A25A-F75C-4576-3B5DB4D8E2B8}"/>
              </a:ext>
            </a:extLst>
          </p:cNvPr>
          <p:cNvSpPr txBox="1"/>
          <p:nvPr/>
        </p:nvSpPr>
        <p:spPr>
          <a:xfrm>
            <a:off x="182880" y="1030057"/>
            <a:ext cx="8778240" cy="4455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Commercial-grade CNSL contains virtually no </a:t>
            </a:r>
            <a:r>
              <a:rPr lang="en-US" sz="2400" dirty="0" err="1"/>
              <a:t>anacardic</a:t>
            </a:r>
            <a:r>
              <a:rPr lang="en-US" sz="2400" dirty="0"/>
              <a:t> acid due to the decarboxylation reaction occurring during the roasting process, which converts </a:t>
            </a:r>
            <a:r>
              <a:rPr lang="en-US" sz="2400" dirty="0" err="1"/>
              <a:t>anacardic</a:t>
            </a:r>
            <a:r>
              <a:rPr lang="en-US" sz="2400" dirty="0"/>
              <a:t> acid to cardanol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CNSL components are themselves mixtures of four constituents differing in the number of side chain </a:t>
            </a:r>
            <a:r>
              <a:rPr lang="en-US" sz="2400" dirty="0" err="1"/>
              <a:t>unsaturations</a:t>
            </a:r>
            <a:r>
              <a:rPr lang="en-US" sz="2400" dirty="0"/>
              <a:t>. Indeed this chain can be saturated (5–8%), or in the form of monoene (48–49%), </a:t>
            </a:r>
            <a:r>
              <a:rPr lang="en-US" sz="2400" dirty="0">
                <a:hlinkClick r:id="rId2" tooltip="Learn more about diene from ScienceDirect's AI-generated Topic Pages"/>
              </a:rPr>
              <a:t>diene</a:t>
            </a:r>
            <a:r>
              <a:rPr lang="en-US" sz="2400" dirty="0"/>
              <a:t> (16–17%) or triene (29–30%) 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63164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5F1D8-8770-EF05-B7C6-D7EB1C8A5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78E7B27D-0A97-68CD-E02E-62C0B693901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8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E129D60C-25A4-24B8-BD2B-D8E7B5BDDE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21C6CB4D-8705-8531-2BCE-9B83D7DB11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腰果酚难以化学合成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2ACF5A-4972-2D9A-E414-BA67EDD779F7}"/>
              </a:ext>
            </a:extLst>
          </p:cNvPr>
          <p:cNvSpPr txBox="1"/>
          <p:nvPr/>
        </p:nvSpPr>
        <p:spPr>
          <a:xfrm>
            <a:off x="182880" y="1134811"/>
            <a:ext cx="8778240" cy="2793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Cardanol is very difficult to obtain according to conventional routes of chemical synthesis insofar as the aliphatic side chain is in the </a:t>
            </a:r>
            <a:r>
              <a:rPr lang="en-US" sz="2400" i="1" dirty="0"/>
              <a:t>meta</a:t>
            </a:r>
            <a:r>
              <a:rPr lang="en-US" sz="2400" dirty="0"/>
              <a:t> position with respect to the phenol group which generally directs all the substitutions in </a:t>
            </a:r>
            <a:r>
              <a:rPr lang="en-US" sz="2400" i="1" dirty="0"/>
              <a:t>ortho</a:t>
            </a:r>
            <a:r>
              <a:rPr lang="en-US" sz="2400" dirty="0"/>
              <a:t> and/or </a:t>
            </a:r>
            <a:r>
              <a:rPr lang="en-US" sz="2400" i="1" dirty="0"/>
              <a:t>para</a:t>
            </a:r>
            <a:r>
              <a:rPr lang="en-US" sz="2400" dirty="0"/>
              <a:t> positions.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38944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7F4B0-F36B-DCE8-4F93-F1CD89DA8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87BD9E9D-929D-A60B-F5E3-55799B2063D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9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14DC8969-69C3-F434-DF4F-94578F0D10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8DD963DD-8EEA-3267-B032-98D7978B09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腰果酚聚氧乙烯醚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75E19ECF-D275-66E5-D0CF-5270E6337D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7172123"/>
              </p:ext>
            </p:extLst>
          </p:nvPr>
        </p:nvGraphicFramePr>
        <p:xfrm>
          <a:off x="805083" y="2499392"/>
          <a:ext cx="7533834" cy="12372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3766917" imgH="618621" progId="ChemDraw.Document.6.0">
                  <p:embed/>
                </p:oleObj>
              </mc:Choice>
              <mc:Fallback>
                <p:oleObj name="CS ChemDraw Drawing" r:id="rId2" imgW="3766917" imgH="618621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05083" y="2499392"/>
                        <a:ext cx="7533834" cy="12372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420E1E56-608C-A470-33FC-3EA7B33E10A5}"/>
              </a:ext>
            </a:extLst>
          </p:cNvPr>
          <p:cNvSpPr txBox="1"/>
          <p:nvPr/>
        </p:nvSpPr>
        <p:spPr>
          <a:xfrm>
            <a:off x="930166" y="3894289"/>
            <a:ext cx="14504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latin typeface="+mn-lt"/>
                <a:ea typeface="SimHei" panose="02010609060101010101" pitchFamily="49" charset="-122"/>
              </a:rPr>
              <a:t>腰果酚</a:t>
            </a:r>
            <a:endParaRPr lang="en-US" sz="20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E614752-6475-4279-4570-8A5FE222BB08}"/>
              </a:ext>
            </a:extLst>
          </p:cNvPr>
          <p:cNvSpPr txBox="1"/>
          <p:nvPr/>
        </p:nvSpPr>
        <p:spPr>
          <a:xfrm>
            <a:off x="5369745" y="3894289"/>
            <a:ext cx="29691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latin typeface="+mn-lt"/>
                <a:ea typeface="SimHei" panose="02010609060101010101" pitchFamily="49" charset="-122"/>
              </a:rPr>
              <a:t>腰果酚聚氧乙烯醚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03090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21243-824A-4C83-ED2E-5F8E8A170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51154483-1FFA-12C4-A779-4EE3145B19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10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0C2318F5-49C6-AF2F-6E3A-2E963FA81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CF8F04C3-F852-27CA-EE43-61763439E8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腰果酚聚氧乙烯醚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C19DE1B-A606-3B67-8FDF-DC1EF7E6F150}"/>
              </a:ext>
            </a:extLst>
          </p:cNvPr>
          <p:cNvSpPr txBox="1"/>
          <p:nvPr/>
        </p:nvSpPr>
        <p:spPr>
          <a:xfrm>
            <a:off x="182880" y="1030057"/>
            <a:ext cx="8778240" cy="44525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本产品主要原料为天然腰果壳油提取精制而成，属于生物多烯酚成份，可生物降解性优于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AEO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产品。经生物降解后的产物不含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APEO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及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NPEO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，不影响生物内分泌系统，不会造成生态危害，是一种高生物降解性和环境友好型的非离子表面活性剂，是替代壬基酚聚氧乙烯醚、脂肪醇聚氧乙烯醚的理想选择，本产品溶于大多数有机溶剂，与大多数阴离子、非离子表面活性剂有良好的配伍性能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,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为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NP/TX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系列产品理想的全性能替代产品。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790758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86DF2-B182-2711-EF70-989485B6C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AEA7FA03-32AF-0743-9D25-39D7A677068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11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FB3D6524-3C2F-9BA9-EE72-BC0A0B5A4C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759C7462-443B-B7E3-1A8E-A642ADE7AF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标题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70607D0-6A40-09A5-D822-56573840EA13}"/>
              </a:ext>
            </a:extLst>
          </p:cNvPr>
          <p:cNvSpPr txBox="1"/>
          <p:nvPr/>
        </p:nvSpPr>
        <p:spPr>
          <a:xfrm>
            <a:off x="182880" y="1030057"/>
            <a:ext cx="8778240" cy="1128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文字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92513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6F228-1A35-7AA1-6217-ABA66805E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35AFFCA2-76E0-229C-18ED-8A980C63A48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12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8EA0855D-04DE-0B5C-ED8D-9CF0A9F7B3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BBB28CB3-592B-948A-76C9-9FFB555C31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标题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46A42CD-AB1C-E568-81B0-08B4DE866CD6}"/>
              </a:ext>
            </a:extLst>
          </p:cNvPr>
          <p:cNvSpPr txBox="1"/>
          <p:nvPr/>
        </p:nvSpPr>
        <p:spPr>
          <a:xfrm>
            <a:off x="182880" y="1030057"/>
            <a:ext cx="8778240" cy="1128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文字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0889228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F02D5545-9FF7-4A1B-91C2-3C7825ECC6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13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43AD916-BA2E-4705-95C5-6EB560B96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71FA5C29-4814-47CC-A005-273156653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标题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709C203-AF2B-410D-916E-F68A8A647CD2}"/>
              </a:ext>
            </a:extLst>
          </p:cNvPr>
          <p:cNvSpPr txBox="1"/>
          <p:nvPr/>
        </p:nvSpPr>
        <p:spPr>
          <a:xfrm>
            <a:off x="182880" y="1030057"/>
            <a:ext cx="8778240" cy="1128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文字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Text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C22E417-EB5F-FAA1-6FE9-6089C64CC90A}"/>
              </a:ext>
            </a:extLst>
          </p:cNvPr>
          <p:cNvSpPr/>
          <p:nvPr/>
        </p:nvSpPr>
        <p:spPr>
          <a:xfrm>
            <a:off x="5462534" y="2049410"/>
            <a:ext cx="3253588" cy="1194567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549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heme/theme1.xml><?xml version="1.0" encoding="utf-8"?>
<a:theme xmlns:a="http://schemas.openxmlformats.org/drawingml/2006/main" name="默认设计模板_2">
  <a:themeElements>
    <a:clrScheme name="默认设计模板_2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_2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25400">
          <a:solidFill>
            <a:schemeClr val="tx1"/>
          </a:solidFill>
        </a:ln>
      </a:spPr>
      <a:bodyPr rtlCol="0" anchor="ctr"/>
      <a:lstStyle>
        <a:defPPr algn="ctr">
          <a:defRPr/>
        </a:defPPr>
      </a:lstStyle>
    </a:spDef>
    <a:lnDef>
      <a:spPr bwMode="auto"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stealth" w="lg" len="lg"/>
        </a:ln>
        <a:effectLst/>
      </a:spPr>
      <a:bodyPr/>
      <a:lstStyle/>
    </a:lnDef>
  </a:objectDefaults>
  <a:extraClrSchemeLst>
    <a:extraClrScheme>
      <a:clrScheme name="默认设计模板_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_2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_2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_2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_2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_2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_2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_2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_2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_2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_2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_2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57524</TotalTime>
  <Pages>0</Pages>
  <Words>418</Words>
  <Characters>0</Characters>
  <Application>Microsoft Office PowerPoint</Application>
  <DocSecurity>0</DocSecurity>
  <PresentationFormat>全屏显示(4:3)</PresentationFormat>
  <Lines>0</Lines>
  <Paragraphs>48</Paragraphs>
  <Slides>13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9" baseType="lpstr">
      <vt:lpstr>Adobe 黑体 Std R</vt:lpstr>
      <vt:lpstr>Microsoft JhengHei</vt:lpstr>
      <vt:lpstr>SimHei</vt:lpstr>
      <vt:lpstr>Arial</vt:lpstr>
      <vt:lpstr>默认设计模板_2</vt:lpstr>
      <vt:lpstr>CS ChemDraw Drawing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Administrator</dc:creator>
  <cp:keywords/>
  <dc:description/>
  <cp:lastModifiedBy>yanqifan@pku.edu.cn</cp:lastModifiedBy>
  <cp:revision>1349</cp:revision>
  <cp:lastPrinted>2020-04-24T02:07:11Z</cp:lastPrinted>
  <dcterms:created xsi:type="dcterms:W3CDTF">2012-03-24T04:10:06Z</dcterms:created>
  <dcterms:modified xsi:type="dcterms:W3CDTF">2025-10-24T01:28:33Z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2052-9.1.0.4517</vt:lpwstr>
  </property>
</Properties>
</file>