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96" r:id="rId4"/>
  </p:sldMasterIdLst>
  <p:notesMasterIdLst>
    <p:notesMasterId r:id="rId15"/>
  </p:notesMasterIdLst>
  <p:handoutMasterIdLst>
    <p:handoutMasterId r:id="rId16"/>
  </p:handoutMasterIdLst>
  <p:sldIdLst>
    <p:sldId id="256" r:id="rId5"/>
    <p:sldId id="355" r:id="rId6"/>
    <p:sldId id="346" r:id="rId7"/>
    <p:sldId id="353" r:id="rId8"/>
    <p:sldId id="352" r:id="rId9"/>
    <p:sldId id="257" r:id="rId10"/>
    <p:sldId id="341" r:id="rId11"/>
    <p:sldId id="279" r:id="rId12"/>
    <p:sldId id="354" r:id="rId13"/>
    <p:sldId id="274" r:id="rId14"/>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0" userDrawn="1">
          <p15:clr>
            <a:srgbClr val="A4A3A4"/>
          </p15:clr>
        </p15:guide>
        <p15:guide id="2" pos="37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zdr2492027772@foxmail.com" initials="1"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83D8"/>
    <a:srgbClr val="255EB3"/>
    <a:srgbClr val="486F8A"/>
    <a:srgbClr val="1D6295"/>
    <a:srgbClr val="5D8AAB"/>
    <a:srgbClr val="1B4487"/>
    <a:srgbClr val="3F88D9"/>
    <a:srgbClr val="5897DE"/>
    <a:srgbClr val="2771C5"/>
    <a:srgbClr val="1E4A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869" autoAdjust="0"/>
  </p:normalViewPr>
  <p:slideViewPr>
    <p:cSldViewPr snapToGrid="0" showGuides="1">
      <p:cViewPr varScale="1">
        <p:scale>
          <a:sx n="90" d="100"/>
          <a:sy n="90" d="100"/>
        </p:scale>
        <p:origin x="96" y="44"/>
      </p:cViewPr>
      <p:guideLst>
        <p:guide orient="horz" pos="1950"/>
        <p:guide pos="3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cs typeface="微软雅黑" panose="020B0503020204020204" pitchFamily="34" charset="-122"/>
              </a:rPr>
              <a:t>2025/11/3</a:t>
            </a:fld>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fld>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62655685-E563-4F26-94E8-1AAE338AF2BE}" type="datetimeFigureOut">
              <a:rPr lang="zh-CN" altLang="en-US" smtClean="0"/>
              <a:t>2025/11/3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34CB4E98-AB5A-4CD6-A415-DDB9E95550C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1</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CD61-83A7-BB3E-4E93-9E78B35E7A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498BD6-6C0D-6458-BA78-2AE2031AC9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99A3A9-0EFD-C423-16D2-12BC23CC194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6544141-9792-9F6F-E5F6-CB1C1CFF7A0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2</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643735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3</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E4879-4B12-F96E-0CB1-7BE0C17B98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8B8FA8-2BBF-7258-1238-3A63C122CD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717242-D63A-7170-080D-6FBBEE27469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7BE37DE-0D0B-1622-69A5-106E1C4F419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4</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463292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4554C-84EF-930E-98F1-E0D591CBF3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7B8178-767B-5CD7-210B-CD3EEBC90C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AAFEEE-9C61-800A-CF1F-F99AD16C261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6381BAC-EAB5-A39E-49D9-ACD11C02B2E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5</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889927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4CB4E98-AB5A-4CD6-A415-DDB9E95550C0}" type="slidenum">
              <a:rPr kumimoji="0" lang="zh-CN" altLang="en-US" sz="1200" b="0" i="0" u="none" strike="noStrike" kern="1200" cap="none" spc="0" normalizeH="0" baseline="0" noProof="0" smtClean="0">
                <a:ln>
                  <a:noFill/>
                </a:ln>
                <a:solidFill>
                  <a:prstClr val="black"/>
                </a:solidFill>
                <a:effectLst/>
                <a:uLnTx/>
                <a:uFillTx/>
              </a:rPr>
              <a:t>7</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8</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9BCC932-0C1F-4C94-8B9A-3944ABBB4E30}" type="slidenum">
              <a:rPr kumimoji="0" lang="zh-CN" altLang="en-US" sz="1200" b="0" i="0" u="none" strike="noStrike" kern="1200" cap="none" spc="0" normalizeH="0" baseline="0" noProof="0" smtClean="0">
                <a:ln>
                  <a:noFill/>
                </a:ln>
                <a:solidFill>
                  <a:prstClr val="black"/>
                </a:solidFill>
                <a:effectLst/>
                <a:uLnTx/>
                <a:uFillTx/>
              </a:rPr>
              <a:t>10</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72F3F7-D1C6-4EA2-8B8D-6CC4304925A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2E72F3F7-D1C6-4EA2-8B8D-6CC4304925A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8AF6F278-ABF0-48CA-ADF0-1D43CCA8A181}" type="datetimeFigureOut">
              <a:rPr lang="zh-CN" altLang="en-US" smtClean="0"/>
              <a:t>2025/11/3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F46799FB-52B8-4698-BECF-01ADD9E846B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1861544F-A11C-4A57-8495-C919F0AD7079}" type="datetimeFigureOut">
              <a:rPr lang="zh-CN" altLang="en-US" smtClean="0"/>
              <a:t>2025/11/3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2E72F3F7-D1C6-4EA2-8B8D-6CC4304925A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sldNum="0" hdr="0" ftr="0" dt="0"/>
  <p:txStyles>
    <p:titleStyle>
      <a:lvl1pPr algn="l" defTabSz="1219200" rtl="0" eaLnBrk="1" latinLnBrk="0" hangingPunct="1">
        <a:spcBef>
          <a:spcPct val="0"/>
        </a:spcBef>
        <a:buNone/>
        <a:defRPr sz="3735" b="1" kern="1200">
          <a:solidFill>
            <a:schemeClr val="tx1">
              <a:lumMod val="50000"/>
              <a:lumOff val="50000"/>
            </a:schemeClr>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None/>
        <a:defRPr sz="4265" kern="1200">
          <a:solidFill>
            <a:schemeClr val="bg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1.xml"/><Relationship Id="rId7"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tags" Target="../tags/tag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tags" Target="../tags/tag5.xml"/><Relationship Id="rId7" Type="http://schemas.openxmlformats.org/officeDocument/2006/relationships/image" Target="../media/image5.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13.xml"/><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8.xml"/><Relationship Id="rId7" Type="http://schemas.openxmlformats.org/officeDocument/2006/relationships/image" Target="../media/image3.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notesSlide" Target="../notesSlides/notesSlide3.xml"/><Relationship Id="rId5" Type="http://schemas.openxmlformats.org/officeDocument/2006/relationships/slideLayout" Target="../slideLayouts/slideLayout13.xml"/><Relationship Id="rId4" Type="http://schemas.openxmlformats.org/officeDocument/2006/relationships/tags" Target="../tags/tag9.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slideLayout" Target="../slideLayouts/slideLayout13.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tags" Target="../tags/tag21.xml"/><Relationship Id="rId2" Type="http://schemas.openxmlformats.org/officeDocument/2006/relationships/tags" Target="../tags/tag11.xml"/><Relationship Id="rId16" Type="http://schemas.openxmlformats.org/officeDocument/2006/relationships/image" Target="../media/image5.pn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image" Target="../media/image9.jpeg"/><Relationship Id="rId10" Type="http://schemas.openxmlformats.org/officeDocument/2006/relationships/tags" Target="../tags/tag19.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4.xml"/><Relationship Id="rId7" Type="http://schemas.openxmlformats.org/officeDocument/2006/relationships/notesSlide" Target="../notesSlides/notesSlide6.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5.xml"/><Relationship Id="rId11" Type="http://schemas.openxmlformats.org/officeDocument/2006/relationships/image" Target="../media/image14.png"/><Relationship Id="rId5" Type="http://schemas.openxmlformats.org/officeDocument/2006/relationships/tags" Target="../tags/tag26.xml"/><Relationship Id="rId10" Type="http://schemas.openxmlformats.org/officeDocument/2006/relationships/image" Target="../media/image13.png"/><Relationship Id="rId4" Type="http://schemas.openxmlformats.org/officeDocument/2006/relationships/tags" Target="../tags/tag25.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image" Target="../media/image5.png"/><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image" Target="../media/image9.jpe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notesSlide" Target="../notesSlides/notesSlide7.xml"/><Relationship Id="rId5" Type="http://schemas.openxmlformats.org/officeDocument/2006/relationships/tags" Target="../tags/tag31.xml"/><Relationship Id="rId10" Type="http://schemas.openxmlformats.org/officeDocument/2006/relationships/slideLayout" Target="../slideLayouts/slideLayout13.xml"/><Relationship Id="rId4" Type="http://schemas.openxmlformats.org/officeDocument/2006/relationships/tags" Target="../tags/tag30.xml"/><Relationship Id="rId9" Type="http://schemas.openxmlformats.org/officeDocument/2006/relationships/tags" Target="../tags/tag35.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4.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9.jpeg"/><Relationship Id="rId5" Type="http://schemas.openxmlformats.org/officeDocument/2006/relationships/image" Target="../media/image16.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5578323"/>
          </a:xfrm>
          <a:prstGeom prst="rect">
            <a:avLst/>
          </a:prstGeom>
        </p:spPr>
      </p:pic>
      <p:sp>
        <p:nvSpPr>
          <p:cNvPr id="8" name="圆角矩形 7"/>
          <p:cNvSpPr/>
          <p:nvPr/>
        </p:nvSpPr>
        <p:spPr>
          <a:xfrm>
            <a:off x="403122" y="405580"/>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 name="图片 9"/>
          <p:cNvPicPr>
            <a:picLocks noChangeAspect="1"/>
          </p:cNvPicPr>
          <p:nvPr>
            <p:custDataLst>
              <p:tags r:id="rId1"/>
            </p:custDataLst>
          </p:nvPr>
        </p:nvPicPr>
        <p:blipFill>
          <a:blip r:embed="rId5">
            <a:lum bright="70000" contrast="-70000"/>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403122" y="405579"/>
            <a:ext cx="11385756" cy="5958349"/>
          </a:xfrm>
          <a:prstGeom prst="rect">
            <a:avLst/>
          </a:prstGeom>
        </p:spPr>
      </p:pic>
      <p:sp>
        <p:nvSpPr>
          <p:cNvPr id="16" name="文本框 15"/>
          <p:cNvSpPr txBox="1"/>
          <p:nvPr/>
        </p:nvSpPr>
        <p:spPr>
          <a:xfrm>
            <a:off x="2256001" y="1021145"/>
            <a:ext cx="7679997" cy="83099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1C4885"/>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化妆品配方</a:t>
            </a:r>
          </a:p>
        </p:txBody>
      </p:sp>
      <p:sp>
        <p:nvSpPr>
          <p:cNvPr id="17" name="文本框 16"/>
          <p:cNvSpPr txBox="1"/>
          <p:nvPr/>
        </p:nvSpPr>
        <p:spPr>
          <a:xfrm>
            <a:off x="5114914" y="4536997"/>
            <a:ext cx="1961536" cy="40011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汇报人：</a:t>
            </a:r>
            <a:r>
              <a:rPr lang="zh-CN" altLang="en-US" sz="2000" dirty="0">
                <a:solidFill>
                  <a:prstClr val="black">
                    <a:lumMod val="85000"/>
                    <a:lumOff val="15000"/>
                  </a:prstClr>
                </a:solidFill>
                <a:latin typeface="微软雅黑" panose="020B0503020204020204" pitchFamily="34" charset="-122"/>
                <a:ea typeface="微软雅黑" panose="020B0503020204020204" pitchFamily="34" charset="-122"/>
                <a:cs typeface="微软雅黑" panose="020B0503020204020204" pitchFamily="34" charset="-122"/>
              </a:rPr>
              <a:t>贾</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曜华</a:t>
            </a:r>
          </a:p>
        </p:txBody>
      </p:sp>
      <p:cxnSp>
        <p:nvCxnSpPr>
          <p:cNvPr id="18" name="直接连接符 17"/>
          <p:cNvCxnSpPr/>
          <p:nvPr/>
        </p:nvCxnSpPr>
        <p:spPr>
          <a:xfrm>
            <a:off x="5401597" y="3298705"/>
            <a:ext cx="13888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7" cstate="print"/>
          <a:stretch>
            <a:fillRect/>
          </a:stretch>
        </p:blipFill>
        <p:spPr>
          <a:xfrm>
            <a:off x="10233046" y="590969"/>
            <a:ext cx="1634490" cy="1059815"/>
          </a:xfrm>
          <a:prstGeom prst="rect">
            <a:avLst/>
          </a:prstGeom>
        </p:spPr>
      </p:pic>
      <p:pic>
        <p:nvPicPr>
          <p:cNvPr id="3" name="图片 2"/>
          <p:cNvPicPr>
            <a:picLocks noChangeAspect="1"/>
          </p:cNvPicPr>
          <p:nvPr/>
        </p:nvPicPr>
        <p:blipFill rotWithShape="1">
          <a:blip r:embed="rId8" cstate="print">
            <a:extLst>
              <a:ext uri="{28A0092B-C50C-407E-A947-70E740481C1C}">
                <a14:useLocalDpi xmlns:a14="http://schemas.microsoft.com/office/drawing/2010/main" val="0"/>
              </a:ext>
            </a:extLst>
          </a:blip>
          <a:srcRect t="31388" b="27079"/>
          <a:stretch>
            <a:fillRect/>
          </a:stretch>
        </p:blipFill>
        <p:spPr>
          <a:xfrm>
            <a:off x="5596255" y="6477000"/>
            <a:ext cx="998855" cy="368935"/>
          </a:xfrm>
          <a:prstGeom prst="rect">
            <a:avLst/>
          </a:prstGeom>
          <a:solidFill>
            <a:schemeClr val="accent1"/>
          </a:solidFill>
        </p:spPr>
      </p:pic>
      <p:sp>
        <p:nvSpPr>
          <p:cNvPr id="11" name="文本框 10">
            <a:extLst>
              <a:ext uri="{FF2B5EF4-FFF2-40B4-BE49-F238E27FC236}">
                <a16:creationId xmlns:a16="http://schemas.microsoft.com/office/drawing/2014/main" id="{0E7B4C67-5C0C-0ECA-A92D-C4B2E0F7D2A3}"/>
              </a:ext>
            </a:extLst>
          </p:cNvPr>
          <p:cNvSpPr txBox="1"/>
          <p:nvPr/>
        </p:nvSpPr>
        <p:spPr>
          <a:xfrm>
            <a:off x="3990286" y="3803083"/>
            <a:ext cx="4210791" cy="369332"/>
          </a:xfrm>
          <a:prstGeom prst="rect">
            <a:avLst/>
          </a:prstGeom>
          <a:noFill/>
        </p:spPr>
        <p:txBody>
          <a:bodyPr wrap="square" rtlCol="0">
            <a:spAutoFit/>
          </a:bodyPr>
          <a:lstStyle/>
          <a:p>
            <a:r>
              <a:rPr lang="zh-CN" altLang="en-US" dirty="0"/>
              <a:t>组员：贾曜华    季庭宇    蒋昊翔    杨烨</a:t>
            </a:r>
          </a:p>
        </p:txBody>
      </p:sp>
      <p:sp>
        <p:nvSpPr>
          <p:cNvPr id="12" name="文本框 11">
            <a:extLst>
              <a:ext uri="{FF2B5EF4-FFF2-40B4-BE49-F238E27FC236}">
                <a16:creationId xmlns:a16="http://schemas.microsoft.com/office/drawing/2014/main" id="{54D86921-6593-8DB2-2D1E-08AF864D894F}"/>
              </a:ext>
            </a:extLst>
          </p:cNvPr>
          <p:cNvSpPr txBox="1"/>
          <p:nvPr/>
        </p:nvSpPr>
        <p:spPr>
          <a:xfrm>
            <a:off x="3958286" y="2171582"/>
            <a:ext cx="4275428" cy="110799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srgbClr val="1C4885"/>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月桂酸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1E31-7D79-6FAA-1251-C3B671CFFD1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4B5CDCF-C6FD-B2C3-8517-FC6A768D9146}"/>
              </a:ext>
            </a:extLst>
          </p:cNvPr>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a:extLst>
              <a:ext uri="{FF2B5EF4-FFF2-40B4-BE49-F238E27FC236}">
                <a16:creationId xmlns:a16="http://schemas.microsoft.com/office/drawing/2014/main" id="{CBAA4AC3-BA6F-AB73-8B8D-A175718EAE24}"/>
              </a:ext>
            </a:extLst>
          </p:cNvPr>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圆角矩形 5">
            <a:extLst>
              <a:ext uri="{FF2B5EF4-FFF2-40B4-BE49-F238E27FC236}">
                <a16:creationId xmlns:a16="http://schemas.microsoft.com/office/drawing/2014/main" id="{737DF2C1-4923-A823-1105-11EB51249220}"/>
              </a:ext>
            </a:extLst>
          </p:cNvPr>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a:extLst>
              <a:ext uri="{FF2B5EF4-FFF2-40B4-BE49-F238E27FC236}">
                <a16:creationId xmlns:a16="http://schemas.microsoft.com/office/drawing/2014/main" id="{FA50F7B0-5079-FE9E-E66E-AC34B159D1E4}"/>
              </a:ext>
            </a:extLst>
          </p:cNvPr>
          <p:cNvPicPr>
            <a:picLocks noChangeAspect="1"/>
          </p:cNvPicPr>
          <p:nvPr/>
        </p:nvPicPr>
        <p:blipFill>
          <a:blip r:embed="rId6" cstate="print"/>
          <a:stretch>
            <a:fillRect/>
          </a:stretch>
        </p:blipFill>
        <p:spPr>
          <a:xfrm>
            <a:off x="10233046" y="590969"/>
            <a:ext cx="1634490" cy="1059815"/>
          </a:xfrm>
          <a:prstGeom prst="rect">
            <a:avLst/>
          </a:prstGeom>
        </p:spPr>
      </p:pic>
      <p:pic>
        <p:nvPicPr>
          <p:cNvPr id="2" name="图片 1">
            <a:extLst>
              <a:ext uri="{FF2B5EF4-FFF2-40B4-BE49-F238E27FC236}">
                <a16:creationId xmlns:a16="http://schemas.microsoft.com/office/drawing/2014/main" id="{F649E776-58F2-471C-55C5-353EF13EF054}"/>
              </a:ext>
            </a:extLst>
          </p:cNvPr>
          <p:cNvPicPr>
            <a:picLocks noChangeAspect="1"/>
          </p:cNvPicPr>
          <p:nvPr/>
        </p:nvPicPr>
        <p:blipFill rotWithShape="1">
          <a:blip r:embed="rId7"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t="31388" b="27079"/>
          <a:stretch>
            <a:fillRect/>
          </a:stretch>
        </p:blipFill>
        <p:spPr>
          <a:xfrm>
            <a:off x="10349976" y="5861242"/>
            <a:ext cx="1231720" cy="454887"/>
          </a:xfrm>
          <a:prstGeom prst="rect">
            <a:avLst/>
          </a:prstGeom>
          <a:noFill/>
        </p:spPr>
      </p:pic>
      <p:sp>
        <p:nvSpPr>
          <p:cNvPr id="7" name="Title 6" descr="7b0a20202020227461726765744d6f64756c65223a202270726f636573734f6e6c696e65466f6e7473220a7d0a">
            <a:extLst>
              <a:ext uri="{FF2B5EF4-FFF2-40B4-BE49-F238E27FC236}">
                <a16:creationId xmlns:a16="http://schemas.microsoft.com/office/drawing/2014/main" id="{D0F3A340-E1BC-11EE-30DA-E61DAC9C740B}"/>
              </a:ext>
            </a:extLst>
          </p:cNvPr>
          <p:cNvSpPr txBox="1"/>
          <p:nvPr/>
        </p:nvSpPr>
        <p:spPr>
          <a:xfrm>
            <a:off x="2336800" y="651077"/>
            <a:ext cx="7518400" cy="471365"/>
          </a:xfrm>
          <a:prstGeom prst="homePlate">
            <a:avLst/>
          </a:prstGeom>
          <a:solidFill>
            <a:srgbClr val="174C7B"/>
          </a:solidFill>
        </p:spPr>
        <p:txBody>
          <a:bodyPr wrap="none" lIns="0" tIns="0" rIns="0" bIns="0" anchor="ctr">
            <a:noAutofit/>
          </a:bodyPr>
          <a:lstStyle>
            <a:lvl1pPr algn="ctr" defTabSz="1219200" rtl="0" eaLnBrk="1" latinLnBrk="0" hangingPunct="1">
              <a:spcBef>
                <a:spcPct val="0"/>
              </a:spcBef>
              <a:buNone/>
              <a:defRPr sz="3200" b="1" kern="1200" baseline="0">
                <a:solidFill>
                  <a:schemeClr val="tx1">
                    <a:lumMod val="50000"/>
                    <a:lumOff val="50000"/>
                  </a:schemeClr>
                </a:solidFill>
                <a:latin typeface="+mj-lt"/>
                <a:ea typeface="+mj-ea"/>
                <a:cs typeface="+mj-cs"/>
              </a:defRPr>
            </a:lvl1pPr>
          </a:lstStyle>
          <a:p>
            <a:pPr marL="0" marR="0" lvl="0" indent="0" algn="ctr" defTabSz="1219200" rtl="0" eaLnBrk="1" fontAlgn="auto" latinLnBrk="0" hangingPunct="1">
              <a:lnSpc>
                <a:spcPct val="100000"/>
              </a:lnSpc>
              <a:spcBef>
                <a:spcPct val="0"/>
              </a:spcBef>
              <a:spcAft>
                <a:spcPts val="0"/>
              </a:spcAft>
              <a:buClrTx/>
              <a:buSzTx/>
              <a:buFontTx/>
              <a:buNone/>
              <a:defRPr/>
            </a:pPr>
            <a:r>
              <a:rPr kumimoji="0" lang="zh-CN" altLang="en-US" sz="28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月桂酸</a:t>
            </a:r>
          </a:p>
        </p:txBody>
      </p:sp>
      <p:sp>
        <p:nvSpPr>
          <p:cNvPr id="105" name="Freeform 132">
            <a:extLst>
              <a:ext uri="{FF2B5EF4-FFF2-40B4-BE49-F238E27FC236}">
                <a16:creationId xmlns:a16="http://schemas.microsoft.com/office/drawing/2014/main" id="{DD9084EC-C40E-72C6-4D80-327DC1B5339F}"/>
              </a:ext>
            </a:extLst>
          </p:cNvPr>
          <p:cNvSpPr>
            <a:spLocks noEditPoints="1"/>
          </p:cNvSpPr>
          <p:nvPr>
            <p:custDataLst>
              <p:tags r:id="rId1"/>
            </p:custDataLst>
          </p:nvPr>
        </p:nvSpPr>
        <p:spPr bwMode="auto">
          <a:xfrm rot="1767684">
            <a:off x="9417685" y="1740535"/>
            <a:ext cx="247650" cy="255270"/>
          </a:xfrm>
          <a:custGeom>
            <a:avLst/>
            <a:gdLst/>
            <a:ahLst/>
            <a:cxnLst>
              <a:cxn ang="0">
                <a:pos x="121" y="25"/>
              </a:cxn>
              <a:cxn ang="0">
                <a:pos x="98" y="2"/>
              </a:cxn>
              <a:cxn ang="0">
                <a:pos x="92" y="0"/>
              </a:cxn>
              <a:cxn ang="0">
                <a:pos x="12" y="0"/>
              </a:cxn>
              <a:cxn ang="0">
                <a:pos x="0" y="11"/>
              </a:cxn>
              <a:cxn ang="0">
                <a:pos x="0" y="104"/>
              </a:cxn>
              <a:cxn ang="0">
                <a:pos x="12" y="115"/>
              </a:cxn>
              <a:cxn ang="0">
                <a:pos x="111" y="115"/>
              </a:cxn>
              <a:cxn ang="0">
                <a:pos x="123" y="104"/>
              </a:cxn>
              <a:cxn ang="0">
                <a:pos x="123" y="31"/>
              </a:cxn>
              <a:cxn ang="0">
                <a:pos x="121" y="25"/>
              </a:cxn>
              <a:cxn ang="0">
                <a:pos x="115" y="104"/>
              </a:cxn>
              <a:cxn ang="0">
                <a:pos x="111" y="107"/>
              </a:cxn>
              <a:cxn ang="0">
                <a:pos x="12" y="107"/>
              </a:cxn>
              <a:cxn ang="0">
                <a:pos x="8" y="104"/>
              </a:cxn>
              <a:cxn ang="0">
                <a:pos x="8" y="11"/>
              </a:cxn>
              <a:cxn ang="0">
                <a:pos x="12" y="8"/>
              </a:cxn>
              <a:cxn ang="0">
                <a:pos x="88" y="8"/>
              </a:cxn>
              <a:cxn ang="0">
                <a:pos x="88" y="23"/>
              </a:cxn>
              <a:cxn ang="0">
                <a:pos x="100" y="35"/>
              </a:cxn>
              <a:cxn ang="0">
                <a:pos x="115" y="35"/>
              </a:cxn>
              <a:cxn ang="0">
                <a:pos x="115" y="104"/>
              </a:cxn>
              <a:cxn ang="0">
                <a:pos x="104" y="31"/>
              </a:cxn>
              <a:cxn ang="0">
                <a:pos x="100" y="31"/>
              </a:cxn>
              <a:cxn ang="0">
                <a:pos x="92" y="23"/>
              </a:cxn>
              <a:cxn ang="0">
                <a:pos x="92" y="8"/>
              </a:cxn>
              <a:cxn ang="0">
                <a:pos x="115" y="31"/>
              </a:cxn>
              <a:cxn ang="0">
                <a:pos x="104" y="31"/>
              </a:cxn>
              <a:cxn ang="0">
                <a:pos x="104" y="31"/>
              </a:cxn>
              <a:cxn ang="0">
                <a:pos x="104" y="31"/>
              </a:cxn>
            </a:cxnLst>
            <a:rect l="0" t="0" r="r" b="b"/>
            <a:pathLst>
              <a:path w="123" h="115">
                <a:moveTo>
                  <a:pt x="121" y="25"/>
                </a:moveTo>
                <a:cubicBezTo>
                  <a:pt x="98" y="2"/>
                  <a:pt x="98" y="2"/>
                  <a:pt x="98" y="2"/>
                </a:cubicBezTo>
                <a:cubicBezTo>
                  <a:pt x="96" y="1"/>
                  <a:pt x="94" y="0"/>
                  <a:pt x="92" y="0"/>
                </a:cubicBezTo>
                <a:cubicBezTo>
                  <a:pt x="12" y="0"/>
                  <a:pt x="12" y="0"/>
                  <a:pt x="12" y="0"/>
                </a:cubicBezTo>
                <a:cubicBezTo>
                  <a:pt x="5" y="0"/>
                  <a:pt x="0" y="5"/>
                  <a:pt x="0" y="11"/>
                </a:cubicBezTo>
                <a:cubicBezTo>
                  <a:pt x="0" y="104"/>
                  <a:pt x="0" y="104"/>
                  <a:pt x="0" y="104"/>
                </a:cubicBezTo>
                <a:cubicBezTo>
                  <a:pt x="0" y="110"/>
                  <a:pt x="5" y="115"/>
                  <a:pt x="12" y="115"/>
                </a:cubicBezTo>
                <a:cubicBezTo>
                  <a:pt x="111" y="115"/>
                  <a:pt x="111" y="115"/>
                  <a:pt x="111" y="115"/>
                </a:cubicBezTo>
                <a:cubicBezTo>
                  <a:pt x="118" y="115"/>
                  <a:pt x="123" y="110"/>
                  <a:pt x="123" y="104"/>
                </a:cubicBezTo>
                <a:cubicBezTo>
                  <a:pt x="123" y="31"/>
                  <a:pt x="123" y="31"/>
                  <a:pt x="123" y="31"/>
                </a:cubicBezTo>
                <a:cubicBezTo>
                  <a:pt x="123" y="29"/>
                  <a:pt x="122" y="27"/>
                  <a:pt x="121" y="25"/>
                </a:cubicBezTo>
                <a:close/>
                <a:moveTo>
                  <a:pt x="115" y="104"/>
                </a:moveTo>
                <a:cubicBezTo>
                  <a:pt x="115" y="106"/>
                  <a:pt x="113" y="107"/>
                  <a:pt x="111" y="107"/>
                </a:cubicBezTo>
                <a:cubicBezTo>
                  <a:pt x="12" y="107"/>
                  <a:pt x="12" y="107"/>
                  <a:pt x="12" y="107"/>
                </a:cubicBezTo>
                <a:cubicBezTo>
                  <a:pt x="9" y="107"/>
                  <a:pt x="8" y="106"/>
                  <a:pt x="8" y="104"/>
                </a:cubicBezTo>
                <a:cubicBezTo>
                  <a:pt x="8" y="11"/>
                  <a:pt x="8" y="11"/>
                  <a:pt x="8" y="11"/>
                </a:cubicBezTo>
                <a:cubicBezTo>
                  <a:pt x="8" y="9"/>
                  <a:pt x="9" y="8"/>
                  <a:pt x="12" y="8"/>
                </a:cubicBezTo>
                <a:cubicBezTo>
                  <a:pt x="88" y="8"/>
                  <a:pt x="88" y="8"/>
                  <a:pt x="88" y="8"/>
                </a:cubicBezTo>
                <a:cubicBezTo>
                  <a:pt x="88" y="23"/>
                  <a:pt x="88" y="23"/>
                  <a:pt x="88" y="23"/>
                </a:cubicBezTo>
                <a:cubicBezTo>
                  <a:pt x="88" y="29"/>
                  <a:pt x="93" y="35"/>
                  <a:pt x="100" y="35"/>
                </a:cubicBezTo>
                <a:cubicBezTo>
                  <a:pt x="115" y="35"/>
                  <a:pt x="115" y="35"/>
                  <a:pt x="115" y="35"/>
                </a:cubicBezTo>
                <a:lnTo>
                  <a:pt x="115" y="104"/>
                </a:lnTo>
                <a:close/>
                <a:moveTo>
                  <a:pt x="104" y="31"/>
                </a:moveTo>
                <a:cubicBezTo>
                  <a:pt x="100" y="31"/>
                  <a:pt x="100" y="31"/>
                  <a:pt x="100" y="31"/>
                </a:cubicBezTo>
                <a:cubicBezTo>
                  <a:pt x="96" y="31"/>
                  <a:pt x="92" y="27"/>
                  <a:pt x="92" y="23"/>
                </a:cubicBezTo>
                <a:cubicBezTo>
                  <a:pt x="92" y="8"/>
                  <a:pt x="92" y="8"/>
                  <a:pt x="92" y="8"/>
                </a:cubicBezTo>
                <a:cubicBezTo>
                  <a:pt x="115" y="31"/>
                  <a:pt x="115" y="31"/>
                  <a:pt x="115" y="31"/>
                </a:cubicBezTo>
                <a:lnTo>
                  <a:pt x="104" y="31"/>
                </a:lnTo>
                <a:close/>
                <a:moveTo>
                  <a:pt x="104" y="31"/>
                </a:moveTo>
                <a:cubicBezTo>
                  <a:pt x="104" y="31"/>
                  <a:pt x="104" y="31"/>
                  <a:pt x="104" y="31"/>
                </a:cubicBezTo>
              </a:path>
            </a:pathLst>
          </a:custGeom>
          <a:solidFill>
            <a:schemeClr val="bg1"/>
          </a:solidFill>
          <a:ln w="9525">
            <a:noFill/>
            <a:round/>
          </a:ln>
        </p:spPr>
        <p:txBody>
          <a:bodyPr vert="horz" wrap="square" lIns="121920" tIns="60960" rIns="121920" bIns="60960" numCol="1" anchor="t" anchorCtr="0" compatLnSpc="1"/>
          <a:lstStyle/>
          <a:p>
            <a:pPr defTabSz="1375410"/>
            <a:endParaRPr lang="en-US" sz="2665"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a:extLst>
              <a:ext uri="{FF2B5EF4-FFF2-40B4-BE49-F238E27FC236}">
                <a16:creationId xmlns:a16="http://schemas.microsoft.com/office/drawing/2014/main" id="{C9BC3214-7E0C-8182-2E64-C484F61FE41C}"/>
              </a:ext>
            </a:extLst>
          </p:cNvPr>
          <p:cNvSpPr txBox="1"/>
          <p:nvPr>
            <p:custDataLst>
              <p:tags r:id="rId2"/>
            </p:custDataLst>
          </p:nvPr>
        </p:nvSpPr>
        <p:spPr>
          <a:xfrm>
            <a:off x="2513250" y="2682322"/>
            <a:ext cx="7165500" cy="523220"/>
          </a:xfrm>
          <a:prstGeom prst="rect">
            <a:avLst/>
          </a:prstGeom>
        </p:spPr>
        <p:txBody>
          <a:bodyPr wrap="square" lIns="90000" tIns="46800" rIns="90000" bIns="46800">
            <a:noAutofit/>
          </a:bodyPr>
          <a:lstStyle>
            <a:defPPr>
              <a:defRPr lang="zh-CN"/>
            </a:defPPr>
            <a:lvl1pPr algn="ctr">
              <a:defRPr sz="1400">
                <a:solidFill>
                  <a:schemeClr val="bg1">
                    <a:lumMod val="50000"/>
                  </a:schemeClr>
                </a:solidFill>
              </a:defRPr>
            </a:lvl1pPr>
          </a:lstStyle>
          <a:p>
            <a:endParaRPr lang="zh-CN" altLang="en-US" sz="1800">
              <a:cs typeface="微软雅黑" panose="020B0503020204020204" pitchFamily="34" charset="-122"/>
            </a:endParaRPr>
          </a:p>
        </p:txBody>
      </p:sp>
      <p:sp>
        <p:nvSpPr>
          <p:cNvPr id="53" name="文本框 52">
            <a:extLst>
              <a:ext uri="{FF2B5EF4-FFF2-40B4-BE49-F238E27FC236}">
                <a16:creationId xmlns:a16="http://schemas.microsoft.com/office/drawing/2014/main" id="{CE8683F9-9C32-D631-DC8C-25E8055DFFAC}"/>
              </a:ext>
            </a:extLst>
          </p:cNvPr>
          <p:cNvSpPr txBox="1"/>
          <p:nvPr>
            <p:custDataLst>
              <p:tags r:id="rId3"/>
            </p:custDataLst>
          </p:nvPr>
        </p:nvSpPr>
        <p:spPr>
          <a:xfrm>
            <a:off x="2550770" y="2682322"/>
            <a:ext cx="7165500" cy="523220"/>
          </a:xfrm>
          <a:prstGeom prst="rect">
            <a:avLst/>
          </a:prstGeom>
        </p:spPr>
        <p:txBody>
          <a:bodyPr wrap="square" lIns="90000" tIns="46800" rIns="90000" bIns="46800">
            <a:normAutofit/>
          </a:bodyPr>
          <a:lstStyle>
            <a:defPPr>
              <a:defRPr lang="zh-CN"/>
            </a:defPPr>
            <a:lvl1pPr algn="ctr">
              <a:defRPr sz="1400">
                <a:solidFill>
                  <a:schemeClr val="bg1">
                    <a:lumMod val="50000"/>
                  </a:schemeClr>
                </a:solidFill>
              </a:defRPr>
            </a:lvl1pPr>
          </a:lstStyle>
          <a:p>
            <a:endParaRPr lang="zh-CN" altLang="en-US" dirty="0">
              <a:cs typeface="微软雅黑" panose="020B0503020204020204" pitchFamily="34" charset="-122"/>
            </a:endParaRPr>
          </a:p>
        </p:txBody>
      </p:sp>
      <p:pic>
        <p:nvPicPr>
          <p:cNvPr id="14" name="图片 13" descr="图形用户界面, 文本&#10;&#10;AI 生成的内容可能不正确。">
            <a:extLst>
              <a:ext uri="{FF2B5EF4-FFF2-40B4-BE49-F238E27FC236}">
                <a16:creationId xmlns:a16="http://schemas.microsoft.com/office/drawing/2014/main" id="{812E9CD5-BA32-2974-C04C-91ECB98E57AF}"/>
              </a:ext>
            </a:extLst>
          </p:cNvPr>
          <p:cNvPicPr>
            <a:picLocks noChangeAspect="1"/>
          </p:cNvPicPr>
          <p:nvPr/>
        </p:nvPicPr>
        <p:blipFill>
          <a:blip r:embed="rId8" cstate="print">
            <a:extLst>
              <a:ext uri="{28A0092B-C50C-407E-A947-70E740481C1C}">
                <a14:useLocalDpi xmlns:a14="http://schemas.microsoft.com/office/drawing/2010/main" val="0"/>
              </a:ext>
            </a:extLst>
          </a:blip>
          <a:srcRect l="1686" t="32239" r="-1686" b="2886"/>
          <a:stretch>
            <a:fillRect/>
          </a:stretch>
        </p:blipFill>
        <p:spPr>
          <a:xfrm>
            <a:off x="729311" y="1387558"/>
            <a:ext cx="5860230" cy="4473684"/>
          </a:xfrm>
          <a:prstGeom prst="rect">
            <a:avLst/>
          </a:prstGeom>
        </p:spPr>
      </p:pic>
      <p:pic>
        <p:nvPicPr>
          <p:cNvPr id="12" name="图片 11" descr="绿色的垃圾桶&#10;&#10;AI 生成的内容可能不正确。">
            <a:extLst>
              <a:ext uri="{FF2B5EF4-FFF2-40B4-BE49-F238E27FC236}">
                <a16:creationId xmlns:a16="http://schemas.microsoft.com/office/drawing/2014/main" id="{8C244B84-DCE3-6107-47FC-A991E17A773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983889" y="1387558"/>
            <a:ext cx="5183332" cy="4473684"/>
          </a:xfrm>
          <a:prstGeom prst="rect">
            <a:avLst/>
          </a:prstGeom>
        </p:spPr>
      </p:pic>
      <p:sp>
        <p:nvSpPr>
          <p:cNvPr id="18" name="矩形 17">
            <a:extLst>
              <a:ext uri="{FF2B5EF4-FFF2-40B4-BE49-F238E27FC236}">
                <a16:creationId xmlns:a16="http://schemas.microsoft.com/office/drawing/2014/main" id="{CFDEB139-ADEF-71B8-4F7D-3CFCDA8E7C8A}"/>
              </a:ext>
            </a:extLst>
          </p:cNvPr>
          <p:cNvSpPr/>
          <p:nvPr/>
        </p:nvSpPr>
        <p:spPr>
          <a:xfrm>
            <a:off x="1430931" y="4062449"/>
            <a:ext cx="460690" cy="30014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6FE0BD2A-A065-0292-8676-5B2F8F8F1158}"/>
              </a:ext>
            </a:extLst>
          </p:cNvPr>
          <p:cNvSpPr/>
          <p:nvPr/>
        </p:nvSpPr>
        <p:spPr>
          <a:xfrm>
            <a:off x="7699303" y="2447733"/>
            <a:ext cx="460690" cy="30014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5C8E994-9953-B631-D0ED-1186D76073C5}"/>
              </a:ext>
            </a:extLst>
          </p:cNvPr>
          <p:cNvSpPr/>
          <p:nvPr/>
        </p:nvSpPr>
        <p:spPr>
          <a:xfrm>
            <a:off x="6576988" y="2643786"/>
            <a:ext cx="707839" cy="300146"/>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173A269-9C68-3A48-9AC9-A04D99C0E54A}"/>
              </a:ext>
            </a:extLst>
          </p:cNvPr>
          <p:cNvSpPr/>
          <p:nvPr/>
        </p:nvSpPr>
        <p:spPr>
          <a:xfrm>
            <a:off x="2358426" y="4129099"/>
            <a:ext cx="597425" cy="300146"/>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39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7" cstate="print"/>
          <a:stretch>
            <a:fillRect/>
          </a:stretch>
        </p:blipFill>
        <p:spPr>
          <a:xfrm>
            <a:off x="10233046" y="590969"/>
            <a:ext cx="1634490" cy="1059815"/>
          </a:xfrm>
          <a:prstGeom prst="rect">
            <a:avLst/>
          </a:prstGeom>
        </p:spPr>
      </p:pic>
      <p:pic>
        <p:nvPicPr>
          <p:cNvPr id="2" name="图片 1"/>
          <p:cNvPicPr>
            <a:picLocks noChangeAspect="1"/>
          </p:cNvPicPr>
          <p:nvPr/>
        </p:nvPicPr>
        <p:blipFill rotWithShape="1">
          <a:blip r:embed="rId8" cstate="print">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t="31388" b="27079"/>
          <a:stretch>
            <a:fillRect/>
          </a:stretch>
        </p:blipFill>
        <p:spPr>
          <a:xfrm>
            <a:off x="10349976" y="5861242"/>
            <a:ext cx="1231720" cy="454887"/>
          </a:xfrm>
          <a:prstGeom prst="rect">
            <a:avLst/>
          </a:prstGeom>
          <a:noFill/>
        </p:spPr>
      </p:pic>
      <p:sp>
        <p:nvSpPr>
          <p:cNvPr id="7" name="Title 6" descr="7b0a20202020227461726765744d6f64756c65223a202270726f636573734f6e6c696e65466f6e7473220a7d0a"/>
          <p:cNvSpPr txBox="1"/>
          <p:nvPr/>
        </p:nvSpPr>
        <p:spPr>
          <a:xfrm>
            <a:off x="2336800" y="651077"/>
            <a:ext cx="7518400" cy="471365"/>
          </a:xfrm>
          <a:prstGeom prst="homePlate">
            <a:avLst/>
          </a:prstGeom>
          <a:solidFill>
            <a:srgbClr val="174C7B"/>
          </a:solidFill>
        </p:spPr>
        <p:txBody>
          <a:bodyPr wrap="none" lIns="0" tIns="0" rIns="0" bIns="0" anchor="ctr">
            <a:noAutofit/>
          </a:bodyPr>
          <a:lstStyle>
            <a:lvl1pPr algn="ctr" defTabSz="1219200" rtl="0" eaLnBrk="1" latinLnBrk="0" hangingPunct="1">
              <a:spcBef>
                <a:spcPct val="0"/>
              </a:spcBef>
              <a:buNone/>
              <a:defRPr sz="3200" b="1" kern="1200" baseline="0">
                <a:solidFill>
                  <a:schemeClr val="tx1">
                    <a:lumMod val="50000"/>
                    <a:lumOff val="50000"/>
                  </a:schemeClr>
                </a:solidFill>
                <a:latin typeface="+mj-lt"/>
                <a:ea typeface="+mj-ea"/>
                <a:cs typeface="+mj-cs"/>
              </a:defRPr>
            </a:lvl1pPr>
          </a:lstStyle>
          <a:p>
            <a:pPr marL="0" marR="0" lvl="0" indent="0" algn="ctr" defTabSz="1219200" rtl="0" eaLnBrk="1" fontAlgn="auto" latinLnBrk="0" hangingPunct="1">
              <a:lnSpc>
                <a:spcPct val="100000"/>
              </a:lnSpc>
              <a:spcBef>
                <a:spcPct val="0"/>
              </a:spcBef>
              <a:spcAft>
                <a:spcPts val="0"/>
              </a:spcAft>
              <a:buClrTx/>
              <a:buSzTx/>
              <a:buFontTx/>
              <a:buNone/>
              <a:defRPr/>
            </a:pPr>
            <a:r>
              <a:rPr kumimoji="0" lang="zh-CN" altLang="en-US" sz="280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月桂酸的基本性质</a:t>
            </a:r>
          </a:p>
        </p:txBody>
      </p:sp>
      <p:sp>
        <p:nvSpPr>
          <p:cNvPr id="105" name="Freeform 132"/>
          <p:cNvSpPr>
            <a:spLocks noEditPoints="1"/>
          </p:cNvSpPr>
          <p:nvPr>
            <p:custDataLst>
              <p:tags r:id="rId1"/>
            </p:custDataLst>
          </p:nvPr>
        </p:nvSpPr>
        <p:spPr bwMode="auto">
          <a:xfrm rot="1767684">
            <a:off x="9417685" y="1740535"/>
            <a:ext cx="247650" cy="255270"/>
          </a:xfrm>
          <a:custGeom>
            <a:avLst/>
            <a:gdLst/>
            <a:ahLst/>
            <a:cxnLst>
              <a:cxn ang="0">
                <a:pos x="121" y="25"/>
              </a:cxn>
              <a:cxn ang="0">
                <a:pos x="98" y="2"/>
              </a:cxn>
              <a:cxn ang="0">
                <a:pos x="92" y="0"/>
              </a:cxn>
              <a:cxn ang="0">
                <a:pos x="12" y="0"/>
              </a:cxn>
              <a:cxn ang="0">
                <a:pos x="0" y="11"/>
              </a:cxn>
              <a:cxn ang="0">
                <a:pos x="0" y="104"/>
              </a:cxn>
              <a:cxn ang="0">
                <a:pos x="12" y="115"/>
              </a:cxn>
              <a:cxn ang="0">
                <a:pos x="111" y="115"/>
              </a:cxn>
              <a:cxn ang="0">
                <a:pos x="123" y="104"/>
              </a:cxn>
              <a:cxn ang="0">
                <a:pos x="123" y="31"/>
              </a:cxn>
              <a:cxn ang="0">
                <a:pos x="121" y="25"/>
              </a:cxn>
              <a:cxn ang="0">
                <a:pos x="115" y="104"/>
              </a:cxn>
              <a:cxn ang="0">
                <a:pos x="111" y="107"/>
              </a:cxn>
              <a:cxn ang="0">
                <a:pos x="12" y="107"/>
              </a:cxn>
              <a:cxn ang="0">
                <a:pos x="8" y="104"/>
              </a:cxn>
              <a:cxn ang="0">
                <a:pos x="8" y="11"/>
              </a:cxn>
              <a:cxn ang="0">
                <a:pos x="12" y="8"/>
              </a:cxn>
              <a:cxn ang="0">
                <a:pos x="88" y="8"/>
              </a:cxn>
              <a:cxn ang="0">
                <a:pos x="88" y="23"/>
              </a:cxn>
              <a:cxn ang="0">
                <a:pos x="100" y="35"/>
              </a:cxn>
              <a:cxn ang="0">
                <a:pos x="115" y="35"/>
              </a:cxn>
              <a:cxn ang="0">
                <a:pos x="115" y="104"/>
              </a:cxn>
              <a:cxn ang="0">
                <a:pos x="104" y="31"/>
              </a:cxn>
              <a:cxn ang="0">
                <a:pos x="100" y="31"/>
              </a:cxn>
              <a:cxn ang="0">
                <a:pos x="92" y="23"/>
              </a:cxn>
              <a:cxn ang="0">
                <a:pos x="92" y="8"/>
              </a:cxn>
              <a:cxn ang="0">
                <a:pos x="115" y="31"/>
              </a:cxn>
              <a:cxn ang="0">
                <a:pos x="104" y="31"/>
              </a:cxn>
              <a:cxn ang="0">
                <a:pos x="104" y="31"/>
              </a:cxn>
              <a:cxn ang="0">
                <a:pos x="104" y="31"/>
              </a:cxn>
            </a:cxnLst>
            <a:rect l="0" t="0" r="r" b="b"/>
            <a:pathLst>
              <a:path w="123" h="115">
                <a:moveTo>
                  <a:pt x="121" y="25"/>
                </a:moveTo>
                <a:cubicBezTo>
                  <a:pt x="98" y="2"/>
                  <a:pt x="98" y="2"/>
                  <a:pt x="98" y="2"/>
                </a:cubicBezTo>
                <a:cubicBezTo>
                  <a:pt x="96" y="1"/>
                  <a:pt x="94" y="0"/>
                  <a:pt x="92" y="0"/>
                </a:cubicBezTo>
                <a:cubicBezTo>
                  <a:pt x="12" y="0"/>
                  <a:pt x="12" y="0"/>
                  <a:pt x="12" y="0"/>
                </a:cubicBezTo>
                <a:cubicBezTo>
                  <a:pt x="5" y="0"/>
                  <a:pt x="0" y="5"/>
                  <a:pt x="0" y="11"/>
                </a:cubicBezTo>
                <a:cubicBezTo>
                  <a:pt x="0" y="104"/>
                  <a:pt x="0" y="104"/>
                  <a:pt x="0" y="104"/>
                </a:cubicBezTo>
                <a:cubicBezTo>
                  <a:pt x="0" y="110"/>
                  <a:pt x="5" y="115"/>
                  <a:pt x="12" y="115"/>
                </a:cubicBezTo>
                <a:cubicBezTo>
                  <a:pt x="111" y="115"/>
                  <a:pt x="111" y="115"/>
                  <a:pt x="111" y="115"/>
                </a:cubicBezTo>
                <a:cubicBezTo>
                  <a:pt x="118" y="115"/>
                  <a:pt x="123" y="110"/>
                  <a:pt x="123" y="104"/>
                </a:cubicBezTo>
                <a:cubicBezTo>
                  <a:pt x="123" y="31"/>
                  <a:pt x="123" y="31"/>
                  <a:pt x="123" y="31"/>
                </a:cubicBezTo>
                <a:cubicBezTo>
                  <a:pt x="123" y="29"/>
                  <a:pt x="122" y="27"/>
                  <a:pt x="121" y="25"/>
                </a:cubicBezTo>
                <a:close/>
                <a:moveTo>
                  <a:pt x="115" y="104"/>
                </a:moveTo>
                <a:cubicBezTo>
                  <a:pt x="115" y="106"/>
                  <a:pt x="113" y="107"/>
                  <a:pt x="111" y="107"/>
                </a:cubicBezTo>
                <a:cubicBezTo>
                  <a:pt x="12" y="107"/>
                  <a:pt x="12" y="107"/>
                  <a:pt x="12" y="107"/>
                </a:cubicBezTo>
                <a:cubicBezTo>
                  <a:pt x="9" y="107"/>
                  <a:pt x="8" y="106"/>
                  <a:pt x="8" y="104"/>
                </a:cubicBezTo>
                <a:cubicBezTo>
                  <a:pt x="8" y="11"/>
                  <a:pt x="8" y="11"/>
                  <a:pt x="8" y="11"/>
                </a:cubicBezTo>
                <a:cubicBezTo>
                  <a:pt x="8" y="9"/>
                  <a:pt x="9" y="8"/>
                  <a:pt x="12" y="8"/>
                </a:cubicBezTo>
                <a:cubicBezTo>
                  <a:pt x="88" y="8"/>
                  <a:pt x="88" y="8"/>
                  <a:pt x="88" y="8"/>
                </a:cubicBezTo>
                <a:cubicBezTo>
                  <a:pt x="88" y="23"/>
                  <a:pt x="88" y="23"/>
                  <a:pt x="88" y="23"/>
                </a:cubicBezTo>
                <a:cubicBezTo>
                  <a:pt x="88" y="29"/>
                  <a:pt x="93" y="35"/>
                  <a:pt x="100" y="35"/>
                </a:cubicBezTo>
                <a:cubicBezTo>
                  <a:pt x="115" y="35"/>
                  <a:pt x="115" y="35"/>
                  <a:pt x="115" y="35"/>
                </a:cubicBezTo>
                <a:lnTo>
                  <a:pt x="115" y="104"/>
                </a:lnTo>
                <a:close/>
                <a:moveTo>
                  <a:pt x="104" y="31"/>
                </a:moveTo>
                <a:cubicBezTo>
                  <a:pt x="100" y="31"/>
                  <a:pt x="100" y="31"/>
                  <a:pt x="100" y="31"/>
                </a:cubicBezTo>
                <a:cubicBezTo>
                  <a:pt x="96" y="31"/>
                  <a:pt x="92" y="27"/>
                  <a:pt x="92" y="23"/>
                </a:cubicBezTo>
                <a:cubicBezTo>
                  <a:pt x="92" y="8"/>
                  <a:pt x="92" y="8"/>
                  <a:pt x="92" y="8"/>
                </a:cubicBezTo>
                <a:cubicBezTo>
                  <a:pt x="115" y="31"/>
                  <a:pt x="115" y="31"/>
                  <a:pt x="115" y="31"/>
                </a:cubicBezTo>
                <a:lnTo>
                  <a:pt x="104" y="31"/>
                </a:lnTo>
                <a:close/>
                <a:moveTo>
                  <a:pt x="104" y="31"/>
                </a:moveTo>
                <a:cubicBezTo>
                  <a:pt x="104" y="31"/>
                  <a:pt x="104" y="31"/>
                  <a:pt x="104" y="31"/>
                </a:cubicBezTo>
              </a:path>
            </a:pathLst>
          </a:custGeom>
          <a:solidFill>
            <a:schemeClr val="bg1"/>
          </a:solidFill>
          <a:ln w="9525">
            <a:noFill/>
            <a:round/>
          </a:ln>
        </p:spPr>
        <p:txBody>
          <a:bodyPr vert="horz" wrap="square" lIns="121920" tIns="60960" rIns="121920" bIns="60960" numCol="1" anchor="t" anchorCtr="0" compatLnSpc="1"/>
          <a:lstStyle/>
          <a:p>
            <a:pPr defTabSz="1375410"/>
            <a:endParaRPr lang="en-US" sz="2665"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custDataLst>
              <p:tags r:id="rId2"/>
            </p:custDataLst>
          </p:nvPr>
        </p:nvSpPr>
        <p:spPr>
          <a:xfrm>
            <a:off x="748500" y="1653675"/>
            <a:ext cx="5594631" cy="1551867"/>
          </a:xfrm>
          <a:prstGeom prst="rect">
            <a:avLst/>
          </a:prstGeom>
        </p:spPr>
        <p:txBody>
          <a:bodyPr wrap="square" lIns="90000" tIns="46800" rIns="90000" bIns="46800" anchor="b" anchorCtr="0">
            <a:normAutofit/>
          </a:bodyPr>
          <a:lstStyle>
            <a:defPPr>
              <a:defRPr lang="zh-CN"/>
            </a:defPPr>
            <a:lvl1pPr algn="ctr">
              <a:lnSpc>
                <a:spcPct val="130000"/>
              </a:lnSpc>
              <a:defRPr sz="2400">
                <a:solidFill>
                  <a:schemeClr val="tx2"/>
                </a:solidFill>
              </a:defRPr>
            </a:lvl1pPr>
          </a:lstStyle>
          <a:p>
            <a:pPr algn="l"/>
            <a:r>
              <a:rPr lang="zh-CN" altLang="en-US" b="0" i="0" dirty="0">
                <a:solidFill>
                  <a:srgbClr val="333333"/>
                </a:solidFill>
                <a:effectLst/>
                <a:latin typeface="Arial" panose="020B0604020202020204" pitchFamily="34" charset="0"/>
              </a:rPr>
              <a:t>月桂酸（</a:t>
            </a:r>
            <a:r>
              <a:rPr lang="en-US" altLang="zh-CN" b="0" i="0" dirty="0">
                <a:solidFill>
                  <a:srgbClr val="333333"/>
                </a:solidFill>
                <a:effectLst/>
                <a:latin typeface="Arial" panose="020B0604020202020204" pitchFamily="34" charset="0"/>
              </a:rPr>
              <a:t>lauric acid</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LA</a:t>
            </a:r>
            <a:r>
              <a:rPr lang="zh-CN" altLang="en-US" b="0" i="0" dirty="0">
                <a:solidFill>
                  <a:srgbClr val="333333"/>
                </a:solidFill>
                <a:effectLst/>
                <a:latin typeface="Arial" panose="020B0604020202020204" pitchFamily="34" charset="0"/>
              </a:rPr>
              <a:t>），又称为十二烷酸，是一种饱和脂肪酸，化学式是</a:t>
            </a:r>
            <a:r>
              <a:rPr lang="en-US" altLang="zh-CN" b="0" i="0" dirty="0">
                <a:solidFill>
                  <a:srgbClr val="333333"/>
                </a:solidFill>
                <a:effectLst/>
                <a:latin typeface="Arial" panose="020B0604020202020204" pitchFamily="34" charset="0"/>
              </a:rPr>
              <a:t>C</a:t>
            </a:r>
            <a:r>
              <a:rPr lang="en-US" altLang="zh-CN" b="0" i="0" baseline="-25000" dirty="0">
                <a:solidFill>
                  <a:srgbClr val="333333"/>
                </a:solidFill>
                <a:effectLst/>
                <a:latin typeface="Arial" panose="020B0604020202020204" pitchFamily="34" charset="0"/>
              </a:rPr>
              <a:t>12</a:t>
            </a:r>
            <a:r>
              <a:rPr lang="en-US" altLang="zh-CN" b="0" i="0" dirty="0">
                <a:solidFill>
                  <a:srgbClr val="333333"/>
                </a:solidFill>
                <a:effectLst/>
                <a:latin typeface="Arial" panose="020B0604020202020204" pitchFamily="34" charset="0"/>
              </a:rPr>
              <a:t>H</a:t>
            </a:r>
            <a:r>
              <a:rPr lang="en-US" altLang="zh-CN" b="0" i="0" baseline="-25000" dirty="0">
                <a:solidFill>
                  <a:srgbClr val="333333"/>
                </a:solidFill>
                <a:effectLst/>
                <a:latin typeface="Arial" panose="020B0604020202020204" pitchFamily="34" charset="0"/>
              </a:rPr>
              <a:t>24</a:t>
            </a:r>
            <a:r>
              <a:rPr lang="en-US" altLang="zh-CN" b="0" i="0" dirty="0">
                <a:solidFill>
                  <a:srgbClr val="333333"/>
                </a:solidFill>
                <a:effectLst/>
                <a:latin typeface="Arial" panose="020B0604020202020204" pitchFamily="34" charset="0"/>
              </a:rPr>
              <a:t>O</a:t>
            </a:r>
            <a:r>
              <a:rPr lang="en-US" altLang="zh-CN" b="0" i="0" baseline="-2500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，分子量为</a:t>
            </a:r>
            <a:r>
              <a:rPr lang="en-US" altLang="zh-CN" b="0" i="0" dirty="0">
                <a:solidFill>
                  <a:srgbClr val="333333"/>
                </a:solidFill>
                <a:effectLst/>
                <a:latin typeface="Arial" panose="020B0604020202020204" pitchFamily="34" charset="0"/>
              </a:rPr>
              <a:t>200.32</a:t>
            </a:r>
            <a:r>
              <a:rPr lang="zh-CN" altLang="en-US" b="0" i="0" dirty="0">
                <a:solidFill>
                  <a:srgbClr val="333333"/>
                </a:solidFill>
                <a:effectLst/>
                <a:latin typeface="Arial" panose="020B0604020202020204" pitchFamily="34" charset="0"/>
              </a:rPr>
              <a:t>。</a:t>
            </a:r>
          </a:p>
        </p:txBody>
      </p:sp>
      <p:sp>
        <p:nvSpPr>
          <p:cNvPr id="10" name="文本框 9"/>
          <p:cNvSpPr txBox="1"/>
          <p:nvPr>
            <p:custDataLst>
              <p:tags r:id="rId3"/>
            </p:custDataLst>
          </p:nvPr>
        </p:nvSpPr>
        <p:spPr>
          <a:xfrm>
            <a:off x="2513250" y="2682322"/>
            <a:ext cx="7165500" cy="523220"/>
          </a:xfrm>
          <a:prstGeom prst="rect">
            <a:avLst/>
          </a:prstGeom>
        </p:spPr>
        <p:txBody>
          <a:bodyPr wrap="square" lIns="90000" tIns="46800" rIns="90000" bIns="46800">
            <a:noAutofit/>
          </a:bodyPr>
          <a:lstStyle>
            <a:defPPr>
              <a:defRPr lang="zh-CN"/>
            </a:defPPr>
            <a:lvl1pPr algn="ctr">
              <a:defRPr sz="1400">
                <a:solidFill>
                  <a:schemeClr val="bg1">
                    <a:lumMod val="50000"/>
                  </a:schemeClr>
                </a:solidFill>
              </a:defRPr>
            </a:lvl1pPr>
          </a:lstStyle>
          <a:p>
            <a:endParaRPr lang="zh-CN" altLang="en-US" sz="1800">
              <a:cs typeface="微软雅黑" panose="020B0503020204020204" pitchFamily="34" charset="-122"/>
            </a:endParaRPr>
          </a:p>
        </p:txBody>
      </p:sp>
      <p:sp>
        <p:nvSpPr>
          <p:cNvPr id="53" name="文本框 52"/>
          <p:cNvSpPr txBox="1"/>
          <p:nvPr>
            <p:custDataLst>
              <p:tags r:id="rId4"/>
            </p:custDataLst>
          </p:nvPr>
        </p:nvSpPr>
        <p:spPr>
          <a:xfrm>
            <a:off x="2550770" y="2682322"/>
            <a:ext cx="7165500" cy="523220"/>
          </a:xfrm>
          <a:prstGeom prst="rect">
            <a:avLst/>
          </a:prstGeom>
        </p:spPr>
        <p:txBody>
          <a:bodyPr wrap="square" lIns="90000" tIns="46800" rIns="90000" bIns="46800">
            <a:normAutofit/>
          </a:bodyPr>
          <a:lstStyle>
            <a:defPPr>
              <a:defRPr lang="zh-CN"/>
            </a:defPPr>
            <a:lvl1pPr algn="ctr">
              <a:defRPr sz="1400">
                <a:solidFill>
                  <a:schemeClr val="bg1">
                    <a:lumMod val="50000"/>
                  </a:schemeClr>
                </a:solidFill>
              </a:defRPr>
            </a:lvl1pPr>
          </a:lstStyle>
          <a:p>
            <a:endParaRPr lang="zh-CN" altLang="en-US" dirty="0">
              <a:cs typeface="微软雅黑" panose="020B0503020204020204" pitchFamily="34" charset="-122"/>
            </a:endParaRPr>
          </a:p>
        </p:txBody>
      </p:sp>
      <p:pic>
        <p:nvPicPr>
          <p:cNvPr id="11" name="图片 10">
            <a:extLst>
              <a:ext uri="{FF2B5EF4-FFF2-40B4-BE49-F238E27FC236}">
                <a16:creationId xmlns:a16="http://schemas.microsoft.com/office/drawing/2014/main" id="{7EDFB5FF-739D-0BD9-BC9D-567D94262536}"/>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545804" y="2172674"/>
            <a:ext cx="4874868" cy="912057"/>
          </a:xfrm>
          <a:prstGeom prst="rect">
            <a:avLst/>
          </a:prstGeom>
          <a:noFill/>
          <a:ln>
            <a:noFill/>
          </a:ln>
        </p:spPr>
      </p:pic>
      <p:sp>
        <p:nvSpPr>
          <p:cNvPr id="15" name="文本框 14">
            <a:extLst>
              <a:ext uri="{FF2B5EF4-FFF2-40B4-BE49-F238E27FC236}">
                <a16:creationId xmlns:a16="http://schemas.microsoft.com/office/drawing/2014/main" id="{EC4D85AE-629D-749C-2ECE-419ED66B5BC3}"/>
              </a:ext>
            </a:extLst>
          </p:cNvPr>
          <p:cNvSpPr txBox="1"/>
          <p:nvPr/>
        </p:nvSpPr>
        <p:spPr>
          <a:xfrm>
            <a:off x="715710" y="3442657"/>
            <a:ext cx="11108033"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通常情况下为</a:t>
            </a:r>
            <a:r>
              <a:rPr kumimoji="0" lang="zh-CN" altLang="en-US" sz="2400" b="0" i="0" u="none" strike="noStrike" kern="1200" cap="none" spc="0" normalizeH="0" baseline="0" noProof="0" dirty="0">
                <a:ln>
                  <a:noFill/>
                </a:ln>
                <a:solidFill>
                  <a:srgbClr val="5B9BD5">
                    <a:lumMod val="50000"/>
                  </a:srgbClr>
                </a:solidFill>
                <a:effectLst/>
                <a:uLnTx/>
                <a:uFillTx/>
                <a:latin typeface="Arial" panose="020B0604020202020204" pitchFamily="34" charset="0"/>
                <a:ea typeface="微软雅黑" panose="020B0503020204020204" pitchFamily="34" charset="-122"/>
                <a:cs typeface="+mn-cs"/>
              </a:rPr>
              <a:t>白色针状晶体</a:t>
            </a: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，略带月桂油香味。</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熔点为</a:t>
            </a:r>
            <a:r>
              <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44~46℃</a:t>
            </a: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，沸点为</a:t>
            </a:r>
            <a:r>
              <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160~165℃</a:t>
            </a: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，闪点＞</a:t>
            </a:r>
            <a:r>
              <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110℃</a:t>
            </a: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，相对密度为</a:t>
            </a:r>
            <a:r>
              <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0.8679</a:t>
            </a: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a:t>
            </a:r>
            <a:r>
              <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50℃</a:t>
            </a: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rial" panose="020B0604020202020204" pitchFamily="34" charset="0"/>
                <a:ea typeface="微软雅黑" panose="020B0503020204020204" pitchFamily="34" charset="-122"/>
                <a:cs typeface="+mn-cs"/>
              </a:rPr>
              <a:t>不溶于水，易溶于乙醇、乙醚、苯，溶于异丙醇，微溶于丙酮、石油醚。</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76A3-52D8-7E4F-93BF-1E02857955B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1F9C9F6-F3A0-931B-14C4-8FFB7DDBF920}"/>
              </a:ext>
            </a:extLst>
          </p:cNvPr>
          <p:cNvSpPr txBox="1"/>
          <p:nvPr/>
        </p:nvSpPr>
        <p:spPr>
          <a:xfrm>
            <a:off x="2104285" y="316255"/>
            <a:ext cx="310751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从发现到工业化</a:t>
            </a:r>
          </a:p>
        </p:txBody>
      </p:sp>
      <p:sp>
        <p:nvSpPr>
          <p:cNvPr id="2" name="矩形 1">
            <a:extLst>
              <a:ext uri="{FF2B5EF4-FFF2-40B4-BE49-F238E27FC236}">
                <a16:creationId xmlns:a16="http://schemas.microsoft.com/office/drawing/2014/main" id="{9CEF4038-9B0D-3A1F-C9F3-D2D8DE6115F5}"/>
              </a:ext>
            </a:extLst>
          </p:cNvPr>
          <p:cNvSpPr/>
          <p:nvPr/>
        </p:nvSpPr>
        <p:spPr>
          <a:xfrm>
            <a:off x="870948" y="352389"/>
            <a:ext cx="1158803" cy="487680"/>
          </a:xfrm>
          <a:prstGeom prst="rect">
            <a:avLst/>
          </a:prstGeom>
          <a:solidFill>
            <a:srgbClr val="05589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 name="直接连接符 2">
            <a:extLst>
              <a:ext uri="{FF2B5EF4-FFF2-40B4-BE49-F238E27FC236}">
                <a16:creationId xmlns:a16="http://schemas.microsoft.com/office/drawing/2014/main" id="{DB37C187-C238-5024-6E38-9E19A1DF2948}"/>
              </a:ext>
            </a:extLst>
          </p:cNvPr>
          <p:cNvCxnSpPr/>
          <p:nvPr/>
        </p:nvCxnSpPr>
        <p:spPr>
          <a:xfrm>
            <a:off x="1205091" y="839475"/>
            <a:ext cx="3510117" cy="0"/>
          </a:xfrm>
          <a:prstGeom prst="line">
            <a:avLst/>
          </a:prstGeom>
          <a:ln w="19050">
            <a:solidFill>
              <a:srgbClr val="055893"/>
            </a:solidFill>
          </a:ln>
        </p:spPr>
        <p:style>
          <a:lnRef idx="1">
            <a:schemeClr val="accent1"/>
          </a:lnRef>
          <a:fillRef idx="0">
            <a:schemeClr val="accent1"/>
          </a:fillRef>
          <a:effectRef idx="0">
            <a:schemeClr val="accent1"/>
          </a:effectRef>
          <a:fontRef idx="minor">
            <a:schemeClr val="tx1"/>
          </a:fontRef>
        </p:style>
      </p:cxnSp>
      <p:pic>
        <p:nvPicPr>
          <p:cNvPr id="26" name="图片 25">
            <a:extLst>
              <a:ext uri="{FF2B5EF4-FFF2-40B4-BE49-F238E27FC236}">
                <a16:creationId xmlns:a16="http://schemas.microsoft.com/office/drawing/2014/main" id="{34ADAA89-87DE-C98E-245E-8FFFDD344B4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801323" y="111017"/>
            <a:ext cx="1103811" cy="1103811"/>
          </a:xfrm>
          <a:prstGeom prst="rect">
            <a:avLst/>
          </a:prstGeom>
        </p:spPr>
      </p:pic>
      <p:pic>
        <p:nvPicPr>
          <p:cNvPr id="5" name="图片 4">
            <a:extLst>
              <a:ext uri="{FF2B5EF4-FFF2-40B4-BE49-F238E27FC236}">
                <a16:creationId xmlns:a16="http://schemas.microsoft.com/office/drawing/2014/main" id="{1A04D735-8197-2B2A-1039-CCD19DA950BD}"/>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31388" b="27079"/>
          <a:stretch>
            <a:fillRect/>
          </a:stretch>
        </p:blipFill>
        <p:spPr>
          <a:xfrm>
            <a:off x="10434431" y="6335587"/>
            <a:ext cx="1231720" cy="454887"/>
          </a:xfrm>
          <a:prstGeom prst="rect">
            <a:avLst/>
          </a:prstGeom>
          <a:solidFill>
            <a:schemeClr val="accent1"/>
          </a:solidFill>
        </p:spPr>
      </p:pic>
      <p:cxnSp>
        <p:nvCxnSpPr>
          <p:cNvPr id="7" name="直接箭头连接符 6">
            <a:extLst>
              <a:ext uri="{FF2B5EF4-FFF2-40B4-BE49-F238E27FC236}">
                <a16:creationId xmlns:a16="http://schemas.microsoft.com/office/drawing/2014/main" id="{5D341660-7AA6-DD78-0D6D-96DF6244D007}"/>
              </a:ext>
            </a:extLst>
          </p:cNvPr>
          <p:cNvCxnSpPr>
            <a:cxnSpLocks/>
          </p:cNvCxnSpPr>
          <p:nvPr/>
        </p:nvCxnSpPr>
        <p:spPr>
          <a:xfrm>
            <a:off x="563767" y="3429000"/>
            <a:ext cx="11209371"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3" name="组合 12">
            <a:extLst>
              <a:ext uri="{FF2B5EF4-FFF2-40B4-BE49-F238E27FC236}">
                <a16:creationId xmlns:a16="http://schemas.microsoft.com/office/drawing/2014/main" id="{EBB7B362-BA10-0630-8B55-6C27098B547A}"/>
              </a:ext>
            </a:extLst>
          </p:cNvPr>
          <p:cNvGrpSpPr/>
          <p:nvPr/>
        </p:nvGrpSpPr>
        <p:grpSpPr>
          <a:xfrm>
            <a:off x="938607" y="1396082"/>
            <a:ext cx="2512739" cy="1842133"/>
            <a:chOff x="7105650" y="2967355"/>
            <a:chExt cx="2512739" cy="1842133"/>
          </a:xfrm>
        </p:grpSpPr>
        <p:sp>
          <p:nvSpPr>
            <p:cNvPr id="9" name="圆角矩形 23">
              <a:extLst>
                <a:ext uri="{FF2B5EF4-FFF2-40B4-BE49-F238E27FC236}">
                  <a16:creationId xmlns:a16="http://schemas.microsoft.com/office/drawing/2014/main" id="{377EB0BA-9051-FC21-FDF7-A54CE70DD395}"/>
                </a:ext>
              </a:extLst>
            </p:cNvPr>
            <p:cNvSpPr/>
            <p:nvPr/>
          </p:nvSpPr>
          <p:spPr>
            <a:xfrm>
              <a:off x="7423151" y="3201036"/>
              <a:ext cx="2195238" cy="1608452"/>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defRPr/>
              </a:pPr>
              <a:r>
                <a:rPr lang="zh-CN" altLang="en-US" dirty="0">
                  <a:latin typeface="Times New Roman" panose="02020603050405020304" pitchFamily="18" charset="0"/>
                  <a:cs typeface="Times New Roman" panose="02020603050405020304" pitchFamily="18" charset="0"/>
                </a:rPr>
                <a:t>最早由德国化学家 马森（</a:t>
              </a:r>
              <a:r>
                <a:rPr lang="en-US" altLang="zh-CN" dirty="0" err="1">
                  <a:latin typeface="Times New Roman" panose="02020603050405020304" pitchFamily="18" charset="0"/>
                  <a:cs typeface="Times New Roman" panose="02020603050405020304" pitchFamily="18" charset="0"/>
                </a:rPr>
                <a:t>Marsson</a:t>
              </a:r>
              <a:r>
                <a:rPr lang="zh-CN" altLang="en-US" dirty="0">
                  <a:latin typeface="Times New Roman" panose="02020603050405020304" pitchFamily="18" charset="0"/>
                  <a:cs typeface="Times New Roman" panose="02020603050405020304" pitchFamily="18" charset="0"/>
                </a:rPr>
                <a:t>） 从月桂树种子油中分离并鉴定，因此得名“月桂酸”</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任意多边形 22">
              <a:extLst>
                <a:ext uri="{FF2B5EF4-FFF2-40B4-BE49-F238E27FC236}">
                  <a16:creationId xmlns:a16="http://schemas.microsoft.com/office/drawing/2014/main" id="{25D7AF43-6E96-351C-633C-9995270D2C1D}"/>
                </a:ext>
              </a:extLst>
            </p:cNvPr>
            <p:cNvSpPr/>
            <p:nvPr>
              <p:custDataLst>
                <p:tags r:id="rId10"/>
              </p:custDataLst>
            </p:nvPr>
          </p:nvSpPr>
          <p:spPr>
            <a:xfrm>
              <a:off x="7158990" y="3047365"/>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任意多边形 23">
              <a:extLst>
                <a:ext uri="{FF2B5EF4-FFF2-40B4-BE49-F238E27FC236}">
                  <a16:creationId xmlns:a16="http://schemas.microsoft.com/office/drawing/2014/main" id="{EF153BB9-FB14-8CAE-9163-AD96C92C3803}"/>
                </a:ext>
              </a:extLst>
            </p:cNvPr>
            <p:cNvSpPr/>
            <p:nvPr>
              <p:custDataLst>
                <p:tags r:id="rId11"/>
              </p:custDataLst>
            </p:nvPr>
          </p:nvSpPr>
          <p:spPr>
            <a:xfrm>
              <a:off x="7200900" y="3201035"/>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圆角矩形 24">
              <a:extLst>
                <a:ext uri="{FF2B5EF4-FFF2-40B4-BE49-F238E27FC236}">
                  <a16:creationId xmlns:a16="http://schemas.microsoft.com/office/drawing/2014/main" id="{E183645E-BE66-1B59-B736-1BFB0DE09FF5}"/>
                </a:ext>
              </a:extLst>
            </p:cNvPr>
            <p:cNvSpPr/>
            <p:nvPr>
              <p:custDataLst>
                <p:tags r:id="rId12"/>
              </p:custDataLst>
            </p:nvPr>
          </p:nvSpPr>
          <p:spPr>
            <a:xfrm>
              <a:off x="7105650" y="2967355"/>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cxnSp>
        <p:nvCxnSpPr>
          <p:cNvPr id="15" name="直接连接符 14">
            <a:extLst>
              <a:ext uri="{FF2B5EF4-FFF2-40B4-BE49-F238E27FC236}">
                <a16:creationId xmlns:a16="http://schemas.microsoft.com/office/drawing/2014/main" id="{7608B03B-FB45-9771-3643-526D9F0E2252}"/>
              </a:ext>
            </a:extLst>
          </p:cNvPr>
          <p:cNvCxnSpPr/>
          <p:nvPr/>
        </p:nvCxnSpPr>
        <p:spPr>
          <a:xfrm>
            <a:off x="1068233" y="2186310"/>
            <a:ext cx="0" cy="1546917"/>
          </a:xfrm>
          <a:prstGeom prst="line">
            <a:avLst/>
          </a:prstGeom>
        </p:spPr>
        <p:style>
          <a:lnRef idx="3">
            <a:schemeClr val="accent5"/>
          </a:lnRef>
          <a:fillRef idx="0">
            <a:schemeClr val="accent5"/>
          </a:fillRef>
          <a:effectRef idx="2">
            <a:schemeClr val="accent5"/>
          </a:effectRef>
          <a:fontRef idx="minor">
            <a:schemeClr val="tx1"/>
          </a:fontRef>
        </p:style>
      </p:cxnSp>
      <p:sp>
        <p:nvSpPr>
          <p:cNvPr id="16" name="文本框 15">
            <a:extLst>
              <a:ext uri="{FF2B5EF4-FFF2-40B4-BE49-F238E27FC236}">
                <a16:creationId xmlns:a16="http://schemas.microsoft.com/office/drawing/2014/main" id="{903EAFAE-6CEE-2CF1-069E-2C4392BC3290}"/>
              </a:ext>
            </a:extLst>
          </p:cNvPr>
          <p:cNvSpPr txBox="1"/>
          <p:nvPr/>
        </p:nvSpPr>
        <p:spPr>
          <a:xfrm>
            <a:off x="587600" y="3739346"/>
            <a:ext cx="954107" cy="369332"/>
          </a:xfrm>
          <a:prstGeom prst="rect">
            <a:avLst/>
          </a:prstGeom>
          <a:noFill/>
        </p:spPr>
        <p:txBody>
          <a:bodyPr wrap="none" rtlCol="0">
            <a:spAutoFit/>
          </a:bodyPr>
          <a:lstStyle/>
          <a:p>
            <a:r>
              <a:rPr lang="en-US" altLang="zh-CN" dirty="0"/>
              <a:t>1842</a:t>
            </a:r>
            <a:r>
              <a:rPr lang="zh-CN" altLang="en-US" dirty="0"/>
              <a:t>年</a:t>
            </a:r>
          </a:p>
        </p:txBody>
      </p:sp>
      <p:grpSp>
        <p:nvGrpSpPr>
          <p:cNvPr id="18" name="组合 17">
            <a:extLst>
              <a:ext uri="{FF2B5EF4-FFF2-40B4-BE49-F238E27FC236}">
                <a16:creationId xmlns:a16="http://schemas.microsoft.com/office/drawing/2014/main" id="{99E9BAB3-6CC5-670C-1BBC-080310C3E42B}"/>
              </a:ext>
            </a:extLst>
          </p:cNvPr>
          <p:cNvGrpSpPr/>
          <p:nvPr/>
        </p:nvGrpSpPr>
        <p:grpSpPr>
          <a:xfrm>
            <a:off x="3835189" y="3736874"/>
            <a:ext cx="2512739" cy="2584959"/>
            <a:chOff x="7105650" y="2967355"/>
            <a:chExt cx="2512739" cy="2584959"/>
          </a:xfrm>
        </p:grpSpPr>
        <p:sp>
          <p:nvSpPr>
            <p:cNvPr id="19" name="圆角矩形 23">
              <a:extLst>
                <a:ext uri="{FF2B5EF4-FFF2-40B4-BE49-F238E27FC236}">
                  <a16:creationId xmlns:a16="http://schemas.microsoft.com/office/drawing/2014/main" id="{E1DC65E8-4362-842B-C92D-3DEDE2CA4F09}"/>
                </a:ext>
              </a:extLst>
            </p:cNvPr>
            <p:cNvSpPr/>
            <p:nvPr/>
          </p:nvSpPr>
          <p:spPr>
            <a:xfrm>
              <a:off x="7423151" y="3201035"/>
              <a:ext cx="2195238" cy="2351279"/>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defRPr/>
              </a:pPr>
              <a:r>
                <a:rPr lang="zh-CN" altLang="en-US" dirty="0">
                  <a:latin typeface="Times New Roman" panose="02020603050405020304" pitchFamily="18" charset="0"/>
                  <a:cs typeface="Times New Roman" panose="02020603050405020304" pitchFamily="18" charset="0"/>
                </a:rPr>
                <a:t>法国科学家通过皂化</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酸化法在椰子油中重复获得该晶体，确认其广泛存在于植物油脂，奠定“天然来源”基础。</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任意多边形 22">
              <a:extLst>
                <a:ext uri="{FF2B5EF4-FFF2-40B4-BE49-F238E27FC236}">
                  <a16:creationId xmlns:a16="http://schemas.microsoft.com/office/drawing/2014/main" id="{C99E3578-7BF8-C840-0348-EBA8C24E1CBF}"/>
                </a:ext>
              </a:extLst>
            </p:cNvPr>
            <p:cNvSpPr/>
            <p:nvPr>
              <p:custDataLst>
                <p:tags r:id="rId7"/>
              </p:custDataLst>
            </p:nvPr>
          </p:nvSpPr>
          <p:spPr>
            <a:xfrm>
              <a:off x="7158990" y="3047365"/>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任意多边形 23">
              <a:extLst>
                <a:ext uri="{FF2B5EF4-FFF2-40B4-BE49-F238E27FC236}">
                  <a16:creationId xmlns:a16="http://schemas.microsoft.com/office/drawing/2014/main" id="{18442DC7-923C-7440-BE66-1D12B8ABF836}"/>
                </a:ext>
              </a:extLst>
            </p:cNvPr>
            <p:cNvSpPr/>
            <p:nvPr>
              <p:custDataLst>
                <p:tags r:id="rId8"/>
              </p:custDataLst>
            </p:nvPr>
          </p:nvSpPr>
          <p:spPr>
            <a:xfrm>
              <a:off x="7200900" y="3201035"/>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圆角矩形 24">
              <a:extLst>
                <a:ext uri="{FF2B5EF4-FFF2-40B4-BE49-F238E27FC236}">
                  <a16:creationId xmlns:a16="http://schemas.microsoft.com/office/drawing/2014/main" id="{44E49624-672B-6F0E-43B2-8381EFA02DC5}"/>
                </a:ext>
              </a:extLst>
            </p:cNvPr>
            <p:cNvSpPr/>
            <p:nvPr>
              <p:custDataLst>
                <p:tags r:id="rId9"/>
              </p:custDataLst>
            </p:nvPr>
          </p:nvSpPr>
          <p:spPr>
            <a:xfrm>
              <a:off x="7105650" y="2967355"/>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cxnSp>
        <p:nvCxnSpPr>
          <p:cNvPr id="23" name="直接连接符 22">
            <a:extLst>
              <a:ext uri="{FF2B5EF4-FFF2-40B4-BE49-F238E27FC236}">
                <a16:creationId xmlns:a16="http://schemas.microsoft.com/office/drawing/2014/main" id="{0998C8E1-FCCB-D456-2B71-DF38DF4AF130}"/>
              </a:ext>
            </a:extLst>
          </p:cNvPr>
          <p:cNvCxnSpPr>
            <a:cxnSpLocks/>
          </p:cNvCxnSpPr>
          <p:nvPr/>
        </p:nvCxnSpPr>
        <p:spPr>
          <a:xfrm>
            <a:off x="3964815" y="3121336"/>
            <a:ext cx="0" cy="532614"/>
          </a:xfrm>
          <a:prstGeom prst="line">
            <a:avLst/>
          </a:prstGeom>
        </p:spPr>
        <p:style>
          <a:lnRef idx="3">
            <a:schemeClr val="accent5"/>
          </a:lnRef>
          <a:fillRef idx="0">
            <a:schemeClr val="accent5"/>
          </a:fillRef>
          <a:effectRef idx="2">
            <a:schemeClr val="accent5"/>
          </a:effectRef>
          <a:fontRef idx="minor">
            <a:schemeClr val="tx1"/>
          </a:fontRef>
        </p:style>
      </p:cxnSp>
      <p:sp>
        <p:nvSpPr>
          <p:cNvPr id="24" name="文本框 23">
            <a:extLst>
              <a:ext uri="{FF2B5EF4-FFF2-40B4-BE49-F238E27FC236}">
                <a16:creationId xmlns:a16="http://schemas.microsoft.com/office/drawing/2014/main" id="{649E7020-2810-C3ED-D6DD-86AA988EE99A}"/>
              </a:ext>
            </a:extLst>
          </p:cNvPr>
          <p:cNvSpPr txBox="1"/>
          <p:nvPr/>
        </p:nvSpPr>
        <p:spPr>
          <a:xfrm>
            <a:off x="3552932" y="2788852"/>
            <a:ext cx="954107" cy="369332"/>
          </a:xfrm>
          <a:prstGeom prst="rect">
            <a:avLst/>
          </a:prstGeom>
          <a:noFill/>
        </p:spPr>
        <p:txBody>
          <a:bodyPr wrap="none" rtlCol="0">
            <a:spAutoFit/>
          </a:bodyPr>
          <a:lstStyle/>
          <a:p>
            <a:r>
              <a:rPr lang="en-US" altLang="zh-CN" dirty="0"/>
              <a:t>1849</a:t>
            </a:r>
            <a:r>
              <a:rPr lang="zh-CN" altLang="en-US" dirty="0"/>
              <a:t>年</a:t>
            </a:r>
          </a:p>
        </p:txBody>
      </p:sp>
      <p:grpSp>
        <p:nvGrpSpPr>
          <p:cNvPr id="29" name="组合 28">
            <a:extLst>
              <a:ext uri="{FF2B5EF4-FFF2-40B4-BE49-F238E27FC236}">
                <a16:creationId xmlns:a16="http://schemas.microsoft.com/office/drawing/2014/main" id="{1257EF82-C1E2-9B7C-894E-648FD66E9BDA}"/>
              </a:ext>
            </a:extLst>
          </p:cNvPr>
          <p:cNvGrpSpPr/>
          <p:nvPr/>
        </p:nvGrpSpPr>
        <p:grpSpPr>
          <a:xfrm>
            <a:off x="6465404" y="1265454"/>
            <a:ext cx="2512739" cy="2082763"/>
            <a:chOff x="7105650" y="2967355"/>
            <a:chExt cx="2512739" cy="2082763"/>
          </a:xfrm>
        </p:grpSpPr>
        <p:sp>
          <p:nvSpPr>
            <p:cNvPr id="30" name="圆角矩形 23">
              <a:extLst>
                <a:ext uri="{FF2B5EF4-FFF2-40B4-BE49-F238E27FC236}">
                  <a16:creationId xmlns:a16="http://schemas.microsoft.com/office/drawing/2014/main" id="{6907BDBF-D561-97C4-3671-88B90D5A4A59}"/>
                </a:ext>
              </a:extLst>
            </p:cNvPr>
            <p:cNvSpPr/>
            <p:nvPr/>
          </p:nvSpPr>
          <p:spPr>
            <a:xfrm>
              <a:off x="7423151" y="3201036"/>
              <a:ext cx="2195238" cy="1849082"/>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defRPr/>
              </a:pPr>
              <a:r>
                <a:rPr lang="zh-CN" altLang="en-US" dirty="0"/>
                <a:t>减压分馏塔出现，椰子油</a:t>
              </a:r>
              <a:r>
                <a:rPr lang="en-US" altLang="zh-CN" dirty="0"/>
                <a:t>/</a:t>
              </a:r>
              <a:r>
                <a:rPr lang="zh-CN" altLang="en-US" dirty="0"/>
                <a:t>棕榈仁油经“高压水解→真空分馏”可得 </a:t>
              </a:r>
              <a:r>
                <a:rPr lang="en-US" altLang="zh-CN" dirty="0"/>
                <a:t>90 % </a:t>
              </a:r>
              <a:r>
                <a:rPr lang="zh-CN" altLang="en-US" dirty="0"/>
                <a:t>纯度，奠定公斤级生产基础。</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任意多边形 22">
              <a:extLst>
                <a:ext uri="{FF2B5EF4-FFF2-40B4-BE49-F238E27FC236}">
                  <a16:creationId xmlns:a16="http://schemas.microsoft.com/office/drawing/2014/main" id="{D496C682-FF07-15E8-EBDC-31CDAF42F4FD}"/>
                </a:ext>
              </a:extLst>
            </p:cNvPr>
            <p:cNvSpPr/>
            <p:nvPr>
              <p:custDataLst>
                <p:tags r:id="rId4"/>
              </p:custDataLst>
            </p:nvPr>
          </p:nvSpPr>
          <p:spPr>
            <a:xfrm>
              <a:off x="7158990" y="3047365"/>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任意多边形 23">
              <a:extLst>
                <a:ext uri="{FF2B5EF4-FFF2-40B4-BE49-F238E27FC236}">
                  <a16:creationId xmlns:a16="http://schemas.microsoft.com/office/drawing/2014/main" id="{0A6E5D4E-144F-2405-3C80-B14A07E6C803}"/>
                </a:ext>
              </a:extLst>
            </p:cNvPr>
            <p:cNvSpPr/>
            <p:nvPr>
              <p:custDataLst>
                <p:tags r:id="rId5"/>
              </p:custDataLst>
            </p:nvPr>
          </p:nvSpPr>
          <p:spPr>
            <a:xfrm>
              <a:off x="7200900" y="3201035"/>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圆角矩形 24">
              <a:extLst>
                <a:ext uri="{FF2B5EF4-FFF2-40B4-BE49-F238E27FC236}">
                  <a16:creationId xmlns:a16="http://schemas.microsoft.com/office/drawing/2014/main" id="{3E5ED292-BD4C-219D-FB21-DF3FEEB6E648}"/>
                </a:ext>
              </a:extLst>
            </p:cNvPr>
            <p:cNvSpPr/>
            <p:nvPr>
              <p:custDataLst>
                <p:tags r:id="rId6"/>
              </p:custDataLst>
            </p:nvPr>
          </p:nvSpPr>
          <p:spPr>
            <a:xfrm>
              <a:off x="7105650" y="2967355"/>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cxnSp>
        <p:nvCxnSpPr>
          <p:cNvPr id="34" name="直接连接符 33">
            <a:extLst>
              <a:ext uri="{FF2B5EF4-FFF2-40B4-BE49-F238E27FC236}">
                <a16:creationId xmlns:a16="http://schemas.microsoft.com/office/drawing/2014/main" id="{5D4D7296-7AFD-0D7D-6D73-5F6F36DD6BBB}"/>
              </a:ext>
            </a:extLst>
          </p:cNvPr>
          <p:cNvCxnSpPr>
            <a:cxnSpLocks/>
          </p:cNvCxnSpPr>
          <p:nvPr/>
        </p:nvCxnSpPr>
        <p:spPr>
          <a:xfrm>
            <a:off x="6595030" y="2021557"/>
            <a:ext cx="0" cy="1711670"/>
          </a:xfrm>
          <a:prstGeom prst="line">
            <a:avLst/>
          </a:prstGeom>
        </p:spPr>
        <p:style>
          <a:lnRef idx="3">
            <a:schemeClr val="accent5"/>
          </a:lnRef>
          <a:fillRef idx="0">
            <a:schemeClr val="accent5"/>
          </a:fillRef>
          <a:effectRef idx="2">
            <a:schemeClr val="accent5"/>
          </a:effectRef>
          <a:fontRef idx="minor">
            <a:schemeClr val="tx1"/>
          </a:fontRef>
        </p:style>
      </p:cxnSp>
      <p:sp>
        <p:nvSpPr>
          <p:cNvPr id="35" name="文本框 34">
            <a:extLst>
              <a:ext uri="{FF2B5EF4-FFF2-40B4-BE49-F238E27FC236}">
                <a16:creationId xmlns:a16="http://schemas.microsoft.com/office/drawing/2014/main" id="{86802871-4D5D-EFED-AFCA-4FEE65490EFD}"/>
              </a:ext>
            </a:extLst>
          </p:cNvPr>
          <p:cNvSpPr txBox="1"/>
          <p:nvPr/>
        </p:nvSpPr>
        <p:spPr>
          <a:xfrm>
            <a:off x="6114397" y="3739346"/>
            <a:ext cx="1146468" cy="369332"/>
          </a:xfrm>
          <a:prstGeom prst="rect">
            <a:avLst/>
          </a:prstGeom>
          <a:noFill/>
        </p:spPr>
        <p:txBody>
          <a:bodyPr wrap="none" rtlCol="0">
            <a:spAutoFit/>
          </a:bodyPr>
          <a:lstStyle/>
          <a:p>
            <a:r>
              <a:rPr lang="en-US" altLang="zh-CN" dirty="0"/>
              <a:t>20</a:t>
            </a:r>
            <a:r>
              <a:rPr lang="zh-CN" altLang="en-US" dirty="0"/>
              <a:t>世纪初</a:t>
            </a:r>
          </a:p>
        </p:txBody>
      </p:sp>
      <p:grpSp>
        <p:nvGrpSpPr>
          <p:cNvPr id="37" name="组合 36">
            <a:extLst>
              <a:ext uri="{FF2B5EF4-FFF2-40B4-BE49-F238E27FC236}">
                <a16:creationId xmlns:a16="http://schemas.microsoft.com/office/drawing/2014/main" id="{5E271E35-BAC4-4283-D84A-2AE936654E51}"/>
              </a:ext>
            </a:extLst>
          </p:cNvPr>
          <p:cNvGrpSpPr/>
          <p:nvPr/>
        </p:nvGrpSpPr>
        <p:grpSpPr>
          <a:xfrm>
            <a:off x="9384151" y="3731153"/>
            <a:ext cx="2376651" cy="2584959"/>
            <a:chOff x="7105650" y="2967355"/>
            <a:chExt cx="2376651" cy="2584959"/>
          </a:xfrm>
        </p:grpSpPr>
        <p:sp>
          <p:nvSpPr>
            <p:cNvPr id="38" name="圆角矩形 23">
              <a:extLst>
                <a:ext uri="{FF2B5EF4-FFF2-40B4-BE49-F238E27FC236}">
                  <a16:creationId xmlns:a16="http://schemas.microsoft.com/office/drawing/2014/main" id="{A2461ACB-B1C2-C537-C14D-EA550C86128B}"/>
                </a:ext>
              </a:extLst>
            </p:cNvPr>
            <p:cNvSpPr/>
            <p:nvPr/>
          </p:nvSpPr>
          <p:spPr>
            <a:xfrm>
              <a:off x="7423151" y="3201035"/>
              <a:ext cx="2059150" cy="2351279"/>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defRPr/>
              </a:pPr>
              <a:r>
                <a:rPr lang="zh-CN" altLang="en-US" dirty="0">
                  <a:latin typeface="Times New Roman" panose="02020603050405020304" pitchFamily="18" charset="0"/>
                  <a:cs typeface="Times New Roman" panose="02020603050405020304" pitchFamily="18" charset="0"/>
                </a:rPr>
                <a:t>月桂酸的生产技术飞速发展，实现了万吨生产技术，并且纯度不断提高，开始进入高端食品与日化市场。</a:t>
              </a:r>
            </a:p>
          </p:txBody>
        </p:sp>
        <p:sp>
          <p:nvSpPr>
            <p:cNvPr id="39" name="任意多边形 22">
              <a:extLst>
                <a:ext uri="{FF2B5EF4-FFF2-40B4-BE49-F238E27FC236}">
                  <a16:creationId xmlns:a16="http://schemas.microsoft.com/office/drawing/2014/main" id="{EC38072C-8DCB-4617-81D7-56D668579912}"/>
                </a:ext>
              </a:extLst>
            </p:cNvPr>
            <p:cNvSpPr/>
            <p:nvPr>
              <p:custDataLst>
                <p:tags r:id="rId1"/>
              </p:custDataLst>
            </p:nvPr>
          </p:nvSpPr>
          <p:spPr>
            <a:xfrm>
              <a:off x="7158990" y="3047365"/>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任意多边形 23">
              <a:extLst>
                <a:ext uri="{FF2B5EF4-FFF2-40B4-BE49-F238E27FC236}">
                  <a16:creationId xmlns:a16="http://schemas.microsoft.com/office/drawing/2014/main" id="{A92AA542-186C-ED7A-2222-552A69C53583}"/>
                </a:ext>
              </a:extLst>
            </p:cNvPr>
            <p:cNvSpPr/>
            <p:nvPr>
              <p:custDataLst>
                <p:tags r:id="rId2"/>
              </p:custDataLst>
            </p:nvPr>
          </p:nvSpPr>
          <p:spPr>
            <a:xfrm>
              <a:off x="7200900" y="3201035"/>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圆角矩形 24">
              <a:extLst>
                <a:ext uri="{FF2B5EF4-FFF2-40B4-BE49-F238E27FC236}">
                  <a16:creationId xmlns:a16="http://schemas.microsoft.com/office/drawing/2014/main" id="{455BC4BC-4DFF-82F2-BA6F-0462D8F0BB28}"/>
                </a:ext>
              </a:extLst>
            </p:cNvPr>
            <p:cNvSpPr/>
            <p:nvPr>
              <p:custDataLst>
                <p:tags r:id="rId3"/>
              </p:custDataLst>
            </p:nvPr>
          </p:nvSpPr>
          <p:spPr>
            <a:xfrm>
              <a:off x="7105650" y="2967355"/>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cxnSp>
        <p:nvCxnSpPr>
          <p:cNvPr id="42" name="直接连接符 41">
            <a:extLst>
              <a:ext uri="{FF2B5EF4-FFF2-40B4-BE49-F238E27FC236}">
                <a16:creationId xmlns:a16="http://schemas.microsoft.com/office/drawing/2014/main" id="{69245BE8-D5F3-3633-1A9D-D18774593F6E}"/>
              </a:ext>
            </a:extLst>
          </p:cNvPr>
          <p:cNvCxnSpPr>
            <a:cxnSpLocks/>
          </p:cNvCxnSpPr>
          <p:nvPr/>
        </p:nvCxnSpPr>
        <p:spPr>
          <a:xfrm>
            <a:off x="9513777" y="3115615"/>
            <a:ext cx="0" cy="532614"/>
          </a:xfrm>
          <a:prstGeom prst="line">
            <a:avLst/>
          </a:prstGeom>
        </p:spPr>
        <p:style>
          <a:lnRef idx="3">
            <a:schemeClr val="accent5"/>
          </a:lnRef>
          <a:fillRef idx="0">
            <a:schemeClr val="accent5"/>
          </a:fillRef>
          <a:effectRef idx="2">
            <a:schemeClr val="accent5"/>
          </a:effectRef>
          <a:fontRef idx="minor">
            <a:schemeClr val="tx1"/>
          </a:fontRef>
        </p:style>
      </p:cxnSp>
      <p:sp>
        <p:nvSpPr>
          <p:cNvPr id="43" name="文本框 42">
            <a:extLst>
              <a:ext uri="{FF2B5EF4-FFF2-40B4-BE49-F238E27FC236}">
                <a16:creationId xmlns:a16="http://schemas.microsoft.com/office/drawing/2014/main" id="{77B5C7C2-6EFF-6536-5D71-EC6C41ACCE24}"/>
              </a:ext>
            </a:extLst>
          </p:cNvPr>
          <p:cNvSpPr txBox="1"/>
          <p:nvPr/>
        </p:nvSpPr>
        <p:spPr>
          <a:xfrm>
            <a:off x="8978142" y="2783131"/>
            <a:ext cx="1292341" cy="369332"/>
          </a:xfrm>
          <a:prstGeom prst="rect">
            <a:avLst/>
          </a:prstGeom>
          <a:noFill/>
        </p:spPr>
        <p:txBody>
          <a:bodyPr wrap="none" rtlCol="0">
            <a:spAutoFit/>
          </a:bodyPr>
          <a:lstStyle/>
          <a:p>
            <a:r>
              <a:rPr lang="en-US" altLang="zh-CN" dirty="0"/>
              <a:t>1950s</a:t>
            </a:r>
            <a:r>
              <a:rPr lang="zh-CN" altLang="en-US" dirty="0"/>
              <a:t>至今</a:t>
            </a:r>
          </a:p>
        </p:txBody>
      </p:sp>
    </p:spTree>
    <p:extLst>
      <p:ext uri="{BB962C8B-B14F-4D97-AF65-F5344CB8AC3E}">
        <p14:creationId xmlns:p14="http://schemas.microsoft.com/office/powerpoint/2010/main" val="193528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ECC2B-68E9-5ABF-3BAE-BD6E2EE67ED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4F7AF22-327A-4D1D-FC90-CF20E4FA03E2}"/>
              </a:ext>
            </a:extLst>
          </p:cNvPr>
          <p:cNvSpPr txBox="1"/>
          <p:nvPr/>
        </p:nvSpPr>
        <p:spPr>
          <a:xfrm>
            <a:off x="2104285" y="316255"/>
            <a:ext cx="3107513"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天然来源</a:t>
            </a:r>
          </a:p>
        </p:txBody>
      </p:sp>
      <p:sp>
        <p:nvSpPr>
          <p:cNvPr id="2" name="矩形 1">
            <a:extLst>
              <a:ext uri="{FF2B5EF4-FFF2-40B4-BE49-F238E27FC236}">
                <a16:creationId xmlns:a16="http://schemas.microsoft.com/office/drawing/2014/main" id="{FB8AB515-852E-BEC5-8170-CDCAA0B99DD0}"/>
              </a:ext>
            </a:extLst>
          </p:cNvPr>
          <p:cNvSpPr/>
          <p:nvPr/>
        </p:nvSpPr>
        <p:spPr>
          <a:xfrm>
            <a:off x="870948" y="352389"/>
            <a:ext cx="1158803" cy="487680"/>
          </a:xfrm>
          <a:prstGeom prst="rect">
            <a:avLst/>
          </a:prstGeom>
          <a:solidFill>
            <a:srgbClr val="05589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 name="直接连接符 2">
            <a:extLst>
              <a:ext uri="{FF2B5EF4-FFF2-40B4-BE49-F238E27FC236}">
                <a16:creationId xmlns:a16="http://schemas.microsoft.com/office/drawing/2014/main" id="{74643326-2C25-9F75-08B2-2D65A0EEB0F0}"/>
              </a:ext>
            </a:extLst>
          </p:cNvPr>
          <p:cNvCxnSpPr/>
          <p:nvPr/>
        </p:nvCxnSpPr>
        <p:spPr>
          <a:xfrm>
            <a:off x="1205091" y="839475"/>
            <a:ext cx="3510117" cy="0"/>
          </a:xfrm>
          <a:prstGeom prst="line">
            <a:avLst/>
          </a:prstGeom>
          <a:ln w="19050">
            <a:solidFill>
              <a:srgbClr val="055893"/>
            </a:solidFill>
          </a:ln>
        </p:spPr>
        <p:style>
          <a:lnRef idx="1">
            <a:schemeClr val="accent1"/>
          </a:lnRef>
          <a:fillRef idx="0">
            <a:schemeClr val="accent1"/>
          </a:fillRef>
          <a:effectRef idx="0">
            <a:schemeClr val="accent1"/>
          </a:effectRef>
          <a:fontRef idx="minor">
            <a:schemeClr val="tx1"/>
          </a:fontRef>
        </p:style>
      </p:cxnSp>
      <p:pic>
        <p:nvPicPr>
          <p:cNvPr id="26" name="图片 25">
            <a:extLst>
              <a:ext uri="{FF2B5EF4-FFF2-40B4-BE49-F238E27FC236}">
                <a16:creationId xmlns:a16="http://schemas.microsoft.com/office/drawing/2014/main" id="{8775ADCE-FCC4-A635-E7D1-5917D401F5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01323" y="111017"/>
            <a:ext cx="1103811" cy="1103811"/>
          </a:xfrm>
          <a:prstGeom prst="rect">
            <a:avLst/>
          </a:prstGeom>
        </p:spPr>
      </p:pic>
      <p:pic>
        <p:nvPicPr>
          <p:cNvPr id="5" name="图片 4">
            <a:extLst>
              <a:ext uri="{FF2B5EF4-FFF2-40B4-BE49-F238E27FC236}">
                <a16:creationId xmlns:a16="http://schemas.microsoft.com/office/drawing/2014/main" id="{062FD17D-A3EF-0D62-AB91-0E7C8840674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1388" b="27079"/>
          <a:stretch>
            <a:fillRect/>
          </a:stretch>
        </p:blipFill>
        <p:spPr>
          <a:xfrm>
            <a:off x="10434431" y="6335587"/>
            <a:ext cx="1231720" cy="454887"/>
          </a:xfrm>
          <a:prstGeom prst="rect">
            <a:avLst/>
          </a:prstGeom>
          <a:solidFill>
            <a:schemeClr val="accent1"/>
          </a:solidFill>
        </p:spPr>
      </p:pic>
      <p:sp>
        <p:nvSpPr>
          <p:cNvPr id="8" name="内容占位符 7">
            <a:extLst>
              <a:ext uri="{FF2B5EF4-FFF2-40B4-BE49-F238E27FC236}">
                <a16:creationId xmlns:a16="http://schemas.microsoft.com/office/drawing/2014/main" id="{EA2F9E7E-C256-9D9F-6D70-D38FF23BE722}"/>
              </a:ext>
            </a:extLst>
          </p:cNvPr>
          <p:cNvSpPr>
            <a:spLocks noGrp="1"/>
          </p:cNvSpPr>
          <p:nvPr>
            <p:ph idx="1"/>
          </p:nvPr>
        </p:nvSpPr>
        <p:spPr>
          <a:xfrm>
            <a:off x="1377239" y="1085410"/>
            <a:ext cx="9207495" cy="1402613"/>
          </a:xfrm>
        </p:spPr>
        <p:txBody>
          <a:bodyPr/>
          <a:lstStyle/>
          <a:p>
            <a:pPr marL="0" indent="0">
              <a:buNone/>
            </a:pPr>
            <a:r>
              <a:rPr lang="en-US" altLang="zh-CN" dirty="0"/>
              <a:t>LA</a:t>
            </a:r>
            <a:r>
              <a:rPr lang="zh-CN" altLang="zh-CN" dirty="0"/>
              <a:t>天然存在于多种植物中。虽然名为月桂酸，但其在月桂油中的含量并非最高，主要是从</a:t>
            </a:r>
            <a:r>
              <a:rPr lang="zh-CN" altLang="zh-CN" dirty="0">
                <a:solidFill>
                  <a:schemeClr val="accent1">
                    <a:lumMod val="50000"/>
                  </a:schemeClr>
                </a:solidFill>
              </a:rPr>
              <a:t>椰子油</a:t>
            </a:r>
            <a:r>
              <a:rPr lang="zh-CN" altLang="zh-CN" dirty="0"/>
              <a:t>、</a:t>
            </a:r>
            <a:r>
              <a:rPr lang="zh-CN" altLang="zh-CN" dirty="0">
                <a:solidFill>
                  <a:schemeClr val="accent1">
                    <a:lumMod val="50000"/>
                  </a:schemeClr>
                </a:solidFill>
              </a:rPr>
              <a:t>棕榈仁油</a:t>
            </a:r>
            <a:r>
              <a:rPr lang="zh-CN" altLang="zh-CN" dirty="0"/>
              <a:t>、</a:t>
            </a:r>
            <a:r>
              <a:rPr lang="zh-CN" altLang="zh-CN" dirty="0">
                <a:solidFill>
                  <a:schemeClr val="accent1">
                    <a:lumMod val="50000"/>
                  </a:schemeClr>
                </a:solidFill>
              </a:rPr>
              <a:t>山苍子核油</a:t>
            </a:r>
            <a:r>
              <a:rPr lang="zh-CN" altLang="zh-CN" dirty="0"/>
              <a:t>、</a:t>
            </a:r>
            <a:r>
              <a:rPr lang="zh-CN" altLang="zh-CN" dirty="0">
                <a:solidFill>
                  <a:schemeClr val="accent1">
                    <a:lumMod val="50000"/>
                  </a:schemeClr>
                </a:solidFill>
              </a:rPr>
              <a:t>山胡椒核油</a:t>
            </a:r>
            <a:r>
              <a:rPr lang="zh-CN" altLang="zh-CN" dirty="0"/>
              <a:t>、</a:t>
            </a:r>
            <a:r>
              <a:rPr lang="zh-CN" altLang="zh-CN" dirty="0">
                <a:solidFill>
                  <a:schemeClr val="accent1">
                    <a:lumMod val="50000"/>
                  </a:schemeClr>
                </a:solidFill>
              </a:rPr>
              <a:t>樟树子油</a:t>
            </a:r>
            <a:r>
              <a:rPr lang="zh-CN" altLang="zh-CN" dirty="0"/>
              <a:t>等果核油中提取</a:t>
            </a:r>
            <a:endParaRPr lang="zh-CN" altLang="en-US" dirty="0"/>
          </a:p>
        </p:txBody>
      </p:sp>
      <p:graphicFrame>
        <p:nvGraphicFramePr>
          <p:cNvPr id="9" name="表格 8">
            <a:extLst>
              <a:ext uri="{FF2B5EF4-FFF2-40B4-BE49-F238E27FC236}">
                <a16:creationId xmlns:a16="http://schemas.microsoft.com/office/drawing/2014/main" id="{6782C6C6-8771-2A85-558F-7022772D1911}"/>
              </a:ext>
            </a:extLst>
          </p:cNvPr>
          <p:cNvGraphicFramePr>
            <a:graphicFrameLocks noGrp="1"/>
          </p:cNvGraphicFramePr>
          <p:nvPr/>
        </p:nvGraphicFramePr>
        <p:xfrm>
          <a:off x="1783922" y="2488023"/>
          <a:ext cx="8394128" cy="2614188"/>
        </p:xfrm>
        <a:graphic>
          <a:graphicData uri="http://schemas.openxmlformats.org/drawingml/2006/table">
            <a:tbl>
              <a:tblPr firstRow="1" bandRow="1">
                <a:tableStyleId>{5C22544A-7EE6-4342-B048-85BDC9FD1C3A}</a:tableStyleId>
              </a:tblPr>
              <a:tblGrid>
                <a:gridCol w="2098532">
                  <a:extLst>
                    <a:ext uri="{9D8B030D-6E8A-4147-A177-3AD203B41FA5}">
                      <a16:colId xmlns:a16="http://schemas.microsoft.com/office/drawing/2014/main" val="3355434776"/>
                    </a:ext>
                  </a:extLst>
                </a:gridCol>
                <a:gridCol w="2098532">
                  <a:extLst>
                    <a:ext uri="{9D8B030D-6E8A-4147-A177-3AD203B41FA5}">
                      <a16:colId xmlns:a16="http://schemas.microsoft.com/office/drawing/2014/main" val="4167308524"/>
                    </a:ext>
                  </a:extLst>
                </a:gridCol>
                <a:gridCol w="2098532">
                  <a:extLst>
                    <a:ext uri="{9D8B030D-6E8A-4147-A177-3AD203B41FA5}">
                      <a16:colId xmlns:a16="http://schemas.microsoft.com/office/drawing/2014/main" val="3273774710"/>
                    </a:ext>
                  </a:extLst>
                </a:gridCol>
                <a:gridCol w="2098532">
                  <a:extLst>
                    <a:ext uri="{9D8B030D-6E8A-4147-A177-3AD203B41FA5}">
                      <a16:colId xmlns:a16="http://schemas.microsoft.com/office/drawing/2014/main" val="3559688170"/>
                    </a:ext>
                  </a:extLst>
                </a:gridCol>
              </a:tblGrid>
              <a:tr h="435698">
                <a:tc>
                  <a:txBody>
                    <a:bodyPr/>
                    <a:lstStyle/>
                    <a:p>
                      <a:pPr algn="ctr"/>
                      <a:r>
                        <a:rPr lang="zh-CN" altLang="zh-CN" sz="2000" b="1" kern="1200" dirty="0">
                          <a:solidFill>
                            <a:schemeClr val="lt1"/>
                          </a:solidFill>
                          <a:effectLst/>
                          <a:latin typeface="+mn-lt"/>
                          <a:ea typeface="+mn-ea"/>
                          <a:cs typeface="+mn-cs"/>
                        </a:rPr>
                        <a:t>来源</a:t>
                      </a:r>
                      <a:endParaRPr lang="zh-CN" altLang="en-US" sz="2000" dirty="0"/>
                    </a:p>
                  </a:txBody>
                  <a:tcPr/>
                </a:tc>
                <a:tc>
                  <a:txBody>
                    <a:bodyPr/>
                    <a:lstStyle/>
                    <a:p>
                      <a:pPr algn="ctr">
                        <a:lnSpc>
                          <a:spcPct val="115000"/>
                        </a:lnSpc>
                        <a:spcAft>
                          <a:spcPts val="800"/>
                        </a:spcAft>
                        <a:buNone/>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LA</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含量 </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r>
                        <a:rPr lang="zh-CN" altLang="zh-CN" sz="2000" b="1" kern="1200" dirty="0">
                          <a:solidFill>
                            <a:schemeClr val="lt1"/>
                          </a:solidFill>
                          <a:effectLst/>
                          <a:latin typeface="+mn-lt"/>
                          <a:ea typeface="+mn-ea"/>
                          <a:cs typeface="+mn-cs"/>
                        </a:rPr>
                        <a:t>来源</a:t>
                      </a:r>
                      <a:endParaRPr lang="zh-CN" altLang="en-US" sz="2000" dirty="0"/>
                    </a:p>
                  </a:txBody>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LA</a:t>
                      </a:r>
                      <a:r>
                        <a:rPr lang="zh-CN" altLang="en-US" sz="2000" kern="100" dirty="0">
                          <a:effectLst/>
                          <a:latin typeface="等线" panose="02010600030101010101" pitchFamily="2" charset="-122"/>
                          <a:ea typeface="等线" panose="02010600030101010101" pitchFamily="2" charset="-122"/>
                          <a:cs typeface="Times New Roman" panose="02020603050405020304" pitchFamily="18" charset="0"/>
                        </a:rPr>
                        <a:t>含量 </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42865077"/>
                  </a:ext>
                </a:extLst>
              </a:tr>
              <a:tr h="435698">
                <a:tc>
                  <a:txBody>
                    <a:bodyPr/>
                    <a:lstStyle/>
                    <a:p>
                      <a:pPr algn="ctr"/>
                      <a:r>
                        <a:rPr lang="zh-CN" altLang="zh-CN" sz="1800" dirty="0">
                          <a:effectLst/>
                          <a:ea typeface="等线" panose="02010600030101010101" pitchFamily="2" charset="-122"/>
                          <a:cs typeface="Times New Roman" panose="02020603050405020304" pitchFamily="18" charset="0"/>
                        </a:rPr>
                        <a:t>椰子油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45~53</a:t>
                      </a:r>
                      <a:endParaRPr lang="zh-CN" altLang="en-US" dirty="0"/>
                    </a:p>
                  </a:txBody>
                  <a:tcPr/>
                </a:tc>
                <a:tc>
                  <a:txBody>
                    <a:bodyPr/>
                    <a:lstStyle/>
                    <a:p>
                      <a:pPr algn="ctr"/>
                      <a:r>
                        <a:rPr lang="zh-CN" altLang="zh-CN" sz="1800" dirty="0">
                          <a:effectLst/>
                          <a:ea typeface="等线" panose="02010600030101010101" pitchFamily="2" charset="-122"/>
                          <a:cs typeface="Times New Roman" panose="02020603050405020304" pitchFamily="18" charset="0"/>
                        </a:rPr>
                        <a:t>棕榈乳脂</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40</a:t>
                      </a:r>
                      <a:endParaRPr lang="zh-CN" altLang="en-US" dirty="0"/>
                    </a:p>
                  </a:txBody>
                  <a:tcPr/>
                </a:tc>
                <a:extLst>
                  <a:ext uri="{0D108BD9-81ED-4DB2-BD59-A6C34878D82A}">
                    <a16:rowId xmlns:a16="http://schemas.microsoft.com/office/drawing/2014/main" val="2082119993"/>
                  </a:ext>
                </a:extLst>
              </a:tr>
              <a:tr h="435698">
                <a:tc>
                  <a:txBody>
                    <a:bodyPr/>
                    <a:lstStyle/>
                    <a:p>
                      <a:pPr algn="ctr"/>
                      <a:r>
                        <a:rPr lang="zh-CN" altLang="zh-CN" sz="1800" dirty="0">
                          <a:effectLst/>
                          <a:ea typeface="等线" panose="02010600030101010101" pitchFamily="2" charset="-122"/>
                          <a:cs typeface="Times New Roman" panose="02020603050405020304" pitchFamily="18" charset="0"/>
                        </a:rPr>
                        <a:t>棕榈仁油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45.7~48.2</a:t>
                      </a:r>
                      <a:endParaRPr lang="zh-CN" altLang="en-US" dirty="0"/>
                    </a:p>
                  </a:txBody>
                  <a:tcPr/>
                </a:tc>
                <a:tc>
                  <a:txBody>
                    <a:bodyPr/>
                    <a:lstStyle/>
                    <a:p>
                      <a:pPr algn="ctr"/>
                      <a:r>
                        <a:rPr lang="zh-CN" altLang="zh-CN" sz="1800" dirty="0">
                          <a:effectLst/>
                          <a:ea typeface="等线" panose="02010600030101010101" pitchFamily="2" charset="-122"/>
                          <a:cs typeface="Times New Roman" panose="02020603050405020304" pitchFamily="18" charset="0"/>
                        </a:rPr>
                        <a:t>小冠椰子油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43.64</a:t>
                      </a:r>
                      <a:endParaRPr lang="zh-CN" altLang="en-US" dirty="0"/>
                    </a:p>
                  </a:txBody>
                  <a:tcPr/>
                </a:tc>
                <a:extLst>
                  <a:ext uri="{0D108BD9-81ED-4DB2-BD59-A6C34878D82A}">
                    <a16:rowId xmlns:a16="http://schemas.microsoft.com/office/drawing/2014/main" val="677988127"/>
                  </a:ext>
                </a:extLst>
              </a:tr>
              <a:tr h="435698">
                <a:tc>
                  <a:txBody>
                    <a:bodyPr/>
                    <a:lstStyle/>
                    <a:p>
                      <a:pPr algn="ctr"/>
                      <a:r>
                        <a:rPr lang="zh-CN" altLang="zh-CN" sz="1800" dirty="0">
                          <a:effectLst/>
                          <a:ea typeface="等线" panose="02010600030101010101" pitchFamily="2" charset="-122"/>
                          <a:cs typeface="Times New Roman" panose="02020603050405020304" pitchFamily="18" charset="0"/>
                        </a:rPr>
                        <a:t>巴巴苏籽油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47.4</a:t>
                      </a:r>
                      <a:endParaRPr lang="zh-CN" altLang="en-US" dirty="0"/>
                    </a:p>
                  </a:txBody>
                  <a:tcPr/>
                </a:tc>
                <a:tc>
                  <a:txBody>
                    <a:bodyPr/>
                    <a:lstStyle/>
                    <a:p>
                      <a:pPr algn="ctr"/>
                      <a:r>
                        <a:rPr lang="zh-CN" altLang="zh-CN" sz="1800" dirty="0">
                          <a:effectLst/>
                          <a:ea typeface="等线" panose="02010600030101010101" pitchFamily="2" charset="-122"/>
                          <a:cs typeface="Times New Roman" panose="02020603050405020304" pitchFamily="18" charset="0"/>
                        </a:rPr>
                        <a:t>桐油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45.5</a:t>
                      </a:r>
                      <a:endParaRPr lang="zh-CN" altLang="en-US" dirty="0"/>
                    </a:p>
                  </a:txBody>
                  <a:tcPr/>
                </a:tc>
                <a:extLst>
                  <a:ext uri="{0D108BD9-81ED-4DB2-BD59-A6C34878D82A}">
                    <a16:rowId xmlns:a16="http://schemas.microsoft.com/office/drawing/2014/main" val="4196766837"/>
                  </a:ext>
                </a:extLst>
              </a:tr>
              <a:tr h="435698">
                <a:tc>
                  <a:txBody>
                    <a:bodyPr/>
                    <a:lstStyle/>
                    <a:p>
                      <a:pPr algn="ctr"/>
                      <a:r>
                        <a:rPr lang="zh-CN" altLang="zh-CN" sz="1800" dirty="0">
                          <a:effectLst/>
                          <a:ea typeface="等线" panose="02010600030101010101" pitchFamily="2" charset="-122"/>
                          <a:cs typeface="Times New Roman" panose="02020603050405020304" pitchFamily="18" charset="0"/>
                        </a:rPr>
                        <a:t>羽叶棕榈果油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46.5</a:t>
                      </a:r>
                      <a:endParaRPr lang="zh-CN" altLang="en-US" dirty="0"/>
                    </a:p>
                  </a:txBody>
                  <a:tcPr/>
                </a:tc>
                <a:tc>
                  <a:txBody>
                    <a:bodyPr/>
                    <a:lstStyle/>
                    <a:p>
                      <a:pPr algn="ctr"/>
                      <a:r>
                        <a:rPr lang="zh-CN" altLang="zh-CN" sz="1800" dirty="0">
                          <a:effectLst/>
                          <a:ea typeface="等线" panose="02010600030101010101" pitchFamily="2" charset="-122"/>
                          <a:cs typeface="Times New Roman" panose="02020603050405020304" pitchFamily="18" charset="0"/>
                        </a:rPr>
                        <a:t>月桂油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37.6</a:t>
                      </a:r>
                      <a:endParaRPr lang="zh-CN" altLang="en-US" dirty="0"/>
                    </a:p>
                  </a:txBody>
                  <a:tcPr/>
                </a:tc>
                <a:extLst>
                  <a:ext uri="{0D108BD9-81ED-4DB2-BD59-A6C34878D82A}">
                    <a16:rowId xmlns:a16="http://schemas.microsoft.com/office/drawing/2014/main" val="101806526"/>
                  </a:ext>
                </a:extLst>
              </a:tr>
              <a:tr h="435698">
                <a:tc>
                  <a:txBody>
                    <a:bodyPr/>
                    <a:lstStyle/>
                    <a:p>
                      <a:pPr algn="ctr"/>
                      <a:r>
                        <a:rPr lang="zh-CN" altLang="zh-CN" sz="1800" dirty="0">
                          <a:effectLst/>
                          <a:ea typeface="等线" panose="02010600030101010101" pitchFamily="2" charset="-122"/>
                          <a:cs typeface="Times New Roman" panose="02020603050405020304" pitchFamily="18" charset="0"/>
                        </a:rPr>
                        <a:t>肉豆蔻油</a:t>
                      </a:r>
                      <a:endParaRPr lang="zh-CN" altLang="en-US" dirty="0"/>
                    </a:p>
                  </a:txBody>
                  <a:tcPr/>
                </a:tc>
                <a:tc>
                  <a:txBody>
                    <a:bodyPr/>
                    <a:lstStyle/>
                    <a:p>
                      <a:pPr algn="ctr"/>
                      <a:r>
                        <a:rPr lang="en-US" altLang="zh-CN" sz="1800" dirty="0">
                          <a:effectLst/>
                          <a:latin typeface="等线" panose="02010600030101010101" pitchFamily="2" charset="-122"/>
                          <a:cs typeface="Times New Roman" panose="02020603050405020304" pitchFamily="18" charset="0"/>
                        </a:rPr>
                        <a:t>73</a:t>
                      </a:r>
                      <a:endParaRPr lang="zh-CN" altLang="en-US" dirty="0"/>
                    </a:p>
                  </a:txBody>
                  <a:tcPr/>
                </a:tc>
                <a:tc>
                  <a:txBody>
                    <a:bodyPr/>
                    <a:lstStyle/>
                    <a:p>
                      <a:pPr algn="ctr"/>
                      <a:endParaRPr lang="zh-CN" altLang="en-US"/>
                    </a:p>
                  </a:txBody>
                  <a:tcPr/>
                </a:tc>
                <a:tc>
                  <a:txBody>
                    <a:bodyPr/>
                    <a:lstStyle/>
                    <a:p>
                      <a:pPr algn="ctr"/>
                      <a:endParaRPr lang="zh-CN" altLang="en-US" dirty="0"/>
                    </a:p>
                  </a:txBody>
                  <a:tcPr/>
                </a:tc>
                <a:extLst>
                  <a:ext uri="{0D108BD9-81ED-4DB2-BD59-A6C34878D82A}">
                    <a16:rowId xmlns:a16="http://schemas.microsoft.com/office/drawing/2014/main" val="2794265114"/>
                  </a:ext>
                </a:extLst>
              </a:tr>
            </a:tbl>
          </a:graphicData>
        </a:graphic>
      </p:graphicFrame>
      <p:sp>
        <p:nvSpPr>
          <p:cNvPr id="12" name="内容占位符 7">
            <a:extLst>
              <a:ext uri="{FF2B5EF4-FFF2-40B4-BE49-F238E27FC236}">
                <a16:creationId xmlns:a16="http://schemas.microsoft.com/office/drawing/2014/main" id="{93407F27-08E7-B0FA-072E-E1DCEBB18E27}"/>
              </a:ext>
            </a:extLst>
          </p:cNvPr>
          <p:cNvSpPr txBox="1">
            <a:spLocks/>
          </p:cNvSpPr>
          <p:nvPr/>
        </p:nvSpPr>
        <p:spPr>
          <a:xfrm>
            <a:off x="1182870" y="5387861"/>
            <a:ext cx="9596232" cy="14026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dirty="0"/>
              <a:t>其中，</a:t>
            </a:r>
            <a:r>
              <a:rPr lang="zh-CN" altLang="zh-CN" dirty="0">
                <a:solidFill>
                  <a:schemeClr val="accent1">
                    <a:lumMod val="50000"/>
                  </a:schemeClr>
                </a:solidFill>
              </a:rPr>
              <a:t>椰子</a:t>
            </a:r>
            <a:r>
              <a:rPr lang="zh-CN" altLang="zh-CN" dirty="0"/>
              <a:t>和</a:t>
            </a:r>
            <a:r>
              <a:rPr lang="zh-CN" altLang="zh-CN" dirty="0">
                <a:solidFill>
                  <a:schemeClr val="accent1">
                    <a:lumMod val="50000"/>
                  </a:schemeClr>
                </a:solidFill>
              </a:rPr>
              <a:t>棕榈仁油</a:t>
            </a:r>
            <a:r>
              <a:rPr lang="zh-CN" altLang="zh-CN" dirty="0"/>
              <a:t>中含有大量的脂肪酸，也是</a:t>
            </a:r>
            <a:r>
              <a:rPr lang="en-US" altLang="zh-CN" dirty="0"/>
              <a:t>LA</a:t>
            </a:r>
            <a:r>
              <a:rPr lang="zh-CN" altLang="zh-CN" dirty="0"/>
              <a:t>是最广泛的来源</a:t>
            </a:r>
          </a:p>
          <a:p>
            <a:pPr marL="0" indent="0">
              <a:buFont typeface="Arial" panose="020B0604020202020204" pitchFamily="34" charset="0"/>
              <a:buNone/>
            </a:pPr>
            <a:endParaRPr lang="zh-CN" altLang="en-US" dirty="0"/>
          </a:p>
        </p:txBody>
      </p:sp>
    </p:spTree>
    <p:extLst>
      <p:ext uri="{BB962C8B-B14F-4D97-AF65-F5344CB8AC3E}">
        <p14:creationId xmlns:p14="http://schemas.microsoft.com/office/powerpoint/2010/main" val="3488920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988992"/>
          </a:xfrm>
          <a:prstGeom prst="rect">
            <a:avLst/>
          </a:prstGeom>
        </p:spPr>
      </p:pic>
      <p:pic>
        <p:nvPicPr>
          <p:cNvPr id="9" name="内容占位符 8"/>
          <p:cNvPicPr>
            <a:picLocks noGrp="1" noChangeAspect="1"/>
          </p:cNvPicPr>
          <p:nvPr>
            <p:ph idx="1"/>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96215" y="1513205"/>
            <a:ext cx="3484880" cy="3599180"/>
          </a:xfrm>
          <a:solidFill>
            <a:schemeClr val="accent1"/>
          </a:solidFill>
          <a:effectLst>
            <a:reflection blurRad="6350" stA="52000" endA="300" endPos="35000" dir="5400000" sy="-100000" algn="bl" rotWithShape="0"/>
          </a:effectLst>
        </p:spPr>
      </p:pic>
      <p:pic>
        <p:nvPicPr>
          <p:cNvPr id="10" name="图片 9"/>
          <p:cNvPicPr>
            <a:picLocks noChangeAspect="1"/>
          </p:cNvPicPr>
          <p:nvPr/>
        </p:nvPicPr>
        <p:blipFill>
          <a:blip r:embed="rId4" cstate="print"/>
          <a:stretch>
            <a:fillRect/>
          </a:stretch>
        </p:blipFill>
        <p:spPr>
          <a:xfrm>
            <a:off x="10458893" y="0"/>
            <a:ext cx="1200932" cy="778693"/>
          </a:xfrm>
          <a:prstGeom prst="rect">
            <a:avLst/>
          </a:prstGeom>
        </p:spPr>
      </p:pic>
      <p:cxnSp>
        <p:nvCxnSpPr>
          <p:cNvPr id="12" name="直接连接符 11"/>
          <p:cNvCxnSpPr/>
          <p:nvPr/>
        </p:nvCxnSpPr>
        <p:spPr>
          <a:xfrm>
            <a:off x="149290" y="653143"/>
            <a:ext cx="46653" cy="5906278"/>
          </a:xfrm>
          <a:prstGeom prst="line">
            <a:avLst/>
          </a:prstGeom>
          <a:ln>
            <a:solidFill>
              <a:srgbClr val="055893"/>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95943" y="6559421"/>
            <a:ext cx="11996057" cy="0"/>
          </a:xfrm>
          <a:prstGeom prst="line">
            <a:avLst/>
          </a:prstGeom>
          <a:ln>
            <a:solidFill>
              <a:srgbClr val="055893"/>
            </a:solidFill>
          </a:ln>
        </p:spPr>
        <p:style>
          <a:lnRef idx="1">
            <a:schemeClr val="accent1"/>
          </a:lnRef>
          <a:fillRef idx="0">
            <a:schemeClr val="accent1"/>
          </a:fillRef>
          <a:effectRef idx="0">
            <a:schemeClr val="accent1"/>
          </a:effectRef>
          <a:fontRef idx="minor">
            <a:schemeClr val="tx1"/>
          </a:fontRef>
        </p:style>
      </p:cxnSp>
      <p:sp>
        <p:nvSpPr>
          <p:cNvPr id="3" name="五边形 2"/>
          <p:cNvSpPr/>
          <p:nvPr/>
        </p:nvSpPr>
        <p:spPr>
          <a:xfrm>
            <a:off x="3592286" y="778693"/>
            <a:ext cx="5007428" cy="867227"/>
          </a:xfrm>
          <a:prstGeom prst="homePlate">
            <a:avLst/>
          </a:prstGeom>
          <a:solidFill>
            <a:schemeClr val="bg1"/>
          </a:solidFill>
          <a:ln w="31750">
            <a:solidFill>
              <a:srgbClr val="0558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dirty="0">
                <a:solidFill>
                  <a:srgbClr val="055893"/>
                </a:solidFill>
                <a:latin typeface="微软雅黑" panose="020B0503020204020204" pitchFamily="34" charset="-122"/>
                <a:ea typeface="微软雅黑" panose="020B0503020204020204" pitchFamily="34" charset="-122"/>
                <a:cs typeface="微软雅黑" panose="020B0503020204020204" pitchFamily="34" charset="-122"/>
              </a:rPr>
              <a:t>LA</a:t>
            </a:r>
            <a:r>
              <a:rPr lang="zh-CN" altLang="en-US" sz="2800" b="1" dirty="0">
                <a:solidFill>
                  <a:srgbClr val="055893"/>
                </a:solidFill>
                <a:latin typeface="微软雅黑" panose="020B0503020204020204" pitchFamily="34" charset="-122"/>
                <a:ea typeface="微软雅黑" panose="020B0503020204020204" pitchFamily="34" charset="-122"/>
                <a:cs typeface="微软雅黑" panose="020B0503020204020204" pitchFamily="34" charset="-122"/>
              </a:rPr>
              <a:t>的提取方法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800" b="1" i="0" u="none" strike="noStrike" kern="1200" cap="none" spc="0" normalizeH="0" baseline="0" noProof="0" dirty="0">
              <a:ln>
                <a:noFill/>
              </a:ln>
              <a:solidFill>
                <a:srgbClr val="055893"/>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t="31388" b="27079"/>
          <a:stretch>
            <a:fillRect/>
          </a:stretch>
        </p:blipFill>
        <p:spPr>
          <a:xfrm>
            <a:off x="10428081" y="6105082"/>
            <a:ext cx="1231720" cy="454887"/>
          </a:xfrm>
          <a:prstGeom prst="rect">
            <a:avLst/>
          </a:prstGeom>
          <a:solidFill>
            <a:schemeClr val="accent1"/>
          </a:solidFill>
        </p:spPr>
      </p:pic>
      <p:grpSp>
        <p:nvGrpSpPr>
          <p:cNvPr id="5" name="组合 4">
            <a:extLst>
              <a:ext uri="{FF2B5EF4-FFF2-40B4-BE49-F238E27FC236}">
                <a16:creationId xmlns:a16="http://schemas.microsoft.com/office/drawing/2014/main" id="{EBA76305-9F09-2F3E-BA0A-195E80C422DF}"/>
              </a:ext>
            </a:extLst>
          </p:cNvPr>
          <p:cNvGrpSpPr/>
          <p:nvPr/>
        </p:nvGrpSpPr>
        <p:grpSpPr>
          <a:xfrm>
            <a:off x="809028" y="1757935"/>
            <a:ext cx="4544327" cy="3329433"/>
            <a:chOff x="3533744" y="1752206"/>
            <a:chExt cx="2562256" cy="4114317"/>
          </a:xfrm>
        </p:grpSpPr>
        <p:sp>
          <p:nvSpPr>
            <p:cNvPr id="7" name="剪去对角的矩形 6"/>
            <p:cNvSpPr/>
            <p:nvPr/>
          </p:nvSpPr>
          <p:spPr>
            <a:xfrm>
              <a:off x="3533744" y="1752206"/>
              <a:ext cx="2562256" cy="4114317"/>
            </a:xfrm>
            <a:prstGeom prst="snip2DiagRect">
              <a:avLst>
                <a:gd name="adj1" fmla="val 0"/>
                <a:gd name="adj2" fmla="val 9385"/>
              </a:avLst>
            </a:prstGeom>
            <a:solidFill>
              <a:schemeClr val="accent2">
                <a:lumMod val="75000"/>
              </a:schemeClr>
            </a:solidFill>
            <a:ln w="76200" cmpd="thickThin">
              <a:solidFill>
                <a:srgbClr val="D1E7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defRPr/>
              </a:pPr>
              <a:endParaRPr lang="en-US" altLang="zh-CN" sz="2000" dirty="0">
                <a:solidFill>
                  <a:schemeClr val="bg1"/>
                </a:solidFill>
              </a:endParaRPr>
            </a:p>
            <a:p>
              <a:pPr algn="just">
                <a:defRPr/>
              </a:pPr>
              <a:endParaRPr lang="en-US" altLang="zh-CN" sz="2000" dirty="0">
                <a:solidFill>
                  <a:schemeClr val="bg1"/>
                </a:solidFill>
              </a:endParaRPr>
            </a:p>
            <a:p>
              <a:pPr algn="just">
                <a:defRPr/>
              </a:pPr>
              <a:r>
                <a:rPr lang="zh-CN" altLang="en-US" sz="2000" dirty="0">
                  <a:solidFill>
                    <a:schemeClr val="bg1"/>
                  </a:solidFill>
                </a:rPr>
                <a:t>油脂中的月桂酸甘油脂，通过水解或酯交换反应得到脂肪酸，然后利用各脂肪酸沸点不同进行减压蒸馏得到</a:t>
              </a:r>
              <a:r>
                <a:rPr lang="en-US" altLang="zh-CN" sz="2000" dirty="0">
                  <a:solidFill>
                    <a:schemeClr val="bg1"/>
                  </a:solidFill>
                </a:rPr>
                <a:t>LA</a:t>
              </a:r>
              <a:r>
                <a:rPr lang="zh-CN" altLang="en-US" sz="2000" dirty="0">
                  <a:solidFill>
                    <a:schemeClr val="bg1"/>
                  </a:solidFill>
                </a:rPr>
                <a:t>。</a:t>
              </a:r>
            </a:p>
          </p:txBody>
        </p:sp>
        <p:sp>
          <p:nvSpPr>
            <p:cNvPr id="16" name="文本框 15"/>
            <p:cNvSpPr txBox="1"/>
            <p:nvPr/>
          </p:nvSpPr>
          <p:spPr>
            <a:xfrm>
              <a:off x="4519900" y="1782412"/>
              <a:ext cx="647094" cy="950830"/>
            </a:xfrm>
            <a:prstGeom prst="rect">
              <a:avLst/>
            </a:prstGeom>
            <a:noFill/>
          </p:spPr>
          <p:txBody>
            <a:bodyPr wrap="square" rtlCol="0">
              <a:spAutoFit/>
            </a:bodyPr>
            <a:lstStyle/>
            <a:p>
              <a:r>
                <a:rPr lang="en-US" altLang="zh-CN" sz="4400" b="1" dirty="0">
                  <a:solidFill>
                    <a:schemeClr val="bg1"/>
                  </a:solidFill>
                  <a:cs typeface="微软雅黑" panose="020B0503020204020204" pitchFamily="34" charset="-122"/>
                </a:rPr>
                <a:t>01</a:t>
              </a:r>
            </a:p>
          </p:txBody>
        </p:sp>
      </p:grpSp>
      <p:sp>
        <p:nvSpPr>
          <p:cNvPr id="2" name="剪去对角的矩形 7">
            <a:extLst>
              <a:ext uri="{FF2B5EF4-FFF2-40B4-BE49-F238E27FC236}">
                <a16:creationId xmlns:a16="http://schemas.microsoft.com/office/drawing/2014/main" id="{F8083F31-AE0B-B5E8-0EF7-BF27CF80C999}"/>
              </a:ext>
            </a:extLst>
          </p:cNvPr>
          <p:cNvSpPr/>
          <p:nvPr/>
        </p:nvSpPr>
        <p:spPr>
          <a:xfrm>
            <a:off x="6592186" y="1783499"/>
            <a:ext cx="4600842" cy="3328872"/>
          </a:xfrm>
          <a:prstGeom prst="snip2DiagRect">
            <a:avLst>
              <a:gd name="adj1" fmla="val 0"/>
              <a:gd name="adj2" fmla="val 9385"/>
            </a:avLst>
          </a:prstGeom>
          <a:solidFill>
            <a:schemeClr val="accent2">
              <a:lumMod val="20000"/>
              <a:lumOff val="80000"/>
            </a:schemeClr>
          </a:solidFill>
          <a:ln w="69850" cmpd="thinThick">
            <a:solidFill>
              <a:srgbClr val="1D62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defRPr/>
            </a:pPr>
            <a:endParaRPr lang="en-US" altLang="zh-CN" sz="2000" dirty="0">
              <a:solidFill>
                <a:schemeClr val="bg1">
                  <a:lumMod val="50000"/>
                </a:schemeClr>
              </a:solidFill>
            </a:endParaRPr>
          </a:p>
          <a:p>
            <a:pPr algn="just">
              <a:defRPr/>
            </a:pPr>
            <a:endParaRPr lang="en-US" altLang="zh-CN" sz="2000" dirty="0">
              <a:solidFill>
                <a:schemeClr val="bg1">
                  <a:lumMod val="50000"/>
                </a:schemeClr>
              </a:solidFill>
            </a:endParaRPr>
          </a:p>
          <a:p>
            <a:pPr algn="just">
              <a:defRPr/>
            </a:pPr>
            <a:r>
              <a:rPr lang="zh-CN" altLang="en-US" sz="2000" dirty="0">
                <a:solidFill>
                  <a:schemeClr val="bg1">
                    <a:lumMod val="50000"/>
                  </a:schemeClr>
                </a:solidFill>
              </a:rPr>
              <a:t>将油脂先转化为脂肪酸甲酯，通过蒸馏得到月桂酸甲酯，再经水解酸化、烘干而制得</a:t>
            </a:r>
            <a:r>
              <a:rPr lang="en-US" altLang="zh-CN" sz="2000" dirty="0">
                <a:solidFill>
                  <a:schemeClr val="bg1">
                    <a:lumMod val="50000"/>
                  </a:schemeClr>
                </a:solidFill>
              </a:rPr>
              <a:t>LA</a:t>
            </a:r>
            <a:r>
              <a:rPr lang="zh-CN" altLang="en-US" sz="2000" dirty="0">
                <a:solidFill>
                  <a:schemeClr val="bg1">
                    <a:lumMod val="50000"/>
                  </a:schemeClr>
                </a:solidFill>
              </a:rPr>
              <a:t>。</a:t>
            </a:r>
          </a:p>
        </p:txBody>
      </p:sp>
      <p:sp>
        <p:nvSpPr>
          <p:cNvPr id="15" name="文本框 14"/>
          <p:cNvSpPr txBox="1"/>
          <p:nvPr/>
        </p:nvSpPr>
        <p:spPr>
          <a:xfrm>
            <a:off x="8419416" y="1782952"/>
            <a:ext cx="1101136" cy="769441"/>
          </a:xfrm>
          <a:prstGeom prst="rect">
            <a:avLst/>
          </a:prstGeom>
          <a:noFill/>
        </p:spPr>
        <p:txBody>
          <a:bodyPr wrap="square" rtlCol="0">
            <a:spAutoFit/>
          </a:bodyPr>
          <a:lstStyle/>
          <a:p>
            <a:r>
              <a:rPr lang="en-US" altLang="zh-CN" sz="4400" b="1" dirty="0">
                <a:solidFill>
                  <a:srgbClr val="055893"/>
                </a:solidFill>
                <a:cs typeface="微软雅黑" panose="020B0503020204020204" pitchFamily="34" charset="-122"/>
              </a:rPr>
              <a:t>02</a:t>
            </a:r>
          </a:p>
        </p:txBody>
      </p:sp>
      <p:sp>
        <p:nvSpPr>
          <p:cNvPr id="20" name="文本框 19">
            <a:extLst>
              <a:ext uri="{FF2B5EF4-FFF2-40B4-BE49-F238E27FC236}">
                <a16:creationId xmlns:a16="http://schemas.microsoft.com/office/drawing/2014/main" id="{594016DC-9881-F248-387B-518858F6C864}"/>
              </a:ext>
            </a:extLst>
          </p:cNvPr>
          <p:cNvSpPr txBox="1"/>
          <p:nvPr/>
        </p:nvSpPr>
        <p:spPr>
          <a:xfrm>
            <a:off x="809027" y="2387683"/>
            <a:ext cx="4544327" cy="461665"/>
          </a:xfrm>
          <a:prstGeom prst="rect">
            <a:avLst/>
          </a:prstGeom>
          <a:noFill/>
        </p:spPr>
        <p:txBody>
          <a:bodyPr wrap="square" rtlCol="0">
            <a:spAutoFit/>
          </a:bodyPr>
          <a:lstStyle/>
          <a:p>
            <a:pPr algn="ctr"/>
            <a:r>
              <a:rPr lang="zh-CN" altLang="en-US" sz="2400" b="1" dirty="0">
                <a:solidFill>
                  <a:schemeClr val="bg1"/>
                </a:solidFill>
                <a:cs typeface="微软雅黑" panose="020B0503020204020204" pitchFamily="34" charset="-122"/>
              </a:rPr>
              <a:t>脂肪酸直接蒸馏法</a:t>
            </a:r>
          </a:p>
        </p:txBody>
      </p:sp>
      <p:sp>
        <p:nvSpPr>
          <p:cNvPr id="22" name="文本框 21">
            <a:extLst>
              <a:ext uri="{FF2B5EF4-FFF2-40B4-BE49-F238E27FC236}">
                <a16:creationId xmlns:a16="http://schemas.microsoft.com/office/drawing/2014/main" id="{805110F3-450D-CF96-36F6-E9E22766A37B}"/>
              </a:ext>
            </a:extLst>
          </p:cNvPr>
          <p:cNvSpPr txBox="1"/>
          <p:nvPr/>
        </p:nvSpPr>
        <p:spPr>
          <a:xfrm>
            <a:off x="6643990" y="2397118"/>
            <a:ext cx="4600842" cy="461665"/>
          </a:xfrm>
          <a:prstGeom prst="rect">
            <a:avLst/>
          </a:prstGeom>
          <a:noFill/>
        </p:spPr>
        <p:txBody>
          <a:bodyPr wrap="square" rtlCol="0">
            <a:spAutoFit/>
          </a:bodyPr>
          <a:lstStyle/>
          <a:p>
            <a:pPr algn="ctr"/>
            <a:r>
              <a:rPr lang="zh-CN" altLang="en-US" sz="2400" b="1" dirty="0">
                <a:solidFill>
                  <a:srgbClr val="055893"/>
                </a:solidFill>
                <a:cs typeface="微软雅黑" panose="020B0503020204020204" pitchFamily="34" charset="-122"/>
              </a:rPr>
              <a:t>脂肪酸甲酯化蒸馏和水解</a:t>
            </a:r>
          </a:p>
        </p:txBody>
      </p:sp>
      <p:pic>
        <p:nvPicPr>
          <p:cNvPr id="24" name="图片 23" descr="图片包含 图示&#10;&#10;AI 生成的内容可能不正确。">
            <a:extLst>
              <a:ext uri="{FF2B5EF4-FFF2-40B4-BE49-F238E27FC236}">
                <a16:creationId xmlns:a16="http://schemas.microsoft.com/office/drawing/2014/main" id="{CF573B95-1EBE-B9E9-E03D-8BC50000F0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58040" y="5249417"/>
            <a:ext cx="6631852" cy="1224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0"/>
            <a:ext cx="12192000" cy="1988992"/>
          </a:xfrm>
          <a:prstGeom prst="rect">
            <a:avLst/>
          </a:prstGeom>
        </p:spPr>
      </p:pic>
      <p:cxnSp>
        <p:nvCxnSpPr>
          <p:cNvPr id="12" name="直接连接符 11"/>
          <p:cNvCxnSpPr/>
          <p:nvPr/>
        </p:nvCxnSpPr>
        <p:spPr>
          <a:xfrm>
            <a:off x="149290" y="653143"/>
            <a:ext cx="46653" cy="5906278"/>
          </a:xfrm>
          <a:prstGeom prst="line">
            <a:avLst/>
          </a:prstGeom>
          <a:ln>
            <a:solidFill>
              <a:srgbClr val="055893"/>
            </a:solidFill>
          </a:ln>
        </p:spPr>
        <p:style>
          <a:lnRef idx="1">
            <a:schemeClr val="accent1"/>
          </a:lnRef>
          <a:fillRef idx="0">
            <a:schemeClr val="accent1"/>
          </a:fillRef>
          <a:effectRef idx="0">
            <a:schemeClr val="accent1"/>
          </a:effectRef>
          <a:fontRef idx="minor">
            <a:schemeClr val="tx1"/>
          </a:fontRef>
        </p:style>
      </p:cxnSp>
      <p:sp>
        <p:nvSpPr>
          <p:cNvPr id="2" name="圆角矩形 7"/>
          <p:cNvSpPr/>
          <p:nvPr/>
        </p:nvSpPr>
        <p:spPr>
          <a:xfrm>
            <a:off x="432762" y="405581"/>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任意多边形 4"/>
          <p:cNvSpPr/>
          <p:nvPr/>
        </p:nvSpPr>
        <p:spPr>
          <a:xfrm>
            <a:off x="689610" y="626110"/>
            <a:ext cx="3618230" cy="637540"/>
          </a:xfrm>
          <a:custGeom>
            <a:avLst/>
            <a:gdLst/>
            <a:ahLst/>
            <a:cxnLst>
              <a:cxn ang="3">
                <a:pos x="hc" y="t"/>
              </a:cxn>
              <a:cxn ang="cd2">
                <a:pos x="l" y="vc"/>
              </a:cxn>
              <a:cxn ang="cd4">
                <a:pos x="hc" y="b"/>
              </a:cxn>
              <a:cxn ang="0">
                <a:pos x="r" y="vc"/>
              </a:cxn>
            </a:cxnLst>
            <a:rect l="l" t="t" r="r" b="b"/>
            <a:pathLst>
              <a:path w="5184" h="1004">
                <a:moveTo>
                  <a:pt x="0" y="0"/>
                </a:moveTo>
                <a:lnTo>
                  <a:pt x="5183" y="0"/>
                </a:lnTo>
                <a:lnTo>
                  <a:pt x="4681" y="502"/>
                </a:lnTo>
                <a:lnTo>
                  <a:pt x="5184" y="1004"/>
                </a:lnTo>
                <a:lnTo>
                  <a:pt x="0" y="1004"/>
                </a:lnTo>
                <a:lnTo>
                  <a:pt x="0" y="0"/>
                </a:lnTo>
                <a:close/>
              </a:path>
            </a:pathLst>
          </a:custGeom>
          <a:solidFill>
            <a:srgbClr val="055893"/>
          </a:solidFill>
          <a:ln cap="rnd">
            <a:solidFill>
              <a:schemeClr val="accent2">
                <a:lumMod val="75000"/>
              </a:schemeClr>
            </a:solidFill>
            <a:round/>
          </a:ln>
        </p:spPr>
        <p:style>
          <a:lnRef idx="2">
            <a:schemeClr val="accent2"/>
          </a:lnRef>
          <a:fillRef idx="1">
            <a:schemeClr val="lt1"/>
          </a:fillRef>
          <a:effectRef idx="0">
            <a:schemeClr val="accent2"/>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6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0" name="标题 89"/>
          <p:cNvSpPr>
            <a:spLocks noGrp="1"/>
          </p:cNvSpPr>
          <p:nvPr>
            <p:ph type="title"/>
          </p:nvPr>
        </p:nvSpPr>
        <p:spPr>
          <a:xfrm>
            <a:off x="723900" y="711200"/>
            <a:ext cx="3109595" cy="494030"/>
          </a:xfrm>
        </p:spPr>
        <p:txBody>
          <a:bodyPr>
            <a:noAutofit/>
          </a:bodyPr>
          <a:lstStyle/>
          <a:p>
            <a:r>
              <a:rPr lang="zh-CN" altLang="en-US" sz="2800" b="1" dirty="0">
                <a:solidFill>
                  <a:schemeClr val="bg1"/>
                </a:solidFill>
                <a:cs typeface="微软雅黑" panose="020B0503020204020204" pitchFamily="34" charset="-122"/>
              </a:rPr>
              <a:t>月桂酸盐</a:t>
            </a:r>
          </a:p>
        </p:txBody>
      </p:sp>
      <p:cxnSp>
        <p:nvCxnSpPr>
          <p:cNvPr id="13" name="直接连接符 12"/>
          <p:cNvCxnSpPr/>
          <p:nvPr/>
        </p:nvCxnSpPr>
        <p:spPr>
          <a:xfrm>
            <a:off x="195943" y="6559421"/>
            <a:ext cx="9498563" cy="0"/>
          </a:xfrm>
          <a:prstGeom prst="line">
            <a:avLst/>
          </a:prstGeom>
          <a:ln>
            <a:solidFill>
              <a:srgbClr val="055893"/>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9" cstate="print"/>
          <a:stretch>
            <a:fillRect/>
          </a:stretch>
        </p:blipFill>
        <p:spPr>
          <a:xfrm>
            <a:off x="10436590" y="48679"/>
            <a:ext cx="1200932" cy="778693"/>
          </a:xfrm>
          <a:prstGeom prst="rect">
            <a:avLst/>
          </a:prstGeom>
        </p:spPr>
      </p:pic>
      <p:pic>
        <p:nvPicPr>
          <p:cNvPr id="3" name="图片 2"/>
          <p:cNvPicPr>
            <a:picLocks noChangeAspect="1"/>
          </p:cNvPicPr>
          <p:nvPr/>
        </p:nvPicPr>
        <p:blipFill rotWithShape="1">
          <a:blip r:embed="rId10" cstate="print">
            <a:extLst>
              <a:ext uri="{28A0092B-C50C-407E-A947-70E740481C1C}">
                <a14:useLocalDpi xmlns:a14="http://schemas.microsoft.com/office/drawing/2010/main" val="0"/>
              </a:ext>
            </a:extLst>
          </a:blip>
          <a:srcRect t="31388" b="27079"/>
          <a:stretch>
            <a:fillRect/>
          </a:stretch>
        </p:blipFill>
        <p:spPr>
          <a:xfrm>
            <a:off x="10716260" y="6543040"/>
            <a:ext cx="853440" cy="314960"/>
          </a:xfrm>
          <a:prstGeom prst="rect">
            <a:avLst/>
          </a:prstGeom>
          <a:solidFill>
            <a:schemeClr val="accent1"/>
          </a:solidFill>
        </p:spPr>
      </p:pic>
      <p:sp>
        <p:nvSpPr>
          <p:cNvPr id="69" name="文本框 68"/>
          <p:cNvSpPr txBox="1"/>
          <p:nvPr>
            <p:custDataLst>
              <p:tags r:id="rId1"/>
            </p:custDataLst>
          </p:nvPr>
        </p:nvSpPr>
        <p:spPr>
          <a:xfrm>
            <a:off x="802005" y="4877552"/>
            <a:ext cx="2625728" cy="1052596"/>
          </a:xfrm>
          <a:prstGeom prst="rect">
            <a:avLst/>
          </a:prstGeom>
        </p:spPr>
        <p:txBody>
          <a:bodyPr wrap="square">
            <a:normAutofit/>
          </a:bodyPr>
          <a:lstStyle>
            <a:defPPr>
              <a:defRPr lang="zh-CN"/>
            </a:defPPr>
            <a:lvl1pPr algn="ctr">
              <a:lnSpc>
                <a:spcPct val="130000"/>
              </a:lnSpc>
              <a:defRPr sz="1600">
                <a:solidFill>
                  <a:schemeClr val="tx1">
                    <a:lumMod val="50000"/>
                    <a:lumOff val="50000"/>
                  </a:schemeClr>
                </a:solidFill>
              </a:defRPr>
            </a:lvl1pPr>
          </a:lstStyle>
          <a:p>
            <a:endParaRPr lang="zh-CN" altLang="en-US" sz="1400" dirty="0">
              <a:solidFill>
                <a:schemeClr val="bg1">
                  <a:lumMod val="50000"/>
                </a:schemeClr>
              </a:solidFill>
              <a:cs typeface="微软雅黑" panose="020B0503020204020204" pitchFamily="34" charset="-122"/>
            </a:endParaRPr>
          </a:p>
        </p:txBody>
      </p:sp>
      <p:sp>
        <p:nvSpPr>
          <p:cNvPr id="22" name="文本框 21"/>
          <p:cNvSpPr txBox="1"/>
          <p:nvPr>
            <p:custDataLst>
              <p:tags r:id="rId2"/>
            </p:custDataLst>
          </p:nvPr>
        </p:nvSpPr>
        <p:spPr>
          <a:xfrm>
            <a:off x="4598035" y="4877552"/>
            <a:ext cx="2625728" cy="1052596"/>
          </a:xfrm>
          <a:prstGeom prst="rect">
            <a:avLst/>
          </a:prstGeom>
        </p:spPr>
        <p:txBody>
          <a:bodyPr wrap="square">
            <a:normAutofit/>
          </a:bodyPr>
          <a:lstStyle>
            <a:defPPr>
              <a:defRPr lang="zh-CN"/>
            </a:defPPr>
            <a:lvl1pPr algn="ctr">
              <a:lnSpc>
                <a:spcPct val="130000"/>
              </a:lnSpc>
              <a:defRPr sz="1600">
                <a:solidFill>
                  <a:schemeClr val="tx1">
                    <a:lumMod val="50000"/>
                    <a:lumOff val="50000"/>
                  </a:schemeClr>
                </a:solidFill>
              </a:defRPr>
            </a:lvl1pPr>
          </a:lstStyle>
          <a:p>
            <a:endParaRPr lang="zh-CN" altLang="en-US" sz="1400" dirty="0">
              <a:solidFill>
                <a:schemeClr val="bg1">
                  <a:lumMod val="50000"/>
                </a:schemeClr>
              </a:solidFill>
              <a:cs typeface="微软雅黑" panose="020B0503020204020204" pitchFamily="34" charset="-122"/>
            </a:endParaRPr>
          </a:p>
        </p:txBody>
      </p:sp>
      <p:sp>
        <p:nvSpPr>
          <p:cNvPr id="24" name="文本框 23"/>
          <p:cNvSpPr txBox="1"/>
          <p:nvPr>
            <p:custDataLst>
              <p:tags r:id="rId3"/>
            </p:custDataLst>
          </p:nvPr>
        </p:nvSpPr>
        <p:spPr>
          <a:xfrm>
            <a:off x="8390255" y="4877552"/>
            <a:ext cx="2625728" cy="1052596"/>
          </a:xfrm>
          <a:prstGeom prst="rect">
            <a:avLst/>
          </a:prstGeom>
        </p:spPr>
        <p:txBody>
          <a:bodyPr wrap="square">
            <a:normAutofit/>
          </a:bodyPr>
          <a:lstStyle>
            <a:defPPr>
              <a:defRPr lang="zh-CN"/>
            </a:defPPr>
            <a:lvl1pPr algn="ctr">
              <a:lnSpc>
                <a:spcPct val="130000"/>
              </a:lnSpc>
              <a:defRPr sz="1600">
                <a:solidFill>
                  <a:schemeClr val="tx1">
                    <a:lumMod val="50000"/>
                    <a:lumOff val="50000"/>
                  </a:schemeClr>
                </a:solidFill>
              </a:defRPr>
            </a:lvl1pPr>
          </a:lstStyle>
          <a:p>
            <a:endParaRPr lang="zh-CN" altLang="en-US" sz="1400" dirty="0">
              <a:solidFill>
                <a:schemeClr val="bg1">
                  <a:lumMod val="50000"/>
                </a:schemeClr>
              </a:solidFill>
              <a:cs typeface="微软雅黑" panose="020B0503020204020204" pitchFamily="34" charset="-122"/>
            </a:endParaRPr>
          </a:p>
        </p:txBody>
      </p:sp>
      <p:sp>
        <p:nvSpPr>
          <p:cNvPr id="21" name="文本占位符 90"/>
          <p:cNvSpPr>
            <a:spLocks noGrp="1"/>
          </p:cNvSpPr>
          <p:nvPr>
            <p:custDataLst>
              <p:tags r:id="rId4"/>
            </p:custDataLst>
          </p:nvPr>
        </p:nvSpPr>
        <p:spPr>
          <a:xfrm>
            <a:off x="4598035" y="4323715"/>
            <a:ext cx="2994025" cy="55372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zh-CN" altLang="en-US" sz="2000" dirty="0">
              <a:solidFill>
                <a:srgbClr val="05589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文本占位符 90"/>
          <p:cNvSpPr>
            <a:spLocks noGrp="1"/>
          </p:cNvSpPr>
          <p:nvPr>
            <p:custDataLst>
              <p:tags r:id="rId5"/>
            </p:custDataLst>
          </p:nvPr>
        </p:nvSpPr>
        <p:spPr>
          <a:xfrm>
            <a:off x="8394065" y="4323715"/>
            <a:ext cx="2994025" cy="55372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zh-CN" altLang="en-US" sz="2000" dirty="0">
              <a:solidFill>
                <a:srgbClr val="055893"/>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descr="图表, 折线图&#10;&#10;AI 生成的内容可能不正确。">
            <a:extLst>
              <a:ext uri="{FF2B5EF4-FFF2-40B4-BE49-F238E27FC236}">
                <a16:creationId xmlns:a16="http://schemas.microsoft.com/office/drawing/2014/main" id="{6C9E450D-97FD-2ADD-19E0-4CAE6585EFEA}"/>
              </a:ext>
            </a:extLst>
          </p:cNvPr>
          <p:cNvPicPr>
            <a:picLocks noChangeAspect="1"/>
          </p:cNvPicPr>
          <p:nvPr/>
        </p:nvPicPr>
        <p:blipFill>
          <a:blip r:embed="rId11">
            <a:extLst>
              <a:ext uri="{28A0092B-C50C-407E-A947-70E740481C1C}">
                <a14:useLocalDpi xmlns:a14="http://schemas.microsoft.com/office/drawing/2010/main" val="0"/>
              </a:ext>
            </a:extLst>
          </a:blip>
          <a:srcRect t="39833" r="1573" b="39374"/>
          <a:stretch>
            <a:fillRect/>
          </a:stretch>
        </p:blipFill>
        <p:spPr>
          <a:xfrm>
            <a:off x="6164142" y="1797318"/>
            <a:ext cx="5654375" cy="1194509"/>
          </a:xfrm>
          <a:prstGeom prst="rect">
            <a:avLst/>
          </a:prstGeom>
        </p:spPr>
      </p:pic>
      <p:sp>
        <p:nvSpPr>
          <p:cNvPr id="91" name="文本占位符 90"/>
          <p:cNvSpPr>
            <a:spLocks noGrp="1"/>
          </p:cNvSpPr>
          <p:nvPr>
            <p:ph type="body" idx="1"/>
          </p:nvPr>
        </p:nvSpPr>
        <p:spPr>
          <a:xfrm>
            <a:off x="891272" y="1797318"/>
            <a:ext cx="5331218" cy="3606532"/>
          </a:xfrm>
        </p:spPr>
        <p:txBody>
          <a:bodyPr>
            <a:noAutofit/>
          </a:bodyPr>
          <a:lstStyle/>
          <a:p>
            <a:pPr>
              <a:lnSpc>
                <a:spcPct val="100000"/>
              </a:lnSpc>
            </a:pPr>
            <a:r>
              <a:rPr lang="zh-CN" altLang="en-US" b="0" dirty="0"/>
              <a:t>月桂酸盐的疏水基团（通常为</a:t>
            </a:r>
            <a:r>
              <a:rPr lang="en-US" altLang="zh-CN" b="0" dirty="0"/>
              <a:t>C₁₂</a:t>
            </a:r>
            <a:r>
              <a:rPr lang="zh-CN" altLang="en-US" b="0" dirty="0"/>
              <a:t>烃链）会亲和油脂和污垢，而其亲水基团（如氨基酸的羧基或羟基）则能与水结合。分子通过这种</a:t>
            </a:r>
            <a:r>
              <a:rPr lang="en-US" altLang="zh-CN" b="0" dirty="0"/>
              <a:t>"</a:t>
            </a:r>
            <a:r>
              <a:rPr lang="zh-CN" altLang="en-US" b="0" dirty="0"/>
              <a:t>亲油性与亲水性</a:t>
            </a:r>
            <a:r>
              <a:rPr lang="en-US" altLang="zh-CN" b="0" dirty="0"/>
              <a:t>"</a:t>
            </a:r>
            <a:r>
              <a:rPr lang="zh-CN" altLang="en-US" b="0" dirty="0"/>
              <a:t>的相互作用，在水与油的界面</a:t>
            </a:r>
            <a:r>
              <a:rPr lang="zh-CN" altLang="en-US" b="0" dirty="0">
                <a:solidFill>
                  <a:schemeClr val="accent2">
                    <a:lumMod val="50000"/>
                  </a:schemeClr>
                </a:solidFill>
              </a:rPr>
              <a:t>形成乳化层</a:t>
            </a:r>
            <a:r>
              <a:rPr lang="zh-CN" altLang="en-US" b="0" dirty="0"/>
              <a:t>，</a:t>
            </a:r>
            <a:r>
              <a:rPr lang="zh-CN" altLang="en-US" b="0" dirty="0">
                <a:solidFill>
                  <a:schemeClr val="accent2">
                    <a:lumMod val="50000"/>
                  </a:schemeClr>
                </a:solidFill>
              </a:rPr>
              <a:t>降低界面张力</a:t>
            </a:r>
            <a:r>
              <a:rPr lang="zh-CN" altLang="en-US" b="0" dirty="0"/>
              <a:t>，形成稳定的乳液结构。其结构能够将油性杂质包裹成</a:t>
            </a:r>
            <a:r>
              <a:rPr lang="zh-CN" altLang="en-US" b="0" dirty="0">
                <a:solidFill>
                  <a:schemeClr val="accent2">
                    <a:lumMod val="50000"/>
                  </a:schemeClr>
                </a:solidFill>
              </a:rPr>
              <a:t>微小的胶束</a:t>
            </a:r>
            <a:r>
              <a:rPr lang="zh-CN" altLang="en-US" b="0" dirty="0"/>
              <a:t>，使其能够随水流清除。从而分解并去除皮肤上的油脂和杂质。</a:t>
            </a:r>
          </a:p>
        </p:txBody>
      </p:sp>
      <p:sp>
        <p:nvSpPr>
          <p:cNvPr id="14" name="文本框 13">
            <a:extLst>
              <a:ext uri="{FF2B5EF4-FFF2-40B4-BE49-F238E27FC236}">
                <a16:creationId xmlns:a16="http://schemas.microsoft.com/office/drawing/2014/main" id="{D374B2EC-277F-F1E7-0391-5D46CDCC08D4}"/>
              </a:ext>
            </a:extLst>
          </p:cNvPr>
          <p:cNvSpPr txBox="1"/>
          <p:nvPr/>
        </p:nvSpPr>
        <p:spPr>
          <a:xfrm>
            <a:off x="8024822" y="3723412"/>
            <a:ext cx="2154425" cy="1754326"/>
          </a:xfrm>
          <a:prstGeom prst="rect">
            <a:avLst/>
          </a:prstGeom>
          <a:noFill/>
        </p:spPr>
        <p:txBody>
          <a:bodyPr wrap="square">
            <a:spAutoFit/>
          </a:bodyPr>
          <a:lstStyle/>
          <a:p>
            <a:pPr marL="571500" indent="-571500">
              <a:buFont typeface="Arial" panose="020B0604020202020204" pitchFamily="34" charset="0"/>
              <a:buChar char="•"/>
            </a:pPr>
            <a:r>
              <a:rPr lang="zh-CN" altLang="en-US" sz="3600" b="1" dirty="0">
                <a:solidFill>
                  <a:srgbClr val="3883D8"/>
                </a:solidFill>
                <a:effectLst/>
                <a:latin typeface="+mn-ea"/>
                <a:cs typeface="Times New Roman" panose="02020603050405020304" pitchFamily="18" charset="0"/>
              </a:rPr>
              <a:t>温和</a:t>
            </a:r>
            <a:endParaRPr lang="en-US" altLang="zh-CN" sz="3600" b="1" dirty="0">
              <a:solidFill>
                <a:srgbClr val="3883D8"/>
              </a:solidFill>
              <a:effectLst/>
              <a:latin typeface="+mn-ea"/>
              <a:cs typeface="Times New Roman" panose="02020603050405020304" pitchFamily="18" charset="0"/>
            </a:endParaRPr>
          </a:p>
          <a:p>
            <a:pPr marL="571500" indent="-571500">
              <a:buFont typeface="Arial" panose="020B0604020202020204" pitchFamily="34" charset="0"/>
              <a:buChar char="•"/>
            </a:pPr>
            <a:r>
              <a:rPr lang="zh-CN" altLang="en-US" sz="3600" b="1" dirty="0">
                <a:solidFill>
                  <a:srgbClr val="3883D8"/>
                </a:solidFill>
                <a:latin typeface="+mn-ea"/>
              </a:rPr>
              <a:t>保湿</a:t>
            </a:r>
            <a:endParaRPr lang="en-US" altLang="zh-CN" sz="3600" b="1" dirty="0">
              <a:solidFill>
                <a:srgbClr val="3883D8"/>
              </a:solidFill>
              <a:latin typeface="+mn-ea"/>
            </a:endParaRPr>
          </a:p>
          <a:p>
            <a:pPr marL="571500" indent="-571500">
              <a:buFont typeface="Arial" panose="020B0604020202020204" pitchFamily="34" charset="0"/>
              <a:buChar char="•"/>
            </a:pPr>
            <a:r>
              <a:rPr lang="zh-CN" altLang="en-US" sz="3600" b="1" dirty="0">
                <a:solidFill>
                  <a:srgbClr val="3883D8"/>
                </a:solidFill>
                <a:latin typeface="+mn-ea"/>
              </a:rPr>
              <a:t>抗菌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p:nvPr/>
        </p:nvSpPr>
        <p:spPr>
          <a:xfrm>
            <a:off x="1289050" y="5702300"/>
            <a:ext cx="646430" cy="690245"/>
          </a:xfrm>
          <a:prstGeom prst="ellipse">
            <a:avLst/>
          </a:prstGeom>
          <a:solidFill>
            <a:srgbClr val="1C4885">
              <a:alpha val="90000"/>
            </a:srgbClr>
          </a:solidFill>
          <a:ln w="76200">
            <a:solidFill>
              <a:schemeClr val="bg1"/>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2104285" y="316255"/>
            <a:ext cx="467465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月桂酸及月桂酸盐的功效</a:t>
            </a:r>
          </a:p>
        </p:txBody>
      </p:sp>
      <p:sp>
        <p:nvSpPr>
          <p:cNvPr id="8" name="任意多边形 7"/>
          <p:cNvSpPr/>
          <p:nvPr/>
        </p:nvSpPr>
        <p:spPr>
          <a:xfrm>
            <a:off x="1878107" y="1538678"/>
            <a:ext cx="2520733" cy="2445011"/>
          </a:xfrm>
          <a:custGeom>
            <a:avLst/>
            <a:gdLst>
              <a:gd name="connsiteX0" fmla="*/ 1270000 w 2520733"/>
              <a:gd name="connsiteY0" fmla="*/ 0 h 2445011"/>
              <a:gd name="connsiteX1" fmla="*/ 2514198 w 2520733"/>
              <a:gd name="connsiteY1" fmla="*/ 1014051 h 2445011"/>
              <a:gd name="connsiteX2" fmla="*/ 2520733 w 2520733"/>
              <a:gd name="connsiteY2" fmla="*/ 1056868 h 2445011"/>
              <a:gd name="connsiteX3" fmla="*/ 2483803 w 2520733"/>
              <a:gd name="connsiteY3" fmla="*/ 1090431 h 2445011"/>
              <a:gd name="connsiteX4" fmla="*/ 2111829 w 2520733"/>
              <a:gd name="connsiteY4" fmla="*/ 1988457 h 2445011"/>
              <a:gd name="connsiteX5" fmla="*/ 2118386 w 2520733"/>
              <a:gd name="connsiteY5" fmla="*/ 2118307 h 2445011"/>
              <a:gd name="connsiteX6" fmla="*/ 2131096 w 2520733"/>
              <a:gd name="connsiteY6" fmla="*/ 2201890 h 2445011"/>
              <a:gd name="connsiteX7" fmla="*/ 2097177 w 2520733"/>
              <a:gd name="connsiteY7" fmla="*/ 2232418 h 2445011"/>
              <a:gd name="connsiteX8" fmla="*/ 1874293 w 2520733"/>
              <a:gd name="connsiteY8" fmla="*/ 2163231 h 2445011"/>
              <a:gd name="connsiteX9" fmla="*/ 1618343 w 2520733"/>
              <a:gd name="connsiteY9" fmla="*/ 2137429 h 2445011"/>
              <a:gd name="connsiteX10" fmla="*/ 810505 w 2520733"/>
              <a:gd name="connsiteY10" fmla="*/ 2427435 h 2445011"/>
              <a:gd name="connsiteX11" fmla="*/ 791167 w 2520733"/>
              <a:gd name="connsiteY11" fmla="*/ 2445011 h 2445011"/>
              <a:gd name="connsiteX12" fmla="*/ 775659 w 2520733"/>
              <a:gd name="connsiteY12" fmla="*/ 2440197 h 2445011"/>
              <a:gd name="connsiteX13" fmla="*/ 0 w 2520733"/>
              <a:gd name="connsiteY13" fmla="*/ 1270000 h 2445011"/>
              <a:gd name="connsiteX14" fmla="*/ 1270000 w 2520733"/>
              <a:gd name="connsiteY14" fmla="*/ 0 h 244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0733" h="2445011">
                <a:moveTo>
                  <a:pt x="1270000" y="0"/>
                </a:moveTo>
                <a:cubicBezTo>
                  <a:pt x="1883727" y="0"/>
                  <a:pt x="2395776" y="435333"/>
                  <a:pt x="2514198" y="1014051"/>
                </a:cubicBezTo>
                <a:lnTo>
                  <a:pt x="2520733" y="1056868"/>
                </a:lnTo>
                <a:lnTo>
                  <a:pt x="2483803" y="1090431"/>
                </a:lnTo>
                <a:cubicBezTo>
                  <a:pt x="2253979" y="1320256"/>
                  <a:pt x="2111829" y="1637756"/>
                  <a:pt x="2111829" y="1988457"/>
                </a:cubicBezTo>
                <a:cubicBezTo>
                  <a:pt x="2111829" y="2032295"/>
                  <a:pt x="2114050" y="2075614"/>
                  <a:pt x="2118386" y="2118307"/>
                </a:cubicBezTo>
                <a:lnTo>
                  <a:pt x="2131096" y="2201890"/>
                </a:lnTo>
                <a:lnTo>
                  <a:pt x="2097177" y="2232418"/>
                </a:lnTo>
                <a:lnTo>
                  <a:pt x="1874293" y="2163231"/>
                </a:lnTo>
                <a:cubicBezTo>
                  <a:pt x="1791619" y="2146314"/>
                  <a:pt x="1706018" y="2137429"/>
                  <a:pt x="1618343" y="2137429"/>
                </a:cubicBezTo>
                <a:cubicBezTo>
                  <a:pt x="1311480" y="2137429"/>
                  <a:pt x="1030036" y="2246262"/>
                  <a:pt x="810505" y="2427435"/>
                </a:cubicBezTo>
                <a:lnTo>
                  <a:pt x="791167" y="2445011"/>
                </a:lnTo>
                <a:lnTo>
                  <a:pt x="775659" y="2440197"/>
                </a:lnTo>
                <a:cubicBezTo>
                  <a:pt x="319837" y="2247401"/>
                  <a:pt x="0" y="1796052"/>
                  <a:pt x="0" y="1270000"/>
                </a:cubicBezTo>
                <a:cubicBezTo>
                  <a:pt x="0" y="568598"/>
                  <a:pt x="568598" y="0"/>
                  <a:pt x="1270000" y="0"/>
                </a:cubicBezTo>
                <a:close/>
              </a:path>
            </a:pathLst>
          </a:custGeom>
          <a:solidFill>
            <a:schemeClr val="bg1">
              <a:lumMod val="95000"/>
              <a:alpha val="80000"/>
            </a:schemeClr>
          </a:solidFill>
          <a:ln w="76200">
            <a:solidFill>
              <a:schemeClr val="bg1"/>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任意多边形 8"/>
          <p:cNvSpPr/>
          <p:nvPr/>
        </p:nvSpPr>
        <p:spPr>
          <a:xfrm>
            <a:off x="2199927" y="3714995"/>
            <a:ext cx="2540000" cy="2540000"/>
          </a:xfrm>
          <a:custGeom>
            <a:avLst/>
            <a:gdLst>
              <a:gd name="connsiteX0" fmla="*/ 1270000 w 2540000"/>
              <a:gd name="connsiteY0" fmla="*/ 0 h 2540000"/>
              <a:gd name="connsiteX1" fmla="*/ 1764342 w 2540000"/>
              <a:gd name="connsiteY1" fmla="*/ 99803 h 2540000"/>
              <a:gd name="connsiteX2" fmla="*/ 1790709 w 2540000"/>
              <a:gd name="connsiteY2" fmla="*/ 112505 h 2540000"/>
              <a:gd name="connsiteX3" fmla="*/ 1820583 w 2540000"/>
              <a:gd name="connsiteY3" fmla="*/ 228687 h 2540000"/>
              <a:gd name="connsiteX4" fmla="*/ 2428128 w 2540000"/>
              <a:gd name="connsiteY4" fmla="*/ 967746 h 2540000"/>
              <a:gd name="connsiteX5" fmla="*/ 2512777 w 2540000"/>
              <a:gd name="connsiteY5" fmla="*/ 1008523 h 2540000"/>
              <a:gd name="connsiteX6" fmla="*/ 2514198 w 2540000"/>
              <a:gd name="connsiteY6" fmla="*/ 1014051 h 2540000"/>
              <a:gd name="connsiteX7" fmla="*/ 2540000 w 2540000"/>
              <a:gd name="connsiteY7" fmla="*/ 1270000 h 2540000"/>
              <a:gd name="connsiteX8" fmla="*/ 1270000 w 2540000"/>
              <a:gd name="connsiteY8" fmla="*/ 2540000 h 2540000"/>
              <a:gd name="connsiteX9" fmla="*/ 0 w 2540000"/>
              <a:gd name="connsiteY9" fmla="*/ 1270000 h 2540000"/>
              <a:gd name="connsiteX10" fmla="*/ 1270000 w 2540000"/>
              <a:gd name="connsiteY10" fmla="*/ 0 h 25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40000" h="2540000">
                <a:moveTo>
                  <a:pt x="1270000" y="0"/>
                </a:moveTo>
                <a:cubicBezTo>
                  <a:pt x="1445351" y="0"/>
                  <a:pt x="1612401" y="35538"/>
                  <a:pt x="1764342" y="99803"/>
                </a:cubicBezTo>
                <a:lnTo>
                  <a:pt x="1790709" y="112505"/>
                </a:lnTo>
                <a:lnTo>
                  <a:pt x="1820583" y="228687"/>
                </a:lnTo>
                <a:cubicBezTo>
                  <a:pt x="1919534" y="546827"/>
                  <a:pt x="2140208" y="811338"/>
                  <a:pt x="2428128" y="967746"/>
                </a:cubicBezTo>
                <a:lnTo>
                  <a:pt x="2512777" y="1008523"/>
                </a:lnTo>
                <a:lnTo>
                  <a:pt x="2514198" y="1014051"/>
                </a:lnTo>
                <a:cubicBezTo>
                  <a:pt x="2531116" y="1096725"/>
                  <a:pt x="2540000" y="1182325"/>
                  <a:pt x="2540000" y="1270000"/>
                </a:cubicBezTo>
                <a:cubicBezTo>
                  <a:pt x="2540000" y="1971402"/>
                  <a:pt x="1971402" y="2540000"/>
                  <a:pt x="1270000" y="2540000"/>
                </a:cubicBezTo>
                <a:cubicBezTo>
                  <a:pt x="568598" y="2540000"/>
                  <a:pt x="0" y="1971402"/>
                  <a:pt x="0" y="1270000"/>
                </a:cubicBezTo>
                <a:cubicBezTo>
                  <a:pt x="0" y="568598"/>
                  <a:pt x="568598" y="0"/>
                  <a:pt x="1270000" y="0"/>
                </a:cubicBezTo>
                <a:close/>
              </a:path>
            </a:pathLst>
          </a:custGeom>
          <a:solidFill>
            <a:schemeClr val="tx1">
              <a:lumMod val="75000"/>
              <a:lumOff val="25000"/>
              <a:alpha val="80000"/>
            </a:schemeClr>
          </a:solidFill>
          <a:ln w="76200">
            <a:solidFill>
              <a:schemeClr val="bg1"/>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椭圆 9"/>
          <p:cNvSpPr/>
          <p:nvPr/>
        </p:nvSpPr>
        <p:spPr>
          <a:xfrm>
            <a:off x="3983369" y="2337298"/>
            <a:ext cx="2540000" cy="2540000"/>
          </a:xfrm>
          <a:prstGeom prst="ellipse">
            <a:avLst/>
          </a:prstGeom>
          <a:solidFill>
            <a:srgbClr val="1C4885">
              <a:alpha val="90000"/>
            </a:srgbClr>
          </a:solidFill>
          <a:ln w="76200">
            <a:solidFill>
              <a:schemeClr val="bg1"/>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2020904" y="2241964"/>
            <a:ext cx="2225040" cy="523220"/>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表面活性剂</a:t>
            </a:r>
          </a:p>
        </p:txBody>
      </p:sp>
      <p:sp>
        <p:nvSpPr>
          <p:cNvPr id="14" name="文本框 13"/>
          <p:cNvSpPr txBox="1"/>
          <p:nvPr/>
        </p:nvSpPr>
        <p:spPr>
          <a:xfrm>
            <a:off x="2430185" y="4692868"/>
            <a:ext cx="2079484" cy="523220"/>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抗菌抗病毒</a:t>
            </a:r>
          </a:p>
        </p:txBody>
      </p:sp>
      <p:sp>
        <p:nvSpPr>
          <p:cNvPr id="17" name="文本框 16"/>
          <p:cNvSpPr txBox="1"/>
          <p:nvPr/>
        </p:nvSpPr>
        <p:spPr>
          <a:xfrm>
            <a:off x="4140819" y="3015351"/>
            <a:ext cx="2225040" cy="1384995"/>
          </a:xfrm>
          <a:prstGeom prst="rect">
            <a:avLst/>
          </a:prstGeom>
          <a:noFill/>
        </p:spPr>
        <p:txBody>
          <a:bodyPr wrap="square" rtlCol="0">
            <a:spAutoFit/>
          </a:bodyPr>
          <a:lstStyle>
            <a:defPPr>
              <a:defRPr lang="zh-CN"/>
            </a:defPPr>
            <a:lvl1pPr>
              <a:defRPr>
                <a:solidFill>
                  <a:schemeClr val="bg1"/>
                </a:solidFill>
                <a:effectLst>
                  <a:outerShdw blurRad="152400" dist="50800" dir="5400000" algn="ctr" rotWithShape="0">
                    <a:schemeClr val="tx1"/>
                  </a:outerShdw>
                </a:effectLst>
                <a:latin typeface="FZZhengHeiS-DB-GB" panose="02000000000000000000" pitchFamily="2" charset="0"/>
                <a:ea typeface="FZZhengHeiS-DB-GB" panose="020000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温和清洁作用与保湿效果</a:t>
            </a:r>
          </a:p>
        </p:txBody>
      </p:sp>
      <p:sp>
        <p:nvSpPr>
          <p:cNvPr id="2" name="矩形 1"/>
          <p:cNvSpPr/>
          <p:nvPr/>
        </p:nvSpPr>
        <p:spPr>
          <a:xfrm>
            <a:off x="870948" y="352389"/>
            <a:ext cx="1158803" cy="487680"/>
          </a:xfrm>
          <a:prstGeom prst="rect">
            <a:avLst/>
          </a:prstGeom>
          <a:solidFill>
            <a:srgbClr val="05589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 name="直接连接符 2"/>
          <p:cNvCxnSpPr>
            <a:cxnSpLocks/>
          </p:cNvCxnSpPr>
          <p:nvPr/>
        </p:nvCxnSpPr>
        <p:spPr>
          <a:xfrm>
            <a:off x="1205091" y="839475"/>
            <a:ext cx="5160768" cy="0"/>
          </a:xfrm>
          <a:prstGeom prst="line">
            <a:avLst/>
          </a:prstGeom>
          <a:ln w="19050">
            <a:solidFill>
              <a:srgbClr val="055893"/>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544148" y="434867"/>
            <a:ext cx="1103811" cy="1103811"/>
          </a:xfrm>
          <a:prstGeom prst="rect">
            <a:avLst/>
          </a:prstGeom>
        </p:spPr>
      </p:pic>
      <p:pic>
        <p:nvPicPr>
          <p:cNvPr id="5" name="图片 4"/>
          <p:cNvPicPr>
            <a:picLocks noChangeAspect="1"/>
          </p:cNvPicPr>
          <p:nvPr/>
        </p:nvPicPr>
        <p:blipFill rotWithShape="1">
          <a:blip r:embed="rId13" cstate="print">
            <a:extLst>
              <a:ext uri="{28A0092B-C50C-407E-A947-70E740481C1C}">
                <a14:useLocalDpi xmlns:a14="http://schemas.microsoft.com/office/drawing/2010/main" val="0"/>
              </a:ext>
            </a:extLst>
          </a:blip>
          <a:srcRect t="31388" b="27079"/>
          <a:stretch>
            <a:fillRect/>
          </a:stretch>
        </p:blipFill>
        <p:spPr>
          <a:xfrm>
            <a:off x="10434431" y="6335587"/>
            <a:ext cx="1231720" cy="454887"/>
          </a:xfrm>
          <a:prstGeom prst="rect">
            <a:avLst/>
          </a:prstGeom>
          <a:solidFill>
            <a:schemeClr val="accent1"/>
          </a:solidFill>
        </p:spPr>
      </p:pic>
      <p:sp>
        <p:nvSpPr>
          <p:cNvPr id="7" name="文本框 6"/>
          <p:cNvSpPr txBox="1"/>
          <p:nvPr/>
        </p:nvSpPr>
        <p:spPr>
          <a:xfrm>
            <a:off x="7353301" y="1789927"/>
            <a:ext cx="4294658" cy="1046440"/>
          </a:xfrm>
          <a:prstGeom prst="rect">
            <a:avLst/>
          </a:prstGeom>
          <a:noFill/>
        </p:spPr>
        <p:txBody>
          <a:bodyPr wrap="square" rtlCol="0">
            <a:spAutoFit/>
          </a:bodyPr>
          <a:lstStyle/>
          <a:p>
            <a:pPr algn="just">
              <a:defRPr/>
            </a:pPr>
            <a:r>
              <a:rPr lang="zh-CN" altLang="en-US" sz="1600" dirty="0">
                <a:solidFill>
                  <a:schemeClr val="bg1">
                    <a:lumMod val="50000"/>
                  </a:schemeClr>
                </a:solidFill>
                <a:cs typeface="微软雅黑" panose="020B0503020204020204" pitchFamily="34" charset="-122"/>
                <a:sym typeface="+mn-ea"/>
              </a:rPr>
              <a:t>月桂酸盐具有亲水部分与疏水部分，分子通过这种</a:t>
            </a:r>
            <a:r>
              <a:rPr lang="en-US" altLang="zh-CN" sz="1600" dirty="0">
                <a:solidFill>
                  <a:schemeClr val="bg1">
                    <a:lumMod val="50000"/>
                  </a:schemeClr>
                </a:solidFill>
                <a:cs typeface="微软雅黑" panose="020B0503020204020204" pitchFamily="34" charset="-122"/>
                <a:sym typeface="+mn-ea"/>
              </a:rPr>
              <a:t>“</a:t>
            </a:r>
            <a:r>
              <a:rPr lang="zh-CN" altLang="en-US" sz="1600" dirty="0">
                <a:solidFill>
                  <a:schemeClr val="bg1">
                    <a:lumMod val="50000"/>
                  </a:schemeClr>
                </a:solidFill>
                <a:cs typeface="微软雅黑" panose="020B0503020204020204" pitchFamily="34" charset="-122"/>
                <a:sym typeface="+mn-ea"/>
              </a:rPr>
              <a:t>亲油性与亲水性</a:t>
            </a:r>
            <a:r>
              <a:rPr lang="en-US" altLang="zh-CN" sz="1600" dirty="0">
                <a:solidFill>
                  <a:schemeClr val="bg1">
                    <a:lumMod val="50000"/>
                  </a:schemeClr>
                </a:solidFill>
                <a:cs typeface="微软雅黑" panose="020B0503020204020204" pitchFamily="34" charset="-122"/>
                <a:sym typeface="+mn-ea"/>
              </a:rPr>
              <a:t>”</a:t>
            </a:r>
            <a:r>
              <a:rPr lang="zh-CN" altLang="en-US" sz="1600" dirty="0">
                <a:solidFill>
                  <a:schemeClr val="bg1">
                    <a:lumMod val="50000"/>
                  </a:schemeClr>
                </a:solidFill>
                <a:cs typeface="微软雅黑" panose="020B0503020204020204" pitchFamily="34" charset="-122"/>
                <a:sym typeface="+mn-ea"/>
              </a:rPr>
              <a:t>的相互作用，在水与油的界面形成乳化层，降低界面张力。</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algn="just">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圆角矩形 22"/>
          <p:cNvSpPr/>
          <p:nvPr/>
        </p:nvSpPr>
        <p:spPr>
          <a:xfrm>
            <a:off x="7428865" y="1434962"/>
            <a:ext cx="1467627" cy="354965"/>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表面活性剂</a:t>
            </a:r>
          </a:p>
        </p:txBody>
      </p:sp>
      <p:sp>
        <p:nvSpPr>
          <p:cNvPr id="72" name="任意多边形 71"/>
          <p:cNvSpPr/>
          <p:nvPr>
            <p:custDataLst>
              <p:tags r:id="rId1"/>
            </p:custDataLst>
          </p:nvPr>
        </p:nvSpPr>
        <p:spPr>
          <a:xfrm>
            <a:off x="7153275" y="1309232"/>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 name="任意多边形 72"/>
          <p:cNvSpPr/>
          <p:nvPr>
            <p:custDataLst>
              <p:tags r:id="rId2"/>
            </p:custDataLst>
          </p:nvPr>
        </p:nvSpPr>
        <p:spPr>
          <a:xfrm>
            <a:off x="7195185" y="1462902"/>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4" name="圆角矩形 73"/>
          <p:cNvSpPr/>
          <p:nvPr>
            <p:custDataLst>
              <p:tags r:id="rId3"/>
            </p:custDataLst>
          </p:nvPr>
        </p:nvSpPr>
        <p:spPr>
          <a:xfrm>
            <a:off x="7099935" y="1229222"/>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文本框 26"/>
          <p:cNvSpPr txBox="1"/>
          <p:nvPr/>
        </p:nvSpPr>
        <p:spPr>
          <a:xfrm>
            <a:off x="7347586" y="3196585"/>
            <a:ext cx="4294658" cy="1538883"/>
          </a:xfrm>
          <a:prstGeom prst="rect">
            <a:avLst/>
          </a:prstGeom>
          <a:noFill/>
        </p:spPr>
        <p:txBody>
          <a:bodyPr wrap="square" rtlCol="0">
            <a:spAutoFit/>
          </a:bodyPr>
          <a:lstStyle/>
          <a:p>
            <a:pPr algn="just">
              <a:defRPr/>
            </a:pPr>
            <a:r>
              <a:rPr lang="zh-CN" altLang="en-US" sz="1600" dirty="0">
                <a:solidFill>
                  <a:schemeClr val="bg1">
                    <a:lumMod val="50000"/>
                  </a:schemeClr>
                </a:solidFill>
              </a:rPr>
              <a:t>月桂酸盐能够温和地去除皮肤表面的油脂而不破坏皮肤屏障。亲水性部分吸引水分，保持皮肤表面的湿润。其表面活性剂特性还能在皮肤表面形成薄膜，减少水分蒸发，达到保湿的效果。</a:t>
            </a:r>
          </a:p>
          <a:p>
            <a:pPr algn="just">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圆角矩形 23"/>
          <p:cNvSpPr/>
          <p:nvPr/>
        </p:nvSpPr>
        <p:spPr>
          <a:xfrm>
            <a:off x="7423151" y="2843525"/>
            <a:ext cx="1467626" cy="354965"/>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清洁与保湿</a:t>
            </a:r>
          </a:p>
        </p:txBody>
      </p:sp>
      <p:sp>
        <p:nvSpPr>
          <p:cNvPr id="23" name="任意多边形 22"/>
          <p:cNvSpPr/>
          <p:nvPr>
            <p:custDataLst>
              <p:tags r:id="rId4"/>
            </p:custDataLst>
          </p:nvPr>
        </p:nvSpPr>
        <p:spPr>
          <a:xfrm>
            <a:off x="7158990" y="2689855"/>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任意多边形 23"/>
          <p:cNvSpPr/>
          <p:nvPr>
            <p:custDataLst>
              <p:tags r:id="rId5"/>
            </p:custDataLst>
          </p:nvPr>
        </p:nvSpPr>
        <p:spPr>
          <a:xfrm>
            <a:off x="7200900" y="2843525"/>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圆角矩形 24"/>
          <p:cNvSpPr/>
          <p:nvPr>
            <p:custDataLst>
              <p:tags r:id="rId6"/>
            </p:custDataLst>
          </p:nvPr>
        </p:nvSpPr>
        <p:spPr>
          <a:xfrm>
            <a:off x="7105650" y="2609845"/>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文本框 27"/>
          <p:cNvSpPr txBox="1"/>
          <p:nvPr/>
        </p:nvSpPr>
        <p:spPr>
          <a:xfrm>
            <a:off x="7347585" y="4957835"/>
            <a:ext cx="4294658" cy="1046440"/>
          </a:xfrm>
          <a:prstGeom prst="rect">
            <a:avLst/>
          </a:prstGeom>
          <a:noFill/>
        </p:spPr>
        <p:txBody>
          <a:bodyPr wrap="square" rtlCol="0">
            <a:spAutoFit/>
          </a:bodyPr>
          <a:lstStyle/>
          <a:p>
            <a:pPr algn="just">
              <a:defRPr/>
            </a:pPr>
            <a:r>
              <a:rPr lang="zh-CN" altLang="en-US" sz="1600" dirty="0">
                <a:solidFill>
                  <a:schemeClr val="bg1">
                    <a:lumMod val="50000"/>
                  </a:schemeClr>
                </a:solidFill>
              </a:rPr>
              <a:t>月桂酸及其衍生物，作为天然脂肪酸，具有一定的抗菌性能。月桂酸盐的抗菌作用主要通过破坏微生物细胞膜，抑制其生长和繁殖。</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algn="just">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圆角矩形 24"/>
          <p:cNvSpPr/>
          <p:nvPr/>
        </p:nvSpPr>
        <p:spPr>
          <a:xfrm>
            <a:off x="7423150" y="4602870"/>
            <a:ext cx="1467626" cy="354965"/>
          </a:xfrm>
          <a:prstGeom prst="roundRect">
            <a:avLst/>
          </a:prstGeom>
          <a:solidFill>
            <a:srgbClr val="1C4885">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抗菌抗病毒</a:t>
            </a:r>
          </a:p>
        </p:txBody>
      </p:sp>
      <p:sp>
        <p:nvSpPr>
          <p:cNvPr id="34" name="任意多边形 33"/>
          <p:cNvSpPr/>
          <p:nvPr>
            <p:custDataLst>
              <p:tags r:id="rId7"/>
            </p:custDataLst>
          </p:nvPr>
        </p:nvSpPr>
        <p:spPr>
          <a:xfrm>
            <a:off x="7159625" y="4557150"/>
            <a:ext cx="146685" cy="58864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chemeClr val="bg1"/>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任意多边形 34"/>
          <p:cNvSpPr/>
          <p:nvPr>
            <p:custDataLst>
              <p:tags r:id="rId8"/>
            </p:custDataLst>
          </p:nvPr>
        </p:nvSpPr>
        <p:spPr>
          <a:xfrm>
            <a:off x="7201535" y="4710820"/>
            <a:ext cx="61595" cy="3917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75" h="1234">
                <a:moveTo>
                  <a:pt x="2" y="0"/>
                </a:moveTo>
                <a:lnTo>
                  <a:pt x="275" y="0"/>
                </a:lnTo>
                <a:lnTo>
                  <a:pt x="275" y="1112"/>
                </a:lnTo>
                <a:lnTo>
                  <a:pt x="275" y="1115"/>
                </a:lnTo>
                <a:lnTo>
                  <a:pt x="275" y="1115"/>
                </a:lnTo>
                <a:lnTo>
                  <a:pt x="274" y="1124"/>
                </a:lnTo>
                <a:cubicBezTo>
                  <a:pt x="267" y="1186"/>
                  <a:pt x="209" y="1234"/>
                  <a:pt x="138" y="1234"/>
                </a:cubicBezTo>
                <a:cubicBezTo>
                  <a:pt x="62" y="1234"/>
                  <a:pt x="0" y="1179"/>
                  <a:pt x="0" y="1112"/>
                </a:cubicBezTo>
                <a:cubicBezTo>
                  <a:pt x="0" y="1108"/>
                  <a:pt x="0" y="1104"/>
                  <a:pt x="1" y="1100"/>
                </a:cubicBezTo>
                <a:lnTo>
                  <a:pt x="2" y="1092"/>
                </a:lnTo>
                <a:lnTo>
                  <a:pt x="2" y="0"/>
                </a:lnTo>
                <a:close/>
              </a:path>
            </a:pathLst>
          </a:custGeom>
          <a:solidFill>
            <a:srgbClr val="1B4580"/>
          </a:solidFill>
          <a:ln w="28575">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圆角矩形 35"/>
          <p:cNvSpPr/>
          <p:nvPr>
            <p:custDataLst>
              <p:tags r:id="rId9"/>
            </p:custDataLst>
          </p:nvPr>
        </p:nvSpPr>
        <p:spPr>
          <a:xfrm>
            <a:off x="7106285" y="4477140"/>
            <a:ext cx="253365" cy="56515"/>
          </a:xfrm>
          <a:prstGeom prst="roundRect">
            <a:avLst/>
          </a:prstGeom>
          <a:solidFill>
            <a:srgbClr val="1B4580"/>
          </a:solidFill>
          <a:ln>
            <a:solidFill>
              <a:srgbClr val="1B4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E6BD4-4356-4D49-B6AD-C28E9FB7A5D8}"/>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FD6837E-3A43-23B3-2D54-072CE0B99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988992"/>
          </a:xfrm>
          <a:prstGeom prst="rect">
            <a:avLst/>
          </a:prstGeom>
        </p:spPr>
      </p:pic>
      <p:pic>
        <p:nvPicPr>
          <p:cNvPr id="9" name="内容占位符 8">
            <a:extLst>
              <a:ext uri="{FF2B5EF4-FFF2-40B4-BE49-F238E27FC236}">
                <a16:creationId xmlns:a16="http://schemas.microsoft.com/office/drawing/2014/main" id="{06F12688-A282-B7D0-F296-A4B9B3C8219A}"/>
              </a:ext>
            </a:extLst>
          </p:cNvPr>
          <p:cNvPicPr>
            <a:picLocks noGrp="1" noChangeAspect="1"/>
          </p:cNvPicPr>
          <p:nvPr>
            <p:ph idx="1"/>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l="1346" t="1441" r="1346" b="1931"/>
          <a:stretch>
            <a:fillRect/>
          </a:stretch>
        </p:blipFill>
        <p:spPr>
          <a:xfrm>
            <a:off x="7606030" y="2085340"/>
            <a:ext cx="3969385" cy="3876040"/>
          </a:xfrm>
          <a:solidFill>
            <a:schemeClr val="accent1"/>
          </a:solidFill>
          <a:effectLst>
            <a:reflection blurRad="6350" stA="52000" endA="300" endPos="35000" dir="5400000" sy="-100000" algn="bl" rotWithShape="0"/>
          </a:effectLst>
        </p:spPr>
      </p:pic>
      <p:pic>
        <p:nvPicPr>
          <p:cNvPr id="10" name="图片 9">
            <a:extLst>
              <a:ext uri="{FF2B5EF4-FFF2-40B4-BE49-F238E27FC236}">
                <a16:creationId xmlns:a16="http://schemas.microsoft.com/office/drawing/2014/main" id="{9C9104E4-9C3C-54FB-442E-B4B1F993594C}"/>
              </a:ext>
            </a:extLst>
          </p:cNvPr>
          <p:cNvPicPr>
            <a:picLocks noChangeAspect="1"/>
          </p:cNvPicPr>
          <p:nvPr/>
        </p:nvPicPr>
        <p:blipFill>
          <a:blip r:embed="rId4" cstate="print"/>
          <a:stretch>
            <a:fillRect/>
          </a:stretch>
        </p:blipFill>
        <p:spPr>
          <a:xfrm>
            <a:off x="10458893" y="0"/>
            <a:ext cx="1200932" cy="778693"/>
          </a:xfrm>
          <a:prstGeom prst="rect">
            <a:avLst/>
          </a:prstGeom>
        </p:spPr>
      </p:pic>
      <p:cxnSp>
        <p:nvCxnSpPr>
          <p:cNvPr id="12" name="直接连接符 11">
            <a:extLst>
              <a:ext uri="{FF2B5EF4-FFF2-40B4-BE49-F238E27FC236}">
                <a16:creationId xmlns:a16="http://schemas.microsoft.com/office/drawing/2014/main" id="{ED29F8E2-69D5-CDC3-F7CB-014833932F88}"/>
              </a:ext>
            </a:extLst>
          </p:cNvPr>
          <p:cNvCxnSpPr/>
          <p:nvPr/>
        </p:nvCxnSpPr>
        <p:spPr>
          <a:xfrm>
            <a:off x="149290" y="653143"/>
            <a:ext cx="46653" cy="5906278"/>
          </a:xfrm>
          <a:prstGeom prst="line">
            <a:avLst/>
          </a:prstGeom>
          <a:ln>
            <a:solidFill>
              <a:srgbClr val="055893"/>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AA43794-BA23-B86D-858E-E0B7AD7F2EB0}"/>
              </a:ext>
            </a:extLst>
          </p:cNvPr>
          <p:cNvCxnSpPr/>
          <p:nvPr/>
        </p:nvCxnSpPr>
        <p:spPr>
          <a:xfrm>
            <a:off x="195943" y="6559421"/>
            <a:ext cx="11996057" cy="0"/>
          </a:xfrm>
          <a:prstGeom prst="line">
            <a:avLst/>
          </a:prstGeom>
          <a:ln>
            <a:solidFill>
              <a:srgbClr val="055893"/>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9A0A24A4-D99C-7194-8C65-A070B4FAF82B}"/>
              </a:ext>
            </a:extLst>
          </p:cNvPr>
          <p:cNvSpPr/>
          <p:nvPr/>
        </p:nvSpPr>
        <p:spPr>
          <a:xfrm>
            <a:off x="3592286" y="778693"/>
            <a:ext cx="5007428" cy="867227"/>
          </a:xfrm>
          <a:prstGeom prst="rect">
            <a:avLst/>
          </a:prstGeom>
          <a:solidFill>
            <a:schemeClr val="bg1"/>
          </a:solidFill>
          <a:ln w="22225">
            <a:solidFill>
              <a:srgbClr val="0558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kumimoji="0" lang="zh-CN" altLang="en-US" sz="2800" b="1" i="0" u="none" strike="noStrike" kern="1200" cap="none" spc="0" normalizeH="0" baseline="0" noProof="0" dirty="0">
                <a:ln>
                  <a:noFill/>
                </a:ln>
                <a:solidFill>
                  <a:srgbClr val="055893"/>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抗菌作用机理</a:t>
            </a:r>
          </a:p>
        </p:txBody>
      </p:sp>
      <p:pic>
        <p:nvPicPr>
          <p:cNvPr id="4" name="图片 3">
            <a:extLst>
              <a:ext uri="{FF2B5EF4-FFF2-40B4-BE49-F238E27FC236}">
                <a16:creationId xmlns:a16="http://schemas.microsoft.com/office/drawing/2014/main" id="{44EBCAB9-4673-1A79-E9F2-AC63364FC92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31388" b="27079"/>
          <a:stretch>
            <a:fillRect/>
          </a:stretch>
        </p:blipFill>
        <p:spPr>
          <a:xfrm>
            <a:off x="10764337" y="6057614"/>
            <a:ext cx="1231720" cy="454887"/>
          </a:xfrm>
          <a:prstGeom prst="rect">
            <a:avLst/>
          </a:prstGeom>
          <a:solidFill>
            <a:schemeClr val="accent1"/>
          </a:solidFill>
        </p:spPr>
      </p:pic>
      <p:sp>
        <p:nvSpPr>
          <p:cNvPr id="6" name="文本框 5">
            <a:extLst>
              <a:ext uri="{FF2B5EF4-FFF2-40B4-BE49-F238E27FC236}">
                <a16:creationId xmlns:a16="http://schemas.microsoft.com/office/drawing/2014/main" id="{0F755D2F-1DA8-AB0A-D5EE-197D4E9BA143}"/>
              </a:ext>
            </a:extLst>
          </p:cNvPr>
          <p:cNvSpPr txBox="1"/>
          <p:nvPr/>
        </p:nvSpPr>
        <p:spPr>
          <a:xfrm>
            <a:off x="1198287" y="1807311"/>
            <a:ext cx="9991367" cy="1477328"/>
          </a:xfrm>
          <a:prstGeom prst="rect">
            <a:avLst/>
          </a:prstGeom>
          <a:noFill/>
        </p:spPr>
        <p:txBody>
          <a:bodyPr wrap="square">
            <a:spAutoFit/>
          </a:bodyPr>
          <a:lstStyle/>
          <a:p>
            <a:pPr algn="just">
              <a:buNone/>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月桂酸及其衍生物，作为天然脂肪酸，具有一定的抗菌性能。月桂酸盐的抗菌作用主要通过破坏微生物细胞膜，抑制其生长和繁殖。</a:t>
            </a:r>
          </a:p>
          <a:p>
            <a:pPr algn="just">
              <a:buNone/>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细胞膜破坏：月桂酸盐的疏水部分能够与细菌细胞膜的磷脂双分子层相互作用，使得细胞膜的结构发生破坏。这会导致细胞膜的通透性增加，细胞内的物质泄漏，从而抑制细菌的生长。</a:t>
            </a:r>
          </a:p>
        </p:txBody>
      </p:sp>
      <p:pic>
        <p:nvPicPr>
          <p:cNvPr id="7" name="图片 6" descr="图表, 条形图&#10;&#10;AI 生成的内容可能不正确。">
            <a:extLst>
              <a:ext uri="{FF2B5EF4-FFF2-40B4-BE49-F238E27FC236}">
                <a16:creationId xmlns:a16="http://schemas.microsoft.com/office/drawing/2014/main" id="{060F624B-DCBF-03A9-8C8A-A1636E61C7F1}"/>
              </a:ext>
            </a:extLst>
          </p:cNvPr>
          <p:cNvPicPr>
            <a:picLocks noChangeAspect="1"/>
          </p:cNvPicPr>
          <p:nvPr/>
        </p:nvPicPr>
        <p:blipFill>
          <a:blip r:embed="rId6"/>
          <a:stretch>
            <a:fillRect/>
          </a:stretch>
        </p:blipFill>
        <p:spPr>
          <a:xfrm>
            <a:off x="5408208" y="3380987"/>
            <a:ext cx="3969384" cy="2740242"/>
          </a:xfrm>
          <a:prstGeom prst="rect">
            <a:avLst/>
          </a:prstGeom>
        </p:spPr>
      </p:pic>
      <p:sp>
        <p:nvSpPr>
          <p:cNvPr id="14" name="文本框 13">
            <a:extLst>
              <a:ext uri="{FF2B5EF4-FFF2-40B4-BE49-F238E27FC236}">
                <a16:creationId xmlns:a16="http://schemas.microsoft.com/office/drawing/2014/main" id="{587989D9-788F-AA18-2855-51B6292A02DB}"/>
              </a:ext>
            </a:extLst>
          </p:cNvPr>
          <p:cNvSpPr txBox="1"/>
          <p:nvPr/>
        </p:nvSpPr>
        <p:spPr>
          <a:xfrm>
            <a:off x="1702704" y="3705695"/>
            <a:ext cx="3222253" cy="1938992"/>
          </a:xfrm>
          <a:prstGeom prst="rect">
            <a:avLst/>
          </a:prstGeom>
          <a:noFill/>
        </p:spPr>
        <p:txBody>
          <a:bodyPr wrap="square">
            <a:spAutoFit/>
          </a:bodyPr>
          <a:lstStyle/>
          <a:p>
            <a:pPr algn="just">
              <a:buNone/>
            </a:pPr>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研究表明，月桂酸盐对多种革兰氏阳性细菌（如金黄色葡萄球菌）表现出较强的抗菌活性</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p:txBody>
      </p:sp>
      <p:sp>
        <p:nvSpPr>
          <p:cNvPr id="16" name="文本框 15">
            <a:extLst>
              <a:ext uri="{FF2B5EF4-FFF2-40B4-BE49-F238E27FC236}">
                <a16:creationId xmlns:a16="http://schemas.microsoft.com/office/drawing/2014/main" id="{8EDBFD61-04F8-05A1-039B-5F80A7DF942D}"/>
              </a:ext>
            </a:extLst>
          </p:cNvPr>
          <p:cNvSpPr txBox="1"/>
          <p:nvPr/>
        </p:nvSpPr>
        <p:spPr>
          <a:xfrm>
            <a:off x="9405092" y="5197899"/>
            <a:ext cx="3027235" cy="923330"/>
          </a:xfrm>
          <a:prstGeom prst="rect">
            <a:avLst/>
          </a:prstGeom>
          <a:noFill/>
        </p:spPr>
        <p:txBody>
          <a:bodyPr wrap="square">
            <a:spAutoFit/>
          </a:bodyPr>
          <a:lstStyle/>
          <a:p>
            <a:r>
              <a:rPr lang="en-US" altLang="zh-CN" i="1" dirty="0"/>
              <a:t>Journal of investigative dermatology</a:t>
            </a:r>
            <a:r>
              <a:rPr lang="en-US" altLang="zh-CN" dirty="0"/>
              <a:t>, </a:t>
            </a:r>
            <a:r>
              <a:rPr lang="en-US" altLang="zh-CN" b="1" dirty="0"/>
              <a:t>2009</a:t>
            </a:r>
            <a:r>
              <a:rPr lang="en-US" altLang="zh-CN" dirty="0"/>
              <a:t>, 129.10: 2480-2488.</a:t>
            </a:r>
            <a:r>
              <a:rPr lang="en-US" altLang="zh-CN" b="0" i="0" dirty="0">
                <a:solidFill>
                  <a:srgbClr val="222222"/>
                </a:solidFill>
                <a:effectLst/>
                <a:latin typeface="Arial" panose="020B0604020202020204" pitchFamily="34" charset="0"/>
              </a:rPr>
              <a:t>.</a:t>
            </a:r>
            <a:endParaRPr lang="zh-CN" altLang="en-US" dirty="0"/>
          </a:p>
        </p:txBody>
      </p:sp>
    </p:spTree>
    <p:extLst>
      <p:ext uri="{BB962C8B-B14F-4D97-AF65-F5344CB8AC3E}">
        <p14:creationId xmlns:p14="http://schemas.microsoft.com/office/powerpoint/2010/main" val="3135278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84658"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245805"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245805" y="4866967"/>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nvSpPr>
        <p:spPr>
          <a:xfrm>
            <a:off x="9984658" y="294968"/>
            <a:ext cx="1961536" cy="1696064"/>
          </a:xfrm>
          <a:prstGeom prst="rect">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圆角矩形 7"/>
          <p:cNvSpPr/>
          <p:nvPr/>
        </p:nvSpPr>
        <p:spPr>
          <a:xfrm>
            <a:off x="403122" y="405580"/>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2718927" y="2080651"/>
            <a:ext cx="6754146" cy="83099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4800" dirty="0">
                <a:solidFill>
                  <a:srgbClr val="1C4885"/>
                </a:solidFill>
                <a:latin typeface="微软雅黑" panose="020B0503020204020204" pitchFamily="34" charset="-122"/>
                <a:ea typeface="微软雅黑" panose="020B0503020204020204" pitchFamily="34" charset="-122"/>
                <a:cs typeface="微软雅黑" panose="020B0503020204020204" pitchFamily="34" charset="-122"/>
              </a:rPr>
              <a:t>谢谢观看</a:t>
            </a:r>
            <a:endParaRPr kumimoji="0" lang="zh-CN" altLang="en-US" sz="4800" b="0" i="0" u="none" strike="noStrike" kern="1200" cap="none" spc="0" normalizeH="0" baseline="0" noProof="0" dirty="0">
              <a:ln>
                <a:noFill/>
              </a:ln>
              <a:solidFill>
                <a:srgbClr val="1C4885"/>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1" name="直接连接符 10"/>
          <p:cNvCxnSpPr/>
          <p:nvPr/>
        </p:nvCxnSpPr>
        <p:spPr>
          <a:xfrm>
            <a:off x="5401597" y="3738717"/>
            <a:ext cx="13888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3">
            <a:lum bright="70000" contrast="-70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403122" y="405579"/>
            <a:ext cx="11385756" cy="5958349"/>
          </a:xfrm>
          <a:prstGeom prst="rect">
            <a:avLst/>
          </a:prstGeom>
        </p:spPr>
      </p:pic>
      <p:pic>
        <p:nvPicPr>
          <p:cNvPr id="10" name="图片 9"/>
          <p:cNvPicPr>
            <a:picLocks noChangeAspect="1"/>
          </p:cNvPicPr>
          <p:nvPr/>
        </p:nvPicPr>
        <p:blipFill rotWithShape="1">
          <a:blip r:embed="rId5" cstate="print">
            <a:extLst>
              <a:ext uri="{28A0092B-C50C-407E-A947-70E740481C1C}">
                <a14:useLocalDpi xmlns:a14="http://schemas.microsoft.com/office/drawing/2010/main" val="0"/>
              </a:ext>
            </a:extLst>
          </a:blip>
          <a:srcRect t="31388" b="27079"/>
          <a:stretch>
            <a:fillRect/>
          </a:stretch>
        </p:blipFill>
        <p:spPr>
          <a:xfrm>
            <a:off x="5847080" y="6502400"/>
            <a:ext cx="857250" cy="316230"/>
          </a:xfrm>
          <a:prstGeom prst="rect">
            <a:avLst/>
          </a:prstGeom>
          <a:solidFill>
            <a:schemeClr val="accent1"/>
          </a:solidFill>
        </p:spPr>
      </p:pic>
      <p:sp>
        <p:nvSpPr>
          <p:cNvPr id="13" name="文本框 12"/>
          <p:cNvSpPr txBox="1"/>
          <p:nvPr/>
        </p:nvSpPr>
        <p:spPr>
          <a:xfrm>
            <a:off x="2525395" y="2728595"/>
            <a:ext cx="7141845" cy="156966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600" b="1" i="0" u="none" strike="noStrike" kern="1200" cap="none" spc="0" normalizeH="0" baseline="0" noProof="0" dirty="0">
                <a:ln>
                  <a:noFill/>
                </a:ln>
                <a:solidFill>
                  <a:srgbClr val="1C4885"/>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THANKS</a:t>
            </a:r>
          </a:p>
        </p:txBody>
      </p:sp>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44148" y="434867"/>
            <a:ext cx="1103811" cy="110381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ed52f5a-df16-4034-83da-9c24652d0c29"/>
  <p:tag name="COMMONDATA" val="eyJoZGlkIjoiZmQyMDI3MGM2MmU5ZGZkYTVlOTc3YTgyNmQxYzEyNzA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383.226771653543,&quot;width&quot;:17930.32440944882}"/>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TAG_VERSION" val="1.0"/>
  <p:tag name="KSO_WM_UNIT_TYPE" val="h_f"/>
  <p:tag name="KSO_WM_UNIT_INDEX" val="1_1"/>
  <p:tag name="KSO_WM_UNIT_LAYERLEVEL" val="1_1"/>
  <p:tag name="KSO_WM_UNIT_VALUE" val="78"/>
  <p:tag name="KSO_WM_UNIT_HIGHLIGHT" val="0"/>
  <p:tag name="KSO_WM_UNIT_COMPATIBLE" val="0"/>
  <p:tag name="KSO_WM_BEAUTIFY_FLAG" val=""/>
  <p:tag name="KSO_WM_DIAGRAM_GROUP_CODE" val="l1-2"/>
  <p:tag name="KSO_WM_UNIT_ID" val="custom20188997_8*h_f*1_1"/>
  <p:tag name="KSO_WM_UNIT_PRESET_TEXT" val="作为概念的解说，请根据您的具体内容酌情进行修改，以便于让阅读者更容易理解您所提及的信息内容和更好地展示您的观点。"/>
  <p:tag name="KSO_WM_UNIT_SUBTYPE" val="a"/>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TAG_VERSION" val="1.0"/>
  <p:tag name="KSO_WM_UNIT_TYPE" val="h_f"/>
  <p:tag name="KSO_WM_UNIT_INDEX" val="1_1"/>
  <p:tag name="KSO_WM_UNIT_LAYERLEVEL" val="1_1"/>
  <p:tag name="KSO_WM_UNIT_VALUE" val="78"/>
  <p:tag name="KSO_WM_UNIT_HIGHLIGHT" val="0"/>
  <p:tag name="KSO_WM_UNIT_COMPATIBLE" val="0"/>
  <p:tag name="KSO_WM_BEAUTIFY_FLAG" val=""/>
  <p:tag name="KSO_WM_DIAGRAM_GROUP_CODE" val="l1-2"/>
  <p:tag name="KSO_WM_UNIT_ID" val="custom20188997_8*h_f*1_1"/>
  <p:tag name="KSO_WM_UNIT_PRESET_TEXT" val="作为概念的解说，请根据您的具体内容酌情进行修改，以便于让阅读者更容易理解您所提及的信息内容和更好地展示您的观点。"/>
  <p:tag name="KSO_WM_UNIT_SUBTYPE" val="a"/>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TAG_VERSION" val="1.0"/>
  <p:tag name="KSO_WM_UNIT_TYPE" val="h_a"/>
  <p:tag name="KSO_WM_UNIT_INDEX" val="1_1"/>
  <p:tag name="KSO_WM_UNIT_LAYERLEVEL" val="1_1"/>
  <p:tag name="KSO_WM_UNIT_VALUE" val="27"/>
  <p:tag name="KSO_WM_UNIT_HIGHLIGHT" val="0"/>
  <p:tag name="KSO_WM_UNIT_COMPATIBLE" val="0"/>
  <p:tag name="KSO_WM_BEAUTIFY_FLAG" val=""/>
  <p:tag name="KSO_WM_DIAGRAM_GROUP_CODE" val="l1-2"/>
  <p:tag name="KSO_WM_UNIT_ID" val="custom20188997_8*h_a*1_1"/>
  <p:tag name="KSO_WM_UNIT_PRESET_TEXT" val="点击输入本栏的具体文字，简明扼要地说明内容"/>
  <p:tag name="KSO_WM_UNIT_ISCONTENTSTITLE" val="0"/>
  <p:tag name="KSO_WM_UNIT_ISNUMDGMTITLE" val="0"/>
  <p:tag name="KSO_WM_UNIT_NOCLEAR" val="0"/>
  <p:tag name="KSO_WM_UNIT_DIAGRAM_ISNUMVISUAL" val="0"/>
  <p:tag name="KSO_WM_UNIT_DIAGRAM_ISREFERUNIT" val="0"/>
  <p:tag name="KSO_WM_UNIT_TEXT_FILL_FORE_SCHEMECOLOR_INDEX" val="5"/>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TAG_VERSION" val="1.0"/>
  <p:tag name="KSO_WM_UNIT_TYPE" val="h_f"/>
  <p:tag name="KSO_WM_UNIT_INDEX" val="1_1"/>
  <p:tag name="KSO_WM_UNIT_LAYERLEVEL" val="1_1"/>
  <p:tag name="KSO_WM_UNIT_VALUE" val="78"/>
  <p:tag name="KSO_WM_UNIT_HIGHLIGHT" val="0"/>
  <p:tag name="KSO_WM_UNIT_COMPATIBLE" val="0"/>
  <p:tag name="KSO_WM_BEAUTIFY_FLAG" val=""/>
  <p:tag name="KSO_WM_DIAGRAM_GROUP_CODE" val="l1-2"/>
  <p:tag name="KSO_WM_UNIT_ID" val="custom20188997_8*h_f*1_1"/>
  <p:tag name="KSO_WM_UNIT_PRESET_TEXT" val="作为概念的解说，请根据您的具体内容酌情进行修改，以便于让阅读者更容易理解您所提及的信息内容和更好地展示您的观点。"/>
  <p:tag name="KSO_WM_UNIT_SUBTYPE" val="a"/>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TAG_VERSION" val="1.0"/>
  <p:tag name="KSO_WM_UNIT_TYPE" val="h_f"/>
  <p:tag name="KSO_WM_UNIT_INDEX" val="1_1"/>
  <p:tag name="KSO_WM_UNIT_LAYERLEVEL" val="1_1"/>
  <p:tag name="KSO_WM_UNIT_VALUE" val="78"/>
  <p:tag name="KSO_WM_UNIT_HIGHLIGHT" val="0"/>
  <p:tag name="KSO_WM_UNIT_COMPATIBLE" val="0"/>
  <p:tag name="KSO_WM_BEAUTIFY_FLAG" val=""/>
  <p:tag name="KSO_WM_DIAGRAM_GROUP_CODE" val="l1-2"/>
  <p:tag name="KSO_WM_UNIT_ID" val="custom20188997_8*h_f*1_1"/>
  <p:tag name="KSO_WM_UNIT_PRESET_TEXT" val="作为概念的解说，请根据您的具体内容酌情进行修改，以便于让阅读者更容易理解您所提及的信息内容和更好地展示您的观点。"/>
  <p:tag name="KSO_WM_UNIT_SUBTYPE" val="a"/>
  <p:tag name="KSO_WM_UNIT_NOCLEAR" val="0"/>
  <p:tag name="KSO_WM_UNIT_DIAGRAM_ISNUMVISUAL" val="0"/>
  <p:tag name="KSO_WM_UNIT_DIAGRAM_ISREFERUNIT" val="0"/>
  <p:tag name="KSO_WM_UNIT_TEXT_FILL_FORE_SCHEMECOLOR_INDEX" val="14"/>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UNIT_TYPE" val="m_h_f"/>
  <p:tag name="KSO_WM_UNIT_INDEX" val="1_1_1"/>
  <p:tag name="KSO_WM_UNIT_LAYERLEVEL" val="1_1_1"/>
  <p:tag name="KSO_WM_UNIT_VALUE" val="39"/>
  <p:tag name="KSO_WM_UNIT_HIGHLIGHT" val="0"/>
  <p:tag name="KSO_WM_UNIT_COMPATIBLE" val="0"/>
  <p:tag name="KSO_WM_BEAUTIFY_FLAG" val=""/>
  <p:tag name="KSO_WM_TAG_VERSION" val="1.0"/>
  <p:tag name="KSO_WM_DIAGRAM_GROUP_CODE" val="m1-2"/>
  <p:tag name="KSO_WM_UNIT_ID" val="custom20188997_12*m_h_f*1_1_1"/>
  <p:tag name="KSO_WM_UNIT_PRESET_TEXT" val="点击输入本栏的具体文字，简明扼要地说明分项内容。作为概念的解说。"/>
  <p:tag name="KSO_WM_UNIT_SUBTYPE" val="a"/>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UNIT_TYPE" val="m_h_f"/>
  <p:tag name="KSO_WM_UNIT_INDEX" val="1_1_1"/>
  <p:tag name="KSO_WM_UNIT_LAYERLEVEL" val="1_1_1"/>
  <p:tag name="KSO_WM_UNIT_VALUE" val="39"/>
  <p:tag name="KSO_WM_UNIT_HIGHLIGHT" val="0"/>
  <p:tag name="KSO_WM_UNIT_COMPATIBLE" val="0"/>
  <p:tag name="KSO_WM_BEAUTIFY_FLAG" val=""/>
  <p:tag name="KSO_WM_TAG_VERSION" val="1.0"/>
  <p:tag name="KSO_WM_DIAGRAM_GROUP_CODE" val="m1-2"/>
  <p:tag name="KSO_WM_UNIT_ID" val="custom20188997_12*m_h_f*1_1_1"/>
  <p:tag name="KSO_WM_UNIT_PRESET_TEXT" val="点击输入本栏的具体文字，简明扼要地说明分项内容。作为概念的解说。"/>
  <p:tag name="KSO_WM_UNIT_SUBTYPE" val="a"/>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8997"/>
  <p:tag name="KSO_WM_UNIT_TYPE" val="m_h_f"/>
  <p:tag name="KSO_WM_UNIT_INDEX" val="1_1_1"/>
  <p:tag name="KSO_WM_UNIT_LAYERLEVEL" val="1_1_1"/>
  <p:tag name="KSO_WM_UNIT_VALUE" val="39"/>
  <p:tag name="KSO_WM_UNIT_HIGHLIGHT" val="0"/>
  <p:tag name="KSO_WM_UNIT_COMPATIBLE" val="0"/>
  <p:tag name="KSO_WM_BEAUTIFY_FLAG" val=""/>
  <p:tag name="KSO_WM_TAG_VERSION" val="1.0"/>
  <p:tag name="KSO_WM_DIAGRAM_GROUP_CODE" val="m1-2"/>
  <p:tag name="KSO_WM_UNIT_ID" val="custom20188997_12*m_h_f*1_1_1"/>
  <p:tag name="KSO_WM_UNIT_PRESET_TEXT" val="点击输入本栏的具体文字，简明扼要地说明分项内容。作为概念的解说。"/>
  <p:tag name="KSO_WM_UNIT_SUBTYPE" val="a"/>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0_New theme">
      <a:dk1>
        <a:srgbClr val="262626"/>
      </a:dk1>
      <a:lt1>
        <a:srgbClr val="FFFFFF"/>
      </a:lt1>
      <a:dk2>
        <a:srgbClr val="262626"/>
      </a:dk2>
      <a:lt2>
        <a:srgbClr val="FFFFFF"/>
      </a:lt2>
      <a:accent1>
        <a:srgbClr val="237DB9"/>
      </a:accent1>
      <a:accent2>
        <a:srgbClr val="15AA96"/>
      </a:accent2>
      <a:accent3>
        <a:srgbClr val="9BB955"/>
      </a:accent3>
      <a:accent4>
        <a:srgbClr val="F19B14"/>
      </a:accent4>
      <a:accent5>
        <a:srgbClr val="BE382C"/>
      </a:accent5>
      <a:accent6>
        <a:srgbClr val="633247"/>
      </a:accent6>
      <a:hlink>
        <a:srgbClr val="FFFFFF"/>
      </a:hlink>
      <a:folHlink>
        <a:srgbClr val="595959"/>
      </a:folHlink>
    </a:clrScheme>
    <a:fontScheme name="Roboto">
      <a:majorFont>
        <a:latin typeface="Roboto Medium"/>
        <a:ea typeface=""/>
        <a:cs typeface="FontAwesome"/>
      </a:majorFont>
      <a:minorFont>
        <a:latin typeface="微软雅黑"/>
        <a:ea typeface=""/>
        <a:cs typeface="FontAwesom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778</Words>
  <Application>Microsoft Office PowerPoint</Application>
  <PresentationFormat>宽屏</PresentationFormat>
  <Paragraphs>89</Paragraphs>
  <Slides>10</Slides>
  <Notes>8</Notes>
  <HiddenSlides>0</HiddenSlides>
  <MMClips>0</MMClips>
  <ScaleCrop>false</ScaleCrop>
  <HeadingPairs>
    <vt:vector size="6" baseType="variant">
      <vt:variant>
        <vt:lpstr>已用的字体</vt:lpstr>
      </vt:variant>
      <vt:variant>
        <vt:i4>4</vt:i4>
      </vt:variant>
      <vt:variant>
        <vt:lpstr>主题</vt:lpstr>
      </vt:variant>
      <vt:variant>
        <vt:i4>4</vt:i4>
      </vt:variant>
      <vt:variant>
        <vt:lpstr>幻灯片标题</vt:lpstr>
      </vt:variant>
      <vt:variant>
        <vt:i4>10</vt:i4>
      </vt:variant>
    </vt:vector>
  </HeadingPairs>
  <TitlesOfParts>
    <vt:vector size="18" baseType="lpstr">
      <vt:lpstr>等线</vt:lpstr>
      <vt:lpstr>微软雅黑</vt:lpstr>
      <vt:lpstr>Arial</vt:lpstr>
      <vt:lpstr>Times New Roman</vt:lpstr>
      <vt:lpstr>Office 主题​​</vt:lpstr>
      <vt:lpstr>1_Office 主题​​</vt:lpstr>
      <vt:lpstr>2_Office 主题​​</vt:lpstr>
      <vt:lpstr>Custom Design</vt:lpstr>
      <vt:lpstr>PowerPoint 演示文稿</vt:lpstr>
      <vt:lpstr>PowerPoint 演示文稿</vt:lpstr>
      <vt:lpstr>PowerPoint 演示文稿</vt:lpstr>
      <vt:lpstr>PowerPoint 演示文稿</vt:lpstr>
      <vt:lpstr>PowerPoint 演示文稿</vt:lpstr>
      <vt:lpstr>PowerPoint 演示文稿</vt:lpstr>
      <vt:lpstr>月桂酸盐</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1zdr2492027772@foxmail.com</dc:creator>
  <cp:lastModifiedBy>Andy Jiang</cp:lastModifiedBy>
  <cp:revision>53</cp:revision>
  <dcterms:created xsi:type="dcterms:W3CDTF">2023-02-12T14:33:00Z</dcterms:created>
  <dcterms:modified xsi:type="dcterms:W3CDTF">2025-11-03T11:11:15Z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4233FAEE4C51AE903F3BE763706EF2FC</vt:lpwstr>
  </property>
  <property fmtid="{D5CDD505-2E9C-101B-9397-08002B2CF9AE}" pid="3" name="KSOProductBuildVer">
    <vt:lpwstr>2052-12.1.0.21915</vt:lpwstr>
  </property>
</Properties>
</file>