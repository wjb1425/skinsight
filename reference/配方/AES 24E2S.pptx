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7"/>
  </p:notesMasterIdLst>
  <p:sldIdLst>
    <p:sldId id="1127" r:id="rId2"/>
    <p:sldId id="1133" r:id="rId3"/>
    <p:sldId id="1180" r:id="rId4"/>
    <p:sldId id="1181" r:id="rId5"/>
    <p:sldId id="1182" r:id="rId6"/>
    <p:sldId id="1183" r:id="rId7"/>
    <p:sldId id="1184" r:id="rId8"/>
    <p:sldId id="1185" r:id="rId9"/>
    <p:sldId id="1186" r:id="rId10"/>
    <p:sldId id="1187" r:id="rId11"/>
    <p:sldId id="1188" r:id="rId12"/>
    <p:sldId id="1189" r:id="rId13"/>
    <p:sldId id="1190" r:id="rId14"/>
    <p:sldId id="1191" r:id="rId15"/>
    <p:sldId id="1179" r:id="rId16"/>
  </p:sldIdLst>
  <p:sldSz cx="9144000" cy="6858000" type="screen4x3"/>
  <p:notesSz cx="6858000" cy="994727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008000"/>
    <a:srgbClr val="00FF00"/>
    <a:srgbClr val="FF6600"/>
    <a:srgbClr val="FFFF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473" autoAdjust="0"/>
  </p:normalViewPr>
  <p:slideViewPr>
    <p:cSldViewPr snapToGrid="0">
      <p:cViewPr varScale="1">
        <p:scale>
          <a:sx n="61" d="100"/>
          <a:sy n="61" d="100"/>
        </p:scale>
        <p:origin x="930" y="66"/>
      </p:cViewPr>
      <p:guideLst>
        <p:guide orient="horz" pos="213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E4076EE-FE68-43AE-99C5-A81FDE8C2F8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70213" cy="497364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charset="0"/>
              <a:buNone/>
              <a:defRPr sz="1200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F48D32A-919E-48D2-B1E8-51EAC1B42BD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97364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charset="0"/>
              <a:buNone/>
              <a:defRPr sz="1200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D34AD48D-B12D-4736-AF44-05EE8E9247E8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42975" y="746125"/>
            <a:ext cx="4972050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EC3AA012-CFE6-4520-8A8E-13DDAFFDCFAA}"/>
              </a:ext>
            </a:extLst>
          </p:cNvPr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724956"/>
            <a:ext cx="5486400" cy="4476274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en-US" altLang="zh-CN" noProof="0"/>
          </a:p>
          <a:p>
            <a:pPr lvl="1"/>
            <a:r>
              <a:rPr lang="zh-CN" altLang="en-US" noProof="0"/>
              <a:t>第二级</a:t>
            </a:r>
            <a:endParaRPr lang="en-US" altLang="zh-CN" noProof="0"/>
          </a:p>
          <a:p>
            <a:pPr lvl="2"/>
            <a:r>
              <a:rPr lang="zh-CN" altLang="en-US" noProof="0"/>
              <a:t>第三级</a:t>
            </a:r>
            <a:endParaRPr lang="en-US" altLang="zh-CN" noProof="0"/>
          </a:p>
          <a:p>
            <a:pPr lvl="3"/>
            <a:r>
              <a:rPr lang="zh-CN" altLang="en-US" noProof="0"/>
              <a:t>第四级</a:t>
            </a:r>
            <a:endParaRPr lang="en-US" altLang="zh-CN" noProof="0"/>
          </a:p>
          <a:p>
            <a:pPr lvl="4"/>
            <a:r>
              <a:rPr lang="zh-CN" altLang="en-US" noProof="0"/>
              <a:t>第五级</a:t>
            </a:r>
            <a:endParaRPr lang="en-US" altLang="zh-CN" noProof="0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900D91B0-938D-43D2-B4A5-04218A09BCE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48185"/>
            <a:ext cx="2970213" cy="497364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 typeface="Arial" charset="0"/>
              <a:buNone/>
              <a:defRPr sz="1200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460084FF-D1F9-4991-8BEC-52A9C4629F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9448185"/>
            <a:ext cx="2973388" cy="497364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ea typeface="SimSun" panose="02010600030101010101" pitchFamily="2" charset="-122"/>
              </a:defRPr>
            </a:lvl1pPr>
          </a:lstStyle>
          <a:p>
            <a:pPr>
              <a:defRPr/>
            </a:pPr>
            <a:fld id="{778C1415-F545-4EAF-A725-72D26972220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SimSun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SimSun" panose="02010600030101010101" pitchFamily="2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SimSun" panose="02010600030101010101" pitchFamily="2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SimSun" panose="02010600030101010101" pitchFamily="2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SimSun" panose="02010600030101010101" pitchFamily="2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58F932-2890-466A-B7FD-D54B5E428C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6CDF12-C462-4CCB-A356-28A7F58EA6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56ABFEF-8D30-40EE-85CE-F956A80A47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ACF02D-BD2B-41A3-A43A-08279D4851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1212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153F3F7-AC56-4FF9-B43F-CF4FBD8658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031F05-997D-49D6-A3A7-B3CFD73876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8907D21-A66F-4D72-8CDD-4E3976303B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AE9027-F3D1-4C9B-9224-74565BAB0F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1907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7D94C75-0E5B-4C8C-8A85-61C6E7B650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655DBC5-C64C-4A22-B684-D5ED958D0E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A1FB95A-9604-4FE1-9D3A-7F2FF52535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EA35FE-6C29-4C46-8B53-D31BCACACD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1400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C559C9-402E-49B6-972F-BA454CAB79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D5592F-244A-426B-AE54-C75B816AAF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71A969-1188-4E27-94E7-7C97008B70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BEFB40-825F-4796-972A-7277687597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4853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7852098-092B-4191-91AC-47E76367E5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2835333-50B1-47AA-8BD8-9180F0B6EF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06042E5-AB1C-4E74-A4F2-A3A8A16B76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06A27F-7434-4140-BAD3-3CE749CFA5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0043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C065B87-4760-410D-9B8A-0031A9CAF7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54285A1-172E-4738-9540-9201D81FBB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AEB86D3-7468-4211-8791-ECFAAFE185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94F624-5205-4AAE-AE23-807F393407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72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C77E13B-72D9-470A-A1FF-022BA31FDD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551F784-F8A4-4306-B383-E8C5305331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5B2EE31-B659-4A2E-A5F7-4B33CE0557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15612-C62D-4AEB-B509-25ACC8E173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1404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30B0F8-9AD5-4FFB-BAA3-1A9121D774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99C597-8A04-4988-B2BC-BC7245954C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FA4472-FF9F-4640-A6AA-A22E92CDF4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68E671-225C-4CFC-9C8F-6FC8794CFF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2910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8497F1-318E-4118-8ADB-DC9B25B062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3987DB-7905-42B3-92B5-1E55EC5447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771812-8A9A-4030-9354-C31CAB44A2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C1CC3E-3A36-4EA1-8FDF-FCBC759A99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0931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A0C0EC6-7BCF-4048-853F-1E8529DAA4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A18239-816F-4A76-A6F8-54BB7DC23A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0D12BE1-4C58-4ED6-B698-E499CC12A8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79DB30-7045-4D36-B14A-8084653593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6350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96751CC-D93A-4811-9EB6-52F2917DE1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252C067-7BB3-43EC-89D8-A7FA4AB2AD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383FF4B-04D2-4813-BCA2-8E3C22F531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5BCAFB-D2B0-4266-B070-58FF8190BD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0121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98ED485-6AA5-423E-A45F-DF87DF13AA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F87A2F6-7A58-428B-8C9D-135F10D749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zh-CN" altLang="en-US"/>
              <a:t>第二级</a:t>
            </a:r>
            <a:endParaRPr lang="en-US" altLang="zh-CN"/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54FEE0AA-F66C-44D7-A2CF-E2A7D71EF92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02B35E2B-65B8-403C-BFDA-3A5BA16A2D3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charset="0"/>
              <a:buNone/>
              <a:defRPr sz="1400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844184CE-A564-44F9-A27E-2DDE5988ED9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400">
                <a:ea typeface="SimSun" panose="02010600030101010101" pitchFamily="2" charset="-122"/>
              </a:defRPr>
            </a:lvl1pPr>
          </a:lstStyle>
          <a:p>
            <a:pPr>
              <a:defRPr/>
            </a:pPr>
            <a:fld id="{F5F2B2FA-3BF5-48AF-AA11-EF51B337F4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MS PGothic" panose="020B0600070205080204" pitchFamily="34" charset="-128"/>
          <a:cs typeface="SimSun" panose="0201060003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MS PGothic" panose="020B0600070205080204" pitchFamily="34" charset="-128"/>
          <a:cs typeface="SimSun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MS PGothic" panose="020B0600070205080204" pitchFamily="34" charset="-128"/>
          <a:cs typeface="SimSun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MS PGothic" panose="020B0600070205080204" pitchFamily="34" charset="-128"/>
          <a:cs typeface="SimSun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MS PGothic" panose="020B0600070205080204" pitchFamily="34" charset="-128"/>
          <a:cs typeface="SimSun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SimSun" panose="02010600030101010101" pitchFamily="2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SimSun" panose="02010600030101010101" pitchFamily="2" charset="-122"/>
          <a:cs typeface="SimSun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SimSun" panose="02010600030101010101" pitchFamily="2" charset="-122"/>
          <a:cs typeface="SimSun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SimSun" panose="02010600030101010101" pitchFamily="2" charset="-122"/>
          <a:cs typeface="SimSun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SimSun" panose="02010600030101010101" pitchFamily="2" charset="-122"/>
          <a:cs typeface="SimSun" panose="02010600030101010101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C8A27B77-DB4B-42EA-A92A-73A776DB8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413337"/>
            <a:ext cx="73152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6000" dirty="0">
                <a:latin typeface="SimHei" panose="02010609060101010101" pitchFamily="49" charset="-122"/>
                <a:ea typeface="SimHei" panose="02010609060101010101" pitchFamily="49" charset="-122"/>
                <a:cs typeface="Adobe 黑体 Std R" charset="-122"/>
              </a:rPr>
              <a:t>AES</a:t>
            </a:r>
            <a:r>
              <a:rPr lang="zh-CN" altLang="en-US" sz="6000" dirty="0">
                <a:latin typeface="SimHei" panose="02010609060101010101" pitchFamily="49" charset="-122"/>
                <a:ea typeface="SimHei" panose="02010609060101010101" pitchFamily="49" charset="-122"/>
                <a:cs typeface="Adobe 黑体 Std R" charset="-122"/>
              </a:rPr>
              <a:t>：</a:t>
            </a:r>
            <a:r>
              <a:rPr lang="en-US" altLang="zh-CN" sz="6000" dirty="0">
                <a:latin typeface="SimHei" panose="02010609060101010101" pitchFamily="49" charset="-122"/>
                <a:ea typeface="SimHei" panose="02010609060101010101" pitchFamily="49" charset="-122"/>
                <a:cs typeface="Adobe 黑体 Std R" charset="-122"/>
              </a:rPr>
              <a:t>24E2S</a:t>
            </a:r>
          </a:p>
        </p:txBody>
      </p:sp>
    </p:spTree>
    <p:extLst>
      <p:ext uri="{BB962C8B-B14F-4D97-AF65-F5344CB8AC3E}">
        <p14:creationId xmlns:p14="http://schemas.microsoft.com/office/powerpoint/2010/main" val="2277165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照片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7836F03-0B62-081E-CE66-359035E959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63" b="22736"/>
          <a:stretch>
            <a:fillRect/>
          </a:stretch>
        </p:blipFill>
        <p:spPr>
          <a:xfrm>
            <a:off x="1621138" y="1119894"/>
            <a:ext cx="5901724" cy="521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00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78BFB-DC4B-111A-FC18-C968DF24C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B02C9A9D-8BEB-A9D0-6771-B35CEEAB01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3D51BC3-5A25-5A7B-6C15-B12B01994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F69112E3-3F89-453C-5C31-F7464B7D6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脂肪醇聚氧乙烯醚硫酸钠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23A1CE6-C212-6C28-E588-A7AE12A4A546}"/>
              </a:ext>
            </a:extLst>
          </p:cNvPr>
          <p:cNvSpPr txBox="1"/>
          <p:nvPr/>
        </p:nvSpPr>
        <p:spPr>
          <a:xfrm>
            <a:off x="182880" y="1030057"/>
            <a:ext cx="8778240" cy="2790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商品名：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Alcohol Ether Sulfate,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简称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AES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；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日化行业亦常称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SLES = Sodium </a:t>
            </a:r>
            <a:r>
              <a:rPr lang="en-US" altLang="zh-CN" sz="2400" dirty="0" err="1">
                <a:latin typeface="+mn-lt"/>
                <a:ea typeface="SimHei" panose="02010609060101010101" pitchFamily="49" charset="-122"/>
              </a:rPr>
              <a:t>Laureth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 Sulfate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24E2S”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通常表示**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C12–C14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脂肪醇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+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平均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2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摩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EO +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硫酸酯钠盐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8586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C591A-9BED-7968-0D6A-60D436113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4F6CD236-5484-60A1-A7AF-87EC710CAD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333C876-3A3A-D1AA-85D3-CC70D8935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3B3D0935-835E-7069-0570-CC92536FE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化学结构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C16EA47-C8BA-9CEF-5404-D8EC1538CA29}"/>
              </a:ext>
            </a:extLst>
          </p:cNvPr>
          <p:cNvSpPr txBox="1"/>
          <p:nvPr/>
        </p:nvSpPr>
        <p:spPr>
          <a:xfrm>
            <a:off x="182880" y="1030057"/>
            <a:ext cx="8778240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C12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：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C14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：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7CF5809-11A6-B49D-F362-56CBB1DB4F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3353177"/>
              </p:ext>
            </p:extLst>
          </p:nvPr>
        </p:nvGraphicFramePr>
        <p:xfrm>
          <a:off x="1606550" y="2222500"/>
          <a:ext cx="5932488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954295" imgH="271043" progId="ChemDraw.Document.6.0">
                  <p:embed/>
                </p:oleObj>
              </mc:Choice>
              <mc:Fallback>
                <p:oleObj name="CS ChemDraw Drawing" r:id="rId2" imgW="3954295" imgH="27104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06550" y="2222500"/>
                        <a:ext cx="5932488" cy="407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E312BF3-CB67-9E72-1714-0BA63C182D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2925039"/>
              </p:ext>
            </p:extLst>
          </p:nvPr>
        </p:nvGraphicFramePr>
        <p:xfrm>
          <a:off x="1041400" y="4218198"/>
          <a:ext cx="6497638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4331155" imgH="270620" progId="ChemDraw.Document.6.0">
                  <p:embed/>
                </p:oleObj>
              </mc:Choice>
              <mc:Fallback>
                <p:oleObj name="CS ChemDraw Drawing" r:id="rId4" imgW="4331155" imgH="270620" progId="ChemDraw.Document.6.0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B7CF5809-11A6-B49D-F362-56CBB1DB4F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41400" y="4218198"/>
                        <a:ext cx="6497638" cy="404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07389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B4567-57D5-DD1B-E837-A19D61812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401386B2-CE75-9CC9-4CE7-41285E338B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5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2CF42A9-399E-2EA2-A768-70CB80492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0DAAD1D9-6DC8-B7F1-BB66-69FF5FBDD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物理与化学性质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D21BC1-536F-7561-277A-A9D3D6D82677}"/>
              </a:ext>
            </a:extLst>
          </p:cNvPr>
          <p:cNvSpPr txBox="1"/>
          <p:nvPr/>
        </p:nvSpPr>
        <p:spPr>
          <a:xfrm>
            <a:off x="182880" y="1045823"/>
            <a:ext cx="8778240" cy="4452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外观：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无色至浅黄色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高黏稠膏状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浆状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	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随温度黏度变化明显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气味：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微弱特征气味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溶解性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易溶于水和甘油，乙醇中有限溶解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不溶于烃类溶剂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3047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97BB2-941F-81FA-A48F-FF79574A1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BBBC6335-CBCF-7C22-68D3-7E07233BE4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6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EE9F3FA-1F9B-030D-00ED-81974A3AE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FDF82718-E01B-7FC2-F331-85424FCB8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物理与化学性质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9311F2-2EA8-8585-7763-7A3CCE8EB2B2}"/>
              </a:ext>
            </a:extLst>
          </p:cNvPr>
          <p:cNvSpPr txBox="1"/>
          <p:nvPr/>
        </p:nvSpPr>
        <p:spPr>
          <a:xfrm>
            <a:off x="182880" y="1030057"/>
            <a:ext cx="8778240" cy="556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ea typeface="SimHei" panose="02010609060101010101" pitchFamily="49" charset="-122"/>
              </a:rPr>
              <a:t>pH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ea typeface="SimHei" panose="02010609060101010101" pitchFamily="49" charset="-122"/>
              </a:rPr>
              <a:t>	1%</a:t>
            </a:r>
            <a:r>
              <a:rPr lang="zh-CN" altLang="en-US" sz="2400" dirty="0">
                <a:ea typeface="SimHei" panose="02010609060101010101" pitchFamily="49" charset="-122"/>
              </a:rPr>
              <a:t>水溶液，</a:t>
            </a:r>
            <a:r>
              <a:rPr lang="en-US" altLang="zh-CN" sz="2400" dirty="0">
                <a:ea typeface="SimHei" panose="02010609060101010101" pitchFamily="49" charset="-122"/>
              </a:rPr>
              <a:t>25 </a:t>
            </a:r>
            <a:r>
              <a:rPr lang="en-US" altLang="zh-CN" sz="2400" baseline="30000" dirty="0" err="1">
                <a:ea typeface="SimHei" panose="02010609060101010101" pitchFamily="49" charset="-122"/>
              </a:rPr>
              <a:t>o</a:t>
            </a:r>
            <a:r>
              <a:rPr lang="en-US" altLang="zh-CN" sz="2400" dirty="0" err="1">
                <a:ea typeface="SimHei" panose="02010609060101010101" pitchFamily="49" charset="-122"/>
              </a:rPr>
              <a:t>C</a:t>
            </a:r>
            <a:r>
              <a:rPr lang="zh-CN" altLang="en-US" sz="2400" dirty="0">
                <a:ea typeface="SimHei" panose="02010609060101010101" pitchFamily="49" charset="-122"/>
              </a:rPr>
              <a:t>，常见 </a:t>
            </a:r>
            <a:r>
              <a:rPr lang="en-US" altLang="zh-CN" sz="2400" dirty="0">
                <a:ea typeface="SimHei" panose="02010609060101010101" pitchFamily="49" charset="-122"/>
              </a:rPr>
              <a:t>7–9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ea typeface="SimHei" panose="02010609060101010101" pitchFamily="49" charset="-122"/>
              </a:rPr>
              <a:t>	</a:t>
            </a:r>
            <a:r>
              <a:rPr lang="zh-CN" altLang="en-US" sz="2400" dirty="0">
                <a:ea typeface="SimHei" panose="02010609060101010101" pitchFamily="49" charset="-122"/>
              </a:rPr>
              <a:t>（可按配方需要调至</a:t>
            </a:r>
            <a:r>
              <a:rPr lang="en-US" altLang="zh-CN" sz="2400" dirty="0">
                <a:ea typeface="SimHei" panose="02010609060101010101" pitchFamily="49" charset="-122"/>
              </a:rPr>
              <a:t>6–8</a:t>
            </a:r>
            <a:r>
              <a:rPr lang="zh-CN" altLang="en-US" sz="2400" dirty="0">
                <a:ea typeface="SimHei" panose="02010609060101010101" pitchFamily="49" charset="-122"/>
              </a:rPr>
              <a:t>范围）。</a:t>
            </a:r>
            <a:endParaRPr lang="en-US" altLang="zh-CN" sz="2400" dirty="0"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ea typeface="SimHei" panose="02010609060101010101" pitchFamily="49" charset="-122"/>
              </a:rPr>
              <a:t>表面张力（</a:t>
            </a:r>
            <a:r>
              <a:rPr lang="en-US" altLang="zh-CN" sz="2400" dirty="0">
                <a:ea typeface="SimHei" panose="02010609060101010101" pitchFamily="49" charset="-122"/>
              </a:rPr>
              <a:t>0.1–1.0% w/w</a:t>
            </a:r>
            <a:r>
              <a:rPr lang="zh-CN" altLang="en-US" sz="2400" dirty="0">
                <a:ea typeface="SimHei" panose="02010609060101010101" pitchFamily="49" charset="-122"/>
              </a:rPr>
              <a:t>）</a:t>
            </a:r>
            <a:endParaRPr lang="en-US" altLang="zh-CN" sz="2400" dirty="0"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ea typeface="SimHei" panose="02010609060101010101" pitchFamily="49" charset="-122"/>
              </a:rPr>
              <a:t>	</a:t>
            </a:r>
            <a:r>
              <a:rPr lang="zh-CN" altLang="en-US" sz="2400" dirty="0">
                <a:ea typeface="SimHei" panose="02010609060101010101" pitchFamily="49" charset="-122"/>
              </a:rPr>
              <a:t>可将水的表面张力从 </a:t>
            </a:r>
            <a:r>
              <a:rPr lang="en-US" altLang="zh-CN" sz="2400" dirty="0">
                <a:ea typeface="SimHei" panose="02010609060101010101" pitchFamily="49" charset="-122"/>
              </a:rPr>
              <a:t>~72 </a:t>
            </a:r>
            <a:r>
              <a:rPr lang="en-US" altLang="zh-CN" sz="2400" dirty="0" err="1">
                <a:ea typeface="SimHei" panose="02010609060101010101" pitchFamily="49" charset="-122"/>
              </a:rPr>
              <a:t>mN</a:t>
            </a:r>
            <a:r>
              <a:rPr lang="en-US" altLang="zh-CN" sz="2400" dirty="0">
                <a:ea typeface="SimHei" panose="02010609060101010101" pitchFamily="49" charset="-122"/>
              </a:rPr>
              <a:t>/m </a:t>
            </a:r>
            <a:r>
              <a:rPr lang="zh-CN" altLang="en-US" sz="2400" dirty="0">
                <a:ea typeface="SimHei" panose="02010609060101010101" pitchFamily="49" charset="-122"/>
              </a:rPr>
              <a:t>降至约</a:t>
            </a:r>
            <a:r>
              <a:rPr lang="en-US" altLang="zh-CN" sz="2400" dirty="0">
                <a:ea typeface="SimHei" panose="02010609060101010101" pitchFamily="49" charset="-122"/>
              </a:rPr>
              <a:t>28–35 </a:t>
            </a:r>
            <a:r>
              <a:rPr lang="en-US" altLang="zh-CN" sz="2400" dirty="0" err="1">
                <a:ea typeface="SimHei" panose="02010609060101010101" pitchFamily="49" charset="-122"/>
              </a:rPr>
              <a:t>mN</a:t>
            </a:r>
            <a:r>
              <a:rPr lang="en-US" altLang="zh-CN" sz="2400" dirty="0">
                <a:ea typeface="SimHei" panose="02010609060101010101" pitchFamily="49" charset="-122"/>
              </a:rPr>
              <a:t>/m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ea typeface="SimHei" panose="02010609060101010101" pitchFamily="49" charset="-122"/>
              </a:rPr>
              <a:t>	</a:t>
            </a:r>
            <a:r>
              <a:rPr lang="zh-CN" altLang="en-US" sz="2400" dirty="0">
                <a:ea typeface="SimHei" panose="02010609060101010101" pitchFamily="49" charset="-122"/>
              </a:rPr>
              <a:t>（受盐、</a:t>
            </a:r>
            <a:r>
              <a:rPr lang="en-US" altLang="zh-CN" sz="2400" dirty="0">
                <a:ea typeface="SimHei" panose="02010609060101010101" pitchFamily="49" charset="-122"/>
              </a:rPr>
              <a:t>EO</a:t>
            </a:r>
            <a:r>
              <a:rPr lang="zh-CN" altLang="en-US" sz="2400" dirty="0">
                <a:ea typeface="SimHei" panose="02010609060101010101" pitchFamily="49" charset="-122"/>
              </a:rPr>
              <a:t>数、温度影响）。</a:t>
            </a:r>
            <a:endParaRPr lang="en-US" altLang="zh-CN" sz="2400" dirty="0"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ea typeface="SimHei" panose="02010609060101010101" pitchFamily="49" charset="-122"/>
              </a:rPr>
              <a:t>CMC</a:t>
            </a:r>
            <a:r>
              <a:rPr lang="zh-CN" altLang="en-US" sz="2400" dirty="0">
                <a:ea typeface="SimHei" panose="02010609060101010101" pitchFamily="49" charset="-122"/>
              </a:rPr>
              <a:t>：</a:t>
            </a:r>
            <a:endParaRPr lang="en-US" altLang="zh-CN" sz="2400" dirty="0"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ea typeface="SimHei" panose="02010609060101010101" pitchFamily="49" charset="-122"/>
              </a:rPr>
              <a:t>	</a:t>
            </a:r>
            <a:r>
              <a:rPr lang="zh-CN" altLang="en-US" sz="2400" dirty="0">
                <a:ea typeface="SimHei" panose="02010609060101010101" pitchFamily="49" charset="-122"/>
              </a:rPr>
              <a:t>约</a:t>
            </a:r>
            <a:r>
              <a:rPr lang="en-US" altLang="zh-CN" sz="2400" dirty="0">
                <a:ea typeface="SimHei" panose="02010609060101010101" pitchFamily="49" charset="-122"/>
              </a:rPr>
              <a:t>1–2 mM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ea typeface="SimHei" panose="02010609060101010101" pitchFamily="49" charset="-122"/>
              </a:rPr>
              <a:t>	</a:t>
            </a:r>
            <a:r>
              <a:rPr lang="zh-CN" altLang="en-US" sz="2400" dirty="0">
                <a:ea typeface="SimHei" panose="02010609060101010101" pitchFamily="49" charset="-122"/>
              </a:rPr>
              <a:t>（配方中的电解质</a:t>
            </a:r>
            <a:r>
              <a:rPr lang="en-US" altLang="zh-CN" sz="2400" dirty="0">
                <a:ea typeface="SimHei" panose="02010609060101010101" pitchFamily="49" charset="-122"/>
              </a:rPr>
              <a:t>/</a:t>
            </a:r>
            <a:r>
              <a:rPr lang="zh-CN" altLang="en-US" sz="2400" dirty="0">
                <a:ea typeface="SimHei" panose="02010609060101010101" pitchFamily="49" charset="-122"/>
              </a:rPr>
              <a:t>共表活可显著改变）。</a:t>
            </a:r>
            <a:endParaRPr lang="en-US" altLang="zh-CN" sz="2400" dirty="0"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8093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87584-DE98-A8AF-5CD0-A4AAE8432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A990C335-2D44-8209-7E28-38F0973DD8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7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B7CF813-F632-699E-BD9D-3FDD4D5D3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B5E74917-A81C-3242-DBCB-49E6B57BA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物理化学性质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8A0E908-BA87-6269-F151-08003BCDC422}"/>
              </a:ext>
            </a:extLst>
          </p:cNvPr>
          <p:cNvSpPr txBox="1"/>
          <p:nvPr/>
        </p:nvSpPr>
        <p:spPr>
          <a:xfrm>
            <a:off x="182880" y="1030057"/>
            <a:ext cx="8778240" cy="5560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起泡性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/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去污力：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高；与两性表活（如 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CAPB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）有协同增泡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相容性：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与阴离子、两性、非离子相容；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与阳离子会发生配伍矛盾（析盐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浑浊）。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 稳定性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中性至弱碱条件稳定；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在**强酸**条件下硫酸酯键可水解；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对硬水中 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Ca²⁺/Mg²⁺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有一定耐受，但浓度高时可能形成不溶盐。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42372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2F60C-7E72-0870-836F-C68A91C4F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B9CB9FC5-8277-355A-7AD7-E167F37AC8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8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807DCC4-0E01-E155-E4CA-FA260C315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A5580C4D-BB45-F487-54FC-6948919BE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物理化学性质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E7DF7EB-0DE6-F662-B943-A38AB1E74CEE}"/>
              </a:ext>
            </a:extLst>
          </p:cNvPr>
          <p:cNvSpPr txBox="1"/>
          <p:nvPr/>
        </p:nvSpPr>
        <p:spPr>
          <a:xfrm>
            <a:off x="182880" y="1030057"/>
            <a:ext cx="8778240" cy="2790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ea typeface="SimHei" panose="02010609060101010101" pitchFamily="49" charset="-122"/>
              </a:rPr>
              <a:t>安全性</a:t>
            </a:r>
            <a:endParaRPr lang="en-US" altLang="zh-CN" sz="2400" dirty="0"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ea typeface="SimHe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对皮肤、眼睛中等刺激；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需控制残留“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EO/1,4-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二氧六环”于法规限度内。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ea typeface="SimHei" panose="02010609060101010101" pitchFamily="49" charset="-122"/>
              </a:rPr>
              <a:t>生物降解性</a:t>
            </a:r>
            <a:endParaRPr lang="en-US" altLang="zh-CN" sz="2400" dirty="0"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ea typeface="SimHe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易被生物降解（线性烷基链）。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9705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32A3E-A2E0-E27F-2D4D-97072E58A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E6F47B44-09A7-0B64-68C8-B42132159A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9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D57C418-1922-5FE3-D576-EC3468633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954FAED6-FBFB-E773-813F-AE8FE1BC8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工业来源：第一步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397947-6113-6F6D-D494-25D59C11F51F}"/>
              </a:ext>
            </a:extLst>
          </p:cNvPr>
          <p:cNvSpPr txBox="1"/>
          <p:nvPr/>
        </p:nvSpPr>
        <p:spPr>
          <a:xfrm>
            <a:off x="182880" y="1030057"/>
            <a:ext cx="8778240" cy="2236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乙氧基化：以天然油脂来源的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C₁₂–C₁₄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脂肪醇（椰子油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/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棕榈仁油裂解→醇）或合成脂肪醇（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Ziegler/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烯烃氧化法）为原料，在碱催化（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KOH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等）下与环氧乙烷（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EO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）加成，控制平均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n≈2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，得到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AEO-2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（脂肪醇聚氧乙烯醚）。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DF54D0D-CB6D-0C85-25CB-574490E8E0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1887584"/>
              </p:ext>
            </p:extLst>
          </p:nvPr>
        </p:nvGraphicFramePr>
        <p:xfrm>
          <a:off x="1906925" y="3591370"/>
          <a:ext cx="5330150" cy="1869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553433" imgH="1246121" progId="ChemDraw.Document.6.0">
                  <p:embed/>
                </p:oleObj>
              </mc:Choice>
              <mc:Fallback>
                <p:oleObj name="CS ChemDraw Drawing" r:id="rId2" imgW="3553433" imgH="124612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06925" y="3591370"/>
                        <a:ext cx="5330150" cy="18691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9084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331D-A45A-35DB-6CA2-9B5D8CEEA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22D7D01D-67FF-E74C-8723-C9B1D05221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10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FB18C05-A5B5-C262-1FD6-74D331A47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B476069-36EA-1A8E-935B-77211EF96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工业来源：第二步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607A39-A211-4189-9D7B-5F176AE41C59}"/>
              </a:ext>
            </a:extLst>
          </p:cNvPr>
          <p:cNvSpPr txBox="1"/>
          <p:nvPr/>
        </p:nvSpPr>
        <p:spPr>
          <a:xfrm>
            <a:off x="182880" y="1030057"/>
            <a:ext cx="8778240" cy="5560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硫酸化与中和： 用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SO</a:t>
            </a:r>
            <a:r>
              <a:rPr lang="en-US" altLang="zh-CN" sz="2400" baseline="-25000" dirty="0">
                <a:latin typeface="+mn-lt"/>
                <a:ea typeface="SimHei" panose="02010609060101010101" pitchFamily="49" charset="-122"/>
              </a:rPr>
              <a:t>3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/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空气硫酸化器中硫酸化（或用氯磺酸法），生成硫酸酯酸式；以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NaOH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中和，除气、脱色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/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过滤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纯化与质量控制要点：控制色度、活性物含量、无机盐（</a:t>
            </a:r>
            <a:r>
              <a:rPr lang="en-US" altLang="zh-CN" sz="2400" b="1" dirty="0" err="1">
                <a:latin typeface="KaiTi" panose="02010609060101010101" pitchFamily="49" charset="-122"/>
                <a:ea typeface="KaiTi" panose="02010609060101010101" pitchFamily="49" charset="-122"/>
              </a:rPr>
              <a:t>Na₂SO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₄/NaCl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）、游离醇、二噁烷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/EO 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残留和气味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必要时进行真空脱气与活性炭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硅藻土过滤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1A5CD1D-6A26-561E-0F4D-3A22DAD106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769629"/>
              </p:ext>
            </p:extLst>
          </p:nvPr>
        </p:nvGraphicFramePr>
        <p:xfrm>
          <a:off x="1082674" y="2158636"/>
          <a:ext cx="6978651" cy="2346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652434" imgH="1564523" progId="ChemDraw.Document.6.0">
                  <p:embed/>
                </p:oleObj>
              </mc:Choice>
              <mc:Fallback>
                <p:oleObj name="CS ChemDraw Drawing" r:id="rId2" imgW="4652434" imgH="156452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82674" y="2158636"/>
                        <a:ext cx="6978651" cy="2346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51571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B4364-6F27-0092-7CC6-638CC3497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D9E11E04-EC9A-B5DD-DCDC-051014136D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11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081C896-CA20-CB62-86EA-76C41E89D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4E3CA40A-9622-16C9-1476-AF1C5B21B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市场价格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6FA7C97-A1B7-1E94-CADE-0ED0A08582F0}"/>
              </a:ext>
            </a:extLst>
          </p:cNvPr>
          <p:cNvSpPr txBox="1"/>
          <p:nvPr/>
        </p:nvSpPr>
        <p:spPr>
          <a:xfrm>
            <a:off x="182880" y="1030057"/>
            <a:ext cx="8778240" cy="389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散水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/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槽罐或吨桶（活性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70%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）：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约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¥9,000–14,000 /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吨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随椰子油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/EO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价格、季节与品牌波动；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特级或低盐配方级略高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小包装试剂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/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样品（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500 g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）：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常见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¥20–80 /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瓶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视品牌、级别和运费而定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93228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859E6-D2C7-63B7-B25E-715784E93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CE4F473F-96F4-3B0C-5271-E24ACA8F7A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12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AE6D5E0-65D4-01AD-AA43-A3473DCAC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04E742B8-300A-0285-EDE7-2805EBFBC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在日化产品中的作用与功能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9EFDB63-3896-7A06-CBA1-3EE45250CB02}"/>
              </a:ext>
            </a:extLst>
          </p:cNvPr>
          <p:cNvSpPr txBox="1"/>
          <p:nvPr/>
        </p:nvSpPr>
        <p:spPr>
          <a:xfrm>
            <a:off x="182880" y="1030057"/>
            <a:ext cx="8778240" cy="5009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核心定位：高泡沫的主表活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/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助表活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清洁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/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去污：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优良的去污、润湿与再分散能力，是洗发水、沐浴露、洗手液、洗面奶、洗衣液等的主力表活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或与烷基糖苷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甜菜碱等复配的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起泡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/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增泡：泡沫丰富、细腻；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与椰油酰胺丙基甜菜碱（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CAPB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）复配可显著提升泡量与稳定性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2601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18457-B798-0E46-351F-8842F7634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25DB0DB6-1CF7-8406-1277-A941F0BA9E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13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AD30B26-78D3-ACA2-DF30-B23E7CD81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8713DC87-2310-6CF4-EECB-E75FA0C20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在日化产品中的作用与功能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E4D9068-4886-C6E3-3C06-EC1D1F4A761C}"/>
              </a:ext>
            </a:extLst>
          </p:cNvPr>
          <p:cNvSpPr txBox="1"/>
          <p:nvPr/>
        </p:nvSpPr>
        <p:spPr>
          <a:xfrm>
            <a:off x="182880" y="1030057"/>
            <a:ext cx="8778240" cy="3344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增稠：与食盐（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NaCl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）存在典型盐曲线，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在一定浓度范围内可显著增稠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温和化：相对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SLS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更温和；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与两性表活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/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聚合物（如丙烯酸类、瓜尔胶衍生物）复配可进一步降低刺激性。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其他：一定的乳化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/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分散能力；可与香精、油脂形成稳定体系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3113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BD829-8BF9-3C32-F2D6-6E0D5D681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7A393822-5288-B7A9-9166-347DBE01B4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14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EFD7DF7-6493-FA32-26F4-7B7305A26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65798ACD-DC3D-90BF-D0E5-EE92B1E33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常用用量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72526C-E374-FE40-7C75-041787B41ADB}"/>
              </a:ext>
            </a:extLst>
          </p:cNvPr>
          <p:cNvSpPr txBox="1"/>
          <p:nvPr/>
        </p:nvSpPr>
        <p:spPr>
          <a:xfrm>
            <a:off x="182880" y="1030057"/>
            <a:ext cx="8778240" cy="2790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洗发水：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6–14%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沐浴露：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4–12%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洗手液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/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洗洁精：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2–10%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洁面：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3–8%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温和型常与两性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非离子复配，降低纯 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AES 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占比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3448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15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标题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182880" y="1030057"/>
            <a:ext cx="8778240" cy="1128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文字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Text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22E417-EB5F-FAA1-6FE9-6089C64CC90A}"/>
              </a:ext>
            </a:extLst>
          </p:cNvPr>
          <p:cNvSpPr/>
          <p:nvPr/>
        </p:nvSpPr>
        <p:spPr>
          <a:xfrm>
            <a:off x="5462534" y="2049410"/>
            <a:ext cx="3253588" cy="119456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54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默认设计模板_2">
  <a:themeElements>
    <a:clrScheme name="默认设计模板_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_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25400"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 bwMode="auto"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stealth" w="lg" len="lg"/>
        </a:ln>
        <a:effectLst/>
      </a:spPr>
      <a:bodyPr/>
      <a:lstStyle/>
    </a:lnDef>
  </a:objectDefaults>
  <a:extraClrSchemeLst>
    <a:extraClrScheme>
      <a:clrScheme name="默认设计模板_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默认设计模板_2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57699</TotalTime>
  <Pages>0</Pages>
  <Words>790</Words>
  <Characters>0</Characters>
  <Application>Microsoft Office PowerPoint</Application>
  <DocSecurity>0</DocSecurity>
  <PresentationFormat>全屏显示(4:3)</PresentationFormat>
  <Lines>0</Lines>
  <Paragraphs>103</Paragraphs>
  <Slides>15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Adobe 黑体 Std R</vt:lpstr>
      <vt:lpstr>KaiTi</vt:lpstr>
      <vt:lpstr>Microsoft JhengHei</vt:lpstr>
      <vt:lpstr>SimHei</vt:lpstr>
      <vt:lpstr>Arial</vt:lpstr>
      <vt:lpstr>默认设计模板_2</vt:lpstr>
      <vt:lpstr>CS ChemDraw Drawing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Administrator</dc:creator>
  <cp:keywords/>
  <dc:description/>
  <cp:lastModifiedBy>yanqifan@pku.edu.cn</cp:lastModifiedBy>
  <cp:revision>1353</cp:revision>
  <cp:lastPrinted>2020-04-24T02:07:11Z</cp:lastPrinted>
  <dcterms:created xsi:type="dcterms:W3CDTF">2012-03-24T04:10:06Z</dcterms:created>
  <dcterms:modified xsi:type="dcterms:W3CDTF">2025-09-22T06:17:14Z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2052-9.1.0.4517</vt:lpwstr>
  </property>
</Properties>
</file>