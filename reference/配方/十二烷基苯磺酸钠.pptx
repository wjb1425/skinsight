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5"/>
  </p:notesMasterIdLst>
  <p:sldIdLst>
    <p:sldId id="1127" r:id="rId2"/>
    <p:sldId id="1133" r:id="rId3"/>
    <p:sldId id="1180" r:id="rId4"/>
    <p:sldId id="1181" r:id="rId5"/>
    <p:sldId id="1182" r:id="rId6"/>
    <p:sldId id="1183" r:id="rId7"/>
    <p:sldId id="1184" r:id="rId8"/>
    <p:sldId id="1185" r:id="rId9"/>
    <p:sldId id="1186" r:id="rId10"/>
    <p:sldId id="1187" r:id="rId11"/>
    <p:sldId id="1188" r:id="rId12"/>
    <p:sldId id="1189" r:id="rId13"/>
    <p:sldId id="1179" r:id="rId14"/>
  </p:sldIdLst>
  <p:sldSz cx="9144000" cy="6858000" type="screen4x3"/>
  <p:notesSz cx="6858000" cy="9947275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FF"/>
    <a:srgbClr val="008000"/>
    <a:srgbClr val="00FF00"/>
    <a:srgbClr val="FF6600"/>
    <a:srgbClr val="FFFF00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473" autoAdjust="0"/>
  </p:normalViewPr>
  <p:slideViewPr>
    <p:cSldViewPr snapToGrid="0">
      <p:cViewPr varScale="1">
        <p:scale>
          <a:sx n="61" d="100"/>
          <a:sy n="61" d="100"/>
        </p:scale>
        <p:origin x="930" y="66"/>
      </p:cViewPr>
      <p:guideLst>
        <p:guide orient="horz" pos="213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198" cy="7619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BE4076EE-FE68-43AE-99C5-A81FDE8C2F8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70213" cy="497364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Font typeface="Arial" charset="0"/>
              <a:buNone/>
              <a:defRPr sz="1200">
                <a:latin typeface="Arial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9F48D32A-919E-48D2-B1E8-51EAC1B42BD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3025" y="0"/>
            <a:ext cx="2973388" cy="497364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charset="0"/>
              <a:buNone/>
              <a:defRPr sz="1200">
                <a:latin typeface="Arial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D34AD48D-B12D-4736-AF44-05EE8E9247E8}"/>
              </a:ext>
            </a:extLst>
          </p:cNvPr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942975" y="746125"/>
            <a:ext cx="4972050" cy="373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EC3AA012-CFE6-4520-8A8E-13DDAFFDCFAA}"/>
              </a:ext>
            </a:extLst>
          </p:cNvPr>
          <p:cNvSpPr>
            <a:spLocks noGrp="1" noRot="1" noChangeArrowheads="1"/>
          </p:cNvSpPr>
          <p:nvPr>
            <p:ph type="body" sz="quarter" idx="3"/>
          </p:nvPr>
        </p:nvSpPr>
        <p:spPr bwMode="auto">
          <a:xfrm>
            <a:off x="685800" y="4724956"/>
            <a:ext cx="5486400" cy="4476274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  <a:endParaRPr lang="en-US" altLang="zh-CN" noProof="0"/>
          </a:p>
          <a:p>
            <a:pPr lvl="1"/>
            <a:r>
              <a:rPr lang="zh-CN" altLang="en-US" noProof="0"/>
              <a:t>第二级</a:t>
            </a:r>
            <a:endParaRPr lang="en-US" altLang="zh-CN" noProof="0"/>
          </a:p>
          <a:p>
            <a:pPr lvl="2"/>
            <a:r>
              <a:rPr lang="zh-CN" altLang="en-US" noProof="0"/>
              <a:t>第三级</a:t>
            </a:r>
            <a:endParaRPr lang="en-US" altLang="zh-CN" noProof="0"/>
          </a:p>
          <a:p>
            <a:pPr lvl="3"/>
            <a:r>
              <a:rPr lang="zh-CN" altLang="en-US" noProof="0"/>
              <a:t>第四级</a:t>
            </a:r>
            <a:endParaRPr lang="en-US" altLang="zh-CN" noProof="0"/>
          </a:p>
          <a:p>
            <a:pPr lvl="4"/>
            <a:r>
              <a:rPr lang="zh-CN" altLang="en-US" noProof="0"/>
              <a:t>第五级</a:t>
            </a:r>
            <a:endParaRPr lang="en-US" altLang="zh-CN" noProof="0"/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900D91B0-938D-43D2-B4A5-04218A09BCE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48185"/>
            <a:ext cx="2970213" cy="497364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buFont typeface="Arial" charset="0"/>
              <a:buNone/>
              <a:defRPr sz="1200">
                <a:latin typeface="Arial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460084FF-D1F9-4991-8BEC-52A9C4629F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3025" y="9448185"/>
            <a:ext cx="2973388" cy="497364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>
                <a:ea typeface="SimSun" panose="02010600030101010101" pitchFamily="2" charset="-122"/>
              </a:defRPr>
            </a:lvl1pPr>
          </a:lstStyle>
          <a:p>
            <a:pPr>
              <a:defRPr/>
            </a:pPr>
            <a:fld id="{778C1415-F545-4EAF-A725-72D26972220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SimSun" panose="02010600030101010101" pitchFamily="2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SimSun" panose="02010600030101010101" pitchFamily="2" charset="-122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SimSun" panose="02010600030101010101" pitchFamily="2" charset="-122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SimSun" panose="02010600030101010101" pitchFamily="2" charset="-122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SimSun" panose="02010600030101010101" pitchFamily="2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258F932-2890-466A-B7FD-D54B5E428C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C6CDF12-C462-4CCB-A356-28A7F58EA6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56ABFEF-8D30-40EE-85CE-F956A80A47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ACF02D-BD2B-41A3-A43A-08279D48516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21212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153F3F7-AC56-4FF9-B43F-CF4FBD8658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3031F05-997D-49D6-A3A7-B3CFD738767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8907D21-A66F-4D72-8CDD-4E3976303BA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AE9027-F3D1-4C9B-9224-74565BAB0F9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1907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7D94C75-0E5B-4C8C-8A85-61C6E7B650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655DBC5-C64C-4A22-B684-D5ED958D0E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A1FB95A-9604-4FE1-9D3A-7F2FF52535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EA35FE-6C29-4C46-8B53-D31BCACACDA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71400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C559C9-402E-49B6-972F-BA454CAB79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D5592F-244A-426B-AE54-C75B816AAF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71A969-1188-4E27-94E7-7C97008B70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BEFB40-825F-4796-972A-72776875975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4853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7852098-092B-4191-91AC-47E76367E5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2835333-50B1-47AA-8BD8-9180F0B6EF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06042E5-AB1C-4E74-A4F2-A3A8A16B76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06A27F-7434-4140-BAD3-3CE749CFA59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0043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C065B87-4760-410D-9B8A-0031A9CAF7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54285A1-172E-4738-9540-9201D81FBB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AEB86D3-7468-4211-8791-ECFAAFE185B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94F624-5205-4AAE-AE23-807F393407F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72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C77E13B-72D9-470A-A1FF-022BA31FDD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551F784-F8A4-4306-B383-E8C5305331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5B2EE31-B659-4A2E-A5F7-4B33CE0557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315612-C62D-4AEB-B509-25ACC8E173B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1404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30B0F8-9AD5-4FFB-BAA3-1A9121D774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99C597-8A04-4988-B2BC-BC7245954CD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FA4472-FF9F-4640-A6AA-A22E92CDF4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68E671-225C-4CFC-9C8F-6FC8794CFFD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2910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8497F1-318E-4118-8ADB-DC9B25B062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3987DB-7905-42B3-92B5-1E55EC5447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771812-8A9A-4030-9354-C31CAB44A2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C1CC3E-3A36-4EA1-8FDF-FCBC759A998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0931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A0C0EC6-7BCF-4048-853F-1E8529DAA4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DA18239-816F-4A76-A6F8-54BB7DC23A4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0D12BE1-4C58-4ED6-B698-E499CC12A8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79DB30-7045-4D36-B14A-80846535937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6350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96751CC-D93A-4811-9EB6-52F2917DE1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252C067-7BB3-43EC-89D8-A7FA4AB2AD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383FF4B-04D2-4813-BCA2-8E3C22F531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5BCAFB-D2B0-4266-B070-58FF8190BD8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0121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98ED485-6AA5-423E-A45F-DF87DF13AA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F87A2F6-7A58-428B-8C9D-135F10D749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  <a:endParaRPr lang="en-US" altLang="zh-CN"/>
          </a:p>
          <a:p>
            <a:pPr lvl="1"/>
            <a:r>
              <a:rPr lang="zh-CN" altLang="en-US"/>
              <a:t>第二级</a:t>
            </a:r>
            <a:endParaRPr lang="en-US" altLang="zh-CN"/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54FEE0AA-F66C-44D7-A2CF-E2A7D71EF92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Font typeface="Arial" charset="0"/>
              <a:buNone/>
              <a:defRPr sz="1400">
                <a:latin typeface="Arial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02B35E2B-65B8-403C-BFDA-3A5BA16A2D3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charset="0"/>
              <a:buNone/>
              <a:defRPr sz="1400">
                <a:latin typeface="Arial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844184CE-A564-44F9-A27E-2DDE5988ED9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400">
                <a:ea typeface="SimSun" panose="02010600030101010101" pitchFamily="2" charset="-122"/>
              </a:defRPr>
            </a:lvl1pPr>
          </a:lstStyle>
          <a:p>
            <a:pPr>
              <a:defRPr/>
            </a:pPr>
            <a:fld id="{F5F2B2FA-3BF5-48AF-AA11-EF51B337F4E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MS PGothic" panose="020B0600070205080204" pitchFamily="34" charset="-128"/>
          <a:cs typeface="SimSun" panose="02010600030101010101" pitchFamily="2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MS PGothic" panose="020B0600070205080204" pitchFamily="34" charset="-128"/>
          <a:cs typeface="SimSun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MS PGothic" panose="020B0600070205080204" pitchFamily="34" charset="-128"/>
          <a:cs typeface="SimSun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MS PGothic" panose="020B0600070205080204" pitchFamily="34" charset="-128"/>
          <a:cs typeface="SimSun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MS PGothic" panose="020B0600070205080204" pitchFamily="34" charset="-128"/>
          <a:cs typeface="SimSun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SimSun" panose="02010600030101010101" pitchFamily="2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SimSun" panose="02010600030101010101" pitchFamily="2" charset="-122"/>
          <a:cs typeface="SimSun" panose="02010600030101010101" pitchFamily="2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SimSun" panose="02010600030101010101" pitchFamily="2" charset="-122"/>
          <a:cs typeface="SimSun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SimSun" panose="02010600030101010101" pitchFamily="2" charset="-122"/>
          <a:cs typeface="SimSun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SimSun" panose="02010600030101010101" pitchFamily="2" charset="-122"/>
          <a:cs typeface="SimSun" panose="02010600030101010101" pitchFamily="2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C8A27B77-DB4B-42EA-A92A-73A776DB80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291973"/>
            <a:ext cx="73152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6000" dirty="0">
                <a:latin typeface="SimHei" panose="02010609060101010101" pitchFamily="49" charset="-122"/>
                <a:ea typeface="SimHei" panose="02010609060101010101" pitchFamily="49" charset="-122"/>
                <a:cs typeface="Adobe 黑体 Std R" charset="-122"/>
              </a:rPr>
              <a:t>十二烷基苯磺酸钠</a:t>
            </a:r>
            <a:endParaRPr lang="en-US" altLang="zh-CN" sz="6000" dirty="0">
              <a:latin typeface="SimHei" panose="02010609060101010101" pitchFamily="49" charset="-122"/>
              <a:ea typeface="SimHei" panose="02010609060101010101" pitchFamily="49" charset="-122"/>
              <a:cs typeface="Adobe 黑体 Std R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77165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F02D5545-9FF7-4A1B-91C2-3C7825ECC6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2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43AD916-BA2E-4705-95C5-6EB560B96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1FA5C29-4814-47CC-A005-273156653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十二烷基苯磺酸钠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09C203-AF2B-410D-916E-F68A8A647CD2}"/>
              </a:ext>
            </a:extLst>
          </p:cNvPr>
          <p:cNvSpPr txBox="1"/>
          <p:nvPr/>
        </p:nvSpPr>
        <p:spPr>
          <a:xfrm>
            <a:off x="182880" y="1030057"/>
            <a:ext cx="8778240" cy="574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Sodium Dodecylbenzene Sulfonate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，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SDBS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E0CDB821-530E-A43E-BFCC-34363850B2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5818095"/>
              </p:ext>
            </p:extLst>
          </p:nvPr>
        </p:nvGraphicFramePr>
        <p:xfrm>
          <a:off x="2165253" y="3031315"/>
          <a:ext cx="4813494" cy="7953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3208996" imgH="530246" progId="ChemDraw.Document.6.0">
                  <p:embed/>
                </p:oleObj>
              </mc:Choice>
              <mc:Fallback>
                <p:oleObj name="CS ChemDraw Drawing" r:id="rId2" imgW="3208996" imgH="530246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165253" y="3031315"/>
                        <a:ext cx="4813494" cy="7953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2200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EA661-D90C-A20C-BA13-5473E07A7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CCDDA797-AF3F-BC19-D459-70621D52CD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3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671089DD-D814-AA58-7616-B5DE186B06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3E85BB2A-850C-0A98-E8CF-8AC0D411A2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物理化学性质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E2CBCAA-D6A6-1BA1-254B-9C3CF3180891}"/>
              </a:ext>
            </a:extLst>
          </p:cNvPr>
          <p:cNvSpPr txBox="1"/>
          <p:nvPr/>
        </p:nvSpPr>
        <p:spPr>
          <a:xfrm>
            <a:off x="182880" y="1030057"/>
            <a:ext cx="8778240" cy="2790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外观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	</a:t>
            </a: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白色或浅黄色粉末、颗粒</a:t>
            </a:r>
            <a:endParaRPr lang="en-US" altLang="zh-CN" sz="2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	</a:t>
            </a: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或液体（常见工业品为 </a:t>
            </a:r>
            <a:r>
              <a:rPr lang="en-US" altLang="zh-CN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30–40%</a:t>
            </a: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水溶液）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。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气味：轻微芳香气味。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水溶性：易溶于水，生成透明溶液；水溶液 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pH ≈ 7–9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。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14124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DAB2C-58A6-1BEE-09D4-D44E49372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063624D8-1123-F071-A945-E92397978B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4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6F351B33-C549-971B-8C40-174132ED1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6FDA2EA-2B2C-B3D1-789C-0DC91EE752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物理化学性质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481CFCB-29A6-2B30-082A-5D5B4994A6A5}"/>
              </a:ext>
            </a:extLst>
          </p:cNvPr>
          <p:cNvSpPr txBox="1"/>
          <p:nvPr/>
        </p:nvSpPr>
        <p:spPr>
          <a:xfrm>
            <a:off x="182880" y="1030057"/>
            <a:ext cx="8778240" cy="44525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表面张力：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0.1%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溶液可降至约 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28–30 </a:t>
            </a:r>
            <a:r>
              <a:rPr lang="en-US" altLang="zh-CN" sz="2400" dirty="0" err="1">
                <a:latin typeface="+mn-lt"/>
                <a:ea typeface="SimHei" panose="02010609060101010101" pitchFamily="49" charset="-122"/>
              </a:rPr>
              <a:t>mN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/m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；泡沫力强。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临界胶束浓度（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CMC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）：约 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1–2 mM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	</a:t>
            </a: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随温度和电解质变化</a:t>
            </a:r>
            <a:endParaRPr lang="en-US" altLang="zh-CN" sz="2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耐硬水性：比 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SLES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稍好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	</a:t>
            </a: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但 </a:t>
            </a:r>
            <a:r>
              <a:rPr lang="en-US" altLang="zh-CN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Ca²⁺ </a:t>
            </a: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高浓度下仍会沉淀</a:t>
            </a:r>
            <a:endParaRPr lang="en-US" altLang="zh-CN" sz="2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生物降解性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	</a:t>
            </a: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线性烷基苯磺酸盐（</a:t>
            </a:r>
            <a:r>
              <a:rPr lang="en-US" altLang="zh-CN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LAS</a:t>
            </a: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）可生物降解</a:t>
            </a:r>
            <a:endParaRPr lang="en-US" altLang="zh-CN" sz="2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	</a:t>
            </a: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分解速率较支链型显著提高。</a:t>
            </a:r>
            <a:endParaRPr lang="en-US" altLang="zh-CN" sz="2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7876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8CB5D-B107-2B3C-80E6-73F3F6695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39EB1A99-91CD-2631-EDE6-F9D5A69885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5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3614D0F-C7AF-6A8C-6996-1349BA1B2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4DBF92D5-913D-72EF-D574-765B08A0F6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工业来源：制备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9A76157-AE33-66AC-0C4B-CD3A2B48BAF1}"/>
              </a:ext>
            </a:extLst>
          </p:cNvPr>
          <p:cNvSpPr txBox="1"/>
          <p:nvPr/>
        </p:nvSpPr>
        <p:spPr>
          <a:xfrm>
            <a:off x="182880" y="1030057"/>
            <a:ext cx="8778240" cy="1682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1.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烷基苯合成：将线性 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C₁₀–C₁₄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烯烃（通常来源于石化裂解烯烃或 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Fischer–</a:t>
            </a:r>
            <a:r>
              <a:rPr lang="en-US" altLang="zh-CN" sz="2400" dirty="0" err="1">
                <a:latin typeface="+mn-lt"/>
                <a:ea typeface="SimHei" panose="02010609060101010101" pitchFamily="49" charset="-122"/>
              </a:rPr>
              <a:t>Tropsch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烯烃）与苯在 </a:t>
            </a:r>
            <a:r>
              <a:rPr lang="en-US" altLang="zh-CN" sz="2400" dirty="0" err="1">
                <a:latin typeface="+mn-lt"/>
                <a:ea typeface="SimHei" panose="02010609060101010101" pitchFamily="49" charset="-122"/>
              </a:rPr>
              <a:t>AlCl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₃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或 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HF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催化下烷基化，生成线性烷基苯（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LAB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）。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DD8AA431-7EC5-9E64-315E-600FA5A414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2560269"/>
              </p:ext>
            </p:extLst>
          </p:nvPr>
        </p:nvGraphicFramePr>
        <p:xfrm>
          <a:off x="1590172" y="3161808"/>
          <a:ext cx="5963655" cy="16998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3975770" imgH="1133222" progId="ChemDraw.Document.6.0">
                  <p:embed/>
                </p:oleObj>
              </mc:Choice>
              <mc:Fallback>
                <p:oleObj name="CS ChemDraw Drawing" r:id="rId2" imgW="3975770" imgH="1133222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90172" y="3161808"/>
                        <a:ext cx="5963655" cy="16998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49520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D0BF4-44D1-8377-5D2E-F86947194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2C8BC1EF-1685-CDDA-1480-776BC00A06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6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772D973-470B-E535-42FE-0D5C57A6A0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D987A6B8-89FE-5960-A7FA-E0E6349647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工业来源：制备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405A191-0640-EE7B-81F4-190D42943CA9}"/>
              </a:ext>
            </a:extLst>
          </p:cNvPr>
          <p:cNvSpPr txBox="1"/>
          <p:nvPr/>
        </p:nvSpPr>
        <p:spPr>
          <a:xfrm>
            <a:off x="182880" y="1030057"/>
            <a:ext cx="8778240" cy="1128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2.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 磺化：用 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SO₃/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空气气流磺化 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LAB →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线性烷基苯磺酸（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LAS Acid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）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D1C5A3A0-2EE6-6E62-5E36-8F6442D8E3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3126552"/>
              </p:ext>
            </p:extLst>
          </p:nvPr>
        </p:nvGraphicFramePr>
        <p:xfrm>
          <a:off x="1862080" y="2914540"/>
          <a:ext cx="5419839" cy="178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3613226" imgH="1189883" progId="ChemDraw.Document.6.0">
                  <p:embed/>
                </p:oleObj>
              </mc:Choice>
              <mc:Fallback>
                <p:oleObj name="CS ChemDraw Drawing" r:id="rId2" imgW="3613226" imgH="1189883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862080" y="2914540"/>
                        <a:ext cx="5419839" cy="1784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56804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7C480-6DA3-C184-DA9B-CFB6F97AC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9F7077E7-878D-2761-5E3F-7B3BC77C9C8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7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C28FA48-C956-B008-FA54-B9CF6E3B3A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BBE852D8-E406-1CA6-0C9A-1FADDE1FFC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工业来源：制备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D438FC1-AB53-FC7D-4BAD-24774DA65832}"/>
              </a:ext>
            </a:extLst>
          </p:cNvPr>
          <p:cNvSpPr txBox="1"/>
          <p:nvPr/>
        </p:nvSpPr>
        <p:spPr>
          <a:xfrm>
            <a:off x="182880" y="1030057"/>
            <a:ext cx="8778240" cy="1128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3.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中和：用 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NaOH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中和得到钠盐 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SDBS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。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4.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后处理：脱色、过滤、调浓度，得到液体或干粉成品。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CD7C9D47-FD4E-6F81-F228-24C374C988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1470297"/>
              </p:ext>
            </p:extLst>
          </p:nvPr>
        </p:nvGraphicFramePr>
        <p:xfrm>
          <a:off x="1526064" y="3041705"/>
          <a:ext cx="6091871" cy="18241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4061247" imgH="1216099" progId="ChemDraw.Document.6.0">
                  <p:embed/>
                </p:oleObj>
              </mc:Choice>
              <mc:Fallback>
                <p:oleObj name="CS ChemDraw Drawing" r:id="rId2" imgW="4061247" imgH="1216099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26064" y="3041705"/>
                        <a:ext cx="6091871" cy="18241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36579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5D881-B8BA-F679-0B4D-2ABA2EF54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C6D1320B-983F-A15A-80C3-2A3EC670D6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8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3BE33D0-4BB0-F8AA-470C-8A00F00129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3175454-F551-AD7E-CE32-EF44899E7A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市场价格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5FDA330-A16B-C519-DB87-84107CA9BD8A}"/>
              </a:ext>
            </a:extLst>
          </p:cNvPr>
          <p:cNvSpPr txBox="1"/>
          <p:nvPr/>
        </p:nvSpPr>
        <p:spPr>
          <a:xfrm>
            <a:off x="182880" y="1030057"/>
            <a:ext cx="8778240" cy="3344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液体 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30%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活性：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	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约 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8000–11000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元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/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吨（视原油、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LAB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价格波动）。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干粉：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	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约 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15000–20000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元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/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吨（更高纯度、出口级价格偏高）。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 小包装试剂级（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500g–1kg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）：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	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常见售价 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50–150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元。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01766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1E775-29BB-954A-D753-90E78E722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30116803-FBFA-B843-DF89-BDFA81D9CB8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9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0D2EBEE-F60A-CB78-1ED6-C5E485BE05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DA55E1A7-8914-0B4F-8CF3-BCC81998C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在日化产品中的作用与功能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47D4899-8885-DD0D-3833-4E2D67DC766E}"/>
              </a:ext>
            </a:extLst>
          </p:cNvPr>
          <p:cNvSpPr txBox="1"/>
          <p:nvPr/>
        </p:nvSpPr>
        <p:spPr>
          <a:xfrm>
            <a:off x="182880" y="1030057"/>
            <a:ext cx="8778240" cy="3898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去污主力：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	</a:t>
            </a: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高效去污、分散、乳化</a:t>
            </a:r>
            <a:endParaRPr lang="en-US" altLang="zh-CN" sz="2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	</a:t>
            </a: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是洗衣粉、洗衣液、餐具洗涤剂的主要阴离子表活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。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高泡沫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	</a:t>
            </a: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泡沫丰富而持久，增强消费者使用感。</a:t>
            </a:r>
            <a:endParaRPr lang="en-US" altLang="zh-CN" sz="2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增溶作用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	</a:t>
            </a: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能增溶部分香精油和疏水物质。</a:t>
            </a:r>
            <a:endParaRPr lang="en-US" altLang="zh-CN" sz="2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02644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41399-E8DD-D4C9-384E-4ED6FC2FC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7E8C6D4B-2D91-5393-91B6-83C52EF49B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10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C8F8D1D-4EA3-7407-97DC-7FFC0CC493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223A9BF8-0ECA-FD1C-09DE-4EDA552099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在日化产品中的作用与功能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EE01FD8-B70F-F5F9-E9F1-0F2DC0220E1E}"/>
              </a:ext>
            </a:extLst>
          </p:cNvPr>
          <p:cNvSpPr txBox="1"/>
          <p:nvPr/>
        </p:nvSpPr>
        <p:spPr>
          <a:xfrm>
            <a:off x="182880" y="1030057"/>
            <a:ext cx="8778240" cy="44525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性价比高：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	</a:t>
            </a: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比 </a:t>
            </a:r>
            <a:r>
              <a:rPr lang="en-US" altLang="zh-CN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AES/SLES </a:t>
            </a: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成本低</a:t>
            </a:r>
            <a:endParaRPr lang="en-US" altLang="zh-CN" sz="2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	</a:t>
            </a: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但刺激性和皮肤干燥性更高，因此在个人洗护中通常只做助表活或限量使用。</a:t>
            </a:r>
            <a:endParaRPr lang="en-US" altLang="zh-CN" sz="2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典型用量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	</a:t>
            </a: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洗衣粉 </a:t>
            </a:r>
            <a:r>
              <a:rPr lang="en-US" altLang="zh-CN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10–20%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	</a:t>
            </a: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洗洁精 </a:t>
            </a:r>
            <a:r>
              <a:rPr lang="en-US" altLang="zh-CN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7–15%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	</a:t>
            </a: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洗发水 ≤</a:t>
            </a:r>
            <a:r>
              <a:rPr lang="en-US" altLang="zh-CN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5%</a:t>
            </a: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（通常与 </a:t>
            </a:r>
            <a:r>
              <a:rPr lang="en-US" altLang="zh-CN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SLES</a:t>
            </a: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、两性表活复配降低刺激）。</a:t>
            </a:r>
            <a:endParaRPr lang="en-US" altLang="zh-CN" sz="2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05276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495DB-ADB4-A3EB-2C79-F2D67B40A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60DCE339-EDC6-F495-24D2-15761D0703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11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0AE409A-70BA-A614-D93F-F62283B792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1A0C9EE9-1063-7C9C-E424-1BDEEC7D14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对比</a:t>
            </a:r>
            <a:r>
              <a:rPr lang="en-US" altLang="zh-CN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AES vs SDBS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02B0DED-BF93-0602-22F6-F44C237D3A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1" t="10587" r="4453" b="8688"/>
          <a:stretch>
            <a:fillRect/>
          </a:stretch>
        </p:blipFill>
        <p:spPr>
          <a:xfrm>
            <a:off x="391180" y="1227619"/>
            <a:ext cx="8361640" cy="4226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602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CF711-EA79-7C98-55A4-ECF50DE92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A71FA5BA-A32D-847B-6A65-15C7618127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12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AD5A7A4-B4C5-C5EE-7F5E-6112527A74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DDDF2359-450F-EE58-097F-D6AB3D974E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标题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CA662A0-05C1-BE68-E77F-112AF50D99FA}"/>
              </a:ext>
            </a:extLst>
          </p:cNvPr>
          <p:cNvSpPr txBox="1"/>
          <p:nvPr/>
        </p:nvSpPr>
        <p:spPr>
          <a:xfrm>
            <a:off x="182880" y="1030057"/>
            <a:ext cx="8778240" cy="1128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文字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8246657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F02D5545-9FF7-4A1B-91C2-3C7825ECC6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13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43AD916-BA2E-4705-95C5-6EB560B96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1FA5C29-4814-47CC-A005-273156653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标题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09C203-AF2B-410D-916E-F68A8A647CD2}"/>
              </a:ext>
            </a:extLst>
          </p:cNvPr>
          <p:cNvSpPr txBox="1"/>
          <p:nvPr/>
        </p:nvSpPr>
        <p:spPr>
          <a:xfrm>
            <a:off x="182880" y="1030057"/>
            <a:ext cx="8778240" cy="1128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文字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Text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C22E417-EB5F-FAA1-6FE9-6089C64CC90A}"/>
              </a:ext>
            </a:extLst>
          </p:cNvPr>
          <p:cNvSpPr/>
          <p:nvPr/>
        </p:nvSpPr>
        <p:spPr>
          <a:xfrm>
            <a:off x="5462534" y="2049410"/>
            <a:ext cx="3253588" cy="1194567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549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默认设计模板_2">
  <a:themeElements>
    <a:clrScheme name="默认设计模板_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_2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25400">
          <a:solidFill>
            <a:schemeClr val="tx1"/>
          </a:solidFill>
        </a:ln>
      </a:spPr>
      <a:bodyPr rtlCol="0" anchor="ctr"/>
      <a:lstStyle>
        <a:defPPr algn="ctr">
          <a:defRPr/>
        </a:defPPr>
      </a:lstStyle>
    </a:spDef>
    <a:lnDef>
      <a:spPr bwMode="auto"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stealth" w="lg" len="lg"/>
        </a:ln>
        <a:effectLst/>
      </a:spPr>
      <a:bodyPr/>
      <a:lstStyle/>
    </a:lnDef>
  </a:objectDefaults>
  <a:extraClrSchemeLst>
    <a:extraClrScheme>
      <a:clrScheme name="默认设计模板_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_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_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_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_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_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57501</TotalTime>
  <Pages>0</Pages>
  <Words>444</Words>
  <Characters>0</Characters>
  <Application>Microsoft Office PowerPoint</Application>
  <DocSecurity>0</DocSecurity>
  <PresentationFormat>全屏显示(4:3)</PresentationFormat>
  <Lines>0</Lines>
  <Paragraphs>67</Paragraphs>
  <Slides>13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Adobe 黑体 Std R</vt:lpstr>
      <vt:lpstr>KaiTi</vt:lpstr>
      <vt:lpstr>Microsoft JhengHei</vt:lpstr>
      <vt:lpstr>SimHei</vt:lpstr>
      <vt:lpstr>Arial</vt:lpstr>
      <vt:lpstr>默认设计模板_2</vt:lpstr>
      <vt:lpstr>CS ChemDraw Drawing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Administrator</dc:creator>
  <cp:keywords/>
  <dc:description/>
  <cp:lastModifiedBy>yanqifan@pku.edu.cn</cp:lastModifiedBy>
  <cp:revision>1349</cp:revision>
  <cp:lastPrinted>2020-04-24T02:07:11Z</cp:lastPrinted>
  <dcterms:created xsi:type="dcterms:W3CDTF">2012-03-24T04:10:06Z</dcterms:created>
  <dcterms:modified xsi:type="dcterms:W3CDTF">2025-09-22T06:47:22Z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2052-9.1.0.4517</vt:lpwstr>
  </property>
</Properties>
</file>