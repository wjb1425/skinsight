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sldIdLst>
    <p:sldId id="260" r:id="rId4"/>
    <p:sldId id="264" r:id="rId5"/>
    <p:sldId id="391" r:id="rId6"/>
    <p:sldId id="380" r:id="rId7"/>
    <p:sldId id="266" r:id="rId8"/>
    <p:sldId id="392" r:id="rId9"/>
    <p:sldId id="383" r:id="rId10"/>
    <p:sldId id="386" r:id="rId11"/>
    <p:sldId id="395" r:id="rId12"/>
    <p:sldId id="393" r:id="rId13"/>
    <p:sldId id="267" r:id="rId14"/>
    <p:sldId id="394" r:id="rId15"/>
    <p:sldId id="384" r:id="rId16"/>
    <p:sldId id="388" r:id="rId17"/>
    <p:sldId id="389" r:id="rId18"/>
    <p:sldId id="387" r:id="rId19"/>
    <p:sldId id="390" r:id="rId20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CC99"/>
    <a:srgbClr val="CC9900"/>
    <a:srgbClr val="66CCFF"/>
    <a:srgbClr val="FF9900"/>
    <a:srgbClr val="D60093"/>
    <a:srgbClr val="993366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0805"/>
    <p:restoredTop sz="94660"/>
  </p:normalViewPr>
  <p:slideViewPr>
    <p:cSldViewPr showGuides="1">
      <p:cViewPr varScale="1">
        <p:scale>
          <a:sx n="81" d="100"/>
          <a:sy n="81" d="100"/>
        </p:scale>
        <p:origin x="1570" y="58"/>
      </p:cViewPr>
      <p:guideLst>
        <p:guide orient="horz" pos="2160"/>
        <p:guide pos="284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7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4B7673-DAF4-47D0-9C2E-B2BFFDCC6B8D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914A9B0-7080-4750-BC62-0E2DCB7DAA52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rPr>
            <a:t>抗菌抗炎</a:t>
          </a:r>
          <a:r>
            <a: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rPr>
            <a:t>：水杨酸能够抑制细菌代谢酶（如脱氢酶），阻断前列腺素合成通路，从而发挥抗菌和抗炎作用。</a:t>
          </a:r>
          <a:r>
            <a:rPr>
              <a:latin typeface="微软雅黑" panose="020B0503020204020204" charset="-122"/>
              <a:ea typeface="微软雅黑" panose="020B0503020204020204" charset="-122"/>
            </a:rPr>
            <a:t/>
          </a:r>
          <a:endParaRPr>
            <a:latin typeface="微软雅黑" panose="020B0503020204020204" charset="-122"/>
            <a:ea typeface="微软雅黑" panose="020B0503020204020204" charset="-122"/>
          </a:endParaRPr>
        </a:p>
      </dgm:t>
    </dgm:pt>
    <dgm:pt modelId="{84808B09-B1DA-4A32-89DD-526482793BD6}" cxnId="{925C1524-3826-4A5D-91FB-68DAA8C52E1C}" type="parTrans">
      <dgm:prSet/>
      <dgm:spPr/>
      <dgm:t>
        <a:bodyPr/>
        <a:lstStyle/>
        <a:p>
          <a:endParaRPr lang="zh-CN" altLang="en-US"/>
        </a:p>
      </dgm:t>
    </dgm:pt>
    <dgm:pt modelId="{4CE6B057-AF84-49BD-B05C-B6B2C70CF387}" cxnId="{925C1524-3826-4A5D-91FB-68DAA8C52E1C}" type="sibTrans">
      <dgm:prSet/>
      <dgm:spPr/>
      <dgm:t>
        <a:bodyPr/>
        <a:lstStyle/>
        <a:p>
          <a:endParaRPr lang="zh-CN" altLang="en-US"/>
        </a:p>
      </dgm:t>
    </dgm:pt>
    <dgm:pt modelId="{A039E735-75D5-43AE-8E99-96C3AF7C1A1E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rPr>
            <a:t>角质调节</a:t>
          </a:r>
          <a:r>
            <a: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rPr>
            <a:t>：通过破坏角质细胞间的桥粒连接，促进角质层脱落，改善皮肤粗糙和暗沉。</a:t>
          </a:r>
          <a:r>
            <a:rPr>
              <a:latin typeface="微软雅黑" panose="020B0503020204020204" charset="-122"/>
              <a:ea typeface="微软雅黑" panose="020B0503020204020204" charset="-122"/>
            </a:rPr>
            <a:t/>
          </a:r>
          <a:endParaRPr>
            <a:latin typeface="微软雅黑" panose="020B0503020204020204" charset="-122"/>
            <a:ea typeface="微软雅黑" panose="020B0503020204020204" charset="-122"/>
          </a:endParaRPr>
        </a:p>
      </dgm:t>
    </dgm:pt>
    <dgm:pt modelId="{364B6ADD-1015-4BB6-8BAB-5B575524C66C}" cxnId="{947002C2-E0F9-40E5-ABC0-CE294E63DBA4}" type="parTrans">
      <dgm:prSet/>
      <dgm:spPr/>
      <dgm:t>
        <a:bodyPr/>
        <a:lstStyle/>
        <a:p>
          <a:endParaRPr lang="zh-CN" altLang="en-US"/>
        </a:p>
      </dgm:t>
    </dgm:pt>
    <dgm:pt modelId="{A73B0BE0-96BF-4F56-BF86-4A8CCBD404DB}" cxnId="{947002C2-E0F9-40E5-ABC0-CE294E63DBA4}" type="sibTrans">
      <dgm:prSet/>
      <dgm:spPr/>
      <dgm:t>
        <a:bodyPr/>
        <a:lstStyle/>
        <a:p>
          <a:endParaRPr lang="zh-CN" altLang="en-US"/>
        </a:p>
      </dgm:t>
    </dgm:pt>
    <dgm:pt modelId="{8110BD5E-1AFD-4E29-85D7-4A9B786E5513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植物免疫</a:t>
          </a:r>
          <a:r>
            <a: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：在植物学中，水杨酸作为信号分子，可诱导植物产生系统获得性抗性（</a:t>
          </a:r>
          <a:r>
            <a:rPr lang="en-US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SAR</a:t>
          </a:r>
          <a:r>
            <a: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），抵御病原体侵袭。</a:t>
          </a:r>
          <a:r>
            <a: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/>
          </a:r>
          <a:endParaRPr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gm:t>
    </dgm:pt>
    <dgm:pt modelId="{3FB72A29-F3B9-4720-8FAF-B655E17AF4D5}" cxnId="{609C849B-6233-463B-A0E4-AE116CB47EB2}" type="parTrans">
      <dgm:prSet/>
      <dgm:spPr/>
      <dgm:t>
        <a:bodyPr/>
        <a:lstStyle/>
        <a:p>
          <a:endParaRPr lang="zh-CN" altLang="en-US"/>
        </a:p>
      </dgm:t>
    </dgm:pt>
    <dgm:pt modelId="{E21925CD-D2BF-40F0-9506-0FC2F30D4A6F}" cxnId="{609C849B-6233-463B-A0E4-AE116CB47EB2}" type="sibTrans">
      <dgm:prSet/>
      <dgm:spPr/>
      <dgm:t>
        <a:bodyPr/>
        <a:lstStyle/>
        <a:p>
          <a:endParaRPr lang="zh-CN" altLang="en-US"/>
        </a:p>
      </dgm:t>
    </dgm:pt>
    <dgm:pt modelId="{92AA1950-BA33-4083-B0F2-DA3EDF3E4370}" type="pres">
      <dgm:prSet presAssocID="{BA4B7673-DAF4-47D0-9C2E-B2BFFDCC6B8D}" presName="outerComposite" presStyleCnt="0">
        <dgm:presLayoutVars>
          <dgm:chMax val="5"/>
          <dgm:dir/>
          <dgm:resizeHandles val="exact"/>
        </dgm:presLayoutVars>
      </dgm:prSet>
      <dgm:spPr/>
    </dgm:pt>
    <dgm:pt modelId="{C2547C54-461A-489C-A5DB-46C9C7B7EEC0}" type="pres">
      <dgm:prSet presAssocID="{BA4B7673-DAF4-47D0-9C2E-B2BFFDCC6B8D}" presName="dummyMaxCanvas" presStyleCnt="0">
        <dgm:presLayoutVars/>
      </dgm:prSet>
      <dgm:spPr/>
    </dgm:pt>
    <dgm:pt modelId="{C6890D64-E7B4-43C0-AF57-1BA50D8E7830}" type="pres">
      <dgm:prSet presAssocID="{BA4B7673-DAF4-47D0-9C2E-B2BFFDCC6B8D}" presName="ThreeNodes_1" presStyleLbl="node1" presStyleIdx="0" presStyleCnt="3" custLinFactNeighborX="457" custLinFactNeighborY="-763">
        <dgm:presLayoutVars>
          <dgm:bulletEnabled val="1"/>
        </dgm:presLayoutVars>
      </dgm:prSet>
      <dgm:spPr/>
    </dgm:pt>
    <dgm:pt modelId="{5A2FAD8C-FFA2-421D-A150-999BD7DA786C}" type="pres">
      <dgm:prSet presAssocID="{BA4B7673-DAF4-47D0-9C2E-B2BFFDCC6B8D}" presName="ThreeNodes_2" presStyleLbl="node1" presStyleIdx="1" presStyleCnt="3" custLinFactNeighborX="-143" custLinFactNeighborY="-108">
        <dgm:presLayoutVars>
          <dgm:bulletEnabled val="1"/>
        </dgm:presLayoutVars>
      </dgm:prSet>
      <dgm:spPr/>
    </dgm:pt>
    <dgm:pt modelId="{8967BADA-1378-4671-9D41-7FE21FB2EA74}" type="pres">
      <dgm:prSet presAssocID="{BA4B7673-DAF4-47D0-9C2E-B2BFFDCC6B8D}" presName="ThreeNodes_3" presStyleLbl="node1" presStyleIdx="2" presStyleCnt="3">
        <dgm:presLayoutVars>
          <dgm:bulletEnabled val="1"/>
        </dgm:presLayoutVars>
      </dgm:prSet>
      <dgm:spPr/>
    </dgm:pt>
    <dgm:pt modelId="{C1C98EB1-D382-4910-85DF-C981652F6204}" type="pres">
      <dgm:prSet presAssocID="{BA4B7673-DAF4-47D0-9C2E-B2BFFDCC6B8D}" presName="ThreeConn_1-2" presStyleLbl="fgAccFollowNode1" presStyleIdx="0" presStyleCnt="2">
        <dgm:presLayoutVars>
          <dgm:bulletEnabled val="1"/>
        </dgm:presLayoutVars>
      </dgm:prSet>
      <dgm:spPr/>
    </dgm:pt>
    <dgm:pt modelId="{3922CA2A-4392-471E-AD6E-2D8F56F65A90}" type="pres">
      <dgm:prSet presAssocID="{BA4B7673-DAF4-47D0-9C2E-B2BFFDCC6B8D}" presName="ThreeConn_2-3" presStyleLbl="fgAccFollowNode1" presStyleIdx="1" presStyleCnt="2">
        <dgm:presLayoutVars>
          <dgm:bulletEnabled val="1"/>
        </dgm:presLayoutVars>
      </dgm:prSet>
      <dgm:spPr/>
    </dgm:pt>
    <dgm:pt modelId="{AA7A8414-71A9-4597-B02E-AADF05AA46BF}" type="pres">
      <dgm:prSet presAssocID="{BA4B7673-DAF4-47D0-9C2E-B2BFFDCC6B8D}" presName="ThreeNodes_1_text" presStyleCnt="0">
        <dgm:presLayoutVars>
          <dgm:bulletEnabled val="1"/>
        </dgm:presLayoutVars>
      </dgm:prSet>
      <dgm:spPr/>
    </dgm:pt>
    <dgm:pt modelId="{CA6D62AB-6342-4D18-BF17-7AD3D5331B4B}" type="pres">
      <dgm:prSet presAssocID="{BA4B7673-DAF4-47D0-9C2E-B2BFFDCC6B8D}" presName="ThreeNodes_2_text" presStyleCnt="0">
        <dgm:presLayoutVars>
          <dgm:bulletEnabled val="1"/>
        </dgm:presLayoutVars>
      </dgm:prSet>
      <dgm:spPr/>
    </dgm:pt>
    <dgm:pt modelId="{566C90A2-7E59-4117-9233-B8511B6C8EC4}" type="pres">
      <dgm:prSet presAssocID="{BA4B7673-DAF4-47D0-9C2E-B2BFFDCC6B8D}" presName="ThreeNodes_3_text" presStyleCnt="0">
        <dgm:presLayoutVars>
          <dgm:bulletEnabled val="1"/>
        </dgm:presLayoutVars>
      </dgm:prSet>
      <dgm:spPr/>
    </dgm:pt>
  </dgm:ptLst>
  <dgm:cxnLst>
    <dgm:cxn modelId="{925C1524-3826-4A5D-91FB-68DAA8C52E1C}" srcId="{BA4B7673-DAF4-47D0-9C2E-B2BFFDCC6B8D}" destId="{7914A9B0-7080-4750-BC62-0E2DCB7DAA52}" srcOrd="0" destOrd="0" parTransId="{84808B09-B1DA-4A32-89DD-526482793BD6}" sibTransId="{4CE6B057-AF84-49BD-B05C-B6B2C70CF387}"/>
    <dgm:cxn modelId="{947002C2-E0F9-40E5-ABC0-CE294E63DBA4}" srcId="{BA4B7673-DAF4-47D0-9C2E-B2BFFDCC6B8D}" destId="{A039E735-75D5-43AE-8E99-96C3AF7C1A1E}" srcOrd="1" destOrd="0" parTransId="{364B6ADD-1015-4BB6-8BAB-5B575524C66C}" sibTransId="{A73B0BE0-96BF-4F56-BF86-4A8CCBD404DB}"/>
    <dgm:cxn modelId="{609C849B-6233-463B-A0E4-AE116CB47EB2}" srcId="{BA4B7673-DAF4-47D0-9C2E-B2BFFDCC6B8D}" destId="{8110BD5E-1AFD-4E29-85D7-4A9B786E5513}" srcOrd="2" destOrd="0" parTransId="{3FB72A29-F3B9-4720-8FAF-B655E17AF4D5}" sibTransId="{E21925CD-D2BF-40F0-9506-0FC2F30D4A6F}"/>
    <dgm:cxn modelId="{43C41232-03ED-4DE6-B279-7BD1B2480459}" type="presOf" srcId="{BA4B7673-DAF4-47D0-9C2E-B2BFFDCC6B8D}" destId="{92AA1950-BA33-4083-B0F2-DA3EDF3E4370}" srcOrd="0" destOrd="0" presId="urn:microsoft.com/office/officeart/2005/8/layout/vProcess5"/>
    <dgm:cxn modelId="{78638E73-13A9-4D34-AF3D-B0342B19C4FB}" type="presParOf" srcId="{92AA1950-BA33-4083-B0F2-DA3EDF3E4370}" destId="{C2547C54-461A-489C-A5DB-46C9C7B7EEC0}" srcOrd="0" destOrd="0" presId="urn:microsoft.com/office/officeart/2005/8/layout/vProcess5"/>
    <dgm:cxn modelId="{2A5F4364-D94A-42CC-8C86-E2C213209CB2}" type="presParOf" srcId="{92AA1950-BA33-4083-B0F2-DA3EDF3E4370}" destId="{C6890D64-E7B4-43C0-AF57-1BA50D8E7830}" srcOrd="1" destOrd="0" presId="urn:microsoft.com/office/officeart/2005/8/layout/vProcess5"/>
    <dgm:cxn modelId="{4731E489-5AE2-4196-B392-B1E2FF4169D7}" type="presOf" srcId="{7914A9B0-7080-4750-BC62-0E2DCB7DAA52}" destId="{C6890D64-E7B4-43C0-AF57-1BA50D8E7830}" srcOrd="0" destOrd="0" presId="urn:microsoft.com/office/officeart/2005/8/layout/vProcess5"/>
    <dgm:cxn modelId="{86415320-6CF9-4A9B-A77E-64DBDA16371B}" type="presParOf" srcId="{92AA1950-BA33-4083-B0F2-DA3EDF3E4370}" destId="{5A2FAD8C-FFA2-421D-A150-999BD7DA786C}" srcOrd="2" destOrd="0" presId="urn:microsoft.com/office/officeart/2005/8/layout/vProcess5"/>
    <dgm:cxn modelId="{E2AC0419-89B9-4279-9367-1AC9A1320594}" type="presOf" srcId="{A039E735-75D5-43AE-8E99-96C3AF7C1A1E}" destId="{5A2FAD8C-FFA2-421D-A150-999BD7DA786C}" srcOrd="0" destOrd="0" presId="urn:microsoft.com/office/officeart/2005/8/layout/vProcess5"/>
    <dgm:cxn modelId="{7AB1D147-FFD0-4AA8-BE92-D58FF4C45632}" type="presParOf" srcId="{92AA1950-BA33-4083-B0F2-DA3EDF3E4370}" destId="{8967BADA-1378-4671-9D41-7FE21FB2EA74}" srcOrd="3" destOrd="0" presId="urn:microsoft.com/office/officeart/2005/8/layout/vProcess5"/>
    <dgm:cxn modelId="{CA84B361-6ACD-497C-8FEA-8E620CFBFAF7}" type="presOf" srcId="{8110BD5E-1AFD-4E29-85D7-4A9B786E5513}" destId="{8967BADA-1378-4671-9D41-7FE21FB2EA74}" srcOrd="0" destOrd="0" presId="urn:microsoft.com/office/officeart/2005/8/layout/vProcess5"/>
    <dgm:cxn modelId="{C7F1F511-1C64-4128-95D2-1053584C70AA}" type="presParOf" srcId="{92AA1950-BA33-4083-B0F2-DA3EDF3E4370}" destId="{C1C98EB1-D382-4910-85DF-C981652F6204}" srcOrd="4" destOrd="0" presId="urn:microsoft.com/office/officeart/2005/8/layout/vProcess5"/>
    <dgm:cxn modelId="{2AA2F556-2288-4E9A-93AA-722CEE24E2E2}" type="presOf" srcId="{4CE6B057-AF84-49BD-B05C-B6B2C70CF387}" destId="{C1C98EB1-D382-4910-85DF-C981652F6204}" srcOrd="0" destOrd="0" presId="urn:microsoft.com/office/officeart/2005/8/layout/vProcess5"/>
    <dgm:cxn modelId="{58472ED1-309F-4C32-9CED-C874633CA31F}" type="presParOf" srcId="{92AA1950-BA33-4083-B0F2-DA3EDF3E4370}" destId="{3922CA2A-4392-471E-AD6E-2D8F56F65A90}" srcOrd="5" destOrd="0" presId="urn:microsoft.com/office/officeart/2005/8/layout/vProcess5"/>
    <dgm:cxn modelId="{D4E1F17A-05B8-4F69-B31F-B82DA8E4D332}" type="presOf" srcId="{A73B0BE0-96BF-4F56-BF86-4A8CCBD404DB}" destId="{3922CA2A-4392-471E-AD6E-2D8F56F65A90}" srcOrd="0" destOrd="0" presId="urn:microsoft.com/office/officeart/2005/8/layout/vProcess5"/>
    <dgm:cxn modelId="{BA91C542-FF7F-4199-BD35-8EB332456BF4}" type="presParOf" srcId="{92AA1950-BA33-4083-B0F2-DA3EDF3E4370}" destId="{AA7A8414-71A9-4597-B02E-AADF05AA46BF}" srcOrd="6" destOrd="0" presId="urn:microsoft.com/office/officeart/2005/8/layout/vProcess5"/>
    <dgm:cxn modelId="{5D90423E-0B97-4AD2-BF0C-EBE4E743B62A}" type="presOf" srcId="{7914A9B0-7080-4750-BC62-0E2DCB7DAA52}" destId="{AA7A8414-71A9-4597-B02E-AADF05AA46BF}" srcOrd="1" destOrd="0" presId="urn:microsoft.com/office/officeart/2005/8/layout/vProcess5"/>
    <dgm:cxn modelId="{986E0677-D93E-4B48-A5C3-4403AB9A4CC2}" type="presParOf" srcId="{92AA1950-BA33-4083-B0F2-DA3EDF3E4370}" destId="{CA6D62AB-6342-4D18-BF17-7AD3D5331B4B}" srcOrd="7" destOrd="0" presId="urn:microsoft.com/office/officeart/2005/8/layout/vProcess5"/>
    <dgm:cxn modelId="{06249CE4-5E89-4D0A-90FE-AE23E68C553F}" type="presOf" srcId="{A039E735-75D5-43AE-8E99-96C3AF7C1A1E}" destId="{CA6D62AB-6342-4D18-BF17-7AD3D5331B4B}" srcOrd="1" destOrd="0" presId="urn:microsoft.com/office/officeart/2005/8/layout/vProcess5"/>
    <dgm:cxn modelId="{ED832610-4E21-4907-8079-80032285CD71}" type="presParOf" srcId="{92AA1950-BA33-4083-B0F2-DA3EDF3E4370}" destId="{566C90A2-7E59-4117-9233-B8511B6C8EC4}" srcOrd="8" destOrd="0" presId="urn:microsoft.com/office/officeart/2005/8/layout/vProcess5"/>
    <dgm:cxn modelId="{D09CAAB5-851B-489A-86AC-3B340D4A0657}" type="presOf" srcId="{8110BD5E-1AFD-4E29-85D7-4A9B786E5513}" destId="{566C90A2-7E59-4117-9233-B8511B6C8EC4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152456" cy="5200351"/>
        <a:chOff x="0" y="0"/>
        <a:chExt cx="7152456" cy="5200351"/>
      </a:xfrm>
    </dsp:grpSpPr>
    <dsp:sp modelId="{C6890D64-E7B4-43C0-AF57-1BA50D8E7830}">
      <dsp:nvSpPr>
        <dsp:cNvPr id="3" name="圆角矩形 2"/>
        <dsp:cNvSpPr/>
      </dsp:nvSpPr>
      <dsp:spPr bwMode="white">
        <a:xfrm>
          <a:off x="27784" y="0"/>
          <a:ext cx="6079588" cy="1560105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80010" tIns="80010" rIns="80010" bIns="80010" anchor="ctr"/>
        <a:lstStyle>
          <a:lvl1pPr algn="l">
            <a:defRPr sz="21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rPr>
            <a:t>抗菌抗炎</a:t>
          </a:r>
          <a:r>
            <a: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rPr>
            <a:t>：水杨酸能够抑制细菌代谢酶（如脱氢酶），阻断前列腺素合成通路，从而发挥抗菌和抗炎作用。</a:t>
          </a:r>
          <a:endParaRPr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27784" y="0"/>
        <a:ext cx="6079588" cy="1560105"/>
      </dsp:txXfrm>
    </dsp:sp>
    <dsp:sp modelId="{5A2FAD8C-FFA2-421D-A150-999BD7DA786C}">
      <dsp:nvSpPr>
        <dsp:cNvPr id="4" name="圆角矩形 3"/>
        <dsp:cNvSpPr/>
      </dsp:nvSpPr>
      <dsp:spPr bwMode="white">
        <a:xfrm>
          <a:off x="527740" y="1818438"/>
          <a:ext cx="6079588" cy="1560105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80010" tIns="80010" rIns="80010" bIns="80010" anchor="ctr"/>
        <a:lstStyle>
          <a:lvl1pPr algn="l">
            <a:defRPr sz="21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rPr>
            <a:t>角质调节</a:t>
          </a:r>
          <a:r>
            <a: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rPr>
            <a:t>：通过破坏角质细胞间的桥粒连接，促进角质层脱落，改善皮肤粗糙和暗沉。</a:t>
          </a:r>
          <a:endParaRPr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527740" y="1818438"/>
        <a:ext cx="6079588" cy="1560105"/>
      </dsp:txXfrm>
    </dsp:sp>
    <dsp:sp modelId="{8967BADA-1378-4671-9D41-7FE21FB2EA74}">
      <dsp:nvSpPr>
        <dsp:cNvPr id="5" name="圆角矩形 4"/>
        <dsp:cNvSpPr/>
      </dsp:nvSpPr>
      <dsp:spPr bwMode="white">
        <a:xfrm>
          <a:off x="1072868" y="3640246"/>
          <a:ext cx="6079588" cy="1560105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80010" tIns="80010" rIns="80010" bIns="80010" anchor="ctr"/>
        <a:lstStyle>
          <a:lvl1pPr algn="l">
            <a:defRPr sz="21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植物免疫</a:t>
          </a:r>
          <a:r>
            <a: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：在植物学中，水杨酸作为信号分子，可诱导植物产生系统获得性抗性（</a:t>
          </a:r>
          <a:r>
            <a:rPr lang="en-US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SAR</a:t>
          </a:r>
          <a:r>
            <a: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），抵御病原体侵袭。</a:t>
          </a:r>
          <a:endParaRPr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sp:txBody>
      <dsp:txXfrm>
        <a:off x="1072868" y="3640246"/>
        <a:ext cx="6079588" cy="1560105"/>
      </dsp:txXfrm>
    </dsp:sp>
    <dsp:sp modelId="{C1C98EB1-D382-4910-85DF-C981652F6204}">
      <dsp:nvSpPr>
        <dsp:cNvPr id="6" name="下箭头 5"/>
        <dsp:cNvSpPr/>
      </dsp:nvSpPr>
      <dsp:spPr bwMode="white">
        <a:xfrm>
          <a:off x="5065519" y="1183080"/>
          <a:ext cx="1014068" cy="1014068"/>
        </a:xfrm>
        <a:prstGeom prst="downArrow">
          <a:avLst>
            <a:gd name="adj1" fmla="val 55000"/>
            <a:gd name="adj2" fmla="val 45000"/>
          </a:avLst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53340" tIns="53340" rIns="53340" bIns="53340" anchor="ctr"/>
        <a:lstStyle>
          <a:lvl1pPr algn="ctr">
            <a:defRPr sz="4200"/>
          </a:lvl1pPr>
          <a:lvl2pPr marL="285750" indent="-285750" algn="ctr">
            <a:defRPr sz="3300"/>
          </a:lvl2pPr>
          <a:lvl3pPr marL="571500" indent="-285750" algn="ctr">
            <a:defRPr sz="3300"/>
          </a:lvl3pPr>
          <a:lvl4pPr marL="857250" indent="-285750" algn="ctr">
            <a:defRPr sz="3300"/>
          </a:lvl4pPr>
          <a:lvl5pPr marL="1143000" indent="-285750" algn="ctr">
            <a:defRPr sz="3300"/>
          </a:lvl5pPr>
          <a:lvl6pPr marL="1428750" indent="-285750" algn="ctr">
            <a:defRPr sz="3300"/>
          </a:lvl6pPr>
          <a:lvl7pPr marL="1714500" indent="-285750" algn="ctr">
            <a:defRPr sz="3300"/>
          </a:lvl7pPr>
          <a:lvl8pPr marL="2000250" indent="-285750" algn="ctr">
            <a:defRPr sz="3300"/>
          </a:lvl8pPr>
          <a:lvl9pPr marL="2286000" indent="-285750" algn="ctr">
            <a:defRPr sz="3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dk1"/>
            </a:solidFill>
          </a:endParaRPr>
        </a:p>
      </dsp:txBody>
      <dsp:txXfrm>
        <a:off x="5065519" y="1183080"/>
        <a:ext cx="1014068" cy="1014068"/>
      </dsp:txXfrm>
    </dsp:sp>
    <dsp:sp modelId="{3922CA2A-4392-471E-AD6E-2D8F56F65A90}">
      <dsp:nvSpPr>
        <dsp:cNvPr id="7" name="下箭头 6"/>
        <dsp:cNvSpPr/>
      </dsp:nvSpPr>
      <dsp:spPr bwMode="white">
        <a:xfrm>
          <a:off x="5601953" y="2992802"/>
          <a:ext cx="1014068" cy="1014068"/>
        </a:xfrm>
        <a:prstGeom prst="downArrow">
          <a:avLst>
            <a:gd name="adj1" fmla="val 55000"/>
            <a:gd name="adj2" fmla="val 45000"/>
          </a:avLst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53340" tIns="53340" rIns="53340" bIns="53340" anchor="ctr"/>
        <a:lstStyle>
          <a:lvl1pPr algn="ctr">
            <a:defRPr sz="4200"/>
          </a:lvl1pPr>
          <a:lvl2pPr marL="285750" indent="-285750" algn="ctr">
            <a:defRPr sz="3300"/>
          </a:lvl2pPr>
          <a:lvl3pPr marL="571500" indent="-285750" algn="ctr">
            <a:defRPr sz="3300"/>
          </a:lvl3pPr>
          <a:lvl4pPr marL="857250" indent="-285750" algn="ctr">
            <a:defRPr sz="3300"/>
          </a:lvl4pPr>
          <a:lvl5pPr marL="1143000" indent="-285750" algn="ctr">
            <a:defRPr sz="3300"/>
          </a:lvl5pPr>
          <a:lvl6pPr marL="1428750" indent="-285750" algn="ctr">
            <a:defRPr sz="3300"/>
          </a:lvl6pPr>
          <a:lvl7pPr marL="1714500" indent="-285750" algn="ctr">
            <a:defRPr sz="3300"/>
          </a:lvl7pPr>
          <a:lvl8pPr marL="2000250" indent="-285750" algn="ctr">
            <a:defRPr sz="3300"/>
          </a:lvl8pPr>
          <a:lvl9pPr marL="2286000" indent="-285750" algn="ctr">
            <a:defRPr sz="3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dk1"/>
            </a:solidFill>
          </a:endParaRPr>
        </a:p>
      </dsp:txBody>
      <dsp:txXfrm>
        <a:off x="5601953" y="2992802"/>
        <a:ext cx="1014068" cy="1014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4"/>
          <p:cNvSpPr txBox="1"/>
          <p:nvPr userDrawn="1"/>
        </p:nvSpPr>
        <p:spPr>
          <a:xfrm>
            <a:off x="4283075" y="333375"/>
            <a:ext cx="4392613" cy="565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0" algn="r" eaLnBrk="1" hangingPunct="1">
              <a:spcBef>
                <a:spcPct val="50000"/>
              </a:spcBef>
            </a:pPr>
            <a:r>
              <a:rPr lang="zh-CN" altLang="en-US" sz="1600" dirty="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华东理工大学</a:t>
            </a:r>
            <a:endParaRPr lang="zh-CN" altLang="en-US" sz="1600" dirty="0">
              <a:solidFill>
                <a:schemeClr val="bg2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lvl="0" algn="r" eaLnBrk="1" hangingPunct="1">
              <a:spcBef>
                <a:spcPct val="50000"/>
              </a:spcBef>
            </a:pPr>
            <a:r>
              <a:rPr lang="en-US" altLang="zh-CN" sz="1000" dirty="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East China University of Science And Technology</a:t>
            </a:r>
            <a:endParaRPr lang="en-US" altLang="zh-CN" sz="1000" dirty="0">
              <a:solidFill>
                <a:schemeClr val="bg2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08175" y="1916113"/>
            <a:ext cx="6840538" cy="1684337"/>
          </a:xfrm>
        </p:spPr>
        <p:txBody>
          <a:bodyPr/>
          <a:lstStyle>
            <a:lvl1pPr>
              <a:defRPr>
                <a:solidFill>
                  <a:srgbClr val="CC0000"/>
                </a:solidFill>
                <a:ea typeface="华文中宋" panose="02010600040101010101" pitchFamily="2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16238" y="4652963"/>
            <a:ext cx="5616575" cy="6477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800">
                <a:ea typeface="楷体_GB2312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835150" y="1600200"/>
            <a:ext cx="3349625" cy="4708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37175" y="1600200"/>
            <a:ext cx="3349625" cy="4708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73888" y="274638"/>
            <a:ext cx="1712912" cy="60340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835150" y="274638"/>
            <a:ext cx="4986338" cy="60340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35150" y="274638"/>
            <a:ext cx="685165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835150" y="1600200"/>
            <a:ext cx="3349625" cy="4708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337175" y="1600200"/>
            <a:ext cx="3349625" cy="22780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337175" y="4030663"/>
            <a:ext cx="3349625" cy="22780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4"/>
          <p:cNvSpPr txBox="1"/>
          <p:nvPr userDrawn="1"/>
        </p:nvSpPr>
        <p:spPr>
          <a:xfrm>
            <a:off x="4283075" y="333375"/>
            <a:ext cx="4392613" cy="565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0" algn="r" eaLnBrk="1" hangingPunct="1">
              <a:spcBef>
                <a:spcPct val="50000"/>
              </a:spcBef>
            </a:pPr>
            <a:r>
              <a:rPr lang="zh-CN" altLang="en-US" sz="1600" dirty="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华东理工大学</a:t>
            </a:r>
            <a:endParaRPr lang="zh-CN" altLang="en-US" sz="1600" dirty="0">
              <a:solidFill>
                <a:schemeClr val="bg2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lvl="0" algn="r" eaLnBrk="1" hangingPunct="1">
              <a:spcBef>
                <a:spcPct val="50000"/>
              </a:spcBef>
            </a:pPr>
            <a:r>
              <a:rPr lang="en-US" altLang="zh-CN" sz="1000" dirty="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East China University of Science And Technology</a:t>
            </a:r>
            <a:endParaRPr lang="en-US" altLang="zh-CN" sz="1000" dirty="0">
              <a:solidFill>
                <a:schemeClr val="bg2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08175" y="1916113"/>
            <a:ext cx="6840538" cy="1684337"/>
          </a:xfrm>
        </p:spPr>
        <p:txBody>
          <a:bodyPr/>
          <a:lstStyle>
            <a:lvl1pPr>
              <a:defRPr>
                <a:solidFill>
                  <a:srgbClr val="CC0000"/>
                </a:solidFill>
                <a:ea typeface="华文中宋" panose="02010600040101010101" pitchFamily="2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16238" y="4652963"/>
            <a:ext cx="5616575" cy="6477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800">
                <a:ea typeface="楷体_GB2312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835150" y="1600200"/>
            <a:ext cx="3349625" cy="4708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37175" y="1600200"/>
            <a:ext cx="3349625" cy="4708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73888" y="274638"/>
            <a:ext cx="1712912" cy="60340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835150" y="274638"/>
            <a:ext cx="4986338" cy="60340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35150" y="274638"/>
            <a:ext cx="685165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835150" y="1600200"/>
            <a:ext cx="3349625" cy="4708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337175" y="1600200"/>
            <a:ext cx="3349625" cy="22780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337175" y="4030663"/>
            <a:ext cx="3349625" cy="22780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1835150" y="274638"/>
            <a:ext cx="68516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1835150" y="1600200"/>
            <a:ext cx="6851650" cy="47085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000" b="1" kern="1200">
          <a:solidFill>
            <a:srgbClr val="003366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rgbClr val="003366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rgbClr val="003366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rgbClr val="003366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rgbClr val="003366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003366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003366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003366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003366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3200" b="1" kern="1200">
          <a:solidFill>
            <a:srgbClr val="003366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3200" b="1" kern="1200">
          <a:solidFill>
            <a:srgbClr val="003366"/>
          </a:solidFill>
          <a:latin typeface="+mn-lt"/>
          <a:ea typeface="楷体_GB2312" pitchFamily="49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3200" b="1" kern="1200">
          <a:solidFill>
            <a:srgbClr val="003366"/>
          </a:solidFill>
          <a:latin typeface="+mn-lt"/>
          <a:ea typeface="楷体_GB2312" pitchFamily="49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3200" b="1" kern="1200">
          <a:solidFill>
            <a:srgbClr val="003366"/>
          </a:solidFill>
          <a:latin typeface="+mn-lt"/>
          <a:ea typeface="楷体_GB2312" pitchFamily="49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3200" b="1" kern="1200">
          <a:solidFill>
            <a:srgbClr val="003366"/>
          </a:solidFill>
          <a:latin typeface="+mn-lt"/>
          <a:ea typeface="楷体_GB2312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1835150" y="274638"/>
            <a:ext cx="68516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1835150" y="1600200"/>
            <a:ext cx="6851650" cy="47085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000" b="1" kern="1200">
          <a:solidFill>
            <a:srgbClr val="003366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rgbClr val="003366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rgbClr val="003366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rgbClr val="003366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rgbClr val="003366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003366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003366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003366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003366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3200" b="1" kern="1200">
          <a:solidFill>
            <a:srgbClr val="003366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3200" b="1" kern="1200">
          <a:solidFill>
            <a:srgbClr val="003366"/>
          </a:solidFill>
          <a:latin typeface="+mn-lt"/>
          <a:ea typeface="楷体_GB2312" pitchFamily="49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3200" b="1" kern="1200">
          <a:solidFill>
            <a:srgbClr val="003366"/>
          </a:solidFill>
          <a:latin typeface="+mn-lt"/>
          <a:ea typeface="楷体_GB2312" pitchFamily="49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3200" b="1" kern="1200">
          <a:solidFill>
            <a:srgbClr val="003366"/>
          </a:solidFill>
          <a:latin typeface="+mn-lt"/>
          <a:ea typeface="楷体_GB2312" pitchFamily="49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3200" b="1" kern="1200">
          <a:solidFill>
            <a:srgbClr val="003366"/>
          </a:solidFill>
          <a:latin typeface="+mn-lt"/>
          <a:ea typeface="楷体_GB2312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/>
          </p:cNvSpPr>
          <p:nvPr>
            <p:ph type="ctrTitle"/>
          </p:nvPr>
        </p:nvSpPr>
        <p:spPr>
          <a:xfrm>
            <a:off x="685800" y="1557338"/>
            <a:ext cx="7772400" cy="1470025"/>
          </a:xfrm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水杨酸</a:t>
            </a:r>
            <a:endParaRPr lang="zh-CN" alt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8313" y="4076700"/>
            <a:ext cx="5327650" cy="1385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>
                <a:latin typeface="+mj-ea"/>
                <a:ea typeface="+mj-ea"/>
                <a:cs typeface="+mn-cs"/>
              </a:rPr>
              <a:t>PPT</a:t>
            </a:r>
            <a:r>
              <a:rPr kumimoji="0" lang="zh-CN" altLang="en-US" sz="2800" kern="1200" cap="none" spc="0" normalizeH="0" baseline="0" noProof="0">
                <a:latin typeface="+mj-ea"/>
                <a:ea typeface="+mj-ea"/>
                <a:cs typeface="+mn-cs"/>
              </a:rPr>
              <a:t>汇报：刘益帆</a:t>
            </a:r>
            <a:endParaRPr kumimoji="0" lang="en-US" altLang="zh-CN" sz="2800" kern="1200" cap="none" spc="0" normalizeH="0" baseline="0" noProof="0">
              <a:latin typeface="+mj-ea"/>
              <a:ea typeface="+mj-ea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>
                <a:latin typeface="+mj-ea"/>
                <a:ea typeface="+mj-ea"/>
                <a:cs typeface="+mn-cs"/>
              </a:rPr>
              <a:t>资料查找：沈汪华</a:t>
            </a:r>
            <a:endParaRPr kumimoji="0" lang="en-US" altLang="zh-CN" sz="2800" kern="1200" cap="none" spc="0" normalizeH="0" baseline="0" noProof="0">
              <a:latin typeface="+mj-ea"/>
              <a:ea typeface="+mj-ea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>
                <a:latin typeface="+mj-ea"/>
                <a:ea typeface="+mj-ea"/>
                <a:cs typeface="+mn-cs"/>
              </a:rPr>
              <a:t>PPT</a:t>
            </a:r>
            <a:r>
              <a:rPr kumimoji="0" lang="zh-CN" altLang="en-US" sz="2800" kern="1200" cap="none" spc="0" normalizeH="0" baseline="0" noProof="0">
                <a:latin typeface="+mj-ea"/>
                <a:ea typeface="+mj-ea"/>
                <a:cs typeface="+mn-cs"/>
              </a:rPr>
              <a:t>制作：王俊杰，谭嗣裕</a:t>
            </a:r>
            <a:endParaRPr kumimoji="0" lang="zh-CN" altLang="en-US" sz="2800" kern="1200" cap="none" spc="0" normalizeH="0" baseline="0" noProof="0"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文本框 1"/>
          <p:cNvSpPr txBox="1"/>
          <p:nvPr/>
        </p:nvSpPr>
        <p:spPr>
          <a:xfrm>
            <a:off x="2051050" y="692150"/>
            <a:ext cx="5473700" cy="1323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4000" dirty="0">
                <a:solidFill>
                  <a:schemeClr val="accent2"/>
                </a:solidFill>
                <a:latin typeface="Arial" panose="020B0604020202020204" pitchFamily="34" charset="0"/>
              </a:rPr>
              <a:t>目录</a:t>
            </a:r>
            <a:endParaRPr lang="en-US" altLang="zh-CN" sz="4000" dirty="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algn="ctr" eaLnBrk="1" hangingPunct="1"/>
            <a:r>
              <a:rPr lang="en-US" altLang="zh-CN" sz="4000" dirty="0">
                <a:solidFill>
                  <a:schemeClr val="accent2"/>
                </a:solidFill>
                <a:latin typeface="Arial" panose="020B0604020202020204" pitchFamily="34" charset="0"/>
              </a:rPr>
              <a:t>CONTENTS</a:t>
            </a:r>
            <a:endParaRPr lang="zh-CN" altLang="en-US" sz="40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1546225" y="2015490"/>
            <a:ext cx="6534785" cy="40830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  <a:tint val="66000"/>
                  <a:satMod val="160000"/>
                </a:schemeClr>
              </a:gs>
              <a:gs pos="50000">
                <a:schemeClr val="accent1">
                  <a:lumMod val="75000"/>
                  <a:tint val="44500"/>
                  <a:satMod val="160000"/>
                </a:schemeClr>
              </a:gs>
              <a:gs pos="100000">
                <a:schemeClr val="accent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100" name="文本框 3"/>
          <p:cNvSpPr txBox="1"/>
          <p:nvPr/>
        </p:nvSpPr>
        <p:spPr>
          <a:xfrm>
            <a:off x="2167255" y="2921000"/>
            <a:ext cx="2405380" cy="127508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eaLnBrk="1" hangingPunct="1"/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PART-01</a:t>
            </a:r>
            <a:endParaRPr lang="en-US" altLang="zh-CN"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/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认识水杨酸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01" name="文本框 4"/>
          <p:cNvSpPr txBox="1"/>
          <p:nvPr/>
        </p:nvSpPr>
        <p:spPr>
          <a:xfrm>
            <a:off x="4932045" y="2915920"/>
            <a:ext cx="1986915" cy="128016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eaLnBrk="1" hangingPunct="1"/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PART-02</a:t>
            </a:r>
            <a:endParaRPr lang="en-US" altLang="zh-CN"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/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合成方式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02" name="文本框 5"/>
          <p:cNvSpPr txBox="1"/>
          <p:nvPr/>
        </p:nvSpPr>
        <p:spPr>
          <a:xfrm>
            <a:off x="2167255" y="4295140"/>
            <a:ext cx="2004695" cy="130683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eaLnBrk="1" hangingPunct="1"/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PART-03</a:t>
            </a:r>
            <a:endParaRPr lang="en-US" altLang="zh-CN"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/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作用机制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03" name="文本框 6"/>
          <p:cNvSpPr txBox="1"/>
          <p:nvPr/>
        </p:nvSpPr>
        <p:spPr>
          <a:xfrm>
            <a:off x="4932045" y="4295140"/>
            <a:ext cx="1856105" cy="1522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eaLnBrk="1" hangingPunct="1"/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PART-04</a:t>
            </a:r>
            <a:endParaRPr lang="en-US" altLang="zh-CN"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/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护肤应用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slow"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24075" y="2199005"/>
            <a:ext cx="4934585" cy="2459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6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Part-01  </a:t>
            </a:r>
            <a:endParaRPr lang="en-US" altLang="zh-CN" sz="6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6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6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认识水杨酸</a:t>
            </a:r>
            <a:endParaRPr lang="zh-CN" altLang="en-US" sz="6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6"/>
          <p:cNvSpPr/>
          <p:nvPr/>
        </p:nvSpPr>
        <p:spPr>
          <a:xfrm>
            <a:off x="0" y="2413000"/>
            <a:ext cx="247650" cy="244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5123" name="Rectangle 7"/>
          <p:cNvSpPr/>
          <p:nvPr/>
        </p:nvSpPr>
        <p:spPr>
          <a:xfrm>
            <a:off x="0" y="2990850"/>
            <a:ext cx="247650" cy="244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5124" name="Rectangle 8"/>
          <p:cNvSpPr/>
          <p:nvPr/>
        </p:nvSpPr>
        <p:spPr>
          <a:xfrm>
            <a:off x="0" y="3530600"/>
            <a:ext cx="215900" cy="228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sz="900" dirty="0">
                <a:latin typeface="Arial" panose="020B0604020202020204" pitchFamily="34" charset="0"/>
              </a:rPr>
              <a:t>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5125" name="Rectangle 9"/>
          <p:cNvSpPr/>
          <p:nvPr/>
        </p:nvSpPr>
        <p:spPr>
          <a:xfrm>
            <a:off x="0" y="2436813"/>
            <a:ext cx="247650" cy="244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5126" name="Rectangle 10"/>
          <p:cNvSpPr/>
          <p:nvPr/>
        </p:nvSpPr>
        <p:spPr>
          <a:xfrm>
            <a:off x="0" y="3214688"/>
            <a:ext cx="247650" cy="244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5127" name="Rectangle 11"/>
          <p:cNvSpPr/>
          <p:nvPr/>
        </p:nvSpPr>
        <p:spPr>
          <a:xfrm>
            <a:off x="0" y="2436813"/>
            <a:ext cx="215900" cy="244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5128" name="Rectangle 12"/>
          <p:cNvSpPr/>
          <p:nvPr/>
        </p:nvSpPr>
        <p:spPr>
          <a:xfrm>
            <a:off x="0" y="3167063"/>
            <a:ext cx="279400" cy="244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5129" name="文本框 1"/>
          <p:cNvSpPr txBox="1"/>
          <p:nvPr/>
        </p:nvSpPr>
        <p:spPr>
          <a:xfrm>
            <a:off x="2124075" y="549275"/>
            <a:ext cx="4910455" cy="87820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eaLnBrk="1" hangingPunct="1"/>
            <a:r>
              <a:rPr lang="zh-CN" altLang="en-US" sz="3600" dirty="0">
                <a:solidFill>
                  <a:schemeClr val="accent2"/>
                </a:solidFill>
                <a:latin typeface="Arial" panose="020B0604020202020204" pitchFamily="34" charset="0"/>
              </a:rPr>
              <a:t>一、水杨酸的理化性质</a:t>
            </a:r>
            <a:endParaRPr lang="zh-CN" altLang="en-US" sz="36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5130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513" y="1743710"/>
            <a:ext cx="4560887" cy="1857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形 5" descr="原子 纯色填充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388" y="476568"/>
            <a:ext cx="914400" cy="914400"/>
          </a:xfrm>
          <a:prstGeom prst="rect">
            <a:avLst/>
          </a:prstGeom>
        </p:spPr>
      </p:pic>
      <p:sp>
        <p:nvSpPr>
          <p:cNvPr id="7" name="流程图: 可选过程 6"/>
          <p:cNvSpPr/>
          <p:nvPr/>
        </p:nvSpPr>
        <p:spPr>
          <a:xfrm>
            <a:off x="4860290" y="4149090"/>
            <a:ext cx="3718560" cy="156337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分子内氢键：羟基和羧基的邻位排列导致分子内氢键形成，使其沸点升高、水溶性降低（常温下微溶于水），并增强酸性（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pKa≈2.97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流程图: 可选过程 1"/>
          <p:cNvSpPr/>
          <p:nvPr/>
        </p:nvSpPr>
        <p:spPr>
          <a:xfrm>
            <a:off x="539750" y="4149090"/>
            <a:ext cx="3468370" cy="156337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分子量：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138.122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密度：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1.375g/cm</a:t>
            </a: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³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熔点：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158-161℃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沸点：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336.3℃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slow">
    <p:circl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Text Box 2"/>
          <p:cNvSpPr txBox="1"/>
          <p:nvPr/>
        </p:nvSpPr>
        <p:spPr>
          <a:xfrm>
            <a:off x="1979613" y="404813"/>
            <a:ext cx="369252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endParaRPr lang="zh-CN" altLang="en-US" sz="32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147" name="Rectangle 3"/>
          <p:cNvSpPr/>
          <p:nvPr/>
        </p:nvSpPr>
        <p:spPr>
          <a:xfrm>
            <a:off x="0" y="2917825"/>
            <a:ext cx="247650" cy="244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148" name="Rectangle 4"/>
          <p:cNvSpPr/>
          <p:nvPr/>
        </p:nvSpPr>
        <p:spPr>
          <a:xfrm>
            <a:off x="0" y="3495675"/>
            <a:ext cx="247650" cy="244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149" name="Rectangle 5"/>
          <p:cNvSpPr/>
          <p:nvPr/>
        </p:nvSpPr>
        <p:spPr>
          <a:xfrm>
            <a:off x="0" y="4035425"/>
            <a:ext cx="215900" cy="228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sz="900" dirty="0">
                <a:latin typeface="Arial" panose="020B0604020202020204" pitchFamily="34" charset="0"/>
              </a:rPr>
              <a:t>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150" name="Rectangle 9"/>
          <p:cNvSpPr/>
          <p:nvPr/>
        </p:nvSpPr>
        <p:spPr>
          <a:xfrm>
            <a:off x="0" y="24082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151" name="Rectangle 10"/>
          <p:cNvSpPr/>
          <p:nvPr/>
        </p:nvSpPr>
        <p:spPr>
          <a:xfrm>
            <a:off x="0" y="2941638"/>
            <a:ext cx="247650" cy="244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152" name="Rectangle 11"/>
          <p:cNvSpPr/>
          <p:nvPr/>
        </p:nvSpPr>
        <p:spPr>
          <a:xfrm>
            <a:off x="0" y="3719513"/>
            <a:ext cx="247650" cy="244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153" name="Rectangle 12"/>
          <p:cNvSpPr/>
          <p:nvPr/>
        </p:nvSpPr>
        <p:spPr>
          <a:xfrm>
            <a:off x="0" y="24558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154" name="Rectangle 13"/>
          <p:cNvSpPr/>
          <p:nvPr/>
        </p:nvSpPr>
        <p:spPr>
          <a:xfrm>
            <a:off x="0" y="2941638"/>
            <a:ext cx="215900" cy="244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155" name="Rectangle 14"/>
          <p:cNvSpPr/>
          <p:nvPr/>
        </p:nvSpPr>
        <p:spPr>
          <a:xfrm>
            <a:off x="0" y="3671888"/>
            <a:ext cx="279400" cy="244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2" name="流程图: 决策 1"/>
          <p:cNvSpPr/>
          <p:nvPr/>
        </p:nvSpPr>
        <p:spPr>
          <a:xfrm>
            <a:off x="1332230" y="1447800"/>
            <a:ext cx="2496185" cy="17145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溶解性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708025" y="3605848"/>
            <a:ext cx="3744913" cy="25971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水杨酸易溶于乙醇、乙醚、氯仿、苯、丙酮等有机溶剂，但在水中溶解度较低（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20℃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时溶解度仅为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0.2g/100ml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流程图: 决策 7"/>
          <p:cNvSpPr/>
          <p:nvPr/>
        </p:nvSpPr>
        <p:spPr>
          <a:xfrm>
            <a:off x="5743575" y="4364990"/>
            <a:ext cx="2555240" cy="171704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稳定性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流程图: 可选过程 8"/>
          <p:cNvSpPr/>
          <p:nvPr/>
        </p:nvSpPr>
        <p:spPr>
          <a:xfrm>
            <a:off x="5202238" y="908685"/>
            <a:ext cx="3636963" cy="2982913"/>
          </a:xfrm>
          <a:prstGeom prst="flowChartAlternate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水杨酸在较低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值（约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pH&lt;3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）时以游离分子态存在，具有较高的活性，能够深入皮肤发挥角质溶解和抗炎作用。当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升高时，主要以水杨酸盐（结晶）存在，水溶性增强，但脂溶性和渗透皮肤能力显著降低。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772410" y="2348865"/>
            <a:ext cx="3683000" cy="2226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Part-02  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合成方式</a:t>
            </a:r>
            <a:endParaRPr lang="zh-CN" altLang="en-US" sz="6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77415" y="548640"/>
            <a:ext cx="4789170" cy="868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>
                <a:latin typeface="微软雅黑" panose="020B0503020204020204" charset="-122"/>
                <a:ea typeface="微软雅黑" panose="020B0503020204020204" charset="-122"/>
              </a:rPr>
              <a:t>水杨酸的合成路线</a:t>
            </a:r>
            <a:endParaRPr lang="zh-CN" altLang="en-US" sz="4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750" y="2637155"/>
            <a:ext cx="6741160" cy="404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第一条合成路线可以由甲苯为原料合成水杨酸：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9750" y="4437380"/>
            <a:ext cx="6318885" cy="602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第二条合成路线是由苯酚为原料合成水杨酸：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 descr="微信图片_20251108182029_58_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5013325"/>
            <a:ext cx="7747000" cy="1005840"/>
          </a:xfrm>
          <a:prstGeom prst="rect">
            <a:avLst/>
          </a:prstGeom>
        </p:spPr>
      </p:pic>
      <p:pic>
        <p:nvPicPr>
          <p:cNvPr id="7" name="图片 6" descr="微信图片_20251108182356_59_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" y="3213100"/>
            <a:ext cx="7746365" cy="9899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83895" y="1772920"/>
            <a:ext cx="3048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一、人工合成</a:t>
            </a:r>
            <a:endParaRPr lang="zh-CN" altLang="en-US" sz="36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77415" y="332740"/>
            <a:ext cx="4789170" cy="868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>
                <a:latin typeface="微软雅黑" panose="020B0503020204020204" charset="-122"/>
                <a:ea typeface="微软雅黑" panose="020B0503020204020204" charset="-122"/>
              </a:rPr>
              <a:t>水杨酸的合成路线</a:t>
            </a:r>
            <a:endParaRPr lang="zh-CN" altLang="en-US" sz="4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692275" y="1268730"/>
            <a:ext cx="3048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二、生物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合成</a:t>
            </a:r>
            <a:endParaRPr lang="zh-CN" altLang="en-US" sz="3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28040" y="1844675"/>
            <a:ext cx="7601585" cy="1716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植物水杨酸合成途径中，异分支酸生成后只需两种蛋白即可生成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，分别为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EDS5+(ENHANCED DISEASE SUSCEPTIBILITY5)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PBS3(avrPphB SUSCEPTIBLE3)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EDS5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的功能是把异分支酸从质体转运到细胞质。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PBS3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是一种氨基转移酶，在它的催化作用下，异分支酸和谷氨酸生成一种之前未知的化合物异分支酸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谷氨酸加合物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(ISC-9-Glu)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，后者非常不稳定，可自发分解生成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。因此，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PBS3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是植物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生物合成途径中缺少的关键酶。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图片 10" descr="微信图片_20251108183851_3_1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0020" y="3573145"/>
            <a:ext cx="3612515" cy="3013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177415" y="332740"/>
            <a:ext cx="4789170" cy="868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>
                <a:latin typeface="微软雅黑" panose="020B0503020204020204" charset="-122"/>
                <a:ea typeface="微软雅黑" panose="020B0503020204020204" charset="-122"/>
              </a:rPr>
              <a:t>水杨酸的合成路线</a:t>
            </a:r>
            <a:endParaRPr lang="zh-CN" altLang="en-US" sz="4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35785" y="1341120"/>
            <a:ext cx="6772910" cy="840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除了常见的两种合成方式以及生物合成以外，近年来，学者发现了不同的方法来合成水杨酸及其衍生物。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4788535" y="2181860"/>
            <a:ext cx="3603625" cy="438975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一水硫酸氢钠和硫酸氢钾水溶液中的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HSO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₄⁻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电离后有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 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⁺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存在，所以它们的水溶液呈酸性，因而在酯的合成过程中具有良好的催化作用。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和甲醇为原料，分别在浓硫酸和硫酸氢钾的催化作用下合成水杨酸甲酯。结果表明，使用硫酸氢钾作催化剂，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n( SA) ∶ n(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甲醇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 1 ∶ 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，反应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 h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，所获得的水杨酸甲酯的收率较高，平均收率可以达到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70%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: 圆角 2"/>
          <p:cNvSpPr/>
          <p:nvPr/>
        </p:nvSpPr>
        <p:spPr>
          <a:xfrm>
            <a:off x="755650" y="2181860"/>
            <a:ext cx="3603625" cy="438975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采用自主设计合成的高效催化剂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催化超临界二氧化碳对苯酚区域选择性羧基化来合成水杨酸。实验以温室气体二氧化碳为原料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超临界二氧化碳既作为反应物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又作为溶剂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不仅减少了有机溶剂的使用而且改进了传统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Kolbe-Schmit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反应的两步法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在催化剂的作用下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一步直接合成水杨酸。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这种方法具有操作简单、反应条件温和、反应步骤少、产物单一、原料价廉易得、无毒无污染等诸多优点。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405380" y="2336165"/>
            <a:ext cx="4332605" cy="21856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Part-03</a:t>
            </a:r>
            <a:endParaRPr lang="en-US" altLang="zh-CN" sz="6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作用机制</a:t>
            </a:r>
            <a:endParaRPr lang="zh-CN" altLang="en-US" sz="6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ext Box 2"/>
          <p:cNvSpPr txBox="1"/>
          <p:nvPr/>
        </p:nvSpPr>
        <p:spPr>
          <a:xfrm>
            <a:off x="2545080" y="620713"/>
            <a:ext cx="4052888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作用机制</a:t>
            </a:r>
            <a:endParaRPr lang="zh-CN" altLang="en-US" sz="3600" b="1" dirty="0">
              <a:solidFill>
                <a:srgbClr val="00B05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7171" name="Rectangle 3"/>
          <p:cNvSpPr/>
          <p:nvPr/>
        </p:nvSpPr>
        <p:spPr>
          <a:xfrm>
            <a:off x="0" y="2917825"/>
            <a:ext cx="247650" cy="244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172" name="Rectangle 4"/>
          <p:cNvSpPr/>
          <p:nvPr/>
        </p:nvSpPr>
        <p:spPr>
          <a:xfrm>
            <a:off x="0" y="3495675"/>
            <a:ext cx="247650" cy="244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173" name="Rectangle 5"/>
          <p:cNvSpPr/>
          <p:nvPr/>
        </p:nvSpPr>
        <p:spPr>
          <a:xfrm>
            <a:off x="0" y="4035425"/>
            <a:ext cx="215900" cy="228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sz="900" dirty="0">
                <a:latin typeface="Arial" panose="020B0604020202020204" pitchFamily="34" charset="0"/>
              </a:rPr>
              <a:t>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174" name="Rectangle 6"/>
          <p:cNvSpPr/>
          <p:nvPr/>
        </p:nvSpPr>
        <p:spPr>
          <a:xfrm>
            <a:off x="0" y="24082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175" name="Rectangle 7"/>
          <p:cNvSpPr/>
          <p:nvPr/>
        </p:nvSpPr>
        <p:spPr>
          <a:xfrm>
            <a:off x="0" y="2941638"/>
            <a:ext cx="247650" cy="244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176" name="Rectangle 8"/>
          <p:cNvSpPr/>
          <p:nvPr/>
        </p:nvSpPr>
        <p:spPr>
          <a:xfrm>
            <a:off x="0" y="3719513"/>
            <a:ext cx="247650" cy="244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177" name="Rectangle 12"/>
          <p:cNvSpPr/>
          <p:nvPr/>
        </p:nvSpPr>
        <p:spPr>
          <a:xfrm>
            <a:off x="0" y="2941638"/>
            <a:ext cx="215900" cy="244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178" name="Rectangle 13"/>
          <p:cNvSpPr/>
          <p:nvPr/>
        </p:nvSpPr>
        <p:spPr>
          <a:xfrm>
            <a:off x="0" y="3671888"/>
            <a:ext cx="279400" cy="244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1835696" y="1363812"/>
          <a:ext cx="7152456" cy="52003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 spd="slow">
    <p:dissolv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503805" y="2348865"/>
            <a:ext cx="4136390" cy="2249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Part-04</a:t>
            </a:r>
            <a:endParaRPr lang="en-US" altLang="zh-CN" sz="6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护肤应用</a:t>
            </a:r>
            <a:endParaRPr lang="zh-CN" altLang="en-US" sz="6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椭圆 1"/>
          <p:cNvSpPr/>
          <p:nvPr/>
        </p:nvSpPr>
        <p:spPr>
          <a:xfrm>
            <a:off x="3262313" y="116840"/>
            <a:ext cx="2952750" cy="12239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护肤应用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750" y="1988820"/>
            <a:ext cx="7757160" cy="2282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头皮屑生成的主要原因有马拉色菌的异常增殖、皮脂分泌异常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。目前市面上的洗发水主要是通过添加抗真菌剂来达到去屑的效果。常见的去屑成分有水杨酸、吡硫翁锌、二硫化硒、酮康唑、吡罗克酮乙醇胺盐、氯咪巴唑等。研究发现，大部分抗真菌剂为化学合成，存在刺激性、耐药性和副作用等问题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 descr="微信图片_20251108204129_68_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140" y="3501390"/>
            <a:ext cx="7296150" cy="29489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907540" y="1412875"/>
            <a:ext cx="5820410" cy="450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一、水杨酸在洗发水领域的应用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>
    <p:check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椭圆 1"/>
          <p:cNvSpPr/>
          <p:nvPr/>
        </p:nvSpPr>
        <p:spPr>
          <a:xfrm>
            <a:off x="3262313" y="116840"/>
            <a:ext cx="2952750" cy="12239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护肤应用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64030" y="1412875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一、水杨酸在洗发水领域的应用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矩形: 圆角 2"/>
          <p:cNvSpPr/>
          <p:nvPr/>
        </p:nvSpPr>
        <p:spPr>
          <a:xfrm>
            <a:off x="1052830" y="2061210"/>
            <a:ext cx="7372350" cy="443611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  <a:tint val="66000"/>
                  <a:satMod val="160000"/>
                </a:schemeClr>
              </a:gs>
              <a:gs pos="50000">
                <a:schemeClr val="accent1">
                  <a:lumMod val="75000"/>
                  <a:tint val="44500"/>
                  <a:satMod val="160000"/>
                </a:schemeClr>
              </a:gs>
              <a:gs pos="100000">
                <a:schemeClr val="accent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随着大众对健康的需求越来越高，消费者更倾向使用温和、安全、去屑效果良好的去屑产品。水杨酸作用温和，刺激性低，符合化妆品安全规范，可同时用于药用和日常洗护产品，应用更广泛。研究发现，水杨酸对微生物具有良好的抗菌效果，可用于治疗皮肤真菌性疾病，如脂溢性皮炎，真菌感染等，并常在化妆品中作为角质去除剂使用。因而，水杨酸凭借其较高的安全性，成为</a:t>
            </a:r>
            <a:r>
              <a:rPr lang="zh-CN" altLang="en-US" sz="1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当下去屑洗发水领域备受关注的研究热点之一。</a:t>
            </a:r>
            <a:endParaRPr lang="zh-CN" altLang="en-US" sz="1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1800">
              <a:solidFill>
                <a:schemeClr val="tx1"/>
              </a:solidFill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椭圆 1"/>
          <p:cNvSpPr/>
          <p:nvPr/>
        </p:nvSpPr>
        <p:spPr>
          <a:xfrm>
            <a:off x="3262313" y="116840"/>
            <a:ext cx="2952750" cy="12239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护肤应用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64030" y="1484630"/>
            <a:ext cx="6297295" cy="40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二、超分子水杨酸在治疗冲任性痤疮的应用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: 圆角 3"/>
          <p:cNvSpPr/>
          <p:nvPr/>
        </p:nvSpPr>
        <p:spPr>
          <a:xfrm>
            <a:off x="612140" y="2204720"/>
            <a:ext cx="3827780" cy="41275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痤疮（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Acne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）是世界上最常见的皮肤病之一，中国痤疮发病率为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8.1%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痤疮是毛囊皮脂腺单位的慢性炎症性皮肤病，主要表现为丘疹、结节、囊肿等皮损，发病部位主要为颜面、胸背部等皮脂分泌旺盛部位。痤疮的发病机制尚不清楚，主要与遗传、毛囊管口角化异常、激素、微生物定植等多种因素相关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: 圆角 3"/>
          <p:cNvSpPr/>
          <p:nvPr/>
        </p:nvSpPr>
        <p:spPr>
          <a:xfrm>
            <a:off x="4644390" y="2204720"/>
            <a:ext cx="3827780" cy="41275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中医疗法是古今治疗痤疮的有效手段，中医治疗冲任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失调型痤疮具有一定的优势，不仅可以改善痤疮皮损，还可以根据患者个体情况辨证论治，缓解患者所伴随的情志不畅、月经不调等其他症状。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椭圆 1"/>
          <p:cNvSpPr/>
          <p:nvPr/>
        </p:nvSpPr>
        <p:spPr>
          <a:xfrm>
            <a:off x="3262313" y="116840"/>
            <a:ext cx="2952750" cy="12239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护肤应用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64030" y="1484630"/>
            <a:ext cx="6297295" cy="40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二、超分子水杨酸在治疗冲任性痤疮的应用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1460" y="2132965"/>
            <a:ext cx="3821430" cy="4241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超分子水杨酸治疗是近年来新兴起的痤疮外治法，主要是利用化学剥脱法改善痤疮皮损，新型超分子水杨酸改良了传统水杨酸难溶于水的缺点，减轻了对于皮肤的刺激，提高了治疗效果，不仅可以治疗痤疮，还可以改善痤疮炎症后色素沉着，使皮肤光滑细腻，为治疗痤疮提供了新选择、新思路。本研究采用中西医结合疗法治疗女性冲任失调型痤疮，旨在安全有效地缓解痤疮病情的同时缩短治疗周期，改善女性痤疮患者面部皮肤状态，缓解患者痤疮伴发的全身症状，减轻患者对于容貌受损的焦虑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 descr="微信图片_20251108205420_6_1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6055" y="2132965"/>
            <a:ext cx="4835525" cy="41630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95830" y="2637155"/>
            <a:ext cx="5380990" cy="1443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8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感谢</a:t>
            </a:r>
            <a:r>
              <a:rPr lang="zh-CN" altLang="en-US" sz="8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聆听！</a:t>
            </a:r>
            <a:endParaRPr lang="zh-CN" altLang="en-US" sz="80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2045</Words>
  <Application>WPS 演示</Application>
  <PresentationFormat>全屏显示(4:3)</PresentationFormat>
  <Paragraphs>148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宋体</vt:lpstr>
      <vt:lpstr>Wingdings</vt:lpstr>
      <vt:lpstr>黑体</vt:lpstr>
      <vt:lpstr>楷体_GB2312</vt:lpstr>
      <vt:lpstr>新宋体</vt:lpstr>
      <vt:lpstr>华文中宋</vt:lpstr>
      <vt:lpstr>微软雅黑</vt:lpstr>
      <vt:lpstr>Times New Roman</vt:lpstr>
      <vt:lpstr>Arial Unicode MS</vt:lpstr>
      <vt:lpstr>Calibri</vt:lpstr>
      <vt:lpstr>默认设计模板</vt:lpstr>
      <vt:lpstr>1_默认设计模板</vt:lpstr>
      <vt:lpstr>水杨酸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Royalluo</dc:creator>
  <cp:lastModifiedBy>一只帅青春</cp:lastModifiedBy>
  <cp:revision>419</cp:revision>
  <dcterms:created xsi:type="dcterms:W3CDTF">2007-01-09T04:58:00Z</dcterms:created>
  <dcterms:modified xsi:type="dcterms:W3CDTF">2025-11-09T06:45:01Z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1B0598C4FAA444AB9F672F90F6A39990_12</vt:lpwstr>
  </property>
  <property fmtid="{D5CDD505-2E9C-101B-9397-08002B2CF9AE}" pid="3" name="KSOProductBuildVer">
    <vt:lpwstr>2052-12.1.0.23125</vt:lpwstr>
  </property>
</Properties>
</file>