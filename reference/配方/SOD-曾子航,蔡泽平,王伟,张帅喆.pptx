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64" r:id="rId5"/>
    <p:sldId id="265" r:id="rId6"/>
    <p:sldId id="286" r:id="rId7"/>
    <p:sldId id="287" r:id="rId8"/>
    <p:sldId id="261" r:id="rId9"/>
    <p:sldId id="272" r:id="rId10"/>
    <p:sldId id="288" r:id="rId11"/>
    <p:sldId id="268" r:id="rId12"/>
    <p:sldId id="282" r:id="rId13"/>
    <p:sldId id="289" r:id="rId14"/>
    <p:sldId id="273" r:id="rId15"/>
    <p:sldId id="285"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96" y="7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2025/11/19</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6.jpeg"/><Relationship Id="rId2" Type="http://schemas.openxmlformats.org/officeDocument/2006/relationships/image" Target="../media/image9.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BA66E8A-F75C-4D79-B9EF-BE6528ECD02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grpSp>
        <p:nvGrpSpPr>
          <p:cNvPr id="6" name="组合 5">
            <a:extLst>
              <a:ext uri="{FF2B5EF4-FFF2-40B4-BE49-F238E27FC236}">
                <a16:creationId xmlns:a16="http://schemas.microsoft.com/office/drawing/2014/main" id="{E71C72EA-5EE4-41CC-8235-A4DCE83943AC}"/>
              </a:ext>
            </a:extLst>
          </p:cNvPr>
          <p:cNvGrpSpPr/>
          <p:nvPr/>
        </p:nvGrpSpPr>
        <p:grpSpPr>
          <a:xfrm>
            <a:off x="1157382" y="2750545"/>
            <a:ext cx="9877236" cy="2618356"/>
            <a:chOff x="1157382" y="2149751"/>
            <a:chExt cx="9877236" cy="2618356"/>
          </a:xfrm>
        </p:grpSpPr>
        <p:sp>
          <p:nvSpPr>
            <p:cNvPr id="7" name="文本框 6">
              <a:extLst>
                <a:ext uri="{FF2B5EF4-FFF2-40B4-BE49-F238E27FC236}">
                  <a16:creationId xmlns:a16="http://schemas.microsoft.com/office/drawing/2014/main" id="{6AB09275-41A9-4217-A15F-40360F32CFF3}"/>
                </a:ext>
              </a:extLst>
            </p:cNvPr>
            <p:cNvSpPr txBox="1"/>
            <p:nvPr/>
          </p:nvSpPr>
          <p:spPr>
            <a:xfrm>
              <a:off x="3792324" y="2149751"/>
              <a:ext cx="4607352" cy="1356910"/>
            </a:xfrm>
            <a:prstGeom prst="rect">
              <a:avLst/>
            </a:prstGeom>
            <a:noFill/>
          </p:spPr>
          <p:txBody>
            <a:bodyPr wrap="none" rtlCol="0">
              <a:spAutoFit/>
            </a:bodyPr>
            <a:lstStyle/>
            <a:p>
              <a:pPr algn="ctr">
                <a:lnSpc>
                  <a:spcPct val="125000"/>
                </a:lnSpc>
              </a:pPr>
              <a:r>
                <a:rPr lang="en-US" altLang="zh-CN" sz="7200" b="1" dirty="0">
                  <a:solidFill>
                    <a:schemeClr val="bg1"/>
                  </a:solidFill>
                  <a:latin typeface="Calibri" panose="020F0502020204030204" pitchFamily="34" charset="0"/>
                  <a:ea typeface="Calibri" panose="020F0502020204030204" pitchFamily="34" charset="0"/>
                  <a:cs typeface="Calibri" panose="020F0502020204030204" pitchFamily="34" charset="0"/>
                </a:rPr>
                <a:t>SOD</a:t>
              </a:r>
              <a:r>
                <a:rPr lang="zh-CN" altLang="en-US" sz="7200" b="1" dirty="0">
                  <a:solidFill>
                    <a:schemeClr val="bg1"/>
                  </a:solidFill>
                  <a:latin typeface="黑体" panose="02010609060101010101" pitchFamily="49" charset="-122"/>
                  <a:ea typeface="黑体" panose="02010609060101010101" pitchFamily="49" charset="-122"/>
                </a:rPr>
                <a:t>的奥秘</a:t>
              </a:r>
            </a:p>
          </p:txBody>
        </p:sp>
        <p:cxnSp>
          <p:nvCxnSpPr>
            <p:cNvPr id="8" name="直接连接符 7">
              <a:extLst>
                <a:ext uri="{FF2B5EF4-FFF2-40B4-BE49-F238E27FC236}">
                  <a16:creationId xmlns:a16="http://schemas.microsoft.com/office/drawing/2014/main" id="{C9E65C4A-327E-4AE2-A7F4-6AEE24752EB3}"/>
                </a:ext>
              </a:extLst>
            </p:cNvPr>
            <p:cNvCxnSpPr/>
            <p:nvPr/>
          </p:nvCxnSpPr>
          <p:spPr>
            <a:xfrm>
              <a:off x="1157382" y="3476278"/>
              <a:ext cx="98772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61C5DC68-5B1B-4C48-A84E-03F3C73A2E6D}"/>
                </a:ext>
              </a:extLst>
            </p:cNvPr>
            <p:cNvSpPr txBox="1"/>
            <p:nvPr/>
          </p:nvSpPr>
          <p:spPr>
            <a:xfrm>
              <a:off x="4593030" y="3548286"/>
              <a:ext cx="3005951" cy="1219821"/>
            </a:xfrm>
            <a:prstGeom prst="rect">
              <a:avLst/>
            </a:prstGeom>
            <a:noFill/>
          </p:spPr>
          <p:txBody>
            <a:bodyPr wrap="none" rtlCol="0">
              <a:spAutoFit/>
            </a:bodyPr>
            <a:lstStyle/>
            <a:p>
              <a:pPr algn="ctr">
                <a:lnSpc>
                  <a:spcPct val="126000"/>
                </a:lnSpc>
              </a:pPr>
              <a:r>
                <a:rPr lang="zh-CN" altLang="en-US" sz="2000" b="1" dirty="0">
                  <a:solidFill>
                    <a:schemeClr val="bg1"/>
                  </a:solidFill>
                  <a:latin typeface="微软雅黑" panose="020B0503020204020204" pitchFamily="34" charset="-122"/>
                  <a:ea typeface="微软雅黑" panose="020B0503020204020204" pitchFamily="34" charset="-122"/>
                </a:rPr>
                <a:t>汇报人：曾子航</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lnSpc>
                  <a:spcPct val="126000"/>
                </a:lnSpc>
              </a:pPr>
              <a:r>
                <a:rPr lang="zh-CN" altLang="en-US" sz="2000" b="1" dirty="0">
                  <a:solidFill>
                    <a:schemeClr val="bg1"/>
                  </a:solidFill>
                  <a:latin typeface="微软雅黑" panose="020B0503020204020204" pitchFamily="34" charset="-122"/>
                  <a:ea typeface="微软雅黑" panose="020B0503020204020204" pitchFamily="34" charset="-122"/>
                </a:rPr>
                <a:t>资料收集：蔡泽平、王伟</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lnSpc>
                  <a:spcPct val="126000"/>
                </a:lnSpc>
              </a:pPr>
              <a:r>
                <a:rPr lang="en-US" altLang="zh-CN" sz="2000" b="1" dirty="0">
                  <a:solidFill>
                    <a:schemeClr val="bg1"/>
                  </a:solidFill>
                  <a:latin typeface="微软雅黑" panose="020B0503020204020204" pitchFamily="34" charset="-122"/>
                  <a:ea typeface="微软雅黑" panose="020B0503020204020204" pitchFamily="34" charset="-122"/>
                </a:rPr>
                <a:t>PPT</a:t>
              </a:r>
              <a:r>
                <a:rPr lang="zh-CN" altLang="en-US" sz="2000" b="1" dirty="0">
                  <a:solidFill>
                    <a:schemeClr val="bg1"/>
                  </a:solidFill>
                  <a:latin typeface="微软雅黑" panose="020B0503020204020204" pitchFamily="34" charset="-122"/>
                  <a:ea typeface="微软雅黑" panose="020B0503020204020204" pitchFamily="34" charset="-122"/>
                </a:rPr>
                <a:t>：张帅喆</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grpSp>
      <p:grpSp>
        <p:nvGrpSpPr>
          <p:cNvPr id="16" name="组合 15">
            <a:extLst>
              <a:ext uri="{FF2B5EF4-FFF2-40B4-BE49-F238E27FC236}">
                <a16:creationId xmlns:a16="http://schemas.microsoft.com/office/drawing/2014/main" id="{E5A917EE-AE33-4A6E-8E0A-9F4911F098DB}"/>
              </a:ext>
            </a:extLst>
          </p:cNvPr>
          <p:cNvGrpSpPr/>
          <p:nvPr/>
        </p:nvGrpSpPr>
        <p:grpSpPr>
          <a:xfrm>
            <a:off x="3205200" y="814831"/>
            <a:ext cx="5971514" cy="1542418"/>
            <a:chOff x="3371204" y="663706"/>
            <a:chExt cx="5971514" cy="1542418"/>
          </a:xfrm>
        </p:grpSpPr>
        <p:pic>
          <p:nvPicPr>
            <p:cNvPr id="12" name="图片 11">
              <a:extLst>
                <a:ext uri="{FF2B5EF4-FFF2-40B4-BE49-F238E27FC236}">
                  <a16:creationId xmlns:a16="http://schemas.microsoft.com/office/drawing/2014/main" id="{58346B50-5B82-486E-A7A1-3E392A9506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50025" y="894576"/>
              <a:ext cx="4010022" cy="766728"/>
            </a:xfrm>
            <a:prstGeom prst="rect">
              <a:avLst/>
            </a:prstGeom>
          </p:spPr>
        </p:pic>
        <p:pic>
          <p:nvPicPr>
            <p:cNvPr id="14" name="图片 13">
              <a:extLst>
                <a:ext uri="{FF2B5EF4-FFF2-40B4-BE49-F238E27FC236}">
                  <a16:creationId xmlns:a16="http://schemas.microsoft.com/office/drawing/2014/main" id="{64D935E8-5D04-4351-A4FF-D705CFC222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5" name="矩形 14">
              <a:extLst>
                <a:ext uri="{FF2B5EF4-FFF2-40B4-BE49-F238E27FC236}">
                  <a16:creationId xmlns:a16="http://schemas.microsoft.com/office/drawing/2014/main" id="{1EB10568-1869-45A8-89F3-EA0A6BA99D3E}"/>
                </a:ext>
              </a:extLst>
            </p:cNvPr>
            <p:cNvSpPr/>
            <p:nvPr/>
          </p:nvSpPr>
          <p:spPr>
            <a:xfrm>
              <a:off x="5091170" y="1758228"/>
              <a:ext cx="4251548" cy="338554"/>
            </a:xfrm>
            <a:prstGeom prst="rect">
              <a:avLst/>
            </a:prstGeom>
          </p:spPr>
          <p:txBody>
            <a:bodyPr wrap="none">
              <a:spAutoFit/>
            </a:bodyPr>
            <a:lstStyle/>
            <a:p>
              <a:r>
                <a:rPr lang="en-US" altLang="zh-CN" sz="1600" b="1" dirty="0">
                  <a:solidFill>
                    <a:schemeClr val="bg1"/>
                  </a:solidFill>
                  <a:latin typeface="Calibri" panose="020F0502020204030204" pitchFamily="34" charset="0"/>
                  <a:ea typeface="Calibri" panose="020F0502020204030204" pitchFamily="34" charset="0"/>
                  <a:cs typeface="Calibri" panose="020F0502020204030204" pitchFamily="34" charset="0"/>
                </a:rPr>
                <a:t>East China University of Science and Technology</a:t>
              </a:r>
              <a:endParaRPr lang="zh-CN" altLang="en-US" sz="1600" b="1" dirty="0">
                <a:solidFill>
                  <a:schemeClr val="bg1"/>
                </a:solidFill>
                <a:latin typeface="Calibri" panose="020F0502020204030204" pitchFamily="34" charset="0"/>
                <a:cs typeface="Calibri" panose="020F0502020204030204" pitchFamily="34" charset="0"/>
              </a:endParaRPr>
            </a:p>
          </p:txBody>
        </p:sp>
      </p:grpSp>
      <p:grpSp>
        <p:nvGrpSpPr>
          <p:cNvPr id="20" name="组合 19">
            <a:extLst>
              <a:ext uri="{FF2B5EF4-FFF2-40B4-BE49-F238E27FC236}">
                <a16:creationId xmlns:a16="http://schemas.microsoft.com/office/drawing/2014/main" id="{29128864-2926-43BC-B908-A869E9660CFA}"/>
              </a:ext>
            </a:extLst>
          </p:cNvPr>
          <p:cNvGrpSpPr/>
          <p:nvPr/>
        </p:nvGrpSpPr>
        <p:grpSpPr>
          <a:xfrm>
            <a:off x="318625" y="5705603"/>
            <a:ext cx="2356623" cy="1061739"/>
            <a:chOff x="432111" y="5544277"/>
            <a:chExt cx="2356623" cy="1061739"/>
          </a:xfrm>
        </p:grpSpPr>
        <p:pic>
          <p:nvPicPr>
            <p:cNvPr id="18" name="图片 17">
              <a:extLst>
                <a:ext uri="{FF2B5EF4-FFF2-40B4-BE49-F238E27FC236}">
                  <a16:creationId xmlns:a16="http://schemas.microsoft.com/office/drawing/2014/main" id="{55861FE7-39BA-44B1-B46D-CE7F50138BA2}"/>
                </a:ext>
              </a:extLst>
            </p:cNvPr>
            <p:cNvPicPr>
              <a:picLocks noChangeAspect="1"/>
            </p:cNvPicPr>
            <p:nvPr/>
          </p:nvPicPr>
          <p:blipFill rotWithShape="1">
            <a:blip r:embed="rId6">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19" name="图片 18">
              <a:extLst>
                <a:ext uri="{FF2B5EF4-FFF2-40B4-BE49-F238E27FC236}">
                  <a16:creationId xmlns:a16="http://schemas.microsoft.com/office/drawing/2014/main" id="{67E16140-A986-4ED7-8B5B-36AA6C61AD56}"/>
                </a:ext>
              </a:extLst>
            </p:cNvPr>
            <p:cNvPicPr>
              <a:picLocks noChangeAspect="1"/>
            </p:cNvPicPr>
            <p:nvPr/>
          </p:nvPicPr>
          <p:blipFill rotWithShape="1">
            <a:blip r:embed="rId6">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spTree>
    <p:extLst>
      <p:ext uri="{BB962C8B-B14F-4D97-AF65-F5344CB8AC3E}">
        <p14:creationId xmlns:p14="http://schemas.microsoft.com/office/powerpoint/2010/main" val="83258310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D4F8CEF-2ABE-4A1C-9418-689F07A7CAA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椭圆 3">
            <a:extLst>
              <a:ext uri="{FF2B5EF4-FFF2-40B4-BE49-F238E27FC236}">
                <a16:creationId xmlns:a16="http://schemas.microsoft.com/office/drawing/2014/main" id="{852A2341-2E4A-4BF8-ACF2-52BD4F6772B2}"/>
              </a:ext>
            </a:extLst>
          </p:cNvPr>
          <p:cNvSpPr/>
          <p:nvPr/>
        </p:nvSpPr>
        <p:spPr>
          <a:xfrm>
            <a:off x="-935644" y="-11216520"/>
            <a:ext cx="13681520" cy="1368152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id="{82EA7D90-C370-4945-AD38-98B23FF8DBDC}"/>
              </a:ext>
            </a:extLst>
          </p:cNvPr>
          <p:cNvGrpSpPr/>
          <p:nvPr/>
        </p:nvGrpSpPr>
        <p:grpSpPr>
          <a:xfrm>
            <a:off x="4613290" y="260648"/>
            <a:ext cx="2583652" cy="1440160"/>
            <a:chOff x="4804174" y="81066"/>
            <a:chExt cx="2583652" cy="1440160"/>
          </a:xfrm>
        </p:grpSpPr>
        <p:sp>
          <p:nvSpPr>
            <p:cNvPr id="6" name="文本框 5"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4559907E-9ED3-4361-B6BE-CA803726000F}"/>
                </a:ext>
              </a:extLst>
            </p:cNvPr>
            <p:cNvSpPr txBox="1">
              <a:spLocks noChangeArrowheads="1"/>
            </p:cNvSpPr>
            <p:nvPr/>
          </p:nvSpPr>
          <p:spPr bwMode="auto">
            <a:xfrm>
              <a:off x="4804174" y="1059561"/>
              <a:ext cx="2583652" cy="46166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783" fontAlgn="base">
                <a:spcBef>
                  <a:spcPct val="0"/>
                </a:spcBef>
                <a:spcAft>
                  <a:spcPct val="0"/>
                </a:spcAft>
                <a:tabLst>
                  <a:tab pos="2865895" algn="l"/>
                </a:tabLst>
              </a:pPr>
              <a:r>
                <a:rPr lang="en-US" altLang="zh-CN" sz="2400" b="1" dirty="0">
                  <a:solidFill>
                    <a:srgbClr val="006393"/>
                  </a:solidFill>
                  <a:latin typeface="+mn-lt"/>
                  <a:ea typeface="微软雅黑"/>
                  <a:sym typeface="Calibri" panose="020F0502020204030204" pitchFamily="34" charset="0"/>
                </a:rPr>
                <a:t>CONTENTS</a:t>
              </a:r>
            </a:p>
          </p:txBody>
        </p:sp>
        <p:sp>
          <p:nvSpPr>
            <p:cNvPr id="7" name="文本框 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4C01C264-E1AC-4F08-9579-81AF4B48B416}"/>
                </a:ext>
              </a:extLst>
            </p:cNvPr>
            <p:cNvSpPr txBox="1">
              <a:spLocks noChangeArrowheads="1"/>
            </p:cNvSpPr>
            <p:nvPr/>
          </p:nvSpPr>
          <p:spPr bwMode="auto">
            <a:xfrm>
              <a:off x="4890870" y="81066"/>
              <a:ext cx="2410259" cy="92333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783" fontAlgn="base">
                <a:spcBef>
                  <a:spcPct val="0"/>
                </a:spcBef>
                <a:spcAft>
                  <a:spcPct val="0"/>
                </a:spcAft>
                <a:tabLst>
                  <a:tab pos="2865895" algn="l"/>
                </a:tabLst>
              </a:pPr>
              <a:r>
                <a:rPr lang="zh-CN" altLang="en-US" sz="5400" b="1" dirty="0">
                  <a:solidFill>
                    <a:srgbClr val="006393"/>
                  </a:solidFill>
                  <a:latin typeface="微软雅黑"/>
                  <a:ea typeface="微软雅黑"/>
                  <a:sym typeface="Calibri" panose="020F0502020204030204" pitchFamily="34" charset="0"/>
                </a:rPr>
                <a:t>目 录</a:t>
              </a:r>
              <a:endParaRPr lang="en-US" altLang="zh-CN" sz="5400" b="1" dirty="0">
                <a:solidFill>
                  <a:srgbClr val="006393"/>
                </a:solidFill>
                <a:latin typeface="微软雅黑"/>
                <a:ea typeface="微软雅黑"/>
                <a:sym typeface="Calibri" panose="020F0502020204030204" pitchFamily="34" charset="0"/>
              </a:endParaRPr>
            </a:p>
          </p:txBody>
        </p:sp>
        <p:cxnSp>
          <p:nvCxnSpPr>
            <p:cNvPr id="8" name="直接连接符 7">
              <a:extLst>
                <a:ext uri="{FF2B5EF4-FFF2-40B4-BE49-F238E27FC236}">
                  <a16:creationId xmlns:a16="http://schemas.microsoft.com/office/drawing/2014/main" id="{55C20F1A-6FD0-427C-9354-1C5B282FE1DD}"/>
                </a:ext>
              </a:extLst>
            </p:cNvPr>
            <p:cNvCxnSpPr/>
            <p:nvPr/>
          </p:nvCxnSpPr>
          <p:spPr>
            <a:xfrm>
              <a:off x="5245727" y="1010912"/>
              <a:ext cx="1699856" cy="0"/>
            </a:xfrm>
            <a:prstGeom prst="line">
              <a:avLst/>
            </a:prstGeom>
            <a:ln w="38100">
              <a:solidFill>
                <a:srgbClr val="006393"/>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4783F5A4-DA34-43CA-8286-F6EA4C212040}"/>
              </a:ext>
            </a:extLst>
          </p:cNvPr>
          <p:cNvGrpSpPr/>
          <p:nvPr/>
        </p:nvGrpSpPr>
        <p:grpSpPr>
          <a:xfrm>
            <a:off x="1047220" y="2663754"/>
            <a:ext cx="4544724" cy="855330"/>
            <a:chOff x="856120" y="2669246"/>
            <a:chExt cx="4544724" cy="855330"/>
          </a:xfrm>
        </p:grpSpPr>
        <p:sp>
          <p:nvSpPr>
            <p:cNvPr id="31" name="文本框 6">
              <a:extLst>
                <a:ext uri="{FF2B5EF4-FFF2-40B4-BE49-F238E27FC236}">
                  <a16:creationId xmlns:a16="http://schemas.microsoft.com/office/drawing/2014/main" id="{301D7B4A-CFDB-4921-822F-9086229496A8}"/>
                </a:ext>
              </a:extLst>
            </p:cNvPr>
            <p:cNvSpPr txBox="1">
              <a:spLocks noChangeArrowheads="1"/>
            </p:cNvSpPr>
            <p:nvPr/>
          </p:nvSpPr>
          <p:spPr bwMode="auto">
            <a:xfrm>
              <a:off x="1705521" y="2669246"/>
              <a:ext cx="29770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377" fontAlgn="base">
                <a:spcBef>
                  <a:spcPct val="0"/>
                </a:spcBef>
                <a:spcAft>
                  <a:spcPct val="0"/>
                </a:spcAft>
                <a:defRPr/>
              </a:pPr>
              <a:r>
                <a:rPr lang="en-US" altLang="zh-CN" sz="2800" b="1" dirty="0">
                  <a:solidFill>
                    <a:schemeClr val="bg1"/>
                  </a:solidFill>
                  <a:latin typeface="+mj-lt"/>
                  <a:ea typeface="微软雅黑"/>
                </a:rPr>
                <a:t>SOD</a:t>
              </a:r>
              <a:r>
                <a:rPr lang="zh-CN" altLang="en-US" sz="2800" b="1" dirty="0">
                  <a:solidFill>
                    <a:schemeClr val="bg1"/>
                  </a:solidFill>
                  <a:latin typeface="微软雅黑"/>
                  <a:ea typeface="微软雅黑"/>
                </a:rPr>
                <a:t>的介绍与分类</a:t>
              </a:r>
            </a:p>
          </p:txBody>
        </p:sp>
        <p:sp>
          <p:nvSpPr>
            <p:cNvPr id="32" name="矩形 31">
              <a:extLst>
                <a:ext uri="{FF2B5EF4-FFF2-40B4-BE49-F238E27FC236}">
                  <a16:creationId xmlns:a16="http://schemas.microsoft.com/office/drawing/2014/main" id="{27D01D85-A307-406F-A2FA-A131D608DA76}"/>
                </a:ext>
              </a:extLst>
            </p:cNvPr>
            <p:cNvSpPr/>
            <p:nvPr/>
          </p:nvSpPr>
          <p:spPr>
            <a:xfrm>
              <a:off x="1716822" y="3155244"/>
              <a:ext cx="3684022" cy="369332"/>
            </a:xfrm>
            <a:prstGeom prst="rect">
              <a:avLst/>
            </a:prstGeom>
          </p:spPr>
          <p:txBody>
            <a:bodyPr wrap="none">
              <a:spAutoFit/>
            </a:bodyPr>
            <a:lstStyle/>
            <a:p>
              <a:pPr algn="ctr" defTabSz="914377" fontAlgn="base">
                <a:spcBef>
                  <a:spcPct val="0"/>
                </a:spcBef>
                <a:spcAft>
                  <a:spcPct val="0"/>
                </a:spcAft>
                <a:defRPr/>
              </a:pPr>
              <a:r>
                <a:rPr lang="en-US" altLang="zh-CN" dirty="0">
                  <a:solidFill>
                    <a:schemeClr val="bg1"/>
                  </a:solidFill>
                  <a:latin typeface="Calibri Light" panose="020F0302020204030204" pitchFamily="34" charset="0"/>
                  <a:ea typeface="方正兰亭黑_GBK"/>
                </a:rPr>
                <a:t>Introduction and Classification of SOD</a:t>
              </a:r>
            </a:p>
          </p:txBody>
        </p:sp>
        <p:sp>
          <p:nvSpPr>
            <p:cNvPr id="33" name="椭圆 32">
              <a:extLst>
                <a:ext uri="{FF2B5EF4-FFF2-40B4-BE49-F238E27FC236}">
                  <a16:creationId xmlns:a16="http://schemas.microsoft.com/office/drawing/2014/main" id="{0E9E1D7E-49E2-4A9D-A5A6-A9485FEE874A}"/>
                </a:ext>
              </a:extLst>
            </p:cNvPr>
            <p:cNvSpPr/>
            <p:nvPr/>
          </p:nvSpPr>
          <p:spPr>
            <a:xfrm>
              <a:off x="856120" y="2700642"/>
              <a:ext cx="722490" cy="722490"/>
            </a:xfrm>
            <a:prstGeom prst="ellipse">
              <a:avLst/>
            </a:prstGeom>
            <a:solidFill>
              <a:schemeClr val="bg1"/>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006393"/>
                  </a:solidFill>
                  <a:effectLst/>
                  <a:uLnTx/>
                  <a:uFillTx/>
                  <a:latin typeface="微软雅黑" panose="020B0503020204020204" pitchFamily="34" charset="-122"/>
                  <a:ea typeface="微软雅黑" panose="020B0503020204020204" pitchFamily="34" charset="-122"/>
                </a:rPr>
                <a:t>1</a:t>
              </a:r>
              <a:endParaRPr kumimoji="0" lang="zh-CN" altLang="en-US" sz="3200" b="1" i="0" u="none" strike="noStrike" kern="0" cap="none" spc="0" normalizeH="0" baseline="0" noProof="0" dirty="0">
                <a:ln>
                  <a:noFill/>
                </a:ln>
                <a:solidFill>
                  <a:srgbClr val="006393"/>
                </a:solidFill>
                <a:effectLst/>
                <a:uLnTx/>
                <a:uFillTx/>
                <a:latin typeface="微软雅黑" panose="020B0503020204020204" pitchFamily="34" charset="-122"/>
                <a:ea typeface="微软雅黑" panose="020B0503020204020204" pitchFamily="34" charset="-122"/>
              </a:endParaRPr>
            </a:p>
          </p:txBody>
        </p:sp>
      </p:grpSp>
      <p:grpSp>
        <p:nvGrpSpPr>
          <p:cNvPr id="15" name="组合 14">
            <a:extLst>
              <a:ext uri="{FF2B5EF4-FFF2-40B4-BE49-F238E27FC236}">
                <a16:creationId xmlns:a16="http://schemas.microsoft.com/office/drawing/2014/main" id="{C9AD860C-1203-4E3D-B751-3DA4BE6452EA}"/>
              </a:ext>
            </a:extLst>
          </p:cNvPr>
          <p:cNvGrpSpPr/>
          <p:nvPr/>
        </p:nvGrpSpPr>
        <p:grpSpPr>
          <a:xfrm>
            <a:off x="1047220" y="4310762"/>
            <a:ext cx="4117884" cy="863723"/>
            <a:chOff x="856120" y="2669246"/>
            <a:chExt cx="4117884" cy="863723"/>
          </a:xfrm>
        </p:grpSpPr>
        <p:sp>
          <p:nvSpPr>
            <p:cNvPr id="28" name="文本框 6">
              <a:extLst>
                <a:ext uri="{FF2B5EF4-FFF2-40B4-BE49-F238E27FC236}">
                  <a16:creationId xmlns:a16="http://schemas.microsoft.com/office/drawing/2014/main" id="{2F402D32-8912-4886-868D-38C215699F24}"/>
                </a:ext>
              </a:extLst>
            </p:cNvPr>
            <p:cNvSpPr txBox="1">
              <a:spLocks noChangeArrowheads="1"/>
            </p:cNvSpPr>
            <p:nvPr/>
          </p:nvSpPr>
          <p:spPr bwMode="auto">
            <a:xfrm>
              <a:off x="1705521" y="2669246"/>
              <a:ext cx="29770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377" fontAlgn="base">
                <a:spcBef>
                  <a:spcPct val="0"/>
                </a:spcBef>
                <a:spcAft>
                  <a:spcPct val="0"/>
                </a:spcAft>
                <a:defRPr/>
              </a:pPr>
              <a:r>
                <a:rPr lang="en-US" altLang="zh-CN" sz="2800" b="1" dirty="0">
                  <a:solidFill>
                    <a:schemeClr val="bg1"/>
                  </a:solidFill>
                  <a:latin typeface="+mj-lt"/>
                  <a:ea typeface="微软雅黑"/>
                </a:rPr>
                <a:t>SOD</a:t>
              </a:r>
              <a:r>
                <a:rPr lang="zh-CN" altLang="en-US" sz="2800" b="1" dirty="0">
                  <a:solidFill>
                    <a:schemeClr val="bg1"/>
                  </a:solidFill>
                  <a:latin typeface="微软雅黑"/>
                  <a:ea typeface="微软雅黑"/>
                </a:rPr>
                <a:t>的制备与提升</a:t>
              </a:r>
            </a:p>
          </p:txBody>
        </p:sp>
        <p:sp>
          <p:nvSpPr>
            <p:cNvPr id="29" name="矩形 28">
              <a:extLst>
                <a:ext uri="{FF2B5EF4-FFF2-40B4-BE49-F238E27FC236}">
                  <a16:creationId xmlns:a16="http://schemas.microsoft.com/office/drawing/2014/main" id="{5E15373B-1657-4E42-A3B5-75B9DB6118D9}"/>
                </a:ext>
              </a:extLst>
            </p:cNvPr>
            <p:cNvSpPr/>
            <p:nvPr/>
          </p:nvSpPr>
          <p:spPr>
            <a:xfrm>
              <a:off x="1728436" y="3163637"/>
              <a:ext cx="3245568" cy="369332"/>
            </a:xfrm>
            <a:prstGeom prst="rect">
              <a:avLst/>
            </a:prstGeom>
          </p:spPr>
          <p:txBody>
            <a:bodyPr wrap="none">
              <a:spAutoFit/>
            </a:bodyPr>
            <a:lstStyle/>
            <a:p>
              <a:pPr algn="ctr" defTabSz="914377" fontAlgn="base">
                <a:spcBef>
                  <a:spcPct val="0"/>
                </a:spcBef>
                <a:spcAft>
                  <a:spcPct val="0"/>
                </a:spcAft>
                <a:defRPr/>
              </a:pPr>
              <a:r>
                <a:rPr lang="en-US" altLang="zh-CN" dirty="0">
                  <a:solidFill>
                    <a:schemeClr val="bg1"/>
                  </a:solidFill>
                  <a:latin typeface="Calibri Light" panose="020F0302020204030204" pitchFamily="34" charset="0"/>
                  <a:ea typeface="方正兰亭黑_GBK"/>
                </a:rPr>
                <a:t>Source and Enhancement of SOD</a:t>
              </a:r>
            </a:p>
          </p:txBody>
        </p:sp>
        <p:sp>
          <p:nvSpPr>
            <p:cNvPr id="30" name="椭圆 29">
              <a:extLst>
                <a:ext uri="{FF2B5EF4-FFF2-40B4-BE49-F238E27FC236}">
                  <a16:creationId xmlns:a16="http://schemas.microsoft.com/office/drawing/2014/main" id="{8F41B491-EB35-4ABF-B2C5-A393B6889320}"/>
                </a:ext>
              </a:extLst>
            </p:cNvPr>
            <p:cNvSpPr/>
            <p:nvPr/>
          </p:nvSpPr>
          <p:spPr>
            <a:xfrm>
              <a:off x="856120" y="2700642"/>
              <a:ext cx="722490" cy="722490"/>
            </a:xfrm>
            <a:prstGeom prst="ellipse">
              <a:avLst/>
            </a:prstGeom>
            <a:solidFill>
              <a:schemeClr val="bg1"/>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en-US" altLang="zh-CN" sz="3200" b="1" kern="0" dirty="0">
                  <a:solidFill>
                    <a:srgbClr val="006393"/>
                  </a:solidFill>
                  <a:latin typeface="微软雅黑" panose="020B0503020204020204" pitchFamily="34" charset="-122"/>
                  <a:ea typeface="微软雅黑" panose="020B0503020204020204" pitchFamily="34" charset="-122"/>
                </a:rPr>
                <a:t>3</a:t>
              </a:r>
              <a:endParaRPr kumimoji="0" lang="zh-CN" altLang="en-US" sz="3200" b="1" i="0" u="none" strike="noStrike" kern="0" cap="none" spc="0" normalizeH="0" baseline="0" noProof="0" dirty="0">
                <a:ln>
                  <a:noFill/>
                </a:ln>
                <a:solidFill>
                  <a:srgbClr val="006393"/>
                </a:solidFill>
                <a:effectLst/>
                <a:uLnTx/>
                <a:uFillTx/>
                <a:latin typeface="微软雅黑" panose="020B0503020204020204" pitchFamily="34" charset="-122"/>
                <a:ea typeface="微软雅黑" panose="020B0503020204020204" pitchFamily="34" charset="-122"/>
              </a:endParaRPr>
            </a:p>
          </p:txBody>
        </p:sp>
      </p:grpSp>
      <p:grpSp>
        <p:nvGrpSpPr>
          <p:cNvPr id="16" name="组合 15">
            <a:extLst>
              <a:ext uri="{FF2B5EF4-FFF2-40B4-BE49-F238E27FC236}">
                <a16:creationId xmlns:a16="http://schemas.microsoft.com/office/drawing/2014/main" id="{1488054C-3744-48EE-AD6D-78E9525654CC}"/>
              </a:ext>
            </a:extLst>
          </p:cNvPr>
          <p:cNvGrpSpPr/>
          <p:nvPr/>
        </p:nvGrpSpPr>
        <p:grpSpPr>
          <a:xfrm>
            <a:off x="6769577" y="2663754"/>
            <a:ext cx="4078951" cy="840920"/>
            <a:chOff x="856120" y="2669246"/>
            <a:chExt cx="4078951" cy="840920"/>
          </a:xfrm>
        </p:grpSpPr>
        <p:sp>
          <p:nvSpPr>
            <p:cNvPr id="25" name="文本框 6">
              <a:extLst>
                <a:ext uri="{FF2B5EF4-FFF2-40B4-BE49-F238E27FC236}">
                  <a16:creationId xmlns:a16="http://schemas.microsoft.com/office/drawing/2014/main" id="{BD144120-CA25-46FC-9484-CBC1EAE526D7}"/>
                </a:ext>
              </a:extLst>
            </p:cNvPr>
            <p:cNvSpPr txBox="1">
              <a:spLocks noChangeArrowheads="1"/>
            </p:cNvSpPr>
            <p:nvPr/>
          </p:nvSpPr>
          <p:spPr bwMode="auto">
            <a:xfrm>
              <a:off x="1705521" y="2669246"/>
              <a:ext cx="29770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377" fontAlgn="base">
                <a:spcBef>
                  <a:spcPct val="0"/>
                </a:spcBef>
                <a:spcAft>
                  <a:spcPct val="0"/>
                </a:spcAft>
                <a:defRPr/>
              </a:pPr>
              <a:r>
                <a:rPr lang="en-US" altLang="zh-CN" sz="2800" b="1" dirty="0">
                  <a:solidFill>
                    <a:schemeClr val="bg1"/>
                  </a:solidFill>
                  <a:latin typeface="Calibri" panose="020F0502020204030204" pitchFamily="34" charset="0"/>
                  <a:ea typeface="Calibri" panose="020F0502020204030204" pitchFamily="34" charset="0"/>
                  <a:cs typeface="Calibri" panose="020F0502020204030204" pitchFamily="34" charset="0"/>
                </a:rPr>
                <a:t>SOD</a:t>
              </a:r>
              <a:r>
                <a:rPr lang="zh-CN" altLang="en-US" sz="2800" b="1" dirty="0">
                  <a:solidFill>
                    <a:schemeClr val="bg1"/>
                  </a:solidFill>
                  <a:latin typeface="微软雅黑"/>
                  <a:ea typeface="微软雅黑"/>
                </a:rPr>
                <a:t>的功能与机理</a:t>
              </a:r>
            </a:p>
          </p:txBody>
        </p:sp>
        <p:sp>
          <p:nvSpPr>
            <p:cNvPr id="26" name="矩形 25">
              <a:extLst>
                <a:ext uri="{FF2B5EF4-FFF2-40B4-BE49-F238E27FC236}">
                  <a16:creationId xmlns:a16="http://schemas.microsoft.com/office/drawing/2014/main" id="{A13E593F-7780-46FC-8621-22CC202CD380}"/>
                </a:ext>
              </a:extLst>
            </p:cNvPr>
            <p:cNvSpPr/>
            <p:nvPr/>
          </p:nvSpPr>
          <p:spPr>
            <a:xfrm>
              <a:off x="1714318" y="3140834"/>
              <a:ext cx="3220753" cy="369332"/>
            </a:xfrm>
            <a:prstGeom prst="rect">
              <a:avLst/>
            </a:prstGeom>
          </p:spPr>
          <p:txBody>
            <a:bodyPr wrap="none">
              <a:spAutoFit/>
            </a:bodyPr>
            <a:lstStyle/>
            <a:p>
              <a:pPr algn="ctr" defTabSz="914377" fontAlgn="base">
                <a:spcBef>
                  <a:spcPct val="0"/>
                </a:spcBef>
                <a:spcAft>
                  <a:spcPct val="0"/>
                </a:spcAft>
                <a:defRPr/>
              </a:pPr>
              <a:r>
                <a:rPr lang="en-US" altLang="zh-CN" dirty="0">
                  <a:solidFill>
                    <a:schemeClr val="bg1"/>
                  </a:solidFill>
                  <a:latin typeface="Calibri Light" panose="020F0302020204030204" pitchFamily="34" charset="0"/>
                </a:rPr>
                <a:t>Function and Mechanism of SOD</a:t>
              </a:r>
            </a:p>
          </p:txBody>
        </p:sp>
        <p:sp>
          <p:nvSpPr>
            <p:cNvPr id="27" name="椭圆 26">
              <a:extLst>
                <a:ext uri="{FF2B5EF4-FFF2-40B4-BE49-F238E27FC236}">
                  <a16:creationId xmlns:a16="http://schemas.microsoft.com/office/drawing/2014/main" id="{344E5594-0CAD-4E67-888C-746D0456329D}"/>
                </a:ext>
              </a:extLst>
            </p:cNvPr>
            <p:cNvSpPr/>
            <p:nvPr/>
          </p:nvSpPr>
          <p:spPr>
            <a:xfrm>
              <a:off x="856120" y="2700642"/>
              <a:ext cx="722490" cy="722490"/>
            </a:xfrm>
            <a:prstGeom prst="ellipse">
              <a:avLst/>
            </a:prstGeom>
            <a:solidFill>
              <a:schemeClr val="bg1"/>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en-US" altLang="zh-CN" sz="3200" b="1" kern="0" dirty="0">
                  <a:solidFill>
                    <a:srgbClr val="006393"/>
                  </a:solidFill>
                  <a:latin typeface="微软雅黑" panose="020B0503020204020204" pitchFamily="34" charset="-122"/>
                  <a:ea typeface="微软雅黑" panose="020B0503020204020204" pitchFamily="34" charset="-122"/>
                </a:rPr>
                <a:t>2</a:t>
              </a:r>
              <a:endParaRPr kumimoji="0" lang="zh-CN" altLang="en-US" sz="3200" b="1" i="0" u="none" strike="noStrike" kern="0" cap="none" spc="0" normalizeH="0" baseline="0" noProof="0" dirty="0">
                <a:ln>
                  <a:noFill/>
                </a:ln>
                <a:solidFill>
                  <a:srgbClr val="006393"/>
                </a:solidFill>
                <a:effectLst/>
                <a:uLnTx/>
                <a:uFillTx/>
                <a:latin typeface="微软雅黑" panose="020B0503020204020204" pitchFamily="34" charset="-122"/>
                <a:ea typeface="微软雅黑" panose="020B0503020204020204" pitchFamily="34" charset="-122"/>
              </a:endParaRPr>
            </a:p>
          </p:txBody>
        </p:sp>
      </p:grpSp>
      <p:grpSp>
        <p:nvGrpSpPr>
          <p:cNvPr id="17" name="组合 16">
            <a:extLst>
              <a:ext uri="{FF2B5EF4-FFF2-40B4-BE49-F238E27FC236}">
                <a16:creationId xmlns:a16="http://schemas.microsoft.com/office/drawing/2014/main" id="{D3815361-C498-4457-A168-9E709735B6BB}"/>
              </a:ext>
            </a:extLst>
          </p:cNvPr>
          <p:cNvGrpSpPr/>
          <p:nvPr/>
        </p:nvGrpSpPr>
        <p:grpSpPr>
          <a:xfrm>
            <a:off x="6754255" y="4245792"/>
            <a:ext cx="3842039" cy="855330"/>
            <a:chOff x="164661" y="2669246"/>
            <a:chExt cx="3842039" cy="855330"/>
          </a:xfrm>
        </p:grpSpPr>
        <p:sp>
          <p:nvSpPr>
            <p:cNvPr id="22" name="文本框 6">
              <a:extLst>
                <a:ext uri="{FF2B5EF4-FFF2-40B4-BE49-F238E27FC236}">
                  <a16:creationId xmlns:a16="http://schemas.microsoft.com/office/drawing/2014/main" id="{CDDF4A52-E907-4EE7-AB47-CB50548C282C}"/>
                </a:ext>
              </a:extLst>
            </p:cNvPr>
            <p:cNvSpPr txBox="1">
              <a:spLocks noChangeArrowheads="1"/>
            </p:cNvSpPr>
            <p:nvPr/>
          </p:nvSpPr>
          <p:spPr bwMode="auto">
            <a:xfrm>
              <a:off x="1014062" y="2669246"/>
              <a:ext cx="26180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defTabSz="914377" fontAlgn="base">
                <a:spcBef>
                  <a:spcPct val="0"/>
                </a:spcBef>
                <a:spcAft>
                  <a:spcPct val="0"/>
                </a:spcAft>
                <a:defRPr/>
              </a:pPr>
              <a:r>
                <a:rPr lang="en-US" altLang="zh-CN" sz="2800" b="1" dirty="0">
                  <a:solidFill>
                    <a:schemeClr val="bg1"/>
                  </a:solidFill>
                  <a:latin typeface="+mj-lt"/>
                  <a:ea typeface="微软雅黑"/>
                </a:rPr>
                <a:t>SOD</a:t>
              </a:r>
              <a:r>
                <a:rPr lang="zh-CN" altLang="en-US" sz="2800" b="1" dirty="0">
                  <a:solidFill>
                    <a:schemeClr val="bg1"/>
                  </a:solidFill>
                  <a:latin typeface="微软雅黑"/>
                  <a:ea typeface="微软雅黑"/>
                </a:rPr>
                <a:t>的含量测定</a:t>
              </a:r>
            </a:p>
          </p:txBody>
        </p:sp>
        <p:sp>
          <p:nvSpPr>
            <p:cNvPr id="23" name="矩形 22">
              <a:extLst>
                <a:ext uri="{FF2B5EF4-FFF2-40B4-BE49-F238E27FC236}">
                  <a16:creationId xmlns:a16="http://schemas.microsoft.com/office/drawing/2014/main" id="{6BB9723A-D8C9-4F10-9821-2B287D74DECE}"/>
                </a:ext>
              </a:extLst>
            </p:cNvPr>
            <p:cNvSpPr/>
            <p:nvPr/>
          </p:nvSpPr>
          <p:spPr>
            <a:xfrm>
              <a:off x="1018574" y="3155244"/>
              <a:ext cx="2988126" cy="369332"/>
            </a:xfrm>
            <a:prstGeom prst="rect">
              <a:avLst/>
            </a:prstGeom>
          </p:spPr>
          <p:txBody>
            <a:bodyPr wrap="none">
              <a:spAutoFit/>
            </a:bodyPr>
            <a:lstStyle/>
            <a:p>
              <a:pPr algn="ctr" defTabSz="914377" fontAlgn="base">
                <a:spcBef>
                  <a:spcPct val="0"/>
                </a:spcBef>
                <a:spcAft>
                  <a:spcPct val="0"/>
                </a:spcAft>
                <a:defRPr/>
              </a:pPr>
              <a:r>
                <a:rPr lang="en-US" altLang="zh-CN" dirty="0">
                  <a:solidFill>
                    <a:schemeClr val="bg1"/>
                  </a:solidFill>
                  <a:latin typeface="Calibri Light" panose="020F0302020204030204" pitchFamily="34" charset="0"/>
                  <a:ea typeface="方正兰亭黑_GBK"/>
                </a:rPr>
                <a:t>Determination of SOD content</a:t>
              </a:r>
            </a:p>
          </p:txBody>
        </p:sp>
        <p:sp>
          <p:nvSpPr>
            <p:cNvPr id="24" name="椭圆 23">
              <a:extLst>
                <a:ext uri="{FF2B5EF4-FFF2-40B4-BE49-F238E27FC236}">
                  <a16:creationId xmlns:a16="http://schemas.microsoft.com/office/drawing/2014/main" id="{EA0C4967-0CC3-4828-8CA2-EDB0754DDE69}"/>
                </a:ext>
              </a:extLst>
            </p:cNvPr>
            <p:cNvSpPr/>
            <p:nvPr/>
          </p:nvSpPr>
          <p:spPr>
            <a:xfrm>
              <a:off x="164661" y="2700642"/>
              <a:ext cx="722490" cy="722490"/>
            </a:xfrm>
            <a:prstGeom prst="ellipse">
              <a:avLst/>
            </a:prstGeom>
            <a:solidFill>
              <a:schemeClr val="bg1"/>
            </a:solidFill>
            <a:ln w="1270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914377" eaLnBrk="1" fontAlgn="auto" latinLnBrk="0" hangingPunct="1">
                <a:lnSpc>
                  <a:spcPct val="100000"/>
                </a:lnSpc>
                <a:spcBef>
                  <a:spcPts val="0"/>
                </a:spcBef>
                <a:spcAft>
                  <a:spcPts val="0"/>
                </a:spcAft>
                <a:buClrTx/>
                <a:buSzTx/>
                <a:buFontTx/>
                <a:buNone/>
                <a:tabLst/>
                <a:defRPr/>
              </a:pPr>
              <a:r>
                <a:rPr lang="en-US" altLang="zh-CN" sz="3200" b="1" kern="0" dirty="0">
                  <a:solidFill>
                    <a:srgbClr val="006393"/>
                  </a:solidFill>
                  <a:latin typeface="微软雅黑" panose="020B0503020204020204" pitchFamily="34" charset="-122"/>
                  <a:ea typeface="微软雅黑" panose="020B0503020204020204" pitchFamily="34" charset="-122"/>
                </a:rPr>
                <a:t>4</a:t>
              </a:r>
              <a:endParaRPr kumimoji="0" lang="zh-CN" altLang="en-US" sz="3200" b="1" i="0" u="none" strike="noStrike" kern="0" cap="none" spc="0" normalizeH="0" baseline="0" noProof="0" dirty="0">
                <a:ln>
                  <a:noFill/>
                </a:ln>
                <a:solidFill>
                  <a:srgbClr val="006393"/>
                </a:solidFill>
                <a:effectLst/>
                <a:uLnTx/>
                <a:uFillTx/>
                <a:latin typeface="微软雅黑" panose="020B0503020204020204" pitchFamily="34" charset="-122"/>
                <a:ea typeface="微软雅黑" panose="020B0503020204020204" pitchFamily="34" charset="-122"/>
              </a:endParaRPr>
            </a:p>
          </p:txBody>
        </p:sp>
      </p:grpSp>
      <p:sp>
        <p:nvSpPr>
          <p:cNvPr id="34" name="文本框 33">
            <a:extLst>
              <a:ext uri="{FF2B5EF4-FFF2-40B4-BE49-F238E27FC236}">
                <a16:creationId xmlns:a16="http://schemas.microsoft.com/office/drawing/2014/main" id="{6EE10EDD-FA68-4840-9481-E0B218803786}"/>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solidFill>
              </a:rPr>
              <a:t>NOV. 25</a:t>
            </a:r>
            <a:r>
              <a:rPr lang="en-US" altLang="zh-CN" b="1" baseline="30000" dirty="0">
                <a:solidFill>
                  <a:schemeClr val="bg1"/>
                </a:solidFill>
              </a:rPr>
              <a:t>th</a:t>
            </a:r>
            <a:endParaRPr lang="zh-CN" altLang="en-US" b="1" baseline="30000" dirty="0">
              <a:solidFill>
                <a:schemeClr val="bg1"/>
              </a:solidFill>
            </a:endParaRPr>
          </a:p>
        </p:txBody>
      </p:sp>
      <p:grpSp>
        <p:nvGrpSpPr>
          <p:cNvPr id="35" name="组合 34">
            <a:extLst>
              <a:ext uri="{FF2B5EF4-FFF2-40B4-BE49-F238E27FC236}">
                <a16:creationId xmlns:a16="http://schemas.microsoft.com/office/drawing/2014/main" id="{E05676FD-F2F3-4718-887E-20656F61EAA1}"/>
              </a:ext>
            </a:extLst>
          </p:cNvPr>
          <p:cNvGrpSpPr/>
          <p:nvPr/>
        </p:nvGrpSpPr>
        <p:grpSpPr>
          <a:xfrm>
            <a:off x="335360" y="5819015"/>
            <a:ext cx="2356623" cy="1061739"/>
            <a:chOff x="432111" y="5544277"/>
            <a:chExt cx="2356623" cy="1061739"/>
          </a:xfrm>
        </p:grpSpPr>
        <p:pic>
          <p:nvPicPr>
            <p:cNvPr id="36" name="图片 35">
              <a:extLst>
                <a:ext uri="{FF2B5EF4-FFF2-40B4-BE49-F238E27FC236}">
                  <a16:creationId xmlns:a16="http://schemas.microsoft.com/office/drawing/2014/main" id="{99ACF11E-6B08-4E86-B38C-8711093E713E}"/>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37" name="图片 36">
              <a:extLst>
                <a:ext uri="{FF2B5EF4-FFF2-40B4-BE49-F238E27FC236}">
                  <a16:creationId xmlns:a16="http://schemas.microsoft.com/office/drawing/2014/main" id="{593B47CD-FF64-4C31-B7B7-FEA3132A6CF2}"/>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spTree>
    <p:extLst>
      <p:ext uri="{BB962C8B-B14F-4D97-AF65-F5344CB8AC3E}">
        <p14:creationId xmlns:p14="http://schemas.microsoft.com/office/powerpoint/2010/main" val="985432186"/>
      </p:ext>
    </p:extLst>
  </p:cSld>
  <p:clrMapOvr>
    <a:masterClrMapping/>
  </p:clrMapOvr>
  <mc:AlternateContent xmlns:mc="http://schemas.openxmlformats.org/markup-compatibility/2006" xmlns:p14="http://schemas.microsoft.com/office/powerpoint/2010/main">
    <mc:Choice Requires="p14">
      <p:transition spd="slow" p14:dur="1500">
        <p:comb/>
      </p:transition>
    </mc:Choice>
    <mc:Fallback xmlns="">
      <p:transition spd="slow">
        <p:comb/>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A85CE21-0C60-4C40-8BAE-9242A4AD28A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a:extLst>
              <a:ext uri="{FF2B5EF4-FFF2-40B4-BE49-F238E27FC236}">
                <a16:creationId xmlns:a16="http://schemas.microsoft.com/office/drawing/2014/main" id="{6670C3C7-83F9-4DF0-AEF5-80843A7AE546}"/>
              </a:ext>
            </a:extLst>
          </p:cNvPr>
          <p:cNvSpPr txBox="1">
            <a:spLocks/>
          </p:cNvSpPr>
          <p:nvPr/>
        </p:nvSpPr>
        <p:spPr>
          <a:xfrm>
            <a:off x="5238896" y="2263950"/>
            <a:ext cx="6257704" cy="119885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377" rtl="0" eaLnBrk="1" fontAlgn="base" latinLnBrk="0" hangingPunct="1">
              <a:lnSpc>
                <a:spcPct val="100000"/>
              </a:lnSpc>
              <a:spcBef>
                <a:spcPts val="0"/>
              </a:spcBef>
              <a:spcAft>
                <a:spcPct val="0"/>
              </a:spcAft>
              <a:buClrTx/>
              <a:buSzTx/>
              <a:buFontTx/>
              <a:buNone/>
              <a:tabLst/>
              <a:defRPr/>
            </a:pPr>
            <a:r>
              <a:rPr kumimoji="0" lang="en-US" altLang="zh-CN" sz="6000" b="1" i="0" u="none" strike="noStrike" kern="1200" cap="none" spc="0" normalizeH="0" baseline="0" noProof="0" dirty="0">
                <a:ln>
                  <a:noFill/>
                </a:ln>
                <a:solidFill>
                  <a:prstClr val="white"/>
                </a:solidFill>
                <a:effectLst/>
                <a:uLnTx/>
                <a:uFillTx/>
                <a:latin typeface="Calibri"/>
                <a:ea typeface="微软雅黑"/>
                <a:cs typeface="+mn-cs"/>
              </a:rPr>
              <a:t>SOD</a:t>
            </a:r>
            <a:r>
              <a:rPr kumimoji="0" lang="zh-CN" altLang="en-US" sz="6000" b="1" i="0" u="none" strike="noStrike" kern="1200" cap="none" spc="0" normalizeH="0" baseline="0" noProof="0" dirty="0">
                <a:ln>
                  <a:noFill/>
                </a:ln>
                <a:solidFill>
                  <a:prstClr val="white"/>
                </a:solidFill>
                <a:effectLst/>
                <a:uLnTx/>
                <a:uFillTx/>
                <a:latin typeface="微软雅黑"/>
                <a:ea typeface="微软雅黑"/>
                <a:cs typeface="+mn-cs"/>
              </a:rPr>
              <a:t>的介绍与分类</a:t>
            </a:r>
          </a:p>
        </p:txBody>
      </p:sp>
      <p:sp>
        <p:nvSpPr>
          <p:cNvPr id="5" name="标题 4">
            <a:extLst>
              <a:ext uri="{FF2B5EF4-FFF2-40B4-BE49-F238E27FC236}">
                <a16:creationId xmlns:a16="http://schemas.microsoft.com/office/drawing/2014/main" id="{24F0AF01-83CA-4681-8720-BADC0F91C04C}"/>
              </a:ext>
            </a:extLst>
          </p:cNvPr>
          <p:cNvSpPr txBox="1">
            <a:spLocks/>
          </p:cNvSpPr>
          <p:nvPr/>
        </p:nvSpPr>
        <p:spPr>
          <a:xfrm>
            <a:off x="5303912" y="3868338"/>
            <a:ext cx="6480720"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defTabSz="914377" fontAlgn="base">
              <a:spcAft>
                <a:spcPct val="0"/>
              </a:spcAft>
              <a:defRPr/>
            </a:pPr>
            <a:r>
              <a:rPr lang="en-US" altLang="zh-CN" sz="3200" dirty="0">
                <a:solidFill>
                  <a:schemeClr val="bg1"/>
                </a:solidFill>
                <a:latin typeface="Calibri Light" panose="020F0302020204030204" pitchFamily="34" charset="0"/>
                <a:ea typeface="方正兰亭黑_GBK"/>
              </a:rPr>
              <a:t>Introduction and Classification of SOD</a:t>
            </a:r>
          </a:p>
        </p:txBody>
      </p:sp>
      <p:cxnSp>
        <p:nvCxnSpPr>
          <p:cNvPr id="6" name="直接连接符 5">
            <a:extLst>
              <a:ext uri="{FF2B5EF4-FFF2-40B4-BE49-F238E27FC236}">
                <a16:creationId xmlns:a16="http://schemas.microsoft.com/office/drawing/2014/main" id="{EDC29B16-B991-4F8A-B957-8540BEC6FF7F}"/>
              </a:ext>
            </a:extLst>
          </p:cNvPr>
          <p:cNvCxnSpPr>
            <a:cxnSpLocks/>
          </p:cNvCxnSpPr>
          <p:nvPr/>
        </p:nvCxnSpPr>
        <p:spPr>
          <a:xfrm>
            <a:off x="5346908" y="3699991"/>
            <a:ext cx="6005676"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C5F69745-0D67-424D-9CA0-934F23166BF6}"/>
              </a:ext>
            </a:extLst>
          </p:cNvPr>
          <p:cNvSpPr txBox="1"/>
          <p:nvPr/>
        </p:nvSpPr>
        <p:spPr>
          <a:xfrm>
            <a:off x="760416" y="1674961"/>
            <a:ext cx="5083426" cy="3770263"/>
          </a:xfrm>
          <a:prstGeom prst="rect">
            <a:avLst/>
          </a:prstGeom>
          <a:noFill/>
        </p:spPr>
        <p:txBody>
          <a:bodyPr wrap="square" rtlCol="0">
            <a:spAutoFit/>
          </a:bodyPr>
          <a:lstStyle/>
          <a:p>
            <a:r>
              <a:rPr lang="en-US" altLang="zh-CN" sz="23900" dirty="0">
                <a:solidFill>
                  <a:schemeClr val="bg1"/>
                </a:solidFill>
                <a:latin typeface="Arial Black" panose="020B0A04020102020204" pitchFamily="34" charset="0"/>
              </a:rPr>
              <a:t>01</a:t>
            </a:r>
            <a:endParaRPr lang="zh-CN" altLang="en-US" sz="23900" dirty="0">
              <a:solidFill>
                <a:schemeClr val="bg1"/>
              </a:solidFill>
              <a:latin typeface="Arial Black" panose="020B0A04020102020204" pitchFamily="34" charset="0"/>
            </a:endParaRPr>
          </a:p>
        </p:txBody>
      </p:sp>
      <p:grpSp>
        <p:nvGrpSpPr>
          <p:cNvPr id="8" name="组合 7">
            <a:extLst>
              <a:ext uri="{FF2B5EF4-FFF2-40B4-BE49-F238E27FC236}">
                <a16:creationId xmlns:a16="http://schemas.microsoft.com/office/drawing/2014/main" id="{97ACC074-0028-4BD2-B864-2A44BDD3E634}"/>
              </a:ext>
            </a:extLst>
          </p:cNvPr>
          <p:cNvGrpSpPr/>
          <p:nvPr/>
        </p:nvGrpSpPr>
        <p:grpSpPr>
          <a:xfrm>
            <a:off x="318625" y="5705603"/>
            <a:ext cx="2356623" cy="1061739"/>
            <a:chOff x="432111" y="5544277"/>
            <a:chExt cx="2356623" cy="1061739"/>
          </a:xfrm>
        </p:grpSpPr>
        <p:pic>
          <p:nvPicPr>
            <p:cNvPr id="9" name="图片 8">
              <a:extLst>
                <a:ext uri="{FF2B5EF4-FFF2-40B4-BE49-F238E27FC236}">
                  <a16:creationId xmlns:a16="http://schemas.microsoft.com/office/drawing/2014/main" id="{3B2E3FDD-185D-4E1A-8723-745A51383D75}"/>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10" name="图片 9">
              <a:extLst>
                <a:ext uri="{FF2B5EF4-FFF2-40B4-BE49-F238E27FC236}">
                  <a16:creationId xmlns:a16="http://schemas.microsoft.com/office/drawing/2014/main" id="{D114EE70-5199-43A1-AE5C-089818EE2C87}"/>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grpSp>
        <p:nvGrpSpPr>
          <p:cNvPr id="11" name="组合 10">
            <a:extLst>
              <a:ext uri="{FF2B5EF4-FFF2-40B4-BE49-F238E27FC236}">
                <a16:creationId xmlns:a16="http://schemas.microsoft.com/office/drawing/2014/main" id="{5E3CF8C3-BFA6-4054-8B36-ABC220624EB7}"/>
              </a:ext>
            </a:extLst>
          </p:cNvPr>
          <p:cNvGrpSpPr/>
          <p:nvPr/>
        </p:nvGrpSpPr>
        <p:grpSpPr>
          <a:xfrm>
            <a:off x="8418574" y="281529"/>
            <a:ext cx="3565944" cy="860130"/>
            <a:chOff x="3371204" y="663706"/>
            <a:chExt cx="6394589" cy="1542418"/>
          </a:xfrm>
        </p:grpSpPr>
        <p:pic>
          <p:nvPicPr>
            <p:cNvPr id="12" name="图片 11">
              <a:extLst>
                <a:ext uri="{FF2B5EF4-FFF2-40B4-BE49-F238E27FC236}">
                  <a16:creationId xmlns:a16="http://schemas.microsoft.com/office/drawing/2014/main" id="{2E272636-CDD7-4B00-8987-A38FBE8140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0025" y="894576"/>
              <a:ext cx="4010022" cy="766728"/>
            </a:xfrm>
            <a:prstGeom prst="rect">
              <a:avLst/>
            </a:prstGeom>
          </p:spPr>
        </p:pic>
        <p:pic>
          <p:nvPicPr>
            <p:cNvPr id="13" name="图片 12">
              <a:extLst>
                <a:ext uri="{FF2B5EF4-FFF2-40B4-BE49-F238E27FC236}">
                  <a16:creationId xmlns:a16="http://schemas.microsoft.com/office/drawing/2014/main" id="{EAA69731-0E6B-47C9-9876-C3DC191A77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4" name="矩形 13">
              <a:extLst>
                <a:ext uri="{FF2B5EF4-FFF2-40B4-BE49-F238E27FC236}">
                  <a16:creationId xmlns:a16="http://schemas.microsoft.com/office/drawing/2014/main" id="{F249E7F7-F190-4753-8FE8-0FA0DBD9DB60}"/>
                </a:ext>
              </a:extLst>
            </p:cNvPr>
            <p:cNvSpPr/>
            <p:nvPr/>
          </p:nvSpPr>
          <p:spPr>
            <a:xfrm>
              <a:off x="5091171" y="1758229"/>
              <a:ext cx="4674622" cy="386342"/>
            </a:xfrm>
            <a:prstGeom prst="rect">
              <a:avLst/>
            </a:prstGeom>
          </p:spPr>
          <p:txBody>
            <a:bodyPr wrap="none">
              <a:spAutoFit/>
            </a:bodyPr>
            <a:lstStyle/>
            <a:p>
              <a:r>
                <a:rPr lang="en-US" altLang="zh-CN" sz="800" b="1" dirty="0">
                  <a:solidFill>
                    <a:schemeClr val="bg1"/>
                  </a:solidFill>
                  <a:latin typeface="Arial" panose="020B0604020202020204" pitchFamily="34" charset="0"/>
                  <a:cs typeface="Arial" panose="020B0604020202020204" pitchFamily="34" charset="0"/>
                </a:rPr>
                <a:t>East China University of Science and Technology</a:t>
              </a:r>
              <a:endParaRPr lang="zh-CN" altLang="en-US" sz="8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00237349"/>
      </p:ext>
    </p:extLst>
  </p:cSld>
  <p:clrMapOvr>
    <a:masterClrMapping/>
  </p:clrMapOvr>
  <mc:AlternateContent xmlns:mc="http://schemas.openxmlformats.org/markup-compatibility/2006" xmlns:p14="http://schemas.microsoft.com/office/powerpoint/2010/main">
    <mc:Choice Requires="p14">
      <p:transition spd="slow" p14:dur="15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1EE48A0-AD0F-454E-BFAD-6E2D5C7FCD04}"/>
              </a:ext>
            </a:extLst>
          </p:cNvPr>
          <p:cNvGrpSpPr/>
          <p:nvPr/>
        </p:nvGrpSpPr>
        <p:grpSpPr>
          <a:xfrm>
            <a:off x="0" y="260648"/>
            <a:ext cx="4411482" cy="932475"/>
            <a:chOff x="0" y="260648"/>
            <a:chExt cx="4411482" cy="932475"/>
          </a:xfrm>
        </p:grpSpPr>
        <p:sp>
          <p:nvSpPr>
            <p:cNvPr id="7" name="矩形 6">
              <a:extLst>
                <a:ext uri="{FF2B5EF4-FFF2-40B4-BE49-F238E27FC236}">
                  <a16:creationId xmlns:a16="http://schemas.microsoft.com/office/drawing/2014/main" id="{5E5FDBC2-4F14-418B-9C6B-471DB57674F9}"/>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8" name="组合 7">
              <a:extLst>
                <a:ext uri="{FF2B5EF4-FFF2-40B4-BE49-F238E27FC236}">
                  <a16:creationId xmlns:a16="http://schemas.microsoft.com/office/drawing/2014/main" id="{70E773C1-D290-4CD5-B8BC-6C1D124BB44C}"/>
                </a:ext>
              </a:extLst>
            </p:cNvPr>
            <p:cNvGrpSpPr/>
            <p:nvPr/>
          </p:nvGrpSpPr>
          <p:grpSpPr>
            <a:xfrm>
              <a:off x="695400" y="260648"/>
              <a:ext cx="3716082" cy="932475"/>
              <a:chOff x="623392" y="310880"/>
              <a:chExt cx="3716082" cy="932475"/>
            </a:xfrm>
          </p:grpSpPr>
          <p:sp>
            <p:nvSpPr>
              <p:cNvPr id="9" name="文本框 8">
                <a:extLst>
                  <a:ext uri="{FF2B5EF4-FFF2-40B4-BE49-F238E27FC236}">
                    <a16:creationId xmlns:a16="http://schemas.microsoft.com/office/drawing/2014/main" id="{5AF0DD6B-3B27-4D27-89E4-3CA8C1D5B5D1}"/>
                  </a:ext>
                </a:extLst>
              </p:cNvPr>
              <p:cNvSpPr txBox="1"/>
              <p:nvPr/>
            </p:nvSpPr>
            <p:spPr>
              <a:xfrm>
                <a:off x="623392" y="310880"/>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的介绍与分类</a:t>
                </a:r>
              </a:p>
            </p:txBody>
          </p:sp>
          <p:cxnSp>
            <p:nvCxnSpPr>
              <p:cNvPr id="10" name="直接连接符 9">
                <a:extLst>
                  <a:ext uri="{FF2B5EF4-FFF2-40B4-BE49-F238E27FC236}">
                    <a16:creationId xmlns:a16="http://schemas.microsoft.com/office/drawing/2014/main" id="{1EB0EF1F-F7FB-4ED3-8798-96244677B16B}"/>
                  </a:ext>
                </a:extLst>
              </p:cNvPr>
              <p:cNvCxnSpPr/>
              <p:nvPr/>
            </p:nvCxnSpPr>
            <p:spPr>
              <a:xfrm>
                <a:off x="623392" y="989439"/>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C5A25F6-DA46-4F9C-9711-4D8709F0258C}"/>
                  </a:ext>
                </a:extLst>
              </p:cNvPr>
              <p:cNvSpPr txBox="1"/>
              <p:nvPr/>
            </p:nvSpPr>
            <p:spPr>
              <a:xfrm>
                <a:off x="623392" y="989439"/>
                <a:ext cx="3716082"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300" normalizeH="0" baseline="0" noProof="0" dirty="0">
                    <a:ln>
                      <a:noFill/>
                    </a:ln>
                    <a:solidFill>
                      <a:prstClr val="black"/>
                    </a:solidFill>
                    <a:effectLst/>
                    <a:uLnTx/>
                    <a:uFillTx/>
                    <a:latin typeface="Calibri"/>
                    <a:ea typeface="宋体" panose="02010600030101010101" pitchFamily="2" charset="-122"/>
                    <a:cs typeface="+mn-cs"/>
                  </a:rPr>
                  <a:t>Introduction and Classification of SOD</a:t>
                </a:r>
              </a:p>
            </p:txBody>
          </p:sp>
        </p:grpSp>
      </p:grpSp>
      <p:grpSp>
        <p:nvGrpSpPr>
          <p:cNvPr id="13" name="组合 12">
            <a:extLst>
              <a:ext uri="{FF2B5EF4-FFF2-40B4-BE49-F238E27FC236}">
                <a16:creationId xmlns:a16="http://schemas.microsoft.com/office/drawing/2014/main" id="{A86A43A1-7972-45C2-AC95-BD653189B5D8}"/>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A92B3E3C-5A8F-4F07-942E-A8A4BD65E9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8C78F2B7-3CBC-49D3-8700-5A3C81124D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7D7F5D65-84AD-427A-B2EC-0E04F88E9EA0}"/>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8" name="图片 17">
            <a:extLst>
              <a:ext uri="{FF2B5EF4-FFF2-40B4-BE49-F238E27FC236}">
                <a16:creationId xmlns:a16="http://schemas.microsoft.com/office/drawing/2014/main" id="{9A8E79EA-3ADF-4F44-8743-BED86D684BF4}"/>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sp>
        <p:nvSpPr>
          <p:cNvPr id="17" name="圆角矩形 18">
            <a:extLst>
              <a:ext uri="{FF2B5EF4-FFF2-40B4-BE49-F238E27FC236}">
                <a16:creationId xmlns:a16="http://schemas.microsoft.com/office/drawing/2014/main" id="{CDDDBCD0-1845-4B7A-BD70-8341F42009D2}"/>
              </a:ext>
            </a:extLst>
          </p:cNvPr>
          <p:cNvSpPr/>
          <p:nvPr/>
        </p:nvSpPr>
        <p:spPr>
          <a:xfrm>
            <a:off x="697423" y="1421350"/>
            <a:ext cx="10002386" cy="4440353"/>
          </a:xfrm>
          <a:prstGeom prst="roundRect">
            <a:avLst>
              <a:gd name="adj" fmla="val 0"/>
            </a:avLst>
          </a:prstGeom>
          <a:solidFill>
            <a:srgbClr val="1669AB"/>
          </a:solidFill>
          <a:ln w="19050" cap="flat" cmpd="sng" algn="ctr">
            <a:no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1">
              <a:ln>
                <a:noFill/>
              </a:ln>
              <a:solidFill>
                <a:prstClr val="white"/>
              </a:solidFill>
              <a:effectLst/>
              <a:uLnTx/>
              <a:uFillTx/>
              <a:latin typeface="Arial"/>
              <a:ea typeface="微软雅黑"/>
              <a:cs typeface="+mn-cs"/>
            </a:endParaRPr>
          </a:p>
        </p:txBody>
      </p:sp>
      <p:grpSp>
        <p:nvGrpSpPr>
          <p:cNvPr id="19" name="组合 18">
            <a:extLst>
              <a:ext uri="{FF2B5EF4-FFF2-40B4-BE49-F238E27FC236}">
                <a16:creationId xmlns:a16="http://schemas.microsoft.com/office/drawing/2014/main" id="{D43BD3A9-BB39-4804-9946-BD59918CB83D}"/>
              </a:ext>
            </a:extLst>
          </p:cNvPr>
          <p:cNvGrpSpPr/>
          <p:nvPr/>
        </p:nvGrpSpPr>
        <p:grpSpPr>
          <a:xfrm>
            <a:off x="779711" y="1504148"/>
            <a:ext cx="10027468" cy="4446309"/>
            <a:chOff x="862841" y="1601133"/>
            <a:chExt cx="10027468" cy="4446309"/>
          </a:xfrm>
        </p:grpSpPr>
        <p:sp>
          <p:nvSpPr>
            <p:cNvPr id="20" name="圆角矩形 19">
              <a:extLst>
                <a:ext uri="{FF2B5EF4-FFF2-40B4-BE49-F238E27FC236}">
                  <a16:creationId xmlns:a16="http://schemas.microsoft.com/office/drawing/2014/main" id="{0C86CEB9-664F-4555-A6C8-A7A7CF9A5C10}"/>
                </a:ext>
              </a:extLst>
            </p:cNvPr>
            <p:cNvSpPr/>
            <p:nvPr/>
          </p:nvSpPr>
          <p:spPr>
            <a:xfrm>
              <a:off x="862841" y="1601133"/>
              <a:ext cx="10027468" cy="4446309"/>
            </a:xfrm>
            <a:prstGeom prst="roundRect">
              <a:avLst>
                <a:gd name="adj" fmla="val 0"/>
              </a:avLst>
            </a:prstGeom>
            <a:solidFill>
              <a:sysClr val="window" lastClr="FFFFFF"/>
            </a:solidFill>
            <a:ln w="28575" cap="flat" cmpd="sng" algn="ctr">
              <a:solidFill>
                <a:srgbClr val="1669AB"/>
              </a:solidFill>
              <a:prstDash val="solid"/>
              <a:miter lim="800000"/>
            </a:ln>
            <a:effectLst/>
          </p:spPr>
          <p:txBody>
            <a:bodyPr anchor="ct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1">
                <a:ln>
                  <a:noFill/>
                </a:ln>
                <a:solidFill>
                  <a:prstClr val="white"/>
                </a:solidFill>
                <a:effectLst/>
                <a:uLnTx/>
                <a:uFillTx/>
                <a:latin typeface="Arial"/>
                <a:ea typeface="微软雅黑"/>
                <a:cs typeface="+mn-cs"/>
              </a:endParaRPr>
            </a:p>
          </p:txBody>
        </p:sp>
        <p:sp>
          <p:nvSpPr>
            <p:cNvPr id="21" name="文本框 10">
              <a:extLst>
                <a:ext uri="{FF2B5EF4-FFF2-40B4-BE49-F238E27FC236}">
                  <a16:creationId xmlns:a16="http://schemas.microsoft.com/office/drawing/2014/main" id="{6D7A99FB-4D2C-40AB-A394-70B3EDECC3A3}"/>
                </a:ext>
              </a:extLst>
            </p:cNvPr>
            <p:cNvSpPr txBox="1">
              <a:spLocks noChangeArrowheads="1"/>
            </p:cNvSpPr>
            <p:nvPr/>
          </p:nvSpPr>
          <p:spPr bwMode="auto">
            <a:xfrm>
              <a:off x="983431" y="2081615"/>
              <a:ext cx="9881795" cy="2888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defTabSz="914400" eaLnBrk="1" fontAlgn="base" latinLnBrk="0" hangingPunct="1">
                <a:lnSpc>
                  <a:spcPct val="150000"/>
                </a:lnSpc>
                <a:spcBef>
                  <a:spcPct val="0"/>
                </a:spcBef>
                <a:spcAft>
                  <a:spcPct val="0"/>
                </a:spcAft>
                <a:buClrTx/>
                <a:buSzTx/>
                <a:buFontTx/>
                <a:buNone/>
                <a:tabLst/>
                <a:defRPr/>
              </a:pPr>
              <a:r>
                <a:rPr kumimoji="0" lang="en-US" altLang="zh-CN" b="1"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SOD</a:t>
              </a:r>
              <a:r>
                <a:rPr kumimoji="0" lang="zh-CN" altLang="en-US" b="1"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的介绍</a:t>
              </a:r>
              <a:endParaRPr kumimoji="0" lang="en-US" altLang="zh-CN" b="1"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endParaRPr>
            </a:p>
            <a:p>
              <a:pPr marL="0" marR="0" lvl="0" indent="0" defTabSz="914400" eaLnBrk="1" fontAlgn="base" latinLnBrk="0" hangingPunct="1">
                <a:lnSpc>
                  <a:spcPct val="150000"/>
                </a:lnSpc>
                <a:spcBef>
                  <a:spcPct val="0"/>
                </a:spcBef>
                <a:spcAft>
                  <a:spcPct val="0"/>
                </a:spcAft>
                <a:buClrTx/>
                <a:buSzTx/>
                <a:buFontTx/>
                <a:buNone/>
                <a:tabLst/>
                <a:defRPr/>
              </a:pPr>
              <a:r>
                <a:rPr kumimoji="0" lang="zh-CN" altLang="en-US" sz="2400" b="0"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超氧化物歧化酶（</a:t>
              </a:r>
              <a:r>
                <a:rPr kumimoji="0" lang="en-US" altLang="zh-CN" sz="2400" b="0"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Superoxide Dismutase</a:t>
              </a:r>
              <a:r>
                <a:rPr kumimoji="0" lang="zh-CN" altLang="en-US" sz="2400" b="0"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），通常简称为</a:t>
              </a:r>
              <a:r>
                <a:rPr kumimoji="0" lang="en-US" altLang="zh-CN" sz="2400" b="0"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SOD</a:t>
              </a:r>
              <a:r>
                <a:rPr kumimoji="0" lang="zh-CN" altLang="en-US" sz="2400" b="0" i="0" u="none" strike="noStrike" kern="0" cap="none" spc="0" normalizeH="0" noProof="0" dirty="0">
                  <a:ln>
                    <a:noFill/>
                  </a:ln>
                  <a:solidFill>
                    <a:srgbClr val="404040"/>
                  </a:solidFill>
                  <a:effectLst/>
                  <a:uLnTx/>
                  <a:uFillTx/>
                  <a:latin typeface="Calibri" panose="020F0502020204030204" pitchFamily="34" charset="0"/>
                  <a:ea typeface="微软雅黑" panose="020B0503020204020204" pitchFamily="34" charset="-122"/>
                </a:rPr>
                <a:t>，是自然界广泛存在于生物体内的一类具有自由基清除和维持体内氧化平衡功能的蛋白酶类物质，是人体抵抗自由基损伤的主要抗氧化酶，也是人类体内重要的抗氧化和抗衰老的酶类物质。</a:t>
              </a:r>
            </a:p>
          </p:txBody>
        </p:sp>
      </p:grpSp>
      <p:sp>
        <p:nvSpPr>
          <p:cNvPr id="2" name="文本框 1">
            <a:extLst>
              <a:ext uri="{FF2B5EF4-FFF2-40B4-BE49-F238E27FC236}">
                <a16:creationId xmlns:a16="http://schemas.microsoft.com/office/drawing/2014/main" id="{422DC64B-DD89-4166-3D82-A8B33D49CE76}"/>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Tree>
    <p:extLst>
      <p:ext uri="{BB962C8B-B14F-4D97-AF65-F5344CB8AC3E}">
        <p14:creationId xmlns:p14="http://schemas.microsoft.com/office/powerpoint/2010/main" val="248899478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B082F725-F830-41A4-BE76-4B7BFA5AA8CC}"/>
              </a:ext>
            </a:extLst>
          </p:cNvPr>
          <p:cNvGrpSpPr/>
          <p:nvPr/>
        </p:nvGrpSpPr>
        <p:grpSpPr>
          <a:xfrm>
            <a:off x="0" y="374221"/>
            <a:ext cx="3575720" cy="792088"/>
            <a:chOff x="0" y="374221"/>
            <a:chExt cx="3575720" cy="792088"/>
          </a:xfrm>
        </p:grpSpPr>
        <p:sp>
          <p:nvSpPr>
            <p:cNvPr id="7" name="矩形 6">
              <a:extLst>
                <a:ext uri="{FF2B5EF4-FFF2-40B4-BE49-F238E27FC236}">
                  <a16:creationId xmlns:a16="http://schemas.microsoft.com/office/drawing/2014/main" id="{0C7E1267-71ED-4E5A-B204-B521A08D7209}"/>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cxnSp>
          <p:nvCxnSpPr>
            <p:cNvPr id="10" name="直接连接符 9">
              <a:extLst>
                <a:ext uri="{FF2B5EF4-FFF2-40B4-BE49-F238E27FC236}">
                  <a16:creationId xmlns:a16="http://schemas.microsoft.com/office/drawing/2014/main" id="{A55D39E9-E02C-4342-BA02-99EFE9556C47}"/>
                </a:ext>
              </a:extLst>
            </p:cNvPr>
            <p:cNvCxnSpPr/>
            <p:nvPr/>
          </p:nvCxnSpPr>
          <p:spPr>
            <a:xfrm>
              <a:off x="695400" y="939207"/>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BFA442F1-1F33-45A1-8D64-442E01F198A7}"/>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523C302A-9B69-499F-A67F-4D2ECB871D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B235ECC2-375E-400F-B85D-F6A5816CB7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72236FEC-84EA-4AB9-B023-8202AD5A979C}"/>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7" name="图片 16">
            <a:extLst>
              <a:ext uri="{FF2B5EF4-FFF2-40B4-BE49-F238E27FC236}">
                <a16:creationId xmlns:a16="http://schemas.microsoft.com/office/drawing/2014/main" id="{C80A7ACB-7162-432C-B042-15CBAD836B17}"/>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grpSp>
        <p:nvGrpSpPr>
          <p:cNvPr id="18" name="组合 17">
            <a:extLst>
              <a:ext uri="{FF2B5EF4-FFF2-40B4-BE49-F238E27FC236}">
                <a16:creationId xmlns:a16="http://schemas.microsoft.com/office/drawing/2014/main" id="{D6F20922-DC8D-4B70-9879-850638B6D7EC}"/>
              </a:ext>
            </a:extLst>
          </p:cNvPr>
          <p:cNvGrpSpPr/>
          <p:nvPr/>
        </p:nvGrpSpPr>
        <p:grpSpPr>
          <a:xfrm>
            <a:off x="2203922" y="1711714"/>
            <a:ext cx="4108102" cy="465118"/>
            <a:chOff x="3002037" y="1465798"/>
            <a:chExt cx="5870529" cy="369332"/>
          </a:xfrm>
          <a:solidFill>
            <a:srgbClr val="0D6482"/>
          </a:solidFill>
        </p:grpSpPr>
        <p:sp>
          <p:nvSpPr>
            <p:cNvPr id="19" name="矩形 18">
              <a:extLst>
                <a:ext uri="{FF2B5EF4-FFF2-40B4-BE49-F238E27FC236}">
                  <a16:creationId xmlns:a16="http://schemas.microsoft.com/office/drawing/2014/main" id="{AD08B951-6D79-4854-95E8-D8D8EB8DAE7D}"/>
                </a:ext>
              </a:extLst>
            </p:cNvPr>
            <p:cNvSpPr/>
            <p:nvPr/>
          </p:nvSpPr>
          <p:spPr bwMode="auto">
            <a:xfrm>
              <a:off x="3002037" y="1465798"/>
              <a:ext cx="5870529" cy="369332"/>
            </a:xfrm>
            <a:prstGeom prst="rect">
              <a:avLst/>
            </a:prstGeom>
            <a:solidFill>
              <a:srgbClr val="1669AB"/>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zh-CN" altLang="en-US" sz="2133" b="0" i="0" u="none" strike="noStrike" kern="0" cap="none" spc="0" normalizeH="0" baseline="0" noProof="0">
                <a:ln>
                  <a:noFill/>
                </a:ln>
                <a:solidFill>
                  <a:prstClr val="black"/>
                </a:solidFill>
                <a:effectLst/>
                <a:uLnTx/>
                <a:uFillTx/>
                <a:latin typeface="微软雅黑" pitchFamily="34" charset="-122"/>
                <a:ea typeface="微软雅黑" pitchFamily="34" charset="-122"/>
              </a:endParaRPr>
            </a:p>
          </p:txBody>
        </p:sp>
        <p:sp>
          <p:nvSpPr>
            <p:cNvPr id="20" name="TextBox 16">
              <a:extLst>
                <a:ext uri="{FF2B5EF4-FFF2-40B4-BE49-F238E27FC236}">
                  <a16:creationId xmlns:a16="http://schemas.microsoft.com/office/drawing/2014/main" id="{E0DC7A22-C8A6-4946-A3F8-AFB5DA287B90}"/>
                </a:ext>
              </a:extLst>
            </p:cNvPr>
            <p:cNvSpPr txBox="1"/>
            <p:nvPr/>
          </p:nvSpPr>
          <p:spPr>
            <a:xfrm>
              <a:off x="3033223" y="1474123"/>
              <a:ext cx="4209493" cy="333953"/>
            </a:xfrm>
            <a:prstGeom prst="rect">
              <a:avLst/>
            </a:prstGeom>
            <a:solidFill>
              <a:srgbClr val="1669AB"/>
            </a:solidFill>
          </p:spPr>
          <p:txBody>
            <a:bodyPr wrap="squar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zh-CN" altLang="en-US" sz="2133" b="0" i="0" u="none" strike="noStrike" kern="0" cap="none" spc="0" normalizeH="0" baseline="0" noProof="0" dirty="0">
                  <a:ln>
                    <a:noFill/>
                  </a:ln>
                  <a:solidFill>
                    <a:srgbClr val="F8F8F8"/>
                  </a:solidFill>
                  <a:effectLst/>
                  <a:uLnTx/>
                  <a:uFillTx/>
                  <a:latin typeface="微软雅黑" pitchFamily="34" charset="-122"/>
                  <a:ea typeface="微软雅黑" pitchFamily="34" charset="-122"/>
                </a:rPr>
                <a:t>真核细胞中的“主力军”</a:t>
              </a:r>
            </a:p>
          </p:txBody>
        </p:sp>
      </p:grpSp>
      <p:grpSp>
        <p:nvGrpSpPr>
          <p:cNvPr id="21" name="组合 20">
            <a:extLst>
              <a:ext uri="{FF2B5EF4-FFF2-40B4-BE49-F238E27FC236}">
                <a16:creationId xmlns:a16="http://schemas.microsoft.com/office/drawing/2014/main" id="{6E460231-7496-42E1-BB29-2BC693DB62E8}"/>
              </a:ext>
            </a:extLst>
          </p:cNvPr>
          <p:cNvGrpSpPr/>
          <p:nvPr/>
        </p:nvGrpSpPr>
        <p:grpSpPr>
          <a:xfrm>
            <a:off x="2203921" y="3976140"/>
            <a:ext cx="4108103" cy="465119"/>
            <a:chOff x="3002037" y="3922395"/>
            <a:chExt cx="7067433" cy="369332"/>
          </a:xfrm>
          <a:solidFill>
            <a:srgbClr val="1669AB"/>
          </a:solidFill>
        </p:grpSpPr>
        <p:sp>
          <p:nvSpPr>
            <p:cNvPr id="22" name="矩形 21">
              <a:extLst>
                <a:ext uri="{FF2B5EF4-FFF2-40B4-BE49-F238E27FC236}">
                  <a16:creationId xmlns:a16="http://schemas.microsoft.com/office/drawing/2014/main" id="{856CF8C9-B3A0-44D1-B086-6E6528E72CEB}"/>
                </a:ext>
              </a:extLst>
            </p:cNvPr>
            <p:cNvSpPr/>
            <p:nvPr/>
          </p:nvSpPr>
          <p:spPr bwMode="auto">
            <a:xfrm>
              <a:off x="3002037" y="3922395"/>
              <a:ext cx="7067433" cy="369332"/>
            </a:xfrm>
            <a:prstGeom prst="rect">
              <a:avLst/>
            </a:prstGeom>
            <a:grp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zh-CN" altLang="en-US" sz="2133"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23" name="TextBox 19">
              <a:extLst>
                <a:ext uri="{FF2B5EF4-FFF2-40B4-BE49-F238E27FC236}">
                  <a16:creationId xmlns:a16="http://schemas.microsoft.com/office/drawing/2014/main" id="{A6DF3A96-1807-443F-B2AC-BC981B20B31F}"/>
                </a:ext>
              </a:extLst>
            </p:cNvPr>
            <p:cNvSpPr txBox="1"/>
            <p:nvPr/>
          </p:nvSpPr>
          <p:spPr>
            <a:xfrm>
              <a:off x="3023808" y="3939647"/>
              <a:ext cx="4085844" cy="333953"/>
            </a:xfrm>
            <a:prstGeom prst="rect">
              <a:avLst/>
            </a:prstGeom>
            <a:grpFill/>
          </p:spPr>
          <p:txBody>
            <a:bodyPr wrap="squar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zh-CN" altLang="en-US" sz="2133" b="0" i="0" u="none" strike="noStrike" kern="0" cap="none" spc="0" normalizeH="0" baseline="0" noProof="0" dirty="0">
                  <a:ln>
                    <a:noFill/>
                  </a:ln>
                  <a:solidFill>
                    <a:srgbClr val="F8F8F8"/>
                  </a:solidFill>
                  <a:effectLst/>
                  <a:uLnTx/>
                  <a:uFillTx/>
                  <a:latin typeface="微软雅黑" pitchFamily="34" charset="-122"/>
                  <a:ea typeface="微软雅黑" pitchFamily="34" charset="-122"/>
                </a:rPr>
                <a:t>线粒体的“守护者”</a:t>
              </a:r>
            </a:p>
          </p:txBody>
        </p:sp>
      </p:grpSp>
      <p:sp>
        <p:nvSpPr>
          <p:cNvPr id="24" name="TextBox 20">
            <a:extLst>
              <a:ext uri="{FF2B5EF4-FFF2-40B4-BE49-F238E27FC236}">
                <a16:creationId xmlns:a16="http://schemas.microsoft.com/office/drawing/2014/main" id="{87F8F4CB-4D28-4A9B-863A-9404F4B80380}"/>
              </a:ext>
            </a:extLst>
          </p:cNvPr>
          <p:cNvSpPr txBox="1"/>
          <p:nvPr/>
        </p:nvSpPr>
        <p:spPr>
          <a:xfrm>
            <a:off x="2203921" y="2276872"/>
            <a:ext cx="8667181" cy="1341073"/>
          </a:xfrm>
          <a:prstGeom prst="rect">
            <a:avLst/>
          </a:prstGeom>
          <a:noFill/>
        </p:spPr>
        <p:txBody>
          <a:bodyPr wrap="square" lIns="91440" tIns="45720" rIns="91440" bIns="45720" rtlCol="0">
            <a:spAutoFit/>
          </a:bodyPr>
          <a:lstStyle/>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分布：细胞质、细胞间隙、叶绿体及过氧化物酶体；</a:t>
            </a:r>
          </a:p>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结构：同型二聚体（两个亚基组成），每个亚基含</a:t>
            </a:r>
            <a:endParaRPr lang="en-US" altLang="zh-CN" sz="1600" dirty="0">
              <a:solidFill>
                <a:prstClr val="black"/>
              </a:solidFill>
              <a:latin typeface="Calibri" panose="020F0502020204030204" pitchFamily="34" charset="0"/>
              <a:ea typeface="微软雅黑" pitchFamily="34" charset="-122"/>
            </a:endParaRPr>
          </a:p>
          <a:p>
            <a:pPr defTabSz="457189">
              <a:lnSpc>
                <a:spcPct val="130000"/>
              </a:lnSpc>
            </a:pPr>
            <a:r>
              <a:rPr lang="en-US" altLang="zh-CN" sz="1600" dirty="0">
                <a:solidFill>
                  <a:prstClr val="black"/>
                </a:solidFill>
                <a:latin typeface="Calibri" panose="020F0502020204030204" pitchFamily="34" charset="0"/>
                <a:ea typeface="微软雅黑" pitchFamily="34" charset="-122"/>
              </a:rPr>
              <a:t>  1</a:t>
            </a:r>
            <a:r>
              <a:rPr lang="zh-CN" altLang="en-US" sz="1600" dirty="0">
                <a:solidFill>
                  <a:prstClr val="black"/>
                </a:solidFill>
                <a:latin typeface="Calibri" panose="020F0502020204030204" pitchFamily="34" charset="0"/>
                <a:ea typeface="微软雅黑" pitchFamily="34" charset="-122"/>
              </a:rPr>
              <a:t>个铜（</a:t>
            </a:r>
            <a:r>
              <a:rPr lang="en-US" altLang="zh-CN" sz="1600" dirty="0">
                <a:solidFill>
                  <a:prstClr val="black"/>
                </a:solidFill>
                <a:latin typeface="Calibri" panose="020F0502020204030204" pitchFamily="34" charset="0"/>
                <a:ea typeface="微软雅黑" pitchFamily="34" charset="-122"/>
              </a:rPr>
              <a:t>Cu</a:t>
            </a:r>
            <a:r>
              <a:rPr lang="zh-CN" altLang="en-US" sz="1600" dirty="0">
                <a:solidFill>
                  <a:prstClr val="black"/>
                </a:solidFill>
                <a:latin typeface="Calibri" panose="020F0502020204030204" pitchFamily="34" charset="0"/>
                <a:ea typeface="微软雅黑" pitchFamily="34" charset="-122"/>
              </a:rPr>
              <a:t>）原子（催化中心）和</a:t>
            </a:r>
            <a:r>
              <a:rPr lang="en-US" altLang="zh-CN" sz="1600" dirty="0">
                <a:solidFill>
                  <a:prstClr val="black"/>
                </a:solidFill>
                <a:latin typeface="Calibri" panose="020F0502020204030204" pitchFamily="34" charset="0"/>
                <a:ea typeface="微软雅黑" pitchFamily="34" charset="-122"/>
              </a:rPr>
              <a:t>1</a:t>
            </a:r>
            <a:r>
              <a:rPr lang="zh-CN" altLang="en-US" sz="1600" dirty="0">
                <a:solidFill>
                  <a:prstClr val="black"/>
                </a:solidFill>
                <a:latin typeface="Calibri" panose="020F0502020204030204" pitchFamily="34" charset="0"/>
                <a:ea typeface="微软雅黑" pitchFamily="34" charset="-122"/>
              </a:rPr>
              <a:t>个锌（</a:t>
            </a:r>
            <a:r>
              <a:rPr lang="en-US" altLang="zh-CN" sz="1600" dirty="0">
                <a:solidFill>
                  <a:prstClr val="black"/>
                </a:solidFill>
                <a:latin typeface="Calibri" panose="020F0502020204030204" pitchFamily="34" charset="0"/>
                <a:ea typeface="微软雅黑" pitchFamily="34" charset="-122"/>
              </a:rPr>
              <a:t>Zn</a:t>
            </a:r>
            <a:r>
              <a:rPr lang="zh-CN" altLang="en-US" sz="1600" dirty="0">
                <a:solidFill>
                  <a:prstClr val="black"/>
                </a:solidFill>
                <a:latin typeface="Calibri" panose="020F0502020204030204" pitchFamily="34" charset="0"/>
                <a:ea typeface="微软雅黑" pitchFamily="34" charset="-122"/>
              </a:rPr>
              <a:t>）原子（维持结构稳定），分子量约</a:t>
            </a:r>
            <a:r>
              <a:rPr lang="en-US" altLang="zh-CN" sz="1600" dirty="0">
                <a:solidFill>
                  <a:prstClr val="black"/>
                </a:solidFill>
                <a:latin typeface="Calibri" panose="020F0502020204030204" pitchFamily="34" charset="0"/>
                <a:ea typeface="微软雅黑" pitchFamily="34" charset="-122"/>
              </a:rPr>
              <a:t>32kDa</a:t>
            </a:r>
            <a:r>
              <a:rPr lang="zh-CN" altLang="en-US" sz="1600" dirty="0">
                <a:solidFill>
                  <a:prstClr val="black"/>
                </a:solidFill>
                <a:latin typeface="Calibri" panose="020F0502020204030204" pitchFamily="34" charset="0"/>
                <a:ea typeface="微软雅黑" pitchFamily="34" charset="-122"/>
              </a:rPr>
              <a:t>；</a:t>
            </a:r>
          </a:p>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特点：对氰化物敏感（抑制其活性），广泛存在于需氧组织中，是胞内</a:t>
            </a:r>
            <a:r>
              <a:rPr lang="en-US" altLang="zh-CN" sz="1600" dirty="0">
                <a:solidFill>
                  <a:prstClr val="black"/>
                </a:solidFill>
                <a:latin typeface="Calibri" panose="020F0502020204030204" pitchFamily="34" charset="0"/>
                <a:ea typeface="微软雅黑" pitchFamily="34" charset="-122"/>
              </a:rPr>
              <a:t>O₂⁻</a:t>
            </a:r>
            <a:r>
              <a:rPr lang="zh-CN" altLang="en-US" sz="1600" dirty="0">
                <a:solidFill>
                  <a:prstClr val="black"/>
                </a:solidFill>
                <a:latin typeface="Calibri" panose="020F0502020204030204" pitchFamily="34" charset="0"/>
                <a:ea typeface="微软雅黑" pitchFamily="34" charset="-122"/>
              </a:rPr>
              <a:t>清除的关键酶。</a:t>
            </a:r>
          </a:p>
        </p:txBody>
      </p:sp>
      <p:sp>
        <p:nvSpPr>
          <p:cNvPr id="25" name="TextBox 21">
            <a:extLst>
              <a:ext uri="{FF2B5EF4-FFF2-40B4-BE49-F238E27FC236}">
                <a16:creationId xmlns:a16="http://schemas.microsoft.com/office/drawing/2014/main" id="{D769C72C-AE65-4EC3-87B3-9A0A99664875}"/>
              </a:ext>
            </a:extLst>
          </p:cNvPr>
          <p:cNvSpPr txBox="1"/>
          <p:nvPr/>
        </p:nvSpPr>
        <p:spPr>
          <a:xfrm>
            <a:off x="2203921" y="4648841"/>
            <a:ext cx="8667181" cy="1661609"/>
          </a:xfrm>
          <a:prstGeom prst="rect">
            <a:avLst/>
          </a:prstGeom>
          <a:noFill/>
        </p:spPr>
        <p:txBody>
          <a:bodyPr wrap="square" lIns="91440" tIns="45720" rIns="91440" bIns="45720" rtlCol="0">
            <a:spAutoFit/>
          </a:bodyPr>
          <a:lstStyle/>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分布：原核生物及真核细胞线粒体基质；</a:t>
            </a:r>
          </a:p>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结构：同型四聚体（部分细菌为二聚体），</a:t>
            </a:r>
            <a:endParaRPr lang="en-US" altLang="zh-CN" sz="1600" dirty="0">
              <a:solidFill>
                <a:prstClr val="black"/>
              </a:solidFill>
              <a:latin typeface="Calibri" panose="020F0502020204030204" pitchFamily="34" charset="0"/>
              <a:ea typeface="微软雅黑" pitchFamily="34" charset="-122"/>
            </a:endParaRPr>
          </a:p>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每个亚基含</a:t>
            </a:r>
            <a:r>
              <a:rPr lang="en-US" altLang="zh-CN" sz="1600" dirty="0">
                <a:solidFill>
                  <a:prstClr val="black"/>
                </a:solidFill>
                <a:latin typeface="Calibri" panose="020F0502020204030204" pitchFamily="34" charset="0"/>
                <a:ea typeface="微软雅黑" pitchFamily="34" charset="-122"/>
              </a:rPr>
              <a:t>1</a:t>
            </a:r>
            <a:r>
              <a:rPr lang="zh-CN" altLang="en-US" sz="1600" dirty="0">
                <a:solidFill>
                  <a:prstClr val="black"/>
                </a:solidFill>
                <a:latin typeface="Calibri" panose="020F0502020204030204" pitchFamily="34" charset="0"/>
                <a:ea typeface="微软雅黑" pitchFamily="34" charset="-122"/>
              </a:rPr>
              <a:t>个锰（</a:t>
            </a:r>
            <a:r>
              <a:rPr lang="en-US" altLang="zh-CN" sz="1600" dirty="0">
                <a:solidFill>
                  <a:prstClr val="black"/>
                </a:solidFill>
                <a:latin typeface="Calibri" panose="020F0502020204030204" pitchFamily="34" charset="0"/>
                <a:ea typeface="微软雅黑" pitchFamily="34" charset="-122"/>
              </a:rPr>
              <a:t>Mn</a:t>
            </a:r>
            <a:r>
              <a:rPr lang="zh-CN" altLang="en-US" sz="1600" dirty="0">
                <a:solidFill>
                  <a:prstClr val="black"/>
                </a:solidFill>
                <a:latin typeface="Calibri" panose="020F0502020204030204" pitchFamily="34" charset="0"/>
                <a:ea typeface="微软雅黑" pitchFamily="34" charset="-122"/>
              </a:rPr>
              <a:t>）原子，纯品呈粉红色；</a:t>
            </a:r>
          </a:p>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特点：对氰化物不敏感但对</a:t>
            </a:r>
            <a:r>
              <a:rPr lang="en-US" altLang="zh-CN" sz="1600" dirty="0">
                <a:solidFill>
                  <a:prstClr val="black"/>
                </a:solidFill>
                <a:latin typeface="Calibri" panose="020F0502020204030204" pitchFamily="34" charset="0"/>
                <a:ea typeface="微软雅黑" pitchFamily="34" charset="-122"/>
              </a:rPr>
              <a:t>H₂O₂</a:t>
            </a:r>
            <a:r>
              <a:rPr lang="zh-CN" altLang="en-US" sz="1600" dirty="0">
                <a:solidFill>
                  <a:prstClr val="black"/>
                </a:solidFill>
                <a:latin typeface="Calibri" panose="020F0502020204030204" pitchFamily="34" charset="0"/>
                <a:ea typeface="微软雅黑" pitchFamily="34" charset="-122"/>
              </a:rPr>
              <a:t>敏感，直接保护</a:t>
            </a:r>
            <a:endParaRPr lang="en-US" altLang="zh-CN" sz="1600" dirty="0">
              <a:solidFill>
                <a:prstClr val="black"/>
              </a:solidFill>
              <a:latin typeface="Calibri" panose="020F0502020204030204" pitchFamily="34" charset="0"/>
              <a:ea typeface="微软雅黑" pitchFamily="34" charset="-122"/>
            </a:endParaRPr>
          </a:p>
          <a:p>
            <a:pPr defTabSz="457189">
              <a:lnSpc>
                <a:spcPct val="130000"/>
              </a:lnSpc>
            </a:pPr>
            <a:r>
              <a:rPr lang="en-US" altLang="zh-CN" sz="1600" dirty="0">
                <a:solidFill>
                  <a:prstClr val="black"/>
                </a:solidFill>
                <a:latin typeface="Calibri" panose="020F0502020204030204" pitchFamily="34" charset="0"/>
                <a:ea typeface="微软雅黑" pitchFamily="34" charset="-122"/>
              </a:rPr>
              <a:t>     </a:t>
            </a:r>
            <a:r>
              <a:rPr lang="zh-CN" altLang="en-US" sz="1600" dirty="0">
                <a:solidFill>
                  <a:prstClr val="black"/>
                </a:solidFill>
                <a:latin typeface="Calibri" panose="020F0502020204030204" pitchFamily="34" charset="0"/>
                <a:ea typeface="微软雅黑" pitchFamily="34" charset="-122"/>
              </a:rPr>
              <a:t>线粒体（细胞能量工厂）免受氧化损伤，是线粒体抗氧化系统的核心。</a:t>
            </a:r>
          </a:p>
        </p:txBody>
      </p:sp>
      <p:sp>
        <p:nvSpPr>
          <p:cNvPr id="26" name="等腰三角形 2">
            <a:extLst>
              <a:ext uri="{FF2B5EF4-FFF2-40B4-BE49-F238E27FC236}">
                <a16:creationId xmlns:a16="http://schemas.microsoft.com/office/drawing/2014/main" id="{8A97A9B8-67FC-4C26-A67A-39CE9D66AC10}"/>
              </a:ext>
            </a:extLst>
          </p:cNvPr>
          <p:cNvSpPr/>
          <p:nvPr/>
        </p:nvSpPr>
        <p:spPr bwMode="auto">
          <a:xfrm rot="2747878">
            <a:off x="683757" y="1655234"/>
            <a:ext cx="1323028" cy="1530812"/>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rgbClr val="1669AB"/>
          </a:solidFill>
          <a:ln>
            <a:noFill/>
          </a:ln>
        </p:spPr>
        <p:txBody>
          <a:bodyPr wrap="none" lIns="91440" tIns="45720" rIns="91440" bIns="4572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zh-CN" altLang="en-US" sz="1467"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27" name="TextBox 23">
            <a:extLst>
              <a:ext uri="{FF2B5EF4-FFF2-40B4-BE49-F238E27FC236}">
                <a16:creationId xmlns:a16="http://schemas.microsoft.com/office/drawing/2014/main" id="{B191DC29-4CA6-4777-B573-2D51890284E2}"/>
              </a:ext>
            </a:extLst>
          </p:cNvPr>
          <p:cNvSpPr txBox="1"/>
          <p:nvPr/>
        </p:nvSpPr>
        <p:spPr>
          <a:xfrm>
            <a:off x="839765" y="2142761"/>
            <a:ext cx="858447" cy="782183"/>
          </a:xfrm>
          <a:prstGeom prst="rect">
            <a:avLst/>
          </a:prstGeom>
          <a:noFill/>
          <a:ln>
            <a:noFill/>
          </a:ln>
        </p:spPr>
        <p:txBody>
          <a:bodyPr wrap="none" lIns="91440" tIns="45720" rIns="91440" bIns="45720" anchor="ctr"/>
          <a:lstStyle>
            <a:defPPr>
              <a:defRPr lang="zh-CN"/>
            </a:defPPr>
            <a:lvl1pPr algn="ctr">
              <a:defRPr sz="2000" kern="0">
                <a:solidFill>
                  <a:srgbClr val="FFFFFF"/>
                </a:solidFill>
                <a:latin typeface="微软雅黑" pitchFamily="34" charset="-122"/>
                <a:ea typeface="微软雅黑" pitchFamily="34" charset="-122"/>
              </a:defRPr>
            </a:lvl1pPr>
          </a:lstStyle>
          <a:p>
            <a:pPr marL="0" marR="0" lvl="0" indent="0" algn="ctr" defTabSz="457189" eaLnBrk="1" fontAlgn="auto" latinLnBrk="0" hangingPunct="1">
              <a:lnSpc>
                <a:spcPct val="100000"/>
              </a:lnSpc>
              <a:spcBef>
                <a:spcPts val="0"/>
              </a:spcBef>
              <a:spcAft>
                <a:spcPts val="0"/>
              </a:spcAft>
              <a:buClrTx/>
              <a:buSzTx/>
              <a:buFontTx/>
              <a:buNone/>
              <a:tabLst/>
              <a:defRPr/>
            </a:pPr>
            <a:r>
              <a:rPr lang="en-US" altLang="zh-CN" sz="2400" b="1" dirty="0">
                <a:latin typeface="Calibri" panose="020F0502020204030204" pitchFamily="34" charset="0"/>
              </a:rPr>
              <a:t>Cu/Zn-</a:t>
            </a:r>
          </a:p>
          <a:p>
            <a:pPr marL="0" marR="0" lvl="0" indent="0" algn="ctr" defTabSz="457189" eaLnBrk="1" fontAlgn="auto" latinLnBrk="0" hangingPunct="1">
              <a:lnSpc>
                <a:spcPct val="100000"/>
              </a:lnSpc>
              <a:spcBef>
                <a:spcPts val="0"/>
              </a:spcBef>
              <a:spcAft>
                <a:spcPts val="0"/>
              </a:spcAft>
              <a:buClrTx/>
              <a:buSzTx/>
              <a:buFontTx/>
              <a:buNone/>
              <a:tabLst/>
              <a:defRPr/>
            </a:pPr>
            <a:r>
              <a:rPr lang="en-US" altLang="zh-CN" sz="2400" b="1" dirty="0">
                <a:latin typeface="Calibri" panose="020F0502020204030204" pitchFamily="34" charset="0"/>
              </a:rPr>
              <a:t>SOD</a:t>
            </a:r>
          </a:p>
        </p:txBody>
      </p:sp>
      <p:sp>
        <p:nvSpPr>
          <p:cNvPr id="28" name="等腰三角形 2">
            <a:extLst>
              <a:ext uri="{FF2B5EF4-FFF2-40B4-BE49-F238E27FC236}">
                <a16:creationId xmlns:a16="http://schemas.microsoft.com/office/drawing/2014/main" id="{21C06678-9FB8-429F-924B-7D9D77B4569C}"/>
              </a:ext>
            </a:extLst>
          </p:cNvPr>
          <p:cNvSpPr/>
          <p:nvPr/>
        </p:nvSpPr>
        <p:spPr bwMode="auto">
          <a:xfrm rot="3036074">
            <a:off x="685185" y="3981757"/>
            <a:ext cx="1323031" cy="1530816"/>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rgbClr val="7F7F7F"/>
          </a:solidFill>
          <a:ln>
            <a:noFill/>
          </a:ln>
        </p:spPr>
        <p:txBody>
          <a:bodyPr wrap="none" lIns="91440" tIns="45720" rIns="91440" bIns="4572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zh-CN" altLang="en-US" sz="1467" b="0" i="0" u="none" strike="noStrike" kern="0" cap="none" spc="0" normalizeH="0" baseline="0" noProof="0">
              <a:ln>
                <a:noFill/>
              </a:ln>
              <a:solidFill>
                <a:srgbClr val="FFFFFF"/>
              </a:solidFill>
              <a:effectLst/>
              <a:uLnTx/>
              <a:uFillTx/>
              <a:latin typeface="微软雅黑" pitchFamily="34" charset="-122"/>
              <a:ea typeface="微软雅黑" pitchFamily="34" charset="-122"/>
            </a:endParaRPr>
          </a:p>
        </p:txBody>
      </p:sp>
      <p:sp>
        <p:nvSpPr>
          <p:cNvPr id="29" name="TextBox 25">
            <a:extLst>
              <a:ext uri="{FF2B5EF4-FFF2-40B4-BE49-F238E27FC236}">
                <a16:creationId xmlns:a16="http://schemas.microsoft.com/office/drawing/2014/main" id="{0C411190-F1C8-471D-A5B9-6145AE2B1BCC}"/>
              </a:ext>
            </a:extLst>
          </p:cNvPr>
          <p:cNvSpPr txBox="1"/>
          <p:nvPr/>
        </p:nvSpPr>
        <p:spPr>
          <a:xfrm>
            <a:off x="850369" y="4561839"/>
            <a:ext cx="858447" cy="492344"/>
          </a:xfrm>
          <a:prstGeom prst="rect">
            <a:avLst/>
          </a:prstGeom>
          <a:noFill/>
          <a:ln>
            <a:noFill/>
          </a:ln>
        </p:spPr>
        <p:txBody>
          <a:bodyPr wrap="none" lIns="91440" tIns="45720" rIns="91440" bIns="45720" anchor="ctr"/>
          <a:lstStyle>
            <a:defPPr>
              <a:defRPr lang="zh-CN"/>
            </a:defPPr>
            <a:lvl1pPr algn="ctr">
              <a:defRPr sz="2000" kern="0">
                <a:solidFill>
                  <a:srgbClr val="FFFFFF"/>
                </a:solidFill>
                <a:latin typeface="微软雅黑" pitchFamily="34" charset="-122"/>
                <a:ea typeface="微软雅黑" pitchFamily="34" charset="-122"/>
              </a:defRPr>
            </a:lvl1pPr>
          </a:lstStyle>
          <a:p>
            <a:pPr marL="0" marR="0" lvl="0" indent="0" algn="ctr" defTabSz="457189"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noProof="0" dirty="0">
                <a:ln>
                  <a:noFill/>
                </a:ln>
                <a:solidFill>
                  <a:srgbClr val="FFFFFF"/>
                </a:solidFill>
                <a:effectLst/>
                <a:uLnTx/>
                <a:uFillTx/>
                <a:latin typeface="Calibri" panose="020F0502020204030204" pitchFamily="34" charset="0"/>
                <a:ea typeface="微软雅黑" pitchFamily="34" charset="-122"/>
              </a:rPr>
              <a:t>Mn-</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noProof="0" dirty="0">
                <a:ln>
                  <a:noFill/>
                </a:ln>
                <a:solidFill>
                  <a:srgbClr val="FFFFFF"/>
                </a:solidFill>
                <a:effectLst/>
                <a:uLnTx/>
                <a:uFillTx/>
                <a:latin typeface="Calibri" panose="020F0502020204030204" pitchFamily="34" charset="0"/>
                <a:ea typeface="微软雅黑" pitchFamily="34" charset="-122"/>
              </a:rPr>
              <a:t>SOD</a:t>
            </a:r>
            <a:endParaRPr kumimoji="0" lang="zh-CN" altLang="en-US" sz="2400" b="1" i="0" u="none" strike="noStrike" kern="0" cap="none" spc="0" normalizeH="0" noProof="0" dirty="0">
              <a:ln>
                <a:noFill/>
              </a:ln>
              <a:solidFill>
                <a:srgbClr val="FFFFFF"/>
              </a:solidFill>
              <a:effectLst/>
              <a:uLnTx/>
              <a:uFillTx/>
              <a:latin typeface="Calibri" panose="020F0502020204030204" pitchFamily="34" charset="0"/>
              <a:ea typeface="微软雅黑" pitchFamily="34" charset="-122"/>
            </a:endParaRPr>
          </a:p>
        </p:txBody>
      </p:sp>
      <p:sp>
        <p:nvSpPr>
          <p:cNvPr id="3" name="文本框 2">
            <a:extLst>
              <a:ext uri="{FF2B5EF4-FFF2-40B4-BE49-F238E27FC236}">
                <a16:creationId xmlns:a16="http://schemas.microsoft.com/office/drawing/2014/main" id="{739A4C96-8A01-00CB-9716-8F56959C0576}"/>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
        <p:nvSpPr>
          <p:cNvPr id="4" name="文本框 3">
            <a:extLst>
              <a:ext uri="{FF2B5EF4-FFF2-40B4-BE49-F238E27FC236}">
                <a16:creationId xmlns:a16="http://schemas.microsoft.com/office/drawing/2014/main" id="{05B67AAF-FC5F-1967-4C65-EBF4D2EDC338}"/>
              </a:ext>
            </a:extLst>
          </p:cNvPr>
          <p:cNvSpPr txBox="1"/>
          <p:nvPr/>
        </p:nvSpPr>
        <p:spPr>
          <a:xfrm>
            <a:off x="695400" y="260648"/>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mj-lt"/>
                <a:ea typeface="黑体" panose="02010609060101010101" pitchFamily="49" charset="-122"/>
                <a:cs typeface="+mn-cs"/>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的介绍与分类</a:t>
            </a:r>
          </a:p>
        </p:txBody>
      </p:sp>
      <p:sp>
        <p:nvSpPr>
          <p:cNvPr id="5" name="文本框 4">
            <a:extLst>
              <a:ext uri="{FF2B5EF4-FFF2-40B4-BE49-F238E27FC236}">
                <a16:creationId xmlns:a16="http://schemas.microsoft.com/office/drawing/2014/main" id="{9526E0F1-BCB7-7184-5E34-1CEC64F6EC1A}"/>
              </a:ext>
            </a:extLst>
          </p:cNvPr>
          <p:cNvSpPr txBox="1"/>
          <p:nvPr/>
        </p:nvSpPr>
        <p:spPr>
          <a:xfrm>
            <a:off x="695400" y="939207"/>
            <a:ext cx="3716082"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300" normalizeH="0" baseline="0" noProof="0" dirty="0">
                <a:ln>
                  <a:noFill/>
                </a:ln>
                <a:solidFill>
                  <a:prstClr val="black"/>
                </a:solidFill>
                <a:effectLst/>
                <a:uLnTx/>
                <a:uFillTx/>
                <a:latin typeface="Calibri"/>
                <a:ea typeface="宋体" panose="02010600030101010101" pitchFamily="2" charset="-122"/>
                <a:cs typeface="+mn-cs"/>
              </a:rPr>
              <a:t>Introduction and Classification of SOD</a:t>
            </a:r>
          </a:p>
        </p:txBody>
      </p:sp>
      <p:pic>
        <p:nvPicPr>
          <p:cNvPr id="30" name="图片 29" descr="普济生物医药集团公布超氧化物歧化酶（SOD）四种类型结构图_学术与科普_企业博客">
            <a:extLst>
              <a:ext uri="{FF2B5EF4-FFF2-40B4-BE49-F238E27FC236}">
                <a16:creationId xmlns:a16="http://schemas.microsoft.com/office/drawing/2014/main" id="{D4081B99-4BDB-B368-D02B-0A3241385E7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824192" y="887063"/>
            <a:ext cx="3827810" cy="2109889"/>
          </a:xfrm>
          <a:prstGeom prst="rect">
            <a:avLst/>
          </a:prstGeom>
          <a:noFill/>
          <a:ln>
            <a:noFill/>
          </a:ln>
        </p:spPr>
      </p:pic>
      <p:pic>
        <p:nvPicPr>
          <p:cNvPr id="31" name="图片 30" descr="普济生物医药集团公布超氧化物歧化酶（SOD）四种类型结构图_学术与科普_企业博客">
            <a:extLst>
              <a:ext uri="{FF2B5EF4-FFF2-40B4-BE49-F238E27FC236}">
                <a16:creationId xmlns:a16="http://schemas.microsoft.com/office/drawing/2014/main" id="{6040EF2A-7A6A-E920-2AAD-26ABF96A3ECE}"/>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976320" y="3618399"/>
            <a:ext cx="2696442" cy="2766549"/>
          </a:xfrm>
          <a:prstGeom prst="rect">
            <a:avLst/>
          </a:prstGeom>
          <a:noFill/>
          <a:ln>
            <a:noFill/>
          </a:ln>
        </p:spPr>
      </p:pic>
    </p:spTree>
    <p:extLst>
      <p:ext uri="{BB962C8B-B14F-4D97-AF65-F5344CB8AC3E}">
        <p14:creationId xmlns:p14="http://schemas.microsoft.com/office/powerpoint/2010/main" val="116306433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ppt_x"/>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1000"/>
                                        <p:tgtEl>
                                          <p:spTgt spid="28"/>
                                        </p:tgtEl>
                                      </p:cBhvr>
                                    </p:animEffect>
                                    <p:anim calcmode="lin" valueType="num">
                                      <p:cBhvr>
                                        <p:cTn id="30" dur="1000" fill="hold"/>
                                        <p:tgtEl>
                                          <p:spTgt spid="28"/>
                                        </p:tgtEl>
                                        <p:attrNameLst>
                                          <p:attrName>ppt_x</p:attrName>
                                        </p:attrNameLst>
                                      </p:cBhvr>
                                      <p:tavLst>
                                        <p:tav tm="0">
                                          <p:val>
                                            <p:strVal val="#ppt_x"/>
                                          </p:val>
                                        </p:tav>
                                        <p:tav tm="100000">
                                          <p:val>
                                            <p:strVal val="#ppt_x"/>
                                          </p:val>
                                        </p:tav>
                                      </p:tavLst>
                                    </p:anim>
                                    <p:anim calcmode="lin" valueType="num">
                                      <p:cBhvr>
                                        <p:cTn id="31" dur="1000" fill="hold"/>
                                        <p:tgtEl>
                                          <p:spTgt spid="2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1000"/>
                                        <p:tgtEl>
                                          <p:spTgt spid="29"/>
                                        </p:tgtEl>
                                      </p:cBhvr>
                                    </p:animEffect>
                                    <p:anim calcmode="lin" valueType="num">
                                      <p:cBhvr>
                                        <p:cTn id="35" dur="1000" fill="hold"/>
                                        <p:tgtEl>
                                          <p:spTgt spid="29"/>
                                        </p:tgtEl>
                                        <p:attrNameLst>
                                          <p:attrName>ppt_x</p:attrName>
                                        </p:attrNameLst>
                                      </p:cBhvr>
                                      <p:tavLst>
                                        <p:tav tm="0">
                                          <p:val>
                                            <p:strVal val="#ppt_x"/>
                                          </p:val>
                                        </p:tav>
                                        <p:tav tm="100000">
                                          <p:val>
                                            <p:strVal val="#ppt_x"/>
                                          </p:val>
                                        </p:tav>
                                      </p:tavLst>
                                    </p:anim>
                                    <p:anim calcmode="lin" valueType="num">
                                      <p:cBhvr>
                                        <p:cTn id="36" dur="1000" fill="hold"/>
                                        <p:tgtEl>
                                          <p:spTgt spid="29"/>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1000"/>
                                        <p:tgtEl>
                                          <p:spTgt spid="25"/>
                                        </p:tgtEl>
                                      </p:cBhvr>
                                    </p:animEffect>
                                    <p:anim calcmode="lin" valueType="num">
                                      <p:cBhvr>
                                        <p:cTn id="45" dur="1000" fill="hold"/>
                                        <p:tgtEl>
                                          <p:spTgt spid="25"/>
                                        </p:tgtEl>
                                        <p:attrNameLst>
                                          <p:attrName>ppt_x</p:attrName>
                                        </p:attrNameLst>
                                      </p:cBhvr>
                                      <p:tavLst>
                                        <p:tav tm="0">
                                          <p:val>
                                            <p:strVal val="#ppt_x"/>
                                          </p:val>
                                        </p:tav>
                                        <p:tav tm="100000">
                                          <p:val>
                                            <p:strVal val="#ppt_x"/>
                                          </p:val>
                                        </p:tav>
                                      </p:tavLst>
                                    </p:anim>
                                    <p:anim calcmode="lin" valueType="num">
                                      <p:cBhvr>
                                        <p:cTn id="46" dur="1000" fill="hold"/>
                                        <p:tgtEl>
                                          <p:spTgt spid="2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1000"/>
                                        <p:tgtEl>
                                          <p:spTgt spid="31"/>
                                        </p:tgtEl>
                                      </p:cBhvr>
                                    </p:animEffect>
                                    <p:anim calcmode="lin" valueType="num">
                                      <p:cBhvr>
                                        <p:cTn id="50" dur="1000" fill="hold"/>
                                        <p:tgtEl>
                                          <p:spTgt spid="31"/>
                                        </p:tgtEl>
                                        <p:attrNameLst>
                                          <p:attrName>ppt_x</p:attrName>
                                        </p:attrNameLst>
                                      </p:cBhvr>
                                      <p:tavLst>
                                        <p:tav tm="0">
                                          <p:val>
                                            <p:strVal val="#ppt_x"/>
                                          </p:val>
                                        </p:tav>
                                        <p:tav tm="100000">
                                          <p:val>
                                            <p:strVal val="#ppt_x"/>
                                          </p:val>
                                        </p:tav>
                                      </p:tavLst>
                                    </p:anim>
                                    <p:anim calcmode="lin" valueType="num">
                                      <p:cBhvr>
                                        <p:cTn id="5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animBg="1"/>
      <p:bldP spid="27" grpId="0"/>
      <p:bldP spid="28" grpId="0" animBg="1"/>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D4A6340-60AD-7613-2458-D8EC2CFB8212}"/>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BFCB453F-389D-B617-66FF-E82D89248EA8}"/>
              </a:ext>
            </a:extLst>
          </p:cNvPr>
          <p:cNvGrpSpPr/>
          <p:nvPr/>
        </p:nvGrpSpPr>
        <p:grpSpPr>
          <a:xfrm>
            <a:off x="0" y="374221"/>
            <a:ext cx="3575720" cy="792088"/>
            <a:chOff x="0" y="374221"/>
            <a:chExt cx="3575720" cy="792088"/>
          </a:xfrm>
        </p:grpSpPr>
        <p:sp>
          <p:nvSpPr>
            <p:cNvPr id="7" name="矩形 6">
              <a:extLst>
                <a:ext uri="{FF2B5EF4-FFF2-40B4-BE49-F238E27FC236}">
                  <a16:creationId xmlns:a16="http://schemas.microsoft.com/office/drawing/2014/main" id="{3545089F-AEC7-A9F2-4F6F-AFBC9A83FA40}"/>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cxnSp>
          <p:nvCxnSpPr>
            <p:cNvPr id="10" name="直接连接符 9">
              <a:extLst>
                <a:ext uri="{FF2B5EF4-FFF2-40B4-BE49-F238E27FC236}">
                  <a16:creationId xmlns:a16="http://schemas.microsoft.com/office/drawing/2014/main" id="{6004BAD6-814D-FA19-F945-DECA1169A740}"/>
                </a:ext>
              </a:extLst>
            </p:cNvPr>
            <p:cNvCxnSpPr/>
            <p:nvPr/>
          </p:nvCxnSpPr>
          <p:spPr>
            <a:xfrm>
              <a:off x="695400" y="939207"/>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118C9D5D-DE9E-0A4F-2F02-78188B015CB8}"/>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C04E2F5C-8232-EF04-5C43-930FE214918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44181946-1A6E-58E2-7CDD-098EE446E3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49BDEFF2-707B-CEA5-FA23-48DE6A890AAA}"/>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7" name="图片 16">
            <a:extLst>
              <a:ext uri="{FF2B5EF4-FFF2-40B4-BE49-F238E27FC236}">
                <a16:creationId xmlns:a16="http://schemas.microsoft.com/office/drawing/2014/main" id="{39A55658-BDE9-26C9-CC05-C6E678A49EB3}"/>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grpSp>
        <p:nvGrpSpPr>
          <p:cNvPr id="18" name="组合 17">
            <a:extLst>
              <a:ext uri="{FF2B5EF4-FFF2-40B4-BE49-F238E27FC236}">
                <a16:creationId xmlns:a16="http://schemas.microsoft.com/office/drawing/2014/main" id="{0E0A5983-9A71-63A1-B6D4-C188A8EDEAA0}"/>
              </a:ext>
            </a:extLst>
          </p:cNvPr>
          <p:cNvGrpSpPr/>
          <p:nvPr/>
        </p:nvGrpSpPr>
        <p:grpSpPr>
          <a:xfrm>
            <a:off x="2203922" y="1711714"/>
            <a:ext cx="4108102" cy="465118"/>
            <a:chOff x="3002037" y="1465798"/>
            <a:chExt cx="5870529" cy="369332"/>
          </a:xfrm>
          <a:solidFill>
            <a:srgbClr val="0D6482"/>
          </a:solidFill>
        </p:grpSpPr>
        <p:sp>
          <p:nvSpPr>
            <p:cNvPr id="19" name="矩形 18">
              <a:extLst>
                <a:ext uri="{FF2B5EF4-FFF2-40B4-BE49-F238E27FC236}">
                  <a16:creationId xmlns:a16="http://schemas.microsoft.com/office/drawing/2014/main" id="{7ADD8D1E-C651-E2D6-9090-C1C1AF22D33B}"/>
                </a:ext>
              </a:extLst>
            </p:cNvPr>
            <p:cNvSpPr/>
            <p:nvPr/>
          </p:nvSpPr>
          <p:spPr bwMode="auto">
            <a:xfrm>
              <a:off x="3002037" y="1465798"/>
              <a:ext cx="5870529" cy="369332"/>
            </a:xfrm>
            <a:prstGeom prst="rect">
              <a:avLst/>
            </a:prstGeom>
            <a:solidFill>
              <a:srgbClr val="1669AB"/>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zh-CN" altLang="en-US" sz="2133" b="0" i="0" u="none" strike="noStrike" kern="0" cap="none" spc="0" normalizeH="0" baseline="0" noProof="0">
                <a:ln>
                  <a:noFill/>
                </a:ln>
                <a:solidFill>
                  <a:prstClr val="black"/>
                </a:solidFill>
                <a:effectLst/>
                <a:uLnTx/>
                <a:uFillTx/>
                <a:latin typeface="微软雅黑" pitchFamily="34" charset="-122"/>
                <a:ea typeface="微软雅黑" pitchFamily="34" charset="-122"/>
              </a:endParaRPr>
            </a:p>
          </p:txBody>
        </p:sp>
        <p:sp>
          <p:nvSpPr>
            <p:cNvPr id="20" name="TextBox 16">
              <a:extLst>
                <a:ext uri="{FF2B5EF4-FFF2-40B4-BE49-F238E27FC236}">
                  <a16:creationId xmlns:a16="http://schemas.microsoft.com/office/drawing/2014/main" id="{AFAC240C-A189-E02B-23E8-05443F13285C}"/>
                </a:ext>
              </a:extLst>
            </p:cNvPr>
            <p:cNvSpPr txBox="1"/>
            <p:nvPr/>
          </p:nvSpPr>
          <p:spPr>
            <a:xfrm>
              <a:off x="3033223" y="1474123"/>
              <a:ext cx="4209493" cy="333953"/>
            </a:xfrm>
            <a:prstGeom prst="rect">
              <a:avLst/>
            </a:prstGeom>
            <a:solidFill>
              <a:srgbClr val="1669AB"/>
            </a:solidFill>
          </p:spPr>
          <p:txBody>
            <a:bodyPr wrap="squar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zh-CN" altLang="en-US" sz="2133" b="0" i="0" u="none" strike="noStrike" kern="0" cap="none" spc="0" normalizeH="0" baseline="0" noProof="0" dirty="0">
                  <a:ln>
                    <a:noFill/>
                  </a:ln>
                  <a:solidFill>
                    <a:srgbClr val="F8F8F8"/>
                  </a:solidFill>
                  <a:effectLst/>
                  <a:uLnTx/>
                  <a:uFillTx/>
                  <a:latin typeface="微软雅黑" pitchFamily="34" charset="-122"/>
                  <a:ea typeface="微软雅黑" pitchFamily="34" charset="-122"/>
                </a:rPr>
                <a:t>细胞外的“防御盾”</a:t>
              </a:r>
            </a:p>
          </p:txBody>
        </p:sp>
      </p:grpSp>
      <p:grpSp>
        <p:nvGrpSpPr>
          <p:cNvPr id="21" name="组合 20">
            <a:extLst>
              <a:ext uri="{FF2B5EF4-FFF2-40B4-BE49-F238E27FC236}">
                <a16:creationId xmlns:a16="http://schemas.microsoft.com/office/drawing/2014/main" id="{ED4D5965-D7CB-A4A5-49E8-CABDEB3128EA}"/>
              </a:ext>
            </a:extLst>
          </p:cNvPr>
          <p:cNvGrpSpPr/>
          <p:nvPr/>
        </p:nvGrpSpPr>
        <p:grpSpPr>
          <a:xfrm>
            <a:off x="2203921" y="3976140"/>
            <a:ext cx="4108103" cy="465119"/>
            <a:chOff x="3002037" y="3922395"/>
            <a:chExt cx="7067433" cy="369332"/>
          </a:xfrm>
          <a:solidFill>
            <a:srgbClr val="1669AB"/>
          </a:solidFill>
        </p:grpSpPr>
        <p:sp>
          <p:nvSpPr>
            <p:cNvPr id="22" name="矩形 21">
              <a:extLst>
                <a:ext uri="{FF2B5EF4-FFF2-40B4-BE49-F238E27FC236}">
                  <a16:creationId xmlns:a16="http://schemas.microsoft.com/office/drawing/2014/main" id="{36563706-870C-D3E2-4B20-6A721F79E0E4}"/>
                </a:ext>
              </a:extLst>
            </p:cNvPr>
            <p:cNvSpPr/>
            <p:nvPr/>
          </p:nvSpPr>
          <p:spPr bwMode="auto">
            <a:xfrm>
              <a:off x="3002037" y="3922395"/>
              <a:ext cx="7067433" cy="369332"/>
            </a:xfrm>
            <a:prstGeom prst="rect">
              <a:avLst/>
            </a:prstGeom>
            <a:grp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lvl="0" indent="0" defTabSz="457189" eaLnBrk="1" fontAlgn="base" latinLnBrk="0" hangingPunct="1">
                <a:lnSpc>
                  <a:spcPct val="100000"/>
                </a:lnSpc>
                <a:spcBef>
                  <a:spcPct val="0"/>
                </a:spcBef>
                <a:spcAft>
                  <a:spcPct val="0"/>
                </a:spcAft>
                <a:buClrTx/>
                <a:buSzTx/>
                <a:buFontTx/>
                <a:buNone/>
                <a:tabLst/>
                <a:defRPr/>
              </a:pPr>
              <a:endParaRPr kumimoji="0" lang="zh-CN" altLang="en-US" sz="2133" b="0" i="0" u="none" strike="noStrike" kern="0" cap="none" spc="0" normalizeH="0" baseline="0" noProof="0" dirty="0">
                <a:ln>
                  <a:noFill/>
                </a:ln>
                <a:solidFill>
                  <a:prstClr val="black"/>
                </a:solidFill>
                <a:effectLst/>
                <a:uLnTx/>
                <a:uFillTx/>
                <a:latin typeface="微软雅黑" pitchFamily="34" charset="-122"/>
                <a:ea typeface="微软雅黑" pitchFamily="34" charset="-122"/>
              </a:endParaRPr>
            </a:p>
          </p:txBody>
        </p:sp>
        <p:sp>
          <p:nvSpPr>
            <p:cNvPr id="23" name="TextBox 19">
              <a:extLst>
                <a:ext uri="{FF2B5EF4-FFF2-40B4-BE49-F238E27FC236}">
                  <a16:creationId xmlns:a16="http://schemas.microsoft.com/office/drawing/2014/main" id="{CAE9CBC9-49B1-883D-B99E-9BBE280E1E1B}"/>
                </a:ext>
              </a:extLst>
            </p:cNvPr>
            <p:cNvSpPr txBox="1"/>
            <p:nvPr/>
          </p:nvSpPr>
          <p:spPr>
            <a:xfrm>
              <a:off x="3023808" y="3939647"/>
              <a:ext cx="6797902" cy="333953"/>
            </a:xfrm>
            <a:prstGeom prst="rect">
              <a:avLst/>
            </a:prstGeom>
            <a:grpFill/>
          </p:spPr>
          <p:txBody>
            <a:bodyPr wrap="square" rtlCol="0">
              <a:spAutoFit/>
            </a:bodyPr>
            <a:lstStyle/>
            <a:p>
              <a:pPr marL="0" marR="0" lvl="0" indent="0" defTabSz="457189" eaLnBrk="1" fontAlgn="auto" latinLnBrk="0" hangingPunct="1">
                <a:lnSpc>
                  <a:spcPct val="100000"/>
                </a:lnSpc>
                <a:spcBef>
                  <a:spcPts val="0"/>
                </a:spcBef>
                <a:spcAft>
                  <a:spcPts val="0"/>
                </a:spcAft>
                <a:buClrTx/>
                <a:buSzTx/>
                <a:buFontTx/>
                <a:buNone/>
                <a:tabLst/>
                <a:defRPr/>
              </a:pPr>
              <a:r>
                <a:rPr kumimoji="0" lang="zh-CN" altLang="en-US" sz="2133" b="0" i="0" u="none" strike="noStrike" kern="0" cap="none" spc="0" normalizeH="0" baseline="0" noProof="0" dirty="0">
                  <a:ln>
                    <a:noFill/>
                  </a:ln>
                  <a:solidFill>
                    <a:srgbClr val="F8F8F8"/>
                  </a:solidFill>
                  <a:effectLst/>
                  <a:uLnTx/>
                  <a:uFillTx/>
                  <a:latin typeface="微软雅黑" pitchFamily="34" charset="-122"/>
                  <a:ea typeface="微软雅黑" pitchFamily="34" charset="-122"/>
                </a:rPr>
                <a:t>原核与植物的“特殊成员”</a:t>
              </a:r>
            </a:p>
          </p:txBody>
        </p:sp>
      </p:grpSp>
      <p:sp>
        <p:nvSpPr>
          <p:cNvPr id="24" name="TextBox 20">
            <a:extLst>
              <a:ext uri="{FF2B5EF4-FFF2-40B4-BE49-F238E27FC236}">
                <a16:creationId xmlns:a16="http://schemas.microsoft.com/office/drawing/2014/main" id="{362BB157-6258-D904-D871-27E00FA4ACF6}"/>
              </a:ext>
            </a:extLst>
          </p:cNvPr>
          <p:cNvSpPr txBox="1"/>
          <p:nvPr/>
        </p:nvSpPr>
        <p:spPr>
          <a:xfrm>
            <a:off x="2203921" y="2276872"/>
            <a:ext cx="9940751" cy="1497654"/>
          </a:xfrm>
          <a:prstGeom prst="rect">
            <a:avLst/>
          </a:prstGeom>
          <a:noFill/>
        </p:spPr>
        <p:txBody>
          <a:bodyPr wrap="square" lIns="91440" tIns="45720" rIns="91440" bIns="45720" rtlCol="0">
            <a:spAutoFit/>
          </a:bodyPr>
          <a:lstStyle/>
          <a:p>
            <a:pPr defTabSz="457189">
              <a:lnSpc>
                <a:spcPct val="130000"/>
              </a:lnSpc>
            </a:pPr>
            <a:r>
              <a:rPr lang="en-US" altLang="zh-CN" dirty="0">
                <a:solidFill>
                  <a:prstClr val="black"/>
                </a:solidFill>
                <a:latin typeface="Calibri" panose="020F0502020204030204" pitchFamily="34" charset="0"/>
                <a:ea typeface="微软雅黑" pitchFamily="34" charset="-122"/>
              </a:rPr>
              <a:t>- </a:t>
            </a:r>
            <a:r>
              <a:rPr lang="zh-CN" altLang="en-US" dirty="0">
                <a:solidFill>
                  <a:prstClr val="black"/>
                </a:solidFill>
                <a:latin typeface="Calibri" panose="020F0502020204030204" pitchFamily="34" charset="0"/>
                <a:ea typeface="微软雅黑" pitchFamily="34" charset="-122"/>
              </a:rPr>
              <a:t>分布：细胞外液（血浆、淋巴液、滑液）及细胞外基质；</a:t>
            </a:r>
          </a:p>
          <a:p>
            <a:pPr defTabSz="457189">
              <a:lnSpc>
                <a:spcPct val="130000"/>
              </a:lnSpc>
            </a:pPr>
            <a:r>
              <a:rPr lang="en-US" altLang="zh-CN" dirty="0">
                <a:solidFill>
                  <a:prstClr val="black"/>
                </a:solidFill>
                <a:latin typeface="Calibri" panose="020F0502020204030204" pitchFamily="34" charset="0"/>
                <a:ea typeface="微软雅黑" pitchFamily="34" charset="-122"/>
              </a:rPr>
              <a:t>- </a:t>
            </a:r>
            <a:r>
              <a:rPr lang="zh-CN" altLang="en-US" dirty="0">
                <a:solidFill>
                  <a:prstClr val="black"/>
                </a:solidFill>
                <a:latin typeface="Calibri" panose="020F0502020204030204" pitchFamily="34" charset="0"/>
                <a:ea typeface="微软雅黑" pitchFamily="34" charset="-122"/>
              </a:rPr>
              <a:t>结构：糖蛋白四聚体，结构与</a:t>
            </a:r>
            <a:r>
              <a:rPr lang="en-US" altLang="zh-CN" dirty="0">
                <a:solidFill>
                  <a:prstClr val="black"/>
                </a:solidFill>
                <a:latin typeface="Calibri" panose="020F0502020204030204" pitchFamily="34" charset="0"/>
                <a:ea typeface="微软雅黑" pitchFamily="34" charset="-122"/>
              </a:rPr>
              <a:t>Cu/Zn-SOD</a:t>
            </a:r>
            <a:r>
              <a:rPr lang="zh-CN" altLang="en-US" dirty="0">
                <a:solidFill>
                  <a:prstClr val="black"/>
                </a:solidFill>
                <a:latin typeface="Calibri" panose="020F0502020204030204" pitchFamily="34" charset="0"/>
                <a:ea typeface="微软雅黑" pitchFamily="34" charset="-122"/>
              </a:rPr>
              <a:t>相似，但含肝素结合域（可锚定在细胞表面及基质）；</a:t>
            </a:r>
          </a:p>
          <a:p>
            <a:pPr defTabSz="457189">
              <a:lnSpc>
                <a:spcPct val="130000"/>
              </a:lnSpc>
            </a:pPr>
            <a:r>
              <a:rPr lang="en-US" altLang="zh-CN" dirty="0">
                <a:solidFill>
                  <a:prstClr val="black"/>
                </a:solidFill>
                <a:latin typeface="Calibri" panose="020F0502020204030204" pitchFamily="34" charset="0"/>
                <a:ea typeface="微软雅黑" pitchFamily="34" charset="-122"/>
              </a:rPr>
              <a:t>- </a:t>
            </a:r>
            <a:r>
              <a:rPr lang="zh-CN" altLang="en-US" dirty="0">
                <a:solidFill>
                  <a:prstClr val="black"/>
                </a:solidFill>
                <a:latin typeface="Calibri" panose="020F0502020204030204" pitchFamily="34" charset="0"/>
                <a:ea typeface="微软雅黑" pitchFamily="34" charset="-122"/>
              </a:rPr>
              <a:t>特点：作为细胞外抗氧化屏障，特异性保护皮肤、关节等组织免受外源性氧化应激（如紫外线、炎症因子）。</a:t>
            </a:r>
          </a:p>
        </p:txBody>
      </p:sp>
      <p:sp>
        <p:nvSpPr>
          <p:cNvPr id="25" name="TextBox 21">
            <a:extLst>
              <a:ext uri="{FF2B5EF4-FFF2-40B4-BE49-F238E27FC236}">
                <a16:creationId xmlns:a16="http://schemas.microsoft.com/office/drawing/2014/main" id="{1010264F-612C-8A62-7A3A-E3D691E9C1F1}"/>
              </a:ext>
            </a:extLst>
          </p:cNvPr>
          <p:cNvSpPr txBox="1"/>
          <p:nvPr/>
        </p:nvSpPr>
        <p:spPr>
          <a:xfrm>
            <a:off x="2203921" y="4648841"/>
            <a:ext cx="8860631" cy="1253677"/>
          </a:xfrm>
          <a:prstGeom prst="rect">
            <a:avLst/>
          </a:prstGeom>
          <a:noFill/>
        </p:spPr>
        <p:txBody>
          <a:bodyPr wrap="square" lIns="91440" tIns="45720" rIns="91440" bIns="45720" rtlCol="0">
            <a:spAutoFit/>
          </a:bodyPr>
          <a:lstStyle/>
          <a:p>
            <a:pPr defTabSz="457189">
              <a:lnSpc>
                <a:spcPct val="130000"/>
              </a:lnSpc>
            </a:pPr>
            <a:r>
              <a:rPr lang="en-US" altLang="zh-CN" sz="2000" dirty="0">
                <a:solidFill>
                  <a:prstClr val="black"/>
                </a:solidFill>
                <a:latin typeface="Calibri" panose="020F0502020204030204" pitchFamily="34" charset="0"/>
                <a:ea typeface="微软雅黑" pitchFamily="34" charset="-122"/>
              </a:rPr>
              <a:t>- </a:t>
            </a:r>
            <a:r>
              <a:rPr lang="zh-CN" altLang="en-US" sz="2000" dirty="0">
                <a:solidFill>
                  <a:prstClr val="black"/>
                </a:solidFill>
                <a:latin typeface="Calibri" panose="020F0502020204030204" pitchFamily="34" charset="0"/>
                <a:ea typeface="微软雅黑" pitchFamily="34" charset="-122"/>
              </a:rPr>
              <a:t>分布：原核生物（如细菌）及少数植物叶绿体；</a:t>
            </a:r>
          </a:p>
          <a:p>
            <a:pPr defTabSz="457189">
              <a:lnSpc>
                <a:spcPct val="130000"/>
              </a:lnSpc>
            </a:pPr>
            <a:r>
              <a:rPr lang="en-US" altLang="zh-CN" sz="2000" dirty="0">
                <a:solidFill>
                  <a:prstClr val="black"/>
                </a:solidFill>
                <a:latin typeface="Calibri" panose="020F0502020204030204" pitchFamily="34" charset="0"/>
                <a:ea typeface="微软雅黑" pitchFamily="34" charset="-122"/>
              </a:rPr>
              <a:t>- </a:t>
            </a:r>
            <a:r>
              <a:rPr lang="zh-CN" altLang="en-US" sz="2000" dirty="0">
                <a:solidFill>
                  <a:prstClr val="black"/>
                </a:solidFill>
                <a:latin typeface="Calibri" panose="020F0502020204030204" pitchFamily="34" charset="0"/>
                <a:ea typeface="微软雅黑" pitchFamily="34" charset="-122"/>
              </a:rPr>
              <a:t>结构：同型二聚体或四聚体，每个亚基含</a:t>
            </a:r>
            <a:r>
              <a:rPr lang="en-US" altLang="zh-CN" sz="2000" dirty="0">
                <a:solidFill>
                  <a:prstClr val="black"/>
                </a:solidFill>
                <a:latin typeface="Calibri" panose="020F0502020204030204" pitchFamily="34" charset="0"/>
                <a:ea typeface="微软雅黑" pitchFamily="34" charset="-122"/>
              </a:rPr>
              <a:t>1</a:t>
            </a:r>
            <a:r>
              <a:rPr lang="zh-CN" altLang="en-US" sz="2000" dirty="0">
                <a:solidFill>
                  <a:prstClr val="black"/>
                </a:solidFill>
                <a:latin typeface="Calibri" panose="020F0502020204030204" pitchFamily="34" charset="0"/>
                <a:ea typeface="微软雅黑" pitchFamily="34" charset="-122"/>
              </a:rPr>
              <a:t>个铁（</a:t>
            </a:r>
            <a:r>
              <a:rPr lang="en-US" altLang="zh-CN" sz="2000" dirty="0">
                <a:solidFill>
                  <a:prstClr val="black"/>
                </a:solidFill>
                <a:latin typeface="Calibri" panose="020F0502020204030204" pitchFamily="34" charset="0"/>
                <a:ea typeface="微软雅黑" pitchFamily="34" charset="-122"/>
              </a:rPr>
              <a:t>Fe</a:t>
            </a:r>
            <a:r>
              <a:rPr lang="zh-CN" altLang="en-US" sz="2000" dirty="0">
                <a:solidFill>
                  <a:prstClr val="black"/>
                </a:solidFill>
                <a:latin typeface="Calibri" panose="020F0502020204030204" pitchFamily="34" charset="0"/>
                <a:ea typeface="微软雅黑" pitchFamily="34" charset="-122"/>
              </a:rPr>
              <a:t>）原子，纯品呈黄褐色；</a:t>
            </a:r>
          </a:p>
          <a:p>
            <a:pPr defTabSz="457189">
              <a:lnSpc>
                <a:spcPct val="130000"/>
              </a:lnSpc>
            </a:pPr>
            <a:r>
              <a:rPr lang="en-US" altLang="zh-CN" sz="2000" dirty="0">
                <a:solidFill>
                  <a:prstClr val="black"/>
                </a:solidFill>
                <a:latin typeface="Calibri" panose="020F0502020204030204" pitchFamily="34" charset="0"/>
                <a:ea typeface="微软雅黑" pitchFamily="34" charset="-122"/>
              </a:rPr>
              <a:t>- </a:t>
            </a:r>
            <a:r>
              <a:rPr lang="zh-CN" altLang="en-US" sz="2000" dirty="0">
                <a:solidFill>
                  <a:prstClr val="black"/>
                </a:solidFill>
                <a:latin typeface="Calibri" panose="020F0502020204030204" pitchFamily="34" charset="0"/>
                <a:ea typeface="微软雅黑" pitchFamily="34" charset="-122"/>
              </a:rPr>
              <a:t>特点：主要存在于非哺乳生物中，参与光合作用及细菌的氧代谢调控。</a:t>
            </a:r>
          </a:p>
        </p:txBody>
      </p:sp>
      <p:sp>
        <p:nvSpPr>
          <p:cNvPr id="26" name="等腰三角形 2">
            <a:extLst>
              <a:ext uri="{FF2B5EF4-FFF2-40B4-BE49-F238E27FC236}">
                <a16:creationId xmlns:a16="http://schemas.microsoft.com/office/drawing/2014/main" id="{89781A13-ABE9-2B6A-E311-E2E75FCCAD25}"/>
              </a:ext>
            </a:extLst>
          </p:cNvPr>
          <p:cNvSpPr/>
          <p:nvPr/>
        </p:nvSpPr>
        <p:spPr bwMode="auto">
          <a:xfrm rot="2747878">
            <a:off x="683757" y="1655234"/>
            <a:ext cx="1323028" cy="1530812"/>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rgbClr val="1669AB"/>
          </a:solidFill>
          <a:ln>
            <a:noFill/>
          </a:ln>
        </p:spPr>
        <p:txBody>
          <a:bodyPr wrap="none" lIns="91440" tIns="45720" rIns="91440" bIns="4572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zh-CN" altLang="en-US" sz="1467" b="0"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sp>
        <p:nvSpPr>
          <p:cNvPr id="27" name="TextBox 23">
            <a:extLst>
              <a:ext uri="{FF2B5EF4-FFF2-40B4-BE49-F238E27FC236}">
                <a16:creationId xmlns:a16="http://schemas.microsoft.com/office/drawing/2014/main" id="{4E516B7C-C3A9-9309-5891-1E9E94D717E9}"/>
              </a:ext>
            </a:extLst>
          </p:cNvPr>
          <p:cNvSpPr txBox="1"/>
          <p:nvPr/>
        </p:nvSpPr>
        <p:spPr>
          <a:xfrm>
            <a:off x="839765" y="2142761"/>
            <a:ext cx="858447" cy="782183"/>
          </a:xfrm>
          <a:prstGeom prst="rect">
            <a:avLst/>
          </a:prstGeom>
          <a:noFill/>
          <a:ln>
            <a:noFill/>
          </a:ln>
        </p:spPr>
        <p:txBody>
          <a:bodyPr wrap="none" lIns="91440" tIns="45720" rIns="91440" bIns="45720" anchor="ctr"/>
          <a:lstStyle>
            <a:defPPr>
              <a:defRPr lang="zh-CN"/>
            </a:defPPr>
            <a:lvl1pPr algn="ctr">
              <a:defRPr sz="2000" kern="0">
                <a:solidFill>
                  <a:srgbClr val="FFFFFF"/>
                </a:solidFill>
                <a:latin typeface="微软雅黑" pitchFamily="34" charset="-122"/>
                <a:ea typeface="微软雅黑" pitchFamily="34" charset="-122"/>
              </a:defRPr>
            </a:lvl1pPr>
          </a:lstStyle>
          <a:p>
            <a:pPr marL="0" marR="0" lvl="0" indent="0" algn="ctr" defTabSz="457189" eaLnBrk="1" fontAlgn="auto" latinLnBrk="0" hangingPunct="1">
              <a:lnSpc>
                <a:spcPct val="100000"/>
              </a:lnSpc>
              <a:spcBef>
                <a:spcPts val="0"/>
              </a:spcBef>
              <a:spcAft>
                <a:spcPts val="0"/>
              </a:spcAft>
              <a:buClrTx/>
              <a:buSzTx/>
              <a:buFontTx/>
              <a:buNone/>
              <a:tabLst/>
              <a:defRPr/>
            </a:pPr>
            <a:r>
              <a:rPr lang="en-US" altLang="zh-CN" sz="2800" b="1" dirty="0">
                <a:latin typeface="Calibri" panose="020F0502020204030204" pitchFamily="34" charset="0"/>
                <a:ea typeface="Calibri" panose="020F0502020204030204" pitchFamily="34" charset="0"/>
                <a:cs typeface="Calibri" panose="020F0502020204030204" pitchFamily="34" charset="0"/>
              </a:rPr>
              <a:t>EC-</a:t>
            </a:r>
          </a:p>
          <a:p>
            <a:pPr marL="0" marR="0" lvl="0" indent="0" algn="ctr" defTabSz="457189" eaLnBrk="1" fontAlgn="auto" latinLnBrk="0" hangingPunct="1">
              <a:lnSpc>
                <a:spcPct val="100000"/>
              </a:lnSpc>
              <a:spcBef>
                <a:spcPts val="0"/>
              </a:spcBef>
              <a:spcAft>
                <a:spcPts val="0"/>
              </a:spcAft>
              <a:buClrTx/>
              <a:buSzTx/>
              <a:buFontTx/>
              <a:buNone/>
              <a:tabLst/>
              <a:defRPr/>
            </a:pPr>
            <a:r>
              <a:rPr lang="en-US" altLang="zh-CN" sz="2800" b="1" dirty="0">
                <a:latin typeface="Calibri" panose="020F0502020204030204" pitchFamily="34" charset="0"/>
                <a:ea typeface="Calibri" panose="020F0502020204030204" pitchFamily="34" charset="0"/>
                <a:cs typeface="Calibri" panose="020F0502020204030204" pitchFamily="34" charset="0"/>
              </a:rPr>
              <a:t>SOD</a:t>
            </a:r>
          </a:p>
        </p:txBody>
      </p:sp>
      <p:sp>
        <p:nvSpPr>
          <p:cNvPr id="28" name="等腰三角形 2">
            <a:extLst>
              <a:ext uri="{FF2B5EF4-FFF2-40B4-BE49-F238E27FC236}">
                <a16:creationId xmlns:a16="http://schemas.microsoft.com/office/drawing/2014/main" id="{1D246F89-B1CE-827B-0D8F-E7D63E4E58C6}"/>
              </a:ext>
            </a:extLst>
          </p:cNvPr>
          <p:cNvSpPr/>
          <p:nvPr/>
        </p:nvSpPr>
        <p:spPr bwMode="auto">
          <a:xfrm rot="3036074">
            <a:off x="685185" y="3981757"/>
            <a:ext cx="1323031" cy="1530816"/>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solidFill>
            <a:srgbClr val="7F7F7F"/>
          </a:solidFill>
          <a:ln>
            <a:noFill/>
          </a:ln>
        </p:spPr>
        <p:txBody>
          <a:bodyPr wrap="none" lIns="91440" tIns="45720" rIns="91440" bIns="45720" anchor="ctr"/>
          <a:lstStyle/>
          <a:p>
            <a:pPr marL="0" marR="0" lvl="0" indent="0" algn="ctr" defTabSz="457189" eaLnBrk="1" fontAlgn="auto" latinLnBrk="0" hangingPunct="1">
              <a:lnSpc>
                <a:spcPct val="100000"/>
              </a:lnSpc>
              <a:spcBef>
                <a:spcPts val="0"/>
              </a:spcBef>
              <a:spcAft>
                <a:spcPts val="0"/>
              </a:spcAft>
              <a:buClrTx/>
              <a:buSzTx/>
              <a:buFontTx/>
              <a:buNone/>
              <a:tabLst/>
              <a:defRPr/>
            </a:pPr>
            <a:endParaRPr kumimoji="0" lang="zh-CN" altLang="en-US" sz="1467" b="0" i="0" u="none" strike="noStrike" kern="0" cap="none" spc="0" normalizeH="0" baseline="0" noProof="0">
              <a:ln>
                <a:noFill/>
              </a:ln>
              <a:solidFill>
                <a:srgbClr val="FFFFFF"/>
              </a:solidFill>
              <a:effectLst/>
              <a:uLnTx/>
              <a:uFillTx/>
              <a:latin typeface="微软雅黑" pitchFamily="34" charset="-122"/>
              <a:ea typeface="微软雅黑" pitchFamily="34" charset="-122"/>
            </a:endParaRPr>
          </a:p>
        </p:txBody>
      </p:sp>
      <p:sp>
        <p:nvSpPr>
          <p:cNvPr id="29" name="TextBox 25">
            <a:extLst>
              <a:ext uri="{FF2B5EF4-FFF2-40B4-BE49-F238E27FC236}">
                <a16:creationId xmlns:a16="http://schemas.microsoft.com/office/drawing/2014/main" id="{0B16F62F-FA68-38E7-D3E6-0975257EE030}"/>
              </a:ext>
            </a:extLst>
          </p:cNvPr>
          <p:cNvSpPr txBox="1"/>
          <p:nvPr/>
        </p:nvSpPr>
        <p:spPr>
          <a:xfrm>
            <a:off x="850369" y="4561839"/>
            <a:ext cx="858447" cy="492344"/>
          </a:xfrm>
          <a:prstGeom prst="rect">
            <a:avLst/>
          </a:prstGeom>
          <a:noFill/>
          <a:ln>
            <a:noFill/>
          </a:ln>
        </p:spPr>
        <p:txBody>
          <a:bodyPr wrap="none" lIns="91440" tIns="45720" rIns="91440" bIns="45720" anchor="ctr"/>
          <a:lstStyle>
            <a:defPPr>
              <a:defRPr lang="zh-CN"/>
            </a:defPPr>
            <a:lvl1pPr algn="ctr">
              <a:defRPr sz="2000" kern="0">
                <a:solidFill>
                  <a:srgbClr val="FFFFFF"/>
                </a:solidFill>
                <a:latin typeface="微软雅黑" pitchFamily="34" charset="-122"/>
                <a:ea typeface="微软雅黑" pitchFamily="34" charset="-122"/>
              </a:defRPr>
            </a:lvl1pPr>
          </a:lstStyle>
          <a:p>
            <a:pPr marL="0" marR="0" lvl="0" indent="0" algn="ctr" defTabSz="457189" eaLnBrk="1" fontAlgn="auto" latinLnBrk="0" hangingPunct="1">
              <a:lnSpc>
                <a:spcPct val="100000"/>
              </a:lnSpc>
              <a:spcBef>
                <a:spcPts val="0"/>
              </a:spcBef>
              <a:spcAft>
                <a:spcPts val="0"/>
              </a:spcAft>
              <a:buClrTx/>
              <a:buSzTx/>
              <a:buFontTx/>
              <a:buNone/>
              <a:tabLst/>
              <a:defRPr/>
            </a:pPr>
            <a:r>
              <a:rPr lang="en-US" altLang="zh-CN" sz="2800" b="1" dirty="0">
                <a:latin typeface="Calibri" panose="020F0502020204030204" pitchFamily="34" charset="0"/>
                <a:ea typeface="Calibri" panose="020F0502020204030204" pitchFamily="34" charset="0"/>
                <a:cs typeface="Calibri" panose="020F0502020204030204" pitchFamily="34" charset="0"/>
              </a:rPr>
              <a:t>Fe</a:t>
            </a:r>
            <a:r>
              <a:rPr kumimoji="0" lang="en-US" altLang="zh-CN" sz="2800" b="1"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0" marR="0" lvl="0" indent="0" algn="ctr" defTabSz="457189" eaLnBrk="1" fontAlgn="auto" latinLnBrk="0" hangingPunct="1">
              <a:lnSpc>
                <a:spcPct val="100000"/>
              </a:lnSpc>
              <a:spcBef>
                <a:spcPts val="0"/>
              </a:spcBef>
              <a:spcAft>
                <a:spcPts val="0"/>
              </a:spcAft>
              <a:buClrTx/>
              <a:buSzTx/>
              <a:buFontTx/>
              <a:buNone/>
              <a:tabLst/>
              <a:defRPr/>
            </a:pPr>
            <a:r>
              <a:rPr kumimoji="0" lang="en-US" altLang="zh-CN" sz="2800" b="1"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rPr>
              <a:t>SOD</a:t>
            </a:r>
            <a:endParaRPr kumimoji="0" lang="zh-CN" altLang="en-US" sz="28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AEC73D53-4444-644B-0126-B90FB7754BDB}"/>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
        <p:nvSpPr>
          <p:cNvPr id="4" name="文本框 3">
            <a:extLst>
              <a:ext uri="{FF2B5EF4-FFF2-40B4-BE49-F238E27FC236}">
                <a16:creationId xmlns:a16="http://schemas.microsoft.com/office/drawing/2014/main" id="{A37A2DB1-8DF6-5571-A32A-36CEAC50D791}"/>
              </a:ext>
            </a:extLst>
          </p:cNvPr>
          <p:cNvSpPr txBox="1"/>
          <p:nvPr/>
        </p:nvSpPr>
        <p:spPr>
          <a:xfrm>
            <a:off x="695400" y="260648"/>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的介绍与分类</a:t>
            </a:r>
          </a:p>
        </p:txBody>
      </p:sp>
      <p:sp>
        <p:nvSpPr>
          <p:cNvPr id="5" name="文本框 4">
            <a:extLst>
              <a:ext uri="{FF2B5EF4-FFF2-40B4-BE49-F238E27FC236}">
                <a16:creationId xmlns:a16="http://schemas.microsoft.com/office/drawing/2014/main" id="{AC681585-3650-C5EA-F69D-C815612EB99E}"/>
              </a:ext>
            </a:extLst>
          </p:cNvPr>
          <p:cNvSpPr txBox="1"/>
          <p:nvPr/>
        </p:nvSpPr>
        <p:spPr>
          <a:xfrm>
            <a:off x="695400" y="939207"/>
            <a:ext cx="3716082"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300" normalizeH="0" baseline="0" noProof="0" dirty="0">
                <a:ln>
                  <a:noFill/>
                </a:ln>
                <a:solidFill>
                  <a:prstClr val="black"/>
                </a:solidFill>
                <a:effectLst/>
                <a:uLnTx/>
                <a:uFillTx/>
                <a:latin typeface="Calibri"/>
                <a:ea typeface="宋体" panose="02010600030101010101" pitchFamily="2" charset="-122"/>
                <a:cs typeface="+mn-cs"/>
              </a:rPr>
              <a:t>Introduction and Classification of SOD</a:t>
            </a:r>
          </a:p>
        </p:txBody>
      </p:sp>
    </p:spTree>
    <p:extLst>
      <p:ext uri="{BB962C8B-B14F-4D97-AF65-F5344CB8AC3E}">
        <p14:creationId xmlns:p14="http://schemas.microsoft.com/office/powerpoint/2010/main" val="1786377109"/>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down)">
                                      <p:cBhvr>
                                        <p:cTn id="21" dur="500"/>
                                        <p:tgtEl>
                                          <p:spTgt spid="2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par>
                                <p:cTn id="25" presetID="22" presetClass="entr" presetSubtype="4"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500"/>
                                        <p:tgtEl>
                                          <p:spTgt spid="21"/>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down)">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animBg="1"/>
      <p:bldP spid="27" grpId="0"/>
      <p:bldP spid="28" grpId="0" animBg="1"/>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B6727-730F-B853-65C5-476379DED19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26C4F61-4E63-979B-98C4-EDE859C4E25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a:extLst>
              <a:ext uri="{FF2B5EF4-FFF2-40B4-BE49-F238E27FC236}">
                <a16:creationId xmlns:a16="http://schemas.microsoft.com/office/drawing/2014/main" id="{AE68430B-4385-D077-483E-FAF9F1F373A7}"/>
              </a:ext>
            </a:extLst>
          </p:cNvPr>
          <p:cNvSpPr txBox="1">
            <a:spLocks/>
          </p:cNvSpPr>
          <p:nvPr/>
        </p:nvSpPr>
        <p:spPr>
          <a:xfrm>
            <a:off x="5238896" y="2263950"/>
            <a:ext cx="6257704" cy="119885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377" rtl="0" eaLnBrk="1" fontAlgn="base" latinLnBrk="0" hangingPunct="1">
              <a:lnSpc>
                <a:spcPct val="100000"/>
              </a:lnSpc>
              <a:spcBef>
                <a:spcPts val="0"/>
              </a:spcBef>
              <a:spcAft>
                <a:spcPct val="0"/>
              </a:spcAft>
              <a:buClrTx/>
              <a:buSzTx/>
              <a:buFontTx/>
              <a:buNone/>
              <a:tabLst/>
              <a:defRPr/>
            </a:pPr>
            <a:r>
              <a:rPr kumimoji="0" lang="en-US" altLang="zh-CN" sz="6000" b="1" i="0" u="none" strike="noStrike" kern="1200" cap="none" spc="0" normalizeH="0" baseline="0" noProof="0" dirty="0">
                <a:ln>
                  <a:noFill/>
                </a:ln>
                <a:solidFill>
                  <a:prstClr val="white"/>
                </a:solidFill>
                <a:effectLst/>
                <a:uLnTx/>
                <a:uFillTx/>
                <a:latin typeface="Calibri"/>
                <a:ea typeface="微软雅黑"/>
                <a:cs typeface="+mn-cs"/>
              </a:rPr>
              <a:t>SOD</a:t>
            </a:r>
            <a:r>
              <a:rPr kumimoji="0" lang="zh-CN" altLang="en-US" sz="6000" b="1" i="0" u="none" strike="noStrike" kern="1200" cap="none" spc="0" normalizeH="0" baseline="0" noProof="0" dirty="0">
                <a:ln>
                  <a:noFill/>
                </a:ln>
                <a:solidFill>
                  <a:prstClr val="white"/>
                </a:solidFill>
                <a:effectLst/>
                <a:uLnTx/>
                <a:uFillTx/>
                <a:latin typeface="微软雅黑"/>
                <a:ea typeface="微软雅黑"/>
                <a:cs typeface="+mn-cs"/>
              </a:rPr>
              <a:t>的功能与机理</a:t>
            </a:r>
          </a:p>
        </p:txBody>
      </p:sp>
      <p:sp>
        <p:nvSpPr>
          <p:cNvPr id="5" name="标题 4">
            <a:extLst>
              <a:ext uri="{FF2B5EF4-FFF2-40B4-BE49-F238E27FC236}">
                <a16:creationId xmlns:a16="http://schemas.microsoft.com/office/drawing/2014/main" id="{898D7BF4-84E2-F9E1-F9D7-C36FAB8EDF1D}"/>
              </a:ext>
            </a:extLst>
          </p:cNvPr>
          <p:cNvSpPr txBox="1">
            <a:spLocks/>
          </p:cNvSpPr>
          <p:nvPr/>
        </p:nvSpPr>
        <p:spPr>
          <a:xfrm>
            <a:off x="5303912" y="3868338"/>
            <a:ext cx="6480720"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377" fontAlgn="base">
              <a:spcAft>
                <a:spcPct val="0"/>
              </a:spcAft>
              <a:defRPr/>
            </a:pPr>
            <a:r>
              <a:rPr lang="en-US" altLang="zh-CN" sz="3200" dirty="0">
                <a:solidFill>
                  <a:schemeClr val="bg1"/>
                </a:solidFill>
                <a:latin typeface="Calibri Light" panose="020F0302020204030204" pitchFamily="34" charset="0"/>
              </a:rPr>
              <a:t>Function and Mechanism of SOD</a:t>
            </a:r>
          </a:p>
        </p:txBody>
      </p:sp>
      <p:cxnSp>
        <p:nvCxnSpPr>
          <p:cNvPr id="6" name="直接连接符 5">
            <a:extLst>
              <a:ext uri="{FF2B5EF4-FFF2-40B4-BE49-F238E27FC236}">
                <a16:creationId xmlns:a16="http://schemas.microsoft.com/office/drawing/2014/main" id="{58AD6719-570D-3E13-E5F0-6F6D3543C5C3}"/>
              </a:ext>
            </a:extLst>
          </p:cNvPr>
          <p:cNvCxnSpPr>
            <a:cxnSpLocks/>
          </p:cNvCxnSpPr>
          <p:nvPr/>
        </p:nvCxnSpPr>
        <p:spPr>
          <a:xfrm>
            <a:off x="5346908" y="3699991"/>
            <a:ext cx="6005676"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03FFDCC-1010-37DB-FF6B-5B5484FDFB5D}"/>
              </a:ext>
            </a:extLst>
          </p:cNvPr>
          <p:cNvSpPr txBox="1"/>
          <p:nvPr/>
        </p:nvSpPr>
        <p:spPr>
          <a:xfrm>
            <a:off x="760416" y="1674961"/>
            <a:ext cx="5083426" cy="3770263"/>
          </a:xfrm>
          <a:prstGeom prst="rect">
            <a:avLst/>
          </a:prstGeom>
          <a:noFill/>
        </p:spPr>
        <p:txBody>
          <a:bodyPr wrap="square" rtlCol="0">
            <a:spAutoFit/>
          </a:bodyPr>
          <a:lstStyle/>
          <a:p>
            <a:r>
              <a:rPr lang="en-US" altLang="zh-CN" sz="23900" dirty="0">
                <a:solidFill>
                  <a:schemeClr val="bg1"/>
                </a:solidFill>
                <a:latin typeface="Arial Black" panose="020B0A04020102020204" pitchFamily="34" charset="0"/>
              </a:rPr>
              <a:t>02</a:t>
            </a:r>
            <a:endParaRPr lang="zh-CN" altLang="en-US" sz="23900" dirty="0">
              <a:solidFill>
                <a:schemeClr val="bg1"/>
              </a:solidFill>
              <a:latin typeface="Arial Black" panose="020B0A04020102020204" pitchFamily="34" charset="0"/>
            </a:endParaRPr>
          </a:p>
        </p:txBody>
      </p:sp>
      <p:grpSp>
        <p:nvGrpSpPr>
          <p:cNvPr id="8" name="组合 7">
            <a:extLst>
              <a:ext uri="{FF2B5EF4-FFF2-40B4-BE49-F238E27FC236}">
                <a16:creationId xmlns:a16="http://schemas.microsoft.com/office/drawing/2014/main" id="{72D4DEE6-ABE7-E8D6-C627-347B3E6D899B}"/>
              </a:ext>
            </a:extLst>
          </p:cNvPr>
          <p:cNvGrpSpPr/>
          <p:nvPr/>
        </p:nvGrpSpPr>
        <p:grpSpPr>
          <a:xfrm>
            <a:off x="318625" y="5705603"/>
            <a:ext cx="2356623" cy="1061739"/>
            <a:chOff x="432111" y="5544277"/>
            <a:chExt cx="2356623" cy="1061739"/>
          </a:xfrm>
        </p:grpSpPr>
        <p:pic>
          <p:nvPicPr>
            <p:cNvPr id="9" name="图片 8">
              <a:extLst>
                <a:ext uri="{FF2B5EF4-FFF2-40B4-BE49-F238E27FC236}">
                  <a16:creationId xmlns:a16="http://schemas.microsoft.com/office/drawing/2014/main" id="{2107212C-14CA-5C7D-6755-412C66865AF8}"/>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10" name="图片 9">
              <a:extLst>
                <a:ext uri="{FF2B5EF4-FFF2-40B4-BE49-F238E27FC236}">
                  <a16:creationId xmlns:a16="http://schemas.microsoft.com/office/drawing/2014/main" id="{E72F141B-AE9E-1FB0-A9E7-3A162D213490}"/>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grpSp>
        <p:nvGrpSpPr>
          <p:cNvPr id="11" name="组合 10">
            <a:extLst>
              <a:ext uri="{FF2B5EF4-FFF2-40B4-BE49-F238E27FC236}">
                <a16:creationId xmlns:a16="http://schemas.microsoft.com/office/drawing/2014/main" id="{C5C11781-546C-0EBD-83F6-8AFE484565E4}"/>
              </a:ext>
            </a:extLst>
          </p:cNvPr>
          <p:cNvGrpSpPr/>
          <p:nvPr/>
        </p:nvGrpSpPr>
        <p:grpSpPr>
          <a:xfrm>
            <a:off x="8418574" y="281529"/>
            <a:ext cx="3565944" cy="860130"/>
            <a:chOff x="3371204" y="663706"/>
            <a:chExt cx="6394589" cy="1542418"/>
          </a:xfrm>
        </p:grpSpPr>
        <p:pic>
          <p:nvPicPr>
            <p:cNvPr id="12" name="图片 11">
              <a:extLst>
                <a:ext uri="{FF2B5EF4-FFF2-40B4-BE49-F238E27FC236}">
                  <a16:creationId xmlns:a16="http://schemas.microsoft.com/office/drawing/2014/main" id="{B625329A-F914-F751-E4D7-8EF2718A41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0025" y="894576"/>
              <a:ext cx="4010022" cy="766728"/>
            </a:xfrm>
            <a:prstGeom prst="rect">
              <a:avLst/>
            </a:prstGeom>
          </p:spPr>
        </p:pic>
        <p:pic>
          <p:nvPicPr>
            <p:cNvPr id="13" name="图片 12">
              <a:extLst>
                <a:ext uri="{FF2B5EF4-FFF2-40B4-BE49-F238E27FC236}">
                  <a16:creationId xmlns:a16="http://schemas.microsoft.com/office/drawing/2014/main" id="{AE549A61-AE4D-2FF0-CA50-8D8E3CECE92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4" name="矩形 13">
              <a:extLst>
                <a:ext uri="{FF2B5EF4-FFF2-40B4-BE49-F238E27FC236}">
                  <a16:creationId xmlns:a16="http://schemas.microsoft.com/office/drawing/2014/main" id="{78EFDBC0-874A-4E9E-755A-0261BC6F8400}"/>
                </a:ext>
              </a:extLst>
            </p:cNvPr>
            <p:cNvSpPr/>
            <p:nvPr/>
          </p:nvSpPr>
          <p:spPr>
            <a:xfrm>
              <a:off x="5091171" y="1758229"/>
              <a:ext cx="4674622" cy="386342"/>
            </a:xfrm>
            <a:prstGeom prst="rect">
              <a:avLst/>
            </a:prstGeom>
          </p:spPr>
          <p:txBody>
            <a:bodyPr wrap="none">
              <a:spAutoFit/>
            </a:bodyPr>
            <a:lstStyle/>
            <a:p>
              <a:r>
                <a:rPr lang="en-US" altLang="zh-CN" sz="800" b="1" dirty="0">
                  <a:solidFill>
                    <a:schemeClr val="bg1"/>
                  </a:solidFill>
                  <a:latin typeface="Arial" panose="020B0604020202020204" pitchFamily="34" charset="0"/>
                  <a:cs typeface="Arial" panose="020B0604020202020204" pitchFamily="34" charset="0"/>
                </a:rPr>
                <a:t>East China University of Science and Technology</a:t>
              </a:r>
              <a:endParaRPr lang="zh-CN" altLang="en-US" sz="8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746245053"/>
      </p:ext>
    </p:extLst>
  </p:cSld>
  <p:clrMapOvr>
    <a:masterClrMapping/>
  </p:clrMapOvr>
  <mc:AlternateContent xmlns:mc="http://schemas.openxmlformats.org/markup-compatibility/2006" xmlns:p14="http://schemas.microsoft.com/office/powerpoint/2010/main">
    <mc:Choice Requires="p14">
      <p:transition spd="slow" p14:dur="15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1EE48A0-AD0F-454E-BFAD-6E2D5C7FCD04}"/>
              </a:ext>
            </a:extLst>
          </p:cNvPr>
          <p:cNvGrpSpPr/>
          <p:nvPr/>
        </p:nvGrpSpPr>
        <p:grpSpPr>
          <a:xfrm>
            <a:off x="0" y="260648"/>
            <a:ext cx="4057218" cy="932475"/>
            <a:chOff x="0" y="260648"/>
            <a:chExt cx="4057218" cy="932475"/>
          </a:xfrm>
        </p:grpSpPr>
        <p:sp>
          <p:nvSpPr>
            <p:cNvPr id="7" name="矩形 6">
              <a:extLst>
                <a:ext uri="{FF2B5EF4-FFF2-40B4-BE49-F238E27FC236}">
                  <a16:creationId xmlns:a16="http://schemas.microsoft.com/office/drawing/2014/main" id="{5E5FDBC2-4F14-418B-9C6B-471DB57674F9}"/>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8" name="组合 7">
              <a:extLst>
                <a:ext uri="{FF2B5EF4-FFF2-40B4-BE49-F238E27FC236}">
                  <a16:creationId xmlns:a16="http://schemas.microsoft.com/office/drawing/2014/main" id="{70E773C1-D290-4CD5-B8BC-6C1D124BB44C}"/>
                </a:ext>
              </a:extLst>
            </p:cNvPr>
            <p:cNvGrpSpPr/>
            <p:nvPr/>
          </p:nvGrpSpPr>
          <p:grpSpPr>
            <a:xfrm>
              <a:off x="695400" y="260648"/>
              <a:ext cx="3361818" cy="932475"/>
              <a:chOff x="623392" y="310880"/>
              <a:chExt cx="3361818" cy="932475"/>
            </a:xfrm>
          </p:grpSpPr>
          <p:sp>
            <p:nvSpPr>
              <p:cNvPr id="9" name="文本框 8">
                <a:extLst>
                  <a:ext uri="{FF2B5EF4-FFF2-40B4-BE49-F238E27FC236}">
                    <a16:creationId xmlns:a16="http://schemas.microsoft.com/office/drawing/2014/main" id="{5AF0DD6B-3B27-4D27-89E4-3CA8C1D5B5D1}"/>
                  </a:ext>
                </a:extLst>
              </p:cNvPr>
              <p:cNvSpPr txBox="1"/>
              <p:nvPr/>
            </p:nvSpPr>
            <p:spPr>
              <a:xfrm>
                <a:off x="623392" y="310880"/>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mj-lt"/>
                    <a:ea typeface="黑体" panose="02010609060101010101" pitchFamily="49" charset="-122"/>
                    <a:cs typeface="+mn-cs"/>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的功能与机理</a:t>
                </a:r>
              </a:p>
            </p:txBody>
          </p:sp>
          <p:cxnSp>
            <p:nvCxnSpPr>
              <p:cNvPr id="10" name="直接连接符 9">
                <a:extLst>
                  <a:ext uri="{FF2B5EF4-FFF2-40B4-BE49-F238E27FC236}">
                    <a16:creationId xmlns:a16="http://schemas.microsoft.com/office/drawing/2014/main" id="{1EB0EF1F-F7FB-4ED3-8798-96244677B16B}"/>
                  </a:ext>
                </a:extLst>
              </p:cNvPr>
              <p:cNvCxnSpPr/>
              <p:nvPr/>
            </p:nvCxnSpPr>
            <p:spPr>
              <a:xfrm>
                <a:off x="623392" y="989439"/>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C5A25F6-DA46-4F9C-9711-4D8709F0258C}"/>
                  </a:ext>
                </a:extLst>
              </p:cNvPr>
              <p:cNvSpPr txBox="1"/>
              <p:nvPr/>
            </p:nvSpPr>
            <p:spPr>
              <a:xfrm>
                <a:off x="623392" y="989439"/>
                <a:ext cx="3089307" cy="253916"/>
              </a:xfrm>
              <a:prstGeom prst="rect">
                <a:avLst/>
              </a:prstGeom>
              <a:noFill/>
            </p:spPr>
            <p:txBody>
              <a:bodyPr wrap="none" rtlCol="0">
                <a:spAutoFit/>
              </a:bodyPr>
              <a:lstStyle/>
              <a:p>
                <a:pPr lvl="0">
                  <a:defRPr/>
                </a:pPr>
                <a:r>
                  <a:rPr lang="en-US" altLang="zh-CN" sz="1050" spc="300" dirty="0">
                    <a:solidFill>
                      <a:prstClr val="black"/>
                    </a:solidFill>
                  </a:rPr>
                  <a:t>Function and Mechanism of SOD</a:t>
                </a:r>
              </a:p>
            </p:txBody>
          </p:sp>
        </p:grpSp>
      </p:grpSp>
      <p:grpSp>
        <p:nvGrpSpPr>
          <p:cNvPr id="13" name="组合 12">
            <a:extLst>
              <a:ext uri="{FF2B5EF4-FFF2-40B4-BE49-F238E27FC236}">
                <a16:creationId xmlns:a16="http://schemas.microsoft.com/office/drawing/2014/main" id="{A86A43A1-7972-45C2-AC95-BD653189B5D8}"/>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A92B3E3C-5A8F-4F07-942E-A8A4BD65E9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8C78F2B7-3CBC-49D3-8700-5A3C81124D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7D7F5D65-84AD-427A-B2EC-0E04F88E9EA0}"/>
                </a:ext>
              </a:extLst>
            </p:cNvPr>
            <p:cNvSpPr/>
            <p:nvPr/>
          </p:nvSpPr>
          <p:spPr>
            <a:xfrm>
              <a:off x="5091170" y="1758228"/>
              <a:ext cx="5183067" cy="481058"/>
            </a:xfrm>
            <a:prstGeom prst="rect">
              <a:avLst/>
            </a:prstGeom>
          </p:spPr>
          <p:txBody>
            <a:bodyPr wrap="none">
              <a:spAutoFit/>
            </a:bodyPr>
            <a:lstStyle/>
            <a:p>
              <a:r>
                <a:rPr lang="en-US" altLang="zh-CN" sz="600" b="1" dirty="0">
                  <a:latin typeface="Arial" panose="020B0604020202020204" pitchFamily="34" charset="0"/>
                  <a:cs typeface="Arial" panose="020B0604020202020204" pitchFamily="34" charset="0"/>
                </a:rPr>
                <a:t>East China University of Science and Technology</a:t>
              </a:r>
              <a:endParaRPr lang="zh-CN" altLang="en-US" sz="600" b="1" dirty="0">
                <a:latin typeface="Arial" panose="020B0604020202020204" pitchFamily="34" charset="0"/>
                <a:cs typeface="Arial" panose="020B0604020202020204" pitchFamily="34" charset="0"/>
              </a:endParaRPr>
            </a:p>
          </p:txBody>
        </p:sp>
      </p:grpSp>
      <p:pic>
        <p:nvPicPr>
          <p:cNvPr id="18" name="图片 17">
            <a:extLst>
              <a:ext uri="{FF2B5EF4-FFF2-40B4-BE49-F238E27FC236}">
                <a16:creationId xmlns:a16="http://schemas.microsoft.com/office/drawing/2014/main" id="{9A8E79EA-3ADF-4F44-8743-BED86D684BF4}"/>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sp>
        <p:nvSpPr>
          <p:cNvPr id="19" name="箭头3">
            <a:extLst>
              <a:ext uri="{FF2B5EF4-FFF2-40B4-BE49-F238E27FC236}">
                <a16:creationId xmlns:a16="http://schemas.microsoft.com/office/drawing/2014/main" id="{211AA7EC-56AC-46C3-8781-AC066D862AC5}"/>
              </a:ext>
            </a:extLst>
          </p:cNvPr>
          <p:cNvSpPr>
            <a:spLocks/>
          </p:cNvSpPr>
          <p:nvPr/>
        </p:nvSpPr>
        <p:spPr bwMode="gray">
          <a:xfrm flipV="1">
            <a:off x="1466404" y="3707355"/>
            <a:ext cx="1093019" cy="2383320"/>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ysClr val="window" lastClr="FFFFFF">
              <a:lumMod val="65000"/>
            </a:sys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ysClr val="windowText" lastClr="000000"/>
              </a:solidFill>
              <a:effectLst/>
              <a:uLnTx/>
              <a:uFillTx/>
              <a:latin typeface="Arial"/>
              <a:ea typeface="微软雅黑"/>
              <a:cs typeface="+mn-cs"/>
            </a:endParaRPr>
          </a:p>
        </p:txBody>
      </p:sp>
      <p:sp>
        <p:nvSpPr>
          <p:cNvPr id="20" name="箭头2">
            <a:extLst>
              <a:ext uri="{FF2B5EF4-FFF2-40B4-BE49-F238E27FC236}">
                <a16:creationId xmlns:a16="http://schemas.microsoft.com/office/drawing/2014/main" id="{8A6BBE43-D47F-4B07-848B-D446267FF411}"/>
              </a:ext>
            </a:extLst>
          </p:cNvPr>
          <p:cNvSpPr>
            <a:spLocks/>
          </p:cNvSpPr>
          <p:nvPr/>
        </p:nvSpPr>
        <p:spPr bwMode="gray">
          <a:xfrm rot="16200000">
            <a:off x="1846576" y="2695819"/>
            <a:ext cx="346735" cy="1093018"/>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ysClr val="window" lastClr="FFFFFF">
              <a:lumMod val="65000"/>
            </a:sys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ysClr val="windowText" lastClr="000000"/>
              </a:solidFill>
              <a:effectLst/>
              <a:uLnTx/>
              <a:uFillTx/>
              <a:latin typeface="Arial"/>
              <a:ea typeface="微软雅黑"/>
              <a:cs typeface="+mn-cs"/>
            </a:endParaRPr>
          </a:p>
        </p:txBody>
      </p:sp>
      <p:sp>
        <p:nvSpPr>
          <p:cNvPr id="21" name="箭头1">
            <a:extLst>
              <a:ext uri="{FF2B5EF4-FFF2-40B4-BE49-F238E27FC236}">
                <a16:creationId xmlns:a16="http://schemas.microsoft.com/office/drawing/2014/main" id="{DBD02EAC-9C09-4E6F-87F9-65FD57FC64C1}"/>
              </a:ext>
            </a:extLst>
          </p:cNvPr>
          <p:cNvSpPr>
            <a:spLocks/>
          </p:cNvSpPr>
          <p:nvPr/>
        </p:nvSpPr>
        <p:spPr bwMode="gray">
          <a:xfrm>
            <a:off x="1459376" y="1556792"/>
            <a:ext cx="1093019" cy="2250940"/>
          </a:xfrm>
          <a:custGeom>
            <a:avLst/>
            <a:gdLst>
              <a:gd name="T0" fmla="*/ 118 w 933"/>
              <a:gd name="T1" fmla="*/ 1044 h 1182"/>
              <a:gd name="T2" fmla="*/ 128 w 933"/>
              <a:gd name="T3" fmla="*/ 340 h 1182"/>
              <a:gd name="T4" fmla="*/ 264 w 933"/>
              <a:gd name="T5" fmla="*/ 210 h 1182"/>
              <a:gd name="T6" fmla="*/ 720 w 933"/>
              <a:gd name="T7" fmla="*/ 202 h 1182"/>
              <a:gd name="T8" fmla="*/ 720 w 933"/>
              <a:gd name="T9" fmla="*/ 320 h 1182"/>
              <a:gd name="T10" fmla="*/ 933 w 933"/>
              <a:gd name="T11" fmla="*/ 153 h 1182"/>
              <a:gd name="T12" fmla="*/ 712 w 933"/>
              <a:gd name="T13" fmla="*/ 0 h 1182"/>
              <a:gd name="T14" fmla="*/ 714 w 933"/>
              <a:gd name="T15" fmla="*/ 92 h 1182"/>
              <a:gd name="T16" fmla="*/ 234 w 933"/>
              <a:gd name="T17" fmla="*/ 94 h 1182"/>
              <a:gd name="T18" fmla="*/ 0 w 933"/>
              <a:gd name="T19" fmla="*/ 298 h 1182"/>
              <a:gd name="T20" fmla="*/ 0 w 933"/>
              <a:gd name="T21" fmla="*/ 1058 h 1182"/>
              <a:gd name="T22" fmla="*/ 118 w 933"/>
              <a:gd name="T23" fmla="*/ 1044 h 1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ysClr val="window" lastClr="FFFFFF">
              <a:lumMod val="65000"/>
            </a:sys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ysClr val="windowText" lastClr="000000"/>
              </a:solidFill>
              <a:effectLst/>
              <a:uLnTx/>
              <a:uFillTx/>
              <a:latin typeface="Arial"/>
              <a:ea typeface="微软雅黑"/>
              <a:cs typeface="+mn-cs"/>
            </a:endParaRPr>
          </a:p>
        </p:txBody>
      </p:sp>
      <p:sp>
        <p:nvSpPr>
          <p:cNvPr id="22" name="文本1">
            <a:extLst>
              <a:ext uri="{FF2B5EF4-FFF2-40B4-BE49-F238E27FC236}">
                <a16:creationId xmlns:a16="http://schemas.microsoft.com/office/drawing/2014/main" id="{D5727F6A-F03A-439D-9DA2-4D010A808333}"/>
              </a:ext>
            </a:extLst>
          </p:cNvPr>
          <p:cNvSpPr>
            <a:spLocks noChangeArrowheads="1"/>
          </p:cNvSpPr>
          <p:nvPr/>
        </p:nvSpPr>
        <p:spPr bwMode="gray">
          <a:xfrm>
            <a:off x="3928293" y="1204854"/>
            <a:ext cx="7136259" cy="1195991"/>
          </a:xfrm>
          <a:prstGeom prst="roundRect">
            <a:avLst>
              <a:gd name="adj" fmla="val 11505"/>
            </a:avLst>
          </a:prstGeom>
          <a:noFill/>
          <a:ln w="15875" cap="flat" cmpd="sng" algn="ctr">
            <a:solidFill>
              <a:srgbClr val="1669AB"/>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fontAlgn="base">
              <a:lnSpc>
                <a:spcPct val="120000"/>
              </a:lnSpc>
              <a:spcBef>
                <a:spcPct val="0"/>
              </a:spcBef>
              <a:spcAft>
                <a:spcPct val="0"/>
              </a:spcAft>
              <a:defRPr/>
            </a:pPr>
            <a:r>
              <a:rPr lang="zh-CN" altLang="en-US" dirty="0">
                <a:solidFill>
                  <a:prstClr val="black">
                    <a:lumMod val="75000"/>
                    <a:lumOff val="25000"/>
                  </a:prstClr>
                </a:solidFill>
                <a:latin typeface="Calibri" panose="020F0502020204030204" pitchFamily="34" charset="0"/>
                <a:ea typeface="微软雅黑" pitchFamily="34" charset="-122"/>
              </a:rPr>
              <a:t>降低细胞内</a:t>
            </a:r>
            <a:r>
              <a:rPr lang="en-US" altLang="zh-CN" dirty="0">
                <a:solidFill>
                  <a:prstClr val="black">
                    <a:lumMod val="75000"/>
                    <a:lumOff val="25000"/>
                  </a:prstClr>
                </a:solidFill>
                <a:latin typeface="Calibri" panose="020F0502020204030204" pitchFamily="34" charset="0"/>
                <a:ea typeface="微软雅黑" pitchFamily="34" charset="-122"/>
              </a:rPr>
              <a:t>O₂⁻</a:t>
            </a:r>
            <a:r>
              <a:rPr lang="zh-CN" altLang="en-US" dirty="0">
                <a:solidFill>
                  <a:prstClr val="black">
                    <a:lumMod val="75000"/>
                    <a:lumOff val="25000"/>
                  </a:prstClr>
                </a:solidFill>
                <a:latin typeface="Calibri" panose="020F0502020204030204" pitchFamily="34" charset="0"/>
                <a:ea typeface="微软雅黑" pitchFamily="34" charset="-122"/>
              </a:rPr>
              <a:t>浓度，减少活性氧（</a:t>
            </a:r>
            <a:r>
              <a:rPr lang="en-US" altLang="zh-CN" dirty="0">
                <a:solidFill>
                  <a:prstClr val="black">
                    <a:lumMod val="75000"/>
                    <a:lumOff val="25000"/>
                  </a:prstClr>
                </a:solidFill>
                <a:latin typeface="Calibri" panose="020F0502020204030204" pitchFamily="34" charset="0"/>
                <a:ea typeface="微软雅黑" pitchFamily="34" charset="-122"/>
              </a:rPr>
              <a:t>ROS</a:t>
            </a:r>
            <a:r>
              <a:rPr lang="zh-CN" altLang="en-US" dirty="0">
                <a:solidFill>
                  <a:prstClr val="black">
                    <a:lumMod val="75000"/>
                    <a:lumOff val="25000"/>
                  </a:prstClr>
                </a:solidFill>
                <a:latin typeface="Calibri" panose="020F0502020204030204" pitchFamily="34" charset="0"/>
                <a:ea typeface="微软雅黑" pitchFamily="34" charset="-122"/>
              </a:rPr>
              <a:t>）对生物大分子的攻击</a:t>
            </a:r>
            <a:endParaRPr lang="zh-CN" altLang="zh-CN" dirty="0">
              <a:solidFill>
                <a:prstClr val="black">
                  <a:lumMod val="75000"/>
                  <a:lumOff val="25000"/>
                </a:prstClr>
              </a:solidFill>
              <a:latin typeface="Calibri" panose="020F0502020204030204" pitchFamily="34" charset="0"/>
              <a:ea typeface="微软雅黑" pitchFamily="34" charset="-122"/>
            </a:endParaRPr>
          </a:p>
        </p:txBody>
      </p:sp>
      <p:sp>
        <p:nvSpPr>
          <p:cNvPr id="23" name="标题1">
            <a:extLst>
              <a:ext uri="{FF2B5EF4-FFF2-40B4-BE49-F238E27FC236}">
                <a16:creationId xmlns:a16="http://schemas.microsoft.com/office/drawing/2014/main" id="{3E1BFACE-34BA-4420-B200-5F2FC666AE57}"/>
              </a:ext>
            </a:extLst>
          </p:cNvPr>
          <p:cNvSpPr>
            <a:spLocks noChangeArrowheads="1"/>
          </p:cNvSpPr>
          <p:nvPr/>
        </p:nvSpPr>
        <p:spPr bwMode="gray">
          <a:xfrm>
            <a:off x="2685688" y="1196752"/>
            <a:ext cx="1242605" cy="1202113"/>
          </a:xfrm>
          <a:prstGeom prst="roundRect">
            <a:avLst>
              <a:gd name="adj" fmla="val 11921"/>
            </a:avLst>
          </a:prstGeom>
          <a:solidFill>
            <a:srgbClr val="1669AB"/>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fontAlgn="base">
              <a:lnSpc>
                <a:spcPct val="120000"/>
              </a:lnSpc>
              <a:spcBef>
                <a:spcPct val="0"/>
              </a:spcBef>
              <a:spcAft>
                <a:spcPct val="0"/>
              </a:spcAft>
              <a:defRPr/>
            </a:pPr>
            <a:r>
              <a:rPr lang="zh-CN" altLang="en-US" b="1" dirty="0">
                <a:solidFill>
                  <a:sysClr val="window" lastClr="FFFFFF">
                    <a:lumMod val="95000"/>
                  </a:sysClr>
                </a:solidFill>
                <a:latin typeface="微软雅黑" pitchFamily="34" charset="-122"/>
                <a:ea typeface="微软雅黑" pitchFamily="34" charset="-122"/>
              </a:rPr>
              <a:t>直接清除自由基</a:t>
            </a:r>
            <a:endParaRPr lang="zh-CN" altLang="zh-CN" b="1" dirty="0">
              <a:solidFill>
                <a:sysClr val="window" lastClr="FFFFFF">
                  <a:lumMod val="95000"/>
                </a:sysClr>
              </a:solidFill>
              <a:latin typeface="微软雅黑" pitchFamily="34" charset="-122"/>
              <a:ea typeface="微软雅黑" pitchFamily="34" charset="-122"/>
            </a:endParaRPr>
          </a:p>
        </p:txBody>
      </p:sp>
      <p:sp>
        <p:nvSpPr>
          <p:cNvPr id="24" name="文本2">
            <a:extLst>
              <a:ext uri="{FF2B5EF4-FFF2-40B4-BE49-F238E27FC236}">
                <a16:creationId xmlns:a16="http://schemas.microsoft.com/office/drawing/2014/main" id="{F78C4B7A-EC9B-4C62-8913-51F6E7A6438E}"/>
              </a:ext>
            </a:extLst>
          </p:cNvPr>
          <p:cNvSpPr>
            <a:spLocks noChangeArrowheads="1"/>
          </p:cNvSpPr>
          <p:nvPr/>
        </p:nvSpPr>
        <p:spPr bwMode="gray">
          <a:xfrm>
            <a:off x="3928293" y="2564904"/>
            <a:ext cx="7136259" cy="1192036"/>
          </a:xfrm>
          <a:prstGeom prst="roundRect">
            <a:avLst>
              <a:gd name="adj" fmla="val 11505"/>
            </a:avLst>
          </a:prstGeom>
          <a:noFill/>
          <a:ln w="15875" cap="flat" cmpd="sng" algn="ctr">
            <a:solidFill>
              <a:srgbClr val="1669AB"/>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fontAlgn="base">
              <a:lnSpc>
                <a:spcPct val="120000"/>
              </a:lnSpc>
              <a:spcBef>
                <a:spcPct val="0"/>
              </a:spcBef>
              <a:spcAft>
                <a:spcPct val="0"/>
              </a:spcAft>
              <a:defRPr/>
            </a:pPr>
            <a:r>
              <a:rPr lang="zh-CN" altLang="en-US" dirty="0">
                <a:solidFill>
                  <a:prstClr val="black">
                    <a:lumMod val="75000"/>
                    <a:lumOff val="25000"/>
                  </a:prstClr>
                </a:solidFill>
                <a:latin typeface="Calibri" panose="020F0502020204030204" pitchFamily="34" charset="0"/>
                <a:ea typeface="微软雅黑" pitchFamily="34" charset="-122"/>
              </a:rPr>
              <a:t>维持线粒体、细胞核等结构的完整性，保护</a:t>
            </a:r>
            <a:r>
              <a:rPr lang="en-US" altLang="zh-CN" dirty="0">
                <a:solidFill>
                  <a:prstClr val="black">
                    <a:lumMod val="75000"/>
                    <a:lumOff val="25000"/>
                  </a:prstClr>
                </a:solidFill>
                <a:latin typeface="Calibri" panose="020F0502020204030204" pitchFamily="34" charset="0"/>
                <a:ea typeface="微软雅黑" pitchFamily="34" charset="-122"/>
              </a:rPr>
              <a:t>DNA</a:t>
            </a:r>
            <a:r>
              <a:rPr lang="zh-CN" altLang="en-US" dirty="0">
                <a:solidFill>
                  <a:prstClr val="black">
                    <a:lumMod val="75000"/>
                    <a:lumOff val="25000"/>
                  </a:prstClr>
                </a:solidFill>
                <a:latin typeface="Calibri" panose="020F0502020204030204" pitchFamily="34" charset="0"/>
                <a:ea typeface="微软雅黑" pitchFamily="34" charset="-122"/>
              </a:rPr>
              <a:t>、蛋白质及脂质的正常功能</a:t>
            </a:r>
            <a:endParaRPr lang="zh-CN" altLang="zh-CN" dirty="0">
              <a:solidFill>
                <a:prstClr val="black">
                  <a:lumMod val="75000"/>
                  <a:lumOff val="25000"/>
                </a:prstClr>
              </a:solidFill>
              <a:latin typeface="Calibri" panose="020F0502020204030204" pitchFamily="34" charset="0"/>
              <a:ea typeface="微软雅黑" pitchFamily="34" charset="-122"/>
            </a:endParaRPr>
          </a:p>
        </p:txBody>
      </p:sp>
      <p:sp>
        <p:nvSpPr>
          <p:cNvPr id="25" name="标题2">
            <a:extLst>
              <a:ext uri="{FF2B5EF4-FFF2-40B4-BE49-F238E27FC236}">
                <a16:creationId xmlns:a16="http://schemas.microsoft.com/office/drawing/2014/main" id="{51064161-A4C2-4586-9866-F8B042A2450C}"/>
              </a:ext>
            </a:extLst>
          </p:cNvPr>
          <p:cNvSpPr>
            <a:spLocks noChangeArrowheads="1"/>
          </p:cNvSpPr>
          <p:nvPr/>
        </p:nvSpPr>
        <p:spPr bwMode="gray">
          <a:xfrm>
            <a:off x="2685688" y="2564904"/>
            <a:ext cx="1242607" cy="1192036"/>
          </a:xfrm>
          <a:prstGeom prst="roundRect">
            <a:avLst>
              <a:gd name="adj" fmla="val 11921"/>
            </a:avLst>
          </a:prstGeom>
          <a:solidFill>
            <a:srgbClr val="1669AB"/>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fontAlgn="base">
              <a:lnSpc>
                <a:spcPct val="120000"/>
              </a:lnSpc>
              <a:spcBef>
                <a:spcPct val="0"/>
              </a:spcBef>
              <a:spcAft>
                <a:spcPct val="0"/>
              </a:spcAft>
              <a:defRPr/>
            </a:pPr>
            <a:r>
              <a:rPr lang="zh-CN" altLang="en-US" b="1" dirty="0">
                <a:solidFill>
                  <a:sysClr val="window" lastClr="FFFFFF">
                    <a:lumMod val="95000"/>
                  </a:sysClr>
                </a:solidFill>
                <a:latin typeface="微软雅黑" pitchFamily="34" charset="-122"/>
                <a:ea typeface="微软雅黑" pitchFamily="34" charset="-122"/>
              </a:rPr>
              <a:t>保护细胞器与生物分子</a:t>
            </a:r>
            <a:endParaRPr lang="zh-CN" altLang="zh-CN" b="1" dirty="0">
              <a:solidFill>
                <a:sysClr val="window" lastClr="FFFFFF">
                  <a:lumMod val="95000"/>
                </a:sysClr>
              </a:solidFill>
              <a:latin typeface="微软雅黑" pitchFamily="34" charset="-122"/>
              <a:ea typeface="微软雅黑" pitchFamily="34" charset="-122"/>
            </a:endParaRPr>
          </a:p>
        </p:txBody>
      </p:sp>
      <p:sp>
        <p:nvSpPr>
          <p:cNvPr id="26" name="文本3">
            <a:extLst>
              <a:ext uri="{FF2B5EF4-FFF2-40B4-BE49-F238E27FC236}">
                <a16:creationId xmlns:a16="http://schemas.microsoft.com/office/drawing/2014/main" id="{678A0564-9879-4BF9-8C46-CCE9644320E9}"/>
              </a:ext>
            </a:extLst>
          </p:cNvPr>
          <p:cNvSpPr>
            <a:spLocks noChangeArrowheads="1"/>
          </p:cNvSpPr>
          <p:nvPr/>
        </p:nvSpPr>
        <p:spPr bwMode="ltGray">
          <a:xfrm>
            <a:off x="3928293" y="3933056"/>
            <a:ext cx="7136259" cy="1181401"/>
          </a:xfrm>
          <a:prstGeom prst="roundRect">
            <a:avLst>
              <a:gd name="adj" fmla="val 11505"/>
            </a:avLst>
          </a:prstGeom>
          <a:noFill/>
          <a:ln w="15875" cap="flat" cmpd="sng" algn="ctr">
            <a:solidFill>
              <a:srgbClr val="1669AB"/>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fontAlgn="base">
              <a:lnSpc>
                <a:spcPct val="120000"/>
              </a:lnSpc>
              <a:spcBef>
                <a:spcPct val="0"/>
              </a:spcBef>
              <a:spcAft>
                <a:spcPct val="0"/>
              </a:spcAft>
              <a:defRPr/>
            </a:pPr>
            <a:r>
              <a:rPr lang="zh-CN" altLang="en-US" dirty="0">
                <a:solidFill>
                  <a:prstClr val="black">
                    <a:lumMod val="75000"/>
                    <a:lumOff val="25000"/>
                  </a:prstClr>
                </a:solidFill>
                <a:latin typeface="Calibri" panose="020F0502020204030204" pitchFamily="34" charset="0"/>
                <a:ea typeface="微软雅黑" pitchFamily="34" charset="-122"/>
              </a:rPr>
              <a:t>调控细胞信号传导通路（如</a:t>
            </a:r>
            <a:r>
              <a:rPr lang="en-US" altLang="zh-CN" dirty="0">
                <a:solidFill>
                  <a:prstClr val="black">
                    <a:lumMod val="75000"/>
                    <a:lumOff val="25000"/>
                  </a:prstClr>
                </a:solidFill>
                <a:latin typeface="Calibri" panose="020F0502020204030204" pitchFamily="34" charset="0"/>
                <a:ea typeface="微软雅黑" pitchFamily="34" charset="-122"/>
              </a:rPr>
              <a:t>NF-</a:t>
            </a:r>
            <a:r>
              <a:rPr lang="en-US" altLang="zh-CN" dirty="0" err="1">
                <a:solidFill>
                  <a:prstClr val="black">
                    <a:lumMod val="75000"/>
                    <a:lumOff val="25000"/>
                  </a:prstClr>
                </a:solidFill>
                <a:latin typeface="Calibri" panose="020F0502020204030204" pitchFamily="34" charset="0"/>
                <a:ea typeface="微软雅黑" pitchFamily="34" charset="-122"/>
              </a:rPr>
              <a:t>κB</a:t>
            </a:r>
            <a:r>
              <a:rPr lang="zh-CN" altLang="en-US" dirty="0">
                <a:solidFill>
                  <a:prstClr val="black">
                    <a:lumMod val="75000"/>
                    <a:lumOff val="25000"/>
                  </a:prstClr>
                </a:solidFill>
                <a:latin typeface="Calibri" panose="020F0502020204030204" pitchFamily="34" charset="0"/>
                <a:ea typeface="微软雅黑" pitchFamily="34" charset="-122"/>
              </a:rPr>
              <a:t>、</a:t>
            </a:r>
            <a:r>
              <a:rPr lang="en-US" altLang="zh-CN" dirty="0">
                <a:solidFill>
                  <a:prstClr val="black">
                    <a:lumMod val="75000"/>
                    <a:lumOff val="25000"/>
                  </a:prstClr>
                </a:solidFill>
                <a:latin typeface="Calibri" panose="020F0502020204030204" pitchFamily="34" charset="0"/>
                <a:ea typeface="微软雅黑" pitchFamily="34" charset="-122"/>
              </a:rPr>
              <a:t>MAPK</a:t>
            </a:r>
            <a:r>
              <a:rPr lang="zh-CN" altLang="en-US" dirty="0">
                <a:solidFill>
                  <a:prstClr val="black">
                    <a:lumMod val="75000"/>
                    <a:lumOff val="25000"/>
                  </a:prstClr>
                </a:solidFill>
                <a:latin typeface="Calibri" panose="020F0502020204030204" pitchFamily="34" charset="0"/>
                <a:ea typeface="微软雅黑" pitchFamily="34" charset="-122"/>
              </a:rPr>
              <a:t>），确保正常生理功能的执行</a:t>
            </a:r>
            <a:endParaRPr lang="zh-CN" altLang="zh-CN" dirty="0">
              <a:solidFill>
                <a:prstClr val="black">
                  <a:lumMod val="75000"/>
                  <a:lumOff val="25000"/>
                </a:prstClr>
              </a:solidFill>
              <a:latin typeface="Calibri" panose="020F0502020204030204" pitchFamily="34" charset="0"/>
              <a:ea typeface="微软雅黑" pitchFamily="34" charset="-122"/>
            </a:endParaRPr>
          </a:p>
        </p:txBody>
      </p:sp>
      <p:sp>
        <p:nvSpPr>
          <p:cNvPr id="27" name="标题3">
            <a:extLst>
              <a:ext uri="{FF2B5EF4-FFF2-40B4-BE49-F238E27FC236}">
                <a16:creationId xmlns:a16="http://schemas.microsoft.com/office/drawing/2014/main" id="{5D3C340F-F842-476A-8D64-44BD6B050B5A}"/>
              </a:ext>
            </a:extLst>
          </p:cNvPr>
          <p:cNvSpPr>
            <a:spLocks noChangeArrowheads="1"/>
          </p:cNvSpPr>
          <p:nvPr/>
        </p:nvSpPr>
        <p:spPr bwMode="gray">
          <a:xfrm>
            <a:off x="2685688" y="3933056"/>
            <a:ext cx="1242605" cy="1181401"/>
          </a:xfrm>
          <a:prstGeom prst="roundRect">
            <a:avLst>
              <a:gd name="adj" fmla="val 11921"/>
            </a:avLst>
          </a:prstGeom>
          <a:solidFill>
            <a:srgbClr val="1669AB"/>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fontAlgn="base">
              <a:lnSpc>
                <a:spcPct val="120000"/>
              </a:lnSpc>
              <a:spcBef>
                <a:spcPct val="0"/>
              </a:spcBef>
              <a:spcAft>
                <a:spcPct val="0"/>
              </a:spcAft>
              <a:defRPr/>
            </a:pPr>
            <a:r>
              <a:rPr lang="zh-CN" altLang="en-US" b="1" dirty="0">
                <a:solidFill>
                  <a:sysClr val="window" lastClr="FFFFFF">
                    <a:lumMod val="95000"/>
                  </a:sysClr>
                </a:solidFill>
                <a:latin typeface="微软雅黑" pitchFamily="34" charset="-122"/>
                <a:ea typeface="微软雅黑" pitchFamily="34" charset="-122"/>
              </a:rPr>
              <a:t>维持氧化还原稳态</a:t>
            </a:r>
            <a:endParaRPr lang="zh-CN" altLang="zh-CN" b="1" dirty="0">
              <a:solidFill>
                <a:sysClr val="window" lastClr="FFFFFF">
                  <a:lumMod val="95000"/>
                </a:sysClr>
              </a:solidFill>
              <a:latin typeface="微软雅黑" pitchFamily="34" charset="-122"/>
              <a:ea typeface="微软雅黑" pitchFamily="34" charset="-122"/>
            </a:endParaRPr>
          </a:p>
        </p:txBody>
      </p:sp>
      <p:sp>
        <p:nvSpPr>
          <p:cNvPr id="28" name="Oval 19">
            <a:extLst>
              <a:ext uri="{FF2B5EF4-FFF2-40B4-BE49-F238E27FC236}">
                <a16:creationId xmlns:a16="http://schemas.microsoft.com/office/drawing/2014/main" id="{37EC3F19-6382-47BB-8AA9-F1F7E0D7FC94}"/>
              </a:ext>
            </a:extLst>
          </p:cNvPr>
          <p:cNvSpPr>
            <a:spLocks noChangeArrowheads="1"/>
          </p:cNvSpPr>
          <p:nvPr/>
        </p:nvSpPr>
        <p:spPr bwMode="auto">
          <a:xfrm>
            <a:off x="906508" y="3317084"/>
            <a:ext cx="1190548" cy="1192036"/>
          </a:xfrm>
          <a:prstGeom prst="ellipse">
            <a:avLst/>
          </a:prstGeom>
          <a:solidFill>
            <a:srgbClr val="1669AB"/>
          </a:solidFill>
          <a:ln w="9525">
            <a:noFill/>
            <a:round/>
            <a:headEnd/>
            <a:tailEnd/>
          </a:ln>
          <a:effectLst/>
        </p:spPr>
        <p:txBody>
          <a:bodyPr lIns="82824" tIns="41411" rIns="82824" bIns="41411" anchor="ctr"/>
          <a:lstStyle/>
          <a:p>
            <a:pPr algn="ctr" defTabSz="457189">
              <a:lnSpc>
                <a:spcPct val="120000"/>
              </a:lnSpc>
              <a:defRPr/>
            </a:pPr>
            <a:r>
              <a:rPr lang="zh-CN" altLang="en-US" sz="2600" b="1" kern="0" dirty="0">
                <a:solidFill>
                  <a:prstClr val="white"/>
                </a:solidFill>
                <a:latin typeface="Arial" pitchFamily="34" charset="0"/>
                <a:ea typeface="微软雅黑" pitchFamily="34" charset="-122"/>
              </a:rPr>
              <a:t>生理功能</a:t>
            </a:r>
          </a:p>
        </p:txBody>
      </p:sp>
      <p:sp>
        <p:nvSpPr>
          <p:cNvPr id="2" name="箭头2">
            <a:extLst>
              <a:ext uri="{FF2B5EF4-FFF2-40B4-BE49-F238E27FC236}">
                <a16:creationId xmlns:a16="http://schemas.microsoft.com/office/drawing/2014/main" id="{7C56EADA-9F72-8FF8-34F7-BD0B81231349}"/>
              </a:ext>
            </a:extLst>
          </p:cNvPr>
          <p:cNvSpPr>
            <a:spLocks/>
          </p:cNvSpPr>
          <p:nvPr/>
        </p:nvSpPr>
        <p:spPr bwMode="gray">
          <a:xfrm rot="16200000">
            <a:off x="1874924" y="4056387"/>
            <a:ext cx="346735" cy="1093018"/>
          </a:xfrm>
          <a:custGeom>
            <a:avLst/>
            <a:gdLst>
              <a:gd name="T0" fmla="*/ 37 w 142"/>
              <a:gd name="T1" fmla="*/ 1 h 604"/>
              <a:gd name="T2" fmla="*/ 45 w 142"/>
              <a:gd name="T3" fmla="*/ 472 h 604"/>
              <a:gd name="T4" fmla="*/ 0 w 142"/>
              <a:gd name="T5" fmla="*/ 474 h 604"/>
              <a:gd name="T6" fmla="*/ 72 w 142"/>
              <a:gd name="T7" fmla="*/ 604 h 604"/>
              <a:gd name="T8" fmla="*/ 142 w 142"/>
              <a:gd name="T9" fmla="*/ 474 h 604"/>
              <a:gd name="T10" fmla="*/ 100 w 142"/>
              <a:gd name="T11" fmla="*/ 474 h 604"/>
              <a:gd name="T12" fmla="*/ 99 w 142"/>
              <a:gd name="T13" fmla="*/ 0 h 604"/>
              <a:gd name="T14" fmla="*/ 37 w 142"/>
              <a:gd name="T15" fmla="*/ 1 h 6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ysClr val="window" lastClr="FFFFFF">
              <a:lumMod val="65000"/>
            </a:sysClr>
          </a:solidFill>
          <a:ln>
            <a:noFill/>
          </a:ln>
          <a:effectLst/>
        </p:spPr>
        <p:txBody>
          <a:bodyPr wrap="none" lIns="82824" tIns="41411" rIns="82824" bIns="4141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ysClr val="windowText" lastClr="000000"/>
              </a:solidFill>
              <a:effectLst/>
              <a:uLnTx/>
              <a:uFillTx/>
              <a:latin typeface="Arial"/>
              <a:ea typeface="微软雅黑"/>
              <a:cs typeface="+mn-cs"/>
            </a:endParaRPr>
          </a:p>
        </p:txBody>
      </p:sp>
      <p:sp>
        <p:nvSpPr>
          <p:cNvPr id="3" name="文本3">
            <a:extLst>
              <a:ext uri="{FF2B5EF4-FFF2-40B4-BE49-F238E27FC236}">
                <a16:creationId xmlns:a16="http://schemas.microsoft.com/office/drawing/2014/main" id="{047A5DB7-35F3-BD65-7B48-83E675338293}"/>
              </a:ext>
            </a:extLst>
          </p:cNvPr>
          <p:cNvSpPr>
            <a:spLocks noChangeArrowheads="1"/>
          </p:cNvSpPr>
          <p:nvPr/>
        </p:nvSpPr>
        <p:spPr bwMode="ltGray">
          <a:xfrm>
            <a:off x="3928293" y="5271935"/>
            <a:ext cx="7136259" cy="1181401"/>
          </a:xfrm>
          <a:prstGeom prst="roundRect">
            <a:avLst>
              <a:gd name="adj" fmla="val 11505"/>
            </a:avLst>
          </a:prstGeom>
          <a:noFill/>
          <a:ln w="15875" cap="flat" cmpd="sng" algn="ctr">
            <a:solidFill>
              <a:srgbClr val="1669AB"/>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fontAlgn="base">
              <a:lnSpc>
                <a:spcPct val="120000"/>
              </a:lnSpc>
              <a:spcBef>
                <a:spcPct val="0"/>
              </a:spcBef>
              <a:spcAft>
                <a:spcPct val="0"/>
              </a:spcAft>
              <a:defRPr/>
            </a:pPr>
            <a:r>
              <a:rPr lang="zh-CN" altLang="en-US" dirty="0">
                <a:solidFill>
                  <a:prstClr val="black">
                    <a:lumMod val="75000"/>
                    <a:lumOff val="25000"/>
                  </a:prstClr>
                </a:solidFill>
                <a:latin typeface="Calibri" panose="020F0502020204030204" pitchFamily="34" charset="0"/>
                <a:ea typeface="微软雅黑" pitchFamily="34" charset="-122"/>
              </a:rPr>
              <a:t>其活性异常与衰老、神经退行性疾病（如阿尔茨海默病）、心血管疾病、癌症等密切相关</a:t>
            </a:r>
            <a:r>
              <a:rPr lang="en-US" altLang="zh-CN" dirty="0">
                <a:solidFill>
                  <a:prstClr val="black">
                    <a:lumMod val="75000"/>
                    <a:lumOff val="25000"/>
                  </a:prstClr>
                </a:solidFill>
                <a:latin typeface="Calibri" panose="020F0502020204030204" pitchFamily="34" charset="0"/>
                <a:ea typeface="微软雅黑" pitchFamily="34" charset="-122"/>
              </a:rPr>
              <a:t>——</a:t>
            </a:r>
            <a:r>
              <a:rPr lang="zh-CN" altLang="en-US" dirty="0">
                <a:solidFill>
                  <a:prstClr val="black">
                    <a:lumMod val="75000"/>
                    <a:lumOff val="25000"/>
                  </a:prstClr>
                </a:solidFill>
                <a:latin typeface="Calibri" panose="020F0502020204030204" pitchFamily="34" charset="0"/>
                <a:ea typeface="微软雅黑" pitchFamily="34" charset="-122"/>
              </a:rPr>
              <a:t>例如，衰老组织中</a:t>
            </a:r>
            <a:r>
              <a:rPr lang="en-US" altLang="zh-CN" dirty="0">
                <a:solidFill>
                  <a:prstClr val="black">
                    <a:lumMod val="75000"/>
                    <a:lumOff val="25000"/>
                  </a:prstClr>
                </a:solidFill>
                <a:latin typeface="Calibri" panose="020F0502020204030204" pitchFamily="34" charset="0"/>
                <a:ea typeface="微软雅黑" pitchFamily="34" charset="-122"/>
              </a:rPr>
              <a:t>SOD</a:t>
            </a:r>
            <a:r>
              <a:rPr lang="zh-CN" altLang="en-US" dirty="0">
                <a:solidFill>
                  <a:prstClr val="black">
                    <a:lumMod val="75000"/>
                    <a:lumOff val="25000"/>
                  </a:prstClr>
                </a:solidFill>
                <a:latin typeface="Calibri" panose="020F0502020204030204" pitchFamily="34" charset="0"/>
                <a:ea typeface="微软雅黑" pitchFamily="34" charset="-122"/>
              </a:rPr>
              <a:t>活性普遍下降，而疾病状态下</a:t>
            </a:r>
            <a:r>
              <a:rPr lang="en-US" altLang="zh-CN" dirty="0">
                <a:solidFill>
                  <a:prstClr val="black">
                    <a:lumMod val="75000"/>
                    <a:lumOff val="25000"/>
                  </a:prstClr>
                </a:solidFill>
                <a:latin typeface="Calibri" panose="020F0502020204030204" pitchFamily="34" charset="0"/>
                <a:ea typeface="微软雅黑" pitchFamily="34" charset="-122"/>
              </a:rPr>
              <a:t>SOD</a:t>
            </a:r>
            <a:r>
              <a:rPr lang="zh-CN" altLang="en-US" dirty="0">
                <a:solidFill>
                  <a:prstClr val="black">
                    <a:lumMod val="75000"/>
                    <a:lumOff val="25000"/>
                  </a:prstClr>
                </a:solidFill>
                <a:latin typeface="Calibri" panose="020F0502020204030204" pitchFamily="34" charset="0"/>
                <a:ea typeface="微软雅黑" pitchFamily="34" charset="-122"/>
              </a:rPr>
              <a:t>水平常作为预后标志物。</a:t>
            </a:r>
            <a:endParaRPr lang="zh-CN" altLang="zh-CN" dirty="0">
              <a:solidFill>
                <a:prstClr val="black">
                  <a:lumMod val="75000"/>
                  <a:lumOff val="25000"/>
                </a:prstClr>
              </a:solidFill>
              <a:latin typeface="Calibri" panose="020F0502020204030204" pitchFamily="34" charset="0"/>
              <a:ea typeface="微软雅黑" pitchFamily="34" charset="-122"/>
            </a:endParaRPr>
          </a:p>
        </p:txBody>
      </p:sp>
      <p:sp>
        <p:nvSpPr>
          <p:cNvPr id="4" name="标题3">
            <a:extLst>
              <a:ext uri="{FF2B5EF4-FFF2-40B4-BE49-F238E27FC236}">
                <a16:creationId xmlns:a16="http://schemas.microsoft.com/office/drawing/2014/main" id="{5C680785-B7EA-531E-5C9F-15C0A701E42B}"/>
              </a:ext>
            </a:extLst>
          </p:cNvPr>
          <p:cNvSpPr>
            <a:spLocks noChangeArrowheads="1"/>
          </p:cNvSpPr>
          <p:nvPr/>
        </p:nvSpPr>
        <p:spPr bwMode="gray">
          <a:xfrm>
            <a:off x="2685688" y="5271935"/>
            <a:ext cx="1242605" cy="1181401"/>
          </a:xfrm>
          <a:prstGeom prst="roundRect">
            <a:avLst>
              <a:gd name="adj" fmla="val 11921"/>
            </a:avLst>
          </a:prstGeom>
          <a:solidFill>
            <a:srgbClr val="1669AB"/>
          </a:solidFill>
          <a:ln w="25400" cap="flat" cmpd="sng" algn="ctr">
            <a:no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9170" fontAlgn="base">
              <a:lnSpc>
                <a:spcPct val="120000"/>
              </a:lnSpc>
              <a:spcBef>
                <a:spcPct val="0"/>
              </a:spcBef>
              <a:spcAft>
                <a:spcPct val="0"/>
              </a:spcAft>
              <a:defRPr/>
            </a:pPr>
            <a:r>
              <a:rPr lang="zh-CN" altLang="en-US" b="1" dirty="0">
                <a:solidFill>
                  <a:sysClr val="window" lastClr="FFFFFF">
                    <a:lumMod val="95000"/>
                  </a:sysClr>
                </a:solidFill>
                <a:latin typeface="微软雅黑" pitchFamily="34" charset="-122"/>
                <a:ea typeface="微软雅黑" pitchFamily="34" charset="-122"/>
              </a:rPr>
              <a:t>关联多种病理过程</a:t>
            </a:r>
            <a:endParaRPr lang="zh-CN" altLang="zh-CN" b="1" dirty="0">
              <a:solidFill>
                <a:sysClr val="window" lastClr="FFFFFF">
                  <a:lumMod val="95000"/>
                </a:sysClr>
              </a:solidFill>
              <a:latin typeface="微软雅黑" pitchFamily="34" charset="-122"/>
              <a:ea typeface="微软雅黑" pitchFamily="34" charset="-122"/>
            </a:endParaRPr>
          </a:p>
        </p:txBody>
      </p:sp>
      <p:sp>
        <p:nvSpPr>
          <p:cNvPr id="5" name="文本框 4">
            <a:extLst>
              <a:ext uri="{FF2B5EF4-FFF2-40B4-BE49-F238E27FC236}">
                <a16:creationId xmlns:a16="http://schemas.microsoft.com/office/drawing/2014/main" id="{1849E52E-C2AE-D377-9C93-80D2E32B8FD3}"/>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Tree>
    <p:extLst>
      <p:ext uri="{BB962C8B-B14F-4D97-AF65-F5344CB8AC3E}">
        <p14:creationId xmlns:p14="http://schemas.microsoft.com/office/powerpoint/2010/main" val="4077480680"/>
      </p:ext>
    </p:extLst>
  </p:cSld>
  <p:clrMapOvr>
    <a:masterClrMapping/>
  </p:clrMapOvr>
  <mc:AlternateContent xmlns:mc="http://schemas.openxmlformats.org/markup-compatibility/2006" xmlns:p14="http://schemas.microsoft.com/office/powerpoint/2010/main">
    <mc:Choice Requires="p14">
      <p:transition spd="slow" p14:dur="15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1EE48A0-AD0F-454E-BFAD-6E2D5C7FCD04}"/>
              </a:ext>
            </a:extLst>
          </p:cNvPr>
          <p:cNvGrpSpPr/>
          <p:nvPr/>
        </p:nvGrpSpPr>
        <p:grpSpPr>
          <a:xfrm>
            <a:off x="0" y="374221"/>
            <a:ext cx="3575720" cy="792088"/>
            <a:chOff x="0" y="374221"/>
            <a:chExt cx="3575720" cy="792088"/>
          </a:xfrm>
        </p:grpSpPr>
        <p:sp>
          <p:nvSpPr>
            <p:cNvPr id="7" name="矩形 6">
              <a:extLst>
                <a:ext uri="{FF2B5EF4-FFF2-40B4-BE49-F238E27FC236}">
                  <a16:creationId xmlns:a16="http://schemas.microsoft.com/office/drawing/2014/main" id="{5E5FDBC2-4F14-418B-9C6B-471DB57674F9}"/>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cxnSp>
          <p:nvCxnSpPr>
            <p:cNvPr id="10" name="直接连接符 9">
              <a:extLst>
                <a:ext uri="{FF2B5EF4-FFF2-40B4-BE49-F238E27FC236}">
                  <a16:creationId xmlns:a16="http://schemas.microsoft.com/office/drawing/2014/main" id="{1EB0EF1F-F7FB-4ED3-8798-96244677B16B}"/>
                </a:ext>
              </a:extLst>
            </p:cNvPr>
            <p:cNvCxnSpPr/>
            <p:nvPr/>
          </p:nvCxnSpPr>
          <p:spPr>
            <a:xfrm>
              <a:off x="695400" y="939207"/>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A86A43A1-7972-45C2-AC95-BD653189B5D8}"/>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A92B3E3C-5A8F-4F07-942E-A8A4BD65E9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8C78F2B7-3CBC-49D3-8700-5A3C81124D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7D7F5D65-84AD-427A-B2EC-0E04F88E9EA0}"/>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8" name="图片 17">
            <a:extLst>
              <a:ext uri="{FF2B5EF4-FFF2-40B4-BE49-F238E27FC236}">
                <a16:creationId xmlns:a16="http://schemas.microsoft.com/office/drawing/2014/main" id="{9A8E79EA-3ADF-4F44-8743-BED86D684BF4}"/>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grpSp>
        <p:nvGrpSpPr>
          <p:cNvPr id="21" name="组合 20">
            <a:extLst>
              <a:ext uri="{FF2B5EF4-FFF2-40B4-BE49-F238E27FC236}">
                <a16:creationId xmlns:a16="http://schemas.microsoft.com/office/drawing/2014/main" id="{632BFE6A-DD60-4579-981E-E72DFB8EE030}"/>
              </a:ext>
            </a:extLst>
          </p:cNvPr>
          <p:cNvGrpSpPr/>
          <p:nvPr/>
        </p:nvGrpSpPr>
        <p:grpSpPr>
          <a:xfrm>
            <a:off x="3143002" y="1462101"/>
            <a:ext cx="8250581" cy="2540091"/>
            <a:chOff x="4238859" y="1324283"/>
            <a:chExt cx="8250581" cy="2540091"/>
          </a:xfrm>
        </p:grpSpPr>
        <p:sp>
          <p:nvSpPr>
            <p:cNvPr id="22" name="矩形 3">
              <a:extLst>
                <a:ext uri="{FF2B5EF4-FFF2-40B4-BE49-F238E27FC236}">
                  <a16:creationId xmlns:a16="http://schemas.microsoft.com/office/drawing/2014/main" id="{6964A034-8A9A-4E92-8810-2E88CBACDACF}"/>
                </a:ext>
              </a:extLst>
            </p:cNvPr>
            <p:cNvSpPr/>
            <p:nvPr/>
          </p:nvSpPr>
          <p:spPr>
            <a:xfrm>
              <a:off x="5026257" y="1556555"/>
              <a:ext cx="7463183" cy="2138622"/>
            </a:xfrm>
            <a:custGeom>
              <a:avLst/>
              <a:gdLst>
                <a:gd name="connsiteX0" fmla="*/ 0 w 5688632"/>
                <a:gd name="connsiteY0" fmla="*/ 0 h 2053062"/>
                <a:gd name="connsiteX1" fmla="*/ 5688632 w 5688632"/>
                <a:gd name="connsiteY1" fmla="*/ 0 h 2053062"/>
                <a:gd name="connsiteX2" fmla="*/ 5688632 w 5688632"/>
                <a:gd name="connsiteY2" fmla="*/ 2053062 h 2053062"/>
                <a:gd name="connsiteX3" fmla="*/ 0 w 5688632"/>
                <a:gd name="connsiteY3" fmla="*/ 2053062 h 2053062"/>
                <a:gd name="connsiteX4" fmla="*/ 0 w 5688632"/>
                <a:gd name="connsiteY4" fmla="*/ 0 h 2053062"/>
                <a:gd name="connsiteX0" fmla="*/ 433137 w 5688632"/>
                <a:gd name="connsiteY0" fmla="*/ 12032 h 2053062"/>
                <a:gd name="connsiteX1" fmla="*/ 5688632 w 5688632"/>
                <a:gd name="connsiteY1" fmla="*/ 0 h 2053062"/>
                <a:gd name="connsiteX2" fmla="*/ 5688632 w 5688632"/>
                <a:gd name="connsiteY2" fmla="*/ 2053062 h 2053062"/>
                <a:gd name="connsiteX3" fmla="*/ 0 w 5688632"/>
                <a:gd name="connsiteY3" fmla="*/ 2053062 h 2053062"/>
                <a:gd name="connsiteX4" fmla="*/ 433137 w 5688632"/>
                <a:gd name="connsiteY4" fmla="*/ 12032 h 205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632" h="2053062">
                  <a:moveTo>
                    <a:pt x="433137" y="12032"/>
                  </a:moveTo>
                  <a:lnTo>
                    <a:pt x="5688632" y="0"/>
                  </a:lnTo>
                  <a:lnTo>
                    <a:pt x="5688632" y="2053062"/>
                  </a:lnTo>
                  <a:lnTo>
                    <a:pt x="0" y="2053062"/>
                  </a:lnTo>
                  <a:lnTo>
                    <a:pt x="433137" y="12032"/>
                  </a:lnTo>
                  <a:close/>
                </a:path>
              </a:pathLst>
            </a:custGeom>
            <a:solidFill>
              <a:schemeClr val="bg1">
                <a:lumMod val="75000"/>
              </a:schemeClr>
            </a:solidFill>
            <a:ln w="25400" cap="flat" cmpd="sng" algn="ctr">
              <a:noFill/>
              <a:prstDash val="solid"/>
            </a:ln>
            <a:effectLst/>
          </p:spPr>
          <p:txBody>
            <a:bodyPr lIns="2160000" tIns="62400" rIns="96000" bIns="62400" anchor="ctr"/>
            <a:lstStyle/>
            <a:p>
              <a:pPr defTabSz="457189">
                <a:lnSpc>
                  <a:spcPct val="140000"/>
                </a:lnSpc>
                <a:defRPr/>
              </a:pPr>
              <a:endParaRPr lang="zh-CN" altLang="en-US" sz="1600" kern="0" dirty="0">
                <a:solidFill>
                  <a:srgbClr val="071F65">
                    <a:lumMod val="75000"/>
                  </a:srgbClr>
                </a:solidFill>
                <a:latin typeface="微软雅黑" panose="020B0503020204020204" pitchFamily="34" charset="-122"/>
                <a:ea typeface="微软雅黑" panose="020B0503020204020204" pitchFamily="34" charset="-122"/>
              </a:endParaRPr>
            </a:p>
          </p:txBody>
        </p:sp>
        <p:sp>
          <p:nvSpPr>
            <p:cNvPr id="23" name="直角三角形 2">
              <a:extLst>
                <a:ext uri="{FF2B5EF4-FFF2-40B4-BE49-F238E27FC236}">
                  <a16:creationId xmlns:a16="http://schemas.microsoft.com/office/drawing/2014/main" id="{95E975FB-230E-4969-8FA0-6DFCF7661ED9}"/>
                </a:ext>
              </a:extLst>
            </p:cNvPr>
            <p:cNvSpPr/>
            <p:nvPr/>
          </p:nvSpPr>
          <p:spPr>
            <a:xfrm rot="17117050" flipH="1">
              <a:off x="5042291" y="2515071"/>
              <a:ext cx="1386578" cy="1312027"/>
            </a:xfrm>
            <a:custGeom>
              <a:avLst/>
              <a:gdLst>
                <a:gd name="connsiteX0" fmla="*/ 0 w 2088232"/>
                <a:gd name="connsiteY0" fmla="*/ 1842558 h 1842558"/>
                <a:gd name="connsiteX1" fmla="*/ 0 w 2088232"/>
                <a:gd name="connsiteY1" fmla="*/ 0 h 1842558"/>
                <a:gd name="connsiteX2" fmla="*/ 2088232 w 2088232"/>
                <a:gd name="connsiteY2" fmla="*/ 1842558 h 1842558"/>
                <a:gd name="connsiteX3" fmla="*/ 0 w 2088232"/>
                <a:gd name="connsiteY3" fmla="*/ 1842558 h 1842558"/>
                <a:gd name="connsiteX0" fmla="*/ 0 w 1625488"/>
                <a:gd name="connsiteY0" fmla="*/ 1842558 h 1842558"/>
                <a:gd name="connsiteX1" fmla="*/ 0 w 1625488"/>
                <a:gd name="connsiteY1" fmla="*/ 0 h 1842558"/>
                <a:gd name="connsiteX2" fmla="*/ 1625488 w 1625488"/>
                <a:gd name="connsiteY2" fmla="*/ 843012 h 1842558"/>
                <a:gd name="connsiteX3" fmla="*/ 0 w 1625488"/>
                <a:gd name="connsiteY3" fmla="*/ 1842558 h 1842558"/>
                <a:gd name="connsiteX0" fmla="*/ 0 w 1690209"/>
                <a:gd name="connsiteY0" fmla="*/ 1842558 h 1842558"/>
                <a:gd name="connsiteX1" fmla="*/ 0 w 1690209"/>
                <a:gd name="connsiteY1" fmla="*/ 0 h 1842558"/>
                <a:gd name="connsiteX2" fmla="*/ 1690209 w 1690209"/>
                <a:gd name="connsiteY2" fmla="*/ 149753 h 1842558"/>
                <a:gd name="connsiteX3" fmla="*/ 0 w 1690209"/>
                <a:gd name="connsiteY3" fmla="*/ 1842558 h 1842558"/>
              </a:gdLst>
              <a:ahLst/>
              <a:cxnLst>
                <a:cxn ang="0">
                  <a:pos x="connsiteX0" y="connsiteY0"/>
                </a:cxn>
                <a:cxn ang="0">
                  <a:pos x="connsiteX1" y="connsiteY1"/>
                </a:cxn>
                <a:cxn ang="0">
                  <a:pos x="connsiteX2" y="connsiteY2"/>
                </a:cxn>
                <a:cxn ang="0">
                  <a:pos x="connsiteX3" y="connsiteY3"/>
                </a:cxn>
              </a:cxnLst>
              <a:rect l="l" t="t" r="r" b="b"/>
              <a:pathLst>
                <a:path w="1690209" h="1842558">
                  <a:moveTo>
                    <a:pt x="0" y="1842558"/>
                  </a:moveTo>
                  <a:lnTo>
                    <a:pt x="0" y="0"/>
                  </a:lnTo>
                  <a:lnTo>
                    <a:pt x="1690209" y="149753"/>
                  </a:lnTo>
                  <a:lnTo>
                    <a:pt x="0" y="1842558"/>
                  </a:lnTo>
                  <a:close/>
                </a:path>
              </a:pathLst>
            </a:custGeom>
            <a:solidFill>
              <a:schemeClr val="tx1">
                <a:lumMod val="50000"/>
                <a:lumOff val="50000"/>
              </a:schemeClr>
            </a:solidFill>
            <a:ln w="25400" cap="flat" cmpd="sng" algn="ctr">
              <a:noFill/>
              <a:prstDash val="solid"/>
            </a:ln>
            <a:effectLst/>
          </p:spPr>
          <p:txBody>
            <a:bodyPr anchor="ctr"/>
            <a:lstStyle/>
            <a:p>
              <a:pPr algn="ctr" defTabSz="457189">
                <a:defRPr/>
              </a:pPr>
              <a:endParaRPr lang="zh-CN" altLang="en-US" sz="1333" kern="0">
                <a:solidFill>
                  <a:sysClr val="window" lastClr="FFFFFF"/>
                </a:solidFill>
                <a:latin typeface="微软雅黑" panose="020B0503020204020204" pitchFamily="34" charset="-122"/>
                <a:ea typeface="微软雅黑" panose="020B0503020204020204" pitchFamily="34" charset="-122"/>
              </a:endParaRPr>
            </a:p>
          </p:txBody>
        </p:sp>
        <p:sp>
          <p:nvSpPr>
            <p:cNvPr id="24" name="任意多边形 29">
              <a:extLst>
                <a:ext uri="{FF2B5EF4-FFF2-40B4-BE49-F238E27FC236}">
                  <a16:creationId xmlns:a16="http://schemas.microsoft.com/office/drawing/2014/main" id="{6A79E1E7-E7D5-41EE-9CD6-0054257E9BDD}"/>
                </a:ext>
              </a:extLst>
            </p:cNvPr>
            <p:cNvSpPr/>
            <p:nvPr/>
          </p:nvSpPr>
          <p:spPr>
            <a:xfrm>
              <a:off x="4238859" y="1324283"/>
              <a:ext cx="2314575" cy="1370013"/>
            </a:xfrm>
            <a:custGeom>
              <a:avLst/>
              <a:gdLst>
                <a:gd name="connsiteX0" fmla="*/ 271763 w 2315387"/>
                <a:gd name="connsiteY0" fmla="*/ 0 h 1620180"/>
                <a:gd name="connsiteX1" fmla="*/ 1824103 w 2315387"/>
                <a:gd name="connsiteY1" fmla="*/ 232317 h 1620180"/>
                <a:gd name="connsiteX2" fmla="*/ 2315387 w 2315387"/>
                <a:gd name="connsiteY2" fmla="*/ 1620180 h 1620180"/>
                <a:gd name="connsiteX3" fmla="*/ 0 w 2315387"/>
                <a:gd name="connsiteY3" fmla="*/ 1528412 h 1620180"/>
              </a:gdLst>
              <a:ahLst/>
              <a:cxnLst>
                <a:cxn ang="0">
                  <a:pos x="connsiteX0" y="connsiteY0"/>
                </a:cxn>
                <a:cxn ang="0">
                  <a:pos x="connsiteX1" y="connsiteY1"/>
                </a:cxn>
                <a:cxn ang="0">
                  <a:pos x="connsiteX2" y="connsiteY2"/>
                </a:cxn>
                <a:cxn ang="0">
                  <a:pos x="connsiteX3" y="connsiteY3"/>
                </a:cxn>
              </a:cxnLst>
              <a:rect l="l" t="t" r="r" b="b"/>
              <a:pathLst>
                <a:path w="2315387" h="1620180">
                  <a:moveTo>
                    <a:pt x="271763" y="0"/>
                  </a:moveTo>
                  <a:lnTo>
                    <a:pt x="1824103" y="232317"/>
                  </a:lnTo>
                  <a:lnTo>
                    <a:pt x="2315387" y="1620180"/>
                  </a:lnTo>
                  <a:lnTo>
                    <a:pt x="0" y="1528412"/>
                  </a:lnTo>
                  <a:close/>
                </a:path>
              </a:pathLst>
            </a:custGeom>
            <a:solidFill>
              <a:srgbClr val="1669AB"/>
            </a:solidFill>
            <a:ln w="25400" cap="flat" cmpd="sng" algn="ctr">
              <a:noFill/>
              <a:prstDash val="solid"/>
            </a:ln>
            <a:effectLst/>
          </p:spPr>
          <p:txBody>
            <a:bodyPr lIns="0" tIns="0" rIns="0" bIns="0" anchor="ctr"/>
            <a:lstStyle/>
            <a:p>
              <a:pPr algn="ctr" defTabSz="457189">
                <a:defRPr/>
              </a:pPr>
              <a:endParaRPr lang="zh-CN" altLang="en-US" sz="2000" kern="0" dirty="0">
                <a:solidFill>
                  <a:srgbClr val="FFFFFF"/>
                </a:solidFill>
                <a:latin typeface="微软雅黑" panose="020B0503020204020204" pitchFamily="34" charset="-122"/>
                <a:ea typeface="微软雅黑" panose="020B0503020204020204" pitchFamily="34" charset="-122"/>
              </a:endParaRPr>
            </a:p>
          </p:txBody>
        </p:sp>
        <p:sp>
          <p:nvSpPr>
            <p:cNvPr id="25" name="TextBox 7">
              <a:extLst>
                <a:ext uri="{FF2B5EF4-FFF2-40B4-BE49-F238E27FC236}">
                  <a16:creationId xmlns:a16="http://schemas.microsoft.com/office/drawing/2014/main" id="{2D47AAB9-1FE3-47F0-9CB2-6549B0CE3285}"/>
                </a:ext>
              </a:extLst>
            </p:cNvPr>
            <p:cNvSpPr txBox="1"/>
            <p:nvPr/>
          </p:nvSpPr>
          <p:spPr>
            <a:xfrm>
              <a:off x="4412243" y="1748102"/>
              <a:ext cx="1760683" cy="461665"/>
            </a:xfrm>
            <a:prstGeom prst="rect">
              <a:avLst/>
            </a:prstGeom>
            <a:noFill/>
          </p:spPr>
          <p:txBody>
            <a:bodyPr wrap="square" rtlCol="0">
              <a:spAutoFit/>
            </a:bodyPr>
            <a:lstStyle/>
            <a:p>
              <a:pPr algn="ctr" defTabSz="457189"/>
              <a:r>
                <a:rPr lang="zh-CN" altLang="en-US" sz="2400" b="1" dirty="0">
                  <a:solidFill>
                    <a:prstClr val="white"/>
                  </a:solidFill>
                  <a:latin typeface="微软雅黑" panose="020B0503020204020204" pitchFamily="34" charset="-122"/>
                  <a:ea typeface="微软雅黑" panose="020B0503020204020204" pitchFamily="34" charset="-122"/>
                  <a:cs typeface="微软雅黑"/>
                </a:rPr>
                <a:t>作用机理</a:t>
              </a:r>
            </a:p>
          </p:txBody>
        </p:sp>
        <p:sp>
          <p:nvSpPr>
            <p:cNvPr id="26" name="Text Box 13">
              <a:extLst>
                <a:ext uri="{FF2B5EF4-FFF2-40B4-BE49-F238E27FC236}">
                  <a16:creationId xmlns:a16="http://schemas.microsoft.com/office/drawing/2014/main" id="{C4AB6414-B167-4547-9465-E7B2E501114F}"/>
                </a:ext>
              </a:extLst>
            </p:cNvPr>
            <p:cNvSpPr txBox="1">
              <a:spLocks noChangeArrowheads="1"/>
            </p:cNvSpPr>
            <p:nvPr/>
          </p:nvSpPr>
          <p:spPr bwMode="gray">
            <a:xfrm>
              <a:off x="6569956" y="1787698"/>
              <a:ext cx="5734469" cy="179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20650" indent="-12065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marL="0" indent="0" algn="just" defTabSz="457189">
                <a:lnSpc>
                  <a:spcPct val="125000"/>
                </a:lnSpc>
              </a:pP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活性中心的金属离子（如</a:t>
              </a:r>
              <a:r>
                <a:rPr lang="en-US" altLang="zh-CN" dirty="0">
                  <a:solidFill>
                    <a:prstClr val="black">
                      <a:lumMod val="85000"/>
                      <a:lumOff val="15000"/>
                    </a:prstClr>
                  </a:solidFill>
                  <a:latin typeface="Calibri" panose="020F0502020204030204" pitchFamily="34" charset="0"/>
                  <a:ea typeface="微软雅黑" pitchFamily="34" charset="-122"/>
                </a:rPr>
                <a:t>Cu²⁺/Zn²⁺</a:t>
              </a:r>
              <a:r>
                <a:rPr lang="zh-CN" altLang="en-US" dirty="0">
                  <a:solidFill>
                    <a:prstClr val="black">
                      <a:lumMod val="85000"/>
                      <a:lumOff val="15000"/>
                    </a:prstClr>
                  </a:solidFill>
                  <a:latin typeface="Calibri" panose="020F0502020204030204" pitchFamily="34" charset="0"/>
                  <a:ea typeface="微软雅黑" pitchFamily="34" charset="-122"/>
                </a:rPr>
                <a:t>、</a:t>
              </a:r>
              <a:r>
                <a:rPr lang="en-US" altLang="zh-CN" dirty="0">
                  <a:solidFill>
                    <a:prstClr val="black">
                      <a:lumMod val="85000"/>
                      <a:lumOff val="15000"/>
                    </a:prstClr>
                  </a:solidFill>
                  <a:latin typeface="Calibri" panose="020F0502020204030204" pitchFamily="34" charset="0"/>
                  <a:ea typeface="微软雅黑" pitchFamily="34" charset="-122"/>
                </a:rPr>
                <a:t>Mn³⁺</a:t>
              </a:r>
              <a:r>
                <a:rPr lang="zh-CN" altLang="en-US" dirty="0">
                  <a:solidFill>
                    <a:prstClr val="black">
                      <a:lumMod val="85000"/>
                      <a:lumOff val="15000"/>
                    </a:prstClr>
                  </a:solidFill>
                  <a:latin typeface="Calibri" panose="020F0502020204030204" pitchFamily="34" charset="0"/>
                  <a:ea typeface="微软雅黑" pitchFamily="34" charset="-122"/>
                </a:rPr>
                <a:t>、</a:t>
              </a:r>
              <a:r>
                <a:rPr lang="en-US" altLang="zh-CN" dirty="0">
                  <a:solidFill>
                    <a:prstClr val="black">
                      <a:lumMod val="85000"/>
                      <a:lumOff val="15000"/>
                    </a:prstClr>
                  </a:solidFill>
                  <a:latin typeface="Calibri" panose="020F0502020204030204" pitchFamily="34" charset="0"/>
                  <a:ea typeface="微软雅黑" pitchFamily="34" charset="-122"/>
                </a:rPr>
                <a:t>Fe³⁺</a:t>
              </a:r>
              <a:r>
                <a:rPr lang="zh-CN" altLang="en-US" dirty="0">
                  <a:solidFill>
                    <a:prstClr val="black">
                      <a:lumMod val="85000"/>
                      <a:lumOff val="15000"/>
                    </a:prstClr>
                  </a:solidFill>
                  <a:latin typeface="Calibri" panose="020F0502020204030204" pitchFamily="34" charset="0"/>
                  <a:ea typeface="微软雅黑" pitchFamily="34" charset="-122"/>
                </a:rPr>
                <a:t>）通过价态的可逆变化</a:t>
              </a:r>
              <a:r>
                <a:rPr lang="en-US" altLang="zh-CN" dirty="0">
                  <a:solidFill>
                    <a:prstClr val="black">
                      <a:lumMod val="85000"/>
                      <a:lumOff val="15000"/>
                    </a:prstClr>
                  </a:solidFill>
                  <a:latin typeface="Calibri" panose="020F0502020204030204" pitchFamily="34" charset="0"/>
                  <a:ea typeface="微软雅黑" pitchFamily="34" charset="-122"/>
                </a:rPr>
                <a:t>(</a:t>
              </a:r>
              <a:r>
                <a:rPr lang="zh-CN" altLang="en-US" dirty="0">
                  <a:solidFill>
                    <a:prstClr val="black">
                      <a:lumMod val="85000"/>
                      <a:lumOff val="15000"/>
                    </a:prstClr>
                  </a:solidFill>
                  <a:latin typeface="Calibri" panose="020F0502020204030204" pitchFamily="34" charset="0"/>
                  <a:ea typeface="微软雅黑" pitchFamily="34" charset="-122"/>
                </a:rPr>
                <a:t>得电子和失电子</a:t>
              </a:r>
              <a:r>
                <a:rPr lang="en-US" altLang="zh-CN" dirty="0">
                  <a:solidFill>
                    <a:prstClr val="black">
                      <a:lumMod val="85000"/>
                      <a:lumOff val="15000"/>
                    </a:prstClr>
                  </a:solidFill>
                  <a:latin typeface="Calibri" panose="020F0502020204030204" pitchFamily="34" charset="0"/>
                  <a:ea typeface="微软雅黑" pitchFamily="34" charset="-122"/>
                </a:rPr>
                <a:t>)</a:t>
              </a:r>
              <a:r>
                <a:rPr lang="zh-CN" altLang="en-US" dirty="0">
                  <a:solidFill>
                    <a:prstClr val="black">
                      <a:lumMod val="85000"/>
                      <a:lumOff val="15000"/>
                    </a:prstClr>
                  </a:solidFill>
                  <a:latin typeface="Calibri" panose="020F0502020204030204" pitchFamily="34" charset="0"/>
                  <a:ea typeface="微软雅黑" pitchFamily="34" charset="-122"/>
                </a:rPr>
                <a:t>，发生如下反应：</a:t>
              </a:r>
              <a:endParaRPr lang="en-US" altLang="zh-CN" dirty="0">
                <a:solidFill>
                  <a:prstClr val="black">
                    <a:lumMod val="85000"/>
                    <a:lumOff val="15000"/>
                  </a:prstClr>
                </a:solidFill>
                <a:latin typeface="Calibri" panose="020F0502020204030204" pitchFamily="34" charset="0"/>
                <a:ea typeface="微软雅黑" pitchFamily="34" charset="-122"/>
              </a:endParaRPr>
            </a:p>
            <a:p>
              <a:pPr marL="0" indent="0" algn="just" defTabSz="457189">
                <a:lnSpc>
                  <a:spcPct val="125000"/>
                </a:lnSpc>
              </a:pPr>
              <a:r>
                <a:rPr lang="zh-CN" altLang="en-US" dirty="0">
                  <a:latin typeface="Calibri" panose="020F0502020204030204" pitchFamily="34" charset="0"/>
                  <a:ea typeface="微软雅黑" panose="020B0503020204020204" pitchFamily="34" charset="-122"/>
                </a:rPr>
                <a:t>一个</a:t>
              </a:r>
              <a:r>
                <a:rPr lang="en-US" altLang="zh-CN" dirty="0">
                  <a:latin typeface="Calibri" panose="020F0502020204030204" pitchFamily="34" charset="0"/>
                  <a:ea typeface="微软雅黑" panose="020B0503020204020204" pitchFamily="34" charset="-122"/>
                </a:rPr>
                <a:t>O₂•⁻ </a:t>
              </a:r>
              <a:r>
                <a:rPr lang="zh-CN" altLang="en-US" dirty="0">
                  <a:latin typeface="Calibri" panose="020F0502020204030204" pitchFamily="34" charset="0"/>
                  <a:ea typeface="微软雅黑" panose="020B0503020204020204" pitchFamily="34" charset="-122"/>
                </a:rPr>
                <a:t>被氧化，生成氧气。</a:t>
              </a:r>
              <a:r>
                <a:rPr lang="en-US" altLang="zh-CN" dirty="0">
                  <a:latin typeface="Calibri" panose="020F0502020204030204" pitchFamily="34" charset="0"/>
                  <a:ea typeface="微软雅黑" panose="020B0503020204020204" pitchFamily="34" charset="-122"/>
                </a:rPr>
                <a:t>O₂•⁻ → O₂ + e⁻</a:t>
              </a:r>
            </a:p>
            <a:p>
              <a:pPr marL="0" indent="0" algn="just" defTabSz="457189">
                <a:lnSpc>
                  <a:spcPct val="125000"/>
                </a:lnSpc>
              </a:pPr>
              <a:r>
                <a:rPr lang="zh-CN" altLang="en-US" dirty="0">
                  <a:latin typeface="Calibri" panose="020F0502020204030204" pitchFamily="34" charset="0"/>
                  <a:ea typeface="微软雅黑" panose="020B0503020204020204" pitchFamily="34" charset="-122"/>
                </a:rPr>
                <a:t>一个</a:t>
              </a:r>
              <a:r>
                <a:rPr lang="en-US" altLang="zh-CN" dirty="0">
                  <a:latin typeface="Calibri" panose="020F0502020204030204" pitchFamily="34" charset="0"/>
                  <a:ea typeface="微软雅黑" panose="020B0503020204020204" pitchFamily="34" charset="-122"/>
                </a:rPr>
                <a:t>O₂•⁻</a:t>
              </a:r>
              <a:r>
                <a:rPr lang="zh-CN" altLang="en-US" dirty="0">
                  <a:latin typeface="Calibri" panose="020F0502020204030204" pitchFamily="34" charset="0"/>
                  <a:ea typeface="微软雅黑" panose="020B0503020204020204" pitchFamily="34" charset="-122"/>
                </a:rPr>
                <a:t>被还原，生成过氧化氢。</a:t>
              </a:r>
              <a:endParaRPr lang="en-US" altLang="zh-CN" dirty="0">
                <a:latin typeface="Calibri" panose="020F0502020204030204" pitchFamily="34" charset="0"/>
                <a:ea typeface="微软雅黑" panose="020B0503020204020204" pitchFamily="34" charset="-122"/>
              </a:endParaRPr>
            </a:p>
            <a:p>
              <a:pPr marL="0" indent="0" algn="just" defTabSz="457189">
                <a:lnSpc>
                  <a:spcPct val="125000"/>
                </a:lnSpc>
              </a:pPr>
              <a:r>
                <a:rPr lang="en-US" altLang="zh-CN" dirty="0">
                  <a:latin typeface="Calibri" panose="020F0502020204030204" pitchFamily="34" charset="0"/>
                  <a:ea typeface="微软雅黑" panose="020B0503020204020204" pitchFamily="34" charset="-122"/>
                </a:rPr>
                <a:t>O₂•⁻ + 2H⁺ + e⁻ → H₂O₂</a:t>
              </a:r>
              <a:endParaRPr lang="zh-CN" altLang="zh-CN" dirty="0">
                <a:latin typeface="Calibri" panose="020F0502020204030204" pitchFamily="34" charset="0"/>
                <a:ea typeface="微软雅黑" panose="020B0503020204020204" pitchFamily="34" charset="-122"/>
              </a:endParaRPr>
            </a:p>
          </p:txBody>
        </p:sp>
      </p:grpSp>
      <p:grpSp>
        <p:nvGrpSpPr>
          <p:cNvPr id="27" name="组合 26">
            <a:extLst>
              <a:ext uri="{FF2B5EF4-FFF2-40B4-BE49-F238E27FC236}">
                <a16:creationId xmlns:a16="http://schemas.microsoft.com/office/drawing/2014/main" id="{F43CFA6B-C7BE-4A4C-9A25-0FD45D9D0C67}"/>
              </a:ext>
            </a:extLst>
          </p:cNvPr>
          <p:cNvGrpSpPr/>
          <p:nvPr/>
        </p:nvGrpSpPr>
        <p:grpSpPr>
          <a:xfrm>
            <a:off x="1330249" y="3734552"/>
            <a:ext cx="8587315" cy="2563781"/>
            <a:chOff x="1706779" y="3596733"/>
            <a:chExt cx="8587315" cy="2563781"/>
          </a:xfrm>
        </p:grpSpPr>
        <p:sp>
          <p:nvSpPr>
            <p:cNvPr id="28" name="矩形 3">
              <a:extLst>
                <a:ext uri="{FF2B5EF4-FFF2-40B4-BE49-F238E27FC236}">
                  <a16:creationId xmlns:a16="http://schemas.microsoft.com/office/drawing/2014/main" id="{5768A40D-26CF-4C03-8A1E-42A2565F323B}"/>
                </a:ext>
              </a:extLst>
            </p:cNvPr>
            <p:cNvSpPr/>
            <p:nvPr/>
          </p:nvSpPr>
          <p:spPr>
            <a:xfrm>
              <a:off x="2474753" y="3847501"/>
              <a:ext cx="7819341" cy="2145768"/>
            </a:xfrm>
            <a:custGeom>
              <a:avLst/>
              <a:gdLst>
                <a:gd name="connsiteX0" fmla="*/ 0 w 5688632"/>
                <a:gd name="connsiteY0" fmla="*/ 0 h 2053062"/>
                <a:gd name="connsiteX1" fmla="*/ 5688632 w 5688632"/>
                <a:gd name="connsiteY1" fmla="*/ 0 h 2053062"/>
                <a:gd name="connsiteX2" fmla="*/ 5688632 w 5688632"/>
                <a:gd name="connsiteY2" fmla="*/ 2053062 h 2053062"/>
                <a:gd name="connsiteX3" fmla="*/ 0 w 5688632"/>
                <a:gd name="connsiteY3" fmla="*/ 2053062 h 2053062"/>
                <a:gd name="connsiteX4" fmla="*/ 0 w 5688632"/>
                <a:gd name="connsiteY4" fmla="*/ 0 h 2053062"/>
                <a:gd name="connsiteX0" fmla="*/ 433137 w 5688632"/>
                <a:gd name="connsiteY0" fmla="*/ 12032 h 2053062"/>
                <a:gd name="connsiteX1" fmla="*/ 5688632 w 5688632"/>
                <a:gd name="connsiteY1" fmla="*/ 0 h 2053062"/>
                <a:gd name="connsiteX2" fmla="*/ 5688632 w 5688632"/>
                <a:gd name="connsiteY2" fmla="*/ 2053062 h 2053062"/>
                <a:gd name="connsiteX3" fmla="*/ 0 w 5688632"/>
                <a:gd name="connsiteY3" fmla="*/ 2053062 h 2053062"/>
                <a:gd name="connsiteX4" fmla="*/ 433137 w 5688632"/>
                <a:gd name="connsiteY4" fmla="*/ 12032 h 2053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632" h="2053062">
                  <a:moveTo>
                    <a:pt x="433137" y="12032"/>
                  </a:moveTo>
                  <a:lnTo>
                    <a:pt x="5688632" y="0"/>
                  </a:lnTo>
                  <a:lnTo>
                    <a:pt x="5688632" y="2053062"/>
                  </a:lnTo>
                  <a:lnTo>
                    <a:pt x="0" y="2053062"/>
                  </a:lnTo>
                  <a:lnTo>
                    <a:pt x="433137" y="12032"/>
                  </a:lnTo>
                  <a:close/>
                </a:path>
              </a:pathLst>
            </a:custGeom>
            <a:solidFill>
              <a:schemeClr val="bg1">
                <a:lumMod val="75000"/>
              </a:schemeClr>
            </a:solidFill>
            <a:ln w="25400" cap="flat" cmpd="sng" algn="ctr">
              <a:noFill/>
              <a:prstDash val="solid"/>
            </a:ln>
            <a:effectLst/>
          </p:spPr>
          <p:txBody>
            <a:bodyPr lIns="2160000" tIns="62400" rIns="96000" bIns="62400" anchor="ctr"/>
            <a:lstStyle/>
            <a:p>
              <a:pPr defTabSz="457189">
                <a:lnSpc>
                  <a:spcPct val="140000"/>
                </a:lnSpc>
                <a:defRPr/>
              </a:pPr>
              <a:endParaRPr lang="zh-CN" altLang="en-US" sz="1600" kern="0" dirty="0">
                <a:solidFill>
                  <a:srgbClr val="071F65">
                    <a:lumMod val="75000"/>
                  </a:srgbClr>
                </a:solidFill>
                <a:latin typeface="微软雅黑" panose="020B0503020204020204" pitchFamily="34" charset="-122"/>
                <a:ea typeface="微软雅黑" panose="020B0503020204020204" pitchFamily="34" charset="-122"/>
              </a:endParaRPr>
            </a:p>
          </p:txBody>
        </p:sp>
        <p:sp>
          <p:nvSpPr>
            <p:cNvPr id="29" name="直角三角形 2">
              <a:extLst>
                <a:ext uri="{FF2B5EF4-FFF2-40B4-BE49-F238E27FC236}">
                  <a16:creationId xmlns:a16="http://schemas.microsoft.com/office/drawing/2014/main" id="{DA1C51DC-2AB4-4DCB-853D-E22F573C0FD8}"/>
                </a:ext>
              </a:extLst>
            </p:cNvPr>
            <p:cNvSpPr/>
            <p:nvPr/>
          </p:nvSpPr>
          <p:spPr>
            <a:xfrm rot="17117050" flipH="1">
              <a:off x="2486725" y="4791148"/>
              <a:ext cx="1408213" cy="1330520"/>
            </a:xfrm>
            <a:custGeom>
              <a:avLst/>
              <a:gdLst>
                <a:gd name="connsiteX0" fmla="*/ 0 w 2088232"/>
                <a:gd name="connsiteY0" fmla="*/ 1842558 h 1842558"/>
                <a:gd name="connsiteX1" fmla="*/ 0 w 2088232"/>
                <a:gd name="connsiteY1" fmla="*/ 0 h 1842558"/>
                <a:gd name="connsiteX2" fmla="*/ 2088232 w 2088232"/>
                <a:gd name="connsiteY2" fmla="*/ 1842558 h 1842558"/>
                <a:gd name="connsiteX3" fmla="*/ 0 w 2088232"/>
                <a:gd name="connsiteY3" fmla="*/ 1842558 h 1842558"/>
                <a:gd name="connsiteX0" fmla="*/ 0 w 1625488"/>
                <a:gd name="connsiteY0" fmla="*/ 1842558 h 1842558"/>
                <a:gd name="connsiteX1" fmla="*/ 0 w 1625488"/>
                <a:gd name="connsiteY1" fmla="*/ 0 h 1842558"/>
                <a:gd name="connsiteX2" fmla="*/ 1625488 w 1625488"/>
                <a:gd name="connsiteY2" fmla="*/ 843012 h 1842558"/>
                <a:gd name="connsiteX3" fmla="*/ 0 w 1625488"/>
                <a:gd name="connsiteY3" fmla="*/ 1842558 h 1842558"/>
                <a:gd name="connsiteX0" fmla="*/ 0 w 1690209"/>
                <a:gd name="connsiteY0" fmla="*/ 1842558 h 1842558"/>
                <a:gd name="connsiteX1" fmla="*/ 0 w 1690209"/>
                <a:gd name="connsiteY1" fmla="*/ 0 h 1842558"/>
                <a:gd name="connsiteX2" fmla="*/ 1690209 w 1690209"/>
                <a:gd name="connsiteY2" fmla="*/ 149753 h 1842558"/>
                <a:gd name="connsiteX3" fmla="*/ 0 w 1690209"/>
                <a:gd name="connsiteY3" fmla="*/ 1842558 h 1842558"/>
              </a:gdLst>
              <a:ahLst/>
              <a:cxnLst>
                <a:cxn ang="0">
                  <a:pos x="connsiteX0" y="connsiteY0"/>
                </a:cxn>
                <a:cxn ang="0">
                  <a:pos x="connsiteX1" y="connsiteY1"/>
                </a:cxn>
                <a:cxn ang="0">
                  <a:pos x="connsiteX2" y="connsiteY2"/>
                </a:cxn>
                <a:cxn ang="0">
                  <a:pos x="connsiteX3" y="connsiteY3"/>
                </a:cxn>
              </a:cxnLst>
              <a:rect l="l" t="t" r="r" b="b"/>
              <a:pathLst>
                <a:path w="1690209" h="1842558">
                  <a:moveTo>
                    <a:pt x="0" y="1842558"/>
                  </a:moveTo>
                  <a:lnTo>
                    <a:pt x="0" y="0"/>
                  </a:lnTo>
                  <a:lnTo>
                    <a:pt x="1690209" y="149753"/>
                  </a:lnTo>
                  <a:lnTo>
                    <a:pt x="0" y="1842558"/>
                  </a:lnTo>
                  <a:close/>
                </a:path>
              </a:pathLst>
            </a:custGeom>
            <a:solidFill>
              <a:schemeClr val="tx1">
                <a:lumMod val="50000"/>
                <a:lumOff val="50000"/>
              </a:schemeClr>
            </a:solidFill>
            <a:ln w="25400" cap="flat" cmpd="sng" algn="ctr">
              <a:noFill/>
              <a:prstDash val="solid"/>
            </a:ln>
            <a:effectLst/>
          </p:spPr>
          <p:txBody>
            <a:bodyPr anchor="ctr"/>
            <a:lstStyle/>
            <a:p>
              <a:pPr algn="ctr" defTabSz="457189">
                <a:defRPr/>
              </a:pPr>
              <a:endParaRPr lang="zh-CN" altLang="en-US" sz="1333" kern="0">
                <a:solidFill>
                  <a:sysClr val="window" lastClr="FFFFFF"/>
                </a:solidFill>
                <a:latin typeface="微软雅黑" panose="020B0503020204020204" pitchFamily="34" charset="-122"/>
                <a:ea typeface="微软雅黑" panose="020B0503020204020204" pitchFamily="34" charset="-122"/>
              </a:endParaRPr>
            </a:p>
          </p:txBody>
        </p:sp>
        <p:sp>
          <p:nvSpPr>
            <p:cNvPr id="30" name="任意多边形 35">
              <a:extLst>
                <a:ext uri="{FF2B5EF4-FFF2-40B4-BE49-F238E27FC236}">
                  <a16:creationId xmlns:a16="http://schemas.microsoft.com/office/drawing/2014/main" id="{11B32B61-88C1-426B-B670-E559457684A8}"/>
                </a:ext>
              </a:extLst>
            </p:cNvPr>
            <p:cNvSpPr/>
            <p:nvPr/>
          </p:nvSpPr>
          <p:spPr>
            <a:xfrm>
              <a:off x="1706779" y="3596733"/>
              <a:ext cx="2314575" cy="1370012"/>
            </a:xfrm>
            <a:custGeom>
              <a:avLst/>
              <a:gdLst>
                <a:gd name="connsiteX0" fmla="*/ 271763 w 2315387"/>
                <a:gd name="connsiteY0" fmla="*/ 0 h 1620180"/>
                <a:gd name="connsiteX1" fmla="*/ 1824103 w 2315387"/>
                <a:gd name="connsiteY1" fmla="*/ 232317 h 1620180"/>
                <a:gd name="connsiteX2" fmla="*/ 2315387 w 2315387"/>
                <a:gd name="connsiteY2" fmla="*/ 1620180 h 1620180"/>
                <a:gd name="connsiteX3" fmla="*/ 0 w 2315387"/>
                <a:gd name="connsiteY3" fmla="*/ 1528412 h 1620180"/>
              </a:gdLst>
              <a:ahLst/>
              <a:cxnLst>
                <a:cxn ang="0">
                  <a:pos x="connsiteX0" y="connsiteY0"/>
                </a:cxn>
                <a:cxn ang="0">
                  <a:pos x="connsiteX1" y="connsiteY1"/>
                </a:cxn>
                <a:cxn ang="0">
                  <a:pos x="connsiteX2" y="connsiteY2"/>
                </a:cxn>
                <a:cxn ang="0">
                  <a:pos x="connsiteX3" y="connsiteY3"/>
                </a:cxn>
              </a:cxnLst>
              <a:rect l="l" t="t" r="r" b="b"/>
              <a:pathLst>
                <a:path w="2315387" h="1620180">
                  <a:moveTo>
                    <a:pt x="271763" y="0"/>
                  </a:moveTo>
                  <a:lnTo>
                    <a:pt x="1824103" y="232317"/>
                  </a:lnTo>
                  <a:lnTo>
                    <a:pt x="2315387" y="1620180"/>
                  </a:lnTo>
                  <a:lnTo>
                    <a:pt x="0" y="1528412"/>
                  </a:lnTo>
                  <a:close/>
                </a:path>
              </a:pathLst>
            </a:custGeom>
            <a:solidFill>
              <a:srgbClr val="1669AB"/>
            </a:solidFill>
            <a:ln w="25400" cap="flat" cmpd="sng" algn="ctr">
              <a:noFill/>
              <a:prstDash val="solid"/>
            </a:ln>
            <a:effectLst/>
          </p:spPr>
          <p:txBody>
            <a:bodyPr lIns="0" tIns="0" rIns="0" bIns="0" anchor="ctr"/>
            <a:lstStyle/>
            <a:p>
              <a:pPr algn="ctr" defTabSz="457189">
                <a:defRPr/>
              </a:pPr>
              <a:endParaRPr lang="zh-CN" altLang="en-US" sz="2000" kern="0" dirty="0">
                <a:solidFill>
                  <a:srgbClr val="FFFFFF"/>
                </a:solidFill>
                <a:latin typeface="微软雅黑" panose="020B0503020204020204" pitchFamily="34" charset="-122"/>
                <a:ea typeface="微软雅黑" panose="020B0503020204020204" pitchFamily="34" charset="-122"/>
              </a:endParaRPr>
            </a:p>
          </p:txBody>
        </p:sp>
        <p:sp>
          <p:nvSpPr>
            <p:cNvPr id="31" name="TextBox 8">
              <a:extLst>
                <a:ext uri="{FF2B5EF4-FFF2-40B4-BE49-F238E27FC236}">
                  <a16:creationId xmlns:a16="http://schemas.microsoft.com/office/drawing/2014/main" id="{15CB2102-D290-469C-AC33-22CBFBCDD204}"/>
                </a:ext>
              </a:extLst>
            </p:cNvPr>
            <p:cNvSpPr txBox="1"/>
            <p:nvPr/>
          </p:nvSpPr>
          <p:spPr>
            <a:xfrm>
              <a:off x="1864171" y="3987849"/>
              <a:ext cx="1867972" cy="461665"/>
            </a:xfrm>
            <a:prstGeom prst="rect">
              <a:avLst/>
            </a:prstGeom>
            <a:noFill/>
          </p:spPr>
          <p:txBody>
            <a:bodyPr wrap="square" rtlCol="0">
              <a:spAutoFit/>
            </a:bodyPr>
            <a:lstStyle>
              <a:defPPr>
                <a:defRPr lang="zh-CN"/>
              </a:defPPr>
              <a:lvl1pPr algn="ctr">
                <a:defRPr b="1">
                  <a:solidFill>
                    <a:schemeClr val="tx2"/>
                  </a:solidFill>
                  <a:latin typeface="微软雅黑"/>
                  <a:ea typeface="微软雅黑"/>
                  <a:cs typeface="微软雅黑"/>
                </a:defRPr>
              </a:lvl1pPr>
            </a:lstStyle>
            <a:p>
              <a:pPr defTabSz="457189"/>
              <a:r>
                <a:rPr lang="zh-CN" altLang="en-US" sz="2400" dirty="0">
                  <a:solidFill>
                    <a:prstClr val="white"/>
                  </a:solidFill>
                  <a:latin typeface="微软雅黑" panose="020B0503020204020204" pitchFamily="34" charset="-122"/>
                  <a:ea typeface="微软雅黑" panose="020B0503020204020204" pitchFamily="34" charset="-122"/>
                </a:rPr>
                <a:t>重大意义</a:t>
              </a:r>
            </a:p>
          </p:txBody>
        </p:sp>
        <p:sp>
          <p:nvSpPr>
            <p:cNvPr id="32" name="Text Box 13">
              <a:extLst>
                <a:ext uri="{FF2B5EF4-FFF2-40B4-BE49-F238E27FC236}">
                  <a16:creationId xmlns:a16="http://schemas.microsoft.com/office/drawing/2014/main" id="{949BA295-E0BD-4916-8DC2-AD4172898A3A}"/>
                </a:ext>
              </a:extLst>
            </p:cNvPr>
            <p:cNvSpPr txBox="1">
              <a:spLocks noChangeArrowheads="1"/>
            </p:cNvSpPr>
            <p:nvPr/>
          </p:nvSpPr>
          <p:spPr bwMode="gray">
            <a:xfrm>
              <a:off x="4141445" y="3867245"/>
              <a:ext cx="6091531" cy="213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20650" indent="-120650">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marL="0" indent="0" defTabSz="457189">
                <a:lnSpc>
                  <a:spcPct val="125000"/>
                </a:lnSpc>
              </a:pPr>
              <a:r>
                <a:rPr lang="en-US" altLang="zh-CN" dirty="0">
                  <a:solidFill>
                    <a:prstClr val="black">
                      <a:lumMod val="85000"/>
                      <a:lumOff val="15000"/>
                    </a:prstClr>
                  </a:solidFill>
                  <a:latin typeface="Calibri" panose="020F0502020204030204" pitchFamily="34" charset="0"/>
                  <a:ea typeface="微软雅黑" pitchFamily="34" charset="-122"/>
                </a:rPr>
                <a:t>O₂⁻</a:t>
              </a:r>
              <a:r>
                <a:rPr lang="zh-CN" altLang="en-US" dirty="0">
                  <a:solidFill>
                    <a:prstClr val="black">
                      <a:lumMod val="85000"/>
                      <a:lumOff val="15000"/>
                    </a:prstClr>
                  </a:solidFill>
                  <a:latin typeface="Calibri" panose="020F0502020204030204" pitchFamily="34" charset="0"/>
                  <a:ea typeface="微软雅黑" pitchFamily="34" charset="-122"/>
                </a:rPr>
                <a:t>具有极强的氧化性，可直接攻击</a:t>
              </a:r>
              <a:r>
                <a:rPr lang="en-US" altLang="zh-CN" dirty="0">
                  <a:solidFill>
                    <a:prstClr val="black">
                      <a:lumMod val="85000"/>
                      <a:lumOff val="15000"/>
                    </a:prstClr>
                  </a:solidFill>
                  <a:latin typeface="Calibri" panose="020F0502020204030204" pitchFamily="34" charset="0"/>
                  <a:ea typeface="微软雅黑" pitchFamily="34" charset="-122"/>
                </a:rPr>
                <a:t>DNA</a:t>
              </a:r>
              <a:r>
                <a:rPr lang="zh-CN" altLang="en-US" dirty="0">
                  <a:solidFill>
                    <a:prstClr val="black">
                      <a:lumMod val="85000"/>
                      <a:lumOff val="15000"/>
                    </a:prstClr>
                  </a:solidFill>
                  <a:latin typeface="Calibri" panose="020F0502020204030204" pitchFamily="34" charset="0"/>
                  <a:ea typeface="微软雅黑" pitchFamily="34" charset="-122"/>
                </a:rPr>
                <a:t>（导致突变）、蛋白质（引发功能丧失）及脂质（诱发膜损伤），而</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将其转化为毒性较低的</a:t>
              </a:r>
              <a:r>
                <a:rPr lang="en-US" altLang="zh-CN" dirty="0">
                  <a:solidFill>
                    <a:prstClr val="black">
                      <a:lumMod val="85000"/>
                      <a:lumOff val="15000"/>
                    </a:prstClr>
                  </a:solidFill>
                  <a:latin typeface="Calibri" panose="020F0502020204030204" pitchFamily="34" charset="0"/>
                  <a:ea typeface="微软雅黑" pitchFamily="34" charset="-122"/>
                </a:rPr>
                <a:t>H₂O₂</a:t>
              </a:r>
              <a:r>
                <a:rPr lang="zh-CN" altLang="en-US" dirty="0">
                  <a:solidFill>
                    <a:prstClr val="black">
                      <a:lumMod val="85000"/>
                      <a:lumOff val="15000"/>
                    </a:prstClr>
                  </a:solidFill>
                  <a:latin typeface="Calibri" panose="020F0502020204030204" pitchFamily="34" charset="0"/>
                  <a:ea typeface="微软雅黑" pitchFamily="34" charset="-122"/>
                </a:rPr>
                <a:t>后，再通过下游抗氧化酶（如过氧化氢酶</a:t>
              </a:r>
              <a:r>
                <a:rPr lang="en-US" altLang="zh-CN" dirty="0">
                  <a:solidFill>
                    <a:prstClr val="black">
                      <a:lumMod val="85000"/>
                      <a:lumOff val="15000"/>
                    </a:prstClr>
                  </a:solidFill>
                  <a:latin typeface="Calibri" panose="020F0502020204030204" pitchFamily="34" charset="0"/>
                  <a:ea typeface="微软雅黑" pitchFamily="34" charset="-122"/>
                </a:rPr>
                <a:t>CAT</a:t>
              </a:r>
              <a:r>
                <a:rPr lang="zh-CN" altLang="en-US" dirty="0">
                  <a:solidFill>
                    <a:prstClr val="black">
                      <a:lumMod val="85000"/>
                      <a:lumOff val="15000"/>
                    </a:prstClr>
                  </a:solidFill>
                  <a:latin typeface="Calibri" panose="020F0502020204030204" pitchFamily="34" charset="0"/>
                  <a:ea typeface="微软雅黑" pitchFamily="34" charset="-122"/>
                </a:rPr>
                <a:t>、谷胱甘肽过氧化物酶</a:t>
              </a:r>
              <a:r>
                <a:rPr lang="en-US" altLang="zh-CN" dirty="0" err="1">
                  <a:solidFill>
                    <a:prstClr val="black">
                      <a:lumMod val="85000"/>
                      <a:lumOff val="15000"/>
                    </a:prstClr>
                  </a:solidFill>
                  <a:latin typeface="Calibri" panose="020F0502020204030204" pitchFamily="34" charset="0"/>
                  <a:ea typeface="微软雅黑" pitchFamily="34" charset="-122"/>
                </a:rPr>
                <a:t>GPx</a:t>
              </a:r>
              <a:r>
                <a:rPr lang="zh-CN" altLang="en-US" dirty="0">
                  <a:solidFill>
                    <a:prstClr val="black">
                      <a:lumMod val="85000"/>
                      <a:lumOff val="15000"/>
                    </a:prstClr>
                  </a:solidFill>
                  <a:latin typeface="Calibri" panose="020F0502020204030204" pitchFamily="34" charset="0"/>
                  <a:ea typeface="微软雅黑" pitchFamily="34" charset="-122"/>
                </a:rPr>
                <a:t>）进一步分解为水（</a:t>
              </a:r>
              <a:r>
                <a:rPr lang="en-US" altLang="zh-CN" dirty="0">
                  <a:solidFill>
                    <a:prstClr val="black">
                      <a:lumMod val="85000"/>
                      <a:lumOff val="15000"/>
                    </a:prstClr>
                  </a:solidFill>
                  <a:latin typeface="Calibri" panose="020F0502020204030204" pitchFamily="34" charset="0"/>
                  <a:ea typeface="微软雅黑" pitchFamily="34" charset="-122"/>
                </a:rPr>
                <a:t>H₂O</a:t>
              </a:r>
              <a:r>
                <a:rPr lang="zh-CN" altLang="en-US" dirty="0">
                  <a:solidFill>
                    <a:prstClr val="black">
                      <a:lumMod val="85000"/>
                      <a:lumOff val="15000"/>
                    </a:prstClr>
                  </a:solidFill>
                  <a:latin typeface="Calibri" panose="020F0502020204030204" pitchFamily="34" charset="0"/>
                  <a:ea typeface="微软雅黑" pitchFamily="34" charset="-122"/>
                </a:rPr>
                <a:t>），形成完整的抗氧化防御链（</a:t>
              </a:r>
              <a:r>
                <a:rPr lang="en-US" altLang="zh-CN" dirty="0">
                  <a:solidFill>
                    <a:prstClr val="black">
                      <a:lumMod val="85000"/>
                      <a:lumOff val="15000"/>
                    </a:prstClr>
                  </a:solidFill>
                  <a:latin typeface="Calibri" panose="020F0502020204030204" pitchFamily="34" charset="0"/>
                  <a:ea typeface="微软雅黑" pitchFamily="34" charset="-122"/>
                </a:rPr>
                <a:t>O₂⁻ → SOD → H₂O₂ → CAT/</a:t>
              </a:r>
              <a:r>
                <a:rPr lang="en-US" altLang="zh-CN" dirty="0" err="1">
                  <a:solidFill>
                    <a:prstClr val="black">
                      <a:lumMod val="85000"/>
                      <a:lumOff val="15000"/>
                    </a:prstClr>
                  </a:solidFill>
                  <a:latin typeface="Calibri" panose="020F0502020204030204" pitchFamily="34" charset="0"/>
                  <a:ea typeface="微软雅黑" pitchFamily="34" charset="-122"/>
                </a:rPr>
                <a:t>GPx</a:t>
              </a:r>
              <a:r>
                <a:rPr lang="en-US" altLang="zh-CN" dirty="0">
                  <a:solidFill>
                    <a:prstClr val="black">
                      <a:lumMod val="85000"/>
                      <a:lumOff val="15000"/>
                    </a:prstClr>
                  </a:solidFill>
                  <a:latin typeface="Calibri" panose="020F0502020204030204" pitchFamily="34" charset="0"/>
                  <a:ea typeface="微软雅黑" pitchFamily="34" charset="-122"/>
                </a:rPr>
                <a:t> → H₂O + O₂</a:t>
              </a:r>
              <a:r>
                <a:rPr lang="zh-CN" altLang="en-US" dirty="0">
                  <a:solidFill>
                    <a:prstClr val="black">
                      <a:lumMod val="85000"/>
                      <a:lumOff val="15000"/>
                    </a:prstClr>
                  </a:solidFill>
                  <a:latin typeface="Calibri" panose="020F0502020204030204" pitchFamily="34" charset="0"/>
                  <a:ea typeface="微软雅黑" pitchFamily="34" charset="-122"/>
                </a:rPr>
                <a:t>）</a:t>
              </a:r>
              <a:endParaRPr lang="zh-CN" altLang="en-US" dirty="0">
                <a:solidFill>
                  <a:prstClr val="black">
                    <a:lumMod val="85000"/>
                    <a:lumOff val="15000"/>
                  </a:prstClr>
                </a:solidFill>
                <a:latin typeface="Calibri" panose="020F0502020204030204" pitchFamily="34" charset="0"/>
                <a:ea typeface="微软雅黑" panose="020B0503020204020204" pitchFamily="34" charset="-122"/>
                <a:cs typeface="微软雅黑"/>
              </a:endParaRPr>
            </a:p>
          </p:txBody>
        </p:sp>
      </p:grpSp>
      <p:sp>
        <p:nvSpPr>
          <p:cNvPr id="2" name="文本框 1">
            <a:extLst>
              <a:ext uri="{FF2B5EF4-FFF2-40B4-BE49-F238E27FC236}">
                <a16:creationId xmlns:a16="http://schemas.microsoft.com/office/drawing/2014/main" id="{730E6088-0B4B-FE5D-C09B-E3CFF79A7B29}"/>
              </a:ext>
            </a:extLst>
          </p:cNvPr>
          <p:cNvSpPr txBox="1"/>
          <p:nvPr/>
        </p:nvSpPr>
        <p:spPr>
          <a:xfrm>
            <a:off x="695400" y="260648"/>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mj-lt"/>
                <a:ea typeface="黑体" panose="02010609060101010101" pitchFamily="49" charset="-122"/>
                <a:cs typeface="+mn-cs"/>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的功能与机理</a:t>
            </a:r>
          </a:p>
        </p:txBody>
      </p:sp>
      <p:sp>
        <p:nvSpPr>
          <p:cNvPr id="3" name="文本框 2">
            <a:extLst>
              <a:ext uri="{FF2B5EF4-FFF2-40B4-BE49-F238E27FC236}">
                <a16:creationId xmlns:a16="http://schemas.microsoft.com/office/drawing/2014/main" id="{23C7EA5A-D9FC-F345-2795-5FE7A197F49F}"/>
              </a:ext>
            </a:extLst>
          </p:cNvPr>
          <p:cNvSpPr txBox="1"/>
          <p:nvPr/>
        </p:nvSpPr>
        <p:spPr>
          <a:xfrm>
            <a:off x="695400" y="939207"/>
            <a:ext cx="3089307" cy="253916"/>
          </a:xfrm>
          <a:prstGeom prst="rect">
            <a:avLst/>
          </a:prstGeom>
          <a:noFill/>
        </p:spPr>
        <p:txBody>
          <a:bodyPr wrap="none" rtlCol="0">
            <a:spAutoFit/>
          </a:bodyPr>
          <a:lstStyle/>
          <a:p>
            <a:pPr lvl="0">
              <a:defRPr/>
            </a:pPr>
            <a:r>
              <a:rPr lang="en-US" altLang="zh-CN" sz="1050" spc="300" dirty="0">
                <a:solidFill>
                  <a:prstClr val="black"/>
                </a:solidFill>
              </a:rPr>
              <a:t>Function and Mechanism of SOD</a:t>
            </a:r>
          </a:p>
        </p:txBody>
      </p:sp>
      <p:pic>
        <p:nvPicPr>
          <p:cNvPr id="4" name="图片 3" descr="sod蜜_360百科">
            <a:extLst>
              <a:ext uri="{FF2B5EF4-FFF2-40B4-BE49-F238E27FC236}">
                <a16:creationId xmlns:a16="http://schemas.microsoft.com/office/drawing/2014/main" id="{3024F078-0360-79D8-4487-2B0169DBD54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73" y="1473596"/>
            <a:ext cx="3089307" cy="2039956"/>
          </a:xfrm>
          <a:prstGeom prst="rect">
            <a:avLst/>
          </a:prstGeom>
          <a:noFill/>
          <a:ln>
            <a:noFill/>
          </a:ln>
        </p:spPr>
      </p:pic>
      <p:sp>
        <p:nvSpPr>
          <p:cNvPr id="5" name="文本框 4">
            <a:extLst>
              <a:ext uri="{FF2B5EF4-FFF2-40B4-BE49-F238E27FC236}">
                <a16:creationId xmlns:a16="http://schemas.microsoft.com/office/drawing/2014/main" id="{0E21230C-6E98-2C3A-BECB-C1FC0F409558}"/>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Tree>
    <p:extLst>
      <p:ext uri="{BB962C8B-B14F-4D97-AF65-F5344CB8AC3E}">
        <p14:creationId xmlns:p14="http://schemas.microsoft.com/office/powerpoint/2010/main" val="3266232651"/>
      </p:ext>
    </p:extLst>
  </p:cSld>
  <p:clrMapOvr>
    <a:masterClrMapping/>
  </p:clrMapOvr>
  <mc:AlternateContent xmlns:mc="http://schemas.openxmlformats.org/markup-compatibility/2006" xmlns:p14="http://schemas.microsoft.com/office/powerpoint/2010/main">
    <mc:Choice Requires="p14">
      <p:transition spd="slow" p14:dur="1500">
        <p:checker/>
      </p:transition>
    </mc:Choice>
    <mc:Fallback xmlns="">
      <p:transition spd="slow">
        <p:checke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146A0-EAAA-E68C-610E-66157CEB242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D88655B-BBA7-6080-2F81-8D6682D61CD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a:extLst>
              <a:ext uri="{FF2B5EF4-FFF2-40B4-BE49-F238E27FC236}">
                <a16:creationId xmlns:a16="http://schemas.microsoft.com/office/drawing/2014/main" id="{665DD97C-BBCC-4C06-16EE-8D6952118857}"/>
              </a:ext>
            </a:extLst>
          </p:cNvPr>
          <p:cNvSpPr txBox="1">
            <a:spLocks/>
          </p:cNvSpPr>
          <p:nvPr/>
        </p:nvSpPr>
        <p:spPr>
          <a:xfrm>
            <a:off x="5238896" y="2263950"/>
            <a:ext cx="6257704" cy="119885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377" rtl="0" eaLnBrk="1" fontAlgn="base" latinLnBrk="0" hangingPunct="1">
              <a:lnSpc>
                <a:spcPct val="100000"/>
              </a:lnSpc>
              <a:spcBef>
                <a:spcPts val="0"/>
              </a:spcBef>
              <a:spcAft>
                <a:spcPct val="0"/>
              </a:spcAft>
              <a:buClrTx/>
              <a:buSzTx/>
              <a:buFontTx/>
              <a:buNone/>
              <a:tabLst/>
              <a:defRPr/>
            </a:pPr>
            <a:r>
              <a:rPr kumimoji="0" lang="en-US" altLang="zh-CN" sz="6000" b="1" i="0" u="none" strike="noStrike" kern="1200" cap="none" spc="0" normalizeH="0" baseline="0" noProof="0" dirty="0">
                <a:ln>
                  <a:noFill/>
                </a:ln>
                <a:solidFill>
                  <a:prstClr val="white"/>
                </a:solidFill>
                <a:effectLst/>
                <a:uLnTx/>
                <a:uFillTx/>
                <a:latin typeface="Calibri"/>
                <a:ea typeface="微软雅黑"/>
                <a:cs typeface="+mn-cs"/>
              </a:rPr>
              <a:t>SOD</a:t>
            </a:r>
            <a:r>
              <a:rPr kumimoji="0" lang="zh-CN" altLang="en-US" sz="6000" b="1" i="0" u="none" strike="noStrike" kern="1200" cap="none" spc="0" normalizeH="0" baseline="0" noProof="0" dirty="0">
                <a:ln>
                  <a:noFill/>
                </a:ln>
                <a:solidFill>
                  <a:prstClr val="white"/>
                </a:solidFill>
                <a:effectLst/>
                <a:uLnTx/>
                <a:uFillTx/>
                <a:latin typeface="微软雅黑"/>
                <a:ea typeface="微软雅黑"/>
                <a:cs typeface="+mn-cs"/>
              </a:rPr>
              <a:t>的来源</a:t>
            </a:r>
            <a:r>
              <a:rPr lang="zh-CN" altLang="en-US" sz="6000" b="1" dirty="0">
                <a:solidFill>
                  <a:prstClr val="white"/>
                </a:solidFill>
                <a:latin typeface="微软雅黑"/>
                <a:ea typeface="微软雅黑"/>
                <a:cs typeface="+mn-cs"/>
              </a:rPr>
              <a:t>与提升</a:t>
            </a:r>
            <a:endParaRPr kumimoji="0" lang="zh-CN" altLang="en-US" sz="60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5" name="标题 4">
            <a:extLst>
              <a:ext uri="{FF2B5EF4-FFF2-40B4-BE49-F238E27FC236}">
                <a16:creationId xmlns:a16="http://schemas.microsoft.com/office/drawing/2014/main" id="{38B17FEB-2D72-59F9-63C7-54523A58BAC1}"/>
              </a:ext>
            </a:extLst>
          </p:cNvPr>
          <p:cNvSpPr txBox="1">
            <a:spLocks/>
          </p:cNvSpPr>
          <p:nvPr/>
        </p:nvSpPr>
        <p:spPr>
          <a:xfrm>
            <a:off x="5303912" y="3868338"/>
            <a:ext cx="6480720"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377" fontAlgn="base">
              <a:spcAft>
                <a:spcPct val="0"/>
              </a:spcAft>
              <a:defRPr/>
            </a:pPr>
            <a:r>
              <a:rPr lang="en-US" altLang="zh-CN" sz="3200" dirty="0">
                <a:solidFill>
                  <a:schemeClr val="bg1"/>
                </a:solidFill>
                <a:latin typeface="Calibri Light" panose="020F0302020204030204" pitchFamily="34" charset="0"/>
                <a:ea typeface="方正兰亭黑_GBK"/>
              </a:rPr>
              <a:t>Source and Enhancement of SOD</a:t>
            </a:r>
          </a:p>
        </p:txBody>
      </p:sp>
      <p:cxnSp>
        <p:nvCxnSpPr>
          <p:cNvPr id="6" name="直接连接符 5">
            <a:extLst>
              <a:ext uri="{FF2B5EF4-FFF2-40B4-BE49-F238E27FC236}">
                <a16:creationId xmlns:a16="http://schemas.microsoft.com/office/drawing/2014/main" id="{606B73C5-227F-9415-CF96-2B2C31D70C2E}"/>
              </a:ext>
            </a:extLst>
          </p:cNvPr>
          <p:cNvCxnSpPr>
            <a:cxnSpLocks/>
          </p:cNvCxnSpPr>
          <p:nvPr/>
        </p:nvCxnSpPr>
        <p:spPr>
          <a:xfrm>
            <a:off x="5346908" y="3699991"/>
            <a:ext cx="6005676"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05DDCF96-91E5-A5A0-249C-F39269F5B281}"/>
              </a:ext>
            </a:extLst>
          </p:cNvPr>
          <p:cNvSpPr txBox="1"/>
          <p:nvPr/>
        </p:nvSpPr>
        <p:spPr>
          <a:xfrm>
            <a:off x="760416" y="1674961"/>
            <a:ext cx="5083426" cy="3770263"/>
          </a:xfrm>
          <a:prstGeom prst="rect">
            <a:avLst/>
          </a:prstGeom>
          <a:noFill/>
        </p:spPr>
        <p:txBody>
          <a:bodyPr wrap="square" rtlCol="0">
            <a:spAutoFit/>
          </a:bodyPr>
          <a:lstStyle/>
          <a:p>
            <a:r>
              <a:rPr lang="en-US" altLang="zh-CN" sz="23900" dirty="0">
                <a:solidFill>
                  <a:schemeClr val="bg1"/>
                </a:solidFill>
                <a:latin typeface="Arial Black" panose="020B0A04020102020204" pitchFamily="34" charset="0"/>
              </a:rPr>
              <a:t>03</a:t>
            </a:r>
            <a:endParaRPr lang="zh-CN" altLang="en-US" sz="23900" dirty="0">
              <a:solidFill>
                <a:schemeClr val="bg1"/>
              </a:solidFill>
              <a:latin typeface="Arial Black" panose="020B0A04020102020204" pitchFamily="34" charset="0"/>
            </a:endParaRPr>
          </a:p>
        </p:txBody>
      </p:sp>
      <p:grpSp>
        <p:nvGrpSpPr>
          <p:cNvPr id="8" name="组合 7">
            <a:extLst>
              <a:ext uri="{FF2B5EF4-FFF2-40B4-BE49-F238E27FC236}">
                <a16:creationId xmlns:a16="http://schemas.microsoft.com/office/drawing/2014/main" id="{215F8C09-A7DD-03FB-3DA6-E609B21FE324}"/>
              </a:ext>
            </a:extLst>
          </p:cNvPr>
          <p:cNvGrpSpPr/>
          <p:nvPr/>
        </p:nvGrpSpPr>
        <p:grpSpPr>
          <a:xfrm>
            <a:off x="318625" y="5705603"/>
            <a:ext cx="2356623" cy="1061739"/>
            <a:chOff x="432111" y="5544277"/>
            <a:chExt cx="2356623" cy="1061739"/>
          </a:xfrm>
        </p:grpSpPr>
        <p:pic>
          <p:nvPicPr>
            <p:cNvPr id="9" name="图片 8">
              <a:extLst>
                <a:ext uri="{FF2B5EF4-FFF2-40B4-BE49-F238E27FC236}">
                  <a16:creationId xmlns:a16="http://schemas.microsoft.com/office/drawing/2014/main" id="{E26578A5-9813-D729-D928-E2518DA7BB1C}"/>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10" name="图片 9">
              <a:extLst>
                <a:ext uri="{FF2B5EF4-FFF2-40B4-BE49-F238E27FC236}">
                  <a16:creationId xmlns:a16="http://schemas.microsoft.com/office/drawing/2014/main" id="{FCB36EBB-6D22-5C0D-8578-ED7220823C69}"/>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grpSp>
        <p:nvGrpSpPr>
          <p:cNvPr id="11" name="组合 10">
            <a:extLst>
              <a:ext uri="{FF2B5EF4-FFF2-40B4-BE49-F238E27FC236}">
                <a16:creationId xmlns:a16="http://schemas.microsoft.com/office/drawing/2014/main" id="{5B31D914-9081-7E55-8456-7AE9E88EF6BB}"/>
              </a:ext>
            </a:extLst>
          </p:cNvPr>
          <p:cNvGrpSpPr/>
          <p:nvPr/>
        </p:nvGrpSpPr>
        <p:grpSpPr>
          <a:xfrm>
            <a:off x="8418574" y="281529"/>
            <a:ext cx="3565944" cy="860130"/>
            <a:chOff x="3371204" y="663706"/>
            <a:chExt cx="6394589" cy="1542418"/>
          </a:xfrm>
        </p:grpSpPr>
        <p:pic>
          <p:nvPicPr>
            <p:cNvPr id="12" name="图片 11">
              <a:extLst>
                <a:ext uri="{FF2B5EF4-FFF2-40B4-BE49-F238E27FC236}">
                  <a16:creationId xmlns:a16="http://schemas.microsoft.com/office/drawing/2014/main" id="{5BE84823-1A89-9316-4D4A-E4DD7001F1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0025" y="894576"/>
              <a:ext cx="4010022" cy="766728"/>
            </a:xfrm>
            <a:prstGeom prst="rect">
              <a:avLst/>
            </a:prstGeom>
          </p:spPr>
        </p:pic>
        <p:pic>
          <p:nvPicPr>
            <p:cNvPr id="13" name="图片 12">
              <a:extLst>
                <a:ext uri="{FF2B5EF4-FFF2-40B4-BE49-F238E27FC236}">
                  <a16:creationId xmlns:a16="http://schemas.microsoft.com/office/drawing/2014/main" id="{AA24AEB8-ED39-8DB9-05B6-C6B8B51E3F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4" name="矩形 13">
              <a:extLst>
                <a:ext uri="{FF2B5EF4-FFF2-40B4-BE49-F238E27FC236}">
                  <a16:creationId xmlns:a16="http://schemas.microsoft.com/office/drawing/2014/main" id="{A38A8F9C-DF8A-2D64-E758-074E4CADF341}"/>
                </a:ext>
              </a:extLst>
            </p:cNvPr>
            <p:cNvSpPr/>
            <p:nvPr/>
          </p:nvSpPr>
          <p:spPr>
            <a:xfrm>
              <a:off x="5091171" y="1758229"/>
              <a:ext cx="4674622" cy="386342"/>
            </a:xfrm>
            <a:prstGeom prst="rect">
              <a:avLst/>
            </a:prstGeom>
          </p:spPr>
          <p:txBody>
            <a:bodyPr wrap="none">
              <a:spAutoFit/>
            </a:bodyPr>
            <a:lstStyle/>
            <a:p>
              <a:r>
                <a:rPr lang="en-US" altLang="zh-CN" sz="800" b="1" dirty="0">
                  <a:solidFill>
                    <a:schemeClr val="bg1"/>
                  </a:solidFill>
                  <a:latin typeface="Arial" panose="020B0604020202020204" pitchFamily="34" charset="0"/>
                  <a:cs typeface="Arial" panose="020B0604020202020204" pitchFamily="34" charset="0"/>
                </a:rPr>
                <a:t>East China University of Science and Technology</a:t>
              </a:r>
              <a:endParaRPr lang="zh-CN" altLang="en-US" sz="8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68623115"/>
      </p:ext>
    </p:extLst>
  </p:cSld>
  <p:clrMapOvr>
    <a:masterClrMapping/>
  </p:clrMapOvr>
  <mc:AlternateContent xmlns:mc="http://schemas.openxmlformats.org/markup-compatibility/2006" xmlns:p14="http://schemas.microsoft.com/office/powerpoint/2010/main">
    <mc:Choice Requires="p14">
      <p:transition spd="slow" p14:dur="15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51EE48A0-AD0F-454E-BFAD-6E2D5C7FCD04}"/>
              </a:ext>
            </a:extLst>
          </p:cNvPr>
          <p:cNvGrpSpPr/>
          <p:nvPr/>
        </p:nvGrpSpPr>
        <p:grpSpPr>
          <a:xfrm>
            <a:off x="0" y="260648"/>
            <a:ext cx="4057218" cy="932475"/>
            <a:chOff x="0" y="260648"/>
            <a:chExt cx="4057218" cy="932475"/>
          </a:xfrm>
        </p:grpSpPr>
        <p:sp>
          <p:nvSpPr>
            <p:cNvPr id="7" name="矩形 6">
              <a:extLst>
                <a:ext uri="{FF2B5EF4-FFF2-40B4-BE49-F238E27FC236}">
                  <a16:creationId xmlns:a16="http://schemas.microsoft.com/office/drawing/2014/main" id="{5E5FDBC2-4F14-418B-9C6B-471DB57674F9}"/>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8" name="组合 7">
              <a:extLst>
                <a:ext uri="{FF2B5EF4-FFF2-40B4-BE49-F238E27FC236}">
                  <a16:creationId xmlns:a16="http://schemas.microsoft.com/office/drawing/2014/main" id="{70E773C1-D290-4CD5-B8BC-6C1D124BB44C}"/>
                </a:ext>
              </a:extLst>
            </p:cNvPr>
            <p:cNvGrpSpPr/>
            <p:nvPr/>
          </p:nvGrpSpPr>
          <p:grpSpPr>
            <a:xfrm>
              <a:off x="695400" y="260648"/>
              <a:ext cx="3361818" cy="932475"/>
              <a:chOff x="623392" y="310880"/>
              <a:chExt cx="3361818" cy="932475"/>
            </a:xfrm>
          </p:grpSpPr>
          <p:sp>
            <p:nvSpPr>
              <p:cNvPr id="9" name="文本框 8">
                <a:extLst>
                  <a:ext uri="{FF2B5EF4-FFF2-40B4-BE49-F238E27FC236}">
                    <a16:creationId xmlns:a16="http://schemas.microsoft.com/office/drawing/2014/main" id="{5AF0DD6B-3B27-4D27-89E4-3CA8C1D5B5D1}"/>
                  </a:ext>
                </a:extLst>
              </p:cNvPr>
              <p:cNvSpPr txBox="1"/>
              <p:nvPr/>
            </p:nvSpPr>
            <p:spPr>
              <a:xfrm>
                <a:off x="623392" y="310880"/>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mj-lt"/>
                    <a:ea typeface="黑体" panose="02010609060101010101" pitchFamily="49" charset="-122"/>
                    <a:cs typeface="+mn-cs"/>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的来源与提升</a:t>
                </a:r>
              </a:p>
            </p:txBody>
          </p:sp>
          <p:cxnSp>
            <p:nvCxnSpPr>
              <p:cNvPr id="10" name="直接连接符 9">
                <a:extLst>
                  <a:ext uri="{FF2B5EF4-FFF2-40B4-BE49-F238E27FC236}">
                    <a16:creationId xmlns:a16="http://schemas.microsoft.com/office/drawing/2014/main" id="{1EB0EF1F-F7FB-4ED3-8798-96244677B16B}"/>
                  </a:ext>
                </a:extLst>
              </p:cNvPr>
              <p:cNvCxnSpPr/>
              <p:nvPr/>
            </p:nvCxnSpPr>
            <p:spPr>
              <a:xfrm>
                <a:off x="623392" y="989439"/>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C5A25F6-DA46-4F9C-9711-4D8709F0258C}"/>
                  </a:ext>
                </a:extLst>
              </p:cNvPr>
              <p:cNvSpPr txBox="1"/>
              <p:nvPr/>
            </p:nvSpPr>
            <p:spPr>
              <a:xfrm>
                <a:off x="623392" y="989439"/>
                <a:ext cx="3106941"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300" normalizeH="0" baseline="0" noProof="0" dirty="0">
                    <a:ln>
                      <a:noFill/>
                    </a:ln>
                    <a:solidFill>
                      <a:prstClr val="black"/>
                    </a:solidFill>
                    <a:effectLst/>
                    <a:uLnTx/>
                    <a:uFillTx/>
                    <a:latin typeface="Calibri"/>
                    <a:ea typeface="宋体" panose="02010600030101010101" pitchFamily="2" charset="-122"/>
                    <a:cs typeface="+mn-cs"/>
                  </a:rPr>
                  <a:t>Source and Enhancement of SOD</a:t>
                </a:r>
              </a:p>
            </p:txBody>
          </p:sp>
        </p:grpSp>
      </p:grpSp>
      <p:grpSp>
        <p:nvGrpSpPr>
          <p:cNvPr id="13" name="组合 12">
            <a:extLst>
              <a:ext uri="{FF2B5EF4-FFF2-40B4-BE49-F238E27FC236}">
                <a16:creationId xmlns:a16="http://schemas.microsoft.com/office/drawing/2014/main" id="{A86A43A1-7972-45C2-AC95-BD653189B5D8}"/>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A92B3E3C-5A8F-4F07-942E-A8A4BD65E9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8C78F2B7-3CBC-49D3-8700-5A3C81124D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7D7F5D65-84AD-427A-B2EC-0E04F88E9EA0}"/>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8" name="图片 17">
            <a:extLst>
              <a:ext uri="{FF2B5EF4-FFF2-40B4-BE49-F238E27FC236}">
                <a16:creationId xmlns:a16="http://schemas.microsoft.com/office/drawing/2014/main" id="{9A8E79EA-3ADF-4F44-8743-BED86D684BF4}"/>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sp>
        <p:nvSpPr>
          <p:cNvPr id="17" name="矩形 16">
            <a:extLst>
              <a:ext uri="{FF2B5EF4-FFF2-40B4-BE49-F238E27FC236}">
                <a16:creationId xmlns:a16="http://schemas.microsoft.com/office/drawing/2014/main" id="{B8704B33-137B-44E4-97E0-F7E66F35D940}"/>
              </a:ext>
            </a:extLst>
          </p:cNvPr>
          <p:cNvSpPr/>
          <p:nvPr/>
        </p:nvSpPr>
        <p:spPr bwMode="auto">
          <a:xfrm>
            <a:off x="911424" y="4318848"/>
            <a:ext cx="1929741" cy="424633"/>
          </a:xfrm>
          <a:prstGeom prst="rect">
            <a:avLst/>
          </a:prstGeom>
          <a:solidFill>
            <a:srgbClr val="1669AB"/>
          </a:solidFill>
          <a:ln>
            <a:noFill/>
          </a:ln>
        </p:spPr>
        <p:txBody>
          <a:bodyPr vert="horz" wrap="square" lIns="91440" tIns="45720" rIns="91440" bIns="45720" numCol="1" rtlCol="0" anchor="t" anchorCtr="0" compatLnSpc="1">
            <a:prstTxWarp prst="textNoShape">
              <a:avLst/>
            </a:prstTxWarp>
          </a:bodyPr>
          <a:lstStyle/>
          <a:p>
            <a:pPr algn="ctr" defTabSz="457189"/>
            <a:r>
              <a:rPr lang="zh-CN" altLang="en-US" sz="2400" b="1" dirty="0">
                <a:solidFill>
                  <a:prstClr val="white"/>
                </a:solidFill>
                <a:latin typeface="微软雅黑" panose="020B0503020204020204" pitchFamily="34" charset="-122"/>
                <a:ea typeface="微软雅黑" panose="020B0503020204020204" pitchFamily="34" charset="-122"/>
              </a:rPr>
              <a:t>人工合成</a:t>
            </a:r>
          </a:p>
        </p:txBody>
      </p:sp>
      <p:sp>
        <p:nvSpPr>
          <p:cNvPr id="19" name="文本框 27">
            <a:extLst>
              <a:ext uri="{FF2B5EF4-FFF2-40B4-BE49-F238E27FC236}">
                <a16:creationId xmlns:a16="http://schemas.microsoft.com/office/drawing/2014/main" id="{9BF21540-023A-4599-906E-702F03CC68E7}"/>
              </a:ext>
            </a:extLst>
          </p:cNvPr>
          <p:cNvSpPr txBox="1"/>
          <p:nvPr/>
        </p:nvSpPr>
        <p:spPr>
          <a:xfrm>
            <a:off x="911424" y="1859221"/>
            <a:ext cx="10389317" cy="2217851"/>
          </a:xfrm>
          <a:prstGeom prst="rect">
            <a:avLst/>
          </a:prstGeom>
          <a:solidFill>
            <a:schemeClr val="bg1">
              <a:lumMod val="95000"/>
            </a:schemeClr>
          </a:solidFill>
          <a:ln w="12700">
            <a:solidFill>
              <a:srgbClr val="1669AB"/>
            </a:solidFill>
          </a:ln>
        </p:spPr>
        <p:txBody>
          <a:bodyPr wrap="square" lIns="91440" tIns="45720" rIns="91440" bIns="45720" rtlCol="0">
            <a:spAutoFit/>
          </a:bodyPr>
          <a:lstStyle/>
          <a:p>
            <a:pPr marL="285750" indent="-285750" defTabSz="457189">
              <a:lnSpc>
                <a:spcPct val="130000"/>
              </a:lnSpc>
              <a:buFont typeface="Wingdings" panose="05000000000000000000" pitchFamily="2" charset="2"/>
              <a:buChar char="Ø"/>
            </a:pPr>
            <a:r>
              <a:rPr lang="zh-CN" altLang="en-US" dirty="0">
                <a:solidFill>
                  <a:prstClr val="black">
                    <a:lumMod val="85000"/>
                    <a:lumOff val="15000"/>
                  </a:prstClr>
                </a:solidFill>
                <a:latin typeface="Calibri" panose="020F0502020204030204" pitchFamily="34" charset="0"/>
                <a:ea typeface="微软雅黑" pitchFamily="34" charset="-122"/>
              </a:rPr>
              <a:t>天然来源的</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主要通过提取等方式从动物组织和植物组织中获取。</a:t>
            </a:r>
            <a:endParaRPr lang="en-US" altLang="zh-CN" dirty="0">
              <a:solidFill>
                <a:prstClr val="black">
                  <a:lumMod val="85000"/>
                  <a:lumOff val="15000"/>
                </a:prstClr>
              </a:solidFill>
              <a:latin typeface="Calibri" panose="020F0502020204030204" pitchFamily="34" charset="0"/>
              <a:ea typeface="微软雅黑" pitchFamily="34" charset="-122"/>
            </a:endParaRPr>
          </a:p>
          <a:p>
            <a:pPr marL="285750" indent="-285750" defTabSz="457189">
              <a:lnSpc>
                <a:spcPct val="130000"/>
              </a:lnSpc>
              <a:buFont typeface="Wingdings" panose="05000000000000000000" pitchFamily="2" charset="2"/>
              <a:buChar char="Ø"/>
            </a:pPr>
            <a:r>
              <a:rPr lang="zh-CN" altLang="en-US" dirty="0">
                <a:solidFill>
                  <a:prstClr val="black">
                    <a:lumMod val="85000"/>
                    <a:lumOff val="15000"/>
                  </a:prstClr>
                </a:solidFill>
                <a:latin typeface="Calibri" panose="020F0502020204030204" pitchFamily="34" charset="0"/>
                <a:ea typeface="微软雅黑" pitchFamily="34" charset="-122"/>
              </a:rPr>
              <a:t>从动物组织中提取</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具有工艺简单、成本低等优势，是目前获取天然</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的主要方式之一；</a:t>
            </a:r>
            <a:endParaRPr lang="en-US" altLang="zh-CN" dirty="0">
              <a:solidFill>
                <a:prstClr val="black">
                  <a:lumMod val="85000"/>
                  <a:lumOff val="15000"/>
                </a:prstClr>
              </a:solidFill>
              <a:latin typeface="Calibri" panose="020F0502020204030204" pitchFamily="34" charset="0"/>
              <a:ea typeface="微软雅黑" pitchFamily="34" charset="-122"/>
            </a:endParaRPr>
          </a:p>
          <a:p>
            <a:pPr marL="285750" indent="-285750" defTabSz="457189">
              <a:lnSpc>
                <a:spcPct val="130000"/>
              </a:lnSpc>
              <a:buFont typeface="Wingdings" panose="05000000000000000000" pitchFamily="2" charset="2"/>
              <a:buChar char="Ø"/>
            </a:pPr>
            <a:r>
              <a:rPr lang="zh-CN" altLang="en-US" dirty="0">
                <a:solidFill>
                  <a:prstClr val="black">
                    <a:lumMod val="85000"/>
                    <a:lumOff val="15000"/>
                  </a:prstClr>
                </a:solidFill>
                <a:latin typeface="Calibri" panose="020F0502020204030204" pitchFamily="34" charset="0"/>
                <a:ea typeface="微软雅黑" pitchFamily="34" charset="-122"/>
              </a:rPr>
              <a:t>植物组织中含有的</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对生物大分子的保护起到重要作用，包括细胞质中的</a:t>
            </a:r>
            <a:r>
              <a:rPr lang="en-US" altLang="zh-CN" dirty="0">
                <a:solidFill>
                  <a:prstClr val="black">
                    <a:lumMod val="85000"/>
                    <a:lumOff val="15000"/>
                  </a:prstClr>
                </a:solidFill>
                <a:latin typeface="Calibri" panose="020F0502020204030204" pitchFamily="34" charset="0"/>
                <a:ea typeface="微软雅黑" pitchFamily="34" charset="-122"/>
              </a:rPr>
              <a:t>Cu/Zn-SOD</a:t>
            </a:r>
            <a:r>
              <a:rPr lang="zh-CN" altLang="en-US" dirty="0">
                <a:solidFill>
                  <a:prstClr val="black">
                    <a:lumMod val="85000"/>
                    <a:lumOff val="15000"/>
                  </a:prstClr>
                </a:solidFill>
                <a:latin typeface="Calibri" panose="020F0502020204030204" pitchFamily="34" charset="0"/>
                <a:ea typeface="微软雅黑" pitchFamily="34" charset="-122"/>
              </a:rPr>
              <a:t>、线粒体中</a:t>
            </a:r>
            <a:r>
              <a:rPr lang="en-US" altLang="zh-CN" dirty="0">
                <a:solidFill>
                  <a:prstClr val="black">
                    <a:lumMod val="85000"/>
                    <a:lumOff val="15000"/>
                  </a:prstClr>
                </a:solidFill>
                <a:latin typeface="Calibri" panose="020F0502020204030204" pitchFamily="34" charset="0"/>
                <a:ea typeface="微软雅黑" pitchFamily="34" charset="-122"/>
              </a:rPr>
              <a:t>Mn-SOD</a:t>
            </a:r>
            <a:r>
              <a:rPr lang="zh-CN" altLang="en-US" dirty="0">
                <a:solidFill>
                  <a:prstClr val="black">
                    <a:lumMod val="85000"/>
                    <a:lumOff val="15000"/>
                  </a:prstClr>
                </a:solidFill>
                <a:latin typeface="Calibri" panose="020F0502020204030204" pitchFamily="34" charset="0"/>
                <a:ea typeface="微软雅黑" pitchFamily="34" charset="-122"/>
              </a:rPr>
              <a:t>以及叶绿素中的</a:t>
            </a:r>
            <a:r>
              <a:rPr lang="en-US" altLang="zh-CN" dirty="0">
                <a:solidFill>
                  <a:prstClr val="black">
                    <a:lumMod val="85000"/>
                    <a:lumOff val="15000"/>
                  </a:prstClr>
                </a:solidFill>
                <a:latin typeface="Calibri" panose="020F0502020204030204" pitchFamily="34" charset="0"/>
                <a:ea typeface="微软雅黑" pitchFamily="34" charset="-122"/>
              </a:rPr>
              <a:t>Fe-SOD</a:t>
            </a:r>
            <a:r>
              <a:rPr lang="zh-CN" altLang="en-US" dirty="0">
                <a:solidFill>
                  <a:prstClr val="black">
                    <a:lumMod val="85000"/>
                    <a:lumOff val="15000"/>
                  </a:prstClr>
                </a:solidFill>
                <a:latin typeface="Calibri" panose="020F0502020204030204" pitchFamily="34" charset="0"/>
                <a:ea typeface="微软雅黑" pitchFamily="34" charset="-122"/>
              </a:rPr>
              <a:t>和</a:t>
            </a:r>
            <a:r>
              <a:rPr lang="en-US" altLang="zh-CN" dirty="0">
                <a:solidFill>
                  <a:prstClr val="black">
                    <a:lumMod val="85000"/>
                    <a:lumOff val="15000"/>
                  </a:prstClr>
                </a:solidFill>
                <a:latin typeface="Calibri" panose="020F0502020204030204" pitchFamily="34" charset="0"/>
                <a:ea typeface="微软雅黑" pitchFamily="34" charset="-122"/>
              </a:rPr>
              <a:t>Cu/Zn-SOD</a:t>
            </a:r>
            <a:r>
              <a:rPr lang="zh-CN" altLang="en-US" dirty="0">
                <a:solidFill>
                  <a:prstClr val="black">
                    <a:lumMod val="85000"/>
                    <a:lumOff val="15000"/>
                  </a:prstClr>
                </a:solidFill>
                <a:latin typeface="Calibri" panose="020F0502020204030204" pitchFamily="34" charset="0"/>
                <a:ea typeface="微软雅黑" pitchFamily="34" charset="-122"/>
              </a:rPr>
              <a:t>。</a:t>
            </a:r>
            <a:endParaRPr lang="en-US" altLang="zh-CN" dirty="0">
              <a:solidFill>
                <a:prstClr val="black">
                  <a:lumMod val="85000"/>
                  <a:lumOff val="15000"/>
                </a:prstClr>
              </a:solidFill>
              <a:latin typeface="Calibri" panose="020F0502020204030204" pitchFamily="34" charset="0"/>
              <a:ea typeface="微软雅黑" pitchFamily="34" charset="-122"/>
            </a:endParaRPr>
          </a:p>
          <a:p>
            <a:pPr marL="285750" indent="-285750" defTabSz="457189">
              <a:lnSpc>
                <a:spcPct val="130000"/>
              </a:lnSpc>
              <a:buFont typeface="Wingdings" panose="05000000000000000000" pitchFamily="2" charset="2"/>
              <a:buChar char="Ø"/>
            </a:pPr>
            <a:r>
              <a:rPr lang="zh-CN" altLang="en-US" dirty="0">
                <a:solidFill>
                  <a:prstClr val="black">
                    <a:lumMod val="85000"/>
                    <a:lumOff val="15000"/>
                  </a:prstClr>
                </a:solidFill>
                <a:latin typeface="Calibri" panose="020F0502020204030204" pitchFamily="34" charset="0"/>
                <a:ea typeface="微软雅黑" pitchFamily="34" charset="-122"/>
              </a:rPr>
              <a:t>实现了从多种天然动植物组织包括牛血、猪血等动物组织及小白菜、玉米、水果等多种植物组织中</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的提取技术。 </a:t>
            </a:r>
          </a:p>
        </p:txBody>
      </p:sp>
      <p:sp>
        <p:nvSpPr>
          <p:cNvPr id="20" name="矩形 19">
            <a:extLst>
              <a:ext uri="{FF2B5EF4-FFF2-40B4-BE49-F238E27FC236}">
                <a16:creationId xmlns:a16="http://schemas.microsoft.com/office/drawing/2014/main" id="{519A8D4B-1E07-4BB3-A293-77BA6EEEBA4B}"/>
              </a:ext>
            </a:extLst>
          </p:cNvPr>
          <p:cNvSpPr/>
          <p:nvPr/>
        </p:nvSpPr>
        <p:spPr bwMode="auto">
          <a:xfrm>
            <a:off x="911424" y="1440600"/>
            <a:ext cx="1929741" cy="424633"/>
          </a:xfrm>
          <a:prstGeom prst="rect">
            <a:avLst/>
          </a:prstGeom>
          <a:solidFill>
            <a:srgbClr val="1669AB"/>
          </a:solidFill>
          <a:ln>
            <a:noFill/>
          </a:ln>
        </p:spPr>
        <p:txBody>
          <a:bodyPr vert="horz" wrap="square" lIns="91440" tIns="45720" rIns="91440" bIns="45720" numCol="1" rtlCol="0" anchor="t" anchorCtr="0" compatLnSpc="1">
            <a:prstTxWarp prst="textNoShape">
              <a:avLst/>
            </a:prstTxWarp>
          </a:bodyPr>
          <a:lstStyle/>
          <a:p>
            <a:pPr algn="ctr" defTabSz="457189"/>
            <a:r>
              <a:rPr lang="zh-CN" altLang="en-US" sz="2400" b="1" dirty="0">
                <a:solidFill>
                  <a:prstClr val="white"/>
                </a:solidFill>
                <a:latin typeface="微软雅黑" panose="020B0503020204020204" pitchFamily="34" charset="-122"/>
                <a:ea typeface="微软雅黑" panose="020B0503020204020204" pitchFamily="34" charset="-122"/>
              </a:rPr>
              <a:t>天然来源</a:t>
            </a:r>
          </a:p>
        </p:txBody>
      </p:sp>
      <p:sp>
        <p:nvSpPr>
          <p:cNvPr id="23" name="文本框 24">
            <a:extLst>
              <a:ext uri="{FF2B5EF4-FFF2-40B4-BE49-F238E27FC236}">
                <a16:creationId xmlns:a16="http://schemas.microsoft.com/office/drawing/2014/main" id="{68E6D29D-D44F-4599-93C5-52FCDDD74AB5}"/>
              </a:ext>
            </a:extLst>
          </p:cNvPr>
          <p:cNvSpPr txBox="1"/>
          <p:nvPr/>
        </p:nvSpPr>
        <p:spPr>
          <a:xfrm>
            <a:off x="911424" y="4739658"/>
            <a:ext cx="10389317" cy="1497654"/>
          </a:xfrm>
          <a:prstGeom prst="rect">
            <a:avLst/>
          </a:prstGeom>
          <a:solidFill>
            <a:schemeClr val="bg1">
              <a:lumMod val="95000"/>
            </a:schemeClr>
          </a:solidFill>
          <a:ln w="12700">
            <a:solidFill>
              <a:srgbClr val="1669AB"/>
            </a:solidFill>
          </a:ln>
        </p:spPr>
        <p:txBody>
          <a:bodyPr wrap="square" lIns="91440" tIns="45720" rIns="91440" bIns="45720" rtlCol="0">
            <a:spAutoFit/>
          </a:bodyPr>
          <a:lstStyle/>
          <a:p>
            <a:pPr marL="285750" indent="-285750" defTabSz="457189">
              <a:lnSpc>
                <a:spcPct val="130000"/>
              </a:lnSpc>
              <a:buFont typeface="Wingdings" panose="05000000000000000000" pitchFamily="2" charset="2"/>
              <a:buChar char="l"/>
            </a:pPr>
            <a:r>
              <a:rPr lang="zh-CN" altLang="en-US" dirty="0">
                <a:solidFill>
                  <a:prstClr val="black">
                    <a:lumMod val="85000"/>
                    <a:lumOff val="15000"/>
                  </a:prstClr>
                </a:solidFill>
                <a:latin typeface="Calibri" panose="020F0502020204030204" pitchFamily="34" charset="0"/>
                <a:ea typeface="微软雅黑" pitchFamily="34" charset="-122"/>
              </a:rPr>
              <a:t>通过基因编辑的方式将</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编码基因整合到大肠杆菌或者酵母菌中进行表达，极大方便了技术人员在</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蛋白分子之前添加特异性识别位点</a:t>
            </a:r>
            <a:r>
              <a:rPr lang="en-US" altLang="zh-CN" dirty="0">
                <a:solidFill>
                  <a:prstClr val="black">
                    <a:lumMod val="85000"/>
                    <a:lumOff val="15000"/>
                  </a:prstClr>
                </a:solidFill>
                <a:latin typeface="Calibri" panose="020F0502020204030204" pitchFamily="34" charset="0"/>
                <a:ea typeface="微软雅黑" pitchFamily="34" charset="-122"/>
              </a:rPr>
              <a:t>His</a:t>
            </a:r>
            <a:r>
              <a:rPr lang="zh-CN" altLang="en-US" dirty="0">
                <a:solidFill>
                  <a:prstClr val="black">
                    <a:lumMod val="85000"/>
                    <a:lumOff val="15000"/>
                  </a:prstClr>
                </a:solidFill>
                <a:latin typeface="Calibri" panose="020F0502020204030204" pitchFamily="34" charset="0"/>
                <a:ea typeface="微软雅黑" pitchFamily="34" charset="-122"/>
              </a:rPr>
              <a:t>标签。通过选择与</a:t>
            </a:r>
            <a:r>
              <a:rPr lang="en-US" altLang="zh-CN" dirty="0">
                <a:solidFill>
                  <a:prstClr val="black">
                    <a:lumMod val="85000"/>
                    <a:lumOff val="15000"/>
                  </a:prstClr>
                </a:solidFill>
                <a:latin typeface="Calibri" panose="020F0502020204030204" pitchFamily="34" charset="0"/>
                <a:ea typeface="微软雅黑" pitchFamily="34" charset="-122"/>
              </a:rPr>
              <a:t>His</a:t>
            </a:r>
            <a:r>
              <a:rPr lang="zh-CN" altLang="en-US" dirty="0">
                <a:solidFill>
                  <a:prstClr val="black">
                    <a:lumMod val="85000"/>
                    <a:lumOff val="15000"/>
                  </a:prstClr>
                </a:solidFill>
                <a:latin typeface="Calibri" panose="020F0502020204030204" pitchFamily="34" charset="0"/>
                <a:ea typeface="微软雅黑" pitchFamily="34" charset="-122"/>
              </a:rPr>
              <a:t>标签特异性结合的亲和色谱填料，仅需要一步亲和层析即可获得纯度＞</a:t>
            </a:r>
            <a:r>
              <a:rPr lang="en-US" altLang="zh-CN" dirty="0">
                <a:solidFill>
                  <a:prstClr val="black">
                    <a:lumMod val="85000"/>
                    <a:lumOff val="15000"/>
                  </a:prstClr>
                </a:solidFill>
                <a:latin typeface="Calibri" panose="020F0502020204030204" pitchFamily="34" charset="0"/>
                <a:ea typeface="微软雅黑" pitchFamily="34" charset="-122"/>
              </a:rPr>
              <a:t>95%</a:t>
            </a:r>
            <a:r>
              <a:rPr lang="zh-CN" altLang="en-US" dirty="0">
                <a:solidFill>
                  <a:prstClr val="black">
                    <a:lumMod val="85000"/>
                    <a:lumOff val="15000"/>
                  </a:prstClr>
                </a:solidFill>
                <a:latin typeface="Calibri" panose="020F0502020204030204" pitchFamily="34" charset="0"/>
                <a:ea typeface="微软雅黑" pitchFamily="34" charset="-122"/>
              </a:rPr>
              <a:t>的</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，极大地简化了</a:t>
            </a:r>
            <a:r>
              <a:rPr lang="en-US" altLang="zh-CN" dirty="0">
                <a:solidFill>
                  <a:prstClr val="black">
                    <a:lumMod val="85000"/>
                    <a:lumOff val="15000"/>
                  </a:prstClr>
                </a:solidFill>
                <a:latin typeface="Calibri" panose="020F0502020204030204" pitchFamily="34" charset="0"/>
                <a:ea typeface="微软雅黑" pitchFamily="34" charset="-122"/>
              </a:rPr>
              <a:t>SOD</a:t>
            </a:r>
            <a:r>
              <a:rPr lang="zh-CN" altLang="en-US" dirty="0">
                <a:solidFill>
                  <a:prstClr val="black">
                    <a:lumMod val="85000"/>
                    <a:lumOff val="15000"/>
                  </a:prstClr>
                </a:solidFill>
                <a:latin typeface="Calibri" panose="020F0502020204030204" pitchFamily="34" charset="0"/>
                <a:ea typeface="微软雅黑" pitchFamily="34" charset="-122"/>
              </a:rPr>
              <a:t>的生产工艺流程。</a:t>
            </a:r>
            <a:endParaRPr lang="en-US" altLang="zh-CN" dirty="0">
              <a:solidFill>
                <a:prstClr val="black">
                  <a:lumMod val="85000"/>
                  <a:lumOff val="15000"/>
                </a:prstClr>
              </a:solidFill>
              <a:latin typeface="Calibri" panose="020F0502020204030204" pitchFamily="34" charset="0"/>
              <a:ea typeface="微软雅黑" pitchFamily="34" charset="-122"/>
            </a:endParaRPr>
          </a:p>
          <a:p>
            <a:pPr marL="285750" indent="-285750" defTabSz="457189">
              <a:lnSpc>
                <a:spcPct val="130000"/>
              </a:lnSpc>
              <a:buFont typeface="Wingdings" panose="05000000000000000000" pitchFamily="2" charset="2"/>
              <a:buChar char="l"/>
            </a:pPr>
            <a:r>
              <a:rPr lang="zh-CN" altLang="en-US" dirty="0">
                <a:solidFill>
                  <a:prstClr val="black">
                    <a:lumMod val="85000"/>
                    <a:lumOff val="15000"/>
                  </a:prstClr>
                </a:solidFill>
                <a:latin typeface="Calibri" panose="020F0502020204030204" pitchFamily="34" charset="0"/>
                <a:ea typeface="微软雅黑" pitchFamily="34" charset="-122"/>
              </a:rPr>
              <a:t>优点：生产周期短、原料可控和利用规模化优势实现成本控制</a:t>
            </a:r>
            <a:endParaRPr lang="en-US" altLang="zh-CN" dirty="0">
              <a:solidFill>
                <a:prstClr val="black">
                  <a:lumMod val="85000"/>
                  <a:lumOff val="15000"/>
                </a:prstClr>
              </a:solidFill>
              <a:latin typeface="Calibri" panose="020F0502020204030204" pitchFamily="34" charset="0"/>
              <a:ea typeface="微软雅黑" pitchFamily="34" charset="-122"/>
            </a:endParaRPr>
          </a:p>
        </p:txBody>
      </p:sp>
      <p:sp>
        <p:nvSpPr>
          <p:cNvPr id="2" name="文本框 1">
            <a:extLst>
              <a:ext uri="{FF2B5EF4-FFF2-40B4-BE49-F238E27FC236}">
                <a16:creationId xmlns:a16="http://schemas.microsoft.com/office/drawing/2014/main" id="{7084F482-CAEB-F3E1-D991-39BD30CD5EE9}"/>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Tree>
    <p:extLst>
      <p:ext uri="{BB962C8B-B14F-4D97-AF65-F5344CB8AC3E}">
        <p14:creationId xmlns:p14="http://schemas.microsoft.com/office/powerpoint/2010/main" val="1763062619"/>
      </p:ext>
    </p:extLst>
  </p:cSld>
  <p:clrMapOvr>
    <a:masterClrMapping/>
  </p:clrMapOvr>
  <mc:AlternateContent xmlns:mc="http://schemas.openxmlformats.org/markup-compatibility/2006" xmlns:p14="http://schemas.microsoft.com/office/powerpoint/2010/main">
    <mc:Choice Requires="p14">
      <p:transition spd="slow" p14:dur="1500">
        <p14:glitter pattern="hexago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3F058FE5-2D49-4B63-92E8-22B53CC2C8A1}"/>
              </a:ext>
            </a:extLst>
          </p:cNvPr>
          <p:cNvGrpSpPr/>
          <p:nvPr/>
        </p:nvGrpSpPr>
        <p:grpSpPr>
          <a:xfrm>
            <a:off x="0" y="374221"/>
            <a:ext cx="3575720" cy="792088"/>
            <a:chOff x="0" y="374221"/>
            <a:chExt cx="3575720" cy="792088"/>
          </a:xfrm>
        </p:grpSpPr>
        <p:sp>
          <p:nvSpPr>
            <p:cNvPr id="7" name="矩形 6">
              <a:extLst>
                <a:ext uri="{FF2B5EF4-FFF2-40B4-BE49-F238E27FC236}">
                  <a16:creationId xmlns:a16="http://schemas.microsoft.com/office/drawing/2014/main" id="{FBDD9725-874B-4DE4-A354-428C83C6BD3F}"/>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cxnSp>
          <p:nvCxnSpPr>
            <p:cNvPr id="10" name="直接连接符 9">
              <a:extLst>
                <a:ext uri="{FF2B5EF4-FFF2-40B4-BE49-F238E27FC236}">
                  <a16:creationId xmlns:a16="http://schemas.microsoft.com/office/drawing/2014/main" id="{A2320486-1BFD-4792-A7AF-312B67AD434F}"/>
                </a:ext>
              </a:extLst>
            </p:cNvPr>
            <p:cNvCxnSpPr/>
            <p:nvPr/>
          </p:nvCxnSpPr>
          <p:spPr>
            <a:xfrm>
              <a:off x="695400" y="939207"/>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C98F2C8B-51C9-4DD3-AF2E-77AF0A0E8D26}"/>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FFDEBB89-3463-4B9A-AE18-27A09FAB5EE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083DAE8A-3CE3-4F53-9C4F-9D0B9844A1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FE638740-7D63-422B-A580-382EDD590C89}"/>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7" name="图片 16">
            <a:extLst>
              <a:ext uri="{FF2B5EF4-FFF2-40B4-BE49-F238E27FC236}">
                <a16:creationId xmlns:a16="http://schemas.microsoft.com/office/drawing/2014/main" id="{E2418C87-9D45-4A01-AA12-0A81228CBD15}"/>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sp>
        <p:nvSpPr>
          <p:cNvPr id="18" name="矩形: 圆角 17">
            <a:extLst>
              <a:ext uri="{FF2B5EF4-FFF2-40B4-BE49-F238E27FC236}">
                <a16:creationId xmlns:a16="http://schemas.microsoft.com/office/drawing/2014/main" id="{282F0E20-1453-40A5-A7E8-595973181E58}"/>
              </a:ext>
            </a:extLst>
          </p:cNvPr>
          <p:cNvSpPr/>
          <p:nvPr/>
        </p:nvSpPr>
        <p:spPr>
          <a:xfrm>
            <a:off x="1292827" y="1855134"/>
            <a:ext cx="9606347" cy="3964130"/>
          </a:xfrm>
          <a:prstGeom prst="roundRect">
            <a:avLst>
              <a:gd name="adj" fmla="val 2775"/>
            </a:avLst>
          </a:prstGeom>
          <a:solidFill>
            <a:sysClr val="window" lastClr="FFFFFF">
              <a:lumMod val="95000"/>
            </a:sysClr>
          </a:solidFill>
          <a:ln w="12700" cap="flat" cmpd="sng" algn="ctr">
            <a:solidFill>
              <a:srgbClr val="1669AB"/>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Light"/>
              <a:ea typeface="微软雅黑 Light"/>
              <a:cs typeface="+mn-cs"/>
            </a:endParaRPr>
          </a:p>
        </p:txBody>
      </p:sp>
      <p:sp>
        <p:nvSpPr>
          <p:cNvPr id="19" name="文本框 18">
            <a:extLst>
              <a:ext uri="{FF2B5EF4-FFF2-40B4-BE49-F238E27FC236}">
                <a16:creationId xmlns:a16="http://schemas.microsoft.com/office/drawing/2014/main" id="{DF9C8E2B-F27B-4AC7-A188-E007C248C4CA}"/>
              </a:ext>
            </a:extLst>
          </p:cNvPr>
          <p:cNvSpPr txBox="1"/>
          <p:nvPr/>
        </p:nvSpPr>
        <p:spPr>
          <a:xfrm>
            <a:off x="4585758" y="2064319"/>
            <a:ext cx="3020484" cy="523220"/>
          </a:xfrm>
          <a:prstGeom prst="rect">
            <a:avLst/>
          </a:prstGeom>
          <a:noFill/>
        </p:spPr>
        <p:txBody>
          <a:bodyPr wrap="square" rtlCol="0">
            <a:spAutoFit/>
          </a:bodyPr>
          <a:lstStyle/>
          <a:p>
            <a:pPr algn="ctr">
              <a:defRPr/>
            </a:pPr>
            <a:r>
              <a:rPr lang="en-US" altLang="zh-CN" sz="2800" dirty="0">
                <a:solidFill>
                  <a:prstClr val="black"/>
                </a:solidFill>
                <a:latin typeface="Calibri" panose="020F0502020204030204" pitchFamily="34" charset="0"/>
                <a:ea typeface="Calibri" panose="020F0502020204030204" pitchFamily="34" charset="0"/>
                <a:cs typeface="Calibri" panose="020F0502020204030204" pitchFamily="34" charset="0"/>
              </a:rPr>
              <a:t>SOD </a:t>
            </a:r>
            <a:r>
              <a:rPr lang="zh-CN" altLang="en-US" sz="2800" dirty="0">
                <a:solidFill>
                  <a:prstClr val="black"/>
                </a:solidFill>
                <a:latin typeface="微软雅黑" panose="020B0503020204020204" pitchFamily="34" charset="-122"/>
                <a:ea typeface="微软雅黑" panose="020B0503020204020204" pitchFamily="34" charset="-122"/>
              </a:rPr>
              <a:t>的品质提升</a:t>
            </a:r>
          </a:p>
        </p:txBody>
      </p:sp>
      <p:sp>
        <p:nvSpPr>
          <p:cNvPr id="20" name="矩形 19">
            <a:extLst>
              <a:ext uri="{FF2B5EF4-FFF2-40B4-BE49-F238E27FC236}">
                <a16:creationId xmlns:a16="http://schemas.microsoft.com/office/drawing/2014/main" id="{EC392561-179D-43B8-A033-816861D51341}"/>
              </a:ext>
            </a:extLst>
          </p:cNvPr>
          <p:cNvSpPr/>
          <p:nvPr/>
        </p:nvSpPr>
        <p:spPr>
          <a:xfrm>
            <a:off x="1716132" y="2843651"/>
            <a:ext cx="8759736" cy="855555"/>
          </a:xfrm>
          <a:prstGeom prst="rect">
            <a:avLst/>
          </a:prstGeom>
        </p:spPr>
        <p:txBody>
          <a:bodyPr wrap="square">
            <a:spAutoFit/>
          </a:bodyPr>
          <a:lstStyle/>
          <a:p>
            <a:pPr algn="just">
              <a:lnSpc>
                <a:spcPct val="130000"/>
              </a:lnSpc>
              <a:defRPr/>
            </a:pPr>
            <a:r>
              <a:rPr lang="zh-CN" altLang="en-US" sz="2000" dirty="0">
                <a:solidFill>
                  <a:prstClr val="black"/>
                </a:solidFill>
                <a:latin typeface="微软雅黑" panose="020B0503020204020204" pitchFamily="34" charset="-122"/>
                <a:ea typeface="微软雅黑" panose="020B0503020204020204" pitchFamily="34" charset="-122"/>
              </a:rPr>
              <a:t>    早期的产业化开发中，从动植物组织中提取的</a:t>
            </a:r>
            <a:r>
              <a:rPr lang="en-US" altLang="zh-CN" sz="2000" dirty="0">
                <a:solidFill>
                  <a:prstClr val="black"/>
                </a:solidFill>
                <a:ea typeface="微软雅黑" panose="020B0503020204020204" pitchFamily="34" charset="-122"/>
              </a:rPr>
              <a:t>SOD</a:t>
            </a:r>
            <a:r>
              <a:rPr lang="zh-CN" altLang="en-US" sz="2000" dirty="0">
                <a:solidFill>
                  <a:prstClr val="black"/>
                </a:solidFill>
                <a:latin typeface="微软雅黑" panose="020B0503020204020204" pitchFamily="34" charset="-122"/>
                <a:ea typeface="微软雅黑" panose="020B0503020204020204" pitchFamily="34" charset="-122"/>
              </a:rPr>
              <a:t>往往伴随着有大量的杂质，从而导致产品的纯度和比活都偏低，这也极大地限制了其产业化应用。</a:t>
            </a:r>
          </a:p>
        </p:txBody>
      </p:sp>
      <p:sp>
        <p:nvSpPr>
          <p:cNvPr id="21" name="quotation-mark_32371">
            <a:extLst>
              <a:ext uri="{FF2B5EF4-FFF2-40B4-BE49-F238E27FC236}">
                <a16:creationId xmlns:a16="http://schemas.microsoft.com/office/drawing/2014/main" id="{837A2F91-1B8D-430D-9589-CBADEC699CD1}"/>
              </a:ext>
            </a:extLst>
          </p:cNvPr>
          <p:cNvSpPr>
            <a:spLocks noChangeAspect="1"/>
          </p:cNvSpPr>
          <p:nvPr/>
        </p:nvSpPr>
        <p:spPr bwMode="auto">
          <a:xfrm>
            <a:off x="1083512" y="1508778"/>
            <a:ext cx="1248905" cy="1159135"/>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rgbClr val="1669AB">
              <a:alpha val="10000"/>
            </a:srgbClr>
          </a:solidFill>
          <a:ln>
            <a:noFill/>
          </a:ln>
        </p:spPr>
      </p:sp>
      <p:sp>
        <p:nvSpPr>
          <p:cNvPr id="22" name="right-quote-sign_56826">
            <a:extLst>
              <a:ext uri="{FF2B5EF4-FFF2-40B4-BE49-F238E27FC236}">
                <a16:creationId xmlns:a16="http://schemas.microsoft.com/office/drawing/2014/main" id="{44862BE0-7485-4690-A462-A474129C8787}"/>
              </a:ext>
            </a:extLst>
          </p:cNvPr>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1669AB">
              <a:alpha val="10000"/>
            </a:srgbClr>
          </a:solidFill>
          <a:ln>
            <a:noFill/>
          </a:ln>
        </p:spPr>
      </p:sp>
      <p:sp>
        <p:nvSpPr>
          <p:cNvPr id="23" name="矩形 22">
            <a:extLst>
              <a:ext uri="{FF2B5EF4-FFF2-40B4-BE49-F238E27FC236}">
                <a16:creationId xmlns:a16="http://schemas.microsoft.com/office/drawing/2014/main" id="{9724C837-593D-4DDB-9751-BA805EC50B23}"/>
              </a:ext>
            </a:extLst>
          </p:cNvPr>
          <p:cNvSpPr/>
          <p:nvPr/>
        </p:nvSpPr>
        <p:spPr>
          <a:xfrm>
            <a:off x="1775520" y="3861458"/>
            <a:ext cx="8759735" cy="1655774"/>
          </a:xfrm>
          <a:prstGeom prst="rect">
            <a:avLst/>
          </a:prstGeom>
        </p:spPr>
        <p:txBody>
          <a:bodyPr wrap="square">
            <a:spAutoFit/>
          </a:bodyPr>
          <a:lstStyle/>
          <a:p>
            <a:pPr algn="just">
              <a:lnSpc>
                <a:spcPct val="130000"/>
              </a:lnSpc>
              <a:defRPr/>
            </a:pPr>
            <a:r>
              <a:rPr lang="zh-CN" altLang="en-US" sz="2000" dirty="0">
                <a:solidFill>
                  <a:prstClr val="black"/>
                </a:solidFill>
                <a:latin typeface="Calibri" panose="020F0502020204030204" pitchFamily="34" charset="0"/>
                <a:ea typeface="微软雅黑" panose="020B0503020204020204" pitchFamily="34" charset="-122"/>
              </a:rPr>
              <a:t>    近年来，利用基因工程技术、新型提取</a:t>
            </a:r>
            <a:r>
              <a:rPr lang="en-US" altLang="zh-CN" sz="2000" dirty="0">
                <a:solidFill>
                  <a:prstClr val="black"/>
                </a:solidFill>
                <a:latin typeface="Calibri" panose="020F0502020204030204" pitchFamily="34" charset="0"/>
                <a:ea typeface="微软雅黑" panose="020B0503020204020204" pitchFamily="34" charset="-122"/>
              </a:rPr>
              <a:t>/</a:t>
            </a:r>
            <a:r>
              <a:rPr lang="zh-CN" altLang="en-US" sz="2000" dirty="0">
                <a:solidFill>
                  <a:prstClr val="black"/>
                </a:solidFill>
                <a:latin typeface="Calibri" panose="020F0502020204030204" pitchFamily="34" charset="0"/>
                <a:ea typeface="微软雅黑" panose="020B0503020204020204" pitchFamily="34" charset="-122"/>
              </a:rPr>
              <a:t>萃取及分离技术等，提取得到的</a:t>
            </a:r>
            <a:r>
              <a:rPr lang="en-US" altLang="zh-CN" sz="2000" dirty="0">
                <a:solidFill>
                  <a:prstClr val="black"/>
                </a:solidFill>
                <a:latin typeface="Calibri" panose="020F0502020204030204" pitchFamily="34" charset="0"/>
                <a:ea typeface="微软雅黑" panose="020B0503020204020204" pitchFamily="34" charset="-122"/>
              </a:rPr>
              <a:t>SOD</a:t>
            </a:r>
            <a:r>
              <a:rPr lang="zh-CN" altLang="en-US" sz="2000" dirty="0">
                <a:solidFill>
                  <a:prstClr val="black"/>
                </a:solidFill>
                <a:latin typeface="Calibri" panose="020F0502020204030204" pitchFamily="34" charset="0"/>
                <a:ea typeface="微软雅黑" panose="020B0503020204020204" pitchFamily="34" charset="-122"/>
              </a:rPr>
              <a:t>品质不断提升。</a:t>
            </a:r>
            <a:endParaRPr lang="en-US" altLang="zh-CN" sz="2000" dirty="0">
              <a:solidFill>
                <a:prstClr val="black"/>
              </a:solidFill>
              <a:latin typeface="Calibri" panose="020F0502020204030204" pitchFamily="34" charset="0"/>
              <a:ea typeface="微软雅黑" panose="020B0503020204020204" pitchFamily="34" charset="-122"/>
            </a:endParaRPr>
          </a:p>
          <a:p>
            <a:pPr algn="just">
              <a:lnSpc>
                <a:spcPct val="130000"/>
              </a:lnSpc>
              <a:defRPr/>
            </a:pPr>
            <a:r>
              <a:rPr lang="zh-CN" altLang="en-US" sz="2000" dirty="0">
                <a:solidFill>
                  <a:prstClr val="black"/>
                </a:solidFill>
                <a:latin typeface="Calibri" panose="020F0502020204030204" pitchFamily="34" charset="0"/>
                <a:ea typeface="微软雅黑" panose="020B0503020204020204" pitchFamily="34" charset="-122"/>
              </a:rPr>
              <a:t>     比如云锦华彰（北京）生物科技有限公司利用毕赤酵母表达体系生产的重组</a:t>
            </a:r>
            <a:r>
              <a:rPr lang="en-US" altLang="zh-CN" sz="2000" dirty="0">
                <a:solidFill>
                  <a:prstClr val="black"/>
                </a:solidFill>
                <a:latin typeface="Calibri" panose="020F0502020204030204" pitchFamily="34" charset="0"/>
                <a:ea typeface="微软雅黑" panose="020B0503020204020204" pitchFamily="34" charset="-122"/>
              </a:rPr>
              <a:t>SOD</a:t>
            </a:r>
            <a:r>
              <a:rPr lang="zh-CN" altLang="en-US" sz="2000" dirty="0">
                <a:solidFill>
                  <a:prstClr val="black"/>
                </a:solidFill>
                <a:latin typeface="Calibri" panose="020F0502020204030204" pitchFamily="34" charset="0"/>
                <a:ea typeface="微软雅黑" panose="020B0503020204020204" pitchFamily="34" charset="-122"/>
              </a:rPr>
              <a:t>产品，比活甚至能达到</a:t>
            </a:r>
            <a:r>
              <a:rPr lang="en-US" altLang="zh-CN" sz="2000" dirty="0">
                <a:solidFill>
                  <a:prstClr val="black"/>
                </a:solidFill>
                <a:latin typeface="Calibri" panose="020F0502020204030204" pitchFamily="34" charset="0"/>
                <a:ea typeface="微软雅黑" panose="020B0503020204020204" pitchFamily="34" charset="-122"/>
              </a:rPr>
              <a:t>15000U/mg </a:t>
            </a:r>
            <a:r>
              <a:rPr lang="zh-CN" altLang="en-US" sz="2000" dirty="0">
                <a:solidFill>
                  <a:prstClr val="black"/>
                </a:solidFill>
                <a:latin typeface="Calibri" panose="020F0502020204030204" pitchFamily="34" charset="0"/>
                <a:ea typeface="微软雅黑" panose="020B0503020204020204" pitchFamily="34" charset="-122"/>
              </a:rPr>
              <a:t>以上。</a:t>
            </a:r>
          </a:p>
        </p:txBody>
      </p:sp>
      <p:cxnSp>
        <p:nvCxnSpPr>
          <p:cNvPr id="24" name="直接连接符 23">
            <a:extLst>
              <a:ext uri="{FF2B5EF4-FFF2-40B4-BE49-F238E27FC236}">
                <a16:creationId xmlns:a16="http://schemas.microsoft.com/office/drawing/2014/main" id="{B7D19B19-6004-414D-94F5-DC984A2157A3}"/>
              </a:ext>
            </a:extLst>
          </p:cNvPr>
          <p:cNvCxnSpPr>
            <a:cxnSpLocks/>
          </p:cNvCxnSpPr>
          <p:nvPr/>
        </p:nvCxnSpPr>
        <p:spPr>
          <a:xfrm>
            <a:off x="5909151" y="2717457"/>
            <a:ext cx="373697" cy="0"/>
          </a:xfrm>
          <a:prstGeom prst="line">
            <a:avLst/>
          </a:prstGeom>
          <a:noFill/>
          <a:ln w="38100" cap="flat" cmpd="sng" algn="ctr">
            <a:solidFill>
              <a:srgbClr val="1669AB"/>
            </a:solidFill>
            <a:prstDash val="solid"/>
            <a:miter lim="800000"/>
          </a:ln>
          <a:effectLst/>
        </p:spPr>
      </p:cxnSp>
      <p:sp>
        <p:nvSpPr>
          <p:cNvPr id="2" name="文本框 1">
            <a:extLst>
              <a:ext uri="{FF2B5EF4-FFF2-40B4-BE49-F238E27FC236}">
                <a16:creationId xmlns:a16="http://schemas.microsoft.com/office/drawing/2014/main" id="{0962F24D-F881-F63E-8F44-C4AF9C2181DD}"/>
              </a:ext>
            </a:extLst>
          </p:cNvPr>
          <p:cNvSpPr txBox="1"/>
          <p:nvPr/>
        </p:nvSpPr>
        <p:spPr>
          <a:xfrm>
            <a:off x="695400" y="260648"/>
            <a:ext cx="336181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mj-lt"/>
                <a:ea typeface="黑体" panose="02010609060101010101" pitchFamily="49" charset="-122"/>
                <a:cs typeface="+mn-cs"/>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的来源与提升</a:t>
            </a:r>
          </a:p>
        </p:txBody>
      </p:sp>
      <p:sp>
        <p:nvSpPr>
          <p:cNvPr id="3" name="文本框 2">
            <a:extLst>
              <a:ext uri="{FF2B5EF4-FFF2-40B4-BE49-F238E27FC236}">
                <a16:creationId xmlns:a16="http://schemas.microsoft.com/office/drawing/2014/main" id="{485FCE65-295D-B9D1-041E-778F7D751CF4}"/>
              </a:ext>
            </a:extLst>
          </p:cNvPr>
          <p:cNvSpPr txBox="1"/>
          <p:nvPr/>
        </p:nvSpPr>
        <p:spPr>
          <a:xfrm>
            <a:off x="695400" y="939207"/>
            <a:ext cx="3106941"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300" normalizeH="0" baseline="0" noProof="0" dirty="0">
                <a:ln>
                  <a:noFill/>
                </a:ln>
                <a:solidFill>
                  <a:prstClr val="black"/>
                </a:solidFill>
                <a:effectLst/>
                <a:uLnTx/>
                <a:uFillTx/>
                <a:latin typeface="Calibri"/>
                <a:ea typeface="宋体" panose="02010600030101010101" pitchFamily="2" charset="-122"/>
                <a:cs typeface="+mn-cs"/>
              </a:rPr>
              <a:t>Source and Enhancement of SOD</a:t>
            </a:r>
          </a:p>
        </p:txBody>
      </p:sp>
      <p:sp>
        <p:nvSpPr>
          <p:cNvPr id="4" name="文本框 3">
            <a:extLst>
              <a:ext uri="{FF2B5EF4-FFF2-40B4-BE49-F238E27FC236}">
                <a16:creationId xmlns:a16="http://schemas.microsoft.com/office/drawing/2014/main" id="{012AF567-1D1B-49F5-5D9A-3EF1A504FDAF}"/>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Tree>
    <p:extLst>
      <p:ext uri="{BB962C8B-B14F-4D97-AF65-F5344CB8AC3E}">
        <p14:creationId xmlns:p14="http://schemas.microsoft.com/office/powerpoint/2010/main" val="36854920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7A114-0EA9-8C3E-3F25-F93F566EECA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9E42C68-5BAB-F9D2-4477-6197E14DF78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sp>
        <p:nvSpPr>
          <p:cNvPr id="4" name="标题 4">
            <a:extLst>
              <a:ext uri="{FF2B5EF4-FFF2-40B4-BE49-F238E27FC236}">
                <a16:creationId xmlns:a16="http://schemas.microsoft.com/office/drawing/2014/main" id="{447ACE46-91DD-0B41-A673-9A41B0997D4E}"/>
              </a:ext>
            </a:extLst>
          </p:cNvPr>
          <p:cNvSpPr txBox="1">
            <a:spLocks/>
          </p:cNvSpPr>
          <p:nvPr/>
        </p:nvSpPr>
        <p:spPr>
          <a:xfrm>
            <a:off x="5238896" y="2263950"/>
            <a:ext cx="6257704" cy="119885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377" rtl="0" eaLnBrk="1" fontAlgn="base" latinLnBrk="0" hangingPunct="1">
              <a:lnSpc>
                <a:spcPct val="100000"/>
              </a:lnSpc>
              <a:spcBef>
                <a:spcPts val="0"/>
              </a:spcBef>
              <a:spcAft>
                <a:spcPct val="0"/>
              </a:spcAft>
              <a:buClrTx/>
              <a:buSzTx/>
              <a:buFontTx/>
              <a:buNone/>
              <a:tabLst/>
              <a:defRPr/>
            </a:pPr>
            <a:r>
              <a:rPr kumimoji="0" lang="en-US" altLang="zh-CN" sz="6000" b="1" i="0" u="none" strike="noStrike" kern="1200" cap="none" spc="0" normalizeH="0" baseline="0" noProof="0" dirty="0">
                <a:ln>
                  <a:noFill/>
                </a:ln>
                <a:solidFill>
                  <a:prstClr val="white"/>
                </a:solidFill>
                <a:effectLst/>
                <a:uLnTx/>
                <a:uFillTx/>
                <a:latin typeface="Calibri"/>
                <a:ea typeface="微软雅黑"/>
                <a:cs typeface="+mn-cs"/>
              </a:rPr>
              <a:t>SOD</a:t>
            </a:r>
            <a:r>
              <a:rPr kumimoji="0" lang="zh-CN" altLang="en-US" sz="6000" b="1" i="0" u="none" strike="noStrike" kern="1200" cap="none" spc="0" normalizeH="0" baseline="0" noProof="0" dirty="0">
                <a:ln>
                  <a:noFill/>
                </a:ln>
                <a:solidFill>
                  <a:prstClr val="white"/>
                </a:solidFill>
                <a:effectLst/>
                <a:uLnTx/>
                <a:uFillTx/>
                <a:latin typeface="微软雅黑"/>
                <a:ea typeface="微软雅黑"/>
                <a:cs typeface="+mn-cs"/>
              </a:rPr>
              <a:t>的</a:t>
            </a:r>
            <a:r>
              <a:rPr lang="zh-CN" altLang="en-US" sz="6000" b="1" dirty="0">
                <a:solidFill>
                  <a:prstClr val="white"/>
                </a:solidFill>
                <a:latin typeface="微软雅黑"/>
                <a:ea typeface="微软雅黑"/>
                <a:cs typeface="+mn-cs"/>
              </a:rPr>
              <a:t>含量测定</a:t>
            </a:r>
            <a:endParaRPr kumimoji="0" lang="zh-CN" altLang="en-US" sz="6000" b="1"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5" name="标题 4">
            <a:extLst>
              <a:ext uri="{FF2B5EF4-FFF2-40B4-BE49-F238E27FC236}">
                <a16:creationId xmlns:a16="http://schemas.microsoft.com/office/drawing/2014/main" id="{38232D6F-9045-B51B-7F5B-E41C91C8A420}"/>
              </a:ext>
            </a:extLst>
          </p:cNvPr>
          <p:cNvSpPr txBox="1">
            <a:spLocks/>
          </p:cNvSpPr>
          <p:nvPr/>
        </p:nvSpPr>
        <p:spPr>
          <a:xfrm>
            <a:off x="5303912" y="3868338"/>
            <a:ext cx="6480720"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377" fontAlgn="base">
              <a:spcAft>
                <a:spcPct val="0"/>
              </a:spcAft>
              <a:defRPr/>
            </a:pPr>
            <a:r>
              <a:rPr lang="en-US" altLang="zh-CN" sz="3200" dirty="0">
                <a:solidFill>
                  <a:schemeClr val="bg1"/>
                </a:solidFill>
                <a:latin typeface="Calibri Light" panose="020F0302020204030204" pitchFamily="34" charset="0"/>
                <a:ea typeface="方正兰亭黑_GBK"/>
              </a:rPr>
              <a:t>Determination of SOD content</a:t>
            </a:r>
          </a:p>
        </p:txBody>
      </p:sp>
      <p:cxnSp>
        <p:nvCxnSpPr>
          <p:cNvPr id="6" name="直接连接符 5">
            <a:extLst>
              <a:ext uri="{FF2B5EF4-FFF2-40B4-BE49-F238E27FC236}">
                <a16:creationId xmlns:a16="http://schemas.microsoft.com/office/drawing/2014/main" id="{3C7ABC25-A96B-E68D-E884-942E31D10AF4}"/>
              </a:ext>
            </a:extLst>
          </p:cNvPr>
          <p:cNvCxnSpPr>
            <a:cxnSpLocks/>
          </p:cNvCxnSpPr>
          <p:nvPr/>
        </p:nvCxnSpPr>
        <p:spPr>
          <a:xfrm>
            <a:off x="5346908" y="3699991"/>
            <a:ext cx="6005676" cy="0"/>
          </a:xfrm>
          <a:prstGeom prst="line">
            <a:avLst/>
          </a:prstGeom>
          <a:ln w="2857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8F50E1B7-5222-87FA-4D5E-A85F32E98D8D}"/>
              </a:ext>
            </a:extLst>
          </p:cNvPr>
          <p:cNvSpPr txBox="1"/>
          <p:nvPr/>
        </p:nvSpPr>
        <p:spPr>
          <a:xfrm>
            <a:off x="760416" y="1674961"/>
            <a:ext cx="5083426" cy="3770263"/>
          </a:xfrm>
          <a:prstGeom prst="rect">
            <a:avLst/>
          </a:prstGeom>
          <a:noFill/>
        </p:spPr>
        <p:txBody>
          <a:bodyPr wrap="square" rtlCol="0">
            <a:spAutoFit/>
          </a:bodyPr>
          <a:lstStyle/>
          <a:p>
            <a:r>
              <a:rPr lang="en-US" altLang="zh-CN" sz="23900" dirty="0">
                <a:solidFill>
                  <a:schemeClr val="bg1"/>
                </a:solidFill>
                <a:latin typeface="Arial Black" panose="020B0A04020102020204" pitchFamily="34" charset="0"/>
              </a:rPr>
              <a:t>04</a:t>
            </a:r>
            <a:endParaRPr lang="zh-CN" altLang="en-US" sz="23900" dirty="0">
              <a:solidFill>
                <a:schemeClr val="bg1"/>
              </a:solidFill>
              <a:latin typeface="Arial Black" panose="020B0A04020102020204" pitchFamily="34" charset="0"/>
            </a:endParaRPr>
          </a:p>
        </p:txBody>
      </p:sp>
      <p:grpSp>
        <p:nvGrpSpPr>
          <p:cNvPr id="8" name="组合 7">
            <a:extLst>
              <a:ext uri="{FF2B5EF4-FFF2-40B4-BE49-F238E27FC236}">
                <a16:creationId xmlns:a16="http://schemas.microsoft.com/office/drawing/2014/main" id="{AA618094-DD5C-D318-08FE-A9755E149D07}"/>
              </a:ext>
            </a:extLst>
          </p:cNvPr>
          <p:cNvGrpSpPr/>
          <p:nvPr/>
        </p:nvGrpSpPr>
        <p:grpSpPr>
          <a:xfrm>
            <a:off x="318625" y="5705603"/>
            <a:ext cx="2356623" cy="1061739"/>
            <a:chOff x="432111" y="5544277"/>
            <a:chExt cx="2356623" cy="1061739"/>
          </a:xfrm>
        </p:grpSpPr>
        <p:pic>
          <p:nvPicPr>
            <p:cNvPr id="9" name="图片 8">
              <a:extLst>
                <a:ext uri="{FF2B5EF4-FFF2-40B4-BE49-F238E27FC236}">
                  <a16:creationId xmlns:a16="http://schemas.microsoft.com/office/drawing/2014/main" id="{170B5C44-F096-39F0-ECA6-797467ECB6C0}"/>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10" name="图片 9">
              <a:extLst>
                <a:ext uri="{FF2B5EF4-FFF2-40B4-BE49-F238E27FC236}">
                  <a16:creationId xmlns:a16="http://schemas.microsoft.com/office/drawing/2014/main" id="{70F13534-2040-71FB-72E5-3A05F0F51E0D}"/>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grpSp>
        <p:nvGrpSpPr>
          <p:cNvPr id="11" name="组合 10">
            <a:extLst>
              <a:ext uri="{FF2B5EF4-FFF2-40B4-BE49-F238E27FC236}">
                <a16:creationId xmlns:a16="http://schemas.microsoft.com/office/drawing/2014/main" id="{BB53CF1E-939D-E39B-77CC-87E4F72DB271}"/>
              </a:ext>
            </a:extLst>
          </p:cNvPr>
          <p:cNvGrpSpPr/>
          <p:nvPr/>
        </p:nvGrpSpPr>
        <p:grpSpPr>
          <a:xfrm>
            <a:off x="8418574" y="281529"/>
            <a:ext cx="3565944" cy="860130"/>
            <a:chOff x="3371204" y="663706"/>
            <a:chExt cx="6394589" cy="1542418"/>
          </a:xfrm>
        </p:grpSpPr>
        <p:pic>
          <p:nvPicPr>
            <p:cNvPr id="12" name="图片 11">
              <a:extLst>
                <a:ext uri="{FF2B5EF4-FFF2-40B4-BE49-F238E27FC236}">
                  <a16:creationId xmlns:a16="http://schemas.microsoft.com/office/drawing/2014/main" id="{9B88771F-347C-82DD-215C-571DCAA45C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0025" y="894576"/>
              <a:ext cx="4010022" cy="766728"/>
            </a:xfrm>
            <a:prstGeom prst="rect">
              <a:avLst/>
            </a:prstGeom>
          </p:spPr>
        </p:pic>
        <p:pic>
          <p:nvPicPr>
            <p:cNvPr id="13" name="图片 12">
              <a:extLst>
                <a:ext uri="{FF2B5EF4-FFF2-40B4-BE49-F238E27FC236}">
                  <a16:creationId xmlns:a16="http://schemas.microsoft.com/office/drawing/2014/main" id="{2A8FEA7A-F094-5EBC-4D30-15FDFFF97DE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4" name="矩形 13">
              <a:extLst>
                <a:ext uri="{FF2B5EF4-FFF2-40B4-BE49-F238E27FC236}">
                  <a16:creationId xmlns:a16="http://schemas.microsoft.com/office/drawing/2014/main" id="{7487BF25-75E5-FB59-D471-0100F9C4E3E2}"/>
                </a:ext>
              </a:extLst>
            </p:cNvPr>
            <p:cNvSpPr/>
            <p:nvPr/>
          </p:nvSpPr>
          <p:spPr>
            <a:xfrm>
              <a:off x="5091171" y="1758229"/>
              <a:ext cx="4674622" cy="386342"/>
            </a:xfrm>
            <a:prstGeom prst="rect">
              <a:avLst/>
            </a:prstGeom>
          </p:spPr>
          <p:txBody>
            <a:bodyPr wrap="none">
              <a:spAutoFit/>
            </a:bodyPr>
            <a:lstStyle/>
            <a:p>
              <a:r>
                <a:rPr lang="en-US" altLang="zh-CN" sz="800" b="1" dirty="0">
                  <a:solidFill>
                    <a:schemeClr val="bg1"/>
                  </a:solidFill>
                  <a:latin typeface="Arial" panose="020B0604020202020204" pitchFamily="34" charset="0"/>
                  <a:cs typeface="Arial" panose="020B0604020202020204" pitchFamily="34" charset="0"/>
                </a:rPr>
                <a:t>East China University of Science and Technology</a:t>
              </a:r>
              <a:endParaRPr lang="zh-CN" altLang="en-US" sz="8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92559412"/>
      </p:ext>
    </p:extLst>
  </p:cSld>
  <p:clrMapOvr>
    <a:masterClrMapping/>
  </p:clrMapOvr>
  <mc:AlternateContent xmlns:mc="http://schemas.openxmlformats.org/markup-compatibility/2006" xmlns:p14="http://schemas.microsoft.com/office/powerpoint/2010/main">
    <mc:Choice Requires="p14">
      <p:transition spd="slow" p14:dur="15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B082F725-F830-41A4-BE76-4B7BFA5AA8CC}"/>
              </a:ext>
            </a:extLst>
          </p:cNvPr>
          <p:cNvGrpSpPr/>
          <p:nvPr/>
        </p:nvGrpSpPr>
        <p:grpSpPr>
          <a:xfrm>
            <a:off x="0" y="260648"/>
            <a:ext cx="3646849" cy="932475"/>
            <a:chOff x="0" y="260648"/>
            <a:chExt cx="3646849" cy="932475"/>
          </a:xfrm>
        </p:grpSpPr>
        <p:sp>
          <p:nvSpPr>
            <p:cNvPr id="7" name="矩形 6">
              <a:extLst>
                <a:ext uri="{FF2B5EF4-FFF2-40B4-BE49-F238E27FC236}">
                  <a16:creationId xmlns:a16="http://schemas.microsoft.com/office/drawing/2014/main" id="{0C7E1267-71ED-4E5A-B204-B521A08D7209}"/>
                </a:ext>
              </a:extLst>
            </p:cNvPr>
            <p:cNvSpPr/>
            <p:nvPr/>
          </p:nvSpPr>
          <p:spPr>
            <a:xfrm>
              <a:off x="0" y="374221"/>
              <a:ext cx="551384" cy="792088"/>
            </a:xfrm>
            <a:prstGeom prst="rect">
              <a:avLst/>
            </a:prstGeom>
            <a:solidFill>
              <a:srgbClr val="1669AB"/>
            </a:solidFill>
            <a:ln>
              <a:solidFill>
                <a:srgbClr val="1669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grpSp>
          <p:nvGrpSpPr>
            <p:cNvPr id="8" name="组合 7">
              <a:extLst>
                <a:ext uri="{FF2B5EF4-FFF2-40B4-BE49-F238E27FC236}">
                  <a16:creationId xmlns:a16="http://schemas.microsoft.com/office/drawing/2014/main" id="{3395B6FF-9376-4CA0-8EBE-DC8438756D21}"/>
                </a:ext>
              </a:extLst>
            </p:cNvPr>
            <p:cNvGrpSpPr/>
            <p:nvPr/>
          </p:nvGrpSpPr>
          <p:grpSpPr>
            <a:xfrm>
              <a:off x="695400" y="260648"/>
              <a:ext cx="2951449" cy="932475"/>
              <a:chOff x="623392" y="310880"/>
              <a:chExt cx="2951449" cy="932475"/>
            </a:xfrm>
          </p:grpSpPr>
          <p:sp>
            <p:nvSpPr>
              <p:cNvPr id="9" name="文本框 8">
                <a:extLst>
                  <a:ext uri="{FF2B5EF4-FFF2-40B4-BE49-F238E27FC236}">
                    <a16:creationId xmlns:a16="http://schemas.microsoft.com/office/drawing/2014/main" id="{EF986CF7-178E-4F73-B840-770F7CF99EB1}"/>
                  </a:ext>
                </a:extLst>
              </p:cNvPr>
              <p:cNvSpPr txBox="1"/>
              <p:nvPr/>
            </p:nvSpPr>
            <p:spPr>
              <a:xfrm>
                <a:off x="623392" y="310880"/>
                <a:ext cx="295144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black"/>
                    </a:solidFill>
                    <a:effectLst/>
                    <a:uLnTx/>
                    <a:uFillTx/>
                    <a:latin typeface="+mj-lt"/>
                    <a:ea typeface="黑体" panose="02010609060101010101" pitchFamily="49" charset="-122"/>
                    <a:cs typeface="+mn-cs"/>
                  </a:rPr>
                  <a:t>SOD</a:t>
                </a:r>
                <a:r>
                  <a:rPr kumimoji="0" lang="zh-CN" altLang="en-US" sz="32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的含量测定</a:t>
                </a:r>
              </a:p>
            </p:txBody>
          </p:sp>
          <p:cxnSp>
            <p:nvCxnSpPr>
              <p:cNvPr id="10" name="直接连接符 9">
                <a:extLst>
                  <a:ext uri="{FF2B5EF4-FFF2-40B4-BE49-F238E27FC236}">
                    <a16:creationId xmlns:a16="http://schemas.microsoft.com/office/drawing/2014/main" id="{A55D39E9-E02C-4342-BA02-99EFE9556C47}"/>
                  </a:ext>
                </a:extLst>
              </p:cNvPr>
              <p:cNvCxnSpPr/>
              <p:nvPr/>
            </p:nvCxnSpPr>
            <p:spPr>
              <a:xfrm>
                <a:off x="623392" y="989439"/>
                <a:ext cx="2880320" cy="0"/>
              </a:xfrm>
              <a:prstGeom prst="line">
                <a:avLst/>
              </a:prstGeom>
              <a:ln w="28575">
                <a:gradFill flip="none" rotWithShape="1">
                  <a:gsLst>
                    <a:gs pos="0">
                      <a:srgbClr val="1669AB"/>
                    </a:gs>
                    <a:gs pos="93000">
                      <a:schemeClr val="accent1">
                        <a:lumMod val="45000"/>
                        <a:lumOff val="55000"/>
                      </a:schemeClr>
                    </a:gs>
                    <a:gs pos="100000">
                      <a:schemeClr val="accent1">
                        <a:lumMod val="45000"/>
                        <a:lumOff val="55000"/>
                      </a:schemeClr>
                    </a:gs>
                    <a:gs pos="100000">
                      <a:srgbClr val="1669AB">
                        <a:alpha val="1000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E82F141A-6DD2-430C-B5F2-D0BE5AF27852}"/>
                  </a:ext>
                </a:extLst>
              </p:cNvPr>
              <p:cNvSpPr txBox="1"/>
              <p:nvPr/>
            </p:nvSpPr>
            <p:spPr>
              <a:xfrm>
                <a:off x="623392" y="989439"/>
                <a:ext cx="2925801" cy="25391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300" normalizeH="0" baseline="0" noProof="0" dirty="0">
                    <a:ln>
                      <a:noFill/>
                    </a:ln>
                    <a:solidFill>
                      <a:prstClr val="black"/>
                    </a:solidFill>
                    <a:effectLst/>
                    <a:uLnTx/>
                    <a:uFillTx/>
                    <a:latin typeface="Calibri"/>
                    <a:ea typeface="宋体" panose="02010600030101010101" pitchFamily="2" charset="-122"/>
                    <a:cs typeface="+mn-cs"/>
                  </a:rPr>
                  <a:t>Determination of SOD content</a:t>
                </a:r>
              </a:p>
            </p:txBody>
          </p:sp>
        </p:grpSp>
      </p:grpSp>
      <p:grpSp>
        <p:nvGrpSpPr>
          <p:cNvPr id="13" name="组合 12">
            <a:extLst>
              <a:ext uri="{FF2B5EF4-FFF2-40B4-BE49-F238E27FC236}">
                <a16:creationId xmlns:a16="http://schemas.microsoft.com/office/drawing/2014/main" id="{BFA442F1-1F33-45A1-8D64-442E01F198A7}"/>
              </a:ext>
            </a:extLst>
          </p:cNvPr>
          <p:cNvGrpSpPr/>
          <p:nvPr/>
        </p:nvGrpSpPr>
        <p:grpSpPr>
          <a:xfrm>
            <a:off x="9264352" y="260648"/>
            <a:ext cx="2649898" cy="604825"/>
            <a:chOff x="3371204" y="663706"/>
            <a:chExt cx="6903033" cy="1575580"/>
          </a:xfrm>
        </p:grpSpPr>
        <p:pic>
          <p:nvPicPr>
            <p:cNvPr id="14" name="图片 13">
              <a:extLst>
                <a:ext uri="{FF2B5EF4-FFF2-40B4-BE49-F238E27FC236}">
                  <a16:creationId xmlns:a16="http://schemas.microsoft.com/office/drawing/2014/main" id="{523C302A-9B69-499F-A67F-4D2ECB871D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223320" y="855175"/>
              <a:ext cx="4838293" cy="925094"/>
            </a:xfrm>
            <a:prstGeom prst="rect">
              <a:avLst/>
            </a:prstGeom>
          </p:spPr>
        </p:pic>
        <p:pic>
          <p:nvPicPr>
            <p:cNvPr id="15" name="图片 14">
              <a:extLst>
                <a:ext uri="{FF2B5EF4-FFF2-40B4-BE49-F238E27FC236}">
                  <a16:creationId xmlns:a16="http://schemas.microsoft.com/office/drawing/2014/main" id="{B235ECC2-375E-400F-B85D-F6A5816CB7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6" name="矩形 15">
              <a:extLst>
                <a:ext uri="{FF2B5EF4-FFF2-40B4-BE49-F238E27FC236}">
                  <a16:creationId xmlns:a16="http://schemas.microsoft.com/office/drawing/2014/main" id="{72236FEC-84EA-4AB9-B023-8202AD5A979C}"/>
                </a:ext>
              </a:extLst>
            </p:cNvPr>
            <p:cNvSpPr/>
            <p:nvPr/>
          </p:nvSpPr>
          <p:spPr>
            <a:xfrm>
              <a:off x="5091170" y="1758228"/>
              <a:ext cx="5183067" cy="48105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600" b="1"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7" name="图片 16">
            <a:extLst>
              <a:ext uri="{FF2B5EF4-FFF2-40B4-BE49-F238E27FC236}">
                <a16:creationId xmlns:a16="http://schemas.microsoft.com/office/drawing/2014/main" id="{C80A7ACB-7162-432C-B042-15CBAD836B17}"/>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7201" t="10381" r="18855" b="-6163"/>
          <a:stretch/>
        </p:blipFill>
        <p:spPr>
          <a:xfrm>
            <a:off x="263351" y="6411561"/>
            <a:ext cx="2409177" cy="446436"/>
          </a:xfrm>
          <a:prstGeom prst="rect">
            <a:avLst/>
          </a:prstGeom>
        </p:spPr>
      </p:pic>
      <p:sp>
        <p:nvSpPr>
          <p:cNvPr id="26" name="Freeform 12">
            <a:extLst>
              <a:ext uri="{FF2B5EF4-FFF2-40B4-BE49-F238E27FC236}">
                <a16:creationId xmlns:a16="http://schemas.microsoft.com/office/drawing/2014/main" id="{3FE32DA5-ED8F-4535-BC52-6F0F4C4D501F}"/>
              </a:ext>
            </a:extLst>
          </p:cNvPr>
          <p:cNvSpPr>
            <a:spLocks/>
          </p:cNvSpPr>
          <p:nvPr/>
        </p:nvSpPr>
        <p:spPr bwMode="auto">
          <a:xfrm>
            <a:off x="1463044" y="4454461"/>
            <a:ext cx="528500"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669AB"/>
          </a:solidFill>
          <a:ln w="25400" cap="flat" cmpd="sng" algn="ctr">
            <a:noFill/>
            <a:prstDash val="solid"/>
          </a:ln>
          <a:effectLst/>
        </p:spPr>
        <p:txBody>
          <a:bodyPr lIns="68562" tIns="34281" rIns="68562" bIns="34281" rtlCol="0" anchor="ctr"/>
          <a:lstStyle/>
          <a:p>
            <a:pPr algn="ctr" defTabSz="685617"/>
            <a:endParaRPr lang="zh-CN" altLang="en-US" sz="1300" kern="0">
              <a:solidFill>
                <a:prstClr val="white"/>
              </a:solidFill>
              <a:latin typeface="Calibri"/>
              <a:ea typeface="宋体" panose="02010600030101010101" pitchFamily="2" charset="-122"/>
            </a:endParaRPr>
          </a:p>
        </p:txBody>
      </p:sp>
      <p:sp>
        <p:nvSpPr>
          <p:cNvPr id="27" name="Freeform 12">
            <a:extLst>
              <a:ext uri="{FF2B5EF4-FFF2-40B4-BE49-F238E27FC236}">
                <a16:creationId xmlns:a16="http://schemas.microsoft.com/office/drawing/2014/main" id="{5022F825-2D56-4972-AA67-416CF4F7389A}"/>
              </a:ext>
            </a:extLst>
          </p:cNvPr>
          <p:cNvSpPr>
            <a:spLocks/>
          </p:cNvSpPr>
          <p:nvPr/>
        </p:nvSpPr>
        <p:spPr bwMode="auto">
          <a:xfrm flipH="1" flipV="1">
            <a:off x="10174794" y="5820305"/>
            <a:ext cx="528500"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1669AB"/>
          </a:solidFill>
          <a:ln w="25400" cap="flat" cmpd="sng" algn="ctr">
            <a:noFill/>
            <a:prstDash val="solid"/>
          </a:ln>
          <a:effectLst/>
        </p:spPr>
        <p:txBody>
          <a:bodyPr lIns="68562" tIns="34281" rIns="68562" bIns="34281" rtlCol="0" anchor="ctr"/>
          <a:lstStyle/>
          <a:p>
            <a:pPr algn="ctr" defTabSz="685617"/>
            <a:endParaRPr lang="zh-CN" altLang="en-US" sz="1300" kern="0">
              <a:solidFill>
                <a:prstClr val="white"/>
              </a:solidFill>
              <a:latin typeface="Calibri"/>
              <a:ea typeface="宋体" panose="02010600030101010101" pitchFamily="2" charset="-122"/>
            </a:endParaRPr>
          </a:p>
        </p:txBody>
      </p:sp>
      <p:sp>
        <p:nvSpPr>
          <p:cNvPr id="28" name="TextBox 41">
            <a:extLst>
              <a:ext uri="{FF2B5EF4-FFF2-40B4-BE49-F238E27FC236}">
                <a16:creationId xmlns:a16="http://schemas.microsoft.com/office/drawing/2014/main" id="{49816FC3-1C48-492F-B7DB-74FA592AEBD4}"/>
              </a:ext>
            </a:extLst>
          </p:cNvPr>
          <p:cNvSpPr txBox="1"/>
          <p:nvPr/>
        </p:nvSpPr>
        <p:spPr>
          <a:xfrm>
            <a:off x="1596109" y="4653136"/>
            <a:ext cx="8999782" cy="1497630"/>
          </a:xfrm>
          <a:prstGeom prst="rect">
            <a:avLst/>
          </a:prstGeom>
          <a:noFill/>
        </p:spPr>
        <p:txBody>
          <a:bodyPr wrap="square" lIns="91416" tIns="45708" rIns="91416" bIns="45708" rtlCol="0">
            <a:spAutoFit/>
          </a:bodyPr>
          <a:lstStyle/>
          <a:p>
            <a:pPr marL="285750" indent="-285750" defTabSz="914133">
              <a:lnSpc>
                <a:spcPct val="130000"/>
              </a:lnSpc>
              <a:spcBef>
                <a:spcPct val="0"/>
              </a:spcBef>
              <a:buFont typeface="Arial" panose="020B0604020202020204" pitchFamily="34" charset="0"/>
              <a:buChar char="•"/>
            </a:pPr>
            <a:r>
              <a:rPr lang="zh-CN" altLang="en-US" dirty="0">
                <a:latin typeface="Calibri" panose="020F0502020204030204" pitchFamily="34" charset="0"/>
                <a:ea typeface="微软雅黑" panose="020B0503020204020204" pitchFamily="34" charset="-122"/>
                <a:sym typeface="微软雅黑" pitchFamily="34" charset="-122"/>
              </a:rPr>
              <a:t>邻苯三酚在碱性条件下，迅速自氧化，释放出超氧阴离子自由基，积累黄色的中间产物；</a:t>
            </a:r>
            <a:r>
              <a:rPr lang="en-US" altLang="zh-CN" dirty="0">
                <a:latin typeface="Calibri" panose="020F0502020204030204" pitchFamily="34" charset="0"/>
                <a:ea typeface="微软雅黑" panose="020B0503020204020204" pitchFamily="34" charset="-122"/>
                <a:sym typeface="微软雅黑" pitchFamily="34" charset="-122"/>
              </a:rPr>
              <a:t>30~45s </a:t>
            </a:r>
            <a:r>
              <a:rPr lang="zh-CN" altLang="en-US" dirty="0">
                <a:latin typeface="Calibri" panose="020F0502020204030204" pitchFamily="34" charset="0"/>
                <a:ea typeface="微软雅黑" panose="020B0503020204020204" pitchFamily="34" charset="-122"/>
                <a:sym typeface="微软雅黑" pitchFamily="34" charset="-122"/>
              </a:rPr>
              <a:t>后其含量与时间呈线性关系，且黄色产物在</a:t>
            </a:r>
            <a:r>
              <a:rPr lang="en-US" altLang="zh-CN" dirty="0">
                <a:latin typeface="Calibri" panose="020F0502020204030204" pitchFamily="34" charset="0"/>
                <a:ea typeface="微软雅黑" panose="020B0503020204020204" pitchFamily="34" charset="-122"/>
                <a:sym typeface="微软雅黑" pitchFamily="34" charset="-122"/>
              </a:rPr>
              <a:t>325nm</a:t>
            </a:r>
            <a:r>
              <a:rPr lang="zh-CN" altLang="en-US" dirty="0">
                <a:latin typeface="Calibri" panose="020F0502020204030204" pitchFamily="34" charset="0"/>
                <a:ea typeface="微软雅黑" panose="020B0503020204020204" pitchFamily="34" charset="-122"/>
                <a:sym typeface="微软雅黑" pitchFamily="34" charset="-122"/>
              </a:rPr>
              <a:t>处有强吸收。</a:t>
            </a:r>
            <a:endParaRPr lang="en-US" altLang="zh-CN" dirty="0">
              <a:latin typeface="Calibri" panose="020F0502020204030204" pitchFamily="34" charset="0"/>
              <a:ea typeface="微软雅黑" panose="020B0503020204020204" pitchFamily="34" charset="-122"/>
              <a:sym typeface="微软雅黑" pitchFamily="34" charset="-122"/>
            </a:endParaRPr>
          </a:p>
          <a:p>
            <a:pPr marL="285750" indent="-285750" defTabSz="914133">
              <a:lnSpc>
                <a:spcPct val="130000"/>
              </a:lnSpc>
              <a:spcBef>
                <a:spcPct val="0"/>
              </a:spcBef>
              <a:buFont typeface="Wingdings" panose="05000000000000000000" pitchFamily="2" charset="2"/>
              <a:buChar char="Ø"/>
            </a:pPr>
            <a:r>
              <a:rPr lang="en-US" altLang="zh-CN" dirty="0">
                <a:latin typeface="Calibri" panose="020F0502020204030204" pitchFamily="34" charset="0"/>
                <a:ea typeface="微软雅黑" panose="020B0503020204020204" pitchFamily="34" charset="-122"/>
                <a:sym typeface="微软雅黑" pitchFamily="34" charset="-122"/>
              </a:rPr>
              <a:t>SOD</a:t>
            </a:r>
            <a:r>
              <a:rPr lang="zh-CN" altLang="en-US" dirty="0">
                <a:latin typeface="Calibri" panose="020F0502020204030204" pitchFamily="34" charset="0"/>
                <a:ea typeface="微软雅黑" panose="020B0503020204020204" pitchFamily="34" charset="-122"/>
                <a:sym typeface="微软雅黑" pitchFamily="34" charset="-122"/>
              </a:rPr>
              <a:t>能催化超氧阴离子自由基与氢离子结合成氧气和过氧化氢，从而阻止了中间产物的积累，因此可根据</a:t>
            </a:r>
            <a:r>
              <a:rPr lang="en-US" altLang="zh-CN" dirty="0">
                <a:latin typeface="Calibri" panose="020F0502020204030204" pitchFamily="34" charset="0"/>
                <a:ea typeface="微软雅黑" panose="020B0503020204020204" pitchFamily="34" charset="-122"/>
                <a:sym typeface="微软雅黑" pitchFamily="34" charset="-122"/>
              </a:rPr>
              <a:t>SOD</a:t>
            </a:r>
            <a:r>
              <a:rPr lang="zh-CN" altLang="en-US" dirty="0">
                <a:latin typeface="Calibri" panose="020F0502020204030204" pitchFamily="34" charset="0"/>
                <a:ea typeface="微软雅黑" panose="020B0503020204020204" pitchFamily="34" charset="-122"/>
                <a:sym typeface="微软雅黑" pitchFamily="34" charset="-122"/>
              </a:rPr>
              <a:t>抑制邻苯三酚自氧化能力来测定</a:t>
            </a:r>
            <a:r>
              <a:rPr lang="en-US" altLang="zh-CN" dirty="0">
                <a:latin typeface="Calibri" panose="020F0502020204030204" pitchFamily="34" charset="0"/>
                <a:ea typeface="微软雅黑" panose="020B0503020204020204" pitchFamily="34" charset="-122"/>
                <a:sym typeface="微软雅黑" pitchFamily="34" charset="-122"/>
              </a:rPr>
              <a:t>SOD</a:t>
            </a:r>
            <a:r>
              <a:rPr lang="zh-CN" altLang="en-US" dirty="0">
                <a:latin typeface="Calibri" panose="020F0502020204030204" pitchFamily="34" charset="0"/>
                <a:ea typeface="微软雅黑" panose="020B0503020204020204" pitchFamily="34" charset="-122"/>
                <a:sym typeface="微软雅黑" pitchFamily="34" charset="-122"/>
              </a:rPr>
              <a:t>的酶活力。</a:t>
            </a:r>
          </a:p>
        </p:txBody>
      </p:sp>
      <p:pic>
        <p:nvPicPr>
          <p:cNvPr id="2" name="图片 1">
            <a:extLst>
              <a:ext uri="{FF2B5EF4-FFF2-40B4-BE49-F238E27FC236}">
                <a16:creationId xmlns:a16="http://schemas.microsoft.com/office/drawing/2014/main" id="{5C403E56-FFF8-267C-3DC8-A0EF9AF2DC1C}"/>
              </a:ext>
            </a:extLst>
          </p:cNvPr>
          <p:cNvPicPr>
            <a:picLocks noChangeAspect="1"/>
          </p:cNvPicPr>
          <p:nvPr/>
        </p:nvPicPr>
        <p:blipFill>
          <a:blip r:embed="rId7"/>
          <a:stretch>
            <a:fillRect/>
          </a:stretch>
        </p:blipFill>
        <p:spPr>
          <a:xfrm>
            <a:off x="2118936" y="1253408"/>
            <a:ext cx="7954129" cy="3082267"/>
          </a:xfrm>
          <a:prstGeom prst="rect">
            <a:avLst/>
          </a:prstGeom>
        </p:spPr>
      </p:pic>
      <p:sp>
        <p:nvSpPr>
          <p:cNvPr id="3" name="文本框 2">
            <a:extLst>
              <a:ext uri="{FF2B5EF4-FFF2-40B4-BE49-F238E27FC236}">
                <a16:creationId xmlns:a16="http://schemas.microsoft.com/office/drawing/2014/main" id="{B54C4CBB-295E-30DA-1270-2CE561CD4FE0}"/>
              </a:ext>
            </a:extLst>
          </p:cNvPr>
          <p:cNvSpPr txBox="1"/>
          <p:nvPr/>
        </p:nvSpPr>
        <p:spPr>
          <a:xfrm>
            <a:off x="10560496" y="6343596"/>
            <a:ext cx="1086836" cy="369332"/>
          </a:xfrm>
          <a:prstGeom prst="rect">
            <a:avLst/>
          </a:prstGeom>
          <a:noFill/>
        </p:spPr>
        <p:txBody>
          <a:bodyPr wrap="none" rtlCol="0">
            <a:spAutoFit/>
          </a:bodyPr>
          <a:lstStyle/>
          <a:p>
            <a:r>
              <a:rPr lang="en-US" altLang="zh-CN" b="1" dirty="0">
                <a:solidFill>
                  <a:schemeClr val="bg1">
                    <a:lumMod val="50000"/>
                  </a:schemeClr>
                </a:solidFill>
              </a:rPr>
              <a:t>NOV. 25</a:t>
            </a:r>
            <a:r>
              <a:rPr lang="en-US" altLang="zh-CN" b="1" baseline="30000" dirty="0">
                <a:solidFill>
                  <a:schemeClr val="bg1">
                    <a:lumMod val="50000"/>
                  </a:schemeClr>
                </a:solidFill>
              </a:rPr>
              <a:t>th</a:t>
            </a:r>
            <a:endParaRPr lang="zh-CN" altLang="en-US" b="1" baseline="30000" dirty="0">
              <a:solidFill>
                <a:schemeClr val="bg1">
                  <a:lumMod val="50000"/>
                </a:schemeClr>
              </a:solidFill>
            </a:endParaRPr>
          </a:p>
        </p:txBody>
      </p:sp>
    </p:spTree>
    <p:extLst>
      <p:ext uri="{BB962C8B-B14F-4D97-AF65-F5344CB8AC3E}">
        <p14:creationId xmlns:p14="http://schemas.microsoft.com/office/powerpoint/2010/main" val="4043798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fallOve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A85CE21-0C60-4C40-8BAE-9242A4AD28A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 uri="{28A0092B-C50C-407E-A947-70E740481C1C}">
                <a14:useLocalDpi xmlns:a14="http://schemas.microsoft.com/office/drawing/2010/main" val="0"/>
              </a:ext>
            </a:extLst>
          </a:blip>
          <a:stretch>
            <a:fillRect/>
          </a:stretch>
        </p:blipFill>
        <p:spPr>
          <a:xfrm>
            <a:off x="762" y="0"/>
            <a:ext cx="12190476" cy="6871639"/>
          </a:xfrm>
          <a:prstGeom prst="rect">
            <a:avLst/>
          </a:prstGeom>
        </p:spPr>
      </p:pic>
      <p:grpSp>
        <p:nvGrpSpPr>
          <p:cNvPr id="8" name="组合 7">
            <a:extLst>
              <a:ext uri="{FF2B5EF4-FFF2-40B4-BE49-F238E27FC236}">
                <a16:creationId xmlns:a16="http://schemas.microsoft.com/office/drawing/2014/main" id="{97ACC074-0028-4BD2-B864-2A44BDD3E634}"/>
              </a:ext>
            </a:extLst>
          </p:cNvPr>
          <p:cNvGrpSpPr/>
          <p:nvPr/>
        </p:nvGrpSpPr>
        <p:grpSpPr>
          <a:xfrm>
            <a:off x="318625" y="5705603"/>
            <a:ext cx="2356623" cy="1061739"/>
            <a:chOff x="432111" y="5544277"/>
            <a:chExt cx="2356623" cy="1061739"/>
          </a:xfrm>
        </p:grpSpPr>
        <p:pic>
          <p:nvPicPr>
            <p:cNvPr id="9" name="图片 8">
              <a:extLst>
                <a:ext uri="{FF2B5EF4-FFF2-40B4-BE49-F238E27FC236}">
                  <a16:creationId xmlns:a16="http://schemas.microsoft.com/office/drawing/2014/main" id="{3B2E3FDD-185D-4E1A-8723-745A51383D75}"/>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8899" t="13173" r="51866"/>
            <a:stretch/>
          </p:blipFill>
          <p:spPr>
            <a:xfrm>
              <a:off x="432111" y="5544277"/>
              <a:ext cx="1593365" cy="585430"/>
            </a:xfrm>
            <a:prstGeom prst="rect">
              <a:avLst/>
            </a:prstGeom>
          </p:spPr>
        </p:pic>
        <p:pic>
          <p:nvPicPr>
            <p:cNvPr id="10" name="图片 9">
              <a:extLst>
                <a:ext uri="{FF2B5EF4-FFF2-40B4-BE49-F238E27FC236}">
                  <a16:creationId xmlns:a16="http://schemas.microsoft.com/office/drawing/2014/main" id="{D114EE70-5199-43A1-AE5C-089818EE2C87}"/>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47890" t="13173" r="18986"/>
            <a:stretch/>
          </p:blipFill>
          <p:spPr>
            <a:xfrm>
              <a:off x="983432" y="6020586"/>
              <a:ext cx="1805302" cy="585430"/>
            </a:xfrm>
            <a:prstGeom prst="rect">
              <a:avLst/>
            </a:prstGeom>
          </p:spPr>
        </p:pic>
      </p:grpSp>
      <p:grpSp>
        <p:nvGrpSpPr>
          <p:cNvPr id="11" name="组合 10">
            <a:extLst>
              <a:ext uri="{FF2B5EF4-FFF2-40B4-BE49-F238E27FC236}">
                <a16:creationId xmlns:a16="http://schemas.microsoft.com/office/drawing/2014/main" id="{5E3CF8C3-BFA6-4054-8B36-ABC220624EB7}"/>
              </a:ext>
            </a:extLst>
          </p:cNvPr>
          <p:cNvGrpSpPr/>
          <p:nvPr/>
        </p:nvGrpSpPr>
        <p:grpSpPr>
          <a:xfrm>
            <a:off x="318625" y="196905"/>
            <a:ext cx="3565944" cy="860130"/>
            <a:chOff x="3371204" y="663706"/>
            <a:chExt cx="6394589" cy="1542418"/>
          </a:xfrm>
        </p:grpSpPr>
        <p:pic>
          <p:nvPicPr>
            <p:cNvPr id="12" name="图片 11">
              <a:extLst>
                <a:ext uri="{FF2B5EF4-FFF2-40B4-BE49-F238E27FC236}">
                  <a16:creationId xmlns:a16="http://schemas.microsoft.com/office/drawing/2014/main" id="{2E272636-CDD7-4B00-8987-A38FBE8140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0025" y="894576"/>
              <a:ext cx="4010022" cy="766728"/>
            </a:xfrm>
            <a:prstGeom prst="rect">
              <a:avLst/>
            </a:prstGeom>
          </p:spPr>
        </p:pic>
        <p:pic>
          <p:nvPicPr>
            <p:cNvPr id="13" name="图片 12">
              <a:extLst>
                <a:ext uri="{FF2B5EF4-FFF2-40B4-BE49-F238E27FC236}">
                  <a16:creationId xmlns:a16="http://schemas.microsoft.com/office/drawing/2014/main" id="{EAA69731-0E6B-47C9-9876-C3DC191A77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71204" y="663706"/>
              <a:ext cx="1542418" cy="1542418"/>
            </a:xfrm>
            <a:prstGeom prst="rect">
              <a:avLst/>
            </a:prstGeom>
          </p:spPr>
        </p:pic>
        <p:sp>
          <p:nvSpPr>
            <p:cNvPr id="14" name="矩形 13">
              <a:extLst>
                <a:ext uri="{FF2B5EF4-FFF2-40B4-BE49-F238E27FC236}">
                  <a16:creationId xmlns:a16="http://schemas.microsoft.com/office/drawing/2014/main" id="{F249E7F7-F190-4753-8FE8-0FA0DBD9DB60}"/>
                </a:ext>
              </a:extLst>
            </p:cNvPr>
            <p:cNvSpPr/>
            <p:nvPr/>
          </p:nvSpPr>
          <p:spPr>
            <a:xfrm>
              <a:off x="5091171" y="1758229"/>
              <a:ext cx="4674622" cy="38634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rPr>
                <a:t>East China University of Science and Technology</a:t>
              </a:r>
              <a:endParaRPr kumimoji="0" lang="zh-CN" altLang="en-US" sz="800" b="1"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16" name="组合 15">
            <a:extLst>
              <a:ext uri="{FF2B5EF4-FFF2-40B4-BE49-F238E27FC236}">
                <a16:creationId xmlns:a16="http://schemas.microsoft.com/office/drawing/2014/main" id="{6D190355-3C06-40EA-875D-DC54A42A6E25}"/>
              </a:ext>
            </a:extLst>
          </p:cNvPr>
          <p:cNvGrpSpPr/>
          <p:nvPr/>
        </p:nvGrpSpPr>
        <p:grpSpPr>
          <a:xfrm>
            <a:off x="3467708" y="2452701"/>
            <a:ext cx="5256584" cy="1991634"/>
            <a:chOff x="2135560" y="1748871"/>
            <a:chExt cx="5256584" cy="1991634"/>
          </a:xfrm>
        </p:grpSpPr>
        <p:sp>
          <p:nvSpPr>
            <p:cNvPr id="17" name="文本框 16">
              <a:extLst>
                <a:ext uri="{FF2B5EF4-FFF2-40B4-BE49-F238E27FC236}">
                  <a16:creationId xmlns:a16="http://schemas.microsoft.com/office/drawing/2014/main" id="{BCBC03E7-D888-4A66-956E-C34ED52E5B51}"/>
                </a:ext>
              </a:extLst>
            </p:cNvPr>
            <p:cNvSpPr txBox="1"/>
            <p:nvPr/>
          </p:nvSpPr>
          <p:spPr>
            <a:xfrm flipH="1">
              <a:off x="2135560" y="1748871"/>
              <a:ext cx="5256584"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0" b="1" spc="300" dirty="0">
                  <a:solidFill>
                    <a:prstClr val="white"/>
                  </a:solidFill>
                  <a:latin typeface="微软雅黑" panose="020B0503020204020204" pitchFamily="34" charset="-122"/>
                  <a:ea typeface="微软雅黑" panose="020B0503020204020204" pitchFamily="34" charset="-122"/>
                </a:rPr>
                <a:t>谢谢</a:t>
              </a:r>
              <a:endParaRPr kumimoji="0" lang="zh-CN" altLang="en-US" sz="80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8" name="直接连接符 17">
              <a:extLst>
                <a:ext uri="{FF2B5EF4-FFF2-40B4-BE49-F238E27FC236}">
                  <a16:creationId xmlns:a16="http://schemas.microsoft.com/office/drawing/2014/main" id="{6CDF5CA7-C997-45E0-8B8C-15B9D36E38A9}"/>
                </a:ext>
              </a:extLst>
            </p:cNvPr>
            <p:cNvCxnSpPr>
              <a:cxnSpLocks/>
            </p:cNvCxnSpPr>
            <p:nvPr/>
          </p:nvCxnSpPr>
          <p:spPr>
            <a:xfrm>
              <a:off x="3395700" y="3102783"/>
              <a:ext cx="273630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19DC068F-3819-47B9-8D5B-863A9C096273}"/>
                </a:ext>
              </a:extLst>
            </p:cNvPr>
            <p:cNvSpPr txBox="1"/>
            <p:nvPr/>
          </p:nvSpPr>
          <p:spPr>
            <a:xfrm>
              <a:off x="2675620" y="3278840"/>
              <a:ext cx="417646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Thanks</a:t>
              </a:r>
              <a:endParaRPr kumimoji="0" lang="zh-CN" altLang="en-US" sz="2400" b="0" i="0" u="none" strike="noStrike" kern="1200" cap="none" spc="0" normalizeH="0" baseline="0" noProof="0" dirty="0">
                <a:ln>
                  <a:noFill/>
                </a:ln>
                <a:solidFill>
                  <a:prstClr val="white"/>
                </a:solidFill>
                <a:effectLst/>
                <a:uLnTx/>
                <a:uFillTx/>
                <a:latin typeface="Calibri" panose="020F0502020204030204" pitchFamily="34" charset="0"/>
                <a:ea typeface="微软雅黑" panose="020B0503020204020204" pitchFamily="34" charset="-122"/>
                <a:cs typeface="Calibri" panose="020F0502020204030204" pitchFamily="34" charset="0"/>
              </a:endParaRPr>
            </a:p>
          </p:txBody>
        </p:sp>
      </p:grpSp>
    </p:spTree>
    <p:extLst>
      <p:ext uri="{BB962C8B-B14F-4D97-AF65-F5344CB8AC3E}">
        <p14:creationId xmlns:p14="http://schemas.microsoft.com/office/powerpoint/2010/main" val="1594506422"/>
      </p:ext>
    </p:extLst>
  </p:cSld>
  <p:clrMapOvr>
    <a:masterClrMapping/>
  </p:clrMapOvr>
  <mc:AlternateContent xmlns:mc="http://schemas.openxmlformats.org/markup-compatibility/2006" xmlns:p14="http://schemas.microsoft.com/office/powerpoint/2010/main">
    <mc:Choice Requires="p14">
      <p:transition spd="slow">
        <p14:warp dir="in"/>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TotalTime>
  <Words>1371</Words>
  <Application>Microsoft Office PowerPoint</Application>
  <PresentationFormat>宽屏</PresentationFormat>
  <Paragraphs>130</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黑体</vt:lpstr>
      <vt:lpstr>微软雅黑</vt:lpstr>
      <vt:lpstr>Arial</vt:lpstr>
      <vt:lpstr>Arial Black</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锅炉爷爷</dc:creator>
  <cp:lastModifiedBy>帅喆 张</cp:lastModifiedBy>
  <cp:revision>29</cp:revision>
  <dcterms:created xsi:type="dcterms:W3CDTF">2020-06-08T09:48:32Z</dcterms:created>
  <dcterms:modified xsi:type="dcterms:W3CDTF">2025-11-19T14:20:18Z</dcterms:modified>
</cp:coreProperties>
</file>